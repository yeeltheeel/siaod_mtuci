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71"/>
  </p:notesMasterIdLst>
  <p:sldIdLst>
    <p:sldId id="256"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55" r:id="rId33"/>
    <p:sldId id="356" r:id="rId34"/>
    <p:sldId id="357" r:id="rId35"/>
    <p:sldId id="358" r:id="rId36"/>
    <p:sldId id="359" r:id="rId37"/>
    <p:sldId id="360" r:id="rId38"/>
    <p:sldId id="361" r:id="rId39"/>
    <p:sldId id="362" r:id="rId40"/>
    <p:sldId id="363" r:id="rId41"/>
    <p:sldId id="364"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340" r:id="rId56"/>
    <p:sldId id="341" r:id="rId57"/>
    <p:sldId id="342" r:id="rId58"/>
    <p:sldId id="343" r:id="rId59"/>
    <p:sldId id="344" r:id="rId60"/>
    <p:sldId id="345" r:id="rId61"/>
    <p:sldId id="346" r:id="rId62"/>
    <p:sldId id="347" r:id="rId63"/>
    <p:sldId id="348" r:id="rId64"/>
    <p:sldId id="349" r:id="rId65"/>
    <p:sldId id="350" r:id="rId66"/>
    <p:sldId id="351" r:id="rId67"/>
    <p:sldId id="352" r:id="rId68"/>
    <p:sldId id="353" r:id="rId69"/>
    <p:sldId id="290" r:id="rId70"/>
  </p:sldIdLst>
  <p:sldSz cx="12192000" cy="6858000"/>
  <p:notesSz cx="12192000" cy="6858000"/>
  <p:embeddedFontLst>
    <p:embeddedFont>
      <p:font typeface="Calibri" panose="020F0502020204030204" pitchFamily="34" charset="0"/>
      <p:regular r:id="rId72"/>
      <p:bold r:id="rId73"/>
      <p:italic r:id="rId74"/>
      <p:boldItalic r:id="rId75"/>
    </p:embeddedFont>
    <p:embeddedFont>
      <p:font typeface="Montserrat"/>
      <p:regular r:id="rId76"/>
      <p:bold r:id="rId77"/>
      <p:italic r:id="rId78"/>
      <p:boldItalic r:id="rId79"/>
    </p:embeddedFont>
    <p:embeddedFont>
      <p:font typeface="Montserrat SemiBold"/>
      <p:bold r:id="rId80"/>
      <p:boldItalic r:id="rId81"/>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16" autoAdjust="0"/>
  </p:normalViewPr>
  <p:slideViewPr>
    <p:cSldViewPr snapToGrid="0" showGuides="1">
      <p:cViewPr varScale="1">
        <p:scale>
          <a:sx n="105" d="100"/>
          <a:sy n="105" d="100"/>
        </p:scale>
        <p:origin x="792" y="90"/>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FDF331-AEE9-4187-8642-DBB3BDF28E90}" type="datetimeFigureOut">
              <a:rPr lang="ru-RU" smtClean="0"/>
              <a:t>08.10.2026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093857-F793-4960-89DF-D50C2129606D}" type="slidenum">
              <a:rPr lang="ru-RU" smtClean="0"/>
              <a:t>‹#›</a:t>
            </a:fld>
            <a:endParaRPr lang="ru-RU"/>
          </a:p>
        </p:txBody>
      </p:sp>
    </p:spTree>
    <p:extLst>
      <p:ext uri="{BB962C8B-B14F-4D97-AF65-F5344CB8AC3E}">
        <p14:creationId xmlns:p14="http://schemas.microsoft.com/office/powerpoint/2010/main" val="1370318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Представить лекцию №4. Основной вопрос: какие свойства сети можно узнать с помощью DFS? Обозначить связь с лекцией о деревьях.</a:t>
            </a:r>
          </a:p>
          <a:p>
            <a:endParaRPr lang="ru-RU"/>
          </a:p>
          <a:p>
            <a:r>
              <a:rPr lang="ru-RU"/>
              <a:t>АКЦЕНТ</a:t>
            </a:r>
          </a:p>
          <a:p>
            <a:r>
              <a:rPr lang="ru-RU"/>
              <a:t>Графы: от обходов к структуре сети. Опирайтесь на схему и краткие подписи.</a:t>
            </a:r>
          </a:p>
          <a:p>
            <a:endParaRPr lang="ru-RU"/>
          </a:p>
          <a:p>
            <a:r>
              <a:rPr lang="ru-RU"/>
              <a:t>ВОПРОС АУДИТОРИИ</a:t>
            </a:r>
          </a:p>
          <a:p>
            <a:r>
              <a:rPr lang="ru-RU"/>
              <a:t>Чем граф отличается от дерева?</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Не обещать подробное изучение кратчайших путей: это следующая лекция.</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a:t>
            </a:fld>
            <a:endParaRPr lang="ru-RU"/>
          </a:p>
        </p:txBody>
      </p:sp>
    </p:spTree>
    <p:extLst>
      <p:ext uri="{BB962C8B-B14F-4D97-AF65-F5344CB8AC3E}">
        <p14:creationId xmlns:p14="http://schemas.microsoft.com/office/powerpoint/2010/main" val="3976764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 очереди привязать вопросы к одной и той же сети. Связность, возврат, критическое ребро и критический узел описывают разные свойства.</a:t>
            </a:r>
          </a:p>
          <a:p>
            <a:endParaRPr lang="ru-RU"/>
          </a:p>
          <a:p>
            <a:r>
              <a:rPr lang="ru-RU"/>
              <a:t>АКЦЕНТ</a:t>
            </a:r>
          </a:p>
          <a:p>
            <a:r>
              <a:rPr lang="ru-RU"/>
              <a:t>Что мы хотим узнать о графе?. Опирайтесь на схему и краткие подписи.</a:t>
            </a:r>
          </a:p>
          <a:p>
            <a:endParaRPr lang="ru-RU"/>
          </a:p>
          <a:p>
            <a:r>
              <a:rPr lang="ru-RU"/>
              <a:t>ВОПРОС АУДИТОРИИ</a:t>
            </a:r>
          </a:p>
          <a:p>
            <a:r>
              <a:rPr lang="ru-RU"/>
              <a:t>Какой отказ сильнее повлияет на эту сеть?</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Критическое ребро и критическая вершина — разные понятия.</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2</a:t>
            </a:fld>
            <a:endParaRPr lang="ru-RU"/>
          </a:p>
        </p:txBody>
      </p:sp>
    </p:spTree>
    <p:extLst>
      <p:ext uri="{BB962C8B-B14F-4D97-AF65-F5344CB8AC3E}">
        <p14:creationId xmlns:p14="http://schemas.microsoft.com/office/powerpoint/2010/main" val="2619507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Показать шесть небольших моделей. Объяснить смысл вершин и рёбер в каждой модели. В компьютерной сети R — роутер, S — сервер. В инфраструктуре ЛЭП — линия электропередачи. В задаче стрелка связывает последовательные этапы.</a:t>
            </a:r>
          </a:p>
          <a:p>
            <a:endParaRPr lang="ru-RU"/>
          </a:p>
          <a:p>
            <a:r>
              <a:rPr lang="ru-RU"/>
              <a:t>АКЦЕНТ</a:t>
            </a:r>
          </a:p>
          <a:p>
            <a:r>
              <a:rPr lang="ru-RU"/>
              <a:t>Графы вокруг нас. Опирайтесь на схему и краткие подписи.</a:t>
            </a:r>
          </a:p>
          <a:p>
            <a:endParaRPr lang="ru-RU"/>
          </a:p>
          <a:p>
            <a:r>
              <a:rPr lang="ru-RU"/>
              <a:t>ВОПРОС АУДИТОРИИ</a:t>
            </a:r>
          </a:p>
          <a:p>
            <a:r>
              <a:rPr lang="ru-RU"/>
              <a:t>Что означает ребро в графе зависимостей?</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Дорожная сеть может быть ориентированной из-за одностороннего движения.</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3</a:t>
            </a:fld>
            <a:endParaRPr lang="ru-RU"/>
          </a:p>
        </p:txBody>
      </p:sp>
    </p:spTree>
    <p:extLst>
      <p:ext uri="{BB962C8B-B14F-4D97-AF65-F5344CB8AC3E}">
        <p14:creationId xmlns:p14="http://schemas.microsoft.com/office/powerpoint/2010/main" val="3930104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Определить множества вершин и рёбер. Объяснить, что направление ребра влияет на достижимость.</a:t>
            </a:r>
          </a:p>
          <a:p>
            <a:endParaRPr lang="ru-RU"/>
          </a:p>
          <a:p>
            <a:r>
              <a:rPr lang="ru-RU"/>
              <a:t>АКЦЕНТ</a:t>
            </a:r>
          </a:p>
          <a:p>
            <a:r>
              <a:rPr lang="ru-RU"/>
              <a:t>Что такое граф. Опирайтесь на схему и краткие подписи.</a:t>
            </a:r>
          </a:p>
          <a:p>
            <a:endParaRPr lang="ru-RU"/>
          </a:p>
          <a:p>
            <a:r>
              <a:rPr lang="ru-RU"/>
              <a:t>ВОПРОС АУДИТОРИИ</a:t>
            </a:r>
          </a:p>
          <a:p>
            <a:r>
              <a:rPr lang="ru-RU"/>
              <a:t>Означает ли u → v, что можно пройти v → u?</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Стрелка задаёт допустимое направление, а не украшает схему.</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a:t>
            </a:fld>
            <a:endParaRPr lang="ru-RU"/>
          </a:p>
        </p:txBody>
      </p:sp>
    </p:spTree>
    <p:extLst>
      <p:ext uri="{BB962C8B-B14F-4D97-AF65-F5344CB8AC3E}">
        <p14:creationId xmlns:p14="http://schemas.microsoft.com/office/powerpoint/2010/main" val="2083511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Сопоставить один граф с матрицей и списком. Для неориентированного графа матрица симметрична; каждое ребро записывается в двух списках.</a:t>
            </a:r>
          </a:p>
          <a:p>
            <a:endParaRPr lang="ru-RU"/>
          </a:p>
          <a:p>
            <a:r>
              <a:rPr lang="ru-RU"/>
              <a:t>АКЦЕНТ</a:t>
            </a:r>
          </a:p>
          <a:p>
            <a:r>
              <a:rPr lang="ru-RU"/>
              <a:t>Как хранить граф. Опирайтесь на схему и краткие подписи.</a:t>
            </a:r>
          </a:p>
          <a:p>
            <a:endParaRPr lang="ru-RU"/>
          </a:p>
          <a:p>
            <a:r>
              <a:rPr lang="ru-RU"/>
              <a:t>ВОПРОС АУДИТОРИИ</a:t>
            </a:r>
          </a:p>
          <a:p>
            <a:r>
              <a:rPr lang="ru-RU"/>
              <a:t>Где в матрице видно ребро 1–3?</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O(V+E) для обходов предполагает список смежности; с матрицей типично O(V²).</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5</a:t>
            </a:fld>
            <a:endParaRPr lang="ru-RU"/>
          </a:p>
        </p:txBody>
      </p:sp>
    </p:spTree>
    <p:extLst>
      <p:ext uri="{BB962C8B-B14F-4D97-AF65-F5344CB8AC3E}">
        <p14:creationId xmlns:p14="http://schemas.microsoft.com/office/powerpoint/2010/main" val="1426089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BFS начинает с A. Вершину помечаем при добавлении в очередь, чтобы не положить её повторно. Очередь обслуживается FIFO.</a:t>
            </a:r>
          </a:p>
          <a:p>
            <a:endParaRPr lang="ru-RU"/>
          </a:p>
          <a:p>
            <a:r>
              <a:rPr lang="ru-RU"/>
              <a:t>АКЦЕНТ</a:t>
            </a:r>
          </a:p>
          <a:p>
            <a:r>
              <a:rPr lang="ru-RU"/>
              <a:t>BFS: очередь ведёт по уровням. Сначала показать исходное состояние; не опережать клики.</a:t>
            </a:r>
          </a:p>
          <a:p>
            <a:endParaRPr lang="ru-RU"/>
          </a:p>
          <a:p>
            <a:r>
              <a:rPr lang="ru-RU"/>
              <a:t>ВОПРОС АУДИТОРИИ</a:t>
            </a:r>
          </a:p>
          <a:p>
            <a:r>
              <a:rPr lang="ru-RU"/>
              <a:t>Почему E не попадёт в очередь дважды?</a:t>
            </a:r>
          </a:p>
          <a:p>
            <a:endParaRPr lang="ru-RU"/>
          </a:p>
          <a:p>
            <a:r>
              <a:rPr lang="ru-RU"/>
              <a:t>КЛИКИ</a:t>
            </a:r>
          </a:p>
          <a:p>
            <a:r>
              <a:rPr lang="ru-RU"/>
              <a:t>1. Выделить A и показать начальную очередь.</a:t>
            </a:r>
          </a:p>
          <a:p>
            <a:endParaRPr lang="ru-RU"/>
          </a:p>
          <a:p>
            <a:r>
              <a:rPr lang="ru-RU"/>
              <a:t>ТИПИЧНАЯ ОШИБКА</a:t>
            </a:r>
          </a:p>
          <a:p>
            <a:r>
              <a:rPr lang="ru-RU"/>
              <a:t>Пометка при извлечении может приводить к дубликатам в очереди.</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6</a:t>
            </a:fld>
            <a:endParaRPr lang="ru-RU"/>
          </a:p>
        </p:txBody>
      </p:sp>
    </p:spTree>
    <p:extLst>
      <p:ext uri="{BB962C8B-B14F-4D97-AF65-F5344CB8AC3E}">
        <p14:creationId xmlns:p14="http://schemas.microsoft.com/office/powerpoint/2010/main" val="2024265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Выполнить полный обход. Перед каждым кликом предложить назвать следующую вершину очереди. Кратчайшее число рёбер от A равно номеру уровня только в невзвешенном графе.</a:t>
            </a:r>
          </a:p>
          <a:p>
            <a:endParaRPr lang="ru-RU"/>
          </a:p>
          <a:p>
            <a:r>
              <a:rPr lang="ru-RU"/>
              <a:t>АКЦЕНТ</a:t>
            </a:r>
          </a:p>
          <a:p>
            <a:r>
              <a:rPr lang="ru-RU"/>
              <a:t>BFS: обход по уровням. Сначала показать исходное состояние; не опережать клики.</a:t>
            </a:r>
          </a:p>
          <a:p>
            <a:endParaRPr lang="ru-RU"/>
          </a:p>
          <a:p>
            <a:r>
              <a:rPr lang="ru-RU"/>
              <a:t>ВОПРОС АУДИТОРИИ</a:t>
            </a:r>
          </a:p>
          <a:p>
            <a:r>
              <a:rPr lang="ru-RU"/>
              <a:t>Какая вершина будет следующей и почему?</a:t>
            </a:r>
          </a:p>
          <a:p>
            <a:endParaRPr lang="ru-RU"/>
          </a:p>
          <a:p>
            <a:r>
              <a:rPr lang="ru-RU"/>
              <a:t>КЛИКИ</a:t>
            </a:r>
          </a:p>
          <a:p>
            <a:r>
              <a:rPr lang="ru-RU"/>
              <a:t>1. Обработать A; очередь после шага: ['B', 'C']. Все новые вершины отмечены при добавлении.</a:t>
            </a:r>
          </a:p>
          <a:p>
            <a:r>
              <a:rPr lang="ru-RU"/>
              <a:t>2. Обработать B; очередь после шага: ['C', 'D', 'E']. Все новые вершины отмечены при добавлении.</a:t>
            </a:r>
          </a:p>
          <a:p>
            <a:r>
              <a:rPr lang="ru-RU"/>
              <a:t>3. Обработать C; очередь после шага: ['D', 'E', 'F']. Все новые вершины отмечены при добавлении.</a:t>
            </a:r>
          </a:p>
          <a:p>
            <a:r>
              <a:rPr lang="ru-RU"/>
              <a:t>4. Обработать D; очередь после шага: ['E', 'F', 'G']. Все новые вершины отмечены при добавлении.</a:t>
            </a:r>
          </a:p>
          <a:p>
            <a:r>
              <a:rPr lang="ru-RU"/>
              <a:t>5. Обработать E; очередь после шага: ['F', 'G', 'H']. Все новые вершины отмечены при добавлении.</a:t>
            </a:r>
          </a:p>
          <a:p>
            <a:r>
              <a:rPr lang="ru-RU"/>
              <a:t>6. Обработать F; очередь после шага: ['G', 'H']. Все новые вершины отмечены при добавлении.</a:t>
            </a:r>
          </a:p>
          <a:p>
            <a:r>
              <a:rPr lang="ru-RU"/>
              <a:t>7. Обработать G; очередь после шага: ['H']. Все новые вершины отмечены при добавлении.</a:t>
            </a:r>
          </a:p>
          <a:p>
            <a:r>
              <a:rPr lang="ru-RU"/>
              <a:t>8. Обработать H; очередь после шага: []. Все новые вершины отмечены при добавлении.</a:t>
            </a:r>
          </a:p>
          <a:p>
            <a:endParaRPr lang="ru-RU"/>
          </a:p>
          <a:p>
            <a:r>
              <a:rPr lang="ru-RU"/>
              <a:t>ТИПИЧНАЯ ОШИБКА</a:t>
            </a:r>
          </a:p>
          <a:p>
            <a:r>
              <a:rPr lang="ru-RU"/>
              <a:t>BFS не решает задачу кратчайшего пути с произвольными весами.</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7</a:t>
            </a:fld>
            <a:endParaRPr lang="ru-RU"/>
          </a:p>
        </p:txBody>
      </p:sp>
    </p:spTree>
    <p:extLst>
      <p:ext uri="{BB962C8B-B14F-4D97-AF65-F5344CB8AC3E}">
        <p14:creationId xmlns:p14="http://schemas.microsoft.com/office/powerpoint/2010/main" val="2606711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Пройти A → B → D → G → E → C → F → H. Затем показать возвращение из H, F и C. Порядок соседей зафиксирован по алфавиту.</a:t>
            </a:r>
          </a:p>
          <a:p>
            <a:endParaRPr lang="ru-RU"/>
          </a:p>
          <a:p>
            <a:r>
              <a:rPr lang="ru-RU"/>
              <a:t>АКЦЕНТ</a:t>
            </a:r>
          </a:p>
          <a:p>
            <a:r>
              <a:rPr lang="ru-RU"/>
              <a:t>DFS: углубление и возврат. Сначала показать исходное состояние; не опережать клики.</a:t>
            </a:r>
          </a:p>
          <a:p>
            <a:endParaRPr lang="ru-RU"/>
          </a:p>
          <a:p>
            <a:r>
              <a:rPr lang="ru-RU"/>
              <a:t>ВОПРОС АУДИТОРИИ</a:t>
            </a:r>
          </a:p>
          <a:p>
            <a:r>
              <a:rPr lang="ru-RU"/>
              <a:t>Что произойдёт, если у текущей вершины нет нового соседа?</a:t>
            </a:r>
          </a:p>
          <a:p>
            <a:endParaRPr lang="ru-RU"/>
          </a:p>
          <a:p>
            <a:r>
              <a:rPr lang="ru-RU"/>
              <a:t>КЛИКИ</a:t>
            </a:r>
          </a:p>
          <a:p>
            <a:r>
              <a:rPr lang="ru-RU"/>
              <a:t>1. Войти в A; рекурсивный стек: ['A'].</a:t>
            </a:r>
          </a:p>
          <a:p>
            <a:r>
              <a:rPr lang="ru-RU"/>
              <a:t>2. Войти в B; рекурсивный стек: ['A', 'B'].</a:t>
            </a:r>
          </a:p>
          <a:p>
            <a:r>
              <a:rPr lang="ru-RU"/>
              <a:t>3. Войти в D; рекурсивный стек: ['A', 'B', 'D'].</a:t>
            </a:r>
          </a:p>
          <a:p>
            <a:r>
              <a:rPr lang="ru-RU"/>
              <a:t>4. Войти в G; рекурсивный стек: ['A', 'B', 'D', 'G'].</a:t>
            </a:r>
          </a:p>
          <a:p>
            <a:r>
              <a:rPr lang="ru-RU"/>
              <a:t>5. Войти в E; рекурсивный стек: ['A', 'B', 'D', 'G', 'E'].</a:t>
            </a:r>
          </a:p>
          <a:p>
            <a:r>
              <a:rPr lang="ru-RU"/>
              <a:t>6. Войти в C; рекурсивный стек: ['A', 'B', 'D', 'G', 'E', 'C'].</a:t>
            </a:r>
          </a:p>
          <a:p>
            <a:r>
              <a:rPr lang="ru-RU"/>
              <a:t>7. Войти в F; рекурсивный стек: ['A', 'B', 'D', 'G', 'E', 'C', 'F'].</a:t>
            </a:r>
          </a:p>
          <a:p>
            <a:r>
              <a:rPr lang="ru-RU"/>
              <a:t>8. Войти в H; рекурсивный стек: ['A', 'B', 'D', 'G', 'E', 'C', 'F', 'H'].</a:t>
            </a:r>
          </a:p>
          <a:p>
            <a:r>
              <a:rPr lang="ru-RU"/>
              <a:t>9. Завершён вызов H; управление вернулось в F.</a:t>
            </a:r>
          </a:p>
          <a:p>
            <a:r>
              <a:rPr lang="ru-RU"/>
              <a:t>10. Завершён вызов F; управление вернулось в C.</a:t>
            </a:r>
          </a:p>
          <a:p>
            <a:r>
              <a:rPr lang="ru-RU"/>
              <a:t>11. Завершён вызов C; управление вернулось в E.</a:t>
            </a:r>
          </a:p>
          <a:p>
            <a:endParaRPr lang="ru-RU"/>
          </a:p>
          <a:p>
            <a:r>
              <a:rPr lang="ru-RU"/>
              <a:t>ТИПИЧНАЯ ОШИБКА</a:t>
            </a:r>
          </a:p>
          <a:p>
            <a:r>
              <a:rPr lang="ru-RU"/>
              <a:t>Стек вызовов не равен списку всех когда-либо посещённых вершин.</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8</a:t>
            </a:fld>
            <a:endParaRPr lang="ru-RU"/>
          </a:p>
        </p:txBody>
      </p:sp>
    </p:spTree>
    <p:extLst>
      <p:ext uri="{BB962C8B-B14F-4D97-AF65-F5344CB8AC3E}">
        <p14:creationId xmlns:p14="http://schemas.microsoft.com/office/powerpoint/2010/main" val="2682511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Разобрать момент пометки, проверку соседа и рекурсивный вызов. В несвязном графе нужен внешний цикл по вершинам.</a:t>
            </a:r>
          </a:p>
          <a:p>
            <a:endParaRPr lang="ru-RU"/>
          </a:p>
          <a:p>
            <a:r>
              <a:rPr lang="ru-RU"/>
              <a:t>АКЦЕНТ</a:t>
            </a:r>
          </a:p>
          <a:p>
            <a:r>
              <a:rPr lang="ru-RU"/>
              <a:t>DFS: компактный Python. Опирайтесь на схему и краткие подписи.</a:t>
            </a:r>
          </a:p>
          <a:p>
            <a:endParaRPr lang="ru-RU"/>
          </a:p>
          <a:p>
            <a:r>
              <a:rPr lang="ru-RU"/>
              <a:t>ВОПРОС АУДИТОРИИ</a:t>
            </a:r>
          </a:p>
          <a:p>
            <a:r>
              <a:rPr lang="ru-RU"/>
              <a:t>Почему visited[v] ставим до рекурсии?</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Для очень глубоких графов в Python нужен явный стек или контроль глубины рекурсии.</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9</a:t>
            </a:fld>
            <a:endParaRPr lang="ru-RU"/>
          </a:p>
        </p:txBody>
      </p:sp>
    </p:spTree>
    <p:extLst>
      <p:ext uri="{BB962C8B-B14F-4D97-AF65-F5344CB8AC3E}">
        <p14:creationId xmlns:p14="http://schemas.microsoft.com/office/powerpoint/2010/main" val="808847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Сравнить возможность пройти между любыми двумя вершинами. Неориентированный граф может состоять из отдельных частей.</a:t>
            </a:r>
          </a:p>
          <a:p>
            <a:endParaRPr lang="ru-RU"/>
          </a:p>
          <a:p>
            <a:r>
              <a:rPr lang="ru-RU"/>
              <a:t>АКЦЕНТ</a:t>
            </a:r>
          </a:p>
          <a:p>
            <a:r>
              <a:rPr lang="ru-RU"/>
              <a:t>Связный и несвязный граф. Опирайтесь на схему и краткие подписи.</a:t>
            </a:r>
          </a:p>
          <a:p>
            <a:endParaRPr lang="ru-RU"/>
          </a:p>
          <a:p>
            <a:r>
              <a:rPr lang="ru-RU"/>
              <a:t>ВОПРОС АУДИТОРИИ</a:t>
            </a:r>
          </a:p>
          <a:p>
            <a:r>
              <a:rPr lang="ru-RU"/>
              <a:t>Можно ли одним DFS посетить все вершины справа?</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Несвязный граф не означает, что у каждой вершины нет соседей.</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10</a:t>
            </a:fld>
            <a:endParaRPr lang="ru-RU"/>
          </a:p>
        </p:txBody>
      </p:sp>
    </p:spTree>
    <p:extLst>
      <p:ext uri="{BB962C8B-B14F-4D97-AF65-F5344CB8AC3E}">
        <p14:creationId xmlns:p14="http://schemas.microsoft.com/office/powerpoint/2010/main" val="2950004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Определить максимальную связную часть неориентированного графа. Показать три компоненты, включая компоненту из двух вершин.</a:t>
            </a:r>
          </a:p>
          <a:p>
            <a:endParaRPr lang="ru-RU"/>
          </a:p>
          <a:p>
            <a:r>
              <a:rPr lang="ru-RU"/>
              <a:t>АКЦЕНТ</a:t>
            </a:r>
          </a:p>
          <a:p>
            <a:r>
              <a:rPr lang="ru-RU"/>
              <a:t>Компонента связности. Опирайтесь на схему и краткие подписи.</a:t>
            </a:r>
          </a:p>
          <a:p>
            <a:endParaRPr lang="ru-RU"/>
          </a:p>
          <a:p>
            <a:r>
              <a:rPr lang="ru-RU"/>
              <a:t>ВОПРОС АУДИТОРИИ</a:t>
            </a:r>
          </a:p>
          <a:p>
            <a:r>
              <a:rPr lang="ru-RU"/>
              <a:t>Сколько запусков обхода требуется для этого графа?</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Компонента может состоять из одной изолированной вершины.</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11</a:t>
            </a:fld>
            <a:endParaRPr lang="ru-RU"/>
          </a:p>
        </p:txBody>
      </p:sp>
    </p:spTree>
    <p:extLst>
      <p:ext uri="{BB962C8B-B14F-4D97-AF65-F5344CB8AC3E}">
        <p14:creationId xmlns:p14="http://schemas.microsoft.com/office/powerpoint/2010/main" val="2214560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Показать исходный нейтральный граф. Выбрать первую непосещённую вершину 1.</a:t>
            </a:r>
          </a:p>
          <a:p>
            <a:endParaRPr lang="ru-RU"/>
          </a:p>
          <a:p>
            <a:r>
              <a:rPr lang="ru-RU"/>
              <a:t>АКЦЕНТ</a:t>
            </a:r>
          </a:p>
          <a:p>
            <a:r>
              <a:rPr lang="ru-RU"/>
              <a:t>Компоненты: выбираем первую вершину. Сначала показать исходное состояние; не опережать клики.</a:t>
            </a:r>
          </a:p>
          <a:p>
            <a:endParaRPr lang="ru-RU"/>
          </a:p>
          <a:p>
            <a:r>
              <a:rPr lang="ru-RU"/>
              <a:t>ВОПРОС АУДИТОРИИ</a:t>
            </a:r>
          </a:p>
          <a:p>
            <a:r>
              <a:rPr lang="ru-RU"/>
              <a:t>Что узнаем после завершения DFS(1)?</a:t>
            </a:r>
          </a:p>
          <a:p>
            <a:endParaRPr lang="ru-RU"/>
          </a:p>
          <a:p>
            <a:r>
              <a:rPr lang="ru-RU"/>
              <a:t>КЛИКИ</a:t>
            </a:r>
          </a:p>
          <a:p>
            <a:r>
              <a:rPr lang="ru-RU"/>
              <a:t>1. Выбрать 1 и увеличить счётчик компонент до 1.</a:t>
            </a:r>
          </a:p>
          <a:p>
            <a:endParaRPr lang="ru-RU"/>
          </a:p>
          <a:p>
            <a:r>
              <a:rPr lang="ru-RU"/>
              <a:t>ТИПИЧНАЯ ОШИБКА</a:t>
            </a:r>
          </a:p>
          <a:p>
            <a:r>
              <a:rPr lang="ru-RU"/>
              <a:t>Новый цвет назначается всей компоненте, а не каждой вершине отдельно.</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12</a:t>
            </a:fld>
            <a:endParaRPr lang="ru-RU"/>
          </a:p>
        </p:txBody>
      </p:sp>
    </p:spTree>
    <p:extLst>
      <p:ext uri="{BB962C8B-B14F-4D97-AF65-F5344CB8AC3E}">
        <p14:creationId xmlns:p14="http://schemas.microsoft.com/office/powerpoint/2010/main" val="1298067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Обойти 1, 2, 3. Никакое ребро не ведёт из этой группы наружу.</a:t>
            </a:r>
          </a:p>
          <a:p>
            <a:endParaRPr lang="ru-RU"/>
          </a:p>
          <a:p>
            <a:r>
              <a:rPr lang="ru-RU"/>
              <a:t>АКЦЕНТ</a:t>
            </a:r>
          </a:p>
          <a:p>
            <a:r>
              <a:rPr lang="ru-RU"/>
              <a:t>Компоненты: один DFS закрашивает группу. Сначала показать исходное состояние; не опережать клики.</a:t>
            </a:r>
          </a:p>
          <a:p>
            <a:endParaRPr lang="ru-RU"/>
          </a:p>
          <a:p>
            <a:r>
              <a:rPr lang="ru-RU"/>
              <a:t>ВОПРОС АУДИТОРИИ</a:t>
            </a:r>
          </a:p>
          <a:p>
            <a:r>
              <a:rPr lang="ru-RU"/>
              <a:t>Почему обход останавливается после вершины 3?</a:t>
            </a:r>
          </a:p>
          <a:p>
            <a:endParaRPr lang="ru-RU"/>
          </a:p>
          <a:p>
            <a:r>
              <a:rPr lang="ru-RU"/>
              <a:t>КЛИКИ</a:t>
            </a:r>
          </a:p>
          <a:p>
            <a:r>
              <a:rPr lang="ru-RU"/>
              <a:t>1. Показать посещение 1.</a:t>
            </a:r>
          </a:p>
          <a:p>
            <a:r>
              <a:rPr lang="ru-RU"/>
              <a:t>2. Показать посещение 2.</a:t>
            </a:r>
          </a:p>
          <a:p>
            <a:r>
              <a:rPr lang="ru-RU"/>
              <a:t>3. Показать посещение 3.</a:t>
            </a:r>
          </a:p>
          <a:p>
            <a:endParaRPr lang="ru-RU"/>
          </a:p>
          <a:p>
            <a:r>
              <a:rPr lang="ru-RU"/>
              <a:t>ТИПИЧНАЯ ОШИБКА</a:t>
            </a:r>
          </a:p>
          <a:p>
            <a:r>
              <a:rPr lang="ru-RU"/>
              <a:t>Посещение только одной вершины ещё не завершает компоненту.</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13</a:t>
            </a:fld>
            <a:endParaRPr lang="ru-RU"/>
          </a:p>
        </p:txBody>
      </p:sp>
    </p:spTree>
    <p:extLst>
      <p:ext uri="{BB962C8B-B14F-4D97-AF65-F5344CB8AC3E}">
        <p14:creationId xmlns:p14="http://schemas.microsoft.com/office/powerpoint/2010/main" val="3108535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После первой компоненты выбрать непосещённую 4, затем 7.</a:t>
            </a:r>
          </a:p>
          <a:p>
            <a:endParaRPr lang="ru-RU"/>
          </a:p>
          <a:p>
            <a:r>
              <a:rPr lang="ru-RU"/>
              <a:t>АКЦЕНТ</a:t>
            </a:r>
          </a:p>
          <a:p>
            <a:r>
              <a:rPr lang="ru-RU"/>
              <a:t>Компоненты: продолжаем внешний цикл. Сначала показать исходное состояние; не опережать клики.</a:t>
            </a:r>
          </a:p>
          <a:p>
            <a:endParaRPr lang="ru-RU"/>
          </a:p>
          <a:p>
            <a:r>
              <a:rPr lang="ru-RU"/>
              <a:t>ВОПРОС АУДИТОРИИ</a:t>
            </a:r>
          </a:p>
          <a:p>
            <a:r>
              <a:rPr lang="ru-RU"/>
              <a:t>Что делает внешний цикл с уже посещёнными 2 и 3?</a:t>
            </a:r>
          </a:p>
          <a:p>
            <a:endParaRPr lang="ru-RU"/>
          </a:p>
          <a:p>
            <a:r>
              <a:rPr lang="ru-RU"/>
              <a:t>КЛИКИ</a:t>
            </a:r>
          </a:p>
          <a:p>
            <a:r>
              <a:rPr lang="ru-RU"/>
              <a:t>1. Выбрать непосещённую вершину 4.</a:t>
            </a:r>
          </a:p>
          <a:p>
            <a:r>
              <a:rPr lang="ru-RU"/>
              <a:t>2. Завершить вторую компоненту {4,5,6}.</a:t>
            </a:r>
          </a:p>
          <a:p>
            <a:r>
              <a:rPr lang="ru-RU"/>
              <a:t>3. Запустить DFS(7), получить третью компоненту и итог.</a:t>
            </a:r>
          </a:p>
          <a:p>
            <a:endParaRPr lang="ru-RU"/>
          </a:p>
          <a:p>
            <a:r>
              <a:rPr lang="ru-RU"/>
              <a:t>ТИПИЧНАЯ ОШИБКА</a:t>
            </a:r>
          </a:p>
          <a:p>
            <a:r>
              <a:rPr lang="ru-RU"/>
              <a:t>Внешний цикл пропускает посещённые вершины, а не запускает с них новый обход.</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14</a:t>
            </a:fld>
            <a:endParaRPr lang="ru-RU"/>
          </a:p>
        </p:txBody>
      </p:sp>
    </p:spTree>
    <p:extLst>
      <p:ext uri="{BB962C8B-B14F-4D97-AF65-F5344CB8AC3E}">
        <p14:creationId xmlns:p14="http://schemas.microsoft.com/office/powerpoint/2010/main" val="338585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Связать внешний цикл с запусками DFS. Все вершины суммарно посещаются один раз.</a:t>
            </a:r>
          </a:p>
          <a:p>
            <a:endParaRPr lang="ru-RU"/>
          </a:p>
          <a:p>
            <a:r>
              <a:rPr lang="ru-RU"/>
              <a:t>АКЦЕНТ</a:t>
            </a:r>
          </a:p>
          <a:p>
            <a:r>
              <a:rPr lang="ru-RU"/>
              <a:t>Компоненты: алгоритмическая идея. Опирайтесь на схему и краткие подписи.</a:t>
            </a:r>
          </a:p>
          <a:p>
            <a:endParaRPr lang="ru-RU"/>
          </a:p>
          <a:p>
            <a:r>
              <a:rPr lang="ru-RU"/>
              <a:t>ВОПРОС АУДИТОРИИ</a:t>
            </a:r>
          </a:p>
          <a:p>
            <a:r>
              <a:rPr lang="ru-RU"/>
              <a:t>Почему цикл по вершинам не превращает сложность в O(V²)?</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Суммарная работа всех DFS линейна, потому что visited общий.</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15</a:t>
            </a:fld>
            <a:endParaRPr lang="ru-RU"/>
          </a:p>
        </p:txBody>
      </p:sp>
    </p:spTree>
    <p:extLst>
      <p:ext uri="{BB962C8B-B14F-4D97-AF65-F5344CB8AC3E}">
        <p14:creationId xmlns:p14="http://schemas.microsoft.com/office/powerpoint/2010/main" val="2514845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Сравнить цепочку и цикл. Достижимость из A в B не гарантирует обратного пути.</a:t>
            </a:r>
          </a:p>
          <a:p>
            <a:endParaRPr lang="ru-RU"/>
          </a:p>
          <a:p>
            <a:r>
              <a:rPr lang="ru-RU"/>
              <a:t>АКЦЕНТ</a:t>
            </a:r>
          </a:p>
          <a:p>
            <a:r>
              <a:rPr lang="ru-RU"/>
              <a:t>В ориентированном графе всё сложнее. Опирайтесь на схему и краткие подписи.</a:t>
            </a:r>
          </a:p>
          <a:p>
            <a:endParaRPr lang="ru-RU"/>
          </a:p>
          <a:p>
            <a:r>
              <a:rPr lang="ru-RU"/>
              <a:t>ВОПРОС АУДИТОРИИ</a:t>
            </a:r>
          </a:p>
          <a:p>
            <a:r>
              <a:rPr lang="ru-RU"/>
              <a:t>Если можно попасть из 1 в 3, можно ли вернуться?</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Считать геометрическое положение вершины свойством алгоритма: важно направление рёбер и порядок соседей.</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16</a:t>
            </a:fld>
            <a:endParaRPr lang="ru-RU"/>
          </a:p>
        </p:txBody>
      </p:sp>
    </p:spTree>
    <p:extLst>
      <p:ext uri="{BB962C8B-B14F-4D97-AF65-F5344CB8AC3E}">
        <p14:creationId xmlns:p14="http://schemas.microsoft.com/office/powerpoint/2010/main" val="1845868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u и v сильно связаны, если существуют оба направленных пути. Пути могут проходить через другие вершины.</a:t>
            </a:r>
          </a:p>
          <a:p>
            <a:endParaRPr lang="ru-RU"/>
          </a:p>
          <a:p>
            <a:r>
              <a:rPr lang="ru-RU"/>
              <a:t>АКЦЕНТ</a:t>
            </a:r>
          </a:p>
          <a:p>
            <a:r>
              <a:rPr lang="ru-RU"/>
              <a:t>Сильная связность. Опирайтесь на схему и краткие подписи.</a:t>
            </a:r>
          </a:p>
          <a:p>
            <a:endParaRPr lang="ru-RU"/>
          </a:p>
          <a:p>
            <a:r>
              <a:rPr lang="ru-RU"/>
              <a:t>ВОПРОС АУДИТОРИИ</a:t>
            </a:r>
          </a:p>
          <a:p>
            <a:r>
              <a:rPr lang="ru-RU"/>
              <a:t>Обязаны ли u и v иметь прямые рёбра друг к другу?</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Взаимная достижимость не означает наличие двух прямых рёбер.</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17</a:t>
            </a:fld>
            <a:endParaRPr lang="ru-RU"/>
          </a:p>
        </p:txBody>
      </p:sp>
    </p:spTree>
    <p:extLst>
      <p:ext uri="{BB962C8B-B14F-4D97-AF65-F5344CB8AC3E}">
        <p14:creationId xmlns:p14="http://schemas.microsoft.com/office/powerpoint/2010/main" val="1786644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SCC — максимальная группа взаимно достижимых вершин. Показать три SCC и однонаправленные связи между ними.</a:t>
            </a:r>
          </a:p>
          <a:p>
            <a:endParaRPr lang="ru-RU"/>
          </a:p>
          <a:p>
            <a:r>
              <a:rPr lang="ru-RU"/>
              <a:t>АКЦЕНТ</a:t>
            </a:r>
          </a:p>
          <a:p>
            <a:r>
              <a:rPr lang="ru-RU"/>
              <a:t>SCC: компоненты сильной связности. Опирайтесь на схему и краткие подписи.</a:t>
            </a:r>
          </a:p>
          <a:p>
            <a:endParaRPr lang="ru-RU"/>
          </a:p>
          <a:p>
            <a:r>
              <a:rPr lang="ru-RU"/>
              <a:t>ВОПРОС АУДИТОРИИ</a:t>
            </a:r>
          </a:p>
          <a:p>
            <a:r>
              <a:rPr lang="ru-RU"/>
              <a:t>Почему ребро 3 → 4 не объединяет первую и вторую SCC?</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Одна общая дуга между группами не обеспечивает обратного пути.</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18</a:t>
            </a:fld>
            <a:endParaRPr lang="ru-RU"/>
          </a:p>
        </p:txBody>
      </p:sp>
    </p:spTree>
    <p:extLst>
      <p:ext uri="{BB962C8B-B14F-4D97-AF65-F5344CB8AC3E}">
        <p14:creationId xmlns:p14="http://schemas.microsoft.com/office/powerpoint/2010/main" val="2446192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Каждая SCC становится одной вершиной. Несколько межкомпонентных рёбер с одинаковыми концами можно объединить. Граф конденсации ацикличен.</a:t>
            </a:r>
          </a:p>
          <a:p>
            <a:endParaRPr lang="ru-RU"/>
          </a:p>
          <a:p>
            <a:r>
              <a:rPr lang="ru-RU"/>
              <a:t>АКЦЕНТ</a:t>
            </a:r>
          </a:p>
          <a:p>
            <a:r>
              <a:rPr lang="ru-RU"/>
              <a:t>Сожмём каждую SCC. Опирайтесь на схему и краткие подписи.</a:t>
            </a:r>
          </a:p>
          <a:p>
            <a:endParaRPr lang="ru-RU"/>
          </a:p>
          <a:p>
            <a:r>
              <a:rPr lang="ru-RU"/>
              <a:t>ВОПРОС АУДИТОРИИ</a:t>
            </a:r>
          </a:p>
          <a:p>
            <a:r>
              <a:rPr lang="ru-RU"/>
              <a:t>Что означал бы цикл между различными SCC?</a:t>
            </a:r>
          </a:p>
          <a:p>
            <a:endParaRPr lang="ru-RU"/>
          </a:p>
          <a:p>
            <a:r>
              <a:rPr lang="ru-RU"/>
              <a:t>КЛИКИ</a:t>
            </a:r>
          </a:p>
          <a:p>
            <a:r>
              <a:rPr lang="ru-RU"/>
              <a:t>При переходе с предыдущего слайда используется Morph. После окончания перехода обсуждаем новое состояние.</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Цикл между компонентами объединил бы их в одну SCC.</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19</a:t>
            </a:fld>
            <a:endParaRPr lang="ru-RU"/>
          </a:p>
        </p:txBody>
      </p:sp>
    </p:spTree>
    <p:extLst>
      <p:ext uri="{BB962C8B-B14F-4D97-AF65-F5344CB8AC3E}">
        <p14:creationId xmlns:p14="http://schemas.microsoft.com/office/powerpoint/2010/main" val="2837408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Поставить задачу: выделить все максимальные группы взаимной достижимости. Предложить идею нескольких запусков обхода, затем объяснить необходимость правильного порядка.</a:t>
            </a:r>
          </a:p>
          <a:p>
            <a:endParaRPr lang="ru-RU"/>
          </a:p>
          <a:p>
            <a:r>
              <a:rPr lang="ru-RU"/>
              <a:t>АКЦЕНТ</a:t>
            </a:r>
          </a:p>
          <a:p>
            <a:r>
              <a:rPr lang="ru-RU"/>
              <a:t>Как найти SCC?. Опирайтесь на схему и краткие подписи.</a:t>
            </a:r>
          </a:p>
          <a:p>
            <a:endParaRPr lang="ru-RU"/>
          </a:p>
          <a:p>
            <a:r>
              <a:rPr lang="ru-RU"/>
              <a:t>ВОПРОС АУДИТОРИИ</a:t>
            </a:r>
          </a:p>
          <a:p>
            <a:r>
              <a:rPr lang="ru-RU"/>
              <a:t>Почему обычный DFS может пройти сразу несколько SCC?</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Один DFS исходного ориентированного графа не обязан совпадать с одной SCC.</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20</a:t>
            </a:fld>
            <a:endParaRPr lang="ru-RU"/>
          </a:p>
        </p:txBody>
      </p:sp>
    </p:spTree>
    <p:extLst>
      <p:ext uri="{BB962C8B-B14F-4D97-AF65-F5344CB8AC3E}">
        <p14:creationId xmlns:p14="http://schemas.microsoft.com/office/powerpoint/2010/main" val="985567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 нашей версии первый DFS идёт по G, второй по Gᵀ в обратном порядке выхода. Симметричная версия с первым проходом по Gᵀ тоже корректна.</a:t>
            </a:r>
          </a:p>
          <a:p>
            <a:endParaRPr lang="ru-RU"/>
          </a:p>
          <a:p>
            <a:r>
              <a:rPr lang="ru-RU"/>
              <a:t>АКЦЕНТ</a:t>
            </a:r>
          </a:p>
          <a:p>
            <a:r>
              <a:rPr lang="ru-RU"/>
              <a:t>Косарайю: два обхода. Опирайтесь на схему и краткие подписи.</a:t>
            </a:r>
          </a:p>
          <a:p>
            <a:endParaRPr lang="ru-RU"/>
          </a:p>
          <a:p>
            <a:r>
              <a:rPr lang="ru-RU"/>
              <a:t>ВОПРОС АУДИТОРИИ</a:t>
            </a:r>
          </a:p>
          <a:p>
            <a:r>
              <a:rPr lang="ru-RU"/>
              <a:t>На каком событии строим порядок: вход или выход?</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Нельзя заменить порядок завершения порядком первого посещения.</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21</a:t>
            </a:fld>
            <a:endParaRPr lang="ru-RU"/>
          </a:p>
        </p:txBody>
      </p:sp>
    </p:spTree>
    <p:extLst>
      <p:ext uri="{BB962C8B-B14F-4D97-AF65-F5344CB8AC3E}">
        <p14:creationId xmlns:p14="http://schemas.microsoft.com/office/powerpoint/2010/main" val="40288224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Зафиксировать один граф из восьми вершин. Вершины и соседи перебираются по возрастанию номера. Это правило определяет дальнейший след обхода.</a:t>
            </a:r>
          </a:p>
          <a:p>
            <a:endParaRPr lang="ru-RU"/>
          </a:p>
          <a:p>
            <a:r>
              <a:rPr lang="ru-RU"/>
              <a:t>АКЦЕНТ</a:t>
            </a:r>
          </a:p>
          <a:p>
            <a:r>
              <a:rPr lang="ru-RU"/>
              <a:t>Косарайю: исходный граф. Опирайтесь на схему и краткие подписи.</a:t>
            </a:r>
          </a:p>
          <a:p>
            <a:endParaRPr lang="ru-RU"/>
          </a:p>
          <a:p>
            <a:r>
              <a:rPr lang="ru-RU"/>
              <a:t>ВОПРОС АУДИТОРИИ</a:t>
            </a:r>
          </a:p>
          <a:p>
            <a:r>
              <a:rPr lang="ru-RU"/>
              <a:t>До какой вершины может дойти DFS(1)?</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В первом проходе DFS может пересекать границы SCC.</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22</a:t>
            </a:fld>
            <a:endParaRPr lang="ru-RU"/>
          </a:p>
        </p:txBody>
      </p:sp>
    </p:spTree>
    <p:extLst>
      <p:ext uri="{BB962C8B-B14F-4D97-AF65-F5344CB8AC3E}">
        <p14:creationId xmlns:p14="http://schemas.microsoft.com/office/powerpoint/2010/main" val="1390126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Начать с 1, перейти в 2. В 2 первым идёт 3, а не 7. Первый проход ещё не выделяет компоненты.</a:t>
            </a:r>
          </a:p>
          <a:p>
            <a:endParaRPr lang="ru-RU"/>
          </a:p>
          <a:p>
            <a:r>
              <a:rPr lang="ru-RU"/>
              <a:t>АКЦЕНТ</a:t>
            </a:r>
          </a:p>
          <a:p>
            <a:r>
              <a:rPr lang="ru-RU"/>
              <a:t>Косарайю: первый DFS начинается. Сначала показать исходное состояние; не опережать клики.</a:t>
            </a:r>
          </a:p>
          <a:p>
            <a:endParaRPr lang="ru-RU"/>
          </a:p>
          <a:p>
            <a:r>
              <a:rPr lang="ru-RU"/>
              <a:t>ВОПРОС АУДИТОРИИ</a:t>
            </a:r>
          </a:p>
          <a:p>
            <a:r>
              <a:rPr lang="ru-RU"/>
              <a:t>Почему ребро 2 → 7 пока не рассматривается?</a:t>
            </a:r>
          </a:p>
          <a:p>
            <a:endParaRPr lang="ru-RU"/>
          </a:p>
          <a:p>
            <a:r>
              <a:rPr lang="ru-RU"/>
              <a:t>КЛИКИ</a:t>
            </a:r>
          </a:p>
          <a:p>
            <a:r>
              <a:rPr lang="ru-RU"/>
              <a:t>1. Войти в 1. Массив порядка выхода остаётся пустым.</a:t>
            </a:r>
          </a:p>
          <a:p>
            <a:r>
              <a:rPr lang="ru-RU"/>
              <a:t>2. Перейти по 1 → 2. Вызов 1 остаётся в стеке.</a:t>
            </a:r>
          </a:p>
          <a:p>
            <a:endParaRPr lang="ru-RU"/>
          </a:p>
          <a:p>
            <a:r>
              <a:rPr lang="ru-RU"/>
              <a:t>ТИПИЧНАЯ ОШИБКА</a:t>
            </a:r>
          </a:p>
          <a:p>
            <a:r>
              <a:rPr lang="ru-RU"/>
              <a:t>Порядок соседей влияет на след, но не на состав SCC.</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23</a:t>
            </a:fld>
            <a:endParaRPr lang="ru-RU"/>
          </a:p>
        </p:txBody>
      </p:sp>
    </p:spTree>
    <p:extLst>
      <p:ext uri="{BB962C8B-B14F-4D97-AF65-F5344CB8AC3E}">
        <p14:creationId xmlns:p14="http://schemas.microsoft.com/office/powerpoint/2010/main" val="32541498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Продолжить 1 → 2 → 3 → 4 → 5 → 6 → 7 → 8. Обратные дуги ведут в уже посещённые вершины, повторные вызовы не нужны.</a:t>
            </a:r>
          </a:p>
          <a:p>
            <a:endParaRPr lang="ru-RU"/>
          </a:p>
          <a:p>
            <a:r>
              <a:rPr lang="ru-RU"/>
              <a:t>АКЦЕНТ</a:t>
            </a:r>
          </a:p>
          <a:p>
            <a:r>
              <a:rPr lang="ru-RU"/>
              <a:t>Косарайю: первый DFS продолжается. Сначала показать исходное состояние; не опережать клики.</a:t>
            </a:r>
          </a:p>
          <a:p>
            <a:endParaRPr lang="ru-RU"/>
          </a:p>
          <a:p>
            <a:r>
              <a:rPr lang="ru-RU"/>
              <a:t>ВОПРОС АУДИТОРИИ</a:t>
            </a:r>
          </a:p>
          <a:p>
            <a:r>
              <a:rPr lang="ru-RU"/>
              <a:t>Что делаем с ребром 8 → 6?</a:t>
            </a:r>
          </a:p>
          <a:p>
            <a:endParaRPr lang="ru-RU"/>
          </a:p>
          <a:p>
            <a:r>
              <a:rPr lang="ru-RU"/>
              <a:t>КЛИКИ</a:t>
            </a:r>
          </a:p>
          <a:p>
            <a:r>
              <a:rPr lang="ru-RU"/>
              <a:t>1. Войти в 3; порядок выхода ещё пуст.</a:t>
            </a:r>
          </a:p>
          <a:p>
            <a:r>
              <a:rPr lang="ru-RU"/>
              <a:t>2. Войти в 4; порядок выхода ещё пуст.</a:t>
            </a:r>
          </a:p>
          <a:p>
            <a:r>
              <a:rPr lang="ru-RU"/>
              <a:t>3. Войти в 5; порядок выхода ещё пуст.</a:t>
            </a:r>
          </a:p>
          <a:p>
            <a:r>
              <a:rPr lang="ru-RU"/>
              <a:t>4. Войти в 6; порядок выхода ещё пуст.</a:t>
            </a:r>
          </a:p>
          <a:p>
            <a:r>
              <a:rPr lang="ru-RU"/>
              <a:t>5. Войти в 7; порядок выхода ещё пуст.</a:t>
            </a:r>
          </a:p>
          <a:p>
            <a:r>
              <a:rPr lang="ru-RU"/>
              <a:t>6. Войти в 8; порядок выхода ещё пуст.</a:t>
            </a:r>
          </a:p>
          <a:p>
            <a:endParaRPr lang="ru-RU"/>
          </a:p>
          <a:p>
            <a:r>
              <a:rPr lang="ru-RU"/>
              <a:t>ТИПИЧНАЯ ОШИБКА</a:t>
            </a:r>
          </a:p>
          <a:p>
            <a:r>
              <a:rPr lang="ru-RU"/>
              <a:t>visited препятствует бесконечному обходу направленного цикла.</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24</a:t>
            </a:fld>
            <a:endParaRPr lang="ru-RU"/>
          </a:p>
        </p:txBody>
      </p:sp>
    </p:spTree>
    <p:extLst>
      <p:ext uri="{BB962C8B-B14F-4D97-AF65-F5344CB8AC3E}">
        <p14:creationId xmlns:p14="http://schemas.microsoft.com/office/powerpoint/2010/main" val="998215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Вершина добавляется в order только при завершении вызова. Первая выходит 8, последней 1. Позже ребро 2 → 7 не создаст новый вызов.</a:t>
            </a:r>
          </a:p>
          <a:p>
            <a:endParaRPr lang="ru-RU"/>
          </a:p>
          <a:p>
            <a:r>
              <a:rPr lang="ru-RU"/>
              <a:t>АКЦЕНТ</a:t>
            </a:r>
          </a:p>
          <a:p>
            <a:r>
              <a:rPr lang="ru-RU"/>
              <a:t>Косарайю: порядок выхода. Сначала показать исходное состояние; не опережать клики.</a:t>
            </a:r>
          </a:p>
          <a:p>
            <a:endParaRPr lang="ru-RU"/>
          </a:p>
          <a:p>
            <a:r>
              <a:rPr lang="ru-RU"/>
              <a:t>ВОПРОС АУДИТОРИИ</a:t>
            </a:r>
          </a:p>
          <a:p>
            <a:r>
              <a:rPr lang="ru-RU"/>
              <a:t>Почему 8 попала в order раньше 1?</a:t>
            </a:r>
          </a:p>
          <a:p>
            <a:endParaRPr lang="ru-RU"/>
          </a:p>
          <a:p>
            <a:r>
              <a:rPr lang="ru-RU"/>
              <a:t>КЛИКИ</a:t>
            </a:r>
          </a:p>
          <a:p>
            <a:r>
              <a:rPr lang="ru-RU"/>
              <a:t>1. Завершить 8 и добавить её в конец вертикальной колонки order: [8].</a:t>
            </a:r>
          </a:p>
          <a:p>
            <a:r>
              <a:rPr lang="ru-RU"/>
              <a:t>2. Завершить 7 и добавить её в конец вертикальной колонки order: [8, 7].</a:t>
            </a:r>
          </a:p>
          <a:p>
            <a:r>
              <a:rPr lang="ru-RU"/>
              <a:t>3. Завершить 6 и добавить её в конец вертикальной колонки order: [8, 7, 6].</a:t>
            </a:r>
          </a:p>
          <a:p>
            <a:r>
              <a:rPr lang="ru-RU"/>
              <a:t>4. Завершить 5 и добавить её в конец вертикальной колонки order: [8, 7, 6, 5].</a:t>
            </a:r>
          </a:p>
          <a:p>
            <a:r>
              <a:rPr lang="ru-RU"/>
              <a:t>5. Завершить 4 и добавить её в конец вертикальной колонки order: [8, 7, 6, 5, 4].</a:t>
            </a:r>
          </a:p>
          <a:p>
            <a:r>
              <a:rPr lang="ru-RU"/>
              <a:t>6. Завершить 3 и добавить её в конец вертикальной колонки order: [8, 7, 6, 5, 4, 3].</a:t>
            </a:r>
          </a:p>
          <a:p>
            <a:r>
              <a:rPr lang="ru-RU"/>
              <a:t>7. Завершить 2 и добавить её в конец вертикальной колонки order: [8, 7, 6, 5, 4, 3, 2].</a:t>
            </a:r>
          </a:p>
          <a:p>
            <a:r>
              <a:rPr lang="ru-RU"/>
              <a:t>8. Завершить 1 и добавить её в конец вертикальной колонки order: [8, 7, 6, 5, 4, 3, 2, 1].</a:t>
            </a:r>
          </a:p>
          <a:p>
            <a:endParaRPr lang="ru-RU"/>
          </a:p>
          <a:p>
            <a:r>
              <a:rPr lang="ru-RU"/>
              <a:t>ТИПИЧНАЯ ОШИБКА</a:t>
            </a:r>
          </a:p>
          <a:p>
            <a:r>
              <a:rPr lang="ru-RU"/>
              <a:t>Результат первого прохода — порядок выхода, не список входов.</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25</a:t>
            </a:fld>
            <a:endParaRPr lang="ru-RU"/>
          </a:p>
        </p:txBody>
      </p:sp>
    </p:spTree>
    <p:extLst>
      <p:ext uri="{BB962C8B-B14F-4D97-AF65-F5344CB8AC3E}">
        <p14:creationId xmlns:p14="http://schemas.microsoft.com/office/powerpoint/2010/main" val="1956004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Все дуги меняют направление; вершины и их номера сохраняются. Множества SCC при транспонировании не меняются.</a:t>
            </a:r>
          </a:p>
          <a:p>
            <a:endParaRPr lang="ru-RU"/>
          </a:p>
          <a:p>
            <a:r>
              <a:rPr lang="ru-RU"/>
              <a:t>АКЦЕНТ</a:t>
            </a:r>
          </a:p>
          <a:p>
            <a:r>
              <a:rPr lang="ru-RU"/>
              <a:t>Косарайю: транспонируем граф. Опирайтесь на схему и краткие подписи.</a:t>
            </a:r>
          </a:p>
          <a:p>
            <a:endParaRPr lang="ru-RU"/>
          </a:p>
          <a:p>
            <a:r>
              <a:rPr lang="ru-RU"/>
              <a:t>ВОПРОС АУДИТОРИИ</a:t>
            </a:r>
          </a:p>
          <a:p>
            <a:r>
              <a:rPr lang="ru-RU"/>
              <a:t>Почему взаимная достижимость сохраняется после переворота всех дуг?</a:t>
            </a:r>
          </a:p>
          <a:p>
            <a:endParaRPr lang="ru-RU"/>
          </a:p>
          <a:p>
            <a:r>
              <a:rPr lang="ru-RU"/>
              <a:t>КЛИКИ</a:t>
            </a:r>
          </a:p>
          <a:p>
            <a:r>
              <a:rPr lang="ru-RU"/>
              <a:t>При переходе с предыдущего слайда используется Morph. После окончания перехода обсуждаем новое состояние.</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Транспонирование не является заменой графа его неориентированной версией.</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26</a:t>
            </a:fld>
            <a:endParaRPr lang="ru-RU"/>
          </a:p>
        </p:txBody>
      </p:sp>
    </p:spTree>
    <p:extLst>
      <p:ext uri="{BB962C8B-B14F-4D97-AF65-F5344CB8AC3E}">
        <p14:creationId xmlns:p14="http://schemas.microsoft.com/office/powerpoint/2010/main" val="22803580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Обнулить visited. Взять вершину 1 первой в обратном порядке выхода. В Gᵀ обход проходит 1 → 3 → 2, оставаясь внутри первой SCC.</a:t>
            </a:r>
          </a:p>
          <a:p>
            <a:endParaRPr lang="ru-RU"/>
          </a:p>
          <a:p>
            <a:r>
              <a:rPr lang="ru-RU"/>
              <a:t>АКЦЕНТ</a:t>
            </a:r>
          </a:p>
          <a:p>
            <a:r>
              <a:rPr lang="ru-RU"/>
              <a:t>Косарайю: второй DFS выделяет SCC. Сначала показать исходное состояние; не опережать клики.</a:t>
            </a:r>
          </a:p>
          <a:p>
            <a:endParaRPr lang="ru-RU"/>
          </a:p>
          <a:p>
            <a:r>
              <a:rPr lang="ru-RU"/>
              <a:t>ВОПРОС АУДИТОРИИ</a:t>
            </a:r>
          </a:p>
          <a:p>
            <a:r>
              <a:rPr lang="ru-RU"/>
              <a:t>Почему из первой SCC сейчас нельзя перейти во вторую?</a:t>
            </a:r>
          </a:p>
          <a:p>
            <a:endParaRPr lang="ru-RU"/>
          </a:p>
          <a:p>
            <a:r>
              <a:rPr lang="ru-RU"/>
              <a:t>КЛИКИ</a:t>
            </a:r>
          </a:p>
          <a:p>
            <a:r>
              <a:rPr lang="ru-RU"/>
              <a:t>1. Второй DFS посетил 1; после последнего шага C₁={1,2,3}.</a:t>
            </a:r>
          </a:p>
          <a:p>
            <a:r>
              <a:rPr lang="ru-RU"/>
              <a:t>2. Второй DFS посетил 3; после последнего шага C₁={1,2,3}.</a:t>
            </a:r>
          </a:p>
          <a:p>
            <a:r>
              <a:rPr lang="ru-RU"/>
              <a:t>3. Второй DFS посетил 2; после последнего шага C₁={1,2,3}.</a:t>
            </a:r>
          </a:p>
          <a:p>
            <a:endParaRPr lang="ru-RU"/>
          </a:p>
          <a:p>
            <a:r>
              <a:rPr lang="ru-RU"/>
              <a:t>ТИПИЧНАЯ ОШИБКА</a:t>
            </a:r>
          </a:p>
          <a:p>
            <a:r>
              <a:rPr lang="ru-RU"/>
              <a:t>Перед вторым проходом visited нужно сбросить.</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27</a:t>
            </a:fld>
            <a:endParaRPr lang="ru-RU"/>
          </a:p>
        </p:txBody>
      </p:sp>
    </p:spTree>
    <p:extLst>
      <p:ext uri="{BB962C8B-B14F-4D97-AF65-F5344CB8AC3E}">
        <p14:creationId xmlns:p14="http://schemas.microsoft.com/office/powerpoint/2010/main" val="2477995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Пропустить 2 и 3; они уже помечены. Следующая вершина 4 даёт SCC {4,5}. Вершины 6,7,8 дают третью SCC на следующем слайде.</a:t>
            </a:r>
          </a:p>
          <a:p>
            <a:endParaRPr lang="ru-RU"/>
          </a:p>
          <a:p>
            <a:r>
              <a:rPr lang="ru-RU"/>
              <a:t>АКЦЕНТ</a:t>
            </a:r>
          </a:p>
          <a:p>
            <a:r>
              <a:rPr lang="ru-RU"/>
              <a:t>Косарайю: следующая непосещённая. Сначала показать исходное состояние; не опережать клики.</a:t>
            </a:r>
          </a:p>
          <a:p>
            <a:endParaRPr lang="ru-RU"/>
          </a:p>
          <a:p>
            <a:r>
              <a:rPr lang="ru-RU"/>
              <a:t>ВОПРОС АУДИТОРИИ</a:t>
            </a:r>
          </a:p>
          <a:p>
            <a:r>
              <a:rPr lang="ru-RU"/>
              <a:t>Почему вершину 3 не включаем в SCC, начатую из 4?</a:t>
            </a:r>
          </a:p>
          <a:p>
            <a:endParaRPr lang="ru-RU"/>
          </a:p>
          <a:p>
            <a:r>
              <a:rPr lang="ru-RU"/>
              <a:t>КЛИКИ</a:t>
            </a:r>
          </a:p>
          <a:p>
            <a:r>
              <a:rPr lang="ru-RU"/>
              <a:t>1. Пропустить посещённые 2,3 и запустить DFS из 4.</a:t>
            </a:r>
          </a:p>
          <a:p>
            <a:r>
              <a:rPr lang="ru-RU"/>
              <a:t>2. Посетить 5 и завершить вторую SCC {4,5}.</a:t>
            </a:r>
          </a:p>
          <a:p>
            <a:endParaRPr lang="ru-RU"/>
          </a:p>
          <a:p>
            <a:r>
              <a:rPr lang="ru-RU"/>
              <a:t>ТИПИЧНАЯ ОШИБКА</a:t>
            </a:r>
          </a:p>
          <a:p>
            <a:r>
              <a:rPr lang="ru-RU"/>
              <a:t>Рёбра в ранее выделенные SCC не запускают новый обход.</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28</a:t>
            </a:fld>
            <a:endParaRPr lang="ru-RU"/>
          </a:p>
        </p:txBody>
      </p:sp>
    </p:spTree>
    <p:extLst>
      <p:ext uri="{BB962C8B-B14F-4D97-AF65-F5344CB8AC3E}">
        <p14:creationId xmlns:p14="http://schemas.microsoft.com/office/powerpoint/2010/main" val="32346322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После DFS из 6 получаем третью компоненту. Показать исходные направления рёбер и итоговое разбиение. Сложности проходов складываются, а не перемножаются.</a:t>
            </a:r>
          </a:p>
          <a:p>
            <a:endParaRPr lang="ru-RU"/>
          </a:p>
          <a:p>
            <a:r>
              <a:rPr lang="ru-RU"/>
              <a:t>АКЦЕНТ</a:t>
            </a:r>
          </a:p>
          <a:p>
            <a:r>
              <a:rPr lang="ru-RU"/>
              <a:t>Косарайю: итог. Опирайтесь на схему и краткие подписи.</a:t>
            </a:r>
          </a:p>
          <a:p>
            <a:endParaRPr lang="ru-RU"/>
          </a:p>
          <a:p>
            <a:r>
              <a:rPr lang="ru-RU"/>
              <a:t>ВОПРОС АУДИТОРИИ</a:t>
            </a:r>
          </a:p>
          <a:p>
            <a:r>
              <a:rPr lang="ru-RU"/>
              <a:t>Почему два линейных обхода всё равно O(V+E)?</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Транспонирование списка смежности тоже занимает O(V+E).</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29</a:t>
            </a:fld>
            <a:endParaRPr lang="ru-RU"/>
          </a:p>
        </p:txBody>
      </p:sp>
    </p:spTree>
    <p:extLst>
      <p:ext uri="{BB962C8B-B14F-4D97-AF65-F5344CB8AC3E}">
        <p14:creationId xmlns:p14="http://schemas.microsoft.com/office/powerpoint/2010/main" val="39272310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Показать компактный Python: dfs_exit добавляет вершину на выходе; dfs_collect помечает компоненту. graph и rev_graph являются списками смежности. Идентификатор cid начинается с 0 и увеличивается только после нового запуска dfs_collect; уже помеченные вершины пропускаются.</a:t>
            </a:r>
          </a:p>
          <a:p>
            <a:endParaRPr lang="ru-RU"/>
          </a:p>
          <a:p>
            <a:r>
              <a:rPr lang="ru-RU"/>
              <a:t>АКЦЕНТ</a:t>
            </a:r>
          </a:p>
          <a:p>
            <a:r>
              <a:rPr lang="ru-RU"/>
              <a:t>Косарайю: две стадии в коде. Опирайтесь на схему и краткие подписи.</a:t>
            </a:r>
          </a:p>
          <a:p>
            <a:endParaRPr lang="ru-RU"/>
          </a:p>
          <a:p>
            <a:r>
              <a:rPr lang="ru-RU"/>
              <a:t>ВОПРОС АУДИТОРИИ</a:t>
            </a:r>
          </a:p>
          <a:p>
            <a:r>
              <a:rPr lang="ru-RU"/>
              <a:t>Где именно вызывается order.append(v)?</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Массив comp перед вторым проходом заполнен -1; проход идёт по reversed(order).</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30</a:t>
            </a:fld>
            <a:endParaRPr lang="ru-RU"/>
          </a:p>
        </p:txBody>
      </p:sp>
    </p:spTree>
    <p:extLst>
      <p:ext uri="{BB962C8B-B14F-4D97-AF65-F5344CB8AC3E}">
        <p14:creationId xmlns:p14="http://schemas.microsoft.com/office/powerpoint/2010/main" val="33293234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Рассмотреть DAG конденсации. Максимальное время выхода в SCC-источнике больше, чем у следующей SCC. В Gᵀ выбранная первая SCC становится стоком и не выпускает обход наружу. После её пометки рассуждение повторяется.</a:t>
            </a:r>
          </a:p>
          <a:p>
            <a:endParaRPr lang="ru-RU"/>
          </a:p>
          <a:p>
            <a:r>
              <a:rPr lang="ru-RU"/>
              <a:t>АКЦЕНТ</a:t>
            </a:r>
          </a:p>
          <a:p>
            <a:r>
              <a:rPr lang="ru-RU"/>
              <a:t>Почему Косарайю работает. Опирайтесь на схему и краткие подписи.</a:t>
            </a:r>
          </a:p>
          <a:p>
            <a:endParaRPr lang="ru-RU"/>
          </a:p>
          <a:p>
            <a:r>
              <a:rPr lang="ru-RU"/>
              <a:t>ВОПРОС АУДИТОРИИ</a:t>
            </a:r>
          </a:p>
          <a:p>
            <a:r>
              <a:rPr lang="ru-RU"/>
              <a:t>Как транспонирование помогает не уйти в следующую SCC?</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Сравниваем максимумы времени выхода компонент; не утверждаем, что все времена одной SCC больше всех времён другой.</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31</a:t>
            </a:fld>
            <a:endParaRPr lang="ru-RU"/>
          </a:p>
        </p:txBody>
      </p:sp>
    </p:spTree>
    <p:extLst>
      <p:ext uri="{BB962C8B-B14F-4D97-AF65-F5344CB8AC3E}">
        <p14:creationId xmlns:p14="http://schemas.microsoft.com/office/powerpoint/2010/main" val="24012733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Косарайю уже нашёл на этом графе три SCC: {1,2,3}, {4,5}, {6,7,8}. Теперь попробуем получить тот же результат, но одним DFS. Граф и направления рёбер взяты из существующего примера Косарайю.</a:t>
            </a:r>
          </a:p>
          <a:p>
            <a:endParaRPr lang="ru-RU"/>
          </a:p>
          <a:p>
            <a:r>
              <a:rPr lang="ru-RU"/>
              <a:t>АКЦЕНТ</a:t>
            </a:r>
          </a:p>
          <a:p>
            <a:r>
              <a:rPr lang="ru-RU"/>
              <a:t>Стартуем с 1. Соседей просматриваем по возрастанию номера.</a:t>
            </a:r>
          </a:p>
          <a:p>
            <a:endParaRPr lang="ru-RU"/>
          </a:p>
          <a:p>
            <a:r>
              <a:rPr lang="ru-RU"/>
              <a:t>ВОПРОС АУДИТОРИИ</a:t>
            </a:r>
          </a:p>
          <a:p>
            <a:r>
              <a:rPr lang="ru-RU"/>
              <a:t>Что Тарьян должен получить на этом же графе?</a:t>
            </a:r>
          </a:p>
          <a:p>
            <a:endParaRPr lang="ru-RU"/>
          </a:p>
          <a:p>
            <a:r>
              <a:rPr lang="ru-RU"/>
              <a:t>КЛИКИ</a:t>
            </a:r>
          </a:p>
          <a:p>
            <a:r>
              <a:rPr lang="ru-RU"/>
              <a:t>1. Сформулировать задачу: найти те же SCC одним DFS.</a:t>
            </a:r>
          </a:p>
          <a:p>
            <a:endParaRPr lang="ru-RU"/>
          </a:p>
          <a:p>
            <a:r>
              <a:rPr lang="ru-RU"/>
              <a:t>ТИПИЧНАЯ ОШИБКА</a:t>
            </a:r>
          </a:p>
          <a:p>
            <a:r>
              <a:rPr lang="ru-RU"/>
              <a:t>У обоих алгоритмов время O(V + E); один проход не означает другую асимптотику.</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32</a:t>
            </a:fld>
            <a:endParaRPr lang="ru-RU"/>
          </a:p>
        </p:txBody>
      </p:sp>
    </p:spTree>
    <p:extLst>
      <p:ext uri="{BB962C8B-B14F-4D97-AF65-F5344CB8AC3E}">
        <p14:creationId xmlns:p14="http://schemas.microsoft.com/office/powerpoint/2010/main" val="21268090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tin — это просто момент, когда мы впервые зашли в вершину. Используем нумерацию с 1. Реальные рёбра 1→2, 2→3, 3→4, 4→5, 5→6, 6→7, 7→8 позволяют этот путь. Обратные рёбра 3→1 и 5→4 не вызывают нового входа.</a:t>
            </a:r>
          </a:p>
          <a:p>
            <a:endParaRPr lang="ru-RU"/>
          </a:p>
          <a:p>
            <a:r>
              <a:rPr lang="ru-RU"/>
              <a:t>АКЦЕНТ</a:t>
            </a:r>
          </a:p>
          <a:p>
            <a:r>
              <a:rPr lang="ru-RU"/>
              <a:t>Показывать значения по одному, одновременно с посещением вершины.</a:t>
            </a:r>
          </a:p>
          <a:p>
            <a:endParaRPr lang="ru-RU"/>
          </a:p>
          <a:p>
            <a:r>
              <a:rPr lang="ru-RU"/>
              <a:t>ВОПРОС АУДИТОРИИ</a:t>
            </a:r>
          </a:p>
          <a:p>
            <a:r>
              <a:rPr lang="ru-RU"/>
              <a:t>Изменится ли tin, если встретить уже посещённую вершину?</a:t>
            </a:r>
          </a:p>
          <a:p>
            <a:endParaRPr lang="ru-RU"/>
          </a:p>
          <a:p>
            <a:r>
              <a:rPr lang="ru-RU"/>
              <a:t>КЛИКИ</a:t>
            </a:r>
          </a:p>
          <a:p>
            <a:r>
              <a:rPr lang="ru-RU"/>
              <a:t>1–8. Входы в вершины 1,2,3,4,5,6,7,8: tin соответственно 1,2,3,4,5,6,7,8.</a:t>
            </a:r>
          </a:p>
          <a:p>
            <a:endParaRPr lang="ru-RU"/>
          </a:p>
          <a:p>
            <a:r>
              <a:rPr lang="ru-RU"/>
              <a:t>ТИПИЧНАЯ ОШИБКА</a:t>
            </a:r>
          </a:p>
          <a:p>
            <a:r>
              <a:rPr lang="ru-RU"/>
              <a:t>tin — номер момента входа, а не порядок выхода.</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33</a:t>
            </a:fld>
            <a:endParaRPr lang="ru-RU"/>
          </a:p>
        </p:txBody>
      </p:sp>
    </p:spTree>
    <p:extLst>
      <p:ext uri="{BB962C8B-B14F-4D97-AF65-F5344CB8AC3E}">
        <p14:creationId xmlns:p14="http://schemas.microsoft.com/office/powerpoint/2010/main" val="41322001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low показывает, насколько высоко может вернуться текущая незакрытая часть DFS. При входе low[v]=tin[v]. Здесь мы дошли до 8, но ещё не рассмотрели 8→6. Рёбра 3→1 и 5→4 были рассмотрены раньше: low[3]=1, low[5]=4. Все восемь вершин пока в стеке SCC. Для непосещённого соседа запускаем DFS и учитываем low ребёнка после возврата; для уже посещённого соседа учитываем tin[to] только при on_stack[to].</a:t>
            </a:r>
          </a:p>
          <a:p>
            <a:endParaRPr lang="ru-RU"/>
          </a:p>
          <a:p>
            <a:r>
              <a:rPr lang="ru-RU"/>
              <a:t>АКЦЕНТ</a:t>
            </a:r>
          </a:p>
          <a:p>
            <a:r>
              <a:rPr lang="ru-RU"/>
              <a:t>Не путать стек SCC со стеком рекурсивных вызовов.</a:t>
            </a:r>
          </a:p>
          <a:p>
            <a:endParaRPr lang="ru-RU"/>
          </a:p>
          <a:p>
            <a:r>
              <a:rPr lang="ru-RU"/>
              <a:t>ВОПРОС АУДИТОРИИ</a:t>
            </a:r>
          </a:p>
          <a:p>
            <a:r>
              <a:rPr lang="ru-RU"/>
              <a:t>Почему low[3] уже меньше tin[3]?</a:t>
            </a:r>
          </a:p>
          <a:p>
            <a:endParaRPr lang="ru-RU"/>
          </a:p>
          <a:p>
            <a:r>
              <a:rPr lang="ru-RU"/>
              <a:t>КЛИКИ</a:t>
            </a:r>
          </a:p>
          <a:p>
            <a:r>
              <a:rPr lang="ru-RU"/>
              <a:t>1. После примера дать короткое определение low для Тарьяна.</a:t>
            </a:r>
          </a:p>
          <a:p>
            <a:endParaRPr lang="ru-RU"/>
          </a:p>
          <a:p>
            <a:r>
              <a:rPr lang="ru-RU"/>
              <a:t>ТИПИЧНАЯ ОШИБКА</a:t>
            </a:r>
          </a:p>
          <a:p>
            <a:r>
              <a:rPr lang="ru-RU"/>
              <a:t>Ребро в уже завершённую SCC не уменьшает low.</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34</a:t>
            </a:fld>
            <a:endParaRPr lang="ru-RU"/>
          </a:p>
        </p:txBody>
      </p:sp>
    </p:spTree>
    <p:extLst>
      <p:ext uri="{BB962C8B-B14F-4D97-AF65-F5344CB8AC3E}">
        <p14:creationId xmlns:p14="http://schemas.microsoft.com/office/powerpoint/2010/main" val="3731372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Вершина 8 имеет реальное ребро в 6, которая ещё находится в стеке. Поэтому low[8] становится tin[6]=6. После возврата из 8 получаем low[7]=6, затем low[6]=6. Для 6 выполнено low[6]==tin[6]. Стек SCC пока [1,2,3,4,5,6,7,8], хотя рекурсивные вызовы 8 и 7 уже завершились.</a:t>
            </a:r>
          </a:p>
          <a:p>
            <a:endParaRPr lang="ru-RU"/>
          </a:p>
          <a:p>
            <a:r>
              <a:rPr lang="ru-RU"/>
              <a:t>АКЦЕНТ</a:t>
            </a:r>
          </a:p>
          <a:p>
            <a:r>
              <a:rPr lang="ru-RU"/>
              <a:t>Смотреть именно на on_stack, а не только на visited.</a:t>
            </a:r>
          </a:p>
          <a:p>
            <a:endParaRPr lang="ru-RU"/>
          </a:p>
          <a:p>
            <a:r>
              <a:rPr lang="ru-RU"/>
              <a:t>ВОПРОС АУДИТОРИИ</a:t>
            </a:r>
          </a:p>
          <a:p>
            <a:r>
              <a:rPr lang="ru-RU"/>
              <a:t>Какой корень SCC обнаружен после возврата в 6?</a:t>
            </a:r>
          </a:p>
          <a:p>
            <a:endParaRPr lang="ru-RU"/>
          </a:p>
          <a:p>
            <a:r>
              <a:rPr lang="ru-RU"/>
              <a:t>КЛИКИ</a:t>
            </a:r>
          </a:p>
          <a:p>
            <a:r>
              <a:rPr lang="ru-RU"/>
              <a:t>1. low[8]=6 по ребру 8→6. 2. low[7]=6 после возврата из 8. 3. low[6]=6 после возврата из 7.</a:t>
            </a:r>
          </a:p>
          <a:p>
            <a:endParaRPr lang="ru-RU"/>
          </a:p>
          <a:p>
            <a:r>
              <a:rPr lang="ru-RU"/>
              <a:t>ТИПИЧНАЯ ОШИБКА</a:t>
            </a:r>
          </a:p>
          <a:p>
            <a:r>
              <a:rPr lang="ru-RU"/>
              <a:t>low[8] получает tin[6], а после DFS ребёнка родитель получает минимум с low[child].</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35</a:t>
            </a:fld>
            <a:endParaRPr lang="ru-RU"/>
          </a:p>
        </p:txBody>
      </p:sp>
    </p:spTree>
    <p:extLst>
      <p:ext uri="{BB962C8B-B14F-4D97-AF65-F5344CB8AC3E}">
        <p14:creationId xmlns:p14="http://schemas.microsoft.com/office/powerpoint/2010/main" val="23125286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 стеке находятся вершины, которые мы уже посетили, но ещё не определили окончательно их SCC. Верхушка — 8, снизу — 1. На этом кадре рекурсивный DFS уже вернулся к 6, но 7 и 8 остаются в стеке SCC до выделения компоненты. Поэтому stack SCC не равен пути текущих рекурсивных вызовов.</a:t>
            </a:r>
          </a:p>
          <a:p>
            <a:endParaRPr lang="ru-RU"/>
          </a:p>
          <a:p>
            <a:r>
              <a:rPr lang="ru-RU"/>
              <a:t>АКЦЕНТ</a:t>
            </a:r>
          </a:p>
          <a:p>
            <a:r>
              <a:rPr lang="ru-RU"/>
              <a:t>Не снимать вершину со стека SCC при каждом завершении её рекурсивного вызова.</a:t>
            </a:r>
          </a:p>
          <a:p>
            <a:endParaRPr lang="ru-RU"/>
          </a:p>
          <a:p>
            <a:r>
              <a:rPr lang="ru-RU"/>
              <a:t>ВОПРОС АУДИТОРИИ</a:t>
            </a:r>
          </a:p>
          <a:p>
            <a:r>
              <a:rPr lang="ru-RU"/>
              <a:t>Почему 8 всё ещё в стеке, если её вызов DFS уже вернулся?</a:t>
            </a:r>
          </a:p>
          <a:p>
            <a:endParaRPr lang="ru-RU"/>
          </a:p>
          <a:p>
            <a:r>
              <a:rPr lang="ru-RU"/>
              <a:t>КЛИКИ</a:t>
            </a:r>
          </a:p>
          <a:p>
            <a:r>
              <a:rPr lang="ru-RU"/>
              <a:t>1. Показать определение стека SCC.</a:t>
            </a:r>
          </a:p>
          <a:p>
            <a:endParaRPr lang="ru-RU"/>
          </a:p>
          <a:p>
            <a:r>
              <a:rPr lang="ru-RU"/>
              <a:t>ТИПИЧНАЯ ОШИБКА</a:t>
            </a:r>
          </a:p>
          <a:p>
            <a:r>
              <a:rPr lang="ru-RU"/>
              <a:t>Вершина покидает этот стек только при выделении её компоненты.</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36</a:t>
            </a:fld>
            <a:endParaRPr lang="ru-RU"/>
          </a:p>
        </p:txBody>
      </p:sp>
    </p:spTree>
    <p:extLst>
      <p:ext uri="{BB962C8B-B14F-4D97-AF65-F5344CB8AC3E}">
        <p14:creationId xmlns:p14="http://schemas.microsoft.com/office/powerpoint/2010/main" val="33481484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Если low вершины совпало с её tin, значит текущая группа не может вернуться выше этой вершины. Мы нашли корень SCC и можем снять вершины со стека до неё включительно. Здесь корень 6, tin[6]=6 и low[6]=6. Извлекаем по очереди 8, 7, 6: SCC {6, 7, 8}.</a:t>
            </a:r>
          </a:p>
          <a:p>
            <a:endParaRPr lang="ru-RU"/>
          </a:p>
          <a:p>
            <a:r>
              <a:rPr lang="ru-RU"/>
              <a:t>АКЦЕНТ</a:t>
            </a:r>
          </a:p>
          <a:p>
            <a:r>
              <a:rPr lang="ru-RU"/>
              <a:t>Один клик — одно извлечение; не переходить к следующей SCC до завершения текущей.</a:t>
            </a:r>
          </a:p>
          <a:p>
            <a:endParaRPr lang="ru-RU"/>
          </a:p>
          <a:p>
            <a:r>
              <a:rPr lang="ru-RU"/>
              <a:t>ВОПРОС АУДИТОРИИ</a:t>
            </a:r>
          </a:p>
          <a:p>
            <a:r>
              <a:rPr lang="ru-RU"/>
              <a:t>Почему извлечение заканчивается на вершине </a:t>
            </a:r>
          </a:p>
          <a:p>
            <a:endParaRPr lang="ru-RU"/>
          </a:p>
          <a:p>
            <a:r>
              <a:rPr lang="ru-RU"/>
              <a:t>КЛИКИ</a:t>
            </a:r>
          </a:p>
          <a:p>
            <a:r>
              <a:rPr lang="ru-RU"/>
              <a:t>Снимать по одной вершине: 8, 7, 6. После последнего клика выделена SCC {6, 7, 8}.</a:t>
            </a:r>
          </a:p>
          <a:p>
            <a:endParaRPr lang="ru-RU"/>
          </a:p>
          <a:p>
            <a:r>
              <a:rPr lang="ru-RU"/>
              <a:t>ТИПИЧНАЯ ОШИБКА</a:t>
            </a:r>
          </a:p>
          <a:p>
            <a:r>
              <a:rPr lang="ru-RU"/>
              <a:t>Компоненты закрываются в порядке {6,7,8}, {4,5}, {1,2,3}, а не по возрастанию номера корня.</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37</a:t>
            </a:fld>
            <a:endParaRPr lang="ru-RU"/>
          </a:p>
        </p:txBody>
      </p:sp>
    </p:spTree>
    <p:extLst>
      <p:ext uri="{BB962C8B-B14F-4D97-AF65-F5344CB8AC3E}">
        <p14:creationId xmlns:p14="http://schemas.microsoft.com/office/powerpoint/2010/main" val="27841434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Если low вершины совпало с её tin, значит текущая группа не может вернуться выше этой вершины. Мы нашли корень SCC и можем снять вершины со стека до неё включительно. Здесь корень 4, tin[4]=4 и low[4]=4. Извлекаем по очереди 5, 4: SCC {4, 5}.</a:t>
            </a:r>
          </a:p>
          <a:p>
            <a:endParaRPr lang="ru-RU"/>
          </a:p>
          <a:p>
            <a:r>
              <a:rPr lang="ru-RU"/>
              <a:t>АКЦЕНТ</a:t>
            </a:r>
          </a:p>
          <a:p>
            <a:r>
              <a:rPr lang="ru-RU"/>
              <a:t>Один клик — одно извлечение; не переходить к следующей SCC до завершения текущей.</a:t>
            </a:r>
          </a:p>
          <a:p>
            <a:endParaRPr lang="ru-RU"/>
          </a:p>
          <a:p>
            <a:r>
              <a:rPr lang="ru-RU"/>
              <a:t>ВОПРОС АУДИТОРИИ</a:t>
            </a:r>
          </a:p>
          <a:p>
            <a:r>
              <a:rPr lang="ru-RU"/>
              <a:t>Почему извлечение заканчивается на вершине </a:t>
            </a:r>
          </a:p>
          <a:p>
            <a:endParaRPr lang="ru-RU"/>
          </a:p>
          <a:p>
            <a:r>
              <a:rPr lang="ru-RU"/>
              <a:t>КЛИКИ</a:t>
            </a:r>
          </a:p>
          <a:p>
            <a:r>
              <a:rPr lang="ru-RU"/>
              <a:t>Снимать по одной вершине: 5, 4. После последнего клика выделена SCC {4, 5}.</a:t>
            </a:r>
          </a:p>
          <a:p>
            <a:endParaRPr lang="ru-RU"/>
          </a:p>
          <a:p>
            <a:r>
              <a:rPr lang="ru-RU"/>
              <a:t>ТИПИЧНАЯ ОШИБКА</a:t>
            </a:r>
          </a:p>
          <a:p>
            <a:r>
              <a:rPr lang="ru-RU"/>
              <a:t>Компоненты закрываются в порядке {6,7,8}, {4,5}, {1,2,3}, а не по возрастанию номера корня.</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38</a:t>
            </a:fld>
            <a:endParaRPr lang="ru-RU"/>
          </a:p>
        </p:txBody>
      </p:sp>
    </p:spTree>
    <p:extLst>
      <p:ext uri="{BB962C8B-B14F-4D97-AF65-F5344CB8AC3E}">
        <p14:creationId xmlns:p14="http://schemas.microsoft.com/office/powerpoint/2010/main" val="26434101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Если low вершины совпало с её tin, значит текущая группа не может вернуться выше этой вершины. Мы нашли корень SCC и можем снять вершины со стека до неё включительно. Здесь корень 1, tin[1]=1 и low[1]=1. Извлекаем по очереди 3, 2, 1: SCC {1, 2, 3}. После возврата из 3 в 2 low[2]=1. Ребро 2→7 игнорируется: вершина 7 уже вне стека SCC.</a:t>
            </a:r>
          </a:p>
          <a:p>
            <a:endParaRPr lang="ru-RU"/>
          </a:p>
          <a:p>
            <a:r>
              <a:rPr lang="ru-RU"/>
              <a:t>АКЦЕНТ</a:t>
            </a:r>
          </a:p>
          <a:p>
            <a:r>
              <a:rPr lang="ru-RU"/>
              <a:t>Один клик — одно извлечение; не переходить к следующей SCC до завершения текущей.</a:t>
            </a:r>
          </a:p>
          <a:p>
            <a:endParaRPr lang="ru-RU"/>
          </a:p>
          <a:p>
            <a:r>
              <a:rPr lang="ru-RU"/>
              <a:t>ВОПРОС АУДИТОРИИ</a:t>
            </a:r>
          </a:p>
          <a:p>
            <a:r>
              <a:rPr lang="ru-RU"/>
              <a:t>Почему извлечение заканчивается на вершине </a:t>
            </a:r>
          </a:p>
          <a:p>
            <a:endParaRPr lang="ru-RU"/>
          </a:p>
          <a:p>
            <a:r>
              <a:rPr lang="ru-RU"/>
              <a:t>КЛИКИ</a:t>
            </a:r>
          </a:p>
          <a:p>
            <a:r>
              <a:rPr lang="ru-RU"/>
              <a:t>Снимать по одной вершине: 3, 2, 1. После последнего клика выделена SCC {1, 2, 3}.</a:t>
            </a:r>
          </a:p>
          <a:p>
            <a:endParaRPr lang="ru-RU"/>
          </a:p>
          <a:p>
            <a:r>
              <a:rPr lang="ru-RU"/>
              <a:t>ТИПИЧНАЯ ОШИБКА</a:t>
            </a:r>
          </a:p>
          <a:p>
            <a:r>
              <a:rPr lang="ru-RU"/>
              <a:t>Компоненты закрываются в порядке {6,7,8}, {4,5}, {1,2,3}, а не по возрастанию номера корня.</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39</a:t>
            </a:fld>
            <a:endParaRPr lang="ru-RU"/>
          </a:p>
        </p:txBody>
      </p:sp>
    </p:spTree>
    <p:extLst>
      <p:ext uri="{BB962C8B-B14F-4D97-AF65-F5344CB8AC3E}">
        <p14:creationId xmlns:p14="http://schemas.microsoft.com/office/powerpoint/2010/main" val="10673574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Мы получили ровно те же компоненты, что и алгоритмом Косарайю. Отличие в том, что Тарьян сделал это за один DFS. Итоговые low для вершин 1..8: [1,1,1,4,4,6,6,6], tin: [1,2,3,4,5,6,7,8]. Оба алгоритма работают за O(V + E). Тарьян определяет границы SCC прямо во время обхода.</a:t>
            </a:r>
          </a:p>
          <a:p>
            <a:endParaRPr lang="ru-RU"/>
          </a:p>
          <a:p>
            <a:r>
              <a:rPr lang="ru-RU"/>
              <a:t>АКЦЕНТ</a:t>
            </a:r>
          </a:p>
          <a:p>
            <a:r>
              <a:rPr lang="ru-RU"/>
              <a:t>Порядок выдачи SCC отличается от порядка перечисления множеств в ответе.</a:t>
            </a:r>
          </a:p>
          <a:p>
            <a:endParaRPr lang="ru-RU"/>
          </a:p>
          <a:p>
            <a:r>
              <a:rPr lang="ru-RU"/>
              <a:t>ВОПРОС АУДИТОРИИ</a:t>
            </a:r>
          </a:p>
          <a:p>
            <a:r>
              <a:rPr lang="ru-RU"/>
              <a:t>Как один стек заменил второй обход графа?</a:t>
            </a:r>
          </a:p>
          <a:p>
            <a:endParaRPr lang="ru-RU"/>
          </a:p>
          <a:p>
            <a:r>
              <a:rPr lang="ru-RU"/>
              <a:t>КЛИКИ</a:t>
            </a:r>
          </a:p>
          <a:p>
            <a:r>
              <a:rPr lang="ru-RU"/>
              <a:t>Нет дополнительных кликов; подвести итог.</a:t>
            </a:r>
          </a:p>
          <a:p>
            <a:endParaRPr lang="ru-RU"/>
          </a:p>
          <a:p>
            <a:r>
              <a:rPr lang="ru-RU"/>
              <a:t>ТИПИЧНАЯ ОШИБКА</a:t>
            </a:r>
          </a:p>
          <a:p>
            <a:r>
              <a:rPr lang="ru-RU"/>
              <a:t>Не утверждать, что Тарьян асимптотически быстрее Косарайю.</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40</a:t>
            </a:fld>
            <a:endParaRPr lang="ru-RU"/>
          </a:p>
        </p:txBody>
      </p:sp>
    </p:spTree>
    <p:extLst>
      <p:ext uri="{BB962C8B-B14F-4D97-AF65-F5344CB8AC3E}">
        <p14:creationId xmlns:p14="http://schemas.microsoft.com/office/powerpoint/2010/main" val="35933724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Мы только что использовали tin и low для поиска компонент сильной связности в ориентированном графе. Но сама идея low полезна гораздо шире. Вернёмся теперь к обычному неориентированному графу и попробуем найти его слабые места. Например, существует ли ребро, удаление которого разорвёт сеть? Мы уже умеем находить компоненты связности. Удаление единственного соединения 3–4 увеличивает их число с 1 до 2.</a:t>
            </a:r>
          </a:p>
          <a:p>
            <a:endParaRPr lang="ru-RU"/>
          </a:p>
          <a:p>
            <a:r>
              <a:rPr lang="ru-RU"/>
              <a:t>АКЦЕНТ</a:t>
            </a:r>
          </a:p>
          <a:p>
            <a:r>
              <a:rPr lang="ru-RU"/>
              <a:t>Здесь новый тип задачи и неориентированный граф. Оба состояния скопированы из существующего примера мостов.</a:t>
            </a:r>
          </a:p>
          <a:p>
            <a:endParaRPr lang="ru-RU"/>
          </a:p>
          <a:p>
            <a:r>
              <a:rPr lang="ru-RU"/>
              <a:t>ВОПРОС АУДИТОРИИ</a:t>
            </a:r>
          </a:p>
          <a:p>
            <a:r>
              <a:rPr lang="ru-RU"/>
              <a:t>Как найти критические рёбра без отдельного удаления каждого ребра?</a:t>
            </a:r>
          </a:p>
          <a:p>
            <a:endParaRPr lang="ru-RU"/>
          </a:p>
          <a:p>
            <a:r>
              <a:rPr lang="ru-RU"/>
              <a:t>КЛИКИ</a:t>
            </a:r>
          </a:p>
          <a:p>
            <a:r>
              <a:rPr lang="ru-RU"/>
              <a:t>Нет дополнительных кликов: сравнить два состояния рядом.</a:t>
            </a:r>
          </a:p>
          <a:p>
            <a:endParaRPr lang="ru-RU"/>
          </a:p>
          <a:p>
            <a:r>
              <a:rPr lang="ru-RU"/>
              <a:t>ТИПИЧНАЯ ОШИБКА</a:t>
            </a:r>
          </a:p>
          <a:p>
            <a:r>
              <a:rPr lang="ru-RU"/>
              <a:t>Пока не вводить формулу low[to] &gt; tin[v].</a:t>
            </a:r>
          </a:p>
          <a:p>
            <a:endParaRPr lang="ru-RU"/>
          </a:p>
          <a:p>
            <a:r>
              <a:rPr lang="ru-RU"/>
              <a:t>ИСТОЧНИК ДЛЯ ПРЕПОДАВАТЕЛЯ</a:t>
            </a:r>
          </a:p>
          <a:p>
            <a:r>
              <a:rPr lang="ru-RU"/>
              <a:t>https://www.cs.cmu.edu/~15451-f20/Handouts/Sleator-strong-components.pdf</a:t>
            </a:r>
          </a:p>
        </p:txBody>
      </p:sp>
      <p:sp>
        <p:nvSpPr>
          <p:cNvPr id="4" name="Номер слайда 3"/>
          <p:cNvSpPr>
            <a:spLocks noGrp="1"/>
          </p:cNvSpPr>
          <p:nvPr>
            <p:ph type="sldNum" sz="quarter" idx="5"/>
          </p:nvPr>
        </p:nvSpPr>
        <p:spPr/>
        <p:txBody>
          <a:bodyPr/>
          <a:lstStyle/>
          <a:p>
            <a:fld id="{28093857-F793-4960-89DF-D50C2129606D}" type="slidenum">
              <a:rPr lang="ru-RU" smtClean="0"/>
              <a:t>41</a:t>
            </a:fld>
            <a:endParaRPr lang="ru-RU"/>
          </a:p>
        </p:txBody>
      </p:sp>
    </p:spTree>
    <p:extLst>
      <p:ext uri="{BB962C8B-B14F-4D97-AF65-F5344CB8AC3E}">
        <p14:creationId xmlns:p14="http://schemas.microsoft.com/office/powerpoint/2010/main" val="17202228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Две циклические части соединены единственным ребром 3–4. Предложить спрогнозировать последствия его удаления.</a:t>
            </a:r>
          </a:p>
          <a:p>
            <a:endParaRPr lang="ru-RU"/>
          </a:p>
          <a:p>
            <a:r>
              <a:rPr lang="ru-RU"/>
              <a:t>АКЦЕНТ</a:t>
            </a:r>
          </a:p>
          <a:p>
            <a:r>
              <a:rPr lang="ru-RU"/>
              <a:t>Что если удалить это ребро?. Опирайтесь на схему и краткие подписи.</a:t>
            </a:r>
          </a:p>
          <a:p>
            <a:endParaRPr lang="ru-RU"/>
          </a:p>
          <a:p>
            <a:r>
              <a:rPr lang="ru-RU"/>
              <a:t>ВОПРОС АУДИТОРИИ</a:t>
            </a:r>
          </a:p>
          <a:p>
            <a:r>
              <a:rPr lang="ru-RU"/>
              <a:t>Есть ли путь из 3 в 4 в обход выделенного ребра?</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Мост определяется увеличением числа компонент, а не толщиной или длиной ребра.</a:t>
            </a:r>
          </a:p>
          <a:p>
            <a:endParaRPr lang="ru-RU"/>
          </a:p>
          <a:p>
            <a:r>
              <a:rPr lang="ru-RU"/>
              <a:t>ИСТОЧНИК ДЛЯ ПРЕПОДАВАТЕЛЯ</a:t>
            </a:r>
          </a:p>
          <a:p>
            <a:r>
              <a:rPr lang="ru-RU"/>
              <a:t>https://algs4.cs.princeton.edu/41graph/index.php</a:t>
            </a:r>
          </a:p>
          <a:p>
            <a:endParaRPr lang="ru-RU"/>
          </a:p>
          <a:p>
            <a:r>
              <a:rPr lang="ru-RU"/>
              <a:t>ДОПОЛНЕНИЕ</a:t>
            </a:r>
          </a:p>
          <a:p>
            <a:r>
              <a:rPr lang="ru-RU"/>
              <a:t>После сравнения двух состояний дать строгое определение моста. 1 клик: определение. На следующем слайде удаление 3–4 показано через Morph.</a:t>
            </a:r>
          </a:p>
        </p:txBody>
      </p:sp>
      <p:sp>
        <p:nvSpPr>
          <p:cNvPr id="4" name="Номер слайда 3"/>
          <p:cNvSpPr>
            <a:spLocks noGrp="1"/>
          </p:cNvSpPr>
          <p:nvPr>
            <p:ph type="sldNum" sz="quarter" idx="5"/>
          </p:nvPr>
        </p:nvSpPr>
        <p:spPr/>
        <p:txBody>
          <a:bodyPr/>
          <a:lstStyle/>
          <a:p>
            <a:fld id="{28093857-F793-4960-89DF-D50C2129606D}" type="slidenum">
              <a:rPr lang="ru-RU" smtClean="0"/>
              <a:t>42</a:t>
            </a:fld>
            <a:endParaRPr lang="ru-RU"/>
          </a:p>
        </p:txBody>
      </p:sp>
    </p:spTree>
    <p:extLst>
      <p:ext uri="{BB962C8B-B14F-4D97-AF65-F5344CB8AC3E}">
        <p14:creationId xmlns:p14="http://schemas.microsoft.com/office/powerpoint/2010/main" val="1483108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Сравнить с предыдущим кадром: вершины остаются, исчезает только 3–4. Число компонент увеличилось с 1 до 2.</a:t>
            </a:r>
          </a:p>
          <a:p>
            <a:endParaRPr lang="ru-RU"/>
          </a:p>
          <a:p>
            <a:r>
              <a:rPr lang="ru-RU"/>
              <a:t>АКЦЕНТ</a:t>
            </a:r>
          </a:p>
          <a:p>
            <a:r>
              <a:rPr lang="ru-RU"/>
              <a:t>Удалили ребро: появился разрыв. Опирайтесь на схему и краткие подписи.</a:t>
            </a:r>
          </a:p>
          <a:p>
            <a:endParaRPr lang="ru-RU"/>
          </a:p>
          <a:p>
            <a:r>
              <a:rPr lang="ru-RU"/>
              <a:t>ВОПРОС АУДИТОРИИ</a:t>
            </a:r>
          </a:p>
          <a:p>
            <a:r>
              <a:rPr lang="ru-RU"/>
              <a:t>Какие ещё рёбра этого графа являются мостами?</a:t>
            </a:r>
          </a:p>
          <a:p>
            <a:endParaRPr lang="ru-RU"/>
          </a:p>
          <a:p>
            <a:r>
              <a:rPr lang="ru-RU"/>
              <a:t>КЛИКИ</a:t>
            </a:r>
          </a:p>
          <a:p>
            <a:r>
              <a:rPr lang="ru-RU"/>
              <a:t>При переходе с предыдущего слайда используется Morph. После окончания перехода обсуждаем новое состояние.</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Ни одно ребро внутри двух треугольников не является мостом.</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43</a:t>
            </a:fld>
            <a:endParaRPr lang="ru-RU"/>
          </a:p>
        </p:txBody>
      </p:sp>
    </p:spTree>
    <p:extLst>
      <p:ext uri="{BB962C8B-B14F-4D97-AF65-F5344CB8AC3E}">
        <p14:creationId xmlns:p14="http://schemas.microsoft.com/office/powerpoint/2010/main" val="14543199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Показать треугольник; удалить 1–3, оставив путь 1–2–3. Путь обхода объясняет устойчивость цикла.</a:t>
            </a:r>
          </a:p>
          <a:p>
            <a:endParaRPr lang="ru-RU"/>
          </a:p>
          <a:p>
            <a:r>
              <a:rPr lang="ru-RU"/>
              <a:t>АКЦЕНТ</a:t>
            </a:r>
          </a:p>
          <a:p>
            <a:r>
              <a:rPr lang="ru-RU"/>
              <a:t>Почему ребро в цикле не является мостом. Сначала показать исходное состояние; не опережать клики.</a:t>
            </a:r>
          </a:p>
          <a:p>
            <a:endParaRPr lang="ru-RU"/>
          </a:p>
          <a:p>
            <a:r>
              <a:rPr lang="ru-RU"/>
              <a:t>ВОПРОС АУДИТОРИИ</a:t>
            </a:r>
          </a:p>
          <a:p>
            <a:r>
              <a:rPr lang="ru-RU"/>
              <a:t>Какой путь заменил удалённое ребро?</a:t>
            </a:r>
          </a:p>
          <a:p>
            <a:endParaRPr lang="ru-RU"/>
          </a:p>
          <a:p>
            <a:r>
              <a:rPr lang="ru-RU"/>
              <a:t>КЛИКИ</a:t>
            </a:r>
          </a:p>
          <a:p>
            <a:r>
              <a:rPr lang="ru-RU"/>
              <a:t>1. Удалить ребро 1–3 и выделить оставшийся путь 1–2–3.</a:t>
            </a:r>
          </a:p>
          <a:p>
            <a:endParaRPr lang="ru-RU"/>
          </a:p>
          <a:p>
            <a:r>
              <a:rPr lang="ru-RU"/>
              <a:t>ТИПИЧНАЯ ОШИБКА</a:t>
            </a:r>
          </a:p>
          <a:p>
            <a:r>
              <a:rPr lang="ru-RU"/>
              <a:t>Наличие цикла где-то в графе не означает, что мостов в графе нет.</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44</a:t>
            </a:fld>
            <a:endParaRPr lang="ru-RU"/>
          </a:p>
        </p:txBody>
      </p:sp>
    </p:spTree>
    <p:extLst>
      <p:ext uri="{BB962C8B-B14F-4D97-AF65-F5344CB8AC3E}">
        <p14:creationId xmlns:p14="http://schemas.microsoft.com/office/powerpoint/2010/main" val="42515285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 неориентированном DFS low[to] — минимальный tin, достижимый из поддерева ребёнка по рёбрам дерева и одному обратному ребру. Для моста low[to] строго больше tin[v]: обхода назад к v или выше нет.</a:t>
            </a:r>
          </a:p>
          <a:p>
            <a:endParaRPr lang="ru-RU"/>
          </a:p>
          <a:p>
            <a:r>
              <a:rPr lang="ru-RU"/>
              <a:t>АКЦЕНТ</a:t>
            </a:r>
          </a:p>
          <a:p>
            <a:r>
              <a:rPr lang="ru-RU"/>
              <a:t>Мост: условие через low. Опирайтесь на схему и краткие подписи.</a:t>
            </a:r>
          </a:p>
          <a:p>
            <a:endParaRPr lang="ru-RU"/>
          </a:p>
          <a:p>
            <a:r>
              <a:rPr lang="ru-RU"/>
              <a:t>ВОПРОС АУДИТОРИИ</a:t>
            </a:r>
          </a:p>
          <a:p>
            <a:r>
              <a:rPr lang="ru-RU"/>
              <a:t>Почему знак строгий: &gt;, а не ≥?</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Обратное ребро к самой v создаёт цикл и спасает ребро v–to. Родительское ребро не учитываем как обратное.</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45</a:t>
            </a:fld>
            <a:endParaRPr lang="ru-RU"/>
          </a:p>
        </p:txBody>
      </p:sp>
    </p:spTree>
    <p:extLst>
      <p:ext uri="{BB962C8B-B14F-4D97-AF65-F5344CB8AC3E}">
        <p14:creationId xmlns:p14="http://schemas.microsoft.com/office/powerpoint/2010/main" val="33996635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DFS по соседям в порядке номера. Порядок входа: 1,2,3,4,5,6. Внешний цикл нужен и для несвязных графов.</a:t>
            </a:r>
          </a:p>
          <a:p>
            <a:endParaRPr lang="ru-RU"/>
          </a:p>
          <a:p>
            <a:r>
              <a:rPr lang="ru-RU"/>
              <a:t>АКЦЕНТ</a:t>
            </a:r>
          </a:p>
          <a:p>
            <a:r>
              <a:rPr lang="ru-RU"/>
              <a:t>Поиск моста: номера входа. Сначала показать исходное состояние; не опережать клики.</a:t>
            </a:r>
          </a:p>
          <a:p>
            <a:endParaRPr lang="ru-RU"/>
          </a:p>
          <a:p>
            <a:r>
              <a:rPr lang="ru-RU"/>
              <a:t>ВОПРОС АУДИТОРИИ</a:t>
            </a:r>
          </a:p>
          <a:p>
            <a:r>
              <a:rPr lang="ru-RU"/>
              <a:t>Что означает tin[4]=3?</a:t>
            </a:r>
          </a:p>
          <a:p>
            <a:endParaRPr lang="ru-RU"/>
          </a:p>
          <a:p>
            <a:r>
              <a:rPr lang="ru-RU"/>
              <a:t>КЛИКИ</a:t>
            </a:r>
          </a:p>
          <a:p>
            <a:r>
              <a:rPr lang="ru-RU"/>
              <a:t>1. Войти в 1 и присвоить tin=0.</a:t>
            </a:r>
          </a:p>
          <a:p>
            <a:r>
              <a:rPr lang="ru-RU"/>
              <a:t>2. Войти в 2 и присвоить tin=1.</a:t>
            </a:r>
          </a:p>
          <a:p>
            <a:r>
              <a:rPr lang="ru-RU"/>
              <a:t>3. Войти в 3 и присвоить tin=2.</a:t>
            </a:r>
          </a:p>
          <a:p>
            <a:r>
              <a:rPr lang="ru-RU"/>
              <a:t>4. Войти в 4 и присвоить tin=3.</a:t>
            </a:r>
          </a:p>
          <a:p>
            <a:r>
              <a:rPr lang="ru-RU"/>
              <a:t>5. Войти в 5 и присвоить tin=4.</a:t>
            </a:r>
          </a:p>
          <a:p>
            <a:r>
              <a:rPr lang="ru-RU"/>
              <a:t>6. Войти в 6 и присвоить tin=5.</a:t>
            </a:r>
          </a:p>
          <a:p>
            <a:endParaRPr lang="ru-RU"/>
          </a:p>
          <a:p>
            <a:r>
              <a:rPr lang="ru-RU"/>
              <a:t>ТИПИЧНАЯ ОШИБКА</a:t>
            </a:r>
          </a:p>
          <a:p>
            <a:r>
              <a:rPr lang="ru-RU"/>
              <a:t>Время входа не зависит от геометрического положения вершины.</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46</a:t>
            </a:fld>
            <a:endParaRPr lang="ru-RU"/>
          </a:p>
        </p:txBody>
      </p:sp>
    </p:spTree>
    <p:extLst>
      <p:ext uri="{BB962C8B-B14F-4D97-AF65-F5344CB8AC3E}">
        <p14:creationId xmlns:p14="http://schemas.microsoft.com/office/powerpoint/2010/main" val="9190191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Рассмотреть обратные рёбра 3–1 и 6–4. Первое даёт low[3]=0, второе low[6]=3. При возвращении значения распространяются вверх.</a:t>
            </a:r>
          </a:p>
          <a:p>
            <a:endParaRPr lang="ru-RU"/>
          </a:p>
          <a:p>
            <a:r>
              <a:rPr lang="ru-RU"/>
              <a:t>АКЦЕНТ</a:t>
            </a:r>
          </a:p>
          <a:p>
            <a:r>
              <a:rPr lang="ru-RU"/>
              <a:t>Поиск моста: обратные рёбра и low. Сначала показать исходное состояние; не опережать клики.</a:t>
            </a:r>
          </a:p>
          <a:p>
            <a:endParaRPr lang="ru-RU"/>
          </a:p>
          <a:p>
            <a:r>
              <a:rPr lang="ru-RU"/>
              <a:t>ВОПРОС АУДИТОРИИ</a:t>
            </a:r>
          </a:p>
          <a:p>
            <a:r>
              <a:rPr lang="ru-RU"/>
              <a:t>Почему цикл 4–5–6 не даёт пути к вершине 3?</a:t>
            </a:r>
          </a:p>
          <a:p>
            <a:endParaRPr lang="ru-RU"/>
          </a:p>
          <a:p>
            <a:r>
              <a:rPr lang="ru-RU"/>
              <a:t>КЛИКИ</a:t>
            </a:r>
          </a:p>
          <a:p>
            <a:r>
              <a:rPr lang="ru-RU"/>
              <a:t>1. Ребро 3–1 даёт low[3]=0; при возврате low[2]=0.</a:t>
            </a:r>
          </a:p>
          <a:p>
            <a:r>
              <a:rPr lang="ru-RU"/>
              <a:t>2. Ребро 6–4 даёт low[6]=3; low[5] и low[4] также становятся 3.</a:t>
            </a:r>
          </a:p>
          <a:p>
            <a:r>
              <a:rPr lang="ru-RU"/>
              <a:t>3. Показать полную согласованную таблицу tin и low после возвратов.</a:t>
            </a:r>
          </a:p>
          <a:p>
            <a:endParaRPr lang="ru-RU"/>
          </a:p>
          <a:p>
            <a:r>
              <a:rPr lang="ru-RU"/>
              <a:t>ТИПИЧНАЯ ОШИБКА</a:t>
            </a:r>
          </a:p>
          <a:p>
            <a:r>
              <a:rPr lang="ru-RU"/>
              <a:t>Ребро к родителю DFS нужно пропускать по id ребра в мультиграфе: параллельное ребро может быть обратным.</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47</a:t>
            </a:fld>
            <a:endParaRPr lang="ru-RU"/>
          </a:p>
        </p:txBody>
      </p:sp>
    </p:spTree>
    <p:extLst>
      <p:ext uri="{BB962C8B-B14F-4D97-AF65-F5344CB8AC3E}">
        <p14:creationId xmlns:p14="http://schemas.microsoft.com/office/powerpoint/2010/main" val="36287758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При возврате из 4 в 3 проверить low[4]&gt;tin[3]. Остальные рёбра принадлежат циклам и строгого неравенства не дают.</a:t>
            </a:r>
          </a:p>
          <a:p>
            <a:endParaRPr lang="ru-RU"/>
          </a:p>
          <a:p>
            <a:r>
              <a:rPr lang="ru-RU"/>
              <a:t>АКЦЕНТ</a:t>
            </a:r>
          </a:p>
          <a:p>
            <a:r>
              <a:rPr lang="ru-RU"/>
              <a:t>Поиск моста: выделяем 3–4. Сначала показать исходное состояние; не опережать клики.</a:t>
            </a:r>
          </a:p>
          <a:p>
            <a:endParaRPr lang="ru-RU"/>
          </a:p>
          <a:p>
            <a:r>
              <a:rPr lang="ru-RU"/>
              <a:t>ВОПРОС АУДИТОРИИ</a:t>
            </a:r>
          </a:p>
          <a:p>
            <a:r>
              <a:rPr lang="ru-RU"/>
              <a:t>Что изменилось бы при добавлении ребра 6–2?</a:t>
            </a:r>
          </a:p>
          <a:p>
            <a:endParaRPr lang="ru-RU"/>
          </a:p>
          <a:p>
            <a:r>
              <a:rPr lang="ru-RU"/>
              <a:t>КЛИКИ</a:t>
            </a:r>
          </a:p>
          <a:p>
            <a:r>
              <a:rPr lang="ru-RU"/>
              <a:t>1. По условию 3&gt;2 выделить ребро 3–4 как мост.</a:t>
            </a:r>
          </a:p>
          <a:p>
            <a:endParaRPr lang="ru-RU"/>
          </a:p>
          <a:p>
            <a:r>
              <a:rPr lang="ru-RU"/>
              <a:t>ТИПИЧНАЯ ОШИБКА</a:t>
            </a:r>
          </a:p>
          <a:p>
            <a:r>
              <a:rPr lang="ru-RU"/>
              <a:t>Тогда low справа смог бы упасть до tin[2], и 3–4 перестало бы быть мостом.</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48</a:t>
            </a:fld>
            <a:endParaRPr lang="ru-RU"/>
          </a:p>
        </p:txBody>
      </p:sp>
    </p:spTree>
    <p:extLst>
      <p:ext uri="{BB962C8B-B14F-4D97-AF65-F5344CB8AC3E}">
        <p14:creationId xmlns:p14="http://schemas.microsoft.com/office/powerpoint/2010/main" val="32837601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Показать две циклические части, имеющие общую вершину X. В этом графе нет мостов, но есть точка сочленения.</a:t>
            </a:r>
          </a:p>
          <a:p>
            <a:endParaRPr lang="ru-RU"/>
          </a:p>
          <a:p>
            <a:r>
              <a:rPr lang="ru-RU"/>
              <a:t>АКЦЕНТ</a:t>
            </a:r>
          </a:p>
          <a:p>
            <a:r>
              <a:rPr lang="ru-RU"/>
              <a:t>Критическая вершина. Опирайтесь на схему и краткие подписи.</a:t>
            </a:r>
          </a:p>
          <a:p>
            <a:endParaRPr lang="ru-RU"/>
          </a:p>
          <a:p>
            <a:r>
              <a:rPr lang="ru-RU"/>
              <a:t>ВОПРОС АУДИТОРИИ</a:t>
            </a:r>
          </a:p>
          <a:p>
            <a:r>
              <a:rPr lang="ru-RU"/>
              <a:t>Есть ли в этом графе критическое ребро?</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Граф может не иметь мостов, но иметь точку сочленения.</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49</a:t>
            </a:fld>
            <a:endParaRPr lang="ru-RU"/>
          </a:p>
        </p:txBody>
      </p:sp>
    </p:spTree>
    <p:extLst>
      <p:ext uri="{BB962C8B-B14F-4D97-AF65-F5344CB8AC3E}">
        <p14:creationId xmlns:p14="http://schemas.microsoft.com/office/powerpoint/2010/main" val="39387113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Удалить X и все инцидентные рёбра. Остались A–B и C–D, число компонент увеличилось с 1 до 2.</a:t>
            </a:r>
          </a:p>
          <a:p>
            <a:endParaRPr lang="ru-RU"/>
          </a:p>
          <a:p>
            <a:r>
              <a:rPr lang="ru-RU"/>
              <a:t>АКЦЕНТ</a:t>
            </a:r>
          </a:p>
          <a:p>
            <a:r>
              <a:rPr lang="ru-RU"/>
              <a:t>Удалили вершину: сеть распалась. Опирайтесь на схему и краткие подписи.</a:t>
            </a:r>
          </a:p>
          <a:p>
            <a:endParaRPr lang="ru-RU"/>
          </a:p>
          <a:p>
            <a:r>
              <a:rPr lang="ru-RU"/>
              <a:t>ВОПРОС АУДИТОРИИ</a:t>
            </a:r>
          </a:p>
          <a:p>
            <a:r>
              <a:rPr lang="ru-RU"/>
              <a:t>Какие рёбра исчезли вместе с X?</a:t>
            </a:r>
          </a:p>
          <a:p>
            <a:endParaRPr lang="ru-RU"/>
          </a:p>
          <a:p>
            <a:r>
              <a:rPr lang="ru-RU"/>
              <a:t>КЛИКИ</a:t>
            </a:r>
          </a:p>
          <a:p>
            <a:r>
              <a:rPr lang="ru-RU"/>
              <a:t>При переходе с предыдущего слайда используется Morph. После окончания перехода обсуждаем новое состояние.</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Удаление вершины всегда удаляет все рёбра с её участием.</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50</a:t>
            </a:fld>
            <a:endParaRPr lang="ru-RU"/>
          </a:p>
        </p:txBody>
      </p:sp>
    </p:spTree>
    <p:extLst>
      <p:ext uri="{BB962C8B-B14F-4D97-AF65-F5344CB8AC3E}">
        <p14:creationId xmlns:p14="http://schemas.microsoft.com/office/powerpoint/2010/main" val="34369265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Сравнить, что удаляем и что проверяем. Небольшой путь 1–2–3 имеет два моста и одну точку сочленения 2.</a:t>
            </a:r>
          </a:p>
          <a:p>
            <a:endParaRPr lang="ru-RU"/>
          </a:p>
          <a:p>
            <a:r>
              <a:rPr lang="ru-RU"/>
              <a:t>АКЦЕНТ</a:t>
            </a:r>
          </a:p>
          <a:p>
            <a:r>
              <a:rPr lang="ru-RU"/>
              <a:t>Мост и точка сочленения. Опирайтесь на схему и краткие подписи.</a:t>
            </a:r>
          </a:p>
          <a:p>
            <a:endParaRPr lang="ru-RU"/>
          </a:p>
          <a:p>
            <a:r>
              <a:rPr lang="ru-RU"/>
              <a:t>ВОПРОС АУДИТОРИИ</a:t>
            </a:r>
          </a:p>
          <a:p>
            <a:r>
              <a:rPr lang="ru-RU"/>
              <a:t>Какой объект удаляем в каждой задаче?</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Конец моста не всегда точка сочленения: например, лист пути.</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51</a:t>
            </a:fld>
            <a:endParaRPr lang="ru-RU"/>
          </a:p>
        </p:txBody>
      </p:sp>
    </p:spTree>
    <p:extLst>
      <p:ext uri="{BB962C8B-B14F-4D97-AF65-F5344CB8AC3E}">
        <p14:creationId xmlns:p14="http://schemas.microsoft.com/office/powerpoint/2010/main" val="29341575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Для не-корня v достаточно ребёнка to с low[to]&gt;=tin[v]. При равенстве есть возврат к v, но выше v пути нет. У корня особый критерий: минимум два ребёнка в DFS-дереве.</a:t>
            </a:r>
          </a:p>
          <a:p>
            <a:endParaRPr lang="ru-RU"/>
          </a:p>
          <a:p>
            <a:r>
              <a:rPr lang="ru-RU"/>
              <a:t>АКЦЕНТ</a:t>
            </a:r>
          </a:p>
          <a:p>
            <a:r>
              <a:rPr lang="ru-RU"/>
              <a:t>Точка сочленения: два случая. Опирайтесь на схему и краткие подписи.</a:t>
            </a:r>
          </a:p>
          <a:p>
            <a:endParaRPr lang="ru-RU"/>
          </a:p>
          <a:p>
            <a:r>
              <a:rPr lang="ru-RU"/>
              <a:t>ВОПРОС АУДИТОРИИ</a:t>
            </a:r>
          </a:p>
          <a:p>
            <a:r>
              <a:rPr lang="ru-RU"/>
              <a:t>Почему для корня нельзя использовать только общее неравенство?</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Считаем детей в DFS-дереве, а не число соседей или степень корня.</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52</a:t>
            </a:fld>
            <a:endParaRPr lang="ru-RU"/>
          </a:p>
        </p:txBody>
      </p:sp>
    </p:spTree>
    <p:extLst>
      <p:ext uri="{BB962C8B-B14F-4D97-AF65-F5344CB8AC3E}">
        <p14:creationId xmlns:p14="http://schemas.microsoft.com/office/powerpoint/2010/main" val="5611792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Показать цепочку учебных тем. Ребро означает, что начало зависит от освоения предыдущей темы.</a:t>
            </a:r>
          </a:p>
          <a:p>
            <a:endParaRPr lang="ru-RU"/>
          </a:p>
          <a:p>
            <a:r>
              <a:rPr lang="ru-RU"/>
              <a:t>АКЦЕНТ</a:t>
            </a:r>
          </a:p>
          <a:p>
            <a:r>
              <a:rPr lang="ru-RU"/>
              <a:t>Теперь другая задача: зависимости. Опирайтесь на схему и краткие подписи.</a:t>
            </a:r>
          </a:p>
          <a:p>
            <a:endParaRPr lang="ru-RU"/>
          </a:p>
          <a:p>
            <a:r>
              <a:rPr lang="ru-RU"/>
              <a:t>ВОПРОС АУДИТОРИИ</a:t>
            </a:r>
          </a:p>
          <a:p>
            <a:r>
              <a:rPr lang="ru-RU"/>
              <a:t>Можно ли изучить графы до основ алгоритмов?</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В других графах стрелка может означать другое: здесь фиксируем «сначала u, затем v».</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53</a:t>
            </a:fld>
            <a:endParaRPr lang="ru-RU"/>
          </a:p>
        </p:txBody>
      </p:sp>
    </p:spTree>
    <p:extLst>
      <p:ext uri="{BB962C8B-B14F-4D97-AF65-F5344CB8AC3E}">
        <p14:creationId xmlns:p14="http://schemas.microsoft.com/office/powerpoint/2010/main" val="39747348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Расшифровать Directed Acyclic Graph. Сравнить ромб зависимостей и направленный треугольный цикл. Неориентированный цикл в ромбе не нарушает DAG.</a:t>
            </a:r>
          </a:p>
          <a:p>
            <a:endParaRPr lang="ru-RU"/>
          </a:p>
          <a:p>
            <a:r>
              <a:rPr lang="ru-RU"/>
              <a:t>АКЦЕНТ</a:t>
            </a:r>
          </a:p>
          <a:p>
            <a:r>
              <a:rPr lang="ru-RU"/>
              <a:t>DAG: ориентированный граф без циклов. Опирайтесь на схему и краткие подписи.</a:t>
            </a:r>
          </a:p>
          <a:p>
            <a:endParaRPr lang="ru-RU"/>
          </a:p>
          <a:p>
            <a:r>
              <a:rPr lang="ru-RU"/>
              <a:t>ВОПРОС АУДИТОРИИ</a:t>
            </a:r>
          </a:p>
          <a:p>
            <a:r>
              <a:rPr lang="ru-RU"/>
              <a:t>Почему ромб слева — DAG, хотя в нём есть замкнутый контур?</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Ацикличность DAG касается направленных циклов.</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54</a:t>
            </a:fld>
            <a:endParaRPr lang="ru-RU"/>
          </a:p>
        </p:txBody>
      </p:sp>
    </p:spTree>
    <p:extLst>
      <p:ext uri="{BB962C8B-B14F-4D97-AF65-F5344CB8AC3E}">
        <p14:creationId xmlns:p14="http://schemas.microsoft.com/office/powerpoint/2010/main" val="23124471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Определить линейный порядок, в котором каждое ребро u→v направлено от более ранней позиции к более поздней.</a:t>
            </a:r>
          </a:p>
          <a:p>
            <a:endParaRPr lang="ru-RU"/>
          </a:p>
          <a:p>
            <a:r>
              <a:rPr lang="ru-RU"/>
              <a:t>АКЦЕНТ</a:t>
            </a:r>
          </a:p>
          <a:p>
            <a:r>
              <a:rPr lang="ru-RU"/>
              <a:t>Топологический порядок. Опирайтесь на схему и краткие подписи.</a:t>
            </a:r>
          </a:p>
          <a:p>
            <a:endParaRPr lang="ru-RU"/>
          </a:p>
          <a:p>
            <a:r>
              <a:rPr lang="ru-RU"/>
              <a:t>ВОПРОС АУДИТОРИИ</a:t>
            </a:r>
          </a:p>
          <a:p>
            <a:r>
              <a:rPr lang="ru-RU"/>
              <a:t>Какие вершины должны стоять перед D?</a:t>
            </a:r>
          </a:p>
          <a:p>
            <a:endParaRPr lang="ru-RU"/>
          </a:p>
          <a:p>
            <a:r>
              <a:rPr lang="ru-RU"/>
              <a:t>КЛИКИ</a:t>
            </a:r>
          </a:p>
          <a:p>
            <a:r>
              <a:rPr lang="ru-RU"/>
              <a:t>На этом слайде нет отдельных анимационных кликов. Следующий клик переключает слайд.</a:t>
            </a:r>
          </a:p>
          <a:p>
            <a:r>
              <a:rPr lang="ru-RU"/>
              <a:t>1. После визуального примера дать определение.</a:t>
            </a:r>
          </a:p>
          <a:p>
            <a:endParaRPr lang="ru-RU"/>
          </a:p>
          <a:p>
            <a:r>
              <a:rPr lang="ru-RU"/>
              <a:t>ТИПИЧНАЯ ОШИБКА</a:t>
            </a:r>
          </a:p>
          <a:p>
            <a:r>
              <a:rPr lang="ru-RU"/>
              <a:t>Топологическая сортировка работает только для DAG.</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55</a:t>
            </a:fld>
            <a:endParaRPr lang="ru-RU"/>
          </a:p>
        </p:txBody>
      </p:sp>
    </p:spTree>
    <p:extLst>
      <p:ext uri="{BB962C8B-B14F-4D97-AF65-F5344CB8AC3E}">
        <p14:creationId xmlns:p14="http://schemas.microsoft.com/office/powerpoint/2010/main" val="38001616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B и C не зависят друг от друга. Оба порядка удовлетворяют четырём рёбрам ромба.</a:t>
            </a:r>
          </a:p>
          <a:p>
            <a:endParaRPr lang="ru-RU"/>
          </a:p>
          <a:p>
            <a:r>
              <a:rPr lang="ru-RU"/>
              <a:t>АКЦЕНТ</a:t>
            </a:r>
          </a:p>
          <a:p>
            <a:r>
              <a:rPr lang="ru-RU"/>
              <a:t>Правильный порядок может быть не один. Опирайтесь на схему и краткие подписи.</a:t>
            </a:r>
          </a:p>
          <a:p>
            <a:endParaRPr lang="ru-RU"/>
          </a:p>
          <a:p>
            <a:r>
              <a:rPr lang="ru-RU"/>
              <a:t>ВОПРОС АУДИТОРИИ</a:t>
            </a:r>
          </a:p>
          <a:p>
            <a:r>
              <a:rPr lang="ru-RU"/>
              <a:t>Почему разрешено поменять местами B и C?</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Сортировка не обязана выдавать единственный результат.</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56</a:t>
            </a:fld>
            <a:endParaRPr lang="ru-RU"/>
          </a:p>
        </p:txBody>
      </p:sp>
    </p:spTree>
    <p:extLst>
      <p:ext uri="{BB962C8B-B14F-4D97-AF65-F5344CB8AC3E}">
        <p14:creationId xmlns:p14="http://schemas.microsoft.com/office/powerpoint/2010/main" val="311795163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Работать с тем же DAG. Соседи A рассматриваются B, затем C. result пуст до первых завершений вызовов.</a:t>
            </a:r>
          </a:p>
          <a:p>
            <a:endParaRPr lang="ru-RU"/>
          </a:p>
          <a:p>
            <a:r>
              <a:rPr lang="ru-RU"/>
              <a:t>АКЦЕНТ</a:t>
            </a:r>
          </a:p>
          <a:p>
            <a:r>
              <a:rPr lang="ru-RU"/>
              <a:t>Топологическая сортировка: начало DFS. Сначала показать исходное состояние; не опережать клики.</a:t>
            </a:r>
          </a:p>
          <a:p>
            <a:endParaRPr lang="ru-RU"/>
          </a:p>
          <a:p>
            <a:r>
              <a:rPr lang="ru-RU"/>
              <a:t>ВОПРОС АУДИТОРИИ</a:t>
            </a:r>
          </a:p>
          <a:p>
            <a:r>
              <a:rPr lang="ru-RU"/>
              <a:t>Когда A попадёт в result?</a:t>
            </a:r>
          </a:p>
          <a:p>
            <a:endParaRPr lang="ru-RU"/>
          </a:p>
          <a:p>
            <a:r>
              <a:rPr lang="ru-RU"/>
              <a:t>КЛИКИ</a:t>
            </a:r>
          </a:p>
          <a:p>
            <a:r>
              <a:rPr lang="ru-RU"/>
              <a:t>1. Войти в A. Пока ничего не добавлять в result.</a:t>
            </a:r>
          </a:p>
          <a:p>
            <a:endParaRPr lang="ru-RU"/>
          </a:p>
          <a:p>
            <a:r>
              <a:rPr lang="ru-RU"/>
              <a:t>ТИПИЧНАЯ ОШИБКА</a:t>
            </a:r>
          </a:p>
          <a:p>
            <a:r>
              <a:rPr lang="ru-RU"/>
              <a:t>Добавление при входе не даёт нужный порядок.</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57</a:t>
            </a:fld>
            <a:endParaRPr lang="ru-RU"/>
          </a:p>
        </p:txBody>
      </p:sp>
    </p:spTree>
    <p:extLst>
      <p:ext uri="{BB962C8B-B14F-4D97-AF65-F5344CB8AC3E}">
        <p14:creationId xmlns:p14="http://schemas.microsoft.com/office/powerpoint/2010/main" val="41373558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Перейти A→B→D. D не имеет исходящих рёбер, поэтому его вызов завершится первым.</a:t>
            </a:r>
          </a:p>
          <a:p>
            <a:endParaRPr lang="ru-RU"/>
          </a:p>
          <a:p>
            <a:r>
              <a:rPr lang="ru-RU"/>
              <a:t>АКЦЕНТ</a:t>
            </a:r>
          </a:p>
          <a:p>
            <a:r>
              <a:rPr lang="ru-RU"/>
              <a:t>Топологическая сортировка: углубление. Сначала показать исходное состояние; не опережать клики.</a:t>
            </a:r>
          </a:p>
          <a:p>
            <a:endParaRPr lang="ru-RU"/>
          </a:p>
          <a:p>
            <a:r>
              <a:rPr lang="ru-RU"/>
              <a:t>ВОПРОС АУДИТОРИИ</a:t>
            </a:r>
          </a:p>
          <a:p>
            <a:r>
              <a:rPr lang="ru-RU"/>
              <a:t>Какая вершина завершится первой?</a:t>
            </a:r>
          </a:p>
          <a:p>
            <a:endParaRPr lang="ru-RU"/>
          </a:p>
          <a:p>
            <a:r>
              <a:rPr lang="ru-RU"/>
              <a:t>КЛИКИ</a:t>
            </a:r>
          </a:p>
          <a:p>
            <a:r>
              <a:rPr lang="ru-RU"/>
              <a:t>1. Перейти из A в B.</a:t>
            </a:r>
          </a:p>
          <a:p>
            <a:r>
              <a:rPr lang="ru-RU"/>
              <a:t>2. Перейти из B в D. Исходящих рёбер у D нет.</a:t>
            </a:r>
          </a:p>
          <a:p>
            <a:endParaRPr lang="ru-RU"/>
          </a:p>
          <a:p>
            <a:r>
              <a:rPr lang="ru-RU"/>
              <a:t>ТИПИЧНАЯ ОШИБКА</a:t>
            </a:r>
          </a:p>
          <a:p>
            <a:r>
              <a:rPr lang="ru-RU"/>
              <a:t>Считать геометрическое положение вершины свойством алгоритма: важно направление рёбер и порядок соседей.</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58</a:t>
            </a:fld>
            <a:endParaRPr lang="ru-RU"/>
          </a:p>
        </p:txBody>
      </p:sp>
    </p:spTree>
    <p:extLst>
      <p:ext uri="{BB962C8B-B14F-4D97-AF65-F5344CB8AC3E}">
        <p14:creationId xmlns:p14="http://schemas.microsoft.com/office/powerpoint/2010/main" val="41073605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Завершить D, затем B. После возврата в A пройти C, пропустить уже посещённую D, завершить C и A.</a:t>
            </a:r>
          </a:p>
          <a:p>
            <a:endParaRPr lang="ru-RU"/>
          </a:p>
          <a:p>
            <a:r>
              <a:rPr lang="ru-RU"/>
              <a:t>АКЦЕНТ</a:t>
            </a:r>
          </a:p>
          <a:p>
            <a:r>
              <a:rPr lang="ru-RU"/>
              <a:t>Топологическая сортировка: добавляем на выходе. Сначала показать исходное состояние; не опережать клики.</a:t>
            </a:r>
          </a:p>
          <a:p>
            <a:endParaRPr lang="ru-RU"/>
          </a:p>
          <a:p>
            <a:r>
              <a:rPr lang="ru-RU"/>
              <a:t>ВОПРОС АУДИТОРИИ</a:t>
            </a:r>
          </a:p>
          <a:p>
            <a:r>
              <a:rPr lang="ru-RU"/>
              <a:t>Почему D не добавляем в result второй раз из C?</a:t>
            </a:r>
          </a:p>
          <a:p>
            <a:endParaRPr lang="ru-RU"/>
          </a:p>
          <a:p>
            <a:r>
              <a:rPr lang="ru-RU"/>
              <a:t>КЛИКИ</a:t>
            </a:r>
          </a:p>
          <a:p>
            <a:r>
              <a:rPr lang="ru-RU"/>
              <a:t>1. Завершить D, добавить в result: ['D']. </a:t>
            </a:r>
          </a:p>
          <a:p>
            <a:r>
              <a:rPr lang="ru-RU"/>
              <a:t>2. Завершить B, добавить в result: ['D', 'B']. </a:t>
            </a:r>
          </a:p>
          <a:p>
            <a:r>
              <a:rPr lang="ru-RU"/>
              <a:t>3. Завершить C, добавить в result: ['D', 'B', 'C']. Перед этим войти в C; ребро C→D ведёт к завершённой D.</a:t>
            </a:r>
          </a:p>
          <a:p>
            <a:r>
              <a:rPr lang="ru-RU"/>
              <a:t>4. Завершить A, добавить в result: ['D', 'B', 'C', 'A']. </a:t>
            </a:r>
          </a:p>
          <a:p>
            <a:endParaRPr lang="ru-RU"/>
          </a:p>
          <a:p>
            <a:r>
              <a:rPr lang="ru-RU"/>
              <a:t>ТИПИЧНАЯ ОШИБКА</a:t>
            </a:r>
          </a:p>
          <a:p>
            <a:r>
              <a:rPr lang="ru-RU"/>
              <a:t>Каждая вершина добавляется на завершении единственного вызова.</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59</a:t>
            </a:fld>
            <a:endParaRPr lang="ru-RU"/>
          </a:p>
        </p:txBody>
      </p:sp>
    </p:spTree>
    <p:extLst>
      <p:ext uri="{BB962C8B-B14F-4D97-AF65-F5344CB8AC3E}">
        <p14:creationId xmlns:p14="http://schemas.microsoft.com/office/powerpoint/2010/main" val="9293899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Время выхода ставит получателей зависимости раньше источников. Развернуть result и проверить каждое ребро.</a:t>
            </a:r>
          </a:p>
          <a:p>
            <a:endParaRPr lang="ru-RU"/>
          </a:p>
          <a:p>
            <a:r>
              <a:rPr lang="ru-RU"/>
              <a:t>АКЦЕНТ</a:t>
            </a:r>
          </a:p>
          <a:p>
            <a:r>
              <a:rPr lang="ru-RU"/>
              <a:t>Топологическая сортировка: разворот. Сначала показать исходное состояние; не опережать клики.</a:t>
            </a:r>
          </a:p>
          <a:p>
            <a:endParaRPr lang="ru-RU"/>
          </a:p>
          <a:p>
            <a:r>
              <a:rPr lang="ru-RU"/>
              <a:t>ВОПРОС АУДИТОРИИ</a:t>
            </a:r>
          </a:p>
          <a:p>
            <a:r>
              <a:rPr lang="ru-RU"/>
              <a:t>Как проверить готовый порядок по рёбрам?</a:t>
            </a:r>
          </a:p>
          <a:p>
            <a:endParaRPr lang="ru-RU"/>
          </a:p>
          <a:p>
            <a:r>
              <a:rPr lang="ru-RU"/>
              <a:t>КЛИКИ</a:t>
            </a:r>
          </a:p>
          <a:p>
            <a:r>
              <a:rPr lang="ru-RU"/>
              <a:t>1. Развернуть result: получить A,C,B,D. Проверить все четыре зависимости.</a:t>
            </a:r>
          </a:p>
          <a:p>
            <a:endParaRPr lang="ru-RU"/>
          </a:p>
          <a:p>
            <a:r>
              <a:rPr lang="ru-RU"/>
              <a:t>ТИПИЧНАЯ ОШИБКА</a:t>
            </a:r>
          </a:p>
          <a:p>
            <a:r>
              <a:rPr lang="ru-RU"/>
              <a:t>Считать геометрическое положение вершины свойством алгоритма: важно направление рёбер и порядок соседей.</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60</a:t>
            </a:fld>
            <a:endParaRPr lang="ru-RU"/>
          </a:p>
        </p:txBody>
      </p:sp>
    </p:spTree>
    <p:extLst>
      <p:ext uri="{BB962C8B-B14F-4D97-AF65-F5344CB8AC3E}">
        <p14:creationId xmlns:p14="http://schemas.microsoft.com/office/powerpoint/2010/main" val="24145910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Код корректен для заранее известного DAG. В произвольном ориентированном графе нужно одновременно проверять цикл трёхцветным DFS. Внешний цикл обходит все компоненты.</a:t>
            </a:r>
          </a:p>
          <a:p>
            <a:endParaRPr lang="ru-RU"/>
          </a:p>
          <a:p>
            <a:r>
              <a:rPr lang="ru-RU"/>
              <a:t>АКЦЕНТ</a:t>
            </a:r>
          </a:p>
          <a:p>
            <a:r>
              <a:rPr lang="ru-RU"/>
              <a:t>Топологическая сортировка: Python. Опирайтесь на схему и краткие подписи.</a:t>
            </a:r>
          </a:p>
          <a:p>
            <a:endParaRPr lang="ru-RU"/>
          </a:p>
          <a:p>
            <a:r>
              <a:rPr lang="ru-RU"/>
              <a:t>ВОПРОС АУДИТОРИИ</a:t>
            </a:r>
          </a:p>
          <a:p>
            <a:r>
              <a:rPr lang="ru-RU"/>
              <a:t>Что добавить в код, если неизвестно, есть ли цикл?</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Обычного visited недостаточно для обнаружения направленного цикла.</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61</a:t>
            </a:fld>
            <a:endParaRPr lang="ru-RU"/>
          </a:p>
        </p:txBody>
      </p:sp>
    </p:spTree>
    <p:extLst>
      <p:ext uri="{BB962C8B-B14F-4D97-AF65-F5344CB8AC3E}">
        <p14:creationId xmlns:p14="http://schemas.microsoft.com/office/powerpoint/2010/main" val="9569522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На цикле A→B→C→A показать три взаимоисключающих ограничения: A раньше B, B раньше C, C раньше A.</a:t>
            </a:r>
          </a:p>
          <a:p>
            <a:endParaRPr lang="ru-RU"/>
          </a:p>
          <a:p>
            <a:r>
              <a:rPr lang="ru-RU"/>
              <a:t>АКЦЕНТ</a:t>
            </a:r>
          </a:p>
          <a:p>
            <a:r>
              <a:rPr lang="ru-RU"/>
              <a:t>Почему цикл ломает порядок. Опирайтесь на схему и краткие подписи.</a:t>
            </a:r>
          </a:p>
          <a:p>
            <a:endParaRPr lang="ru-RU"/>
          </a:p>
          <a:p>
            <a:r>
              <a:rPr lang="ru-RU"/>
              <a:t>ВОПРОС АУДИТОРИИ</a:t>
            </a:r>
          </a:p>
          <a:p>
            <a:r>
              <a:rPr lang="ru-RU"/>
              <a:t>Можно ли поставить какую-либо вершину первой без нарушения?</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Считать геометрическое положение вершины свойством алгоритма: важно направление рёбер и порядок соседей.</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62</a:t>
            </a:fld>
            <a:endParaRPr lang="ru-RU"/>
          </a:p>
        </p:txBody>
      </p:sp>
    </p:spTree>
    <p:extLst>
      <p:ext uri="{BB962C8B-B14F-4D97-AF65-F5344CB8AC3E}">
        <p14:creationId xmlns:p14="http://schemas.microsoft.com/office/powerpoint/2010/main" val="4260348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Белый — ещё не посещён, активный — вызов DFS не завершён, завершённый — вызов закончился. Ребро к активной вершине создаёт направленный цикл.</a:t>
            </a:r>
          </a:p>
          <a:p>
            <a:endParaRPr lang="ru-RU"/>
          </a:p>
          <a:p>
            <a:r>
              <a:rPr lang="ru-RU"/>
              <a:t>АКЦЕНТ</a:t>
            </a:r>
          </a:p>
          <a:p>
            <a:r>
              <a:rPr lang="ru-RU"/>
              <a:t>Поиск цикла: три состояния DFS. Сначала показать исходное состояние; не опережать клики.</a:t>
            </a:r>
          </a:p>
          <a:p>
            <a:endParaRPr lang="ru-RU"/>
          </a:p>
          <a:p>
            <a:r>
              <a:rPr lang="ru-RU"/>
              <a:t>ВОПРОС АУДИТОРИИ</a:t>
            </a:r>
          </a:p>
          <a:p>
            <a:r>
              <a:rPr lang="ru-RU"/>
              <a:t>Почему ребро к завершённой вершине не доказывает цикл?</a:t>
            </a:r>
          </a:p>
          <a:p>
            <a:endParaRPr lang="ru-RU"/>
          </a:p>
          <a:p>
            <a:r>
              <a:rPr lang="ru-RU"/>
              <a:t>КЛИКИ</a:t>
            </a:r>
          </a:p>
          <a:p>
            <a:r>
              <a:rPr lang="ru-RU"/>
              <a:t>1. Открыть вызов A: состояние 1.</a:t>
            </a:r>
          </a:p>
          <a:p>
            <a:r>
              <a:rPr lang="ru-RU"/>
              <a:t>2. Открыть B; A всё ещё активна.</a:t>
            </a:r>
          </a:p>
          <a:p>
            <a:r>
              <a:rPr lang="ru-RU"/>
              <a:t>3. Открыть C и обнаружить ребро C→A к активной вершине: найден цикл.</a:t>
            </a:r>
          </a:p>
          <a:p>
            <a:endParaRPr lang="ru-RU"/>
          </a:p>
          <a:p>
            <a:r>
              <a:rPr lang="ru-RU"/>
              <a:t>ТИПИЧНАЯ ОШИБКА</a:t>
            </a:r>
          </a:p>
          <a:p>
            <a:r>
              <a:rPr lang="ru-RU"/>
              <a:t>Состояние 1 здесь — стек рекурсии; это не on_stack Тарьяна.</a:t>
            </a:r>
          </a:p>
          <a:p>
            <a:endParaRPr lang="ru-RU"/>
          </a:p>
          <a:p>
            <a:r>
              <a:rPr lang="ru-RU"/>
              <a:t>ИСТОЧНИК ДЛЯ ПРЕПОДАВАТЕЛЯ</a:t>
            </a:r>
          </a:p>
          <a:p>
            <a:r>
              <a:rPr lang="ru-RU"/>
              <a:t>https://algs4.cs.princeton.edu/42digraph/</a:t>
            </a:r>
          </a:p>
        </p:txBody>
      </p:sp>
      <p:sp>
        <p:nvSpPr>
          <p:cNvPr id="4" name="Номер слайда 3"/>
          <p:cNvSpPr>
            <a:spLocks noGrp="1"/>
          </p:cNvSpPr>
          <p:nvPr>
            <p:ph type="sldNum" sz="quarter" idx="5"/>
          </p:nvPr>
        </p:nvSpPr>
        <p:spPr/>
        <p:txBody>
          <a:bodyPr/>
          <a:lstStyle/>
          <a:p>
            <a:fld id="{28093857-F793-4960-89DF-D50C2129606D}" type="slidenum">
              <a:rPr lang="ru-RU" smtClean="0"/>
              <a:t>63</a:t>
            </a:fld>
            <a:endParaRPr lang="ru-RU"/>
          </a:p>
        </p:txBody>
      </p:sp>
    </p:spTree>
    <p:extLst>
      <p:ext uri="{BB962C8B-B14F-4D97-AF65-F5344CB8AC3E}">
        <p14:creationId xmlns:p14="http://schemas.microsoft.com/office/powerpoint/2010/main" val="42208571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Связать общую основу с шестью задачами. Для SCC нужны дополнительные структуры и правила; для мостов и точек — tin/low; для зависимостей — выход из DFS.</a:t>
            </a:r>
          </a:p>
          <a:p>
            <a:endParaRPr lang="ru-RU"/>
          </a:p>
          <a:p>
            <a:r>
              <a:rPr lang="ru-RU"/>
              <a:t>АКЦЕНТ</a:t>
            </a:r>
          </a:p>
          <a:p>
            <a:r>
              <a:rPr lang="ru-RU"/>
              <a:t>Один DFS — много алгоритмов. Опирайтесь на схему и краткие подписи.</a:t>
            </a:r>
          </a:p>
          <a:p>
            <a:endParaRPr lang="ru-RU"/>
          </a:p>
          <a:p>
            <a:r>
              <a:rPr lang="ru-RU"/>
              <a:t>ВОПРОС АУДИТОРИИ</a:t>
            </a:r>
          </a:p>
          <a:p>
            <a:r>
              <a:rPr lang="ru-RU"/>
              <a:t>Какая информация добавляется к DFS для поиска мостов?</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Одна идея обхода не означает, что все алгоритмы имеют одинаковую реализацию.</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64</a:t>
            </a:fld>
            <a:endParaRPr lang="ru-RU"/>
          </a:p>
        </p:txBody>
      </p:sp>
    </p:spTree>
    <p:extLst>
      <p:ext uri="{BB962C8B-B14F-4D97-AF65-F5344CB8AC3E}">
        <p14:creationId xmlns:p14="http://schemas.microsoft.com/office/powerpoint/2010/main" val="2853056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Предложить студентам сначала назвать задачу, потом выбрать метод. Уточнить разницу связности и сильной связности.</a:t>
            </a:r>
          </a:p>
          <a:p>
            <a:endParaRPr lang="ru-RU"/>
          </a:p>
          <a:p>
            <a:r>
              <a:rPr lang="ru-RU"/>
              <a:t>АКЦЕНТ</a:t>
            </a:r>
          </a:p>
          <a:p>
            <a:r>
              <a:rPr lang="ru-RU"/>
              <a:t>Сводная таблица задач. Опирайтесь на схему и краткие подписи.</a:t>
            </a:r>
          </a:p>
          <a:p>
            <a:endParaRPr lang="ru-RU"/>
          </a:p>
          <a:p>
            <a:r>
              <a:rPr lang="ru-RU"/>
              <a:t>ВОПРОС АУДИТОРИИ</a:t>
            </a:r>
          </a:p>
          <a:p>
            <a:r>
              <a:rPr lang="ru-RU"/>
              <a:t>Какой алгоритм выбрать для порядка сборки модулей?</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SCC относится к ориентированным графам; мосты и точки в этой лекции — к неориентированным.</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65</a:t>
            </a:fld>
            <a:endParaRPr lang="ru-RU"/>
          </a:p>
        </p:txBody>
      </p:sp>
    </p:spTree>
    <p:extLst>
      <p:ext uri="{BB962C8B-B14F-4D97-AF65-F5344CB8AC3E}">
        <p14:creationId xmlns:p14="http://schemas.microsoft.com/office/powerpoint/2010/main" val="34924825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Все оценки относятся к списку смежности. Неориентированное ребро рассматривается с обоих концов; это постоянный множитель. Дополнительные структуры обычно занимают O(V), представление графа O(V+E).</a:t>
            </a:r>
          </a:p>
          <a:p>
            <a:endParaRPr lang="ru-RU"/>
          </a:p>
          <a:p>
            <a:r>
              <a:rPr lang="ru-RU"/>
              <a:t>АКЦЕНТ</a:t>
            </a:r>
          </a:p>
          <a:p>
            <a:r>
              <a:rPr lang="ru-RU"/>
              <a:t>Сложности: линейный анализ структуры. Опирайтесь на схему и краткие подписи.</a:t>
            </a:r>
          </a:p>
          <a:p>
            <a:endParaRPr lang="ru-RU"/>
          </a:p>
          <a:p>
            <a:r>
              <a:rPr lang="ru-RU"/>
              <a:t>ВОПРОС АУДИТОРИИ</a:t>
            </a:r>
          </a:p>
          <a:p>
            <a:r>
              <a:rPr lang="ru-RU"/>
              <a:t>Почему каждый алгоритм не перебирает все пары вершин?</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С матрицей смежности обход может стоить O(V²).</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66</a:t>
            </a:fld>
            <a:endParaRPr lang="ru-RU"/>
          </a:p>
        </p:txBody>
      </p:sp>
    </p:spTree>
    <p:extLst>
      <p:ext uri="{BB962C8B-B14F-4D97-AF65-F5344CB8AC3E}">
        <p14:creationId xmlns:p14="http://schemas.microsoft.com/office/powerpoint/2010/main" val="5545941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Сопоставить четыре задачи с моделями. SCC — взаимная достижимость в сети переходов; мост — единственное соединение; точка — критический узел; топологический порядок — зависимости сборки.</a:t>
            </a:r>
          </a:p>
          <a:p>
            <a:endParaRPr lang="ru-RU"/>
          </a:p>
          <a:p>
            <a:r>
              <a:rPr lang="ru-RU"/>
              <a:t>АКЦЕНТ</a:t>
            </a:r>
          </a:p>
          <a:p>
            <a:r>
              <a:rPr lang="ru-RU"/>
              <a:t>Практические применения. Опирайтесь на схему и краткие подписи.</a:t>
            </a:r>
          </a:p>
          <a:p>
            <a:endParaRPr lang="ru-RU"/>
          </a:p>
          <a:p>
            <a:r>
              <a:rPr lang="ru-RU"/>
              <a:t>ВОПРОС АУДИТОРИИ</a:t>
            </a:r>
          </a:p>
          <a:p>
            <a:r>
              <a:rPr lang="ru-RU"/>
              <a:t>Какая из этих моделей подходит для поиска критического роутера?</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Модель отказа ребра отличается от модели отказа узла.</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67</a:t>
            </a:fld>
            <a:endParaRPr lang="ru-RU"/>
          </a:p>
        </p:txBody>
      </p:sp>
    </p:spTree>
    <p:extLst>
      <p:ext uri="{BB962C8B-B14F-4D97-AF65-F5344CB8AC3E}">
        <p14:creationId xmlns:p14="http://schemas.microsoft.com/office/powerpoint/2010/main" val="30920158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ОБЪЯСНИТЬ</a:t>
            </a:r>
          </a:p>
          <a:p>
            <a:r>
              <a:rPr lang="ru-RU"/>
              <a:t>Сформулировать краткие итоговые опоры. Попросить аудиторию объяснить разницу строгого и нестрогого неравенства.</a:t>
            </a:r>
          </a:p>
          <a:p>
            <a:endParaRPr lang="ru-RU"/>
          </a:p>
          <a:p>
            <a:r>
              <a:rPr lang="ru-RU"/>
              <a:t>АКЦЕНТ</a:t>
            </a:r>
          </a:p>
          <a:p>
            <a:r>
              <a:rPr lang="ru-RU"/>
              <a:t>Что нужно запомнить. Опирайтесь на схему и краткие подписи.</a:t>
            </a:r>
          </a:p>
          <a:p>
            <a:endParaRPr lang="ru-RU"/>
          </a:p>
          <a:p>
            <a:r>
              <a:rPr lang="ru-RU"/>
              <a:t>ВОПРОС АУДИТОРИИ</a:t>
            </a:r>
          </a:p>
          <a:p>
            <a:r>
              <a:rPr lang="ru-RU"/>
              <a:t>Почему у моста &gt;, а у точки сочленения ≥?</a:t>
            </a:r>
          </a:p>
          <a:p>
            <a:endParaRPr lang="ru-RU"/>
          </a:p>
          <a:p>
            <a:r>
              <a:rPr lang="ru-RU"/>
              <a:t>КЛИКИ</a:t>
            </a:r>
          </a:p>
          <a:p>
            <a:r>
              <a:rPr lang="ru-RU"/>
              <a:t>На этом слайде нет отдельных анимационных кликов. Следующий клик переключает слайд.</a:t>
            </a:r>
          </a:p>
          <a:p>
            <a:endParaRPr lang="ru-RU"/>
          </a:p>
          <a:p>
            <a:r>
              <a:rPr lang="ru-RU"/>
              <a:t>ТИПИЧНАЯ ОШИБКА</a:t>
            </a:r>
          </a:p>
          <a:p>
            <a:r>
              <a:rPr lang="ru-RU"/>
              <a:t>Топологический порядок существует только при отсутствии направленных циклов.</a:t>
            </a:r>
          </a:p>
          <a:p>
            <a:endParaRPr lang="ru-RU"/>
          </a:p>
          <a:p>
            <a:r>
              <a:rPr lang="ru-RU"/>
              <a:t>ИСТОЧНИК ДЛЯ ПРЕПОДАВАТЕЛЯ</a:t>
            </a:r>
          </a:p>
          <a:p>
            <a:r>
              <a:rPr lang="ru-RU"/>
              <a:t>https://algs4.cs.princeton.edu/41graph/index.php</a:t>
            </a:r>
          </a:p>
        </p:txBody>
      </p:sp>
      <p:sp>
        <p:nvSpPr>
          <p:cNvPr id="4" name="Номер слайда 3"/>
          <p:cNvSpPr>
            <a:spLocks noGrp="1"/>
          </p:cNvSpPr>
          <p:nvPr>
            <p:ph type="sldNum" sz="quarter" idx="5"/>
          </p:nvPr>
        </p:nvSpPr>
        <p:spPr/>
        <p:txBody>
          <a:bodyPr/>
          <a:lstStyle/>
          <a:p>
            <a:fld id="{28093857-F793-4960-89DF-D50C2129606D}" type="slidenum">
              <a:rPr lang="ru-RU" smtClean="0"/>
              <a:t>68</a:t>
            </a:fld>
            <a:endParaRPr lang="ru-RU"/>
          </a:p>
        </p:txBody>
      </p:sp>
    </p:spTree>
    <p:extLst>
      <p:ext uri="{BB962C8B-B14F-4D97-AF65-F5344CB8AC3E}">
        <p14:creationId xmlns:p14="http://schemas.microsoft.com/office/powerpoint/2010/main" val="31970231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08.10.2026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p:txBody>
          <a:bodyPr/>
          <a:lstStyle/>
          <a:p>
            <a:pPr>
              <a:defRPr/>
            </a:pPr>
            <a:r>
              <a:rPr lang="ru-RU" dirty="0"/>
              <a:t>Лектор</a:t>
            </a:r>
            <a:r>
              <a:rPr lang="en-US" dirty="0"/>
              <a:t>: </a:t>
            </a:r>
            <a:r>
              <a:rPr lang="ru-RU" dirty="0"/>
              <a:t>Борзов Вадим Максимович</a:t>
            </a:r>
          </a:p>
        </p:txBody>
      </p:sp>
      <p:sp>
        <p:nvSpPr>
          <p:cNvPr id="8" name="Текст 7"/>
          <p:cNvSpPr>
            <a:spLocks noGrp="1"/>
          </p:cNvSpPr>
          <p:nvPr>
            <p:ph type="body" sz="quarter" idx="13"/>
          </p:nvPr>
        </p:nvSpPr>
        <p:spPr bwMode="auto"/>
        <p:txBody>
          <a:bodyPr/>
          <a:lstStyle/>
          <a:p>
            <a:pPr>
              <a:defRPr/>
            </a:pPr>
            <a:r>
              <a:rPr lang="ru-RU"/>
              <a:t>Связность, SCC, мосты, точки сочленения</a:t>
            </a:r>
          </a:p>
          <a:p>
            <a:pPr>
              <a:defRPr/>
            </a:pPr>
            <a:r>
              <a:rPr lang="ru-RU"/>
              <a:t>и топологическая сортировка</a:t>
            </a:r>
            <a:endParaRPr lang="ru-RU" dirty="0"/>
          </a:p>
        </p:txBody>
      </p:sp>
      <p:sp>
        <p:nvSpPr>
          <p:cNvPr id="9" name="Текст 8"/>
          <p:cNvSpPr>
            <a:spLocks noGrp="1"/>
          </p:cNvSpPr>
          <p:nvPr>
            <p:ph type="body" sz="quarter" idx="14"/>
          </p:nvPr>
        </p:nvSpPr>
        <p:spPr bwMode="auto"/>
        <p:txBody>
          <a:bodyPr/>
          <a:lstStyle/>
          <a:p>
            <a:pPr>
              <a:defRPr/>
            </a:pPr>
            <a:r>
              <a:rPr lang="ru-RU"/>
              <a:t>03.10.2026</a:t>
            </a:r>
            <a:endParaRPr lang="ru-RU" dirty="0"/>
          </a:p>
        </p:txBody>
      </p:sp>
      <p:sp>
        <p:nvSpPr>
          <p:cNvPr id="6" name="Заголовок 5"/>
          <p:cNvSpPr>
            <a:spLocks noGrp="1"/>
          </p:cNvSpPr>
          <p:nvPr>
            <p:ph type="title"/>
          </p:nvPr>
        </p:nvSpPr>
        <p:spPr bwMode="auto"/>
        <p:txBody>
          <a:bodyPr/>
          <a:lstStyle/>
          <a:p>
            <a:pPr>
              <a:defRPr/>
            </a:pPr>
            <a:r>
              <a:rPr lang="ru-RU"/>
              <a:t>Лекция 4. Графы: от обходов к структуре сети</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Что мы хотим узнать о графе?</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E2356756-3B1A-441C-ABDA-C0E1E63656AE}"/>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18231C14-167B-4098-BB20-EF12C59FE93E}"/>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B2CABE05-1ADE-4420-9674-4CF2C1D53523}"/>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85AB7DF-DE36-48B6-A762-1916F8E807DF}"/>
              </a:ext>
            </a:extLst>
          </p:cNvPr>
          <p:cNvCxnSpPr/>
          <p:nvPr/>
        </p:nvCxnSpPr>
        <p:spPr>
          <a:xfrm>
            <a:off x="3556000" y="3556000"/>
            <a:ext cx="1460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3" name="!!g-edge-4-5">
            <a:extLst>
              <a:ext uri="{FF2B5EF4-FFF2-40B4-BE49-F238E27FC236}">
                <a16:creationId xmlns:a16="http://schemas.microsoft.com/office/drawing/2014/main" id="{2B23F8F4-6F3B-43EB-B39B-B61650AB4D98}"/>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4" name="!!g-edge-5-6">
            <a:extLst>
              <a:ext uri="{FF2B5EF4-FFF2-40B4-BE49-F238E27FC236}">
                <a16:creationId xmlns:a16="http://schemas.microsoft.com/office/drawing/2014/main" id="{9EE92228-8E5A-4C81-84A7-D373D900CE32}"/>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6" name="!!g-edge-6-4">
            <a:extLst>
              <a:ext uri="{FF2B5EF4-FFF2-40B4-BE49-F238E27FC236}">
                <a16:creationId xmlns:a16="http://schemas.microsoft.com/office/drawing/2014/main" id="{317FEEBE-DF4A-4402-AD4E-976B9D7E82D7}"/>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node-1">
            <a:extLst>
              <a:ext uri="{FF2B5EF4-FFF2-40B4-BE49-F238E27FC236}">
                <a16:creationId xmlns:a16="http://schemas.microsoft.com/office/drawing/2014/main" id="{B3D2415F-71AF-4787-AE10-C7ABDA62A180}"/>
              </a:ext>
            </a:extLst>
          </p:cNvPr>
          <p:cNvSpPr/>
          <p:nvPr/>
        </p:nvSpPr>
        <p:spPr>
          <a:xfrm>
            <a:off x="8001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9" name="!!g-node-2">
            <a:extLst>
              <a:ext uri="{FF2B5EF4-FFF2-40B4-BE49-F238E27FC236}">
                <a16:creationId xmlns:a16="http://schemas.microsoft.com/office/drawing/2014/main" id="{C63885E2-31C8-4999-8427-B7AAF23281EA}"/>
              </a:ext>
            </a:extLst>
          </p:cNvPr>
          <p:cNvSpPr/>
          <p:nvPr/>
        </p:nvSpPr>
        <p:spPr>
          <a:xfrm>
            <a:off x="698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0" name="!!g-node-3">
            <a:extLst>
              <a:ext uri="{FF2B5EF4-FFF2-40B4-BE49-F238E27FC236}">
                <a16:creationId xmlns:a16="http://schemas.microsoft.com/office/drawing/2014/main" id="{E0F0B335-308D-4BD6-801F-71B694EAEA83}"/>
              </a:ext>
            </a:extLst>
          </p:cNvPr>
          <p:cNvSpPr/>
          <p:nvPr/>
        </p:nvSpPr>
        <p:spPr>
          <a:xfrm>
            <a:off x="29210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32" name="!!g-node-4">
            <a:extLst>
              <a:ext uri="{FF2B5EF4-FFF2-40B4-BE49-F238E27FC236}">
                <a16:creationId xmlns:a16="http://schemas.microsoft.com/office/drawing/2014/main" id="{6E96CEC6-8674-4EDB-AD18-21274E4066EB}"/>
              </a:ext>
            </a:extLst>
          </p:cNvPr>
          <p:cNvSpPr/>
          <p:nvPr/>
        </p:nvSpPr>
        <p:spPr>
          <a:xfrm>
            <a:off x="50165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34" name="!!g-node-5">
            <a:extLst>
              <a:ext uri="{FF2B5EF4-FFF2-40B4-BE49-F238E27FC236}">
                <a16:creationId xmlns:a16="http://schemas.microsoft.com/office/drawing/2014/main" id="{0398252C-259A-4747-BC39-2C3DD5EE71A1}"/>
              </a:ext>
            </a:extLst>
          </p:cNvPr>
          <p:cNvSpPr/>
          <p:nvPr/>
        </p:nvSpPr>
        <p:spPr>
          <a:xfrm>
            <a:off x="68580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35" name="!!g-node-6">
            <a:extLst>
              <a:ext uri="{FF2B5EF4-FFF2-40B4-BE49-F238E27FC236}">
                <a16:creationId xmlns:a16="http://schemas.microsoft.com/office/drawing/2014/main" id="{6AAB6FD2-57AF-4646-8D7C-2A880215228D}"/>
              </a:ext>
            </a:extLst>
          </p:cNvPr>
          <p:cNvSpPr/>
          <p:nvPr/>
        </p:nvSpPr>
        <p:spPr>
          <a:xfrm>
            <a:off x="69850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36" name="box-13-14">
            <a:extLst>
              <a:ext uri="{FF2B5EF4-FFF2-40B4-BE49-F238E27FC236}">
                <a16:creationId xmlns:a16="http://schemas.microsoft.com/office/drawing/2014/main" id="{4847436B-3273-4FBB-85D2-642C527476C1}"/>
              </a:ext>
            </a:extLst>
          </p:cNvPr>
          <p:cNvSpPr/>
          <p:nvPr/>
        </p:nvSpPr>
        <p:spPr>
          <a:xfrm>
            <a:off x="7937500" y="1816100"/>
            <a:ext cx="3771900" cy="3911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box-14-15">
            <a:extLst>
              <a:ext uri="{FF2B5EF4-FFF2-40B4-BE49-F238E27FC236}">
                <a16:creationId xmlns:a16="http://schemas.microsoft.com/office/drawing/2014/main" id="{E0DCC373-5D8F-4913-BAD9-91052E85829E}"/>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ext-15-16">
            <a:extLst>
              <a:ext uri="{FF2B5EF4-FFF2-40B4-BE49-F238E27FC236}">
                <a16:creationId xmlns:a16="http://schemas.microsoft.com/office/drawing/2014/main" id="{24E91C85-1220-4915-A889-D035E32619F7}"/>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Вопросы о сети</a:t>
            </a:r>
          </a:p>
        </p:txBody>
      </p:sp>
      <p:sp>
        <p:nvSpPr>
          <p:cNvPr id="39" name="text-16-17">
            <a:extLst>
              <a:ext uri="{FF2B5EF4-FFF2-40B4-BE49-F238E27FC236}">
                <a16:creationId xmlns:a16="http://schemas.microsoft.com/office/drawing/2014/main" id="{00ADAB6F-67AB-47F7-A971-A53AABF503D4}"/>
              </a:ext>
            </a:extLst>
          </p:cNvPr>
          <p:cNvSpPr txBox="1"/>
          <p:nvPr/>
        </p:nvSpPr>
        <p:spPr bwMode="auto">
          <a:xfrm>
            <a:off x="8153400" y="2567097"/>
            <a:ext cx="3340100" cy="2205732"/>
          </a:xfrm>
          <a:prstGeom prst="rect">
            <a:avLst/>
          </a:prstGeom>
        </p:spPr>
        <p:txBody>
          <a:bodyPr vert="horz" wrap="square" lIns="38100" tIns="25400" rIns="38100" bIns="25400" rtlCol="0" anchor="ctr">
            <a:spAutoFit/>
          </a:bodyPr>
          <a:lstStyle/>
          <a:p>
            <a:r>
              <a:rPr lang="ru-RU" sz="2000">
                <a:solidFill>
                  <a:srgbClr val="352379"/>
                </a:solidFill>
                <a:latin typeface="Montserrat"/>
              </a:rPr>
              <a:t>Какие вершины в группе?</a:t>
            </a:r>
          </a:p>
          <a:p>
            <a:endParaRPr lang="ru-RU" sz="2000">
              <a:solidFill>
                <a:srgbClr val="352379"/>
              </a:solidFill>
              <a:latin typeface="Montserrat"/>
            </a:endParaRPr>
          </a:p>
          <a:p>
            <a:r>
              <a:rPr lang="ru-RU" sz="2000">
                <a:solidFill>
                  <a:srgbClr val="352379"/>
                </a:solidFill>
                <a:latin typeface="Montserrat"/>
              </a:rPr>
              <a:t>Можно ли вернуться?</a:t>
            </a:r>
          </a:p>
          <a:p>
            <a:endParaRPr lang="ru-RU" sz="2000">
              <a:solidFill>
                <a:srgbClr val="352379"/>
              </a:solidFill>
              <a:latin typeface="Montserrat"/>
            </a:endParaRPr>
          </a:p>
          <a:p>
            <a:r>
              <a:rPr lang="ru-RU" sz="2000">
                <a:solidFill>
                  <a:srgbClr val="352379"/>
                </a:solidFill>
                <a:latin typeface="Montserrat"/>
              </a:rPr>
              <a:t>Какое ребро критично?</a:t>
            </a:r>
          </a:p>
          <a:p>
            <a:endParaRPr lang="ru-RU" sz="2000">
              <a:solidFill>
                <a:srgbClr val="352379"/>
              </a:solidFill>
              <a:latin typeface="Montserrat"/>
            </a:endParaRPr>
          </a:p>
          <a:p>
            <a:r>
              <a:rPr lang="ru-RU" sz="2000">
                <a:solidFill>
                  <a:srgbClr val="352379"/>
                </a:solidFill>
                <a:latin typeface="Montserrat"/>
              </a:rPr>
              <a:t>Какая вершина критична?</a:t>
            </a:r>
          </a:p>
        </p:txBody>
      </p:sp>
      <p:sp>
        <p:nvSpPr>
          <p:cNvPr id="40" name="box-17-18">
            <a:extLst>
              <a:ext uri="{FF2B5EF4-FFF2-40B4-BE49-F238E27FC236}">
                <a16:creationId xmlns:a16="http://schemas.microsoft.com/office/drawing/2014/main" id="{94C9FAE1-5D9D-44F6-86CA-B510B8C8BF15}"/>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18-19">
            <a:extLst>
              <a:ext uri="{FF2B5EF4-FFF2-40B4-BE49-F238E27FC236}">
                <a16:creationId xmlns:a16="http://schemas.microsoft.com/office/drawing/2014/main" id="{D24A3F71-A505-49D8-9CCF-84527131F7DE}"/>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А зависимости можно выполнить в правильном порядке?</a:t>
            </a:r>
          </a:p>
        </p:txBody>
      </p:sp>
      <p:sp>
        <p:nvSpPr>
          <p:cNvPr id="42" name="lecture-footer">
            <a:extLst>
              <a:ext uri="{FF2B5EF4-FFF2-40B4-BE49-F238E27FC236}">
                <a16:creationId xmlns:a16="http://schemas.microsoft.com/office/drawing/2014/main" id="{E6190ED0-2A4B-41BA-B507-E89694E9DD02}"/>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43" name="slide-number">
            <a:extLst>
              <a:ext uri="{FF2B5EF4-FFF2-40B4-BE49-F238E27FC236}">
                <a16:creationId xmlns:a16="http://schemas.microsoft.com/office/drawing/2014/main" id="{AD5A749C-9B64-49B7-B4E4-C754CF95EA9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a:t>
            </a:r>
          </a:p>
        </p:txBody>
      </p:sp>
    </p:spTree>
    <p:extLst>
      <p:ext uri="{BB962C8B-B14F-4D97-AF65-F5344CB8AC3E}">
        <p14:creationId xmlns:p14="http://schemas.microsoft.com/office/powerpoint/2010/main" val="4288566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Графы вокруг нас</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text-0-20">
            <a:extLst>
              <a:ext uri="{FF2B5EF4-FFF2-40B4-BE49-F238E27FC236}">
                <a16:creationId xmlns:a16="http://schemas.microsoft.com/office/drawing/2014/main" id="{01D6B8C1-56F7-4102-92CA-2538778B3571}"/>
              </a:ext>
            </a:extLst>
          </p:cNvPr>
          <p:cNvSpPr txBox="1"/>
          <p:nvPr/>
        </p:nvSpPr>
        <p:spPr bwMode="auto">
          <a:xfrm>
            <a:off x="698500" y="1620223"/>
            <a:ext cx="3619500" cy="389850"/>
          </a:xfrm>
          <a:prstGeom prst="rect">
            <a:avLst/>
          </a:prstGeom>
        </p:spPr>
        <p:txBody>
          <a:bodyPr vert="horz" wrap="square" lIns="38100" tIns="25400" rIns="38100" bIns="25400" rtlCol="0" anchor="ctr">
            <a:spAutoFit/>
          </a:bodyPr>
          <a:lstStyle/>
          <a:p>
            <a:r>
              <a:rPr lang="ru-RU" sz="2200" b="1">
                <a:solidFill>
                  <a:srgbClr val="352379"/>
                </a:solidFill>
                <a:latin typeface="Montserrat"/>
              </a:rPr>
              <a:t>Компьютерная сеть</a:t>
            </a:r>
          </a:p>
        </p:txBody>
      </p:sp>
      <p:cxnSp>
        <p:nvCxnSpPr>
          <p:cNvPr id="4" name="!!domain0-edge-0-1">
            <a:extLst>
              <a:ext uri="{FF2B5EF4-FFF2-40B4-BE49-F238E27FC236}">
                <a16:creationId xmlns:a16="http://schemas.microsoft.com/office/drawing/2014/main" id="{6599F68F-76FF-4E5A-B721-58C1EB9991E6}"/>
              </a:ext>
            </a:extLst>
          </p:cNvPr>
          <p:cNvCxnSpPr/>
          <p:nvPr/>
        </p:nvCxnSpPr>
        <p:spPr>
          <a:xfrm>
            <a:off x="1632084" y="2876903"/>
            <a:ext cx="431532" cy="16439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domain0-edge-1-2">
            <a:extLst>
              <a:ext uri="{FF2B5EF4-FFF2-40B4-BE49-F238E27FC236}">
                <a16:creationId xmlns:a16="http://schemas.microsoft.com/office/drawing/2014/main" id="{BB09EDA5-6498-408C-8636-0A11D373111C}"/>
              </a:ext>
            </a:extLst>
          </p:cNvPr>
          <p:cNvCxnSpPr/>
          <p:nvPr/>
        </p:nvCxnSpPr>
        <p:spPr>
          <a:xfrm flipV="1">
            <a:off x="2966646" y="2874089"/>
            <a:ext cx="454808" cy="17002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6" name="!!domain0-node-0">
            <a:extLst>
              <a:ext uri="{FF2B5EF4-FFF2-40B4-BE49-F238E27FC236}">
                <a16:creationId xmlns:a16="http://schemas.microsoft.com/office/drawing/2014/main" id="{9D30D7D8-5F96-4727-9C16-3D38C047164D}"/>
              </a:ext>
            </a:extLst>
          </p:cNvPr>
          <p:cNvSpPr/>
          <p:nvPr/>
        </p:nvSpPr>
        <p:spPr>
          <a:xfrm>
            <a:off x="698500" y="2222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ПК</a:t>
            </a:r>
          </a:p>
        </p:txBody>
      </p:sp>
      <p:sp>
        <p:nvSpPr>
          <p:cNvPr id="8" name="!!domain0-node-1">
            <a:extLst>
              <a:ext uri="{FF2B5EF4-FFF2-40B4-BE49-F238E27FC236}">
                <a16:creationId xmlns:a16="http://schemas.microsoft.com/office/drawing/2014/main" id="{A072D56A-6DE7-486D-9AED-E167E9E4593C}"/>
              </a:ext>
            </a:extLst>
          </p:cNvPr>
          <p:cNvSpPr/>
          <p:nvPr/>
        </p:nvSpPr>
        <p:spPr>
          <a:xfrm>
            <a:off x="2032000" y="2730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R</a:t>
            </a:r>
            <a:endParaRPr lang="ru-RU">
              <a:solidFill>
                <a:srgbClr val="352379"/>
              </a:solidFill>
              <a:latin typeface="Montserrat"/>
            </a:endParaRPr>
          </a:p>
        </p:txBody>
      </p:sp>
      <p:sp>
        <p:nvSpPr>
          <p:cNvPr id="9" name="!!domain0-node-2">
            <a:extLst>
              <a:ext uri="{FF2B5EF4-FFF2-40B4-BE49-F238E27FC236}">
                <a16:creationId xmlns:a16="http://schemas.microsoft.com/office/drawing/2014/main" id="{387D8158-3C3B-4D6F-815B-C53BF74796B8}"/>
              </a:ext>
            </a:extLst>
          </p:cNvPr>
          <p:cNvSpPr/>
          <p:nvPr/>
        </p:nvSpPr>
        <p:spPr>
          <a:xfrm>
            <a:off x="3390900" y="2222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S</a:t>
            </a:r>
            <a:endParaRPr lang="ru-RU">
              <a:solidFill>
                <a:srgbClr val="352379"/>
              </a:solidFill>
              <a:latin typeface="Montserrat"/>
            </a:endParaRPr>
          </a:p>
        </p:txBody>
      </p:sp>
      <p:sp>
        <p:nvSpPr>
          <p:cNvPr id="10" name="text-6-26">
            <a:extLst>
              <a:ext uri="{FF2B5EF4-FFF2-40B4-BE49-F238E27FC236}">
                <a16:creationId xmlns:a16="http://schemas.microsoft.com/office/drawing/2014/main" id="{1036E03A-41B3-46D2-959D-96D0F0413CA6}"/>
              </a:ext>
            </a:extLst>
          </p:cNvPr>
          <p:cNvSpPr txBox="1"/>
          <p:nvPr/>
        </p:nvSpPr>
        <p:spPr bwMode="auto">
          <a:xfrm>
            <a:off x="4533900" y="1620223"/>
            <a:ext cx="3619500" cy="389850"/>
          </a:xfrm>
          <a:prstGeom prst="rect">
            <a:avLst/>
          </a:prstGeom>
        </p:spPr>
        <p:txBody>
          <a:bodyPr vert="horz" wrap="square" lIns="38100" tIns="25400" rIns="38100" bIns="25400" rtlCol="0" anchor="ctr">
            <a:spAutoFit/>
          </a:bodyPr>
          <a:lstStyle/>
          <a:p>
            <a:r>
              <a:rPr lang="ru-RU" sz="2200" b="1">
                <a:solidFill>
                  <a:srgbClr val="352379"/>
                </a:solidFill>
                <a:latin typeface="Montserrat"/>
              </a:rPr>
              <a:t>Дорожная сеть</a:t>
            </a:r>
          </a:p>
        </p:txBody>
      </p:sp>
      <p:cxnSp>
        <p:nvCxnSpPr>
          <p:cNvPr id="11" name="!!domain1-edge-0-1">
            <a:extLst>
              <a:ext uri="{FF2B5EF4-FFF2-40B4-BE49-F238E27FC236}">
                <a16:creationId xmlns:a16="http://schemas.microsoft.com/office/drawing/2014/main" id="{E09F90A9-7661-4525-8142-8522D377421D}"/>
              </a:ext>
            </a:extLst>
          </p:cNvPr>
          <p:cNvCxnSpPr/>
          <p:nvPr/>
        </p:nvCxnSpPr>
        <p:spPr>
          <a:xfrm>
            <a:off x="5467484" y="2876903"/>
            <a:ext cx="431532" cy="16439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domain1-edge-1-2">
            <a:extLst>
              <a:ext uri="{FF2B5EF4-FFF2-40B4-BE49-F238E27FC236}">
                <a16:creationId xmlns:a16="http://schemas.microsoft.com/office/drawing/2014/main" id="{5795894C-A253-433B-8FBA-406A72A278A6}"/>
              </a:ext>
            </a:extLst>
          </p:cNvPr>
          <p:cNvCxnSpPr/>
          <p:nvPr/>
        </p:nvCxnSpPr>
        <p:spPr>
          <a:xfrm flipV="1">
            <a:off x="6802046" y="2874089"/>
            <a:ext cx="454808" cy="17002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3" name="!!domain1-node-0">
            <a:extLst>
              <a:ext uri="{FF2B5EF4-FFF2-40B4-BE49-F238E27FC236}">
                <a16:creationId xmlns:a16="http://schemas.microsoft.com/office/drawing/2014/main" id="{ABF244C0-913B-4584-B189-F3EFDA591BBF}"/>
              </a:ext>
            </a:extLst>
          </p:cNvPr>
          <p:cNvSpPr/>
          <p:nvPr/>
        </p:nvSpPr>
        <p:spPr>
          <a:xfrm>
            <a:off x="4533900" y="2222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A</a:t>
            </a:r>
            <a:endParaRPr lang="ru-RU">
              <a:solidFill>
                <a:srgbClr val="352379"/>
              </a:solidFill>
              <a:latin typeface="Montserrat"/>
            </a:endParaRPr>
          </a:p>
        </p:txBody>
      </p:sp>
      <p:sp>
        <p:nvSpPr>
          <p:cNvPr id="14" name="!!domain1-node-1">
            <a:extLst>
              <a:ext uri="{FF2B5EF4-FFF2-40B4-BE49-F238E27FC236}">
                <a16:creationId xmlns:a16="http://schemas.microsoft.com/office/drawing/2014/main" id="{50867B59-2CC9-4321-8130-58CA43EE135A}"/>
              </a:ext>
            </a:extLst>
          </p:cNvPr>
          <p:cNvSpPr/>
          <p:nvPr/>
        </p:nvSpPr>
        <p:spPr>
          <a:xfrm>
            <a:off x="5867400" y="2730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B</a:t>
            </a:r>
            <a:endParaRPr lang="ru-RU">
              <a:solidFill>
                <a:srgbClr val="352379"/>
              </a:solidFill>
              <a:latin typeface="Montserrat"/>
            </a:endParaRPr>
          </a:p>
        </p:txBody>
      </p:sp>
      <p:sp>
        <p:nvSpPr>
          <p:cNvPr id="15" name="!!domain1-node-2">
            <a:extLst>
              <a:ext uri="{FF2B5EF4-FFF2-40B4-BE49-F238E27FC236}">
                <a16:creationId xmlns:a16="http://schemas.microsoft.com/office/drawing/2014/main" id="{0A6A9BDC-7E1A-4B26-91CB-0443A922420E}"/>
              </a:ext>
            </a:extLst>
          </p:cNvPr>
          <p:cNvSpPr/>
          <p:nvPr/>
        </p:nvSpPr>
        <p:spPr>
          <a:xfrm>
            <a:off x="7226300" y="2222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C</a:t>
            </a:r>
            <a:endParaRPr lang="ru-RU">
              <a:solidFill>
                <a:srgbClr val="352379"/>
              </a:solidFill>
              <a:latin typeface="Montserrat"/>
            </a:endParaRPr>
          </a:p>
        </p:txBody>
      </p:sp>
      <p:sp>
        <p:nvSpPr>
          <p:cNvPr id="16" name="text-12-32">
            <a:extLst>
              <a:ext uri="{FF2B5EF4-FFF2-40B4-BE49-F238E27FC236}">
                <a16:creationId xmlns:a16="http://schemas.microsoft.com/office/drawing/2014/main" id="{FD424AB8-9510-4EEC-A3DB-5F5DFD235E38}"/>
              </a:ext>
            </a:extLst>
          </p:cNvPr>
          <p:cNvSpPr txBox="1"/>
          <p:nvPr/>
        </p:nvSpPr>
        <p:spPr bwMode="auto">
          <a:xfrm>
            <a:off x="8369300" y="1620223"/>
            <a:ext cx="3619500" cy="389850"/>
          </a:xfrm>
          <a:prstGeom prst="rect">
            <a:avLst/>
          </a:prstGeom>
        </p:spPr>
        <p:txBody>
          <a:bodyPr vert="horz" wrap="square" lIns="38100" tIns="25400" rIns="38100" bIns="25400" rtlCol="0" anchor="ctr">
            <a:spAutoFit/>
          </a:bodyPr>
          <a:lstStyle/>
          <a:p>
            <a:r>
              <a:rPr lang="ru-RU" sz="2200" b="1">
                <a:solidFill>
                  <a:srgbClr val="352379"/>
                </a:solidFill>
                <a:latin typeface="Montserrat"/>
              </a:rPr>
              <a:t>Социальная сеть</a:t>
            </a:r>
          </a:p>
        </p:txBody>
      </p:sp>
      <p:cxnSp>
        <p:nvCxnSpPr>
          <p:cNvPr id="17" name="!!domain2-edge-0-1">
            <a:extLst>
              <a:ext uri="{FF2B5EF4-FFF2-40B4-BE49-F238E27FC236}">
                <a16:creationId xmlns:a16="http://schemas.microsoft.com/office/drawing/2014/main" id="{6D74C574-AD40-43F4-8901-2C2A1ACAED15}"/>
              </a:ext>
            </a:extLst>
          </p:cNvPr>
          <p:cNvCxnSpPr/>
          <p:nvPr/>
        </p:nvCxnSpPr>
        <p:spPr>
          <a:xfrm>
            <a:off x="9302884" y="2876903"/>
            <a:ext cx="431532" cy="16439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8" name="!!domain2-edge-1-2">
            <a:extLst>
              <a:ext uri="{FF2B5EF4-FFF2-40B4-BE49-F238E27FC236}">
                <a16:creationId xmlns:a16="http://schemas.microsoft.com/office/drawing/2014/main" id="{A7F78CB9-221C-4DBD-8ED3-8099D85E73FC}"/>
              </a:ext>
            </a:extLst>
          </p:cNvPr>
          <p:cNvCxnSpPr/>
          <p:nvPr/>
        </p:nvCxnSpPr>
        <p:spPr>
          <a:xfrm flipV="1">
            <a:off x="10637446" y="2874089"/>
            <a:ext cx="454808" cy="17002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domain2-node-0">
            <a:extLst>
              <a:ext uri="{FF2B5EF4-FFF2-40B4-BE49-F238E27FC236}">
                <a16:creationId xmlns:a16="http://schemas.microsoft.com/office/drawing/2014/main" id="{DBD3596C-43C0-4FA5-850D-631E1ECD3754}"/>
              </a:ext>
            </a:extLst>
          </p:cNvPr>
          <p:cNvSpPr/>
          <p:nvPr/>
        </p:nvSpPr>
        <p:spPr>
          <a:xfrm>
            <a:off x="8369300" y="2222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dirty="0">
                <a:solidFill>
                  <a:srgbClr val="352379"/>
                </a:solidFill>
                <a:latin typeface="Montserrat"/>
              </a:rPr>
              <a:t>Анна</a:t>
            </a:r>
          </a:p>
        </p:txBody>
      </p:sp>
      <p:sp>
        <p:nvSpPr>
          <p:cNvPr id="20" name="!!domain2-node-1">
            <a:extLst>
              <a:ext uri="{FF2B5EF4-FFF2-40B4-BE49-F238E27FC236}">
                <a16:creationId xmlns:a16="http://schemas.microsoft.com/office/drawing/2014/main" id="{E1FC4353-B5A0-4C1E-B3D1-B9D84A05B58A}"/>
              </a:ext>
            </a:extLst>
          </p:cNvPr>
          <p:cNvSpPr/>
          <p:nvPr/>
        </p:nvSpPr>
        <p:spPr>
          <a:xfrm>
            <a:off x="9702800" y="2730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dirty="0">
                <a:solidFill>
                  <a:srgbClr val="352379"/>
                </a:solidFill>
                <a:latin typeface="Montserrat"/>
              </a:rPr>
              <a:t>Иван</a:t>
            </a:r>
          </a:p>
        </p:txBody>
      </p:sp>
      <p:sp>
        <p:nvSpPr>
          <p:cNvPr id="21" name="!!domain2-node-2">
            <a:extLst>
              <a:ext uri="{FF2B5EF4-FFF2-40B4-BE49-F238E27FC236}">
                <a16:creationId xmlns:a16="http://schemas.microsoft.com/office/drawing/2014/main" id="{159C0688-F14B-4E92-AC62-2EFC0BA3D03D}"/>
              </a:ext>
            </a:extLst>
          </p:cNvPr>
          <p:cNvSpPr/>
          <p:nvPr/>
        </p:nvSpPr>
        <p:spPr>
          <a:xfrm>
            <a:off x="11061700" y="2222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dirty="0">
                <a:solidFill>
                  <a:srgbClr val="352379"/>
                </a:solidFill>
                <a:latin typeface="Montserrat"/>
              </a:rPr>
              <a:t>Олег</a:t>
            </a:r>
          </a:p>
        </p:txBody>
      </p:sp>
      <p:sp>
        <p:nvSpPr>
          <p:cNvPr id="22" name="text-18-38">
            <a:extLst>
              <a:ext uri="{FF2B5EF4-FFF2-40B4-BE49-F238E27FC236}">
                <a16:creationId xmlns:a16="http://schemas.microsoft.com/office/drawing/2014/main" id="{62343FBE-2F0C-4BBE-BA11-A4BF4DB290F1}"/>
              </a:ext>
            </a:extLst>
          </p:cNvPr>
          <p:cNvSpPr txBox="1"/>
          <p:nvPr/>
        </p:nvSpPr>
        <p:spPr bwMode="auto">
          <a:xfrm>
            <a:off x="698500" y="3779223"/>
            <a:ext cx="3619500" cy="389850"/>
          </a:xfrm>
          <a:prstGeom prst="rect">
            <a:avLst/>
          </a:prstGeom>
        </p:spPr>
        <p:txBody>
          <a:bodyPr vert="horz" wrap="square" lIns="38100" tIns="25400" rIns="38100" bIns="25400" rtlCol="0" anchor="ctr">
            <a:spAutoFit/>
          </a:bodyPr>
          <a:lstStyle/>
          <a:p>
            <a:r>
              <a:rPr lang="ru-RU" sz="2200" b="1">
                <a:solidFill>
                  <a:srgbClr val="352379"/>
                </a:solidFill>
                <a:latin typeface="Montserrat"/>
              </a:rPr>
              <a:t>Задачи</a:t>
            </a:r>
          </a:p>
        </p:txBody>
      </p:sp>
      <p:cxnSp>
        <p:nvCxnSpPr>
          <p:cNvPr id="23" name="!!domain3-edge-0-1">
            <a:extLst>
              <a:ext uri="{FF2B5EF4-FFF2-40B4-BE49-F238E27FC236}">
                <a16:creationId xmlns:a16="http://schemas.microsoft.com/office/drawing/2014/main" id="{7E9B22FB-2A6C-417A-963C-DE6702109A3E}"/>
              </a:ext>
            </a:extLst>
          </p:cNvPr>
          <p:cNvCxnSpPr/>
          <p:nvPr/>
        </p:nvCxnSpPr>
        <p:spPr>
          <a:xfrm>
            <a:off x="1632084" y="5035903"/>
            <a:ext cx="431532" cy="16439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4" name="!!domain3-edge-1-2">
            <a:extLst>
              <a:ext uri="{FF2B5EF4-FFF2-40B4-BE49-F238E27FC236}">
                <a16:creationId xmlns:a16="http://schemas.microsoft.com/office/drawing/2014/main" id="{FE8FE4CB-7384-478C-81BD-EDE6D317A00C}"/>
              </a:ext>
            </a:extLst>
          </p:cNvPr>
          <p:cNvCxnSpPr/>
          <p:nvPr/>
        </p:nvCxnSpPr>
        <p:spPr>
          <a:xfrm flipV="1">
            <a:off x="2966646" y="5033089"/>
            <a:ext cx="454808" cy="17002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25" name="!!domain3-node-0">
            <a:extLst>
              <a:ext uri="{FF2B5EF4-FFF2-40B4-BE49-F238E27FC236}">
                <a16:creationId xmlns:a16="http://schemas.microsoft.com/office/drawing/2014/main" id="{3E0E81CE-1711-4B47-831B-D83533CD99AD}"/>
              </a:ext>
            </a:extLst>
          </p:cNvPr>
          <p:cNvSpPr/>
          <p:nvPr/>
        </p:nvSpPr>
        <p:spPr>
          <a:xfrm>
            <a:off x="698500" y="4381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Ввод</a:t>
            </a:r>
          </a:p>
        </p:txBody>
      </p:sp>
      <p:sp>
        <p:nvSpPr>
          <p:cNvPr id="26" name="!!domain3-node-1">
            <a:extLst>
              <a:ext uri="{FF2B5EF4-FFF2-40B4-BE49-F238E27FC236}">
                <a16:creationId xmlns:a16="http://schemas.microsoft.com/office/drawing/2014/main" id="{193D863F-EB07-4FC2-BFC8-D5916E042E68}"/>
              </a:ext>
            </a:extLst>
          </p:cNvPr>
          <p:cNvSpPr/>
          <p:nvPr/>
        </p:nvSpPr>
        <p:spPr>
          <a:xfrm>
            <a:off x="2032000" y="4889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Шаг</a:t>
            </a:r>
          </a:p>
        </p:txBody>
      </p:sp>
      <p:sp>
        <p:nvSpPr>
          <p:cNvPr id="27" name="!!domain3-node-2">
            <a:extLst>
              <a:ext uri="{FF2B5EF4-FFF2-40B4-BE49-F238E27FC236}">
                <a16:creationId xmlns:a16="http://schemas.microsoft.com/office/drawing/2014/main" id="{47B83A1D-7A82-42B3-ADF3-D9E1F394689F}"/>
              </a:ext>
            </a:extLst>
          </p:cNvPr>
          <p:cNvSpPr/>
          <p:nvPr/>
        </p:nvSpPr>
        <p:spPr>
          <a:xfrm>
            <a:off x="3390900" y="4381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dirty="0">
                <a:solidFill>
                  <a:srgbClr val="352379"/>
                </a:solidFill>
                <a:latin typeface="Montserrat"/>
              </a:rPr>
              <a:t>Итог</a:t>
            </a:r>
          </a:p>
        </p:txBody>
      </p:sp>
      <p:sp>
        <p:nvSpPr>
          <p:cNvPr id="28" name="text-24-44">
            <a:extLst>
              <a:ext uri="{FF2B5EF4-FFF2-40B4-BE49-F238E27FC236}">
                <a16:creationId xmlns:a16="http://schemas.microsoft.com/office/drawing/2014/main" id="{981D52D3-CD82-4795-94A4-5A3D1D7889F7}"/>
              </a:ext>
            </a:extLst>
          </p:cNvPr>
          <p:cNvSpPr txBox="1"/>
          <p:nvPr/>
        </p:nvSpPr>
        <p:spPr bwMode="auto">
          <a:xfrm>
            <a:off x="4533900" y="3779223"/>
            <a:ext cx="3619500" cy="389850"/>
          </a:xfrm>
          <a:prstGeom prst="rect">
            <a:avLst/>
          </a:prstGeom>
        </p:spPr>
        <p:txBody>
          <a:bodyPr vert="horz" wrap="square" lIns="38100" tIns="25400" rIns="38100" bIns="25400" rtlCol="0" anchor="ctr">
            <a:spAutoFit/>
          </a:bodyPr>
          <a:lstStyle/>
          <a:p>
            <a:r>
              <a:rPr lang="ru-RU" sz="2200" b="1">
                <a:solidFill>
                  <a:srgbClr val="352379"/>
                </a:solidFill>
                <a:latin typeface="Montserrat"/>
              </a:rPr>
              <a:t>Модули</a:t>
            </a:r>
          </a:p>
        </p:txBody>
      </p:sp>
      <p:cxnSp>
        <p:nvCxnSpPr>
          <p:cNvPr id="29" name="!!domain4-edge-0-1">
            <a:extLst>
              <a:ext uri="{FF2B5EF4-FFF2-40B4-BE49-F238E27FC236}">
                <a16:creationId xmlns:a16="http://schemas.microsoft.com/office/drawing/2014/main" id="{C4E06825-A254-462C-81F4-C388E6B9FA06}"/>
              </a:ext>
            </a:extLst>
          </p:cNvPr>
          <p:cNvCxnSpPr/>
          <p:nvPr/>
        </p:nvCxnSpPr>
        <p:spPr>
          <a:xfrm>
            <a:off x="5467484" y="5035903"/>
            <a:ext cx="431532" cy="16439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0" name="!!domain4-edge-1-2">
            <a:extLst>
              <a:ext uri="{FF2B5EF4-FFF2-40B4-BE49-F238E27FC236}">
                <a16:creationId xmlns:a16="http://schemas.microsoft.com/office/drawing/2014/main" id="{555982F4-BA9E-4D5A-A005-74A9CD8623C9}"/>
              </a:ext>
            </a:extLst>
          </p:cNvPr>
          <p:cNvCxnSpPr/>
          <p:nvPr/>
        </p:nvCxnSpPr>
        <p:spPr>
          <a:xfrm flipV="1">
            <a:off x="6802046" y="5033089"/>
            <a:ext cx="454808" cy="17002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31" name="!!domain4-node-0">
            <a:extLst>
              <a:ext uri="{FF2B5EF4-FFF2-40B4-BE49-F238E27FC236}">
                <a16:creationId xmlns:a16="http://schemas.microsoft.com/office/drawing/2014/main" id="{66DD0205-DE01-4686-88F4-87E8BB0DAE74}"/>
              </a:ext>
            </a:extLst>
          </p:cNvPr>
          <p:cNvSpPr/>
          <p:nvPr/>
        </p:nvSpPr>
        <p:spPr>
          <a:xfrm>
            <a:off x="4533900" y="4381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UI</a:t>
            </a:r>
            <a:endParaRPr lang="ru-RU">
              <a:solidFill>
                <a:srgbClr val="352379"/>
              </a:solidFill>
              <a:latin typeface="Montserrat"/>
            </a:endParaRPr>
          </a:p>
        </p:txBody>
      </p:sp>
      <p:sp>
        <p:nvSpPr>
          <p:cNvPr id="32" name="!!domain4-node-1">
            <a:extLst>
              <a:ext uri="{FF2B5EF4-FFF2-40B4-BE49-F238E27FC236}">
                <a16:creationId xmlns:a16="http://schemas.microsoft.com/office/drawing/2014/main" id="{F013E98D-0C2F-4742-AD19-5A417FE8BBDB}"/>
              </a:ext>
            </a:extLst>
          </p:cNvPr>
          <p:cNvSpPr/>
          <p:nvPr/>
        </p:nvSpPr>
        <p:spPr>
          <a:xfrm>
            <a:off x="5867400" y="4889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a:solidFill>
                  <a:srgbClr val="352379"/>
                </a:solidFill>
                <a:latin typeface="Montserrat"/>
              </a:rPr>
              <a:t>API</a:t>
            </a:r>
            <a:endParaRPr lang="ru-RU">
              <a:solidFill>
                <a:srgbClr val="352379"/>
              </a:solidFill>
              <a:latin typeface="Montserrat"/>
            </a:endParaRPr>
          </a:p>
        </p:txBody>
      </p:sp>
      <p:sp>
        <p:nvSpPr>
          <p:cNvPr id="33" name="!!domain4-node-2">
            <a:extLst>
              <a:ext uri="{FF2B5EF4-FFF2-40B4-BE49-F238E27FC236}">
                <a16:creationId xmlns:a16="http://schemas.microsoft.com/office/drawing/2014/main" id="{4B4A3AE7-61C1-4222-9BCF-5ECB5D7502EB}"/>
              </a:ext>
            </a:extLst>
          </p:cNvPr>
          <p:cNvSpPr/>
          <p:nvPr/>
        </p:nvSpPr>
        <p:spPr>
          <a:xfrm>
            <a:off x="7226300" y="4381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База</a:t>
            </a:r>
          </a:p>
        </p:txBody>
      </p:sp>
      <p:sp>
        <p:nvSpPr>
          <p:cNvPr id="34" name="text-30-50">
            <a:extLst>
              <a:ext uri="{FF2B5EF4-FFF2-40B4-BE49-F238E27FC236}">
                <a16:creationId xmlns:a16="http://schemas.microsoft.com/office/drawing/2014/main" id="{B51E0065-ED84-43C1-9B66-C6395D94610D}"/>
              </a:ext>
            </a:extLst>
          </p:cNvPr>
          <p:cNvSpPr txBox="1"/>
          <p:nvPr/>
        </p:nvSpPr>
        <p:spPr bwMode="auto">
          <a:xfrm>
            <a:off x="8369300" y="3779223"/>
            <a:ext cx="3619500" cy="389850"/>
          </a:xfrm>
          <a:prstGeom prst="rect">
            <a:avLst/>
          </a:prstGeom>
        </p:spPr>
        <p:txBody>
          <a:bodyPr vert="horz" wrap="square" lIns="38100" tIns="25400" rIns="38100" bIns="25400" rtlCol="0" anchor="ctr">
            <a:spAutoFit/>
          </a:bodyPr>
          <a:lstStyle/>
          <a:p>
            <a:r>
              <a:rPr lang="ru-RU" sz="2200" b="1">
                <a:solidFill>
                  <a:srgbClr val="352379"/>
                </a:solidFill>
                <a:latin typeface="Montserrat"/>
              </a:rPr>
              <a:t>Инфраструктура</a:t>
            </a:r>
          </a:p>
        </p:txBody>
      </p:sp>
      <p:cxnSp>
        <p:nvCxnSpPr>
          <p:cNvPr id="35" name="!!domain5-edge-0-1">
            <a:extLst>
              <a:ext uri="{FF2B5EF4-FFF2-40B4-BE49-F238E27FC236}">
                <a16:creationId xmlns:a16="http://schemas.microsoft.com/office/drawing/2014/main" id="{8EF7F9E7-F88A-4B71-8C8D-5BC36B1BDFF4}"/>
              </a:ext>
            </a:extLst>
          </p:cNvPr>
          <p:cNvCxnSpPr/>
          <p:nvPr/>
        </p:nvCxnSpPr>
        <p:spPr>
          <a:xfrm>
            <a:off x="9302884" y="5035903"/>
            <a:ext cx="431532" cy="16439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6" name="!!domain5-edge-1-2">
            <a:extLst>
              <a:ext uri="{FF2B5EF4-FFF2-40B4-BE49-F238E27FC236}">
                <a16:creationId xmlns:a16="http://schemas.microsoft.com/office/drawing/2014/main" id="{B05E3C2E-3E10-44CA-8875-1FCF22A50D54}"/>
              </a:ext>
            </a:extLst>
          </p:cNvPr>
          <p:cNvCxnSpPr/>
          <p:nvPr/>
        </p:nvCxnSpPr>
        <p:spPr>
          <a:xfrm flipV="1">
            <a:off x="10637446" y="5033089"/>
            <a:ext cx="454808" cy="17002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37" name="!!domain5-node-0">
            <a:extLst>
              <a:ext uri="{FF2B5EF4-FFF2-40B4-BE49-F238E27FC236}">
                <a16:creationId xmlns:a16="http://schemas.microsoft.com/office/drawing/2014/main" id="{87A626DA-736D-4B9B-9ADA-6A12435F4D72}"/>
              </a:ext>
            </a:extLst>
          </p:cNvPr>
          <p:cNvSpPr/>
          <p:nvPr/>
        </p:nvSpPr>
        <p:spPr>
          <a:xfrm>
            <a:off x="8369300" y="4381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Узел</a:t>
            </a:r>
          </a:p>
        </p:txBody>
      </p:sp>
      <p:sp>
        <p:nvSpPr>
          <p:cNvPr id="38" name="!!domain5-node-1">
            <a:extLst>
              <a:ext uri="{FF2B5EF4-FFF2-40B4-BE49-F238E27FC236}">
                <a16:creationId xmlns:a16="http://schemas.microsoft.com/office/drawing/2014/main" id="{837FDBBB-774C-4E05-B777-37B700870561}"/>
              </a:ext>
            </a:extLst>
          </p:cNvPr>
          <p:cNvSpPr/>
          <p:nvPr/>
        </p:nvSpPr>
        <p:spPr>
          <a:xfrm>
            <a:off x="9702800" y="4889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ЛЭП</a:t>
            </a:r>
          </a:p>
        </p:txBody>
      </p:sp>
      <p:sp>
        <p:nvSpPr>
          <p:cNvPr id="39" name="!!domain5-node-2">
            <a:extLst>
              <a:ext uri="{FF2B5EF4-FFF2-40B4-BE49-F238E27FC236}">
                <a16:creationId xmlns:a16="http://schemas.microsoft.com/office/drawing/2014/main" id="{77E92AD7-97C3-4E74-99B6-0E0F613C1119}"/>
              </a:ext>
            </a:extLst>
          </p:cNvPr>
          <p:cNvSpPr/>
          <p:nvPr/>
        </p:nvSpPr>
        <p:spPr>
          <a:xfrm>
            <a:off x="11061700" y="4381500"/>
            <a:ext cx="965200" cy="965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Узел</a:t>
            </a:r>
          </a:p>
        </p:txBody>
      </p:sp>
      <p:sp>
        <p:nvSpPr>
          <p:cNvPr id="40" name="box-36-56">
            <a:extLst>
              <a:ext uri="{FF2B5EF4-FFF2-40B4-BE49-F238E27FC236}">
                <a16:creationId xmlns:a16="http://schemas.microsoft.com/office/drawing/2014/main" id="{7525D62D-D26D-4B74-91F5-4051AE885304}"/>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37-57">
            <a:extLst>
              <a:ext uri="{FF2B5EF4-FFF2-40B4-BE49-F238E27FC236}">
                <a16:creationId xmlns:a16="http://schemas.microsoft.com/office/drawing/2014/main" id="{08E68258-3BAE-49D2-8ACF-C0FEB72D4D1D}"/>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Вершины — объекты. Рёбра — связи или зависимости.</a:t>
            </a:r>
          </a:p>
        </p:txBody>
      </p:sp>
      <p:sp>
        <p:nvSpPr>
          <p:cNvPr id="42" name="lecture-footer">
            <a:extLst>
              <a:ext uri="{FF2B5EF4-FFF2-40B4-BE49-F238E27FC236}">
                <a16:creationId xmlns:a16="http://schemas.microsoft.com/office/drawing/2014/main" id="{068CE528-B7C1-4FA3-BF72-0F5C4BBC1DA4}"/>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43" name="slide-number">
            <a:extLst>
              <a:ext uri="{FF2B5EF4-FFF2-40B4-BE49-F238E27FC236}">
                <a16:creationId xmlns:a16="http://schemas.microsoft.com/office/drawing/2014/main" id="{96551391-A0A0-4B04-8DA6-782A9670DD9B}"/>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a:t>
            </a:r>
          </a:p>
        </p:txBody>
      </p:sp>
    </p:spTree>
    <p:extLst>
      <p:ext uri="{BB962C8B-B14F-4D97-AF65-F5344CB8AC3E}">
        <p14:creationId xmlns:p14="http://schemas.microsoft.com/office/powerpoint/2010/main" val="4262038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Что такое граф</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text-0-58">
            <a:extLst>
              <a:ext uri="{FF2B5EF4-FFF2-40B4-BE49-F238E27FC236}">
                <a16:creationId xmlns:a16="http://schemas.microsoft.com/office/drawing/2014/main" id="{4E3E8A3C-4E35-4D42-983F-2ED390BA314D}"/>
              </a:ext>
            </a:extLst>
          </p:cNvPr>
          <p:cNvSpPr txBox="1"/>
          <p:nvPr/>
        </p:nvSpPr>
        <p:spPr bwMode="auto">
          <a:xfrm>
            <a:off x="698500" y="1233101"/>
            <a:ext cx="10668000" cy="605294"/>
          </a:xfrm>
          <a:prstGeom prst="rect">
            <a:avLst/>
          </a:prstGeom>
        </p:spPr>
        <p:txBody>
          <a:bodyPr vert="horz" wrap="square" lIns="38100" tIns="25400" rIns="38100" bIns="25400" rtlCol="0" anchor="ctr">
            <a:spAutoFit/>
          </a:bodyPr>
          <a:lstStyle/>
          <a:p>
            <a:r>
              <a:rPr lang="en-US" sz="3600" b="1">
                <a:solidFill>
                  <a:srgbClr val="352379"/>
                </a:solidFill>
                <a:latin typeface="Montserrat"/>
              </a:rPr>
              <a:t>G = (V, E)</a:t>
            </a:r>
            <a:endParaRPr lang="ru-RU" sz="3600" b="1">
              <a:solidFill>
                <a:srgbClr val="352379"/>
              </a:solidFill>
              <a:latin typeface="Montserrat"/>
            </a:endParaRPr>
          </a:p>
        </p:txBody>
      </p:sp>
      <p:sp>
        <p:nvSpPr>
          <p:cNvPr id="4" name="text-1-59">
            <a:extLst>
              <a:ext uri="{FF2B5EF4-FFF2-40B4-BE49-F238E27FC236}">
                <a16:creationId xmlns:a16="http://schemas.microsoft.com/office/drawing/2014/main" id="{D2076075-BCB7-43BD-90A4-F11CB337CF22}"/>
              </a:ext>
            </a:extLst>
          </p:cNvPr>
          <p:cNvSpPr txBox="1"/>
          <p:nvPr/>
        </p:nvSpPr>
        <p:spPr bwMode="auto">
          <a:xfrm>
            <a:off x="889000" y="2176334"/>
            <a:ext cx="4953000" cy="420628"/>
          </a:xfrm>
          <a:prstGeom prst="rect">
            <a:avLst/>
          </a:prstGeom>
        </p:spPr>
        <p:txBody>
          <a:bodyPr vert="horz" wrap="square" lIns="38100" tIns="25400" rIns="38100" bIns="25400" rtlCol="0" anchor="ctr">
            <a:spAutoFit/>
          </a:bodyPr>
          <a:lstStyle/>
          <a:p>
            <a:r>
              <a:rPr lang="ru-RU" sz="2400" b="1">
                <a:solidFill>
                  <a:srgbClr val="352379"/>
                </a:solidFill>
                <a:latin typeface="Montserrat"/>
              </a:rPr>
              <a:t>Неориентированный</a:t>
            </a:r>
          </a:p>
        </p:txBody>
      </p:sp>
      <p:sp>
        <p:nvSpPr>
          <p:cNvPr id="5" name="text-2-60">
            <a:extLst>
              <a:ext uri="{FF2B5EF4-FFF2-40B4-BE49-F238E27FC236}">
                <a16:creationId xmlns:a16="http://schemas.microsoft.com/office/drawing/2014/main" id="{C7165524-8DA4-4BD6-8FCE-ABDC8655CB73}"/>
              </a:ext>
            </a:extLst>
          </p:cNvPr>
          <p:cNvSpPr txBox="1"/>
          <p:nvPr/>
        </p:nvSpPr>
        <p:spPr bwMode="auto">
          <a:xfrm>
            <a:off x="6540500" y="2176334"/>
            <a:ext cx="5080000" cy="420628"/>
          </a:xfrm>
          <a:prstGeom prst="rect">
            <a:avLst/>
          </a:prstGeom>
        </p:spPr>
        <p:txBody>
          <a:bodyPr vert="horz" wrap="square" lIns="38100" tIns="25400" rIns="38100" bIns="25400" rtlCol="0" anchor="ctr">
            <a:spAutoFit/>
          </a:bodyPr>
          <a:lstStyle/>
          <a:p>
            <a:r>
              <a:rPr lang="ru-RU" sz="2400" b="1">
                <a:solidFill>
                  <a:srgbClr val="352379"/>
                </a:solidFill>
                <a:latin typeface="Montserrat"/>
              </a:rPr>
              <a:t>Ориентированный</a:t>
            </a:r>
          </a:p>
        </p:txBody>
      </p:sp>
      <p:cxnSp>
        <p:nvCxnSpPr>
          <p:cNvPr id="6" name="!!und-edge-u-v">
            <a:extLst>
              <a:ext uri="{FF2B5EF4-FFF2-40B4-BE49-F238E27FC236}">
                <a16:creationId xmlns:a16="http://schemas.microsoft.com/office/drawing/2014/main" id="{6C830D6E-A45D-4BEB-95F8-190C9E09D701}"/>
              </a:ext>
            </a:extLst>
          </p:cNvPr>
          <p:cNvCxnSpPr/>
          <p:nvPr/>
        </p:nvCxnSpPr>
        <p:spPr>
          <a:xfrm flipV="1">
            <a:off x="1565514" y="3354594"/>
            <a:ext cx="1186972" cy="46631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und-edge-v-w">
            <a:extLst>
              <a:ext uri="{FF2B5EF4-FFF2-40B4-BE49-F238E27FC236}">
                <a16:creationId xmlns:a16="http://schemas.microsoft.com/office/drawing/2014/main" id="{1287D228-9DA9-4A24-8C71-2136005B600F}"/>
              </a:ext>
            </a:extLst>
          </p:cNvPr>
          <p:cNvCxnSpPr/>
          <p:nvPr/>
        </p:nvCxnSpPr>
        <p:spPr>
          <a:xfrm>
            <a:off x="3306360" y="3423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und-edge-u-w">
            <a:extLst>
              <a:ext uri="{FF2B5EF4-FFF2-40B4-BE49-F238E27FC236}">
                <a16:creationId xmlns:a16="http://schemas.microsoft.com/office/drawing/2014/main" id="{959DA627-C307-4295-9A24-F9DB5B0681CE}"/>
              </a:ext>
            </a:extLst>
          </p:cNvPr>
          <p:cNvCxnSpPr/>
          <p:nvPr/>
        </p:nvCxnSpPr>
        <p:spPr>
          <a:xfrm>
            <a:off x="1583477" y="3987380"/>
            <a:ext cx="2929046" cy="47074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0" name="!!und-node-u">
            <a:extLst>
              <a:ext uri="{FF2B5EF4-FFF2-40B4-BE49-F238E27FC236}">
                <a16:creationId xmlns:a16="http://schemas.microsoft.com/office/drawing/2014/main" id="{38C59382-090E-4A32-96E8-9262CF8ED3DE}"/>
              </a:ext>
            </a:extLst>
          </p:cNvPr>
          <p:cNvSpPr/>
          <p:nvPr/>
        </p:nvSpPr>
        <p:spPr>
          <a:xfrm>
            <a:off x="952500" y="3619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u</a:t>
            </a:r>
            <a:endParaRPr lang="ru-RU" sz="2200">
              <a:solidFill>
                <a:srgbClr val="352379"/>
              </a:solidFill>
              <a:latin typeface="Montserrat"/>
            </a:endParaRPr>
          </a:p>
        </p:txBody>
      </p:sp>
      <p:sp>
        <p:nvSpPr>
          <p:cNvPr id="11" name="!!und-node-v">
            <a:extLst>
              <a:ext uri="{FF2B5EF4-FFF2-40B4-BE49-F238E27FC236}">
                <a16:creationId xmlns:a16="http://schemas.microsoft.com/office/drawing/2014/main" id="{E55DDE9C-488A-4AB3-AF33-D48B2DC0E4B2}"/>
              </a:ext>
            </a:extLst>
          </p:cNvPr>
          <p:cNvSpPr/>
          <p:nvPr/>
        </p:nvSpPr>
        <p:spPr>
          <a:xfrm>
            <a:off x="2730500" y="2921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v</a:t>
            </a:r>
            <a:endParaRPr lang="ru-RU" sz="2200">
              <a:solidFill>
                <a:srgbClr val="352379"/>
              </a:solidFill>
              <a:latin typeface="Montserrat"/>
            </a:endParaRPr>
          </a:p>
        </p:txBody>
      </p:sp>
      <p:sp>
        <p:nvSpPr>
          <p:cNvPr id="12" name="!!und-node-w">
            <a:extLst>
              <a:ext uri="{FF2B5EF4-FFF2-40B4-BE49-F238E27FC236}">
                <a16:creationId xmlns:a16="http://schemas.microsoft.com/office/drawing/2014/main" id="{589E3C16-182A-41DF-9665-7F5D22E4072E}"/>
              </a:ext>
            </a:extLst>
          </p:cNvPr>
          <p:cNvSpPr/>
          <p:nvPr/>
        </p:nvSpPr>
        <p:spPr>
          <a:xfrm>
            <a:off x="4508500" y="4191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w</a:t>
            </a:r>
            <a:endParaRPr lang="ru-RU" sz="2200">
              <a:solidFill>
                <a:srgbClr val="352379"/>
              </a:solidFill>
              <a:latin typeface="Montserrat"/>
            </a:endParaRPr>
          </a:p>
        </p:txBody>
      </p:sp>
      <p:cxnSp>
        <p:nvCxnSpPr>
          <p:cNvPr id="13" name="!!dir-edge-u-v">
            <a:extLst>
              <a:ext uri="{FF2B5EF4-FFF2-40B4-BE49-F238E27FC236}">
                <a16:creationId xmlns:a16="http://schemas.microsoft.com/office/drawing/2014/main" id="{019B7179-2128-49DF-957B-2F20D1986185}"/>
              </a:ext>
            </a:extLst>
          </p:cNvPr>
          <p:cNvCxnSpPr/>
          <p:nvPr/>
        </p:nvCxnSpPr>
        <p:spPr>
          <a:xfrm flipV="1">
            <a:off x="7280514" y="3354594"/>
            <a:ext cx="1186972" cy="46631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dir-edge-v-w">
            <a:extLst>
              <a:ext uri="{FF2B5EF4-FFF2-40B4-BE49-F238E27FC236}">
                <a16:creationId xmlns:a16="http://schemas.microsoft.com/office/drawing/2014/main" id="{E4C72512-DDC4-4368-8843-F28576E276AD}"/>
              </a:ext>
            </a:extLst>
          </p:cNvPr>
          <p:cNvCxnSpPr/>
          <p:nvPr/>
        </p:nvCxnSpPr>
        <p:spPr>
          <a:xfrm>
            <a:off x="9021360" y="3423043"/>
            <a:ext cx="1261280" cy="9009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5" name="!!dir-edge-u-w">
            <a:extLst>
              <a:ext uri="{FF2B5EF4-FFF2-40B4-BE49-F238E27FC236}">
                <a16:creationId xmlns:a16="http://schemas.microsoft.com/office/drawing/2014/main" id="{1CEF1D51-8B26-4ADF-A3E2-0313DBA26BF5}"/>
              </a:ext>
            </a:extLst>
          </p:cNvPr>
          <p:cNvCxnSpPr/>
          <p:nvPr/>
        </p:nvCxnSpPr>
        <p:spPr>
          <a:xfrm>
            <a:off x="7298478" y="3987380"/>
            <a:ext cx="2929044" cy="47074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6" name="!!dir-node-u">
            <a:extLst>
              <a:ext uri="{FF2B5EF4-FFF2-40B4-BE49-F238E27FC236}">
                <a16:creationId xmlns:a16="http://schemas.microsoft.com/office/drawing/2014/main" id="{14602184-1312-41B9-9154-7E04A3F46ED0}"/>
              </a:ext>
            </a:extLst>
          </p:cNvPr>
          <p:cNvSpPr/>
          <p:nvPr/>
        </p:nvSpPr>
        <p:spPr>
          <a:xfrm>
            <a:off x="6667500" y="3619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u</a:t>
            </a:r>
            <a:endParaRPr lang="ru-RU" sz="2200">
              <a:solidFill>
                <a:srgbClr val="352379"/>
              </a:solidFill>
              <a:latin typeface="Montserrat"/>
            </a:endParaRPr>
          </a:p>
        </p:txBody>
      </p:sp>
      <p:sp>
        <p:nvSpPr>
          <p:cNvPr id="17" name="!!dir-node-v">
            <a:extLst>
              <a:ext uri="{FF2B5EF4-FFF2-40B4-BE49-F238E27FC236}">
                <a16:creationId xmlns:a16="http://schemas.microsoft.com/office/drawing/2014/main" id="{AACEE65E-007C-48D6-AD45-3DBA82B09142}"/>
              </a:ext>
            </a:extLst>
          </p:cNvPr>
          <p:cNvSpPr/>
          <p:nvPr/>
        </p:nvSpPr>
        <p:spPr>
          <a:xfrm>
            <a:off x="8445500" y="2921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v</a:t>
            </a:r>
            <a:endParaRPr lang="ru-RU" sz="2200">
              <a:solidFill>
                <a:srgbClr val="352379"/>
              </a:solidFill>
              <a:latin typeface="Montserrat"/>
            </a:endParaRPr>
          </a:p>
        </p:txBody>
      </p:sp>
      <p:sp>
        <p:nvSpPr>
          <p:cNvPr id="18" name="!!dir-node-w">
            <a:extLst>
              <a:ext uri="{FF2B5EF4-FFF2-40B4-BE49-F238E27FC236}">
                <a16:creationId xmlns:a16="http://schemas.microsoft.com/office/drawing/2014/main" id="{9C32D9CA-B43A-4026-A37D-CF1D9BD8AC7A}"/>
              </a:ext>
            </a:extLst>
          </p:cNvPr>
          <p:cNvSpPr/>
          <p:nvPr/>
        </p:nvSpPr>
        <p:spPr>
          <a:xfrm>
            <a:off x="10223500" y="4191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w</a:t>
            </a:r>
            <a:endParaRPr lang="ru-RU" sz="2200">
              <a:solidFill>
                <a:srgbClr val="352379"/>
              </a:solidFill>
              <a:latin typeface="Montserrat"/>
            </a:endParaRPr>
          </a:p>
        </p:txBody>
      </p:sp>
      <p:sp>
        <p:nvSpPr>
          <p:cNvPr id="19" name="box-15-73">
            <a:extLst>
              <a:ext uri="{FF2B5EF4-FFF2-40B4-BE49-F238E27FC236}">
                <a16:creationId xmlns:a16="http://schemas.microsoft.com/office/drawing/2014/main" id="{5866A48E-2AFC-4822-A70E-2F0722C32879}"/>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text-16-74">
            <a:extLst>
              <a:ext uri="{FF2B5EF4-FFF2-40B4-BE49-F238E27FC236}">
                <a16:creationId xmlns:a16="http://schemas.microsoft.com/office/drawing/2014/main" id="{931A19A0-B45F-4D63-883A-EC8FE243465A}"/>
              </a:ext>
            </a:extLst>
          </p:cNvPr>
          <p:cNvSpPr txBox="1"/>
          <p:nvPr/>
        </p:nvSpPr>
        <p:spPr bwMode="auto">
          <a:xfrm>
            <a:off x="660400" y="5969000"/>
            <a:ext cx="10871200" cy="457200"/>
          </a:xfrm>
          <a:prstGeom prst="rect">
            <a:avLst/>
          </a:prstGeom>
        </p:spPr>
        <p:txBody>
          <a:bodyPr vert="horz" wrap="square" lIns="38100" tIns="25400" rIns="38100" bIns="25400" rtlCol="0" anchor="ctr">
            <a:noAutofit/>
          </a:bodyPr>
          <a:lstStyle/>
          <a:p>
            <a:r>
              <a:rPr lang="ru-RU" sz="2200">
                <a:solidFill>
                  <a:srgbClr val="FFFFFF"/>
                </a:solidFill>
                <a:latin typeface="Montserrat"/>
              </a:rPr>
              <a:t>Граф — это множество вершин и рёбер, соединяющих некоторые пары вершин.</a:t>
            </a:r>
          </a:p>
        </p:txBody>
      </p:sp>
      <p:sp>
        <p:nvSpPr>
          <p:cNvPr id="21" name="lecture-footer">
            <a:extLst>
              <a:ext uri="{FF2B5EF4-FFF2-40B4-BE49-F238E27FC236}">
                <a16:creationId xmlns:a16="http://schemas.microsoft.com/office/drawing/2014/main" id="{07B6C925-6723-4053-8C3B-95DA3CB0031D}"/>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2" name="slide-number">
            <a:extLst>
              <a:ext uri="{FF2B5EF4-FFF2-40B4-BE49-F238E27FC236}">
                <a16:creationId xmlns:a16="http://schemas.microsoft.com/office/drawing/2014/main" id="{890FABF7-85A4-40BF-B612-50286010873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a:t>
            </a:r>
          </a:p>
        </p:txBody>
      </p:sp>
    </p:spTree>
    <p:extLst>
      <p:ext uri="{BB962C8B-B14F-4D97-AF65-F5344CB8AC3E}">
        <p14:creationId xmlns:p14="http://schemas.microsoft.com/office/powerpoint/2010/main" val="108248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Как хранить граф</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repr-edge-1-2">
            <a:extLst>
              <a:ext uri="{FF2B5EF4-FFF2-40B4-BE49-F238E27FC236}">
                <a16:creationId xmlns:a16="http://schemas.microsoft.com/office/drawing/2014/main" id="{0A6C696D-FD21-4497-B54A-685F8A2E5922}"/>
              </a:ext>
            </a:extLst>
          </p:cNvPr>
          <p:cNvCxnSpPr/>
          <p:nvPr/>
        </p:nvCxnSpPr>
        <p:spPr>
          <a:xfrm flipV="1">
            <a:off x="1477895" y="2387276"/>
            <a:ext cx="1235210" cy="7499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repr-edge-1-3">
            <a:extLst>
              <a:ext uri="{FF2B5EF4-FFF2-40B4-BE49-F238E27FC236}">
                <a16:creationId xmlns:a16="http://schemas.microsoft.com/office/drawing/2014/main" id="{A00DD49D-FE18-428F-8185-1E19ED70FBE0}"/>
              </a:ext>
            </a:extLst>
          </p:cNvPr>
          <p:cNvCxnSpPr/>
          <p:nvPr/>
        </p:nvCxnSpPr>
        <p:spPr>
          <a:xfrm>
            <a:off x="1469224" y="3480277"/>
            <a:ext cx="1252553" cy="84994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repr-edge-2-4">
            <a:extLst>
              <a:ext uri="{FF2B5EF4-FFF2-40B4-BE49-F238E27FC236}">
                <a16:creationId xmlns:a16="http://schemas.microsoft.com/office/drawing/2014/main" id="{6861CA65-C5F2-42CE-B1A0-329347C68EA4}"/>
              </a:ext>
            </a:extLst>
          </p:cNvPr>
          <p:cNvCxnSpPr/>
          <p:nvPr/>
        </p:nvCxnSpPr>
        <p:spPr>
          <a:xfrm>
            <a:off x="3250238" y="2396252"/>
            <a:ext cx="1119524" cy="73199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repr-edge-3-4">
            <a:extLst>
              <a:ext uri="{FF2B5EF4-FFF2-40B4-BE49-F238E27FC236}">
                <a16:creationId xmlns:a16="http://schemas.microsoft.com/office/drawing/2014/main" id="{1E8C796A-36CD-4C6A-A78C-40283AFC8E5C}"/>
              </a:ext>
            </a:extLst>
          </p:cNvPr>
          <p:cNvCxnSpPr/>
          <p:nvPr/>
        </p:nvCxnSpPr>
        <p:spPr>
          <a:xfrm flipV="1">
            <a:off x="3240847" y="3489330"/>
            <a:ext cx="1138306" cy="83184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8" name="!!repr-node-1">
            <a:extLst>
              <a:ext uri="{FF2B5EF4-FFF2-40B4-BE49-F238E27FC236}">
                <a16:creationId xmlns:a16="http://schemas.microsoft.com/office/drawing/2014/main" id="{A45DCA01-3CDA-46D1-858D-EEDEE097929D}"/>
              </a:ext>
            </a:extLst>
          </p:cNvPr>
          <p:cNvSpPr/>
          <p:nvPr/>
        </p:nvSpPr>
        <p:spPr>
          <a:xfrm>
            <a:off x="889000" y="298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9" name="!!repr-node-2">
            <a:extLst>
              <a:ext uri="{FF2B5EF4-FFF2-40B4-BE49-F238E27FC236}">
                <a16:creationId xmlns:a16="http://schemas.microsoft.com/office/drawing/2014/main" id="{13A890A0-A8DF-431F-84A7-B1954E7A3CAA}"/>
              </a:ext>
            </a:extLst>
          </p:cNvPr>
          <p:cNvSpPr/>
          <p:nvPr/>
        </p:nvSpPr>
        <p:spPr>
          <a:xfrm>
            <a:off x="2667000" y="1905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0" name="!!repr-node-3">
            <a:extLst>
              <a:ext uri="{FF2B5EF4-FFF2-40B4-BE49-F238E27FC236}">
                <a16:creationId xmlns:a16="http://schemas.microsoft.com/office/drawing/2014/main" id="{46209D31-86C1-4EE4-A023-73AB68ED1680}"/>
              </a:ext>
            </a:extLst>
          </p:cNvPr>
          <p:cNvSpPr/>
          <p:nvPr/>
        </p:nvSpPr>
        <p:spPr>
          <a:xfrm>
            <a:off x="2667000" y="4191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1" name="!!repr-node-4">
            <a:extLst>
              <a:ext uri="{FF2B5EF4-FFF2-40B4-BE49-F238E27FC236}">
                <a16:creationId xmlns:a16="http://schemas.microsoft.com/office/drawing/2014/main" id="{A0222DAA-2226-4D8E-A371-03DD3D6F28E4}"/>
              </a:ext>
            </a:extLst>
          </p:cNvPr>
          <p:cNvSpPr/>
          <p:nvPr/>
        </p:nvSpPr>
        <p:spPr>
          <a:xfrm>
            <a:off x="4318000" y="298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2" name="text-8-83">
            <a:extLst>
              <a:ext uri="{FF2B5EF4-FFF2-40B4-BE49-F238E27FC236}">
                <a16:creationId xmlns:a16="http://schemas.microsoft.com/office/drawing/2014/main" id="{9B051AB2-96C7-45C1-A15F-CE3AEFE57AC4}"/>
              </a:ext>
            </a:extLst>
          </p:cNvPr>
          <p:cNvSpPr txBox="1"/>
          <p:nvPr/>
        </p:nvSpPr>
        <p:spPr bwMode="auto">
          <a:xfrm>
            <a:off x="5270500" y="1549028"/>
            <a:ext cx="3111500" cy="405239"/>
          </a:xfrm>
          <a:prstGeom prst="rect">
            <a:avLst/>
          </a:prstGeom>
        </p:spPr>
        <p:txBody>
          <a:bodyPr vert="horz" wrap="square" lIns="38100" tIns="25400" rIns="38100" bIns="25400" rtlCol="0" anchor="ctr">
            <a:noAutofit/>
          </a:bodyPr>
          <a:lstStyle/>
          <a:p>
            <a:pPr algn="ctr"/>
            <a:r>
              <a:rPr lang="ru-RU" sz="2300" b="1">
                <a:solidFill>
                  <a:srgbClr val="352379"/>
                </a:solidFill>
                <a:latin typeface="Montserrat"/>
              </a:rPr>
              <a:t>Матрица смежности</a:t>
            </a:r>
          </a:p>
        </p:txBody>
      </p:sp>
      <p:graphicFrame>
        <p:nvGraphicFramePr>
          <p:cNvPr id="13" name="table-9-84">
            <a:extLst>
              <a:ext uri="{FF2B5EF4-FFF2-40B4-BE49-F238E27FC236}">
                <a16:creationId xmlns:a16="http://schemas.microsoft.com/office/drawing/2014/main" id="{A607614C-8BF2-4E62-B746-A30217F40706}"/>
              </a:ext>
            </a:extLst>
          </p:cNvPr>
          <p:cNvGraphicFramePr>
            <a:graphicFrameLocks noGrp="1"/>
          </p:cNvGraphicFramePr>
          <p:nvPr>
            <p:extLst>
              <p:ext uri="{D42A27DB-BD31-4B8C-83A1-F6EECF244321}">
                <p14:modId xmlns:p14="http://schemas.microsoft.com/office/powerpoint/2010/main" val="2001751482"/>
              </p:ext>
            </p:extLst>
          </p:nvPr>
        </p:nvGraphicFramePr>
        <p:xfrm>
          <a:off x="5588000" y="2159000"/>
          <a:ext cx="2476500" cy="3048000"/>
        </p:xfrm>
        <a:graphic>
          <a:graphicData uri="http://schemas.openxmlformats.org/drawingml/2006/table">
            <a:tbl>
              <a:tblPr firstRow="1" bandRow="1">
                <a:tableStyleId>{0E3FDE45-AF77-4B5C-9715-49D594BDF05E}</a:tableStyleId>
              </a:tblPr>
              <a:tblGrid>
                <a:gridCol w="495300">
                  <a:extLst>
                    <a:ext uri="{9D8B030D-6E8A-4147-A177-3AD203B41FA5}">
                      <a16:colId xmlns:a16="http://schemas.microsoft.com/office/drawing/2014/main" val="3494389279"/>
                    </a:ext>
                  </a:extLst>
                </a:gridCol>
                <a:gridCol w="495300">
                  <a:extLst>
                    <a:ext uri="{9D8B030D-6E8A-4147-A177-3AD203B41FA5}">
                      <a16:colId xmlns:a16="http://schemas.microsoft.com/office/drawing/2014/main" val="335118264"/>
                    </a:ext>
                  </a:extLst>
                </a:gridCol>
                <a:gridCol w="495300">
                  <a:extLst>
                    <a:ext uri="{9D8B030D-6E8A-4147-A177-3AD203B41FA5}">
                      <a16:colId xmlns:a16="http://schemas.microsoft.com/office/drawing/2014/main" val="1298895189"/>
                    </a:ext>
                  </a:extLst>
                </a:gridCol>
                <a:gridCol w="495300">
                  <a:extLst>
                    <a:ext uri="{9D8B030D-6E8A-4147-A177-3AD203B41FA5}">
                      <a16:colId xmlns:a16="http://schemas.microsoft.com/office/drawing/2014/main" val="413546014"/>
                    </a:ext>
                  </a:extLst>
                </a:gridCol>
                <a:gridCol w="495300">
                  <a:extLst>
                    <a:ext uri="{9D8B030D-6E8A-4147-A177-3AD203B41FA5}">
                      <a16:colId xmlns:a16="http://schemas.microsoft.com/office/drawing/2014/main" val="2212549240"/>
                    </a:ext>
                  </a:extLst>
                </a:gridCol>
              </a:tblGrid>
              <a:tr h="609600">
                <a:tc>
                  <a:txBody>
                    <a:bodyPr/>
                    <a:lstStyle/>
                    <a:p>
                      <a:pPr algn="l">
                        <a:spcBef>
                          <a:spcPts val="0"/>
                        </a:spcBef>
                        <a:spcAft>
                          <a:spcPts val="0"/>
                        </a:spcAft>
                        <a:buFontTx/>
                        <a:buNone/>
                      </a:pPr>
                      <a:endParaRPr lang="ru-RU" sz="1800" b="1">
                        <a:solidFill>
                          <a:srgbClr val="FFFFFF"/>
                        </a:solidFill>
                        <a:latin typeface="Montserrat"/>
                      </a:endParaRP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1800" b="1">
                          <a:solidFill>
                            <a:srgbClr val="FFFFFF"/>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1800" b="1">
                          <a:solidFill>
                            <a:srgbClr val="FFFFFF"/>
                          </a:solidFill>
                          <a:latin typeface="Montserrat"/>
                        </a:rPr>
                        <a:t>2</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1800" b="1">
                          <a:solidFill>
                            <a:srgbClr val="FFFFFF"/>
                          </a:solidFill>
                          <a:latin typeface="Montserrat"/>
                        </a:rPr>
                        <a:t>3</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1800" b="1">
                          <a:solidFill>
                            <a:srgbClr val="FFFFFF"/>
                          </a:solidFill>
                          <a:latin typeface="Montserrat"/>
                        </a:rPr>
                        <a:t>4</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352379"/>
                    </a:solidFill>
                  </a:tcPr>
                </a:tc>
                <a:extLst>
                  <a:ext uri="{0D108BD9-81ED-4DB2-BD59-A6C34878D82A}">
                    <a16:rowId xmlns:a16="http://schemas.microsoft.com/office/drawing/2014/main" val="2613800360"/>
                  </a:ext>
                </a:extLst>
              </a:tr>
              <a:tr h="609600">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928416260"/>
                  </a:ext>
                </a:extLst>
              </a:tr>
              <a:tr h="609600">
                <a:tc>
                  <a:txBody>
                    <a:bodyPr/>
                    <a:lstStyle/>
                    <a:p>
                      <a:pPr algn="l">
                        <a:spcBef>
                          <a:spcPts val="0"/>
                        </a:spcBef>
                        <a:spcAft>
                          <a:spcPts val="0"/>
                        </a:spcAft>
                        <a:buFontTx/>
                        <a:buNone/>
                      </a:pPr>
                      <a:r>
                        <a:rPr lang="ru-RU" sz="1800" b="0">
                          <a:solidFill>
                            <a:srgbClr val="352379"/>
                          </a:solidFill>
                          <a:latin typeface="Montserrat"/>
                        </a:rPr>
                        <a:t>2</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865733098"/>
                  </a:ext>
                </a:extLst>
              </a:tr>
              <a:tr h="609600">
                <a:tc>
                  <a:txBody>
                    <a:bodyPr/>
                    <a:lstStyle/>
                    <a:p>
                      <a:pPr algn="l">
                        <a:spcBef>
                          <a:spcPts val="0"/>
                        </a:spcBef>
                        <a:spcAft>
                          <a:spcPts val="0"/>
                        </a:spcAft>
                        <a:buFontTx/>
                        <a:buNone/>
                      </a:pPr>
                      <a:r>
                        <a:rPr lang="ru-RU" sz="1800" b="0">
                          <a:solidFill>
                            <a:srgbClr val="352379"/>
                          </a:solidFill>
                          <a:latin typeface="Montserrat"/>
                        </a:rPr>
                        <a:t>3</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2419048406"/>
                  </a:ext>
                </a:extLst>
              </a:tr>
              <a:tr h="609600">
                <a:tc>
                  <a:txBody>
                    <a:bodyPr/>
                    <a:lstStyle/>
                    <a:p>
                      <a:pPr algn="l">
                        <a:spcBef>
                          <a:spcPts val="0"/>
                        </a:spcBef>
                        <a:spcAft>
                          <a:spcPts val="0"/>
                        </a:spcAft>
                        <a:buFontTx/>
                        <a:buNone/>
                      </a:pPr>
                      <a:r>
                        <a:rPr lang="ru-RU" sz="1800" b="0">
                          <a:solidFill>
                            <a:srgbClr val="352379"/>
                          </a:solidFill>
                          <a:latin typeface="Montserrat"/>
                        </a:rPr>
                        <a:t>4</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1</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1800" b="0">
                          <a:solidFill>
                            <a:srgbClr val="352379"/>
                          </a:solidFill>
                          <a:latin typeface="Montserrat"/>
                        </a:rPr>
                        <a:t>0</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982568617"/>
                  </a:ext>
                </a:extLst>
              </a:tr>
            </a:tbl>
          </a:graphicData>
        </a:graphic>
      </p:graphicFrame>
      <p:sp>
        <p:nvSpPr>
          <p:cNvPr id="14" name="text-10-85">
            <a:extLst>
              <a:ext uri="{FF2B5EF4-FFF2-40B4-BE49-F238E27FC236}">
                <a16:creationId xmlns:a16="http://schemas.microsoft.com/office/drawing/2014/main" id="{3A9C47DD-0BE5-4A66-BB82-65625463D5F1}"/>
              </a:ext>
            </a:extLst>
          </p:cNvPr>
          <p:cNvSpPr txBox="1"/>
          <p:nvPr/>
        </p:nvSpPr>
        <p:spPr bwMode="auto">
          <a:xfrm>
            <a:off x="8572500" y="1549028"/>
            <a:ext cx="3111500" cy="405239"/>
          </a:xfrm>
          <a:prstGeom prst="rect">
            <a:avLst/>
          </a:prstGeom>
        </p:spPr>
        <p:txBody>
          <a:bodyPr vert="horz" wrap="square" lIns="38100" tIns="25400" rIns="38100" bIns="25400" rtlCol="0" anchor="ctr">
            <a:noAutofit/>
          </a:bodyPr>
          <a:lstStyle/>
          <a:p>
            <a:pPr algn="ctr"/>
            <a:r>
              <a:rPr lang="ru-RU" sz="2300" b="1">
                <a:solidFill>
                  <a:srgbClr val="352379"/>
                </a:solidFill>
                <a:latin typeface="Montserrat"/>
              </a:rPr>
              <a:t>Список смежности</a:t>
            </a:r>
          </a:p>
        </p:txBody>
      </p:sp>
      <p:sp>
        <p:nvSpPr>
          <p:cNvPr id="15" name="text-11-86">
            <a:extLst>
              <a:ext uri="{FF2B5EF4-FFF2-40B4-BE49-F238E27FC236}">
                <a16:creationId xmlns:a16="http://schemas.microsoft.com/office/drawing/2014/main" id="{2E86F92D-D348-4BF3-866D-D19E9093371D}"/>
              </a:ext>
            </a:extLst>
          </p:cNvPr>
          <p:cNvSpPr txBox="1"/>
          <p:nvPr/>
        </p:nvSpPr>
        <p:spPr bwMode="auto">
          <a:xfrm>
            <a:off x="8636000" y="2165331"/>
            <a:ext cx="2921000" cy="1467068"/>
          </a:xfrm>
          <a:prstGeom prst="rect">
            <a:avLst/>
          </a:prstGeom>
        </p:spPr>
        <p:txBody>
          <a:bodyPr vert="horz" wrap="square" lIns="38100" tIns="25400" rIns="38100" bIns="25400" rtlCol="0" anchor="ctr">
            <a:spAutoFit/>
          </a:bodyPr>
          <a:lstStyle/>
          <a:p>
            <a:r>
              <a:rPr lang="ru-RU" sz="2300">
                <a:solidFill>
                  <a:srgbClr val="352379"/>
                </a:solidFill>
                <a:latin typeface="Montserrat"/>
              </a:rPr>
              <a:t>1: [2, 3]</a:t>
            </a:r>
          </a:p>
          <a:p>
            <a:r>
              <a:rPr lang="ru-RU" sz="2300">
                <a:solidFill>
                  <a:srgbClr val="352379"/>
                </a:solidFill>
                <a:latin typeface="Montserrat"/>
              </a:rPr>
              <a:t>2: [1, 4]</a:t>
            </a:r>
          </a:p>
          <a:p>
            <a:r>
              <a:rPr lang="ru-RU" sz="2300">
                <a:solidFill>
                  <a:srgbClr val="352379"/>
                </a:solidFill>
                <a:latin typeface="Montserrat"/>
              </a:rPr>
              <a:t>3: [1, 4]</a:t>
            </a:r>
          </a:p>
          <a:p>
            <a:r>
              <a:rPr lang="ru-RU" sz="2300">
                <a:solidFill>
                  <a:srgbClr val="352379"/>
                </a:solidFill>
                <a:latin typeface="Montserrat"/>
              </a:rPr>
              <a:t>4: [2, 3]</a:t>
            </a:r>
          </a:p>
        </p:txBody>
      </p:sp>
      <p:sp>
        <p:nvSpPr>
          <p:cNvPr id="16" name="box-12-87">
            <a:extLst>
              <a:ext uri="{FF2B5EF4-FFF2-40B4-BE49-F238E27FC236}">
                <a16:creationId xmlns:a16="http://schemas.microsoft.com/office/drawing/2014/main" id="{008EBB1E-6CEC-4AF3-A00A-00CE1EDA32A0}"/>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88">
            <a:extLst>
              <a:ext uri="{FF2B5EF4-FFF2-40B4-BE49-F238E27FC236}">
                <a16:creationId xmlns:a16="http://schemas.microsoft.com/office/drawing/2014/main" id="{209B33E0-07E3-4D8E-851A-07B69F57778E}"/>
              </a:ext>
            </a:extLst>
          </p:cNvPr>
          <p:cNvSpPr txBox="1"/>
          <p:nvPr/>
        </p:nvSpPr>
        <p:spPr bwMode="auto">
          <a:xfrm>
            <a:off x="660400" y="5968999"/>
            <a:ext cx="10871200" cy="457200"/>
          </a:xfrm>
          <a:prstGeom prst="rect">
            <a:avLst/>
          </a:prstGeom>
        </p:spPr>
        <p:txBody>
          <a:bodyPr vert="horz" wrap="square" lIns="38100" tIns="25400" rIns="38100" bIns="25400" rtlCol="0" anchor="ctr">
            <a:noAutofit/>
          </a:bodyPr>
          <a:lstStyle/>
          <a:p>
            <a:r>
              <a:rPr lang="ru-RU" sz="2100" dirty="0">
                <a:solidFill>
                  <a:srgbClr val="FFFFFF"/>
                </a:solidFill>
                <a:latin typeface="Montserrat"/>
              </a:rPr>
              <a:t>Дальше используем список смежности: память O(V + E).</a:t>
            </a:r>
          </a:p>
        </p:txBody>
      </p:sp>
      <p:sp>
        <p:nvSpPr>
          <p:cNvPr id="18" name="lecture-footer">
            <a:extLst>
              <a:ext uri="{FF2B5EF4-FFF2-40B4-BE49-F238E27FC236}">
                <a16:creationId xmlns:a16="http://schemas.microsoft.com/office/drawing/2014/main" id="{1E203614-89D5-4262-A53E-11E253F4CFAA}"/>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9" name="slide-number">
            <a:extLst>
              <a:ext uri="{FF2B5EF4-FFF2-40B4-BE49-F238E27FC236}">
                <a16:creationId xmlns:a16="http://schemas.microsoft.com/office/drawing/2014/main" id="{9F291EAB-75C0-4C8A-A59B-606A29928FFD}"/>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a:t>
            </a:r>
          </a:p>
        </p:txBody>
      </p:sp>
    </p:spTree>
    <p:extLst>
      <p:ext uri="{BB962C8B-B14F-4D97-AF65-F5344CB8AC3E}">
        <p14:creationId xmlns:p14="http://schemas.microsoft.com/office/powerpoint/2010/main" val="1913136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BFS: очередь ведёт по уровням</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C302820D-1153-4205-AAA2-0E0AE838AA82}"/>
              </a:ext>
            </a:extLst>
          </p:cNvPr>
          <p:cNvCxnSpPr/>
          <p:nvPr/>
        </p:nvCxnSpPr>
        <p:spPr>
          <a:xfrm flipV="1">
            <a:off x="1377190" y="2278310"/>
            <a:ext cx="1284220" cy="9043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B9AE04A0-FD90-4873-9D58-355276F6685A}"/>
              </a:ext>
            </a:extLst>
          </p:cNvPr>
          <p:cNvCxnSpPr/>
          <p:nvPr/>
        </p:nvCxnSpPr>
        <p:spPr>
          <a:xfrm>
            <a:off x="1377190" y="3548310"/>
            <a:ext cx="1284220" cy="9043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0E8F0865-D709-42E6-BBF1-EE9F7AEA77C0}"/>
              </a:ext>
            </a:extLst>
          </p:cNvPr>
          <p:cNvCxnSpPr/>
          <p:nvPr/>
        </p:nvCxnSpPr>
        <p:spPr>
          <a:xfrm flipV="1">
            <a:off x="3229020" y="1728005"/>
            <a:ext cx="1161960" cy="29049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B-E">
            <a:extLst>
              <a:ext uri="{FF2B5EF4-FFF2-40B4-BE49-F238E27FC236}">
                <a16:creationId xmlns:a16="http://schemas.microsoft.com/office/drawing/2014/main" id="{AB58203E-1435-4F92-8913-331F972FBC96}"/>
              </a:ext>
            </a:extLst>
          </p:cNvPr>
          <p:cNvCxnSpPr/>
          <p:nvPr/>
        </p:nvCxnSpPr>
        <p:spPr>
          <a:xfrm>
            <a:off x="3179360" y="2280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C-E">
            <a:extLst>
              <a:ext uri="{FF2B5EF4-FFF2-40B4-BE49-F238E27FC236}">
                <a16:creationId xmlns:a16="http://schemas.microsoft.com/office/drawing/2014/main" id="{08E2D082-87D6-4FE3-BFB3-70288F16324C}"/>
              </a:ext>
            </a:extLst>
          </p:cNvPr>
          <p:cNvCxnSpPr/>
          <p:nvPr/>
        </p:nvCxnSpPr>
        <p:spPr>
          <a:xfrm flipV="1">
            <a:off x="3179360" y="3550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C-F">
            <a:extLst>
              <a:ext uri="{FF2B5EF4-FFF2-40B4-BE49-F238E27FC236}">
                <a16:creationId xmlns:a16="http://schemas.microsoft.com/office/drawing/2014/main" id="{0BBE7527-3381-4DE2-B45C-7695EEC2C279}"/>
              </a:ext>
            </a:extLst>
          </p:cNvPr>
          <p:cNvCxnSpPr/>
          <p:nvPr/>
        </p:nvCxnSpPr>
        <p:spPr>
          <a:xfrm>
            <a:off x="3220003" y="4742287"/>
            <a:ext cx="1179994" cy="42142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D-G">
            <a:extLst>
              <a:ext uri="{FF2B5EF4-FFF2-40B4-BE49-F238E27FC236}">
                <a16:creationId xmlns:a16="http://schemas.microsoft.com/office/drawing/2014/main" id="{5C8B2589-3038-4F1A-90AD-9CCB8B04E6F1}"/>
              </a:ext>
            </a:extLst>
          </p:cNvPr>
          <p:cNvCxnSpPr/>
          <p:nvPr/>
        </p:nvCxnSpPr>
        <p:spPr>
          <a:xfrm>
            <a:off x="4996285" y="1762482"/>
            <a:ext cx="1437430" cy="5390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1" name="!!g-edge-E-G">
            <a:extLst>
              <a:ext uri="{FF2B5EF4-FFF2-40B4-BE49-F238E27FC236}">
                <a16:creationId xmlns:a16="http://schemas.microsoft.com/office/drawing/2014/main" id="{F2325380-696A-4CD4-B7E8-2439E899C259}"/>
              </a:ext>
            </a:extLst>
          </p:cNvPr>
          <p:cNvCxnSpPr/>
          <p:nvPr/>
        </p:nvCxnSpPr>
        <p:spPr>
          <a:xfrm flipV="1">
            <a:off x="4986483" y="2547758"/>
            <a:ext cx="1457034" cy="6829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2" name="!!g-edge-E-H">
            <a:extLst>
              <a:ext uri="{FF2B5EF4-FFF2-40B4-BE49-F238E27FC236}">
                <a16:creationId xmlns:a16="http://schemas.microsoft.com/office/drawing/2014/main" id="{3CB7C09E-27FB-4DE1-BCA0-6644BBD35616}"/>
              </a:ext>
            </a:extLst>
          </p:cNvPr>
          <p:cNvCxnSpPr/>
          <p:nvPr/>
        </p:nvCxnSpPr>
        <p:spPr>
          <a:xfrm>
            <a:off x="4982981" y="3507490"/>
            <a:ext cx="1464038" cy="73202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3" name="!!g-edge-F-H">
            <a:extLst>
              <a:ext uri="{FF2B5EF4-FFF2-40B4-BE49-F238E27FC236}">
                <a16:creationId xmlns:a16="http://schemas.microsoft.com/office/drawing/2014/main" id="{BE661904-7777-4680-9FF0-F19EFAD83EB7}"/>
              </a:ext>
            </a:extLst>
          </p:cNvPr>
          <p:cNvCxnSpPr/>
          <p:nvPr/>
        </p:nvCxnSpPr>
        <p:spPr>
          <a:xfrm flipV="1">
            <a:off x="4989880" y="4508760"/>
            <a:ext cx="1450240" cy="6344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4" name="!!g-node-A">
            <a:extLst>
              <a:ext uri="{FF2B5EF4-FFF2-40B4-BE49-F238E27FC236}">
                <a16:creationId xmlns:a16="http://schemas.microsoft.com/office/drawing/2014/main" id="{8C59E706-3DB7-42A3-9828-F0AE94357040}"/>
              </a:ext>
            </a:extLst>
          </p:cNvPr>
          <p:cNvSpPr/>
          <p:nvPr/>
        </p:nvSpPr>
        <p:spPr>
          <a:xfrm>
            <a:off x="8001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5" name="!!g-node-B">
            <a:extLst>
              <a:ext uri="{FF2B5EF4-FFF2-40B4-BE49-F238E27FC236}">
                <a16:creationId xmlns:a16="http://schemas.microsoft.com/office/drawing/2014/main" id="{B8CF5D26-3E5D-46CF-AA1D-9F0954289F14}"/>
              </a:ext>
            </a:extLst>
          </p:cNvPr>
          <p:cNvSpPr/>
          <p:nvPr/>
        </p:nvSpPr>
        <p:spPr>
          <a:xfrm>
            <a:off x="2603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6" name="!!g-node-C">
            <a:extLst>
              <a:ext uri="{FF2B5EF4-FFF2-40B4-BE49-F238E27FC236}">
                <a16:creationId xmlns:a16="http://schemas.microsoft.com/office/drawing/2014/main" id="{608BBB4B-F203-4CB8-ACBD-5B853AB15F08}"/>
              </a:ext>
            </a:extLst>
          </p:cNvPr>
          <p:cNvSpPr/>
          <p:nvPr/>
        </p:nvSpPr>
        <p:spPr>
          <a:xfrm>
            <a:off x="2603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7" name="!!g-node-D">
            <a:extLst>
              <a:ext uri="{FF2B5EF4-FFF2-40B4-BE49-F238E27FC236}">
                <a16:creationId xmlns:a16="http://schemas.microsoft.com/office/drawing/2014/main" id="{B35ADF70-0D61-4EE1-B011-256F693BA2C9}"/>
              </a:ext>
            </a:extLst>
          </p:cNvPr>
          <p:cNvSpPr/>
          <p:nvPr/>
        </p:nvSpPr>
        <p:spPr>
          <a:xfrm>
            <a:off x="4381500" y="1333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8" name="!!g-node-E">
            <a:extLst>
              <a:ext uri="{FF2B5EF4-FFF2-40B4-BE49-F238E27FC236}">
                <a16:creationId xmlns:a16="http://schemas.microsoft.com/office/drawing/2014/main" id="{EEBFDFAC-BEFC-4D61-8642-B71FACD1845E}"/>
              </a:ext>
            </a:extLst>
          </p:cNvPr>
          <p:cNvSpPr/>
          <p:nvPr/>
        </p:nvSpPr>
        <p:spPr>
          <a:xfrm>
            <a:off x="43815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9" name="!!g-node-F">
            <a:extLst>
              <a:ext uri="{FF2B5EF4-FFF2-40B4-BE49-F238E27FC236}">
                <a16:creationId xmlns:a16="http://schemas.microsoft.com/office/drawing/2014/main" id="{998D0924-CCF7-47E6-9A90-CBD2C4EFC748}"/>
              </a:ext>
            </a:extLst>
          </p:cNvPr>
          <p:cNvSpPr/>
          <p:nvPr/>
        </p:nvSpPr>
        <p:spPr>
          <a:xfrm>
            <a:off x="4381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20" name="!!g-node-G">
            <a:extLst>
              <a:ext uri="{FF2B5EF4-FFF2-40B4-BE49-F238E27FC236}">
                <a16:creationId xmlns:a16="http://schemas.microsoft.com/office/drawing/2014/main" id="{D15CA823-13F6-44A1-B147-2029D857714A}"/>
              </a:ext>
            </a:extLst>
          </p:cNvPr>
          <p:cNvSpPr/>
          <p:nvPr/>
        </p:nvSpPr>
        <p:spPr>
          <a:xfrm>
            <a:off x="64135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21" name="!!g-node-H">
            <a:extLst>
              <a:ext uri="{FF2B5EF4-FFF2-40B4-BE49-F238E27FC236}">
                <a16:creationId xmlns:a16="http://schemas.microsoft.com/office/drawing/2014/main" id="{F6290E3C-E3B4-4401-B7E6-A145D4C44E2B}"/>
              </a:ext>
            </a:extLst>
          </p:cNvPr>
          <p:cNvSpPr/>
          <p:nvPr/>
        </p:nvSpPr>
        <p:spPr>
          <a:xfrm>
            <a:off x="6413500" y="4064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22" name="box-18-107">
            <a:extLst>
              <a:ext uri="{FF2B5EF4-FFF2-40B4-BE49-F238E27FC236}">
                <a16:creationId xmlns:a16="http://schemas.microsoft.com/office/drawing/2014/main" id="{1FBE246C-102A-4410-AF06-BFE0C711C2B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box-19-108">
            <a:extLst>
              <a:ext uri="{FF2B5EF4-FFF2-40B4-BE49-F238E27FC236}">
                <a16:creationId xmlns:a16="http://schemas.microsoft.com/office/drawing/2014/main" id="{8145BA63-0EDB-47CB-9915-5288429F08C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20-109">
            <a:extLst>
              <a:ext uri="{FF2B5EF4-FFF2-40B4-BE49-F238E27FC236}">
                <a16:creationId xmlns:a16="http://schemas.microsoft.com/office/drawing/2014/main" id="{9EF2E7D6-6E68-4672-8082-527EE0FEBA7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Очередь </a:t>
            </a:r>
            <a:r>
              <a:rPr lang="en-US" sz="2100">
                <a:solidFill>
                  <a:srgbClr val="FFFFFF"/>
                </a:solidFill>
                <a:latin typeface="Montserrat"/>
              </a:rPr>
              <a:t>FIFO</a:t>
            </a:r>
            <a:endParaRPr lang="ru-RU" sz="2100">
              <a:solidFill>
                <a:srgbClr val="FFFFFF"/>
              </a:solidFill>
              <a:latin typeface="Montserrat"/>
            </a:endParaRPr>
          </a:p>
        </p:txBody>
      </p:sp>
      <p:sp>
        <p:nvSpPr>
          <p:cNvPr id="25" name="text-21-110">
            <a:extLst>
              <a:ext uri="{FF2B5EF4-FFF2-40B4-BE49-F238E27FC236}">
                <a16:creationId xmlns:a16="http://schemas.microsoft.com/office/drawing/2014/main" id="{2D14AEF0-2E99-4DA0-8BC3-F3B632FD8D6B}"/>
              </a:ext>
            </a:extLst>
          </p:cNvPr>
          <p:cNvSpPr txBox="1"/>
          <p:nvPr/>
        </p:nvSpPr>
        <p:spPr bwMode="auto">
          <a:xfrm>
            <a:off x="8153400" y="2520931"/>
            <a:ext cx="3340100" cy="1744067"/>
          </a:xfrm>
          <a:prstGeom prst="rect">
            <a:avLst/>
          </a:prstGeom>
        </p:spPr>
        <p:txBody>
          <a:bodyPr vert="horz" wrap="square" lIns="38100" tIns="25400" rIns="38100" bIns="25400" rtlCol="0" anchor="ctr">
            <a:spAutoFit/>
          </a:bodyPr>
          <a:lstStyle/>
          <a:p>
            <a:r>
              <a:rPr lang="pt-BR" sz="2200">
                <a:solidFill>
                  <a:srgbClr val="352379"/>
                </a:solidFill>
                <a:latin typeface="Montserrat"/>
              </a:rPr>
              <a:t>Старт: A</a:t>
            </a:r>
          </a:p>
          <a:p>
            <a:endParaRPr lang="pt-BR" sz="2200">
              <a:solidFill>
                <a:srgbClr val="352379"/>
              </a:solidFill>
              <a:latin typeface="Montserrat"/>
            </a:endParaRPr>
          </a:p>
          <a:p>
            <a:r>
              <a:rPr lang="pt-BR" sz="2200">
                <a:solidFill>
                  <a:srgbClr val="352379"/>
                </a:solidFill>
                <a:latin typeface="Montserrat"/>
              </a:rPr>
              <a:t>queue = [A]</a:t>
            </a:r>
          </a:p>
          <a:p>
            <a:endParaRPr lang="pt-BR" sz="2200">
              <a:solidFill>
                <a:srgbClr val="352379"/>
              </a:solidFill>
              <a:latin typeface="Montserrat"/>
            </a:endParaRPr>
          </a:p>
          <a:p>
            <a:r>
              <a:rPr lang="pt-BR" sz="2200">
                <a:solidFill>
                  <a:srgbClr val="352379"/>
                </a:solidFill>
                <a:latin typeface="Montserrat"/>
              </a:rPr>
              <a:t>visited = {A}</a:t>
            </a:r>
            <a:endParaRPr lang="ru-RU" sz="2200">
              <a:solidFill>
                <a:srgbClr val="352379"/>
              </a:solidFill>
              <a:latin typeface="Montserrat"/>
            </a:endParaRPr>
          </a:p>
        </p:txBody>
      </p:sp>
      <p:sp>
        <p:nvSpPr>
          <p:cNvPr id="26" name="box-22-111">
            <a:extLst>
              <a:ext uri="{FF2B5EF4-FFF2-40B4-BE49-F238E27FC236}">
                <a16:creationId xmlns:a16="http://schemas.microsoft.com/office/drawing/2014/main" id="{170F041D-2104-4179-B546-9A4EB4E037FD}"/>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112">
            <a:extLst>
              <a:ext uri="{FF2B5EF4-FFF2-40B4-BE49-F238E27FC236}">
                <a16:creationId xmlns:a16="http://schemas.microsoft.com/office/drawing/2014/main" id="{1AFE0122-C3AB-4A87-8C42-FC429157FB6C}"/>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Сначала все вершины уровня 1, затем уровня 2, затем 3.</a:t>
            </a:r>
          </a:p>
        </p:txBody>
      </p:sp>
      <p:grpSp>
        <p:nvGrpSpPr>
          <p:cNvPr id="33" name="animation-stage-1">
            <a:extLst>
              <a:ext uri="{FF2B5EF4-FFF2-40B4-BE49-F238E27FC236}">
                <a16:creationId xmlns:a16="http://schemas.microsoft.com/office/drawing/2014/main" id="{2B34308F-3E6C-4CED-9CA8-505C69CA7836}"/>
              </a:ext>
            </a:extLst>
          </p:cNvPr>
          <p:cNvGrpSpPr/>
          <p:nvPr/>
        </p:nvGrpSpPr>
        <p:grpSpPr>
          <a:xfrm>
            <a:off x="800100" y="1816100"/>
            <a:ext cx="10909300" cy="3657600"/>
            <a:chOff x="800100" y="1816100"/>
            <a:chExt cx="10909300" cy="3657600"/>
          </a:xfrm>
        </p:grpSpPr>
        <p:sp>
          <p:nvSpPr>
            <p:cNvPr id="28" name="active-node-A-113">
              <a:extLst>
                <a:ext uri="{FF2B5EF4-FFF2-40B4-BE49-F238E27FC236}">
                  <a16:creationId xmlns:a16="http://schemas.microsoft.com/office/drawing/2014/main" id="{93F1E5F7-C898-40F7-8E11-EE3E69E7065A}"/>
                </a:ext>
              </a:extLst>
            </p:cNvPr>
            <p:cNvSpPr/>
            <p:nvPr/>
          </p:nvSpPr>
          <p:spPr>
            <a:xfrm>
              <a:off x="8001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29" name="box-1-114">
              <a:extLst>
                <a:ext uri="{FF2B5EF4-FFF2-40B4-BE49-F238E27FC236}">
                  <a16:creationId xmlns:a16="http://schemas.microsoft.com/office/drawing/2014/main" id="{511ADC3D-C08E-4FAC-95CA-1945233B0BF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box-2-115">
              <a:extLst>
                <a:ext uri="{FF2B5EF4-FFF2-40B4-BE49-F238E27FC236}">
                  <a16:creationId xmlns:a16="http://schemas.microsoft.com/office/drawing/2014/main" id="{6593D83F-DA69-4045-A95E-47BA5B77FC5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3-116">
              <a:extLst>
                <a:ext uri="{FF2B5EF4-FFF2-40B4-BE49-F238E27FC236}">
                  <a16:creationId xmlns:a16="http://schemas.microsoft.com/office/drawing/2014/main" id="{78EE94B3-2A79-48C3-A0AF-09189B7D5AA6}"/>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Начинаем с </a:t>
              </a:r>
              <a:r>
                <a:rPr lang="en-US" sz="2100">
                  <a:solidFill>
                    <a:srgbClr val="FFFFFF"/>
                  </a:solidFill>
                  <a:latin typeface="Montserrat"/>
                </a:rPr>
                <a:t>A</a:t>
              </a:r>
              <a:endParaRPr lang="ru-RU" sz="2100">
                <a:solidFill>
                  <a:srgbClr val="FFFFFF"/>
                </a:solidFill>
                <a:latin typeface="Montserrat"/>
              </a:endParaRPr>
            </a:p>
          </p:txBody>
        </p:sp>
        <p:sp>
          <p:nvSpPr>
            <p:cNvPr id="32" name="text-4-117">
              <a:extLst>
                <a:ext uri="{FF2B5EF4-FFF2-40B4-BE49-F238E27FC236}">
                  <a16:creationId xmlns:a16="http://schemas.microsoft.com/office/drawing/2014/main" id="{586BD179-14AE-4178-9D62-B6C8333476BB}"/>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pt-BR" sz="2100">
                  <a:solidFill>
                    <a:srgbClr val="352379"/>
                  </a:solidFill>
                  <a:latin typeface="Montserrat"/>
                </a:rPr>
                <a:t>Текущая: A</a:t>
              </a:r>
            </a:p>
            <a:p>
              <a:endParaRPr lang="pt-BR" sz="2100">
                <a:solidFill>
                  <a:srgbClr val="352379"/>
                </a:solidFill>
                <a:latin typeface="Montserrat"/>
              </a:endParaRPr>
            </a:p>
            <a:p>
              <a:r>
                <a:rPr lang="pt-BR" sz="2100">
                  <a:solidFill>
                    <a:srgbClr val="352379"/>
                  </a:solidFill>
                  <a:latin typeface="Montserrat"/>
                </a:rPr>
                <a:t>queue = [A]</a:t>
              </a:r>
            </a:p>
            <a:p>
              <a:endParaRPr lang="pt-BR" sz="2100">
                <a:solidFill>
                  <a:srgbClr val="352379"/>
                </a:solidFill>
                <a:latin typeface="Montserrat"/>
              </a:endParaRPr>
            </a:p>
            <a:p>
              <a:r>
                <a:rPr lang="pt-BR" sz="2100">
                  <a:solidFill>
                    <a:srgbClr val="352379"/>
                  </a:solidFill>
                  <a:latin typeface="Montserrat"/>
                </a:rPr>
                <a:t>d[A] = 0</a:t>
              </a:r>
              <a:endParaRPr lang="ru-RU" sz="2100">
                <a:solidFill>
                  <a:srgbClr val="352379"/>
                </a:solidFill>
                <a:latin typeface="Montserrat"/>
              </a:endParaRPr>
            </a:p>
          </p:txBody>
        </p:sp>
      </p:grpSp>
      <p:sp>
        <p:nvSpPr>
          <p:cNvPr id="34" name="lecture-footer">
            <a:extLst>
              <a:ext uri="{FF2B5EF4-FFF2-40B4-BE49-F238E27FC236}">
                <a16:creationId xmlns:a16="http://schemas.microsoft.com/office/drawing/2014/main" id="{D4D6C01C-FCB7-4C14-AF3C-FD70AACDB4E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5" name="slide-number">
            <a:extLst>
              <a:ext uri="{FF2B5EF4-FFF2-40B4-BE49-F238E27FC236}">
                <a16:creationId xmlns:a16="http://schemas.microsoft.com/office/drawing/2014/main" id="{E5855C86-E540-425E-8C8A-9EDE1048FB6B}"/>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a:t>
            </a:r>
          </a:p>
        </p:txBody>
      </p:sp>
    </p:spTree>
    <p:extLst>
      <p:ext uri="{BB962C8B-B14F-4D97-AF65-F5344CB8AC3E}">
        <p14:creationId xmlns:p14="http://schemas.microsoft.com/office/powerpoint/2010/main" val="234783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2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en-US">
                <a:latin typeface="Montserrat SemiBold"/>
              </a:rPr>
              <a:t>BFS: </a:t>
            </a:r>
            <a:r>
              <a:rPr lang="ru-RU">
                <a:latin typeface="Montserrat SemiBold"/>
              </a:rPr>
              <a:t>обход по уровням</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EB8DB149-44B7-4D68-A768-1CBCAF1DE9DE}"/>
              </a:ext>
            </a:extLst>
          </p:cNvPr>
          <p:cNvCxnSpPr/>
          <p:nvPr/>
        </p:nvCxnSpPr>
        <p:spPr>
          <a:xfrm flipV="1">
            <a:off x="1377190" y="2278310"/>
            <a:ext cx="1284220" cy="9043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9E536D97-D776-4977-B00F-85EF3161EFAC}"/>
              </a:ext>
            </a:extLst>
          </p:cNvPr>
          <p:cNvCxnSpPr/>
          <p:nvPr/>
        </p:nvCxnSpPr>
        <p:spPr>
          <a:xfrm>
            <a:off x="1377190" y="3548310"/>
            <a:ext cx="1284220" cy="9043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BB3847E9-3EC6-4BE7-AEF1-3F3A04C2058A}"/>
              </a:ext>
            </a:extLst>
          </p:cNvPr>
          <p:cNvCxnSpPr/>
          <p:nvPr/>
        </p:nvCxnSpPr>
        <p:spPr>
          <a:xfrm flipV="1">
            <a:off x="3229020" y="1728005"/>
            <a:ext cx="1161960" cy="29049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B-E">
            <a:extLst>
              <a:ext uri="{FF2B5EF4-FFF2-40B4-BE49-F238E27FC236}">
                <a16:creationId xmlns:a16="http://schemas.microsoft.com/office/drawing/2014/main" id="{6C4E01E6-5914-49E1-8505-BFA343CD66DB}"/>
              </a:ext>
            </a:extLst>
          </p:cNvPr>
          <p:cNvCxnSpPr/>
          <p:nvPr/>
        </p:nvCxnSpPr>
        <p:spPr>
          <a:xfrm>
            <a:off x="3179360" y="2280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C-E">
            <a:extLst>
              <a:ext uri="{FF2B5EF4-FFF2-40B4-BE49-F238E27FC236}">
                <a16:creationId xmlns:a16="http://schemas.microsoft.com/office/drawing/2014/main" id="{30AEA278-B10A-446D-B24C-3A6BB3B10DC7}"/>
              </a:ext>
            </a:extLst>
          </p:cNvPr>
          <p:cNvCxnSpPr/>
          <p:nvPr/>
        </p:nvCxnSpPr>
        <p:spPr>
          <a:xfrm flipV="1">
            <a:off x="3179360" y="3550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C-F">
            <a:extLst>
              <a:ext uri="{FF2B5EF4-FFF2-40B4-BE49-F238E27FC236}">
                <a16:creationId xmlns:a16="http://schemas.microsoft.com/office/drawing/2014/main" id="{AFEB3BA4-0016-4912-A482-E1110207C5F7}"/>
              </a:ext>
            </a:extLst>
          </p:cNvPr>
          <p:cNvCxnSpPr/>
          <p:nvPr/>
        </p:nvCxnSpPr>
        <p:spPr>
          <a:xfrm>
            <a:off x="3220003" y="4742287"/>
            <a:ext cx="1179994" cy="42142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D-G">
            <a:extLst>
              <a:ext uri="{FF2B5EF4-FFF2-40B4-BE49-F238E27FC236}">
                <a16:creationId xmlns:a16="http://schemas.microsoft.com/office/drawing/2014/main" id="{F90514B0-0DF2-434A-A4BD-37C50A589377}"/>
              </a:ext>
            </a:extLst>
          </p:cNvPr>
          <p:cNvCxnSpPr/>
          <p:nvPr/>
        </p:nvCxnSpPr>
        <p:spPr>
          <a:xfrm>
            <a:off x="4996285" y="1762482"/>
            <a:ext cx="1437430" cy="5390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1" name="!!g-edge-E-G">
            <a:extLst>
              <a:ext uri="{FF2B5EF4-FFF2-40B4-BE49-F238E27FC236}">
                <a16:creationId xmlns:a16="http://schemas.microsoft.com/office/drawing/2014/main" id="{7D411777-E8EB-42D1-AC23-29DA42A49B83}"/>
              </a:ext>
            </a:extLst>
          </p:cNvPr>
          <p:cNvCxnSpPr/>
          <p:nvPr/>
        </p:nvCxnSpPr>
        <p:spPr>
          <a:xfrm flipV="1">
            <a:off x="4986483" y="2547758"/>
            <a:ext cx="1457034" cy="6829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2" name="!!g-edge-E-H">
            <a:extLst>
              <a:ext uri="{FF2B5EF4-FFF2-40B4-BE49-F238E27FC236}">
                <a16:creationId xmlns:a16="http://schemas.microsoft.com/office/drawing/2014/main" id="{EBC3F3B5-2D76-41CF-99D0-7C07B9481FE5}"/>
              </a:ext>
            </a:extLst>
          </p:cNvPr>
          <p:cNvCxnSpPr/>
          <p:nvPr/>
        </p:nvCxnSpPr>
        <p:spPr>
          <a:xfrm>
            <a:off x="4982981" y="3507490"/>
            <a:ext cx="1464038" cy="73202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3" name="!!g-edge-F-H">
            <a:extLst>
              <a:ext uri="{FF2B5EF4-FFF2-40B4-BE49-F238E27FC236}">
                <a16:creationId xmlns:a16="http://schemas.microsoft.com/office/drawing/2014/main" id="{9C542561-231F-4087-A55A-5D5E1B7EC177}"/>
              </a:ext>
            </a:extLst>
          </p:cNvPr>
          <p:cNvCxnSpPr/>
          <p:nvPr/>
        </p:nvCxnSpPr>
        <p:spPr>
          <a:xfrm flipV="1">
            <a:off x="4989880" y="4508760"/>
            <a:ext cx="1450240" cy="6344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4" name="!!g-node-A">
            <a:extLst>
              <a:ext uri="{FF2B5EF4-FFF2-40B4-BE49-F238E27FC236}">
                <a16:creationId xmlns:a16="http://schemas.microsoft.com/office/drawing/2014/main" id="{533F514C-C79F-4E02-85B1-88C13E16AB17}"/>
              </a:ext>
            </a:extLst>
          </p:cNvPr>
          <p:cNvSpPr/>
          <p:nvPr/>
        </p:nvSpPr>
        <p:spPr>
          <a:xfrm>
            <a:off x="8001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5" name="!!g-node-B">
            <a:extLst>
              <a:ext uri="{FF2B5EF4-FFF2-40B4-BE49-F238E27FC236}">
                <a16:creationId xmlns:a16="http://schemas.microsoft.com/office/drawing/2014/main" id="{3AEBAE8F-C1E3-47CF-92D2-8921DE506F71}"/>
              </a:ext>
            </a:extLst>
          </p:cNvPr>
          <p:cNvSpPr/>
          <p:nvPr/>
        </p:nvSpPr>
        <p:spPr>
          <a:xfrm>
            <a:off x="2603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6" name="!!g-node-C">
            <a:extLst>
              <a:ext uri="{FF2B5EF4-FFF2-40B4-BE49-F238E27FC236}">
                <a16:creationId xmlns:a16="http://schemas.microsoft.com/office/drawing/2014/main" id="{9E159525-308C-4657-99B4-2D20E747363A}"/>
              </a:ext>
            </a:extLst>
          </p:cNvPr>
          <p:cNvSpPr/>
          <p:nvPr/>
        </p:nvSpPr>
        <p:spPr>
          <a:xfrm>
            <a:off x="2603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7" name="!!g-node-D">
            <a:extLst>
              <a:ext uri="{FF2B5EF4-FFF2-40B4-BE49-F238E27FC236}">
                <a16:creationId xmlns:a16="http://schemas.microsoft.com/office/drawing/2014/main" id="{5A6119C1-4638-4EA5-BAE1-F5B5D87410F2}"/>
              </a:ext>
            </a:extLst>
          </p:cNvPr>
          <p:cNvSpPr/>
          <p:nvPr/>
        </p:nvSpPr>
        <p:spPr>
          <a:xfrm>
            <a:off x="4381500" y="1333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8" name="!!g-node-E">
            <a:extLst>
              <a:ext uri="{FF2B5EF4-FFF2-40B4-BE49-F238E27FC236}">
                <a16:creationId xmlns:a16="http://schemas.microsoft.com/office/drawing/2014/main" id="{8452D1C8-F3FD-40AB-8E1D-2FE6E2FE9B88}"/>
              </a:ext>
            </a:extLst>
          </p:cNvPr>
          <p:cNvSpPr/>
          <p:nvPr/>
        </p:nvSpPr>
        <p:spPr>
          <a:xfrm>
            <a:off x="43815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9" name="!!g-node-F">
            <a:extLst>
              <a:ext uri="{FF2B5EF4-FFF2-40B4-BE49-F238E27FC236}">
                <a16:creationId xmlns:a16="http://schemas.microsoft.com/office/drawing/2014/main" id="{E9AFFDE7-A3D8-498E-B749-EAD17EA9EE17}"/>
              </a:ext>
            </a:extLst>
          </p:cNvPr>
          <p:cNvSpPr/>
          <p:nvPr/>
        </p:nvSpPr>
        <p:spPr>
          <a:xfrm>
            <a:off x="4381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20" name="!!g-node-G">
            <a:extLst>
              <a:ext uri="{FF2B5EF4-FFF2-40B4-BE49-F238E27FC236}">
                <a16:creationId xmlns:a16="http://schemas.microsoft.com/office/drawing/2014/main" id="{0205F663-8B65-4180-9314-4D3C6E90F6AB}"/>
              </a:ext>
            </a:extLst>
          </p:cNvPr>
          <p:cNvSpPr/>
          <p:nvPr/>
        </p:nvSpPr>
        <p:spPr>
          <a:xfrm>
            <a:off x="64135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21" name="!!g-node-H">
            <a:extLst>
              <a:ext uri="{FF2B5EF4-FFF2-40B4-BE49-F238E27FC236}">
                <a16:creationId xmlns:a16="http://schemas.microsoft.com/office/drawing/2014/main" id="{94AA667D-229B-403A-A1D9-4C99412FD912}"/>
              </a:ext>
            </a:extLst>
          </p:cNvPr>
          <p:cNvSpPr/>
          <p:nvPr/>
        </p:nvSpPr>
        <p:spPr>
          <a:xfrm>
            <a:off x="6413500" y="4064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22" name="box-18-136">
            <a:extLst>
              <a:ext uri="{FF2B5EF4-FFF2-40B4-BE49-F238E27FC236}">
                <a16:creationId xmlns:a16="http://schemas.microsoft.com/office/drawing/2014/main" id="{D4D1314E-AB87-4BDF-A80F-828BED289D5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box-19-137">
            <a:extLst>
              <a:ext uri="{FF2B5EF4-FFF2-40B4-BE49-F238E27FC236}">
                <a16:creationId xmlns:a16="http://schemas.microsoft.com/office/drawing/2014/main" id="{5E7DEC36-F8C2-4AEF-9AD9-07078CD86AB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20-138">
            <a:extLst>
              <a:ext uri="{FF2B5EF4-FFF2-40B4-BE49-F238E27FC236}">
                <a16:creationId xmlns:a16="http://schemas.microsoft.com/office/drawing/2014/main" id="{AF5782C5-93FD-41BF-A422-22B938588FFC}"/>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Очередь </a:t>
            </a:r>
            <a:r>
              <a:rPr lang="en-US" sz="2100">
                <a:solidFill>
                  <a:srgbClr val="FFFFFF"/>
                </a:solidFill>
                <a:latin typeface="Montserrat"/>
              </a:rPr>
              <a:t>FIFO</a:t>
            </a:r>
            <a:endParaRPr lang="ru-RU" sz="2100">
              <a:solidFill>
                <a:srgbClr val="FFFFFF"/>
              </a:solidFill>
              <a:latin typeface="Montserrat"/>
            </a:endParaRPr>
          </a:p>
        </p:txBody>
      </p:sp>
      <p:sp>
        <p:nvSpPr>
          <p:cNvPr id="25" name="text-21-139">
            <a:extLst>
              <a:ext uri="{FF2B5EF4-FFF2-40B4-BE49-F238E27FC236}">
                <a16:creationId xmlns:a16="http://schemas.microsoft.com/office/drawing/2014/main" id="{E459371E-2C54-4EC4-8357-32EAB31B752E}"/>
              </a:ext>
            </a:extLst>
          </p:cNvPr>
          <p:cNvSpPr txBox="1"/>
          <p:nvPr/>
        </p:nvSpPr>
        <p:spPr bwMode="auto">
          <a:xfrm>
            <a:off x="8153400" y="2561967"/>
            <a:ext cx="3340100" cy="1066959"/>
          </a:xfrm>
          <a:prstGeom prst="rect">
            <a:avLst/>
          </a:prstGeom>
        </p:spPr>
        <p:txBody>
          <a:bodyPr vert="horz" wrap="square" lIns="38100" tIns="25400" rIns="38100" bIns="25400" rtlCol="0" anchor="ctr">
            <a:spAutoFit/>
          </a:bodyPr>
          <a:lstStyle/>
          <a:p>
            <a:r>
              <a:rPr lang="pt-BR" sz="2200">
                <a:solidFill>
                  <a:srgbClr val="352379"/>
                </a:solidFill>
                <a:latin typeface="Montserrat"/>
              </a:rPr>
              <a:t>queue = [A]</a:t>
            </a:r>
          </a:p>
          <a:p>
            <a:endParaRPr lang="pt-BR" sz="2200">
              <a:solidFill>
                <a:srgbClr val="352379"/>
              </a:solidFill>
              <a:latin typeface="Montserrat"/>
            </a:endParaRPr>
          </a:p>
          <a:p>
            <a:r>
              <a:rPr lang="pt-BR" sz="2200">
                <a:solidFill>
                  <a:srgbClr val="352379"/>
                </a:solidFill>
                <a:latin typeface="Montserrat"/>
              </a:rPr>
              <a:t>A — уровень 0</a:t>
            </a:r>
            <a:endParaRPr lang="ru-RU" sz="2200">
              <a:solidFill>
                <a:srgbClr val="352379"/>
              </a:solidFill>
              <a:latin typeface="Montserrat"/>
            </a:endParaRPr>
          </a:p>
        </p:txBody>
      </p:sp>
      <p:sp>
        <p:nvSpPr>
          <p:cNvPr id="26" name="box-22-140">
            <a:extLst>
              <a:ext uri="{FF2B5EF4-FFF2-40B4-BE49-F238E27FC236}">
                <a16:creationId xmlns:a16="http://schemas.microsoft.com/office/drawing/2014/main" id="{0D364C3C-7E4B-4694-B634-55C64881FD44}"/>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141">
            <a:extLst>
              <a:ext uri="{FF2B5EF4-FFF2-40B4-BE49-F238E27FC236}">
                <a16:creationId xmlns:a16="http://schemas.microsoft.com/office/drawing/2014/main" id="{A5B9AA7A-8B06-4D86-9A23-16E1A34F0D1D}"/>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Каждая вершина и каждое ребро обрабатываются O(1) раз.</a:t>
            </a:r>
          </a:p>
        </p:txBody>
      </p:sp>
      <p:sp>
        <p:nvSpPr>
          <p:cNvPr id="28" name="text-24-142">
            <a:extLst>
              <a:ext uri="{FF2B5EF4-FFF2-40B4-BE49-F238E27FC236}">
                <a16:creationId xmlns:a16="http://schemas.microsoft.com/office/drawing/2014/main" id="{909665A3-3CD9-49FD-91FE-BC314404CFFC}"/>
              </a:ext>
            </a:extLst>
          </p:cNvPr>
          <p:cNvSpPr txBox="1"/>
          <p:nvPr/>
        </p:nvSpPr>
        <p:spPr bwMode="auto">
          <a:xfrm>
            <a:off x="9144000" y="5486028"/>
            <a:ext cx="2603500" cy="405239"/>
          </a:xfrm>
          <a:prstGeom prst="rect">
            <a:avLst/>
          </a:prstGeom>
        </p:spPr>
        <p:txBody>
          <a:bodyPr vert="horz" wrap="square" lIns="38100" tIns="25400" rIns="38100" bIns="25400" rtlCol="0" anchor="ctr">
            <a:spAutoFit/>
          </a:bodyPr>
          <a:lstStyle/>
          <a:p>
            <a:r>
              <a:rPr lang="en-US" sz="2300" b="1">
                <a:solidFill>
                  <a:srgbClr val="352379"/>
                </a:solidFill>
                <a:latin typeface="Montserrat"/>
              </a:rPr>
              <a:t>O(V + E)</a:t>
            </a:r>
            <a:endParaRPr lang="ru-RU" sz="2300" b="1">
              <a:solidFill>
                <a:srgbClr val="352379"/>
              </a:solidFill>
              <a:latin typeface="Montserrat"/>
            </a:endParaRPr>
          </a:p>
        </p:txBody>
      </p:sp>
      <p:grpSp>
        <p:nvGrpSpPr>
          <p:cNvPr id="36" name="animation-stage-1">
            <a:extLst>
              <a:ext uri="{FF2B5EF4-FFF2-40B4-BE49-F238E27FC236}">
                <a16:creationId xmlns:a16="http://schemas.microsoft.com/office/drawing/2014/main" id="{DD1FDE91-0170-4667-A144-E17AB33B7CEB}"/>
              </a:ext>
            </a:extLst>
          </p:cNvPr>
          <p:cNvGrpSpPr/>
          <p:nvPr/>
        </p:nvGrpSpPr>
        <p:grpSpPr>
          <a:xfrm>
            <a:off x="800100" y="1778000"/>
            <a:ext cx="10909300" cy="3695700"/>
            <a:chOff x="800100" y="1778000"/>
            <a:chExt cx="10909300" cy="3695700"/>
          </a:xfrm>
        </p:grpSpPr>
        <p:sp>
          <p:nvSpPr>
            <p:cNvPr id="29" name="active-node-A-143">
              <a:extLst>
                <a:ext uri="{FF2B5EF4-FFF2-40B4-BE49-F238E27FC236}">
                  <a16:creationId xmlns:a16="http://schemas.microsoft.com/office/drawing/2014/main" id="{D053A7E3-6036-4452-99BA-1123B9F60844}"/>
                </a:ext>
              </a:extLst>
            </p:cNvPr>
            <p:cNvSpPr/>
            <p:nvPr/>
          </p:nvSpPr>
          <p:spPr>
            <a:xfrm>
              <a:off x="8001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0" name="active-node-B-144">
              <a:extLst>
                <a:ext uri="{FF2B5EF4-FFF2-40B4-BE49-F238E27FC236}">
                  <a16:creationId xmlns:a16="http://schemas.microsoft.com/office/drawing/2014/main" id="{959788E0-1578-414C-803E-02CCB2E2FB82}"/>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1" name="active-node-C-145">
              <a:extLst>
                <a:ext uri="{FF2B5EF4-FFF2-40B4-BE49-F238E27FC236}">
                  <a16:creationId xmlns:a16="http://schemas.microsoft.com/office/drawing/2014/main" id="{C4EB7BAC-E5AE-48D0-ABAC-2784818FDCA4}"/>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2" name="box-3-146">
              <a:extLst>
                <a:ext uri="{FF2B5EF4-FFF2-40B4-BE49-F238E27FC236}">
                  <a16:creationId xmlns:a16="http://schemas.microsoft.com/office/drawing/2014/main" id="{902BBC3B-7661-4DD2-9A4C-219E91A5A37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box-4-147">
              <a:extLst>
                <a:ext uri="{FF2B5EF4-FFF2-40B4-BE49-F238E27FC236}">
                  <a16:creationId xmlns:a16="http://schemas.microsoft.com/office/drawing/2014/main" id="{BFCDC327-9876-4477-80F8-B9444541610F}"/>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5-148">
              <a:extLst>
                <a:ext uri="{FF2B5EF4-FFF2-40B4-BE49-F238E27FC236}">
                  <a16:creationId xmlns:a16="http://schemas.microsoft.com/office/drawing/2014/main" id="{1AFE66B3-4A34-4D1F-A6BE-B024270A74CF}"/>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1: обработали </a:t>
              </a:r>
              <a:r>
                <a:rPr lang="en-US" sz="2100">
                  <a:solidFill>
                    <a:srgbClr val="FFFFFF"/>
                  </a:solidFill>
                  <a:latin typeface="Montserrat"/>
                </a:rPr>
                <a:t>A</a:t>
              </a:r>
              <a:endParaRPr lang="ru-RU" sz="2100">
                <a:solidFill>
                  <a:srgbClr val="FFFFFF"/>
                </a:solidFill>
                <a:latin typeface="Montserrat"/>
              </a:endParaRPr>
            </a:p>
          </p:txBody>
        </p:sp>
        <p:sp>
          <p:nvSpPr>
            <p:cNvPr id="35" name="text-6-149">
              <a:extLst>
                <a:ext uri="{FF2B5EF4-FFF2-40B4-BE49-F238E27FC236}">
                  <a16:creationId xmlns:a16="http://schemas.microsoft.com/office/drawing/2014/main" id="{4BBEBA68-26B4-4A65-B31F-988EC00EE010}"/>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[B, C]</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endParaRPr lang="ru-RU" sz="2100">
                <a:solidFill>
                  <a:srgbClr val="352379"/>
                </a:solidFill>
                <a:latin typeface="Montserrat"/>
              </a:endParaRPr>
            </a:p>
          </p:txBody>
        </p:sp>
      </p:grpSp>
      <p:grpSp>
        <p:nvGrpSpPr>
          <p:cNvPr id="46" name="animation-stage-2">
            <a:extLst>
              <a:ext uri="{FF2B5EF4-FFF2-40B4-BE49-F238E27FC236}">
                <a16:creationId xmlns:a16="http://schemas.microsoft.com/office/drawing/2014/main" id="{40000FD0-00F7-4FB1-AB84-EDDF84883C95}"/>
              </a:ext>
            </a:extLst>
          </p:cNvPr>
          <p:cNvGrpSpPr/>
          <p:nvPr/>
        </p:nvGrpSpPr>
        <p:grpSpPr>
          <a:xfrm>
            <a:off x="800100" y="1333500"/>
            <a:ext cx="10909300" cy="4140200"/>
            <a:chOff x="800100" y="1333500"/>
            <a:chExt cx="10909300" cy="4140200"/>
          </a:xfrm>
        </p:grpSpPr>
        <p:sp>
          <p:nvSpPr>
            <p:cNvPr id="37" name="active-node-A-150">
              <a:extLst>
                <a:ext uri="{FF2B5EF4-FFF2-40B4-BE49-F238E27FC236}">
                  <a16:creationId xmlns:a16="http://schemas.microsoft.com/office/drawing/2014/main" id="{16626108-2C94-4347-AB52-33AA91D14CB8}"/>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8" name="active-node-B-151">
              <a:extLst>
                <a:ext uri="{FF2B5EF4-FFF2-40B4-BE49-F238E27FC236}">
                  <a16:creationId xmlns:a16="http://schemas.microsoft.com/office/drawing/2014/main" id="{8BC43F0E-E599-4A7E-8C1C-1D619609E052}"/>
                </a:ext>
              </a:extLst>
            </p:cNvPr>
            <p:cNvSpPr/>
            <p:nvPr/>
          </p:nvSpPr>
          <p:spPr>
            <a:xfrm>
              <a:off x="2603500" y="177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9" name="active-node-C-152">
              <a:extLst>
                <a:ext uri="{FF2B5EF4-FFF2-40B4-BE49-F238E27FC236}">
                  <a16:creationId xmlns:a16="http://schemas.microsoft.com/office/drawing/2014/main" id="{F582A279-0356-4A38-A7BC-0F032D108A59}"/>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40" name="active-node-D-153">
              <a:extLst>
                <a:ext uri="{FF2B5EF4-FFF2-40B4-BE49-F238E27FC236}">
                  <a16:creationId xmlns:a16="http://schemas.microsoft.com/office/drawing/2014/main" id="{E5189ED9-9E5C-4E1A-9BCB-656874C6FDA6}"/>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41" name="active-node-E-154">
              <a:extLst>
                <a:ext uri="{FF2B5EF4-FFF2-40B4-BE49-F238E27FC236}">
                  <a16:creationId xmlns:a16="http://schemas.microsoft.com/office/drawing/2014/main" id="{4E784876-B12D-42FC-AEB0-D7A0C1591B39}"/>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42" name="box-5-155">
              <a:extLst>
                <a:ext uri="{FF2B5EF4-FFF2-40B4-BE49-F238E27FC236}">
                  <a16:creationId xmlns:a16="http://schemas.microsoft.com/office/drawing/2014/main" id="{2FBA39BB-C958-4AA7-B570-6BC368842A2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box-6-156">
              <a:extLst>
                <a:ext uri="{FF2B5EF4-FFF2-40B4-BE49-F238E27FC236}">
                  <a16:creationId xmlns:a16="http://schemas.microsoft.com/office/drawing/2014/main" id="{1EABB845-A718-4A62-9241-5EC2231E603D}"/>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text-7-157">
              <a:extLst>
                <a:ext uri="{FF2B5EF4-FFF2-40B4-BE49-F238E27FC236}">
                  <a16:creationId xmlns:a16="http://schemas.microsoft.com/office/drawing/2014/main" id="{0EF82E80-8531-48E1-BDBE-0BD40797817E}"/>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2: обработали </a:t>
              </a:r>
              <a:r>
                <a:rPr lang="en-US" sz="2100">
                  <a:solidFill>
                    <a:srgbClr val="FFFFFF"/>
                  </a:solidFill>
                  <a:latin typeface="Montserrat"/>
                </a:rPr>
                <a:t>B</a:t>
              </a:r>
              <a:endParaRPr lang="ru-RU" sz="2100">
                <a:solidFill>
                  <a:srgbClr val="FFFFFF"/>
                </a:solidFill>
                <a:latin typeface="Montserrat"/>
              </a:endParaRPr>
            </a:p>
          </p:txBody>
        </p:sp>
        <p:sp>
          <p:nvSpPr>
            <p:cNvPr id="45" name="text-8-158">
              <a:extLst>
                <a:ext uri="{FF2B5EF4-FFF2-40B4-BE49-F238E27FC236}">
                  <a16:creationId xmlns:a16="http://schemas.microsoft.com/office/drawing/2014/main" id="{7B0C2DAC-0F1C-4D9B-A8A8-9F32B62FBF50}"/>
                </a:ext>
              </a:extLst>
            </p:cNvPr>
            <p:cNvSpPr txBox="1"/>
            <p:nvPr/>
          </p:nvSpPr>
          <p:spPr bwMode="auto">
            <a:xfrm>
              <a:off x="8153400" y="2536319"/>
              <a:ext cx="3340100" cy="1990288"/>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[C, D, E]</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a:t>
              </a:r>
              <a:endParaRPr lang="ru-RU" sz="2100">
                <a:solidFill>
                  <a:srgbClr val="352379"/>
                </a:solidFill>
                <a:latin typeface="Montserrat"/>
              </a:endParaRPr>
            </a:p>
          </p:txBody>
        </p:sp>
      </p:grpSp>
      <p:grpSp>
        <p:nvGrpSpPr>
          <p:cNvPr id="57" name="animation-stage-3">
            <a:extLst>
              <a:ext uri="{FF2B5EF4-FFF2-40B4-BE49-F238E27FC236}">
                <a16:creationId xmlns:a16="http://schemas.microsoft.com/office/drawing/2014/main" id="{26920FC4-2E95-4F3A-A4D6-8B0833533E45}"/>
              </a:ext>
            </a:extLst>
          </p:cNvPr>
          <p:cNvGrpSpPr/>
          <p:nvPr/>
        </p:nvGrpSpPr>
        <p:grpSpPr>
          <a:xfrm>
            <a:off x="800100" y="1333500"/>
            <a:ext cx="10909300" cy="4254500"/>
            <a:chOff x="800100" y="1333500"/>
            <a:chExt cx="10909300" cy="4254500"/>
          </a:xfrm>
        </p:grpSpPr>
        <p:sp>
          <p:nvSpPr>
            <p:cNvPr id="47" name="active-node-A-159">
              <a:extLst>
                <a:ext uri="{FF2B5EF4-FFF2-40B4-BE49-F238E27FC236}">
                  <a16:creationId xmlns:a16="http://schemas.microsoft.com/office/drawing/2014/main" id="{577391EF-7C07-4648-BB4D-3E46AE18C659}"/>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48" name="active-node-B-160">
              <a:extLst>
                <a:ext uri="{FF2B5EF4-FFF2-40B4-BE49-F238E27FC236}">
                  <a16:creationId xmlns:a16="http://schemas.microsoft.com/office/drawing/2014/main" id="{05EF8B84-5D1D-43FC-946E-C38C32DFBED0}"/>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49" name="active-node-C-161">
              <a:extLst>
                <a:ext uri="{FF2B5EF4-FFF2-40B4-BE49-F238E27FC236}">
                  <a16:creationId xmlns:a16="http://schemas.microsoft.com/office/drawing/2014/main" id="{95EAF17C-75A0-4CD3-AF6D-7CA1EFD43D2D}"/>
                </a:ext>
              </a:extLst>
            </p:cNvPr>
            <p:cNvSpPr/>
            <p:nvPr/>
          </p:nvSpPr>
          <p:spPr>
            <a:xfrm>
              <a:off x="2603500" y="431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50" name="active-node-D-162">
              <a:extLst>
                <a:ext uri="{FF2B5EF4-FFF2-40B4-BE49-F238E27FC236}">
                  <a16:creationId xmlns:a16="http://schemas.microsoft.com/office/drawing/2014/main" id="{E7D17D27-710A-4FB1-AAA4-D39182DBA509}"/>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51" name="active-node-E-163">
              <a:extLst>
                <a:ext uri="{FF2B5EF4-FFF2-40B4-BE49-F238E27FC236}">
                  <a16:creationId xmlns:a16="http://schemas.microsoft.com/office/drawing/2014/main" id="{D44EF9EB-F916-444B-98D1-81FF1F764356}"/>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52" name="active-node-F-164">
              <a:extLst>
                <a:ext uri="{FF2B5EF4-FFF2-40B4-BE49-F238E27FC236}">
                  <a16:creationId xmlns:a16="http://schemas.microsoft.com/office/drawing/2014/main" id="{83ED606A-E23E-4440-8771-9F983ECFB29C}"/>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53" name="box-6-165">
              <a:extLst>
                <a:ext uri="{FF2B5EF4-FFF2-40B4-BE49-F238E27FC236}">
                  <a16:creationId xmlns:a16="http://schemas.microsoft.com/office/drawing/2014/main" id="{7FFDC7FA-F02C-4E08-9F62-AF53B9633E64}"/>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box-7-166">
              <a:extLst>
                <a:ext uri="{FF2B5EF4-FFF2-40B4-BE49-F238E27FC236}">
                  <a16:creationId xmlns:a16="http://schemas.microsoft.com/office/drawing/2014/main" id="{42015497-4948-499D-AC27-423473F6ED62}"/>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8-167">
              <a:extLst>
                <a:ext uri="{FF2B5EF4-FFF2-40B4-BE49-F238E27FC236}">
                  <a16:creationId xmlns:a16="http://schemas.microsoft.com/office/drawing/2014/main" id="{2E6D4BCF-4DFF-4F0E-9DBC-2935CD60F146}"/>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3: обработали </a:t>
              </a:r>
              <a:r>
                <a:rPr lang="en-US" sz="2100">
                  <a:solidFill>
                    <a:srgbClr val="FFFFFF"/>
                  </a:solidFill>
                  <a:latin typeface="Montserrat"/>
                </a:rPr>
                <a:t>C</a:t>
              </a:r>
              <a:endParaRPr lang="ru-RU" sz="2100">
                <a:solidFill>
                  <a:srgbClr val="FFFFFF"/>
                </a:solidFill>
                <a:latin typeface="Montserrat"/>
              </a:endParaRPr>
            </a:p>
          </p:txBody>
        </p:sp>
        <p:sp>
          <p:nvSpPr>
            <p:cNvPr id="56" name="text-9-168">
              <a:extLst>
                <a:ext uri="{FF2B5EF4-FFF2-40B4-BE49-F238E27FC236}">
                  <a16:creationId xmlns:a16="http://schemas.microsoft.com/office/drawing/2014/main" id="{058C9396-4DDB-4EF0-9A99-DCF1087F6F26}"/>
                </a:ext>
              </a:extLst>
            </p:cNvPr>
            <p:cNvSpPr txBox="1"/>
            <p:nvPr/>
          </p:nvSpPr>
          <p:spPr bwMode="auto">
            <a:xfrm>
              <a:off x="8153400" y="2536319"/>
              <a:ext cx="3340100" cy="1990288"/>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[D, E, F]</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 F</a:t>
              </a:r>
              <a:endParaRPr lang="ru-RU" sz="2100">
                <a:solidFill>
                  <a:srgbClr val="352379"/>
                </a:solidFill>
                <a:latin typeface="Montserrat"/>
              </a:endParaRPr>
            </a:p>
          </p:txBody>
        </p:sp>
      </p:grpSp>
      <p:grpSp>
        <p:nvGrpSpPr>
          <p:cNvPr id="69" name="animation-stage-4">
            <a:extLst>
              <a:ext uri="{FF2B5EF4-FFF2-40B4-BE49-F238E27FC236}">
                <a16:creationId xmlns:a16="http://schemas.microsoft.com/office/drawing/2014/main" id="{8D623520-3E4D-4CC0-873A-6153141AA3A4}"/>
              </a:ext>
            </a:extLst>
          </p:cNvPr>
          <p:cNvGrpSpPr/>
          <p:nvPr/>
        </p:nvGrpSpPr>
        <p:grpSpPr>
          <a:xfrm>
            <a:off x="800100" y="1333500"/>
            <a:ext cx="10909300" cy="4254500"/>
            <a:chOff x="800100" y="1333500"/>
            <a:chExt cx="10909300" cy="4254500"/>
          </a:xfrm>
        </p:grpSpPr>
        <p:sp>
          <p:nvSpPr>
            <p:cNvPr id="58" name="active-node-A-169">
              <a:extLst>
                <a:ext uri="{FF2B5EF4-FFF2-40B4-BE49-F238E27FC236}">
                  <a16:creationId xmlns:a16="http://schemas.microsoft.com/office/drawing/2014/main" id="{0F7F4CD3-D446-44C6-8BE0-0C05A6A38C35}"/>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59" name="active-node-B-170">
              <a:extLst>
                <a:ext uri="{FF2B5EF4-FFF2-40B4-BE49-F238E27FC236}">
                  <a16:creationId xmlns:a16="http://schemas.microsoft.com/office/drawing/2014/main" id="{6A10765D-9E37-4777-A3F8-DBF7B80E1ED1}"/>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60" name="active-node-C-171">
              <a:extLst>
                <a:ext uri="{FF2B5EF4-FFF2-40B4-BE49-F238E27FC236}">
                  <a16:creationId xmlns:a16="http://schemas.microsoft.com/office/drawing/2014/main" id="{E6024538-CB3F-48DD-B721-0820258A86F2}"/>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61" name="active-node-D-172">
              <a:extLst>
                <a:ext uri="{FF2B5EF4-FFF2-40B4-BE49-F238E27FC236}">
                  <a16:creationId xmlns:a16="http://schemas.microsoft.com/office/drawing/2014/main" id="{71A8B570-40FF-4CBD-8D3C-F21CE9E0CFEB}"/>
                </a:ext>
              </a:extLst>
            </p:cNvPr>
            <p:cNvSpPr/>
            <p:nvPr/>
          </p:nvSpPr>
          <p:spPr>
            <a:xfrm>
              <a:off x="4381500" y="1333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62" name="active-node-E-173">
              <a:extLst>
                <a:ext uri="{FF2B5EF4-FFF2-40B4-BE49-F238E27FC236}">
                  <a16:creationId xmlns:a16="http://schemas.microsoft.com/office/drawing/2014/main" id="{D189943E-E7C4-42A3-AF7F-DEEDFD936410}"/>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63" name="active-node-F-174">
              <a:extLst>
                <a:ext uri="{FF2B5EF4-FFF2-40B4-BE49-F238E27FC236}">
                  <a16:creationId xmlns:a16="http://schemas.microsoft.com/office/drawing/2014/main" id="{AE6B5036-D3AF-4310-A8C9-D1AF66CE0588}"/>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64" name="active-node-G-175">
              <a:extLst>
                <a:ext uri="{FF2B5EF4-FFF2-40B4-BE49-F238E27FC236}">
                  <a16:creationId xmlns:a16="http://schemas.microsoft.com/office/drawing/2014/main" id="{56156E6E-F759-41D9-93BC-D0A75C5475E0}"/>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65" name="box-7-176">
              <a:extLst>
                <a:ext uri="{FF2B5EF4-FFF2-40B4-BE49-F238E27FC236}">
                  <a16:creationId xmlns:a16="http://schemas.microsoft.com/office/drawing/2014/main" id="{4CE4910D-38EE-46F8-B547-F78F1BF517AC}"/>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box-8-177">
              <a:extLst>
                <a:ext uri="{FF2B5EF4-FFF2-40B4-BE49-F238E27FC236}">
                  <a16:creationId xmlns:a16="http://schemas.microsoft.com/office/drawing/2014/main" id="{896C1966-8BBA-4B01-9D2C-54345D91A4F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text-9-178">
              <a:extLst>
                <a:ext uri="{FF2B5EF4-FFF2-40B4-BE49-F238E27FC236}">
                  <a16:creationId xmlns:a16="http://schemas.microsoft.com/office/drawing/2014/main" id="{C63730A7-844B-46C6-85A0-CC002913C478}"/>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4: обработали </a:t>
              </a:r>
              <a:r>
                <a:rPr lang="en-US" sz="2100">
                  <a:solidFill>
                    <a:srgbClr val="FFFFFF"/>
                  </a:solidFill>
                  <a:latin typeface="Montserrat"/>
                </a:rPr>
                <a:t>D</a:t>
              </a:r>
              <a:endParaRPr lang="ru-RU" sz="2100">
                <a:solidFill>
                  <a:srgbClr val="FFFFFF"/>
                </a:solidFill>
                <a:latin typeface="Montserrat"/>
              </a:endParaRPr>
            </a:p>
          </p:txBody>
        </p:sp>
        <p:sp>
          <p:nvSpPr>
            <p:cNvPr id="68" name="text-10-179">
              <a:extLst>
                <a:ext uri="{FF2B5EF4-FFF2-40B4-BE49-F238E27FC236}">
                  <a16:creationId xmlns:a16="http://schemas.microsoft.com/office/drawing/2014/main" id="{D069B895-9CAE-4059-8C76-D681B195CE5B}"/>
                </a:ext>
              </a:extLst>
            </p:cNvPr>
            <p:cNvSpPr txBox="1"/>
            <p:nvPr/>
          </p:nvSpPr>
          <p:spPr bwMode="auto">
            <a:xfrm>
              <a:off x="8153400" y="2513236"/>
              <a:ext cx="3340100" cy="2313454"/>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[E, F, G]</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 F</a:t>
              </a:r>
            </a:p>
            <a:p>
              <a:r>
                <a:rPr lang="pt-BR" sz="2100">
                  <a:solidFill>
                    <a:srgbClr val="352379"/>
                  </a:solidFill>
                  <a:latin typeface="Montserrat"/>
                </a:rPr>
                <a:t>3: G</a:t>
              </a:r>
              <a:endParaRPr lang="ru-RU" sz="2100">
                <a:solidFill>
                  <a:srgbClr val="352379"/>
                </a:solidFill>
                <a:latin typeface="Montserrat"/>
              </a:endParaRPr>
            </a:p>
          </p:txBody>
        </p:sp>
      </p:grpSp>
      <p:grpSp>
        <p:nvGrpSpPr>
          <p:cNvPr id="82" name="animation-stage-5">
            <a:extLst>
              <a:ext uri="{FF2B5EF4-FFF2-40B4-BE49-F238E27FC236}">
                <a16:creationId xmlns:a16="http://schemas.microsoft.com/office/drawing/2014/main" id="{498F4C47-90A9-4C3D-8151-EF389AC33542}"/>
              </a:ext>
            </a:extLst>
          </p:cNvPr>
          <p:cNvGrpSpPr/>
          <p:nvPr/>
        </p:nvGrpSpPr>
        <p:grpSpPr>
          <a:xfrm>
            <a:off x="800100" y="1333500"/>
            <a:ext cx="10909300" cy="4254500"/>
            <a:chOff x="800100" y="1333500"/>
            <a:chExt cx="10909300" cy="4254500"/>
          </a:xfrm>
        </p:grpSpPr>
        <p:sp>
          <p:nvSpPr>
            <p:cNvPr id="70" name="active-node-A-180">
              <a:extLst>
                <a:ext uri="{FF2B5EF4-FFF2-40B4-BE49-F238E27FC236}">
                  <a16:creationId xmlns:a16="http://schemas.microsoft.com/office/drawing/2014/main" id="{B18876A4-A315-45E1-BB01-B5A0E191D15F}"/>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71" name="active-node-B-181">
              <a:extLst>
                <a:ext uri="{FF2B5EF4-FFF2-40B4-BE49-F238E27FC236}">
                  <a16:creationId xmlns:a16="http://schemas.microsoft.com/office/drawing/2014/main" id="{88BAC95F-855E-4A3F-BCB9-2F94DB091939}"/>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72" name="active-node-C-182">
              <a:extLst>
                <a:ext uri="{FF2B5EF4-FFF2-40B4-BE49-F238E27FC236}">
                  <a16:creationId xmlns:a16="http://schemas.microsoft.com/office/drawing/2014/main" id="{7516A034-FA28-47D9-AC89-BC9BAA226E16}"/>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73" name="active-node-D-183">
              <a:extLst>
                <a:ext uri="{FF2B5EF4-FFF2-40B4-BE49-F238E27FC236}">
                  <a16:creationId xmlns:a16="http://schemas.microsoft.com/office/drawing/2014/main" id="{D3528A89-754C-4E0C-BD9B-B5B386584B9A}"/>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74" name="active-node-E-184">
              <a:extLst>
                <a:ext uri="{FF2B5EF4-FFF2-40B4-BE49-F238E27FC236}">
                  <a16:creationId xmlns:a16="http://schemas.microsoft.com/office/drawing/2014/main" id="{73123387-E7F9-4661-919A-D62600849738}"/>
                </a:ext>
              </a:extLst>
            </p:cNvPr>
            <p:cNvSpPr/>
            <p:nvPr/>
          </p:nvSpPr>
          <p:spPr>
            <a:xfrm>
              <a:off x="43815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E</a:t>
              </a:r>
              <a:endParaRPr lang="ru-RU" sz="2200">
                <a:solidFill>
                  <a:srgbClr val="FFFFFF"/>
                </a:solidFill>
                <a:latin typeface="Montserrat"/>
              </a:endParaRPr>
            </a:p>
          </p:txBody>
        </p:sp>
        <p:sp>
          <p:nvSpPr>
            <p:cNvPr id="75" name="active-node-F-185">
              <a:extLst>
                <a:ext uri="{FF2B5EF4-FFF2-40B4-BE49-F238E27FC236}">
                  <a16:creationId xmlns:a16="http://schemas.microsoft.com/office/drawing/2014/main" id="{D51D987B-A1EA-43BD-8913-01286B7BCB64}"/>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76" name="active-node-G-186">
              <a:extLst>
                <a:ext uri="{FF2B5EF4-FFF2-40B4-BE49-F238E27FC236}">
                  <a16:creationId xmlns:a16="http://schemas.microsoft.com/office/drawing/2014/main" id="{A2B4FCFD-8DFF-41AE-AC43-17AA12B24E8E}"/>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77" name="active-node-H-187">
              <a:extLst>
                <a:ext uri="{FF2B5EF4-FFF2-40B4-BE49-F238E27FC236}">
                  <a16:creationId xmlns:a16="http://schemas.microsoft.com/office/drawing/2014/main" id="{427F0E37-1F3E-40E4-8571-0AD4EB0E013F}"/>
                </a:ext>
              </a:extLst>
            </p:cNvPr>
            <p:cNvSpPr/>
            <p:nvPr/>
          </p:nvSpPr>
          <p:spPr>
            <a:xfrm>
              <a:off x="6413500" y="4064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78" name="box-8-188">
              <a:extLst>
                <a:ext uri="{FF2B5EF4-FFF2-40B4-BE49-F238E27FC236}">
                  <a16:creationId xmlns:a16="http://schemas.microsoft.com/office/drawing/2014/main" id="{4E4C3CA2-3FBE-497E-958E-71B4DA70CFCC}"/>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box-9-189">
              <a:extLst>
                <a:ext uri="{FF2B5EF4-FFF2-40B4-BE49-F238E27FC236}">
                  <a16:creationId xmlns:a16="http://schemas.microsoft.com/office/drawing/2014/main" id="{42A66043-EEAE-4B61-9903-5C2E1B7FE8D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0" name="text-10-190">
              <a:extLst>
                <a:ext uri="{FF2B5EF4-FFF2-40B4-BE49-F238E27FC236}">
                  <a16:creationId xmlns:a16="http://schemas.microsoft.com/office/drawing/2014/main" id="{9420AACF-EE0B-48D3-9E73-D648FAA946F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5: обработали </a:t>
              </a:r>
              <a:r>
                <a:rPr lang="en-US" sz="2100">
                  <a:solidFill>
                    <a:srgbClr val="FFFFFF"/>
                  </a:solidFill>
                  <a:latin typeface="Montserrat"/>
                </a:rPr>
                <a:t>E</a:t>
              </a:r>
              <a:endParaRPr lang="ru-RU" sz="2100">
                <a:solidFill>
                  <a:srgbClr val="FFFFFF"/>
                </a:solidFill>
                <a:latin typeface="Montserrat"/>
              </a:endParaRPr>
            </a:p>
          </p:txBody>
        </p:sp>
        <p:sp>
          <p:nvSpPr>
            <p:cNvPr id="81" name="text-11-191">
              <a:extLst>
                <a:ext uri="{FF2B5EF4-FFF2-40B4-BE49-F238E27FC236}">
                  <a16:creationId xmlns:a16="http://schemas.microsoft.com/office/drawing/2014/main" id="{404B0971-1D3B-44E6-A911-56BFB7BCCB0F}"/>
                </a:ext>
              </a:extLst>
            </p:cNvPr>
            <p:cNvSpPr txBox="1"/>
            <p:nvPr/>
          </p:nvSpPr>
          <p:spPr bwMode="auto">
            <a:xfrm>
              <a:off x="8153400" y="2513236"/>
              <a:ext cx="3340100" cy="2313454"/>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[F, G, H]</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 F</a:t>
              </a:r>
            </a:p>
            <a:p>
              <a:r>
                <a:rPr lang="pt-BR" sz="2100">
                  <a:solidFill>
                    <a:srgbClr val="352379"/>
                  </a:solidFill>
                  <a:latin typeface="Montserrat"/>
                </a:rPr>
                <a:t>3: G, H</a:t>
              </a:r>
              <a:endParaRPr lang="ru-RU" sz="2100">
                <a:solidFill>
                  <a:srgbClr val="352379"/>
                </a:solidFill>
                <a:latin typeface="Montserrat"/>
              </a:endParaRPr>
            </a:p>
          </p:txBody>
        </p:sp>
      </p:grpSp>
      <p:grpSp>
        <p:nvGrpSpPr>
          <p:cNvPr id="95" name="animation-stage-6">
            <a:extLst>
              <a:ext uri="{FF2B5EF4-FFF2-40B4-BE49-F238E27FC236}">
                <a16:creationId xmlns:a16="http://schemas.microsoft.com/office/drawing/2014/main" id="{C1382A5B-E24B-4F56-9A82-C0ECCED0C766}"/>
              </a:ext>
            </a:extLst>
          </p:cNvPr>
          <p:cNvGrpSpPr/>
          <p:nvPr/>
        </p:nvGrpSpPr>
        <p:grpSpPr>
          <a:xfrm>
            <a:off x="800100" y="1333500"/>
            <a:ext cx="10909300" cy="4254500"/>
            <a:chOff x="800100" y="1333500"/>
            <a:chExt cx="10909300" cy="4254500"/>
          </a:xfrm>
        </p:grpSpPr>
        <p:sp>
          <p:nvSpPr>
            <p:cNvPr id="83" name="active-node-A-192">
              <a:extLst>
                <a:ext uri="{FF2B5EF4-FFF2-40B4-BE49-F238E27FC236}">
                  <a16:creationId xmlns:a16="http://schemas.microsoft.com/office/drawing/2014/main" id="{617D8F36-97FB-4391-BE07-B216C2F96719}"/>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84" name="active-node-B-193">
              <a:extLst>
                <a:ext uri="{FF2B5EF4-FFF2-40B4-BE49-F238E27FC236}">
                  <a16:creationId xmlns:a16="http://schemas.microsoft.com/office/drawing/2014/main" id="{45864887-356D-4A5F-BFD7-FC7FC1772E87}"/>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85" name="active-node-C-194">
              <a:extLst>
                <a:ext uri="{FF2B5EF4-FFF2-40B4-BE49-F238E27FC236}">
                  <a16:creationId xmlns:a16="http://schemas.microsoft.com/office/drawing/2014/main" id="{2752D45B-3D84-4825-A18E-60313EE42533}"/>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86" name="active-node-D-195">
              <a:extLst>
                <a:ext uri="{FF2B5EF4-FFF2-40B4-BE49-F238E27FC236}">
                  <a16:creationId xmlns:a16="http://schemas.microsoft.com/office/drawing/2014/main" id="{98A19B73-9578-4C67-8FD2-0D93FC0DE209}"/>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87" name="active-node-E-196">
              <a:extLst>
                <a:ext uri="{FF2B5EF4-FFF2-40B4-BE49-F238E27FC236}">
                  <a16:creationId xmlns:a16="http://schemas.microsoft.com/office/drawing/2014/main" id="{6AABDB9E-90DA-44DA-9BF9-711649937076}"/>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88" name="active-node-F-197">
              <a:extLst>
                <a:ext uri="{FF2B5EF4-FFF2-40B4-BE49-F238E27FC236}">
                  <a16:creationId xmlns:a16="http://schemas.microsoft.com/office/drawing/2014/main" id="{2AF9999F-8986-427C-B2DB-19C1E78BDAA6}"/>
                </a:ext>
              </a:extLst>
            </p:cNvPr>
            <p:cNvSpPr/>
            <p:nvPr/>
          </p:nvSpPr>
          <p:spPr>
            <a:xfrm>
              <a:off x="43815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F</a:t>
              </a:r>
              <a:endParaRPr lang="ru-RU" sz="2200">
                <a:solidFill>
                  <a:srgbClr val="FFFFFF"/>
                </a:solidFill>
                <a:latin typeface="Montserrat"/>
              </a:endParaRPr>
            </a:p>
          </p:txBody>
        </p:sp>
        <p:sp>
          <p:nvSpPr>
            <p:cNvPr id="89" name="active-node-G-198">
              <a:extLst>
                <a:ext uri="{FF2B5EF4-FFF2-40B4-BE49-F238E27FC236}">
                  <a16:creationId xmlns:a16="http://schemas.microsoft.com/office/drawing/2014/main" id="{C2CA49AD-488D-4E1A-AC95-BF79E939EC07}"/>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90" name="active-node-H-199">
              <a:extLst>
                <a:ext uri="{FF2B5EF4-FFF2-40B4-BE49-F238E27FC236}">
                  <a16:creationId xmlns:a16="http://schemas.microsoft.com/office/drawing/2014/main" id="{78939EEC-4AE5-4165-AB38-D0B9705E30DC}"/>
                </a:ext>
              </a:extLst>
            </p:cNvPr>
            <p:cNvSpPr/>
            <p:nvPr/>
          </p:nvSpPr>
          <p:spPr>
            <a:xfrm>
              <a:off x="6413500" y="4064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91" name="box-8-200">
              <a:extLst>
                <a:ext uri="{FF2B5EF4-FFF2-40B4-BE49-F238E27FC236}">
                  <a16:creationId xmlns:a16="http://schemas.microsoft.com/office/drawing/2014/main" id="{32ABE811-3F49-44DF-8418-F73731B95584}"/>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box-9-201">
              <a:extLst>
                <a:ext uri="{FF2B5EF4-FFF2-40B4-BE49-F238E27FC236}">
                  <a16:creationId xmlns:a16="http://schemas.microsoft.com/office/drawing/2014/main" id="{584A177A-2A3F-4287-8703-A425001CC7DD}"/>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10-202">
              <a:extLst>
                <a:ext uri="{FF2B5EF4-FFF2-40B4-BE49-F238E27FC236}">
                  <a16:creationId xmlns:a16="http://schemas.microsoft.com/office/drawing/2014/main" id="{DB83AC64-9B66-4BF8-AC8F-55BCD5627963}"/>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6: обработали </a:t>
              </a:r>
              <a:r>
                <a:rPr lang="en-US" sz="2100">
                  <a:solidFill>
                    <a:srgbClr val="FFFFFF"/>
                  </a:solidFill>
                  <a:latin typeface="Montserrat"/>
                </a:rPr>
                <a:t>F</a:t>
              </a:r>
              <a:endParaRPr lang="ru-RU" sz="2100">
                <a:solidFill>
                  <a:srgbClr val="FFFFFF"/>
                </a:solidFill>
                <a:latin typeface="Montserrat"/>
              </a:endParaRPr>
            </a:p>
          </p:txBody>
        </p:sp>
        <p:sp>
          <p:nvSpPr>
            <p:cNvPr id="94" name="text-11-203">
              <a:extLst>
                <a:ext uri="{FF2B5EF4-FFF2-40B4-BE49-F238E27FC236}">
                  <a16:creationId xmlns:a16="http://schemas.microsoft.com/office/drawing/2014/main" id="{0D402B7A-3C62-47E0-B12A-CBB8C4E47BA1}"/>
                </a:ext>
              </a:extLst>
            </p:cNvPr>
            <p:cNvSpPr txBox="1"/>
            <p:nvPr/>
          </p:nvSpPr>
          <p:spPr bwMode="auto">
            <a:xfrm>
              <a:off x="8153400" y="2513236"/>
              <a:ext cx="3340100" cy="2313454"/>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[G, H]</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 F</a:t>
              </a:r>
            </a:p>
            <a:p>
              <a:r>
                <a:rPr lang="pt-BR" sz="2100">
                  <a:solidFill>
                    <a:srgbClr val="352379"/>
                  </a:solidFill>
                  <a:latin typeface="Montserrat"/>
                </a:rPr>
                <a:t>3: G, H</a:t>
              </a:r>
              <a:endParaRPr lang="ru-RU" sz="2100">
                <a:solidFill>
                  <a:srgbClr val="352379"/>
                </a:solidFill>
                <a:latin typeface="Montserrat"/>
              </a:endParaRPr>
            </a:p>
          </p:txBody>
        </p:sp>
      </p:grpSp>
      <p:grpSp>
        <p:nvGrpSpPr>
          <p:cNvPr id="108" name="animation-stage-7">
            <a:extLst>
              <a:ext uri="{FF2B5EF4-FFF2-40B4-BE49-F238E27FC236}">
                <a16:creationId xmlns:a16="http://schemas.microsoft.com/office/drawing/2014/main" id="{92FF8A2A-770B-4433-AE55-1346F6985D03}"/>
              </a:ext>
            </a:extLst>
          </p:cNvPr>
          <p:cNvGrpSpPr/>
          <p:nvPr/>
        </p:nvGrpSpPr>
        <p:grpSpPr>
          <a:xfrm>
            <a:off x="800100" y="1333500"/>
            <a:ext cx="10909300" cy="4254500"/>
            <a:chOff x="800100" y="1333500"/>
            <a:chExt cx="10909300" cy="4254500"/>
          </a:xfrm>
        </p:grpSpPr>
        <p:sp>
          <p:nvSpPr>
            <p:cNvPr id="96" name="active-node-A-204">
              <a:extLst>
                <a:ext uri="{FF2B5EF4-FFF2-40B4-BE49-F238E27FC236}">
                  <a16:creationId xmlns:a16="http://schemas.microsoft.com/office/drawing/2014/main" id="{BE25EF8B-1968-4211-BC9B-80BBAE1E56B5}"/>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7" name="active-node-B-205">
              <a:extLst>
                <a:ext uri="{FF2B5EF4-FFF2-40B4-BE49-F238E27FC236}">
                  <a16:creationId xmlns:a16="http://schemas.microsoft.com/office/drawing/2014/main" id="{4A8546D4-1527-4BFD-89AE-521E3393E4AE}"/>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98" name="active-node-C-206">
              <a:extLst>
                <a:ext uri="{FF2B5EF4-FFF2-40B4-BE49-F238E27FC236}">
                  <a16:creationId xmlns:a16="http://schemas.microsoft.com/office/drawing/2014/main" id="{66E2273C-5863-4C2A-9E49-CE8D3B8C3FDE}"/>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99" name="active-node-D-207">
              <a:extLst>
                <a:ext uri="{FF2B5EF4-FFF2-40B4-BE49-F238E27FC236}">
                  <a16:creationId xmlns:a16="http://schemas.microsoft.com/office/drawing/2014/main" id="{82231E6B-C30F-4BAB-99BB-13D2B3CB857F}"/>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00" name="active-node-E-208">
              <a:extLst>
                <a:ext uri="{FF2B5EF4-FFF2-40B4-BE49-F238E27FC236}">
                  <a16:creationId xmlns:a16="http://schemas.microsoft.com/office/drawing/2014/main" id="{BDBD06AC-428C-4C1A-9EB6-D35D815A4EC3}"/>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01" name="active-node-F-209">
              <a:extLst>
                <a:ext uri="{FF2B5EF4-FFF2-40B4-BE49-F238E27FC236}">
                  <a16:creationId xmlns:a16="http://schemas.microsoft.com/office/drawing/2014/main" id="{B83959FB-E05E-4A2F-AD77-3F5DB7B2B123}"/>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102" name="active-node-G-210">
              <a:extLst>
                <a:ext uri="{FF2B5EF4-FFF2-40B4-BE49-F238E27FC236}">
                  <a16:creationId xmlns:a16="http://schemas.microsoft.com/office/drawing/2014/main" id="{E360B9B1-1987-41D8-BEC7-A15428847996}"/>
                </a:ext>
              </a:extLst>
            </p:cNvPr>
            <p:cNvSpPr/>
            <p:nvPr/>
          </p:nvSpPr>
          <p:spPr>
            <a:xfrm>
              <a:off x="6413500" y="2095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G</a:t>
              </a:r>
              <a:endParaRPr lang="ru-RU" sz="2200">
                <a:solidFill>
                  <a:srgbClr val="FFFFFF"/>
                </a:solidFill>
                <a:latin typeface="Montserrat"/>
              </a:endParaRPr>
            </a:p>
          </p:txBody>
        </p:sp>
        <p:sp>
          <p:nvSpPr>
            <p:cNvPr id="103" name="active-node-H-211">
              <a:extLst>
                <a:ext uri="{FF2B5EF4-FFF2-40B4-BE49-F238E27FC236}">
                  <a16:creationId xmlns:a16="http://schemas.microsoft.com/office/drawing/2014/main" id="{72B19188-1248-4D3E-8B9B-00BA3331838A}"/>
                </a:ext>
              </a:extLst>
            </p:cNvPr>
            <p:cNvSpPr/>
            <p:nvPr/>
          </p:nvSpPr>
          <p:spPr>
            <a:xfrm>
              <a:off x="6413500" y="4064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104" name="box-8-212">
              <a:extLst>
                <a:ext uri="{FF2B5EF4-FFF2-40B4-BE49-F238E27FC236}">
                  <a16:creationId xmlns:a16="http://schemas.microsoft.com/office/drawing/2014/main" id="{CC3AA984-3403-4148-AE2F-B2B10ED691F3}"/>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5" name="box-9-213">
              <a:extLst>
                <a:ext uri="{FF2B5EF4-FFF2-40B4-BE49-F238E27FC236}">
                  <a16:creationId xmlns:a16="http://schemas.microsoft.com/office/drawing/2014/main" id="{89FC0675-49D7-4E46-A6AD-0C54DCC892B7}"/>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6" name="text-10-214">
              <a:extLst>
                <a:ext uri="{FF2B5EF4-FFF2-40B4-BE49-F238E27FC236}">
                  <a16:creationId xmlns:a16="http://schemas.microsoft.com/office/drawing/2014/main" id="{0463904F-F583-4B02-A324-006D48D6F5C4}"/>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7: обработали </a:t>
              </a:r>
              <a:r>
                <a:rPr lang="en-US" sz="2100">
                  <a:solidFill>
                    <a:srgbClr val="FFFFFF"/>
                  </a:solidFill>
                  <a:latin typeface="Montserrat"/>
                </a:rPr>
                <a:t>G</a:t>
              </a:r>
              <a:endParaRPr lang="ru-RU" sz="2100">
                <a:solidFill>
                  <a:srgbClr val="FFFFFF"/>
                </a:solidFill>
                <a:latin typeface="Montserrat"/>
              </a:endParaRPr>
            </a:p>
          </p:txBody>
        </p:sp>
        <p:sp>
          <p:nvSpPr>
            <p:cNvPr id="107" name="text-11-215">
              <a:extLst>
                <a:ext uri="{FF2B5EF4-FFF2-40B4-BE49-F238E27FC236}">
                  <a16:creationId xmlns:a16="http://schemas.microsoft.com/office/drawing/2014/main" id="{1BD3C4D8-3508-4E28-9017-CD48E034E29B}"/>
                </a:ext>
              </a:extLst>
            </p:cNvPr>
            <p:cNvSpPr txBox="1"/>
            <p:nvPr/>
          </p:nvSpPr>
          <p:spPr bwMode="auto">
            <a:xfrm>
              <a:off x="8153400" y="2513236"/>
              <a:ext cx="3340100" cy="2313454"/>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[H]</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 F</a:t>
              </a:r>
            </a:p>
            <a:p>
              <a:r>
                <a:rPr lang="pt-BR" sz="2100">
                  <a:solidFill>
                    <a:srgbClr val="352379"/>
                  </a:solidFill>
                  <a:latin typeface="Montserrat"/>
                </a:rPr>
                <a:t>3: G, H</a:t>
              </a:r>
              <a:endParaRPr lang="ru-RU" sz="2100">
                <a:solidFill>
                  <a:srgbClr val="352379"/>
                </a:solidFill>
                <a:latin typeface="Montserrat"/>
              </a:endParaRPr>
            </a:p>
          </p:txBody>
        </p:sp>
      </p:grpSp>
      <p:grpSp>
        <p:nvGrpSpPr>
          <p:cNvPr id="121" name="animation-stage-8">
            <a:extLst>
              <a:ext uri="{FF2B5EF4-FFF2-40B4-BE49-F238E27FC236}">
                <a16:creationId xmlns:a16="http://schemas.microsoft.com/office/drawing/2014/main" id="{6941D3DB-1E7F-4BF8-8643-135298DCB782}"/>
              </a:ext>
            </a:extLst>
          </p:cNvPr>
          <p:cNvGrpSpPr/>
          <p:nvPr/>
        </p:nvGrpSpPr>
        <p:grpSpPr>
          <a:xfrm>
            <a:off x="800100" y="1333500"/>
            <a:ext cx="10909300" cy="4254500"/>
            <a:chOff x="800100" y="1333500"/>
            <a:chExt cx="10909300" cy="4254500"/>
          </a:xfrm>
        </p:grpSpPr>
        <p:sp>
          <p:nvSpPr>
            <p:cNvPr id="109" name="active-node-A-216">
              <a:extLst>
                <a:ext uri="{FF2B5EF4-FFF2-40B4-BE49-F238E27FC236}">
                  <a16:creationId xmlns:a16="http://schemas.microsoft.com/office/drawing/2014/main" id="{E42FD560-D8F1-411B-8AAA-844B7C703BC8}"/>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10" name="active-node-B-217">
              <a:extLst>
                <a:ext uri="{FF2B5EF4-FFF2-40B4-BE49-F238E27FC236}">
                  <a16:creationId xmlns:a16="http://schemas.microsoft.com/office/drawing/2014/main" id="{A15E9D9F-36E7-46AF-A3F3-3413ED1F3ACD}"/>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11" name="active-node-C-218">
              <a:extLst>
                <a:ext uri="{FF2B5EF4-FFF2-40B4-BE49-F238E27FC236}">
                  <a16:creationId xmlns:a16="http://schemas.microsoft.com/office/drawing/2014/main" id="{5917B541-0C4B-4329-B635-E38BE2C51E43}"/>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2" name="active-node-D-219">
              <a:extLst>
                <a:ext uri="{FF2B5EF4-FFF2-40B4-BE49-F238E27FC236}">
                  <a16:creationId xmlns:a16="http://schemas.microsoft.com/office/drawing/2014/main" id="{1A0B0B7D-B620-42A0-BD04-709B20D86E25}"/>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13" name="active-node-E-220">
              <a:extLst>
                <a:ext uri="{FF2B5EF4-FFF2-40B4-BE49-F238E27FC236}">
                  <a16:creationId xmlns:a16="http://schemas.microsoft.com/office/drawing/2014/main" id="{ADDCDE81-ED55-4104-9DD5-D816C6DD1BFA}"/>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14" name="active-node-F-221">
              <a:extLst>
                <a:ext uri="{FF2B5EF4-FFF2-40B4-BE49-F238E27FC236}">
                  <a16:creationId xmlns:a16="http://schemas.microsoft.com/office/drawing/2014/main" id="{2464C680-25F4-4E76-BC4E-7DF95981A7B5}"/>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115" name="active-node-G-222">
              <a:extLst>
                <a:ext uri="{FF2B5EF4-FFF2-40B4-BE49-F238E27FC236}">
                  <a16:creationId xmlns:a16="http://schemas.microsoft.com/office/drawing/2014/main" id="{7ED4EDD4-0F3B-4AFE-ADBC-0CBD275F6040}"/>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116" name="active-node-H-223">
              <a:extLst>
                <a:ext uri="{FF2B5EF4-FFF2-40B4-BE49-F238E27FC236}">
                  <a16:creationId xmlns:a16="http://schemas.microsoft.com/office/drawing/2014/main" id="{7040A013-5B62-4ED7-BDAD-F8D46A9874F7}"/>
                </a:ext>
              </a:extLst>
            </p:cNvPr>
            <p:cNvSpPr/>
            <p:nvPr/>
          </p:nvSpPr>
          <p:spPr>
            <a:xfrm>
              <a:off x="6413500" y="4064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H</a:t>
              </a:r>
              <a:endParaRPr lang="ru-RU" sz="2200">
                <a:solidFill>
                  <a:srgbClr val="FFFFFF"/>
                </a:solidFill>
                <a:latin typeface="Montserrat"/>
              </a:endParaRPr>
            </a:p>
          </p:txBody>
        </p:sp>
        <p:sp>
          <p:nvSpPr>
            <p:cNvPr id="117" name="box-8-224">
              <a:extLst>
                <a:ext uri="{FF2B5EF4-FFF2-40B4-BE49-F238E27FC236}">
                  <a16:creationId xmlns:a16="http://schemas.microsoft.com/office/drawing/2014/main" id="{FF4D2F7F-31B6-4B8B-B757-64E1070988E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8" name="box-9-225">
              <a:extLst>
                <a:ext uri="{FF2B5EF4-FFF2-40B4-BE49-F238E27FC236}">
                  <a16:creationId xmlns:a16="http://schemas.microsoft.com/office/drawing/2014/main" id="{15F3C633-6F93-4D67-A93E-FE8A87834AE0}"/>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9" name="text-10-226">
              <a:extLst>
                <a:ext uri="{FF2B5EF4-FFF2-40B4-BE49-F238E27FC236}">
                  <a16:creationId xmlns:a16="http://schemas.microsoft.com/office/drawing/2014/main" id="{0F664AF8-2FAB-4B65-9ECA-A837509CD4AE}"/>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Шаг 8: обработали </a:t>
              </a:r>
              <a:r>
                <a:rPr lang="en-US" sz="2100">
                  <a:solidFill>
                    <a:srgbClr val="FFFFFF"/>
                  </a:solidFill>
                  <a:latin typeface="Montserrat"/>
                </a:rPr>
                <a:t>H</a:t>
              </a:r>
              <a:endParaRPr lang="ru-RU" sz="2100">
                <a:solidFill>
                  <a:srgbClr val="FFFFFF"/>
                </a:solidFill>
                <a:latin typeface="Montserrat"/>
              </a:endParaRPr>
            </a:p>
          </p:txBody>
        </p:sp>
        <p:sp>
          <p:nvSpPr>
            <p:cNvPr id="120" name="text-11-227">
              <a:extLst>
                <a:ext uri="{FF2B5EF4-FFF2-40B4-BE49-F238E27FC236}">
                  <a16:creationId xmlns:a16="http://schemas.microsoft.com/office/drawing/2014/main" id="{8F339437-E8C6-4F53-8A70-CD38E6084713}"/>
                </a:ext>
              </a:extLst>
            </p:cNvPr>
            <p:cNvSpPr txBox="1"/>
            <p:nvPr/>
          </p:nvSpPr>
          <p:spPr bwMode="auto">
            <a:xfrm>
              <a:off x="8153400" y="2513236"/>
              <a:ext cx="3340100" cy="2313454"/>
            </a:xfrm>
            <a:prstGeom prst="rect">
              <a:avLst/>
            </a:prstGeom>
          </p:spPr>
          <p:txBody>
            <a:bodyPr vert="horz" wrap="square" lIns="38100" tIns="25400" rIns="38100" bIns="25400" rtlCol="0" anchor="ctr">
              <a:spAutoFit/>
            </a:bodyPr>
            <a:lstStyle/>
            <a:p>
              <a:r>
                <a:rPr lang="pt-BR" sz="2100">
                  <a:solidFill>
                    <a:srgbClr val="352379"/>
                  </a:solidFill>
                  <a:latin typeface="Montserrat"/>
                </a:rPr>
                <a:t>queue = []</a:t>
              </a:r>
            </a:p>
            <a:p>
              <a:endParaRPr lang="pt-BR" sz="2100">
                <a:solidFill>
                  <a:srgbClr val="352379"/>
                </a:solidFill>
                <a:latin typeface="Montserrat"/>
              </a:endParaRPr>
            </a:p>
            <a:p>
              <a:r>
                <a:rPr lang="pt-BR" sz="2100">
                  <a:solidFill>
                    <a:srgbClr val="352379"/>
                  </a:solidFill>
                  <a:latin typeface="Montserrat"/>
                </a:rPr>
                <a:t>Уровни:</a:t>
              </a:r>
            </a:p>
            <a:p>
              <a:r>
                <a:rPr lang="pt-BR" sz="2100">
                  <a:solidFill>
                    <a:srgbClr val="352379"/>
                  </a:solidFill>
                  <a:latin typeface="Montserrat"/>
                </a:rPr>
                <a:t>0: A</a:t>
              </a:r>
            </a:p>
            <a:p>
              <a:r>
                <a:rPr lang="pt-BR" sz="2100">
                  <a:solidFill>
                    <a:srgbClr val="352379"/>
                  </a:solidFill>
                  <a:latin typeface="Montserrat"/>
                </a:rPr>
                <a:t>1: B, C</a:t>
              </a:r>
            </a:p>
            <a:p>
              <a:r>
                <a:rPr lang="pt-BR" sz="2100">
                  <a:solidFill>
                    <a:srgbClr val="352379"/>
                  </a:solidFill>
                  <a:latin typeface="Montserrat"/>
                </a:rPr>
                <a:t>2: D, E, F</a:t>
              </a:r>
            </a:p>
            <a:p>
              <a:r>
                <a:rPr lang="pt-BR" sz="2100">
                  <a:solidFill>
                    <a:srgbClr val="352379"/>
                  </a:solidFill>
                  <a:latin typeface="Montserrat"/>
                </a:rPr>
                <a:t>3: G, H</a:t>
              </a:r>
              <a:endParaRPr lang="ru-RU" sz="2100">
                <a:solidFill>
                  <a:srgbClr val="352379"/>
                </a:solidFill>
                <a:latin typeface="Montserrat"/>
              </a:endParaRPr>
            </a:p>
          </p:txBody>
        </p:sp>
      </p:grpSp>
      <p:sp>
        <p:nvSpPr>
          <p:cNvPr id="122" name="lecture-footer">
            <a:extLst>
              <a:ext uri="{FF2B5EF4-FFF2-40B4-BE49-F238E27FC236}">
                <a16:creationId xmlns:a16="http://schemas.microsoft.com/office/drawing/2014/main" id="{2630C984-CF1B-4B47-979E-A6834CC45E5E}"/>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23" name="slide-number">
            <a:extLst>
              <a:ext uri="{FF2B5EF4-FFF2-40B4-BE49-F238E27FC236}">
                <a16:creationId xmlns:a16="http://schemas.microsoft.com/office/drawing/2014/main" id="{172208E7-D31D-494C-A19C-3110BE787032}"/>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7</a:t>
            </a:r>
          </a:p>
        </p:txBody>
      </p:sp>
    </p:spTree>
    <p:extLst>
      <p:ext uri="{BB962C8B-B14F-4D97-AF65-F5344CB8AC3E}">
        <p14:creationId xmlns:p14="http://schemas.microsoft.com/office/powerpoint/2010/main" val="53762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5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250"/>
                                        <p:tgtEl>
                                          <p:spTgt spid="46"/>
                                        </p:tgtEl>
                                      </p:cBhvr>
                                    </p:animEffect>
                                  </p:childTnLst>
                                </p:cTn>
                              </p:par>
                              <p:par>
                                <p:cTn id="13" presetID="10" presetClass="exit" presetSubtype="0" fill="hold" nodeType="withEffect">
                                  <p:stCondLst>
                                    <p:cond delay="0"/>
                                  </p:stCondLst>
                                  <p:childTnLst>
                                    <p:animEffect transition="out" filter="fade">
                                      <p:cBhvr>
                                        <p:cTn id="14" dur="150"/>
                                        <p:tgtEl>
                                          <p:spTgt spid="36"/>
                                        </p:tgtEl>
                                      </p:cBhvr>
                                    </p:animEffect>
                                    <p:set>
                                      <p:cBhvr>
                                        <p:cTn id="15" dur="1" fill="hold">
                                          <p:stCondLst>
                                            <p:cond delay="149"/>
                                          </p:stCondLst>
                                        </p:cTn>
                                        <p:tgtEl>
                                          <p:spTgt spid="3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fade">
                                      <p:cBhvr>
                                        <p:cTn id="20" dur="250"/>
                                        <p:tgtEl>
                                          <p:spTgt spid="57"/>
                                        </p:tgtEl>
                                      </p:cBhvr>
                                    </p:animEffect>
                                  </p:childTnLst>
                                </p:cTn>
                              </p:par>
                              <p:par>
                                <p:cTn id="21" presetID="10" presetClass="exit" presetSubtype="0" fill="hold" nodeType="withEffect">
                                  <p:stCondLst>
                                    <p:cond delay="0"/>
                                  </p:stCondLst>
                                  <p:childTnLst>
                                    <p:animEffect transition="out" filter="fade">
                                      <p:cBhvr>
                                        <p:cTn id="22" dur="150"/>
                                        <p:tgtEl>
                                          <p:spTgt spid="46"/>
                                        </p:tgtEl>
                                      </p:cBhvr>
                                    </p:animEffect>
                                    <p:set>
                                      <p:cBhvr>
                                        <p:cTn id="23" dur="1" fill="hold">
                                          <p:stCondLst>
                                            <p:cond delay="149"/>
                                          </p:stCondLst>
                                        </p:cTn>
                                        <p:tgtEl>
                                          <p:spTgt spid="4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fade">
                                      <p:cBhvr>
                                        <p:cTn id="28" dur="250"/>
                                        <p:tgtEl>
                                          <p:spTgt spid="69"/>
                                        </p:tgtEl>
                                      </p:cBhvr>
                                    </p:animEffect>
                                  </p:childTnLst>
                                </p:cTn>
                              </p:par>
                              <p:par>
                                <p:cTn id="29" presetID="10" presetClass="exit" presetSubtype="0" fill="hold" nodeType="withEffect">
                                  <p:stCondLst>
                                    <p:cond delay="0"/>
                                  </p:stCondLst>
                                  <p:childTnLst>
                                    <p:animEffect transition="out" filter="fade">
                                      <p:cBhvr>
                                        <p:cTn id="30" dur="150"/>
                                        <p:tgtEl>
                                          <p:spTgt spid="57"/>
                                        </p:tgtEl>
                                      </p:cBhvr>
                                    </p:animEffect>
                                    <p:set>
                                      <p:cBhvr>
                                        <p:cTn id="31" dur="1" fill="hold">
                                          <p:stCondLst>
                                            <p:cond delay="149"/>
                                          </p:stCondLst>
                                        </p:cTn>
                                        <p:tgtEl>
                                          <p:spTgt spid="5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2"/>
                                        </p:tgtEl>
                                        <p:attrNameLst>
                                          <p:attrName>style.visibility</p:attrName>
                                        </p:attrNameLst>
                                      </p:cBhvr>
                                      <p:to>
                                        <p:strVal val="visible"/>
                                      </p:to>
                                    </p:set>
                                    <p:animEffect transition="in" filter="fade">
                                      <p:cBhvr>
                                        <p:cTn id="36" dur="250"/>
                                        <p:tgtEl>
                                          <p:spTgt spid="82"/>
                                        </p:tgtEl>
                                      </p:cBhvr>
                                    </p:animEffect>
                                  </p:childTnLst>
                                </p:cTn>
                              </p:par>
                              <p:par>
                                <p:cTn id="37" presetID="10" presetClass="exit" presetSubtype="0" fill="hold" nodeType="withEffect">
                                  <p:stCondLst>
                                    <p:cond delay="0"/>
                                  </p:stCondLst>
                                  <p:childTnLst>
                                    <p:animEffect transition="out" filter="fade">
                                      <p:cBhvr>
                                        <p:cTn id="38" dur="150"/>
                                        <p:tgtEl>
                                          <p:spTgt spid="69"/>
                                        </p:tgtEl>
                                      </p:cBhvr>
                                    </p:animEffect>
                                    <p:set>
                                      <p:cBhvr>
                                        <p:cTn id="39" dur="1" fill="hold">
                                          <p:stCondLst>
                                            <p:cond delay="149"/>
                                          </p:stCondLst>
                                        </p:cTn>
                                        <p:tgtEl>
                                          <p:spTgt spid="6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5"/>
                                        </p:tgtEl>
                                        <p:attrNameLst>
                                          <p:attrName>style.visibility</p:attrName>
                                        </p:attrNameLst>
                                      </p:cBhvr>
                                      <p:to>
                                        <p:strVal val="visible"/>
                                      </p:to>
                                    </p:set>
                                    <p:animEffect transition="in" filter="fade">
                                      <p:cBhvr>
                                        <p:cTn id="44" dur="250"/>
                                        <p:tgtEl>
                                          <p:spTgt spid="95"/>
                                        </p:tgtEl>
                                      </p:cBhvr>
                                    </p:animEffect>
                                  </p:childTnLst>
                                </p:cTn>
                              </p:par>
                              <p:par>
                                <p:cTn id="45" presetID="10" presetClass="exit" presetSubtype="0" fill="hold" nodeType="withEffect">
                                  <p:stCondLst>
                                    <p:cond delay="0"/>
                                  </p:stCondLst>
                                  <p:childTnLst>
                                    <p:animEffect transition="out" filter="fade">
                                      <p:cBhvr>
                                        <p:cTn id="46" dur="150"/>
                                        <p:tgtEl>
                                          <p:spTgt spid="82"/>
                                        </p:tgtEl>
                                      </p:cBhvr>
                                    </p:animEffect>
                                    <p:set>
                                      <p:cBhvr>
                                        <p:cTn id="47" dur="1" fill="hold">
                                          <p:stCondLst>
                                            <p:cond delay="149"/>
                                          </p:stCondLst>
                                        </p:cTn>
                                        <p:tgtEl>
                                          <p:spTgt spid="8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8"/>
                                        </p:tgtEl>
                                        <p:attrNameLst>
                                          <p:attrName>style.visibility</p:attrName>
                                        </p:attrNameLst>
                                      </p:cBhvr>
                                      <p:to>
                                        <p:strVal val="visible"/>
                                      </p:to>
                                    </p:set>
                                    <p:animEffect transition="in" filter="fade">
                                      <p:cBhvr>
                                        <p:cTn id="52" dur="250"/>
                                        <p:tgtEl>
                                          <p:spTgt spid="108"/>
                                        </p:tgtEl>
                                      </p:cBhvr>
                                    </p:animEffect>
                                  </p:childTnLst>
                                </p:cTn>
                              </p:par>
                              <p:par>
                                <p:cTn id="53" presetID="10" presetClass="exit" presetSubtype="0" fill="hold" nodeType="withEffect">
                                  <p:stCondLst>
                                    <p:cond delay="0"/>
                                  </p:stCondLst>
                                  <p:childTnLst>
                                    <p:animEffect transition="out" filter="fade">
                                      <p:cBhvr>
                                        <p:cTn id="54" dur="150"/>
                                        <p:tgtEl>
                                          <p:spTgt spid="95"/>
                                        </p:tgtEl>
                                      </p:cBhvr>
                                    </p:animEffect>
                                    <p:set>
                                      <p:cBhvr>
                                        <p:cTn id="55" dur="1" fill="hold">
                                          <p:stCondLst>
                                            <p:cond delay="149"/>
                                          </p:stCondLst>
                                        </p:cTn>
                                        <p:tgtEl>
                                          <p:spTgt spid="95"/>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21"/>
                                        </p:tgtEl>
                                        <p:attrNameLst>
                                          <p:attrName>style.visibility</p:attrName>
                                        </p:attrNameLst>
                                      </p:cBhvr>
                                      <p:to>
                                        <p:strVal val="visible"/>
                                      </p:to>
                                    </p:set>
                                    <p:animEffect transition="in" filter="fade">
                                      <p:cBhvr>
                                        <p:cTn id="60" dur="250"/>
                                        <p:tgtEl>
                                          <p:spTgt spid="121"/>
                                        </p:tgtEl>
                                      </p:cBhvr>
                                    </p:animEffect>
                                  </p:childTnLst>
                                </p:cTn>
                              </p:par>
                              <p:par>
                                <p:cTn id="61" presetID="10" presetClass="exit" presetSubtype="0" fill="hold" nodeType="withEffect">
                                  <p:stCondLst>
                                    <p:cond delay="0"/>
                                  </p:stCondLst>
                                  <p:childTnLst>
                                    <p:animEffect transition="out" filter="fade">
                                      <p:cBhvr>
                                        <p:cTn id="62" dur="150"/>
                                        <p:tgtEl>
                                          <p:spTgt spid="108"/>
                                        </p:tgtEl>
                                      </p:cBhvr>
                                    </p:animEffect>
                                    <p:set>
                                      <p:cBhvr>
                                        <p:cTn id="63" dur="1" fill="hold">
                                          <p:stCondLst>
                                            <p:cond delay="149"/>
                                          </p:stCondLst>
                                        </p:cTn>
                                        <p:tgtEl>
                                          <p:spTgt spid="1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en-US">
                <a:latin typeface="Montserrat SemiBold"/>
              </a:rPr>
              <a:t>DFS: </a:t>
            </a:r>
            <a:r>
              <a:rPr lang="ru-RU">
                <a:latin typeface="Montserrat SemiBold"/>
              </a:rPr>
              <a:t>углубление и возврат</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F30E7B0A-F8EF-474E-90C2-DFDEB6804728}"/>
              </a:ext>
            </a:extLst>
          </p:cNvPr>
          <p:cNvCxnSpPr/>
          <p:nvPr/>
        </p:nvCxnSpPr>
        <p:spPr>
          <a:xfrm flipV="1">
            <a:off x="1377190" y="2278310"/>
            <a:ext cx="1284220" cy="9043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10075492-6C52-4E18-B43E-0BEEF4D2194B}"/>
              </a:ext>
            </a:extLst>
          </p:cNvPr>
          <p:cNvCxnSpPr/>
          <p:nvPr/>
        </p:nvCxnSpPr>
        <p:spPr>
          <a:xfrm>
            <a:off x="1377190" y="3548310"/>
            <a:ext cx="1284220" cy="9043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97A4E7D1-0144-4FAB-B4E5-EDABFB7A43E2}"/>
              </a:ext>
            </a:extLst>
          </p:cNvPr>
          <p:cNvCxnSpPr/>
          <p:nvPr/>
        </p:nvCxnSpPr>
        <p:spPr>
          <a:xfrm flipV="1">
            <a:off x="3229020" y="1728005"/>
            <a:ext cx="1161960" cy="29049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B-E">
            <a:extLst>
              <a:ext uri="{FF2B5EF4-FFF2-40B4-BE49-F238E27FC236}">
                <a16:creationId xmlns:a16="http://schemas.microsoft.com/office/drawing/2014/main" id="{0038BCD2-0BA9-414A-8CCE-40770E27B2C9}"/>
              </a:ext>
            </a:extLst>
          </p:cNvPr>
          <p:cNvCxnSpPr/>
          <p:nvPr/>
        </p:nvCxnSpPr>
        <p:spPr>
          <a:xfrm>
            <a:off x="3179360" y="2280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C-E">
            <a:extLst>
              <a:ext uri="{FF2B5EF4-FFF2-40B4-BE49-F238E27FC236}">
                <a16:creationId xmlns:a16="http://schemas.microsoft.com/office/drawing/2014/main" id="{5DDD68E6-3982-4322-ACB8-26D566368D45}"/>
              </a:ext>
            </a:extLst>
          </p:cNvPr>
          <p:cNvCxnSpPr/>
          <p:nvPr/>
        </p:nvCxnSpPr>
        <p:spPr>
          <a:xfrm flipV="1">
            <a:off x="3179360" y="3550043"/>
            <a:ext cx="1261280" cy="9009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C-F">
            <a:extLst>
              <a:ext uri="{FF2B5EF4-FFF2-40B4-BE49-F238E27FC236}">
                <a16:creationId xmlns:a16="http://schemas.microsoft.com/office/drawing/2014/main" id="{147697C4-9AFA-449D-9A07-BC20F054D8E8}"/>
              </a:ext>
            </a:extLst>
          </p:cNvPr>
          <p:cNvCxnSpPr/>
          <p:nvPr/>
        </p:nvCxnSpPr>
        <p:spPr>
          <a:xfrm>
            <a:off x="3220003" y="4742287"/>
            <a:ext cx="1179994" cy="42142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D-G">
            <a:extLst>
              <a:ext uri="{FF2B5EF4-FFF2-40B4-BE49-F238E27FC236}">
                <a16:creationId xmlns:a16="http://schemas.microsoft.com/office/drawing/2014/main" id="{58A5CEBE-D257-406A-BFA7-8398982A587A}"/>
              </a:ext>
            </a:extLst>
          </p:cNvPr>
          <p:cNvCxnSpPr/>
          <p:nvPr/>
        </p:nvCxnSpPr>
        <p:spPr>
          <a:xfrm>
            <a:off x="4996285" y="1762482"/>
            <a:ext cx="1437430" cy="5390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1" name="!!g-edge-E-G">
            <a:extLst>
              <a:ext uri="{FF2B5EF4-FFF2-40B4-BE49-F238E27FC236}">
                <a16:creationId xmlns:a16="http://schemas.microsoft.com/office/drawing/2014/main" id="{CAFA4E80-9A11-4FED-8016-374F774E520B}"/>
              </a:ext>
            </a:extLst>
          </p:cNvPr>
          <p:cNvCxnSpPr/>
          <p:nvPr/>
        </p:nvCxnSpPr>
        <p:spPr>
          <a:xfrm flipV="1">
            <a:off x="4986483" y="2547758"/>
            <a:ext cx="1457034" cy="6829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2" name="!!g-edge-E-H">
            <a:extLst>
              <a:ext uri="{FF2B5EF4-FFF2-40B4-BE49-F238E27FC236}">
                <a16:creationId xmlns:a16="http://schemas.microsoft.com/office/drawing/2014/main" id="{AB33D576-2A0E-4447-BA49-3F47DE8D6250}"/>
              </a:ext>
            </a:extLst>
          </p:cNvPr>
          <p:cNvCxnSpPr/>
          <p:nvPr/>
        </p:nvCxnSpPr>
        <p:spPr>
          <a:xfrm>
            <a:off x="4982981" y="3507490"/>
            <a:ext cx="1464038" cy="73202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3" name="!!g-edge-F-H">
            <a:extLst>
              <a:ext uri="{FF2B5EF4-FFF2-40B4-BE49-F238E27FC236}">
                <a16:creationId xmlns:a16="http://schemas.microsoft.com/office/drawing/2014/main" id="{3A11AB74-0CDA-44A9-84B8-9BF6831BF3B2}"/>
              </a:ext>
            </a:extLst>
          </p:cNvPr>
          <p:cNvCxnSpPr/>
          <p:nvPr/>
        </p:nvCxnSpPr>
        <p:spPr>
          <a:xfrm flipV="1">
            <a:off x="4989880" y="4508760"/>
            <a:ext cx="1450240" cy="6344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4" name="!!g-node-A">
            <a:extLst>
              <a:ext uri="{FF2B5EF4-FFF2-40B4-BE49-F238E27FC236}">
                <a16:creationId xmlns:a16="http://schemas.microsoft.com/office/drawing/2014/main" id="{26D347D3-D34C-482B-9A1F-95F46FA778F0}"/>
              </a:ext>
            </a:extLst>
          </p:cNvPr>
          <p:cNvSpPr/>
          <p:nvPr/>
        </p:nvSpPr>
        <p:spPr>
          <a:xfrm>
            <a:off x="8001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5" name="!!g-node-B">
            <a:extLst>
              <a:ext uri="{FF2B5EF4-FFF2-40B4-BE49-F238E27FC236}">
                <a16:creationId xmlns:a16="http://schemas.microsoft.com/office/drawing/2014/main" id="{5DDA811C-4C8F-47C9-BEFC-D33BBA94A7C1}"/>
              </a:ext>
            </a:extLst>
          </p:cNvPr>
          <p:cNvSpPr/>
          <p:nvPr/>
        </p:nvSpPr>
        <p:spPr>
          <a:xfrm>
            <a:off x="2603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6" name="!!g-node-C">
            <a:extLst>
              <a:ext uri="{FF2B5EF4-FFF2-40B4-BE49-F238E27FC236}">
                <a16:creationId xmlns:a16="http://schemas.microsoft.com/office/drawing/2014/main" id="{EE089A3A-E1C3-4840-994A-722D254CC050}"/>
              </a:ext>
            </a:extLst>
          </p:cNvPr>
          <p:cNvSpPr/>
          <p:nvPr/>
        </p:nvSpPr>
        <p:spPr>
          <a:xfrm>
            <a:off x="2603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7" name="!!g-node-D">
            <a:extLst>
              <a:ext uri="{FF2B5EF4-FFF2-40B4-BE49-F238E27FC236}">
                <a16:creationId xmlns:a16="http://schemas.microsoft.com/office/drawing/2014/main" id="{F284D1B4-FEA2-44BA-8D32-C5FBC58B8840}"/>
              </a:ext>
            </a:extLst>
          </p:cNvPr>
          <p:cNvSpPr/>
          <p:nvPr/>
        </p:nvSpPr>
        <p:spPr>
          <a:xfrm>
            <a:off x="4381500" y="1333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8" name="!!g-node-E">
            <a:extLst>
              <a:ext uri="{FF2B5EF4-FFF2-40B4-BE49-F238E27FC236}">
                <a16:creationId xmlns:a16="http://schemas.microsoft.com/office/drawing/2014/main" id="{5414E36D-8CEB-4049-9944-473AC1EF65E0}"/>
              </a:ext>
            </a:extLst>
          </p:cNvPr>
          <p:cNvSpPr/>
          <p:nvPr/>
        </p:nvSpPr>
        <p:spPr>
          <a:xfrm>
            <a:off x="43815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9" name="!!g-node-F">
            <a:extLst>
              <a:ext uri="{FF2B5EF4-FFF2-40B4-BE49-F238E27FC236}">
                <a16:creationId xmlns:a16="http://schemas.microsoft.com/office/drawing/2014/main" id="{130EE005-A33E-441B-A6AC-92C5FFE65F50}"/>
              </a:ext>
            </a:extLst>
          </p:cNvPr>
          <p:cNvSpPr/>
          <p:nvPr/>
        </p:nvSpPr>
        <p:spPr>
          <a:xfrm>
            <a:off x="4381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20" name="!!g-node-G">
            <a:extLst>
              <a:ext uri="{FF2B5EF4-FFF2-40B4-BE49-F238E27FC236}">
                <a16:creationId xmlns:a16="http://schemas.microsoft.com/office/drawing/2014/main" id="{482C4F1A-0CFE-49DC-9D6C-A49A9950764C}"/>
              </a:ext>
            </a:extLst>
          </p:cNvPr>
          <p:cNvSpPr/>
          <p:nvPr/>
        </p:nvSpPr>
        <p:spPr>
          <a:xfrm>
            <a:off x="64135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21" name="!!g-node-H">
            <a:extLst>
              <a:ext uri="{FF2B5EF4-FFF2-40B4-BE49-F238E27FC236}">
                <a16:creationId xmlns:a16="http://schemas.microsoft.com/office/drawing/2014/main" id="{586F1041-FA27-4457-B93F-765A7374AB69}"/>
              </a:ext>
            </a:extLst>
          </p:cNvPr>
          <p:cNvSpPr/>
          <p:nvPr/>
        </p:nvSpPr>
        <p:spPr>
          <a:xfrm>
            <a:off x="6413500" y="4064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22" name="box-18-246">
            <a:extLst>
              <a:ext uri="{FF2B5EF4-FFF2-40B4-BE49-F238E27FC236}">
                <a16:creationId xmlns:a16="http://schemas.microsoft.com/office/drawing/2014/main" id="{786B1E66-53CB-4EEA-9A29-E1FC2FC2ADA8}"/>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box-19-247">
            <a:extLst>
              <a:ext uri="{FF2B5EF4-FFF2-40B4-BE49-F238E27FC236}">
                <a16:creationId xmlns:a16="http://schemas.microsoft.com/office/drawing/2014/main" id="{455D46EE-26B4-4D24-80EC-BFB2383F28F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20-248">
            <a:extLst>
              <a:ext uri="{FF2B5EF4-FFF2-40B4-BE49-F238E27FC236}">
                <a16:creationId xmlns:a16="http://schemas.microsoft.com/office/drawing/2014/main" id="{BAA62EE5-22EA-4B9C-8AAE-FE3D8FC767AC}"/>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Стек вызовов</a:t>
            </a:r>
          </a:p>
        </p:txBody>
      </p:sp>
      <p:sp>
        <p:nvSpPr>
          <p:cNvPr id="25" name="text-21-249">
            <a:extLst>
              <a:ext uri="{FF2B5EF4-FFF2-40B4-BE49-F238E27FC236}">
                <a16:creationId xmlns:a16="http://schemas.microsoft.com/office/drawing/2014/main" id="{D069D857-908A-4024-A820-B0A3A20255B6}"/>
              </a:ext>
            </a:extLst>
          </p:cNvPr>
          <p:cNvSpPr txBox="1"/>
          <p:nvPr/>
        </p:nvSpPr>
        <p:spPr bwMode="auto">
          <a:xfrm>
            <a:off x="8153400" y="2615828"/>
            <a:ext cx="3340100" cy="405239"/>
          </a:xfrm>
          <a:prstGeom prst="rect">
            <a:avLst/>
          </a:prstGeom>
        </p:spPr>
        <p:txBody>
          <a:bodyPr vert="horz" wrap="square" lIns="38100" tIns="25400" rIns="38100" bIns="25400" rtlCol="0" anchor="ctr">
            <a:spAutoFit/>
          </a:bodyPr>
          <a:lstStyle/>
          <a:p>
            <a:r>
              <a:rPr lang="ru-RU" sz="2300">
                <a:solidFill>
                  <a:srgbClr val="352379"/>
                </a:solidFill>
                <a:latin typeface="Montserrat"/>
              </a:rPr>
              <a:t>Начинаем с </a:t>
            </a:r>
            <a:r>
              <a:rPr lang="en-US" sz="2300">
                <a:solidFill>
                  <a:srgbClr val="352379"/>
                </a:solidFill>
                <a:latin typeface="Montserrat"/>
              </a:rPr>
              <a:t>A</a:t>
            </a:r>
            <a:endParaRPr lang="ru-RU" sz="2300">
              <a:solidFill>
                <a:srgbClr val="352379"/>
              </a:solidFill>
              <a:latin typeface="Montserrat"/>
            </a:endParaRPr>
          </a:p>
        </p:txBody>
      </p:sp>
      <p:sp>
        <p:nvSpPr>
          <p:cNvPr id="26" name="box-22-250">
            <a:extLst>
              <a:ext uri="{FF2B5EF4-FFF2-40B4-BE49-F238E27FC236}">
                <a16:creationId xmlns:a16="http://schemas.microsoft.com/office/drawing/2014/main" id="{1967C153-3A08-4A54-B4EA-7EE30B054FE3}"/>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251">
            <a:extLst>
              <a:ext uri="{FF2B5EF4-FFF2-40B4-BE49-F238E27FC236}">
                <a16:creationId xmlns:a16="http://schemas.microsoft.com/office/drawing/2014/main" id="{B634A7D5-C9B5-4FD9-BBA9-B1543158AE5F}"/>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DFS станет основой почти всех алгоритмов этой лекции.</a:t>
            </a:r>
          </a:p>
        </p:txBody>
      </p:sp>
      <p:grpSp>
        <p:nvGrpSpPr>
          <p:cNvPr id="33" name="animation-stage-1">
            <a:extLst>
              <a:ext uri="{FF2B5EF4-FFF2-40B4-BE49-F238E27FC236}">
                <a16:creationId xmlns:a16="http://schemas.microsoft.com/office/drawing/2014/main" id="{2CE1F7B8-1CA0-4A4F-8F32-D15506D0A93B}"/>
              </a:ext>
            </a:extLst>
          </p:cNvPr>
          <p:cNvGrpSpPr/>
          <p:nvPr/>
        </p:nvGrpSpPr>
        <p:grpSpPr>
          <a:xfrm>
            <a:off x="800100" y="1816100"/>
            <a:ext cx="10909300" cy="3657600"/>
            <a:chOff x="800100" y="1816100"/>
            <a:chExt cx="10909300" cy="3657600"/>
          </a:xfrm>
        </p:grpSpPr>
        <p:sp>
          <p:nvSpPr>
            <p:cNvPr id="28" name="active-node-A-252">
              <a:extLst>
                <a:ext uri="{FF2B5EF4-FFF2-40B4-BE49-F238E27FC236}">
                  <a16:creationId xmlns:a16="http://schemas.microsoft.com/office/drawing/2014/main" id="{4D225609-64A9-4137-90A7-B67040E96F2C}"/>
                </a:ext>
              </a:extLst>
            </p:cNvPr>
            <p:cNvSpPr/>
            <p:nvPr/>
          </p:nvSpPr>
          <p:spPr>
            <a:xfrm>
              <a:off x="8001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29" name="box-1-253">
              <a:extLst>
                <a:ext uri="{FF2B5EF4-FFF2-40B4-BE49-F238E27FC236}">
                  <a16:creationId xmlns:a16="http://schemas.microsoft.com/office/drawing/2014/main" id="{F41C0449-5AA3-4E9E-88A2-B57160D7BB88}"/>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box-2-254">
              <a:extLst>
                <a:ext uri="{FF2B5EF4-FFF2-40B4-BE49-F238E27FC236}">
                  <a16:creationId xmlns:a16="http://schemas.microsoft.com/office/drawing/2014/main" id="{ECF8FD27-D7EA-465E-B7E9-95B5F9AC9331}"/>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3-255">
              <a:extLst>
                <a:ext uri="{FF2B5EF4-FFF2-40B4-BE49-F238E27FC236}">
                  <a16:creationId xmlns:a16="http://schemas.microsoft.com/office/drawing/2014/main" id="{D50133C0-97E5-4535-A8FC-1DCA06591EE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32" name="text-4-256">
              <a:extLst>
                <a:ext uri="{FF2B5EF4-FFF2-40B4-BE49-F238E27FC236}">
                  <a16:creationId xmlns:a16="http://schemas.microsoft.com/office/drawing/2014/main" id="{9D7DFBC3-E297-4788-A3E7-FA1811B364D5}"/>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t>
              </a:r>
              <a:r>
                <a:rPr lang="en-US" sz="2100">
                  <a:solidFill>
                    <a:srgbClr val="352379"/>
                  </a:solidFill>
                  <a:latin typeface="Montserrat"/>
                </a:rPr>
                <a:t>A]</a:t>
              </a:r>
            </a:p>
            <a:p>
              <a:endParaRPr lang="en-US" sz="2100">
                <a:solidFill>
                  <a:srgbClr val="352379"/>
                </a:solidFill>
                <a:latin typeface="Montserrat"/>
              </a:endParaRPr>
            </a:p>
            <a:p>
              <a:r>
                <a:rPr lang="ru-RU" sz="2100">
                  <a:solidFill>
                    <a:srgbClr val="352379"/>
                  </a:solidFill>
                  <a:latin typeface="Montserrat"/>
                </a:rPr>
                <a:t>Текущая: </a:t>
              </a:r>
              <a:r>
                <a:rPr lang="en-US" sz="2100">
                  <a:solidFill>
                    <a:srgbClr val="352379"/>
                  </a:solidFill>
                  <a:latin typeface="Montserrat"/>
                </a:rPr>
                <a:t>A</a:t>
              </a:r>
              <a:endParaRPr lang="ru-RU" sz="2100">
                <a:solidFill>
                  <a:srgbClr val="352379"/>
                </a:solidFill>
                <a:latin typeface="Montserrat"/>
              </a:endParaRPr>
            </a:p>
          </p:txBody>
        </p:sp>
      </p:grpSp>
      <p:grpSp>
        <p:nvGrpSpPr>
          <p:cNvPr id="40" name="animation-stage-2">
            <a:extLst>
              <a:ext uri="{FF2B5EF4-FFF2-40B4-BE49-F238E27FC236}">
                <a16:creationId xmlns:a16="http://schemas.microsoft.com/office/drawing/2014/main" id="{B8F9931F-043C-48F4-A4F1-3AD984456DFF}"/>
              </a:ext>
            </a:extLst>
          </p:cNvPr>
          <p:cNvGrpSpPr/>
          <p:nvPr/>
        </p:nvGrpSpPr>
        <p:grpSpPr>
          <a:xfrm>
            <a:off x="800100" y="1778000"/>
            <a:ext cx="10909300" cy="3695700"/>
            <a:chOff x="800100" y="1778000"/>
            <a:chExt cx="10909300" cy="3695700"/>
          </a:xfrm>
        </p:grpSpPr>
        <p:sp>
          <p:nvSpPr>
            <p:cNvPr id="34" name="active-node-A-257">
              <a:extLst>
                <a:ext uri="{FF2B5EF4-FFF2-40B4-BE49-F238E27FC236}">
                  <a16:creationId xmlns:a16="http://schemas.microsoft.com/office/drawing/2014/main" id="{BEE89247-18CB-414C-8579-2CAD39514DE0}"/>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5" name="active-node-B-258">
              <a:extLst>
                <a:ext uri="{FF2B5EF4-FFF2-40B4-BE49-F238E27FC236}">
                  <a16:creationId xmlns:a16="http://schemas.microsoft.com/office/drawing/2014/main" id="{D4FACC50-7E6E-486A-B73C-26065E20DDF8}"/>
                </a:ext>
              </a:extLst>
            </p:cNvPr>
            <p:cNvSpPr/>
            <p:nvPr/>
          </p:nvSpPr>
          <p:spPr>
            <a:xfrm>
              <a:off x="2603500" y="177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6" name="box-2-259">
              <a:extLst>
                <a:ext uri="{FF2B5EF4-FFF2-40B4-BE49-F238E27FC236}">
                  <a16:creationId xmlns:a16="http://schemas.microsoft.com/office/drawing/2014/main" id="{5F315B30-81C3-4ECD-978F-31C1886CCB0D}"/>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box-3-260">
              <a:extLst>
                <a:ext uri="{FF2B5EF4-FFF2-40B4-BE49-F238E27FC236}">
                  <a16:creationId xmlns:a16="http://schemas.microsoft.com/office/drawing/2014/main" id="{E80A50BD-6CEA-4BC4-B854-584A5ABD8A8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ext-4-261">
              <a:extLst>
                <a:ext uri="{FF2B5EF4-FFF2-40B4-BE49-F238E27FC236}">
                  <a16:creationId xmlns:a16="http://schemas.microsoft.com/office/drawing/2014/main" id="{EDB57B34-EB0E-4D68-9748-9E4AD456FA0A}"/>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39" name="text-5-262">
              <a:extLst>
                <a:ext uri="{FF2B5EF4-FFF2-40B4-BE49-F238E27FC236}">
                  <a16:creationId xmlns:a16="http://schemas.microsoft.com/office/drawing/2014/main" id="{95E6F8C6-E80C-4107-B076-98C7D772C8A8}"/>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 B]</a:t>
              </a:r>
            </a:p>
            <a:p>
              <a:endParaRPr lang="ru-RU" sz="2100">
                <a:solidFill>
                  <a:srgbClr val="352379"/>
                </a:solidFill>
                <a:latin typeface="Montserrat"/>
              </a:endParaRPr>
            </a:p>
            <a:p>
              <a:r>
                <a:rPr lang="ru-RU" sz="2100">
                  <a:solidFill>
                    <a:srgbClr val="352379"/>
                  </a:solidFill>
                  <a:latin typeface="Montserrat"/>
                </a:rPr>
                <a:t>Текущая: B</a:t>
              </a:r>
            </a:p>
          </p:txBody>
        </p:sp>
      </p:grpSp>
      <p:grpSp>
        <p:nvGrpSpPr>
          <p:cNvPr id="48" name="animation-stage-3">
            <a:extLst>
              <a:ext uri="{FF2B5EF4-FFF2-40B4-BE49-F238E27FC236}">
                <a16:creationId xmlns:a16="http://schemas.microsoft.com/office/drawing/2014/main" id="{C26761B1-66C0-4BC6-A1C8-BA2E59C46823}"/>
              </a:ext>
            </a:extLst>
          </p:cNvPr>
          <p:cNvGrpSpPr/>
          <p:nvPr/>
        </p:nvGrpSpPr>
        <p:grpSpPr>
          <a:xfrm>
            <a:off x="800100" y="1333500"/>
            <a:ext cx="10909300" cy="4140200"/>
            <a:chOff x="800100" y="1333500"/>
            <a:chExt cx="10909300" cy="4140200"/>
          </a:xfrm>
        </p:grpSpPr>
        <p:sp>
          <p:nvSpPr>
            <p:cNvPr id="41" name="active-node-A-263">
              <a:extLst>
                <a:ext uri="{FF2B5EF4-FFF2-40B4-BE49-F238E27FC236}">
                  <a16:creationId xmlns:a16="http://schemas.microsoft.com/office/drawing/2014/main" id="{44EE363F-6786-47D6-AD53-CFA062AC8ED1}"/>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42" name="active-node-B-264">
              <a:extLst>
                <a:ext uri="{FF2B5EF4-FFF2-40B4-BE49-F238E27FC236}">
                  <a16:creationId xmlns:a16="http://schemas.microsoft.com/office/drawing/2014/main" id="{03C0077A-CCCA-410A-AB61-A8782184BE7C}"/>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43" name="active-node-D-265">
              <a:extLst>
                <a:ext uri="{FF2B5EF4-FFF2-40B4-BE49-F238E27FC236}">
                  <a16:creationId xmlns:a16="http://schemas.microsoft.com/office/drawing/2014/main" id="{6CBDEF81-7494-4D6A-BECD-6EBB64D5D936}"/>
                </a:ext>
              </a:extLst>
            </p:cNvPr>
            <p:cNvSpPr/>
            <p:nvPr/>
          </p:nvSpPr>
          <p:spPr>
            <a:xfrm>
              <a:off x="4381500" y="1333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44" name="box-3-266">
              <a:extLst>
                <a:ext uri="{FF2B5EF4-FFF2-40B4-BE49-F238E27FC236}">
                  <a16:creationId xmlns:a16="http://schemas.microsoft.com/office/drawing/2014/main" id="{4113486A-6AE3-4091-BE06-C489BA84EDA0}"/>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box-4-267">
              <a:extLst>
                <a:ext uri="{FF2B5EF4-FFF2-40B4-BE49-F238E27FC236}">
                  <a16:creationId xmlns:a16="http://schemas.microsoft.com/office/drawing/2014/main" id="{A7D9A71E-B321-41D7-99AA-41A057DD0547}"/>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5-268">
              <a:extLst>
                <a:ext uri="{FF2B5EF4-FFF2-40B4-BE49-F238E27FC236}">
                  <a16:creationId xmlns:a16="http://schemas.microsoft.com/office/drawing/2014/main" id="{D23DF71F-93AD-4BFE-BF4F-96383DC72DE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47" name="text-6-269">
              <a:extLst>
                <a:ext uri="{FF2B5EF4-FFF2-40B4-BE49-F238E27FC236}">
                  <a16:creationId xmlns:a16="http://schemas.microsoft.com/office/drawing/2014/main" id="{CC536599-0591-4A08-ACA9-3C513D9EE12B}"/>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 B, D]</a:t>
              </a:r>
            </a:p>
            <a:p>
              <a:endParaRPr lang="ru-RU" sz="2100">
                <a:solidFill>
                  <a:srgbClr val="352379"/>
                </a:solidFill>
                <a:latin typeface="Montserrat"/>
              </a:endParaRPr>
            </a:p>
            <a:p>
              <a:r>
                <a:rPr lang="ru-RU" sz="2100">
                  <a:solidFill>
                    <a:srgbClr val="352379"/>
                  </a:solidFill>
                  <a:latin typeface="Montserrat"/>
                </a:rPr>
                <a:t>Текущая: D</a:t>
              </a:r>
            </a:p>
          </p:txBody>
        </p:sp>
      </p:grpSp>
      <p:grpSp>
        <p:nvGrpSpPr>
          <p:cNvPr id="57" name="animation-stage-4">
            <a:extLst>
              <a:ext uri="{FF2B5EF4-FFF2-40B4-BE49-F238E27FC236}">
                <a16:creationId xmlns:a16="http://schemas.microsoft.com/office/drawing/2014/main" id="{EC78757A-B721-4E2F-82B7-9DCEECDA72C3}"/>
              </a:ext>
            </a:extLst>
          </p:cNvPr>
          <p:cNvGrpSpPr/>
          <p:nvPr/>
        </p:nvGrpSpPr>
        <p:grpSpPr>
          <a:xfrm>
            <a:off x="800100" y="1333500"/>
            <a:ext cx="10909300" cy="4140200"/>
            <a:chOff x="800100" y="1333500"/>
            <a:chExt cx="10909300" cy="4140200"/>
          </a:xfrm>
        </p:grpSpPr>
        <p:sp>
          <p:nvSpPr>
            <p:cNvPr id="49" name="active-node-A-270">
              <a:extLst>
                <a:ext uri="{FF2B5EF4-FFF2-40B4-BE49-F238E27FC236}">
                  <a16:creationId xmlns:a16="http://schemas.microsoft.com/office/drawing/2014/main" id="{CD293DEC-138E-4CEB-9CB5-2F54FA4A2FD4}"/>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50" name="active-node-B-271">
              <a:extLst>
                <a:ext uri="{FF2B5EF4-FFF2-40B4-BE49-F238E27FC236}">
                  <a16:creationId xmlns:a16="http://schemas.microsoft.com/office/drawing/2014/main" id="{AD5CA2B1-1F26-4F28-986F-195D50E24214}"/>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51" name="active-node-D-272">
              <a:extLst>
                <a:ext uri="{FF2B5EF4-FFF2-40B4-BE49-F238E27FC236}">
                  <a16:creationId xmlns:a16="http://schemas.microsoft.com/office/drawing/2014/main" id="{A6EB1CDC-4E85-4839-A41B-755C8485EBB8}"/>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52" name="active-node-G-273">
              <a:extLst>
                <a:ext uri="{FF2B5EF4-FFF2-40B4-BE49-F238E27FC236}">
                  <a16:creationId xmlns:a16="http://schemas.microsoft.com/office/drawing/2014/main" id="{324885D5-C97E-40C8-A9D4-DFE1E84A1B11}"/>
                </a:ext>
              </a:extLst>
            </p:cNvPr>
            <p:cNvSpPr/>
            <p:nvPr/>
          </p:nvSpPr>
          <p:spPr>
            <a:xfrm>
              <a:off x="6413500" y="2095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G</a:t>
              </a:r>
              <a:endParaRPr lang="ru-RU" sz="2200">
                <a:solidFill>
                  <a:srgbClr val="FFFFFF"/>
                </a:solidFill>
                <a:latin typeface="Montserrat"/>
              </a:endParaRPr>
            </a:p>
          </p:txBody>
        </p:sp>
        <p:sp>
          <p:nvSpPr>
            <p:cNvPr id="53" name="box-4-274">
              <a:extLst>
                <a:ext uri="{FF2B5EF4-FFF2-40B4-BE49-F238E27FC236}">
                  <a16:creationId xmlns:a16="http://schemas.microsoft.com/office/drawing/2014/main" id="{1439A1A7-35A0-40D1-9E4C-9E1B94E8671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box-5-275">
              <a:extLst>
                <a:ext uri="{FF2B5EF4-FFF2-40B4-BE49-F238E27FC236}">
                  <a16:creationId xmlns:a16="http://schemas.microsoft.com/office/drawing/2014/main" id="{2E441D81-63A2-4CA8-9CE4-64F35A87F6C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6-276">
              <a:extLst>
                <a:ext uri="{FF2B5EF4-FFF2-40B4-BE49-F238E27FC236}">
                  <a16:creationId xmlns:a16="http://schemas.microsoft.com/office/drawing/2014/main" id="{7F79FB4C-FFF0-4C55-89EB-954E1D38C38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56" name="text-7-277">
              <a:extLst>
                <a:ext uri="{FF2B5EF4-FFF2-40B4-BE49-F238E27FC236}">
                  <a16:creationId xmlns:a16="http://schemas.microsoft.com/office/drawing/2014/main" id="{05CEB843-F107-4C1D-90D3-F327CD03642E}"/>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t>
              </a:r>
              <a:r>
                <a:rPr lang="en-US" sz="2100">
                  <a:solidFill>
                    <a:srgbClr val="352379"/>
                  </a:solidFill>
                  <a:latin typeface="Montserrat"/>
                </a:rPr>
                <a:t>A, B, D, G]</a:t>
              </a:r>
            </a:p>
            <a:p>
              <a:endParaRPr lang="en-US" sz="2100">
                <a:solidFill>
                  <a:srgbClr val="352379"/>
                </a:solidFill>
                <a:latin typeface="Montserrat"/>
              </a:endParaRPr>
            </a:p>
            <a:p>
              <a:r>
                <a:rPr lang="ru-RU" sz="2100">
                  <a:solidFill>
                    <a:srgbClr val="352379"/>
                  </a:solidFill>
                  <a:latin typeface="Montserrat"/>
                </a:rPr>
                <a:t>Текущая: </a:t>
              </a:r>
              <a:r>
                <a:rPr lang="en-US" sz="2100">
                  <a:solidFill>
                    <a:srgbClr val="352379"/>
                  </a:solidFill>
                  <a:latin typeface="Montserrat"/>
                </a:rPr>
                <a:t>G</a:t>
              </a:r>
              <a:endParaRPr lang="ru-RU" sz="2100">
                <a:solidFill>
                  <a:srgbClr val="352379"/>
                </a:solidFill>
                <a:latin typeface="Montserrat"/>
              </a:endParaRPr>
            </a:p>
          </p:txBody>
        </p:sp>
      </p:grpSp>
      <p:grpSp>
        <p:nvGrpSpPr>
          <p:cNvPr id="67" name="animation-stage-5">
            <a:extLst>
              <a:ext uri="{FF2B5EF4-FFF2-40B4-BE49-F238E27FC236}">
                <a16:creationId xmlns:a16="http://schemas.microsoft.com/office/drawing/2014/main" id="{DBAB3A3D-3BA9-4C27-8782-48A8E62D4A18}"/>
              </a:ext>
            </a:extLst>
          </p:cNvPr>
          <p:cNvGrpSpPr/>
          <p:nvPr/>
        </p:nvGrpSpPr>
        <p:grpSpPr>
          <a:xfrm>
            <a:off x="800100" y="1333500"/>
            <a:ext cx="10909300" cy="4140200"/>
            <a:chOff x="800100" y="1333500"/>
            <a:chExt cx="10909300" cy="4140200"/>
          </a:xfrm>
        </p:grpSpPr>
        <p:sp>
          <p:nvSpPr>
            <p:cNvPr id="58" name="active-node-A-278">
              <a:extLst>
                <a:ext uri="{FF2B5EF4-FFF2-40B4-BE49-F238E27FC236}">
                  <a16:creationId xmlns:a16="http://schemas.microsoft.com/office/drawing/2014/main" id="{C1149E60-F80F-4CF3-8BF3-F86C7A10D523}"/>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59" name="active-node-B-279">
              <a:extLst>
                <a:ext uri="{FF2B5EF4-FFF2-40B4-BE49-F238E27FC236}">
                  <a16:creationId xmlns:a16="http://schemas.microsoft.com/office/drawing/2014/main" id="{1282B8ED-3D83-4182-896B-B20A4189889D}"/>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60" name="active-node-D-280">
              <a:extLst>
                <a:ext uri="{FF2B5EF4-FFF2-40B4-BE49-F238E27FC236}">
                  <a16:creationId xmlns:a16="http://schemas.microsoft.com/office/drawing/2014/main" id="{29DFEE9B-C288-42B3-AD9D-EFDC5747C8CF}"/>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61" name="active-node-G-281">
              <a:extLst>
                <a:ext uri="{FF2B5EF4-FFF2-40B4-BE49-F238E27FC236}">
                  <a16:creationId xmlns:a16="http://schemas.microsoft.com/office/drawing/2014/main" id="{4ADBA6EF-10F7-4FC0-B50E-BD9892A85B45}"/>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62" name="active-node-E-282">
              <a:extLst>
                <a:ext uri="{FF2B5EF4-FFF2-40B4-BE49-F238E27FC236}">
                  <a16:creationId xmlns:a16="http://schemas.microsoft.com/office/drawing/2014/main" id="{BDC372E9-6A9F-471B-93C6-3FB7BE31CF15}"/>
                </a:ext>
              </a:extLst>
            </p:cNvPr>
            <p:cNvSpPr/>
            <p:nvPr/>
          </p:nvSpPr>
          <p:spPr>
            <a:xfrm>
              <a:off x="43815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E</a:t>
              </a:r>
              <a:endParaRPr lang="ru-RU" sz="2200">
                <a:solidFill>
                  <a:srgbClr val="FFFFFF"/>
                </a:solidFill>
                <a:latin typeface="Montserrat"/>
              </a:endParaRPr>
            </a:p>
          </p:txBody>
        </p:sp>
        <p:sp>
          <p:nvSpPr>
            <p:cNvPr id="63" name="box-5-283">
              <a:extLst>
                <a:ext uri="{FF2B5EF4-FFF2-40B4-BE49-F238E27FC236}">
                  <a16:creationId xmlns:a16="http://schemas.microsoft.com/office/drawing/2014/main" id="{871978E8-7DD2-4E11-979E-F8652392EC9F}"/>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box-6-284">
              <a:extLst>
                <a:ext uri="{FF2B5EF4-FFF2-40B4-BE49-F238E27FC236}">
                  <a16:creationId xmlns:a16="http://schemas.microsoft.com/office/drawing/2014/main" id="{79E58016-BAAE-4BA1-AC0F-5DA94FDE5B90}"/>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text-7-285">
              <a:extLst>
                <a:ext uri="{FF2B5EF4-FFF2-40B4-BE49-F238E27FC236}">
                  <a16:creationId xmlns:a16="http://schemas.microsoft.com/office/drawing/2014/main" id="{B66CDF64-A5AB-4C40-8D60-52CB9B088BDF}"/>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66" name="text-8-286">
              <a:extLst>
                <a:ext uri="{FF2B5EF4-FFF2-40B4-BE49-F238E27FC236}">
                  <a16:creationId xmlns:a16="http://schemas.microsoft.com/office/drawing/2014/main" id="{7987F32B-C642-433E-B271-624716E370D3}"/>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t>
              </a:r>
              <a:r>
                <a:rPr lang="en-US" sz="2100">
                  <a:solidFill>
                    <a:srgbClr val="352379"/>
                  </a:solidFill>
                  <a:latin typeface="Montserrat"/>
                </a:rPr>
                <a:t>A, B, D, G, E]</a:t>
              </a:r>
            </a:p>
            <a:p>
              <a:endParaRPr lang="en-US" sz="2100">
                <a:solidFill>
                  <a:srgbClr val="352379"/>
                </a:solidFill>
                <a:latin typeface="Montserrat"/>
              </a:endParaRPr>
            </a:p>
            <a:p>
              <a:r>
                <a:rPr lang="ru-RU" sz="2100">
                  <a:solidFill>
                    <a:srgbClr val="352379"/>
                  </a:solidFill>
                  <a:latin typeface="Montserrat"/>
                </a:rPr>
                <a:t>Текущая: </a:t>
              </a:r>
              <a:r>
                <a:rPr lang="en-US" sz="2100">
                  <a:solidFill>
                    <a:srgbClr val="352379"/>
                  </a:solidFill>
                  <a:latin typeface="Montserrat"/>
                </a:rPr>
                <a:t>E</a:t>
              </a:r>
              <a:endParaRPr lang="ru-RU" sz="2100">
                <a:solidFill>
                  <a:srgbClr val="352379"/>
                </a:solidFill>
                <a:latin typeface="Montserrat"/>
              </a:endParaRPr>
            </a:p>
          </p:txBody>
        </p:sp>
      </p:grpSp>
      <p:grpSp>
        <p:nvGrpSpPr>
          <p:cNvPr id="78" name="animation-stage-6">
            <a:extLst>
              <a:ext uri="{FF2B5EF4-FFF2-40B4-BE49-F238E27FC236}">
                <a16:creationId xmlns:a16="http://schemas.microsoft.com/office/drawing/2014/main" id="{256E3CED-739C-481A-8F2A-B9E0F8658EC2}"/>
              </a:ext>
            </a:extLst>
          </p:cNvPr>
          <p:cNvGrpSpPr/>
          <p:nvPr/>
        </p:nvGrpSpPr>
        <p:grpSpPr>
          <a:xfrm>
            <a:off x="800100" y="1333500"/>
            <a:ext cx="10909300" cy="4140200"/>
            <a:chOff x="800100" y="1333500"/>
            <a:chExt cx="10909300" cy="4140200"/>
          </a:xfrm>
        </p:grpSpPr>
        <p:sp>
          <p:nvSpPr>
            <p:cNvPr id="68" name="active-node-A-287">
              <a:extLst>
                <a:ext uri="{FF2B5EF4-FFF2-40B4-BE49-F238E27FC236}">
                  <a16:creationId xmlns:a16="http://schemas.microsoft.com/office/drawing/2014/main" id="{8C5B9475-A111-4029-98A3-54A23DFA06B1}"/>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69" name="active-node-B-288">
              <a:extLst>
                <a:ext uri="{FF2B5EF4-FFF2-40B4-BE49-F238E27FC236}">
                  <a16:creationId xmlns:a16="http://schemas.microsoft.com/office/drawing/2014/main" id="{B4F67FCD-2CEA-4825-91B3-039DF4DBE50F}"/>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70" name="active-node-D-289">
              <a:extLst>
                <a:ext uri="{FF2B5EF4-FFF2-40B4-BE49-F238E27FC236}">
                  <a16:creationId xmlns:a16="http://schemas.microsoft.com/office/drawing/2014/main" id="{B008F94F-9479-4D8D-A581-3D03988CAAE7}"/>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71" name="active-node-G-290">
              <a:extLst>
                <a:ext uri="{FF2B5EF4-FFF2-40B4-BE49-F238E27FC236}">
                  <a16:creationId xmlns:a16="http://schemas.microsoft.com/office/drawing/2014/main" id="{A710B08F-D912-4973-8AF2-B2BBD3021627}"/>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72" name="active-node-E-291">
              <a:extLst>
                <a:ext uri="{FF2B5EF4-FFF2-40B4-BE49-F238E27FC236}">
                  <a16:creationId xmlns:a16="http://schemas.microsoft.com/office/drawing/2014/main" id="{03BE1C5A-C087-441F-82B5-582D4050F0F9}"/>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73" name="active-node-C-292">
              <a:extLst>
                <a:ext uri="{FF2B5EF4-FFF2-40B4-BE49-F238E27FC236}">
                  <a16:creationId xmlns:a16="http://schemas.microsoft.com/office/drawing/2014/main" id="{1D62424C-E520-4C5E-958A-A96056045A29}"/>
                </a:ext>
              </a:extLst>
            </p:cNvPr>
            <p:cNvSpPr/>
            <p:nvPr/>
          </p:nvSpPr>
          <p:spPr>
            <a:xfrm>
              <a:off x="2603500" y="431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74" name="box-6-293">
              <a:extLst>
                <a:ext uri="{FF2B5EF4-FFF2-40B4-BE49-F238E27FC236}">
                  <a16:creationId xmlns:a16="http://schemas.microsoft.com/office/drawing/2014/main" id="{79C05215-FF5E-4790-B169-4775B3DE280B}"/>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box-7-294">
              <a:extLst>
                <a:ext uri="{FF2B5EF4-FFF2-40B4-BE49-F238E27FC236}">
                  <a16:creationId xmlns:a16="http://schemas.microsoft.com/office/drawing/2014/main" id="{FD8C857A-7AB1-453E-ABA2-10329B338AF2}"/>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text-8-295">
              <a:extLst>
                <a:ext uri="{FF2B5EF4-FFF2-40B4-BE49-F238E27FC236}">
                  <a16:creationId xmlns:a16="http://schemas.microsoft.com/office/drawing/2014/main" id="{FA991C0F-FB28-4106-87CE-03BBAE6421A1}"/>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77" name="text-9-296">
              <a:extLst>
                <a:ext uri="{FF2B5EF4-FFF2-40B4-BE49-F238E27FC236}">
                  <a16:creationId xmlns:a16="http://schemas.microsoft.com/office/drawing/2014/main" id="{80FD4994-264C-4817-8B73-311ACAE33F47}"/>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t>
              </a:r>
              <a:r>
                <a:rPr lang="en-US" sz="2100">
                  <a:solidFill>
                    <a:srgbClr val="352379"/>
                  </a:solidFill>
                  <a:latin typeface="Montserrat"/>
                </a:rPr>
                <a:t>A, B, D, G, E, C]</a:t>
              </a:r>
            </a:p>
            <a:p>
              <a:endParaRPr lang="en-US" sz="2100">
                <a:solidFill>
                  <a:srgbClr val="352379"/>
                </a:solidFill>
                <a:latin typeface="Montserrat"/>
              </a:endParaRPr>
            </a:p>
            <a:p>
              <a:r>
                <a:rPr lang="ru-RU" sz="2100">
                  <a:solidFill>
                    <a:srgbClr val="352379"/>
                  </a:solidFill>
                  <a:latin typeface="Montserrat"/>
                </a:rPr>
                <a:t>Текущая: </a:t>
              </a:r>
              <a:r>
                <a:rPr lang="en-US" sz="2100">
                  <a:solidFill>
                    <a:srgbClr val="352379"/>
                  </a:solidFill>
                  <a:latin typeface="Montserrat"/>
                </a:rPr>
                <a:t>C</a:t>
              </a:r>
              <a:endParaRPr lang="ru-RU" sz="2100">
                <a:solidFill>
                  <a:srgbClr val="352379"/>
                </a:solidFill>
                <a:latin typeface="Montserrat"/>
              </a:endParaRPr>
            </a:p>
          </p:txBody>
        </p:sp>
      </p:grpSp>
      <p:grpSp>
        <p:nvGrpSpPr>
          <p:cNvPr id="90" name="animation-stage-7">
            <a:extLst>
              <a:ext uri="{FF2B5EF4-FFF2-40B4-BE49-F238E27FC236}">
                <a16:creationId xmlns:a16="http://schemas.microsoft.com/office/drawing/2014/main" id="{716F8A45-D8A3-4834-9AC5-60526A2BC0F6}"/>
              </a:ext>
            </a:extLst>
          </p:cNvPr>
          <p:cNvGrpSpPr/>
          <p:nvPr/>
        </p:nvGrpSpPr>
        <p:grpSpPr>
          <a:xfrm>
            <a:off x="800100" y="1333500"/>
            <a:ext cx="10909300" cy="4254500"/>
            <a:chOff x="800100" y="1333500"/>
            <a:chExt cx="10909300" cy="4254500"/>
          </a:xfrm>
        </p:grpSpPr>
        <p:sp>
          <p:nvSpPr>
            <p:cNvPr id="79" name="active-node-A-297">
              <a:extLst>
                <a:ext uri="{FF2B5EF4-FFF2-40B4-BE49-F238E27FC236}">
                  <a16:creationId xmlns:a16="http://schemas.microsoft.com/office/drawing/2014/main" id="{0E0E8D7E-23A4-479E-9628-0068E3A5261A}"/>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80" name="active-node-B-298">
              <a:extLst>
                <a:ext uri="{FF2B5EF4-FFF2-40B4-BE49-F238E27FC236}">
                  <a16:creationId xmlns:a16="http://schemas.microsoft.com/office/drawing/2014/main" id="{FF1C1C19-2002-4F3E-BFB9-BBBE6A307CB1}"/>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81" name="active-node-D-299">
              <a:extLst>
                <a:ext uri="{FF2B5EF4-FFF2-40B4-BE49-F238E27FC236}">
                  <a16:creationId xmlns:a16="http://schemas.microsoft.com/office/drawing/2014/main" id="{4BF5A1F3-2891-4BD6-B4DF-03CD549A34EB}"/>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82" name="active-node-G-300">
              <a:extLst>
                <a:ext uri="{FF2B5EF4-FFF2-40B4-BE49-F238E27FC236}">
                  <a16:creationId xmlns:a16="http://schemas.microsoft.com/office/drawing/2014/main" id="{F9D500F7-A1DB-40A6-9F5C-1CE5B06AAAE5}"/>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83" name="active-node-E-301">
              <a:extLst>
                <a:ext uri="{FF2B5EF4-FFF2-40B4-BE49-F238E27FC236}">
                  <a16:creationId xmlns:a16="http://schemas.microsoft.com/office/drawing/2014/main" id="{CC997406-E4AA-41DD-93A2-141D9D8F802D}"/>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84" name="active-node-C-302">
              <a:extLst>
                <a:ext uri="{FF2B5EF4-FFF2-40B4-BE49-F238E27FC236}">
                  <a16:creationId xmlns:a16="http://schemas.microsoft.com/office/drawing/2014/main" id="{171EA700-3C6A-4FE9-AD9F-A61871F76B5D}"/>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85" name="active-node-F-303">
              <a:extLst>
                <a:ext uri="{FF2B5EF4-FFF2-40B4-BE49-F238E27FC236}">
                  <a16:creationId xmlns:a16="http://schemas.microsoft.com/office/drawing/2014/main" id="{07937821-B420-4C09-9467-6447D782CB3F}"/>
                </a:ext>
              </a:extLst>
            </p:cNvPr>
            <p:cNvSpPr/>
            <p:nvPr/>
          </p:nvSpPr>
          <p:spPr>
            <a:xfrm>
              <a:off x="43815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F</a:t>
              </a:r>
              <a:endParaRPr lang="ru-RU" sz="2200">
                <a:solidFill>
                  <a:srgbClr val="FFFFFF"/>
                </a:solidFill>
                <a:latin typeface="Montserrat"/>
              </a:endParaRPr>
            </a:p>
          </p:txBody>
        </p:sp>
        <p:sp>
          <p:nvSpPr>
            <p:cNvPr id="86" name="box-7-304">
              <a:extLst>
                <a:ext uri="{FF2B5EF4-FFF2-40B4-BE49-F238E27FC236}">
                  <a16:creationId xmlns:a16="http://schemas.microsoft.com/office/drawing/2014/main" id="{DD918644-39B3-441B-B367-FFDB933DAC43}"/>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7" name="box-8-305">
              <a:extLst>
                <a:ext uri="{FF2B5EF4-FFF2-40B4-BE49-F238E27FC236}">
                  <a16:creationId xmlns:a16="http://schemas.microsoft.com/office/drawing/2014/main" id="{AFA8DB51-864C-4D99-B5CE-582E80CFB8FF}"/>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8" name="text-9-306">
              <a:extLst>
                <a:ext uri="{FF2B5EF4-FFF2-40B4-BE49-F238E27FC236}">
                  <a16:creationId xmlns:a16="http://schemas.microsoft.com/office/drawing/2014/main" id="{309788E0-B7AB-4AAC-B9D4-5B4A5626266D}"/>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89" name="text-10-307">
              <a:extLst>
                <a:ext uri="{FF2B5EF4-FFF2-40B4-BE49-F238E27FC236}">
                  <a16:creationId xmlns:a16="http://schemas.microsoft.com/office/drawing/2014/main" id="{F8B1C6E6-2FB5-4AE8-B3C9-4A6EFD23FF5D}"/>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t>
              </a:r>
              <a:r>
                <a:rPr lang="en-US" sz="2100">
                  <a:solidFill>
                    <a:srgbClr val="352379"/>
                  </a:solidFill>
                  <a:latin typeface="Montserrat"/>
                </a:rPr>
                <a:t>A, B, D, G, E, C, F]</a:t>
              </a:r>
            </a:p>
            <a:p>
              <a:endParaRPr lang="en-US" sz="2100">
                <a:solidFill>
                  <a:srgbClr val="352379"/>
                </a:solidFill>
                <a:latin typeface="Montserrat"/>
              </a:endParaRPr>
            </a:p>
            <a:p>
              <a:r>
                <a:rPr lang="ru-RU" sz="2100">
                  <a:solidFill>
                    <a:srgbClr val="352379"/>
                  </a:solidFill>
                  <a:latin typeface="Montserrat"/>
                </a:rPr>
                <a:t>Текущая: </a:t>
              </a:r>
              <a:r>
                <a:rPr lang="en-US" sz="2100">
                  <a:solidFill>
                    <a:srgbClr val="352379"/>
                  </a:solidFill>
                  <a:latin typeface="Montserrat"/>
                </a:rPr>
                <a:t>F</a:t>
              </a:r>
              <a:endParaRPr lang="ru-RU" sz="2100">
                <a:solidFill>
                  <a:srgbClr val="352379"/>
                </a:solidFill>
                <a:latin typeface="Montserrat"/>
              </a:endParaRPr>
            </a:p>
          </p:txBody>
        </p:sp>
      </p:grpSp>
      <p:grpSp>
        <p:nvGrpSpPr>
          <p:cNvPr id="103" name="animation-stage-8">
            <a:extLst>
              <a:ext uri="{FF2B5EF4-FFF2-40B4-BE49-F238E27FC236}">
                <a16:creationId xmlns:a16="http://schemas.microsoft.com/office/drawing/2014/main" id="{27EA32BF-7C5D-4601-A614-49C1239EFA0B}"/>
              </a:ext>
            </a:extLst>
          </p:cNvPr>
          <p:cNvGrpSpPr/>
          <p:nvPr/>
        </p:nvGrpSpPr>
        <p:grpSpPr>
          <a:xfrm>
            <a:off x="800100" y="1333500"/>
            <a:ext cx="10909300" cy="4254500"/>
            <a:chOff x="800100" y="1333500"/>
            <a:chExt cx="10909300" cy="4254500"/>
          </a:xfrm>
        </p:grpSpPr>
        <p:sp>
          <p:nvSpPr>
            <p:cNvPr id="91" name="active-node-A-308">
              <a:extLst>
                <a:ext uri="{FF2B5EF4-FFF2-40B4-BE49-F238E27FC236}">
                  <a16:creationId xmlns:a16="http://schemas.microsoft.com/office/drawing/2014/main" id="{5F39BED8-ED84-4D64-83C9-71CA01D1AD8C}"/>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2" name="active-node-B-309">
              <a:extLst>
                <a:ext uri="{FF2B5EF4-FFF2-40B4-BE49-F238E27FC236}">
                  <a16:creationId xmlns:a16="http://schemas.microsoft.com/office/drawing/2014/main" id="{85838DC1-FE88-471E-90EA-C416C34425C9}"/>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93" name="active-node-D-310">
              <a:extLst>
                <a:ext uri="{FF2B5EF4-FFF2-40B4-BE49-F238E27FC236}">
                  <a16:creationId xmlns:a16="http://schemas.microsoft.com/office/drawing/2014/main" id="{6E3B29AB-5133-4D9E-969D-8EAEFDE0F840}"/>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94" name="active-node-G-311">
              <a:extLst>
                <a:ext uri="{FF2B5EF4-FFF2-40B4-BE49-F238E27FC236}">
                  <a16:creationId xmlns:a16="http://schemas.microsoft.com/office/drawing/2014/main" id="{CCF433DC-FD61-4F4E-B4E0-D6A2196709FF}"/>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95" name="active-node-E-312">
              <a:extLst>
                <a:ext uri="{FF2B5EF4-FFF2-40B4-BE49-F238E27FC236}">
                  <a16:creationId xmlns:a16="http://schemas.microsoft.com/office/drawing/2014/main" id="{5A2A1678-915E-43FC-A48E-42F34B80FBD6}"/>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96" name="active-node-C-313">
              <a:extLst>
                <a:ext uri="{FF2B5EF4-FFF2-40B4-BE49-F238E27FC236}">
                  <a16:creationId xmlns:a16="http://schemas.microsoft.com/office/drawing/2014/main" id="{C87987E8-1050-49E4-9B3E-FF6595352126}"/>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97" name="active-node-F-314">
              <a:extLst>
                <a:ext uri="{FF2B5EF4-FFF2-40B4-BE49-F238E27FC236}">
                  <a16:creationId xmlns:a16="http://schemas.microsoft.com/office/drawing/2014/main" id="{720234B4-2C8A-4587-9BCD-EAF5109EBD8E}"/>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98" name="active-node-H-315">
              <a:extLst>
                <a:ext uri="{FF2B5EF4-FFF2-40B4-BE49-F238E27FC236}">
                  <a16:creationId xmlns:a16="http://schemas.microsoft.com/office/drawing/2014/main" id="{A6A429C2-D864-4129-9124-A392600FA9A5}"/>
                </a:ext>
              </a:extLst>
            </p:cNvPr>
            <p:cNvSpPr/>
            <p:nvPr/>
          </p:nvSpPr>
          <p:spPr>
            <a:xfrm>
              <a:off x="6413500" y="4064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H</a:t>
              </a:r>
              <a:endParaRPr lang="ru-RU" sz="2200">
                <a:solidFill>
                  <a:srgbClr val="FFFFFF"/>
                </a:solidFill>
                <a:latin typeface="Montserrat"/>
              </a:endParaRPr>
            </a:p>
          </p:txBody>
        </p:sp>
        <p:sp>
          <p:nvSpPr>
            <p:cNvPr id="99" name="box-8-316">
              <a:extLst>
                <a:ext uri="{FF2B5EF4-FFF2-40B4-BE49-F238E27FC236}">
                  <a16:creationId xmlns:a16="http://schemas.microsoft.com/office/drawing/2014/main" id="{E3579AB7-896A-48D0-A0DA-A43748D992A5}"/>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0" name="box-9-317">
              <a:extLst>
                <a:ext uri="{FF2B5EF4-FFF2-40B4-BE49-F238E27FC236}">
                  <a16:creationId xmlns:a16="http://schemas.microsoft.com/office/drawing/2014/main" id="{1BACF7C1-D338-44A4-A8D7-9EC6D1B420B2}"/>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10-318">
              <a:extLst>
                <a:ext uri="{FF2B5EF4-FFF2-40B4-BE49-F238E27FC236}">
                  <a16:creationId xmlns:a16="http://schemas.microsoft.com/office/drawing/2014/main" id="{82BF937D-73EC-42FC-9AC5-7F55F0A6B71D}"/>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102" name="text-11-319">
              <a:extLst>
                <a:ext uri="{FF2B5EF4-FFF2-40B4-BE49-F238E27FC236}">
                  <a16:creationId xmlns:a16="http://schemas.microsoft.com/office/drawing/2014/main" id="{F62D01D6-4D11-4748-BB9B-8FA62DD48135}"/>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pt-BR" sz="2100">
                  <a:solidFill>
                    <a:srgbClr val="352379"/>
                  </a:solidFill>
                  <a:latin typeface="Montserrat"/>
                </a:rPr>
                <a:t>Стек:</a:t>
              </a:r>
            </a:p>
            <a:p>
              <a:r>
                <a:rPr lang="pt-BR" sz="2100">
                  <a:solidFill>
                    <a:srgbClr val="352379"/>
                  </a:solidFill>
                  <a:latin typeface="Montserrat"/>
                </a:rPr>
                <a:t>[A, B, D, G, E, C, F, H]</a:t>
              </a:r>
            </a:p>
            <a:p>
              <a:endParaRPr lang="pt-BR" sz="2100">
                <a:solidFill>
                  <a:srgbClr val="352379"/>
                </a:solidFill>
                <a:latin typeface="Montserrat"/>
              </a:endParaRPr>
            </a:p>
            <a:p>
              <a:r>
                <a:rPr lang="pt-BR" sz="2100">
                  <a:solidFill>
                    <a:srgbClr val="352379"/>
                  </a:solidFill>
                  <a:latin typeface="Montserrat"/>
                </a:rPr>
                <a:t>Текущая: H</a:t>
              </a:r>
              <a:endParaRPr lang="ru-RU" sz="2100">
                <a:solidFill>
                  <a:srgbClr val="352379"/>
                </a:solidFill>
                <a:latin typeface="Montserrat"/>
              </a:endParaRPr>
            </a:p>
          </p:txBody>
        </p:sp>
      </p:grpSp>
      <p:grpSp>
        <p:nvGrpSpPr>
          <p:cNvPr id="116" name="animation-stage-9">
            <a:extLst>
              <a:ext uri="{FF2B5EF4-FFF2-40B4-BE49-F238E27FC236}">
                <a16:creationId xmlns:a16="http://schemas.microsoft.com/office/drawing/2014/main" id="{92B1B70F-9AC4-4184-AA82-E04DEE09E861}"/>
              </a:ext>
            </a:extLst>
          </p:cNvPr>
          <p:cNvGrpSpPr/>
          <p:nvPr/>
        </p:nvGrpSpPr>
        <p:grpSpPr>
          <a:xfrm>
            <a:off x="800100" y="1333500"/>
            <a:ext cx="10909300" cy="4254500"/>
            <a:chOff x="800100" y="1333500"/>
            <a:chExt cx="10909300" cy="4254500"/>
          </a:xfrm>
        </p:grpSpPr>
        <p:sp>
          <p:nvSpPr>
            <p:cNvPr id="104" name="active-node-A-320">
              <a:extLst>
                <a:ext uri="{FF2B5EF4-FFF2-40B4-BE49-F238E27FC236}">
                  <a16:creationId xmlns:a16="http://schemas.microsoft.com/office/drawing/2014/main" id="{A893EC71-E431-4499-A169-B1A7CF0CD061}"/>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05" name="active-node-B-321">
              <a:extLst>
                <a:ext uri="{FF2B5EF4-FFF2-40B4-BE49-F238E27FC236}">
                  <a16:creationId xmlns:a16="http://schemas.microsoft.com/office/drawing/2014/main" id="{1BA70FA7-A8AC-4E8B-8093-399881A6EFAF}"/>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6" name="active-node-D-322">
              <a:extLst>
                <a:ext uri="{FF2B5EF4-FFF2-40B4-BE49-F238E27FC236}">
                  <a16:creationId xmlns:a16="http://schemas.microsoft.com/office/drawing/2014/main" id="{2A932F2C-B2AB-4565-B594-7CFFFA361797}"/>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07" name="active-node-G-323">
              <a:extLst>
                <a:ext uri="{FF2B5EF4-FFF2-40B4-BE49-F238E27FC236}">
                  <a16:creationId xmlns:a16="http://schemas.microsoft.com/office/drawing/2014/main" id="{77BD1843-2C29-471F-9465-C3D1AA0DE202}"/>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108" name="active-node-E-324">
              <a:extLst>
                <a:ext uri="{FF2B5EF4-FFF2-40B4-BE49-F238E27FC236}">
                  <a16:creationId xmlns:a16="http://schemas.microsoft.com/office/drawing/2014/main" id="{3B519746-675B-4F29-BB17-3B7C45E88595}"/>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09" name="active-node-C-325">
              <a:extLst>
                <a:ext uri="{FF2B5EF4-FFF2-40B4-BE49-F238E27FC236}">
                  <a16:creationId xmlns:a16="http://schemas.microsoft.com/office/drawing/2014/main" id="{D014D0C3-04DB-451D-8787-A376B9D3C787}"/>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0" name="active-node-F-326">
              <a:extLst>
                <a:ext uri="{FF2B5EF4-FFF2-40B4-BE49-F238E27FC236}">
                  <a16:creationId xmlns:a16="http://schemas.microsoft.com/office/drawing/2014/main" id="{D6326EEE-6B7D-474C-A57A-43BCFEE9742E}"/>
                </a:ext>
              </a:extLst>
            </p:cNvPr>
            <p:cNvSpPr/>
            <p:nvPr/>
          </p:nvSpPr>
          <p:spPr>
            <a:xfrm>
              <a:off x="43815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F</a:t>
              </a:r>
              <a:endParaRPr lang="ru-RU" sz="2200">
                <a:solidFill>
                  <a:srgbClr val="FFFFFF"/>
                </a:solidFill>
                <a:latin typeface="Montserrat"/>
              </a:endParaRPr>
            </a:p>
          </p:txBody>
        </p:sp>
        <p:sp>
          <p:nvSpPr>
            <p:cNvPr id="111" name="active-node-H-327">
              <a:extLst>
                <a:ext uri="{FF2B5EF4-FFF2-40B4-BE49-F238E27FC236}">
                  <a16:creationId xmlns:a16="http://schemas.microsoft.com/office/drawing/2014/main" id="{B7AFC088-593A-42F8-BA92-FD6633CF0E26}"/>
                </a:ext>
              </a:extLst>
            </p:cNvPr>
            <p:cNvSpPr/>
            <p:nvPr/>
          </p:nvSpPr>
          <p:spPr>
            <a:xfrm>
              <a:off x="6413500" y="4064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112" name="box-8-328">
              <a:extLst>
                <a:ext uri="{FF2B5EF4-FFF2-40B4-BE49-F238E27FC236}">
                  <a16:creationId xmlns:a16="http://schemas.microsoft.com/office/drawing/2014/main" id="{AA54C9C5-CCAA-4EBA-BABA-8E8400C4D1CC}"/>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box-9-329">
              <a:extLst>
                <a:ext uri="{FF2B5EF4-FFF2-40B4-BE49-F238E27FC236}">
                  <a16:creationId xmlns:a16="http://schemas.microsoft.com/office/drawing/2014/main" id="{A70628D9-A1C4-4815-AA73-4F2FA7A15317}"/>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text-10-330">
              <a:extLst>
                <a:ext uri="{FF2B5EF4-FFF2-40B4-BE49-F238E27FC236}">
                  <a16:creationId xmlns:a16="http://schemas.microsoft.com/office/drawing/2014/main" id="{997693BD-9B0F-4327-9017-E0BCFD2D33D3}"/>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Возвращаемся</a:t>
              </a:r>
            </a:p>
          </p:txBody>
        </p:sp>
        <p:sp>
          <p:nvSpPr>
            <p:cNvPr id="115" name="text-11-331">
              <a:extLst>
                <a:ext uri="{FF2B5EF4-FFF2-40B4-BE49-F238E27FC236}">
                  <a16:creationId xmlns:a16="http://schemas.microsoft.com/office/drawing/2014/main" id="{14D79765-2D62-40B6-B593-CF6D74AC76E6}"/>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 B, D, G, E, C, F]</a:t>
              </a:r>
            </a:p>
            <a:p>
              <a:endParaRPr lang="ru-RU" sz="2100">
                <a:solidFill>
                  <a:srgbClr val="352379"/>
                </a:solidFill>
                <a:latin typeface="Montserrat"/>
              </a:endParaRPr>
            </a:p>
            <a:p>
              <a:r>
                <a:rPr lang="ru-RU" sz="2100">
                  <a:solidFill>
                    <a:srgbClr val="352379"/>
                  </a:solidFill>
                  <a:latin typeface="Montserrat"/>
                </a:rPr>
                <a:t>Возврат в F</a:t>
              </a:r>
            </a:p>
          </p:txBody>
        </p:sp>
      </p:grpSp>
      <p:grpSp>
        <p:nvGrpSpPr>
          <p:cNvPr id="129" name="animation-stage-10">
            <a:extLst>
              <a:ext uri="{FF2B5EF4-FFF2-40B4-BE49-F238E27FC236}">
                <a16:creationId xmlns:a16="http://schemas.microsoft.com/office/drawing/2014/main" id="{DAE41C4E-5FE6-4983-A961-9D73E9674446}"/>
              </a:ext>
            </a:extLst>
          </p:cNvPr>
          <p:cNvGrpSpPr/>
          <p:nvPr/>
        </p:nvGrpSpPr>
        <p:grpSpPr>
          <a:xfrm>
            <a:off x="800100" y="1333500"/>
            <a:ext cx="10909300" cy="4254500"/>
            <a:chOff x="800100" y="1333500"/>
            <a:chExt cx="10909300" cy="4254500"/>
          </a:xfrm>
        </p:grpSpPr>
        <p:sp>
          <p:nvSpPr>
            <p:cNvPr id="117" name="active-node-A-332">
              <a:extLst>
                <a:ext uri="{FF2B5EF4-FFF2-40B4-BE49-F238E27FC236}">
                  <a16:creationId xmlns:a16="http://schemas.microsoft.com/office/drawing/2014/main" id="{DABB0809-006E-4E90-975E-DCA8FBBB1249}"/>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18" name="active-node-B-333">
              <a:extLst>
                <a:ext uri="{FF2B5EF4-FFF2-40B4-BE49-F238E27FC236}">
                  <a16:creationId xmlns:a16="http://schemas.microsoft.com/office/drawing/2014/main" id="{1AD4FC97-0A6F-433C-8B1D-AFB5B678255A}"/>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19" name="active-node-D-334">
              <a:extLst>
                <a:ext uri="{FF2B5EF4-FFF2-40B4-BE49-F238E27FC236}">
                  <a16:creationId xmlns:a16="http://schemas.microsoft.com/office/drawing/2014/main" id="{7E6EC6C5-7EEC-45C7-8543-A5A79C31D254}"/>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0" name="active-node-G-335">
              <a:extLst>
                <a:ext uri="{FF2B5EF4-FFF2-40B4-BE49-F238E27FC236}">
                  <a16:creationId xmlns:a16="http://schemas.microsoft.com/office/drawing/2014/main" id="{20BB7560-1C75-4F32-8CE5-3AFA0E42A1B0}"/>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121" name="active-node-E-336">
              <a:extLst>
                <a:ext uri="{FF2B5EF4-FFF2-40B4-BE49-F238E27FC236}">
                  <a16:creationId xmlns:a16="http://schemas.microsoft.com/office/drawing/2014/main" id="{D4B3DE9D-5B83-4EF8-B8C4-E2E1A52CD2B5}"/>
                </a:ext>
              </a:extLst>
            </p:cNvPr>
            <p:cNvSpPr/>
            <p:nvPr/>
          </p:nvSpPr>
          <p:spPr>
            <a:xfrm>
              <a:off x="43815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122" name="active-node-C-337">
              <a:extLst>
                <a:ext uri="{FF2B5EF4-FFF2-40B4-BE49-F238E27FC236}">
                  <a16:creationId xmlns:a16="http://schemas.microsoft.com/office/drawing/2014/main" id="{5FCA4DCD-64EF-47E5-A9D0-073A0B8FF3C2}"/>
                </a:ext>
              </a:extLst>
            </p:cNvPr>
            <p:cNvSpPr/>
            <p:nvPr/>
          </p:nvSpPr>
          <p:spPr>
            <a:xfrm>
              <a:off x="2603500" y="431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123" name="active-node-F-338">
              <a:extLst>
                <a:ext uri="{FF2B5EF4-FFF2-40B4-BE49-F238E27FC236}">
                  <a16:creationId xmlns:a16="http://schemas.microsoft.com/office/drawing/2014/main" id="{F7E0B212-EF4F-4700-95BD-82D9C712B5C6}"/>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124" name="active-node-H-339">
              <a:extLst>
                <a:ext uri="{FF2B5EF4-FFF2-40B4-BE49-F238E27FC236}">
                  <a16:creationId xmlns:a16="http://schemas.microsoft.com/office/drawing/2014/main" id="{27EE028B-D7E2-40A6-A105-F63A4548713E}"/>
                </a:ext>
              </a:extLst>
            </p:cNvPr>
            <p:cNvSpPr/>
            <p:nvPr/>
          </p:nvSpPr>
          <p:spPr>
            <a:xfrm>
              <a:off x="6413500" y="4064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125" name="box-8-340">
              <a:extLst>
                <a:ext uri="{FF2B5EF4-FFF2-40B4-BE49-F238E27FC236}">
                  <a16:creationId xmlns:a16="http://schemas.microsoft.com/office/drawing/2014/main" id="{92BBE763-6384-4101-9C49-EBE66AA0C53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6" name="box-9-341">
              <a:extLst>
                <a:ext uri="{FF2B5EF4-FFF2-40B4-BE49-F238E27FC236}">
                  <a16:creationId xmlns:a16="http://schemas.microsoft.com/office/drawing/2014/main" id="{949BA908-C4E1-40D0-A535-5829F181F23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7" name="text-10-342">
              <a:extLst>
                <a:ext uri="{FF2B5EF4-FFF2-40B4-BE49-F238E27FC236}">
                  <a16:creationId xmlns:a16="http://schemas.microsoft.com/office/drawing/2014/main" id="{4AD25C87-A4BE-4D64-AF92-24E1FEF0EE7E}"/>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Возвращаемся</a:t>
              </a:r>
            </a:p>
          </p:txBody>
        </p:sp>
        <p:sp>
          <p:nvSpPr>
            <p:cNvPr id="128" name="text-11-343">
              <a:extLst>
                <a:ext uri="{FF2B5EF4-FFF2-40B4-BE49-F238E27FC236}">
                  <a16:creationId xmlns:a16="http://schemas.microsoft.com/office/drawing/2014/main" id="{B4F6BF06-6656-402D-8176-26CDFA825931}"/>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 B, D, G, E, C]</a:t>
              </a:r>
            </a:p>
            <a:p>
              <a:endParaRPr lang="ru-RU" sz="2100">
                <a:solidFill>
                  <a:srgbClr val="352379"/>
                </a:solidFill>
                <a:latin typeface="Montserrat"/>
              </a:endParaRPr>
            </a:p>
            <a:p>
              <a:r>
                <a:rPr lang="ru-RU" sz="2100">
                  <a:solidFill>
                    <a:srgbClr val="352379"/>
                  </a:solidFill>
                  <a:latin typeface="Montserrat"/>
                </a:rPr>
                <a:t>Возврат в C</a:t>
              </a:r>
            </a:p>
          </p:txBody>
        </p:sp>
      </p:grpSp>
      <p:grpSp>
        <p:nvGrpSpPr>
          <p:cNvPr id="142" name="animation-stage-11">
            <a:extLst>
              <a:ext uri="{FF2B5EF4-FFF2-40B4-BE49-F238E27FC236}">
                <a16:creationId xmlns:a16="http://schemas.microsoft.com/office/drawing/2014/main" id="{0C36730F-342F-4DAE-86E5-D2527005DE9E}"/>
              </a:ext>
            </a:extLst>
          </p:cNvPr>
          <p:cNvGrpSpPr/>
          <p:nvPr/>
        </p:nvGrpSpPr>
        <p:grpSpPr>
          <a:xfrm>
            <a:off x="800100" y="1333500"/>
            <a:ext cx="10909300" cy="4254500"/>
            <a:chOff x="800100" y="1333500"/>
            <a:chExt cx="10909300" cy="4254500"/>
          </a:xfrm>
        </p:grpSpPr>
        <p:sp>
          <p:nvSpPr>
            <p:cNvPr id="130" name="active-node-A-344">
              <a:extLst>
                <a:ext uri="{FF2B5EF4-FFF2-40B4-BE49-F238E27FC236}">
                  <a16:creationId xmlns:a16="http://schemas.microsoft.com/office/drawing/2014/main" id="{ED6990A9-2971-441F-8026-1457AE3768B0}"/>
                </a:ext>
              </a:extLst>
            </p:cNvPr>
            <p:cNvSpPr/>
            <p:nvPr/>
          </p:nvSpPr>
          <p:spPr>
            <a:xfrm>
              <a:off x="8001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31" name="active-node-B-345">
              <a:extLst>
                <a:ext uri="{FF2B5EF4-FFF2-40B4-BE49-F238E27FC236}">
                  <a16:creationId xmlns:a16="http://schemas.microsoft.com/office/drawing/2014/main" id="{5FBFA291-A6C6-4784-8376-2B1617757403}"/>
                </a:ext>
              </a:extLst>
            </p:cNvPr>
            <p:cNvSpPr/>
            <p:nvPr/>
          </p:nvSpPr>
          <p:spPr>
            <a:xfrm>
              <a:off x="2603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32" name="active-node-D-346">
              <a:extLst>
                <a:ext uri="{FF2B5EF4-FFF2-40B4-BE49-F238E27FC236}">
                  <a16:creationId xmlns:a16="http://schemas.microsoft.com/office/drawing/2014/main" id="{191EE36F-218D-417F-ACAD-821F75FCD6C5}"/>
                </a:ext>
              </a:extLst>
            </p:cNvPr>
            <p:cNvSpPr/>
            <p:nvPr/>
          </p:nvSpPr>
          <p:spPr>
            <a:xfrm>
              <a:off x="4381500" y="1333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33" name="active-node-G-347">
              <a:extLst>
                <a:ext uri="{FF2B5EF4-FFF2-40B4-BE49-F238E27FC236}">
                  <a16:creationId xmlns:a16="http://schemas.microsoft.com/office/drawing/2014/main" id="{54AE3CC6-5882-4BF0-BAE8-A7157A3970EF}"/>
                </a:ext>
              </a:extLst>
            </p:cNvPr>
            <p:cNvSpPr/>
            <p:nvPr/>
          </p:nvSpPr>
          <p:spPr>
            <a:xfrm>
              <a:off x="64135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G</a:t>
              </a:r>
              <a:endParaRPr lang="ru-RU" sz="2200">
                <a:solidFill>
                  <a:srgbClr val="352379"/>
                </a:solidFill>
                <a:latin typeface="Montserrat"/>
              </a:endParaRPr>
            </a:p>
          </p:txBody>
        </p:sp>
        <p:sp>
          <p:nvSpPr>
            <p:cNvPr id="134" name="active-node-E-348">
              <a:extLst>
                <a:ext uri="{FF2B5EF4-FFF2-40B4-BE49-F238E27FC236}">
                  <a16:creationId xmlns:a16="http://schemas.microsoft.com/office/drawing/2014/main" id="{421EFDE2-02F4-4E70-8B49-38F58EEDA834}"/>
                </a:ext>
              </a:extLst>
            </p:cNvPr>
            <p:cNvSpPr/>
            <p:nvPr/>
          </p:nvSpPr>
          <p:spPr>
            <a:xfrm>
              <a:off x="43815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E</a:t>
              </a:r>
              <a:endParaRPr lang="ru-RU" sz="2200">
                <a:solidFill>
                  <a:srgbClr val="FFFFFF"/>
                </a:solidFill>
                <a:latin typeface="Montserrat"/>
              </a:endParaRPr>
            </a:p>
          </p:txBody>
        </p:sp>
        <p:sp>
          <p:nvSpPr>
            <p:cNvPr id="135" name="active-node-C-349">
              <a:extLst>
                <a:ext uri="{FF2B5EF4-FFF2-40B4-BE49-F238E27FC236}">
                  <a16:creationId xmlns:a16="http://schemas.microsoft.com/office/drawing/2014/main" id="{6A563C55-F01E-46A3-A219-55B20FB5908C}"/>
                </a:ext>
              </a:extLst>
            </p:cNvPr>
            <p:cNvSpPr/>
            <p:nvPr/>
          </p:nvSpPr>
          <p:spPr>
            <a:xfrm>
              <a:off x="2603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36" name="active-node-F-350">
              <a:extLst>
                <a:ext uri="{FF2B5EF4-FFF2-40B4-BE49-F238E27FC236}">
                  <a16:creationId xmlns:a16="http://schemas.microsoft.com/office/drawing/2014/main" id="{4A995FF8-1942-48DC-981B-8F3938166C19}"/>
                </a:ext>
              </a:extLst>
            </p:cNvPr>
            <p:cNvSpPr/>
            <p:nvPr/>
          </p:nvSpPr>
          <p:spPr>
            <a:xfrm>
              <a:off x="4381500" y="4953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137" name="active-node-H-351">
              <a:extLst>
                <a:ext uri="{FF2B5EF4-FFF2-40B4-BE49-F238E27FC236}">
                  <a16:creationId xmlns:a16="http://schemas.microsoft.com/office/drawing/2014/main" id="{39B8C354-458E-4739-89D1-20C83242915E}"/>
                </a:ext>
              </a:extLst>
            </p:cNvPr>
            <p:cNvSpPr/>
            <p:nvPr/>
          </p:nvSpPr>
          <p:spPr>
            <a:xfrm>
              <a:off x="6413500" y="4064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H</a:t>
              </a:r>
              <a:endParaRPr lang="ru-RU" sz="2200">
                <a:solidFill>
                  <a:srgbClr val="352379"/>
                </a:solidFill>
                <a:latin typeface="Montserrat"/>
              </a:endParaRPr>
            </a:p>
          </p:txBody>
        </p:sp>
        <p:sp>
          <p:nvSpPr>
            <p:cNvPr id="138" name="box-8-352">
              <a:extLst>
                <a:ext uri="{FF2B5EF4-FFF2-40B4-BE49-F238E27FC236}">
                  <a16:creationId xmlns:a16="http://schemas.microsoft.com/office/drawing/2014/main" id="{6852709D-3B6E-411D-9538-625EF8961002}"/>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9" name="box-9-353">
              <a:extLst>
                <a:ext uri="{FF2B5EF4-FFF2-40B4-BE49-F238E27FC236}">
                  <a16:creationId xmlns:a16="http://schemas.microsoft.com/office/drawing/2014/main" id="{D791CD24-DC41-4FBC-95D2-E15247B8071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0" name="text-10-354">
              <a:extLst>
                <a:ext uri="{FF2B5EF4-FFF2-40B4-BE49-F238E27FC236}">
                  <a16:creationId xmlns:a16="http://schemas.microsoft.com/office/drawing/2014/main" id="{F9A00696-1431-4F47-B5B4-AE6C24273BDC}"/>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Возвращаемся</a:t>
              </a:r>
            </a:p>
          </p:txBody>
        </p:sp>
        <p:sp>
          <p:nvSpPr>
            <p:cNvPr id="141" name="text-11-355">
              <a:extLst>
                <a:ext uri="{FF2B5EF4-FFF2-40B4-BE49-F238E27FC236}">
                  <a16:creationId xmlns:a16="http://schemas.microsoft.com/office/drawing/2014/main" id="{A03BED08-8AFF-40C6-BBE4-8FFB53491EBD}"/>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a:t>
              </a:r>
            </a:p>
            <a:p>
              <a:r>
                <a:rPr lang="ru-RU" sz="2100">
                  <a:solidFill>
                    <a:srgbClr val="352379"/>
                  </a:solidFill>
                  <a:latin typeface="Montserrat"/>
                </a:rPr>
                <a:t>[A, B, D, G, E]</a:t>
              </a:r>
            </a:p>
            <a:p>
              <a:endParaRPr lang="ru-RU" sz="2100">
                <a:solidFill>
                  <a:srgbClr val="352379"/>
                </a:solidFill>
                <a:latin typeface="Montserrat"/>
              </a:endParaRPr>
            </a:p>
            <a:p>
              <a:r>
                <a:rPr lang="ru-RU" sz="2100">
                  <a:solidFill>
                    <a:srgbClr val="352379"/>
                  </a:solidFill>
                  <a:latin typeface="Montserrat"/>
                </a:rPr>
                <a:t>Возврат в E</a:t>
              </a:r>
            </a:p>
          </p:txBody>
        </p:sp>
      </p:grpSp>
      <p:sp>
        <p:nvSpPr>
          <p:cNvPr id="143" name="lecture-footer">
            <a:extLst>
              <a:ext uri="{FF2B5EF4-FFF2-40B4-BE49-F238E27FC236}">
                <a16:creationId xmlns:a16="http://schemas.microsoft.com/office/drawing/2014/main" id="{5329A03F-4D96-486A-875C-C76FC869023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44" name="slide-number">
            <a:extLst>
              <a:ext uri="{FF2B5EF4-FFF2-40B4-BE49-F238E27FC236}">
                <a16:creationId xmlns:a16="http://schemas.microsoft.com/office/drawing/2014/main" id="{3361A4BA-779A-4EBC-94CD-090BE5A9EC41}"/>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8</a:t>
            </a:r>
          </a:p>
        </p:txBody>
      </p:sp>
    </p:spTree>
    <p:extLst>
      <p:ext uri="{BB962C8B-B14F-4D97-AF65-F5344CB8AC3E}">
        <p14:creationId xmlns:p14="http://schemas.microsoft.com/office/powerpoint/2010/main" val="147865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25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250"/>
                                        <p:tgtEl>
                                          <p:spTgt spid="40"/>
                                        </p:tgtEl>
                                      </p:cBhvr>
                                    </p:animEffect>
                                  </p:childTnLst>
                                </p:cTn>
                              </p:par>
                              <p:par>
                                <p:cTn id="13" presetID="10" presetClass="exit" presetSubtype="0" fill="hold" nodeType="withEffect">
                                  <p:stCondLst>
                                    <p:cond delay="0"/>
                                  </p:stCondLst>
                                  <p:childTnLst>
                                    <p:animEffect transition="out" filter="fade">
                                      <p:cBhvr>
                                        <p:cTn id="14" dur="150"/>
                                        <p:tgtEl>
                                          <p:spTgt spid="33"/>
                                        </p:tgtEl>
                                      </p:cBhvr>
                                    </p:animEffect>
                                    <p:set>
                                      <p:cBhvr>
                                        <p:cTn id="15" dur="1" fill="hold">
                                          <p:stCondLst>
                                            <p:cond delay="149"/>
                                          </p:stCondLst>
                                        </p:cTn>
                                        <p:tgtEl>
                                          <p:spTgt spid="3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250"/>
                                        <p:tgtEl>
                                          <p:spTgt spid="48"/>
                                        </p:tgtEl>
                                      </p:cBhvr>
                                    </p:animEffect>
                                  </p:childTnLst>
                                </p:cTn>
                              </p:par>
                              <p:par>
                                <p:cTn id="21" presetID="10" presetClass="exit" presetSubtype="0" fill="hold" nodeType="withEffect">
                                  <p:stCondLst>
                                    <p:cond delay="0"/>
                                  </p:stCondLst>
                                  <p:childTnLst>
                                    <p:animEffect transition="out" filter="fade">
                                      <p:cBhvr>
                                        <p:cTn id="22" dur="150"/>
                                        <p:tgtEl>
                                          <p:spTgt spid="40"/>
                                        </p:tgtEl>
                                      </p:cBhvr>
                                    </p:animEffect>
                                    <p:set>
                                      <p:cBhvr>
                                        <p:cTn id="23" dur="1" fill="hold">
                                          <p:stCondLst>
                                            <p:cond delay="149"/>
                                          </p:stCondLst>
                                        </p:cTn>
                                        <p:tgtEl>
                                          <p:spTgt spid="4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fade">
                                      <p:cBhvr>
                                        <p:cTn id="28" dur="250"/>
                                        <p:tgtEl>
                                          <p:spTgt spid="57"/>
                                        </p:tgtEl>
                                      </p:cBhvr>
                                    </p:animEffect>
                                  </p:childTnLst>
                                </p:cTn>
                              </p:par>
                              <p:par>
                                <p:cTn id="29" presetID="10" presetClass="exit" presetSubtype="0" fill="hold" nodeType="withEffect">
                                  <p:stCondLst>
                                    <p:cond delay="0"/>
                                  </p:stCondLst>
                                  <p:childTnLst>
                                    <p:animEffect transition="out" filter="fade">
                                      <p:cBhvr>
                                        <p:cTn id="30" dur="150"/>
                                        <p:tgtEl>
                                          <p:spTgt spid="48"/>
                                        </p:tgtEl>
                                      </p:cBhvr>
                                    </p:animEffect>
                                    <p:set>
                                      <p:cBhvr>
                                        <p:cTn id="31" dur="1" fill="hold">
                                          <p:stCondLst>
                                            <p:cond delay="149"/>
                                          </p:stCondLst>
                                        </p:cTn>
                                        <p:tgtEl>
                                          <p:spTgt spid="4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7"/>
                                        </p:tgtEl>
                                        <p:attrNameLst>
                                          <p:attrName>style.visibility</p:attrName>
                                        </p:attrNameLst>
                                      </p:cBhvr>
                                      <p:to>
                                        <p:strVal val="visible"/>
                                      </p:to>
                                    </p:set>
                                    <p:animEffect transition="in" filter="fade">
                                      <p:cBhvr>
                                        <p:cTn id="36" dur="250"/>
                                        <p:tgtEl>
                                          <p:spTgt spid="67"/>
                                        </p:tgtEl>
                                      </p:cBhvr>
                                    </p:animEffect>
                                  </p:childTnLst>
                                </p:cTn>
                              </p:par>
                              <p:par>
                                <p:cTn id="37" presetID="10" presetClass="exit" presetSubtype="0" fill="hold" nodeType="withEffect">
                                  <p:stCondLst>
                                    <p:cond delay="0"/>
                                  </p:stCondLst>
                                  <p:childTnLst>
                                    <p:animEffect transition="out" filter="fade">
                                      <p:cBhvr>
                                        <p:cTn id="38" dur="150"/>
                                        <p:tgtEl>
                                          <p:spTgt spid="57"/>
                                        </p:tgtEl>
                                      </p:cBhvr>
                                    </p:animEffect>
                                    <p:set>
                                      <p:cBhvr>
                                        <p:cTn id="39" dur="1" fill="hold">
                                          <p:stCondLst>
                                            <p:cond delay="149"/>
                                          </p:stCondLst>
                                        </p:cTn>
                                        <p:tgtEl>
                                          <p:spTgt spid="5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fade">
                                      <p:cBhvr>
                                        <p:cTn id="44" dur="250"/>
                                        <p:tgtEl>
                                          <p:spTgt spid="78"/>
                                        </p:tgtEl>
                                      </p:cBhvr>
                                    </p:animEffect>
                                  </p:childTnLst>
                                </p:cTn>
                              </p:par>
                              <p:par>
                                <p:cTn id="45" presetID="10" presetClass="exit" presetSubtype="0" fill="hold" nodeType="withEffect">
                                  <p:stCondLst>
                                    <p:cond delay="0"/>
                                  </p:stCondLst>
                                  <p:childTnLst>
                                    <p:animEffect transition="out" filter="fade">
                                      <p:cBhvr>
                                        <p:cTn id="46" dur="150"/>
                                        <p:tgtEl>
                                          <p:spTgt spid="67"/>
                                        </p:tgtEl>
                                      </p:cBhvr>
                                    </p:animEffect>
                                    <p:set>
                                      <p:cBhvr>
                                        <p:cTn id="47" dur="1" fill="hold">
                                          <p:stCondLst>
                                            <p:cond delay="149"/>
                                          </p:stCondLst>
                                        </p:cTn>
                                        <p:tgtEl>
                                          <p:spTgt spid="6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0"/>
                                        </p:tgtEl>
                                        <p:attrNameLst>
                                          <p:attrName>style.visibility</p:attrName>
                                        </p:attrNameLst>
                                      </p:cBhvr>
                                      <p:to>
                                        <p:strVal val="visible"/>
                                      </p:to>
                                    </p:set>
                                    <p:animEffect transition="in" filter="fade">
                                      <p:cBhvr>
                                        <p:cTn id="52" dur="250"/>
                                        <p:tgtEl>
                                          <p:spTgt spid="90"/>
                                        </p:tgtEl>
                                      </p:cBhvr>
                                    </p:animEffect>
                                  </p:childTnLst>
                                </p:cTn>
                              </p:par>
                              <p:par>
                                <p:cTn id="53" presetID="10" presetClass="exit" presetSubtype="0" fill="hold" nodeType="withEffect">
                                  <p:stCondLst>
                                    <p:cond delay="0"/>
                                  </p:stCondLst>
                                  <p:childTnLst>
                                    <p:animEffect transition="out" filter="fade">
                                      <p:cBhvr>
                                        <p:cTn id="54" dur="150"/>
                                        <p:tgtEl>
                                          <p:spTgt spid="78"/>
                                        </p:tgtEl>
                                      </p:cBhvr>
                                    </p:animEffect>
                                    <p:set>
                                      <p:cBhvr>
                                        <p:cTn id="55" dur="1" fill="hold">
                                          <p:stCondLst>
                                            <p:cond delay="149"/>
                                          </p:stCondLst>
                                        </p:cTn>
                                        <p:tgtEl>
                                          <p:spTgt spid="78"/>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03"/>
                                        </p:tgtEl>
                                        <p:attrNameLst>
                                          <p:attrName>style.visibility</p:attrName>
                                        </p:attrNameLst>
                                      </p:cBhvr>
                                      <p:to>
                                        <p:strVal val="visible"/>
                                      </p:to>
                                    </p:set>
                                    <p:animEffect transition="in" filter="fade">
                                      <p:cBhvr>
                                        <p:cTn id="60" dur="250"/>
                                        <p:tgtEl>
                                          <p:spTgt spid="103"/>
                                        </p:tgtEl>
                                      </p:cBhvr>
                                    </p:animEffect>
                                  </p:childTnLst>
                                </p:cTn>
                              </p:par>
                              <p:par>
                                <p:cTn id="61" presetID="10" presetClass="exit" presetSubtype="0" fill="hold" nodeType="withEffect">
                                  <p:stCondLst>
                                    <p:cond delay="0"/>
                                  </p:stCondLst>
                                  <p:childTnLst>
                                    <p:animEffect transition="out" filter="fade">
                                      <p:cBhvr>
                                        <p:cTn id="62" dur="150"/>
                                        <p:tgtEl>
                                          <p:spTgt spid="90"/>
                                        </p:tgtEl>
                                      </p:cBhvr>
                                    </p:animEffect>
                                    <p:set>
                                      <p:cBhvr>
                                        <p:cTn id="63" dur="1" fill="hold">
                                          <p:stCondLst>
                                            <p:cond delay="149"/>
                                          </p:stCondLst>
                                        </p:cTn>
                                        <p:tgtEl>
                                          <p:spTgt spid="90"/>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16"/>
                                        </p:tgtEl>
                                        <p:attrNameLst>
                                          <p:attrName>style.visibility</p:attrName>
                                        </p:attrNameLst>
                                      </p:cBhvr>
                                      <p:to>
                                        <p:strVal val="visible"/>
                                      </p:to>
                                    </p:set>
                                    <p:animEffect transition="in" filter="fade">
                                      <p:cBhvr>
                                        <p:cTn id="68" dur="250"/>
                                        <p:tgtEl>
                                          <p:spTgt spid="116"/>
                                        </p:tgtEl>
                                      </p:cBhvr>
                                    </p:animEffect>
                                  </p:childTnLst>
                                </p:cTn>
                              </p:par>
                              <p:par>
                                <p:cTn id="69" presetID="10" presetClass="exit" presetSubtype="0" fill="hold" nodeType="withEffect">
                                  <p:stCondLst>
                                    <p:cond delay="0"/>
                                  </p:stCondLst>
                                  <p:childTnLst>
                                    <p:animEffect transition="out" filter="fade">
                                      <p:cBhvr>
                                        <p:cTn id="70" dur="150"/>
                                        <p:tgtEl>
                                          <p:spTgt spid="103"/>
                                        </p:tgtEl>
                                      </p:cBhvr>
                                    </p:animEffect>
                                    <p:set>
                                      <p:cBhvr>
                                        <p:cTn id="71" dur="1" fill="hold">
                                          <p:stCondLst>
                                            <p:cond delay="149"/>
                                          </p:stCondLst>
                                        </p:cTn>
                                        <p:tgtEl>
                                          <p:spTgt spid="103"/>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29"/>
                                        </p:tgtEl>
                                        <p:attrNameLst>
                                          <p:attrName>style.visibility</p:attrName>
                                        </p:attrNameLst>
                                      </p:cBhvr>
                                      <p:to>
                                        <p:strVal val="visible"/>
                                      </p:to>
                                    </p:set>
                                    <p:animEffect transition="in" filter="fade">
                                      <p:cBhvr>
                                        <p:cTn id="76" dur="250"/>
                                        <p:tgtEl>
                                          <p:spTgt spid="129"/>
                                        </p:tgtEl>
                                      </p:cBhvr>
                                    </p:animEffect>
                                  </p:childTnLst>
                                </p:cTn>
                              </p:par>
                              <p:par>
                                <p:cTn id="77" presetID="10" presetClass="exit" presetSubtype="0" fill="hold" nodeType="withEffect">
                                  <p:stCondLst>
                                    <p:cond delay="0"/>
                                  </p:stCondLst>
                                  <p:childTnLst>
                                    <p:animEffect transition="out" filter="fade">
                                      <p:cBhvr>
                                        <p:cTn id="78" dur="150"/>
                                        <p:tgtEl>
                                          <p:spTgt spid="116"/>
                                        </p:tgtEl>
                                      </p:cBhvr>
                                    </p:animEffect>
                                    <p:set>
                                      <p:cBhvr>
                                        <p:cTn id="79" dur="1" fill="hold">
                                          <p:stCondLst>
                                            <p:cond delay="149"/>
                                          </p:stCondLst>
                                        </p:cTn>
                                        <p:tgtEl>
                                          <p:spTgt spid="116"/>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42"/>
                                        </p:tgtEl>
                                        <p:attrNameLst>
                                          <p:attrName>style.visibility</p:attrName>
                                        </p:attrNameLst>
                                      </p:cBhvr>
                                      <p:to>
                                        <p:strVal val="visible"/>
                                      </p:to>
                                    </p:set>
                                    <p:animEffect transition="in" filter="fade">
                                      <p:cBhvr>
                                        <p:cTn id="84" dur="250"/>
                                        <p:tgtEl>
                                          <p:spTgt spid="142"/>
                                        </p:tgtEl>
                                      </p:cBhvr>
                                    </p:animEffect>
                                  </p:childTnLst>
                                </p:cTn>
                              </p:par>
                              <p:par>
                                <p:cTn id="85" presetID="10" presetClass="exit" presetSubtype="0" fill="hold" nodeType="withEffect">
                                  <p:stCondLst>
                                    <p:cond delay="0"/>
                                  </p:stCondLst>
                                  <p:childTnLst>
                                    <p:animEffect transition="out" filter="fade">
                                      <p:cBhvr>
                                        <p:cTn id="86" dur="150"/>
                                        <p:tgtEl>
                                          <p:spTgt spid="129"/>
                                        </p:tgtEl>
                                      </p:cBhvr>
                                    </p:animEffect>
                                    <p:set>
                                      <p:cBhvr>
                                        <p:cTn id="87" dur="1" fill="hold">
                                          <p:stCondLst>
                                            <p:cond delay="149"/>
                                          </p:stCondLst>
                                        </p:cTn>
                                        <p:tgtEl>
                                          <p:spTgt spid="1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en-US">
                <a:latin typeface="Montserrat SemiBold"/>
              </a:rPr>
              <a:t>DFS: </a:t>
            </a:r>
            <a:r>
              <a:rPr lang="ru-RU">
                <a:latin typeface="Montserrat SemiBold"/>
              </a:rPr>
              <a:t>компактный </a:t>
            </a:r>
            <a:r>
              <a:rPr lang="en-US">
                <a:latin typeface="Montserrat SemiBold"/>
              </a:rPr>
              <a:t>Python</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box-0-356">
            <a:extLst>
              <a:ext uri="{FF2B5EF4-FFF2-40B4-BE49-F238E27FC236}">
                <a16:creationId xmlns:a16="http://schemas.microsoft.com/office/drawing/2014/main" id="{18BD7857-CF1F-4F1C-8357-8F8132179646}"/>
              </a:ext>
            </a:extLst>
          </p:cNvPr>
          <p:cNvSpPr/>
          <p:nvPr/>
        </p:nvSpPr>
        <p:spPr>
          <a:xfrm>
            <a:off x="698500" y="1841500"/>
            <a:ext cx="6667500" cy="34925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box-1-357">
            <a:extLst>
              <a:ext uri="{FF2B5EF4-FFF2-40B4-BE49-F238E27FC236}">
                <a16:creationId xmlns:a16="http://schemas.microsoft.com/office/drawing/2014/main" id="{84CAFEE2-5E3D-450A-9EEE-D1C29DF221E0}"/>
              </a:ext>
            </a:extLst>
          </p:cNvPr>
          <p:cNvSpPr/>
          <p:nvPr/>
        </p:nvSpPr>
        <p:spPr>
          <a:xfrm>
            <a:off x="698500" y="1841500"/>
            <a:ext cx="66675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2-358">
            <a:extLst>
              <a:ext uri="{FF2B5EF4-FFF2-40B4-BE49-F238E27FC236}">
                <a16:creationId xmlns:a16="http://schemas.microsoft.com/office/drawing/2014/main" id="{71FBBBB8-6DDE-40F8-A2C0-EC370AC375CC}"/>
              </a:ext>
            </a:extLst>
          </p:cNvPr>
          <p:cNvSpPr txBox="1"/>
          <p:nvPr/>
        </p:nvSpPr>
        <p:spPr bwMode="auto">
          <a:xfrm>
            <a:off x="889000" y="1894617"/>
            <a:ext cx="62865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Обход в глубину</a:t>
            </a:r>
          </a:p>
        </p:txBody>
      </p:sp>
      <p:sp>
        <p:nvSpPr>
          <p:cNvPr id="6" name="text-3-359">
            <a:extLst>
              <a:ext uri="{FF2B5EF4-FFF2-40B4-BE49-F238E27FC236}">
                <a16:creationId xmlns:a16="http://schemas.microsoft.com/office/drawing/2014/main" id="{F01B6AFF-1228-4195-87FB-46D9D765370C}"/>
              </a:ext>
            </a:extLst>
          </p:cNvPr>
          <p:cNvSpPr txBox="1"/>
          <p:nvPr/>
        </p:nvSpPr>
        <p:spPr bwMode="auto">
          <a:xfrm>
            <a:off x="914400" y="2546331"/>
            <a:ext cx="6235700" cy="1744067"/>
          </a:xfrm>
          <a:prstGeom prst="rect">
            <a:avLst/>
          </a:prstGeom>
        </p:spPr>
        <p:txBody>
          <a:bodyPr vert="horz" wrap="square" lIns="38100" tIns="25400" rIns="38100" bIns="25400" rtlCol="0" anchor="ctr">
            <a:spAutoFit/>
          </a:bodyPr>
          <a:lstStyle/>
          <a:p>
            <a:r>
              <a:rPr lang="en-US" sz="2200" b="1">
                <a:solidFill>
                  <a:srgbClr val="352379"/>
                </a:solidFill>
                <a:latin typeface="Montserrat"/>
              </a:rPr>
              <a:t>def dfs(v):</a:t>
            </a:r>
          </a:p>
          <a:p>
            <a:r>
              <a:rPr lang="en-US" sz="2200" b="1">
                <a:solidFill>
                  <a:srgbClr val="352379"/>
                </a:solidFill>
                <a:latin typeface="Montserrat"/>
              </a:rPr>
              <a:t>    visited[v] = True</a:t>
            </a:r>
          </a:p>
          <a:p>
            <a:r>
              <a:rPr lang="en-US" sz="2200" b="1">
                <a:solidFill>
                  <a:srgbClr val="352379"/>
                </a:solidFill>
                <a:latin typeface="Montserrat"/>
              </a:rPr>
              <a:t>    for to in graph[v]:</a:t>
            </a:r>
          </a:p>
          <a:p>
            <a:r>
              <a:rPr lang="en-US" sz="2200" b="1">
                <a:solidFill>
                  <a:srgbClr val="352379"/>
                </a:solidFill>
                <a:latin typeface="Montserrat"/>
              </a:rPr>
              <a:t>        if not visited[to]:</a:t>
            </a:r>
          </a:p>
          <a:p>
            <a:r>
              <a:rPr lang="en-US" sz="2200" b="1">
                <a:solidFill>
                  <a:srgbClr val="352379"/>
                </a:solidFill>
                <a:latin typeface="Montserrat"/>
              </a:rPr>
              <a:t>            dfs(to)</a:t>
            </a:r>
            <a:endParaRPr lang="ru-RU" sz="2200" b="1">
              <a:solidFill>
                <a:srgbClr val="352379"/>
              </a:solidFill>
              <a:latin typeface="Montserrat"/>
            </a:endParaRPr>
          </a:p>
        </p:txBody>
      </p:sp>
      <p:sp>
        <p:nvSpPr>
          <p:cNvPr id="8" name="box-4-360">
            <a:extLst>
              <a:ext uri="{FF2B5EF4-FFF2-40B4-BE49-F238E27FC236}">
                <a16:creationId xmlns:a16="http://schemas.microsoft.com/office/drawing/2014/main" id="{CA7D3106-718B-48C6-BFE5-D04C28B3A65D}"/>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box-5-361">
            <a:extLst>
              <a:ext uri="{FF2B5EF4-FFF2-40B4-BE49-F238E27FC236}">
                <a16:creationId xmlns:a16="http://schemas.microsoft.com/office/drawing/2014/main" id="{5977FDFE-C64A-4915-A7EA-903154E8AC43}"/>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6-362">
            <a:extLst>
              <a:ext uri="{FF2B5EF4-FFF2-40B4-BE49-F238E27FC236}">
                <a16:creationId xmlns:a16="http://schemas.microsoft.com/office/drawing/2014/main" id="{799F6429-1C29-4CEE-80F4-92B8C86A0D4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Что хранит </a:t>
            </a:r>
            <a:r>
              <a:rPr lang="en-US" sz="2100">
                <a:solidFill>
                  <a:srgbClr val="FFFFFF"/>
                </a:solidFill>
                <a:latin typeface="Montserrat"/>
              </a:rPr>
              <a:t>DFS</a:t>
            </a:r>
            <a:endParaRPr lang="ru-RU" sz="2100">
              <a:solidFill>
                <a:srgbClr val="FFFFFF"/>
              </a:solidFill>
              <a:latin typeface="Montserrat"/>
            </a:endParaRPr>
          </a:p>
        </p:txBody>
      </p:sp>
      <p:sp>
        <p:nvSpPr>
          <p:cNvPr id="11" name="text-7-363">
            <a:extLst>
              <a:ext uri="{FF2B5EF4-FFF2-40B4-BE49-F238E27FC236}">
                <a16:creationId xmlns:a16="http://schemas.microsoft.com/office/drawing/2014/main" id="{AF5BC857-31B1-4467-9C0E-0AB8F057F228}"/>
              </a:ext>
            </a:extLst>
          </p:cNvPr>
          <p:cNvSpPr txBox="1"/>
          <p:nvPr/>
        </p:nvSpPr>
        <p:spPr bwMode="auto">
          <a:xfrm>
            <a:off x="8153400" y="2536319"/>
            <a:ext cx="3340100" cy="1990288"/>
          </a:xfrm>
          <a:prstGeom prst="rect">
            <a:avLst/>
          </a:prstGeom>
        </p:spPr>
        <p:txBody>
          <a:bodyPr vert="horz" wrap="square" lIns="38100" tIns="25400" rIns="38100" bIns="25400" rtlCol="0" anchor="ctr">
            <a:spAutoFit/>
          </a:bodyPr>
          <a:lstStyle/>
          <a:p>
            <a:r>
              <a:rPr lang="ru-RU" sz="2100">
                <a:solidFill>
                  <a:srgbClr val="352379"/>
                </a:solidFill>
                <a:latin typeface="Montserrat"/>
              </a:rPr>
              <a:t>visited — кто уже был</a:t>
            </a:r>
          </a:p>
          <a:p>
            <a:endParaRPr lang="ru-RU" sz="2100">
              <a:solidFill>
                <a:srgbClr val="352379"/>
              </a:solidFill>
              <a:latin typeface="Montserrat"/>
            </a:endParaRPr>
          </a:p>
          <a:p>
            <a:r>
              <a:rPr lang="ru-RU" sz="2100">
                <a:solidFill>
                  <a:srgbClr val="352379"/>
                </a:solidFill>
                <a:latin typeface="Montserrat"/>
              </a:rPr>
              <a:t>Стек — путь вызовов</a:t>
            </a:r>
          </a:p>
          <a:p>
            <a:endParaRPr lang="ru-RU" sz="2100">
              <a:solidFill>
                <a:srgbClr val="352379"/>
              </a:solidFill>
              <a:latin typeface="Montserrat"/>
            </a:endParaRPr>
          </a:p>
          <a:p>
            <a:r>
              <a:rPr lang="ru-RU" sz="2100">
                <a:solidFill>
                  <a:srgbClr val="352379"/>
                </a:solidFill>
                <a:latin typeface="Montserrat"/>
              </a:rPr>
              <a:t>Возврат — конец</a:t>
            </a:r>
          </a:p>
          <a:p>
            <a:r>
              <a:rPr lang="ru-RU" sz="2100">
                <a:solidFill>
                  <a:srgbClr val="352379"/>
                </a:solidFill>
                <a:latin typeface="Montserrat"/>
              </a:rPr>
              <a:t>обработки вершины</a:t>
            </a:r>
          </a:p>
        </p:txBody>
      </p:sp>
      <p:sp>
        <p:nvSpPr>
          <p:cNvPr id="12" name="box-8-364">
            <a:extLst>
              <a:ext uri="{FF2B5EF4-FFF2-40B4-BE49-F238E27FC236}">
                <a16:creationId xmlns:a16="http://schemas.microsoft.com/office/drawing/2014/main" id="{63F7961D-9188-44A9-940B-D5270AED730C}"/>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9-365">
            <a:extLst>
              <a:ext uri="{FF2B5EF4-FFF2-40B4-BE49-F238E27FC236}">
                <a16:creationId xmlns:a16="http://schemas.microsoft.com/office/drawing/2014/main" id="{CCA4C135-867B-4C4B-90BB-1142197C2553}"/>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Один обход: O(V + E). Дополнительная память: O(V).</a:t>
            </a:r>
          </a:p>
        </p:txBody>
      </p:sp>
      <p:sp>
        <p:nvSpPr>
          <p:cNvPr id="14" name="lecture-footer">
            <a:extLst>
              <a:ext uri="{FF2B5EF4-FFF2-40B4-BE49-F238E27FC236}">
                <a16:creationId xmlns:a16="http://schemas.microsoft.com/office/drawing/2014/main" id="{EF7ACC62-4936-4FEC-B80A-25925DEF885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5" name="slide-number">
            <a:extLst>
              <a:ext uri="{FF2B5EF4-FFF2-40B4-BE49-F238E27FC236}">
                <a16:creationId xmlns:a16="http://schemas.microsoft.com/office/drawing/2014/main" id="{65489EBE-E422-4C42-ADE8-B25F90321F56}"/>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9</a:t>
            </a:r>
          </a:p>
        </p:txBody>
      </p:sp>
    </p:spTree>
    <p:extLst>
      <p:ext uri="{BB962C8B-B14F-4D97-AF65-F5344CB8AC3E}">
        <p14:creationId xmlns:p14="http://schemas.microsoft.com/office/powerpoint/2010/main" val="2472513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Связный и несвязный граф</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text-0-366">
            <a:extLst>
              <a:ext uri="{FF2B5EF4-FFF2-40B4-BE49-F238E27FC236}">
                <a16:creationId xmlns:a16="http://schemas.microsoft.com/office/drawing/2014/main" id="{3A590940-303C-4A65-B121-DFEB6D247E78}"/>
              </a:ext>
            </a:extLst>
          </p:cNvPr>
          <p:cNvSpPr txBox="1"/>
          <p:nvPr/>
        </p:nvSpPr>
        <p:spPr bwMode="auto">
          <a:xfrm>
            <a:off x="825500" y="1533639"/>
            <a:ext cx="5080000" cy="436017"/>
          </a:xfrm>
          <a:prstGeom prst="rect">
            <a:avLst/>
          </a:prstGeom>
        </p:spPr>
        <p:txBody>
          <a:bodyPr vert="horz" wrap="square" lIns="38100" tIns="25400" rIns="38100" bIns="25400" rtlCol="0" anchor="ctr">
            <a:spAutoFit/>
          </a:bodyPr>
          <a:lstStyle/>
          <a:p>
            <a:r>
              <a:rPr lang="ru-RU" sz="2500" b="1">
                <a:solidFill>
                  <a:srgbClr val="352379"/>
                </a:solidFill>
                <a:latin typeface="Montserrat"/>
              </a:rPr>
              <a:t>Связный</a:t>
            </a:r>
          </a:p>
        </p:txBody>
      </p:sp>
      <p:sp>
        <p:nvSpPr>
          <p:cNvPr id="4" name="text-1-367">
            <a:extLst>
              <a:ext uri="{FF2B5EF4-FFF2-40B4-BE49-F238E27FC236}">
                <a16:creationId xmlns:a16="http://schemas.microsoft.com/office/drawing/2014/main" id="{3011F1F1-C51A-4893-97EA-B4DA9F6FC35C}"/>
              </a:ext>
            </a:extLst>
          </p:cNvPr>
          <p:cNvSpPr txBox="1"/>
          <p:nvPr/>
        </p:nvSpPr>
        <p:spPr bwMode="auto">
          <a:xfrm>
            <a:off x="6604000" y="1533639"/>
            <a:ext cx="5080000" cy="436017"/>
          </a:xfrm>
          <a:prstGeom prst="rect">
            <a:avLst/>
          </a:prstGeom>
        </p:spPr>
        <p:txBody>
          <a:bodyPr vert="horz" wrap="square" lIns="38100" tIns="25400" rIns="38100" bIns="25400" rtlCol="0" anchor="ctr">
            <a:spAutoFit/>
          </a:bodyPr>
          <a:lstStyle/>
          <a:p>
            <a:r>
              <a:rPr lang="ru-RU" sz="2500" b="1">
                <a:solidFill>
                  <a:srgbClr val="352379"/>
                </a:solidFill>
                <a:latin typeface="Montserrat"/>
              </a:rPr>
              <a:t>Несвязный</a:t>
            </a:r>
          </a:p>
        </p:txBody>
      </p:sp>
      <p:cxnSp>
        <p:nvCxnSpPr>
          <p:cNvPr id="5" name="!!conn-edge-1-2">
            <a:extLst>
              <a:ext uri="{FF2B5EF4-FFF2-40B4-BE49-F238E27FC236}">
                <a16:creationId xmlns:a16="http://schemas.microsoft.com/office/drawing/2014/main" id="{2A8B3500-BB20-4F0B-9A2D-DA4AF98964F2}"/>
              </a:ext>
            </a:extLst>
          </p:cNvPr>
          <p:cNvCxnSpPr/>
          <p:nvPr/>
        </p:nvCxnSpPr>
        <p:spPr>
          <a:xfrm flipH="1">
            <a:off x="857779" y="2605709"/>
            <a:ext cx="29930" cy="65471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conn-edge-2-3">
            <a:extLst>
              <a:ext uri="{FF2B5EF4-FFF2-40B4-BE49-F238E27FC236}">
                <a16:creationId xmlns:a16="http://schemas.microsoft.com/office/drawing/2014/main" id="{BAC565AC-4196-497E-8EE6-8DC097C1E4FA}"/>
              </a:ext>
            </a:extLst>
          </p:cNvPr>
          <p:cNvCxnSpPr/>
          <p:nvPr/>
        </p:nvCxnSpPr>
        <p:spPr>
          <a:xfrm flipV="1">
            <a:off x="1128874" y="3090197"/>
            <a:ext cx="717862" cy="34867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conn-edge-3-1">
            <a:extLst>
              <a:ext uri="{FF2B5EF4-FFF2-40B4-BE49-F238E27FC236}">
                <a16:creationId xmlns:a16="http://schemas.microsoft.com/office/drawing/2014/main" id="{C3FDA2A3-D4CE-4F80-B718-4648E6B98439}"/>
              </a:ext>
            </a:extLst>
          </p:cNvPr>
          <p:cNvCxnSpPr/>
          <p:nvPr/>
        </p:nvCxnSpPr>
        <p:spPr>
          <a:xfrm flipH="1" flipV="1">
            <a:off x="1181704" y="2439166"/>
            <a:ext cx="671130" cy="361687"/>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conn-edge-3-4">
            <a:extLst>
              <a:ext uri="{FF2B5EF4-FFF2-40B4-BE49-F238E27FC236}">
                <a16:creationId xmlns:a16="http://schemas.microsoft.com/office/drawing/2014/main" id="{9A572288-CC89-4F2B-BE52-7248F34B817B}"/>
              </a:ext>
            </a:extLst>
          </p:cNvPr>
          <p:cNvCxnSpPr/>
          <p:nvPr/>
        </p:nvCxnSpPr>
        <p:spPr>
          <a:xfrm>
            <a:off x="2449830" y="2951480"/>
            <a:ext cx="58039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conn-edge-4-5">
            <a:extLst>
              <a:ext uri="{FF2B5EF4-FFF2-40B4-BE49-F238E27FC236}">
                <a16:creationId xmlns:a16="http://schemas.microsoft.com/office/drawing/2014/main" id="{2E9BB91E-8F13-44B3-9D79-0A9E61B2A776}"/>
              </a:ext>
            </a:extLst>
          </p:cNvPr>
          <p:cNvCxnSpPr/>
          <p:nvPr/>
        </p:nvCxnSpPr>
        <p:spPr>
          <a:xfrm flipV="1">
            <a:off x="3617481" y="2455978"/>
            <a:ext cx="528548" cy="32806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1" name="!!conn-edge-5-6">
            <a:extLst>
              <a:ext uri="{FF2B5EF4-FFF2-40B4-BE49-F238E27FC236}">
                <a16:creationId xmlns:a16="http://schemas.microsoft.com/office/drawing/2014/main" id="{E83C4B66-2CED-4459-9D7E-4E89BBE46F63}"/>
              </a:ext>
            </a:extLst>
          </p:cNvPr>
          <p:cNvCxnSpPr/>
          <p:nvPr/>
        </p:nvCxnSpPr>
        <p:spPr>
          <a:xfrm>
            <a:off x="4433903" y="2605523"/>
            <a:ext cx="37434" cy="6550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2" name="!!conn-edge-6-4">
            <a:extLst>
              <a:ext uri="{FF2B5EF4-FFF2-40B4-BE49-F238E27FC236}">
                <a16:creationId xmlns:a16="http://schemas.microsoft.com/office/drawing/2014/main" id="{668C2265-256F-4494-A761-D556D943D008}"/>
              </a:ext>
            </a:extLst>
          </p:cNvPr>
          <p:cNvCxnSpPr/>
          <p:nvPr/>
        </p:nvCxnSpPr>
        <p:spPr>
          <a:xfrm flipH="1" flipV="1">
            <a:off x="3626108" y="3104144"/>
            <a:ext cx="584954" cy="32078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conn-node-1">
            <a:extLst>
              <a:ext uri="{FF2B5EF4-FFF2-40B4-BE49-F238E27FC236}">
                <a16:creationId xmlns:a16="http://schemas.microsoft.com/office/drawing/2014/main" id="{9A50CDD0-DBDF-4028-8642-5F61571A47E4}"/>
              </a:ext>
            </a:extLst>
          </p:cNvPr>
          <p:cNvSpPr/>
          <p:nvPr/>
        </p:nvSpPr>
        <p:spPr>
          <a:xfrm>
            <a:off x="584708" y="197104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4" name="!!conn-node-2">
            <a:extLst>
              <a:ext uri="{FF2B5EF4-FFF2-40B4-BE49-F238E27FC236}">
                <a16:creationId xmlns:a16="http://schemas.microsoft.com/office/drawing/2014/main" id="{CF2CD0CD-E3E1-4B02-812D-15B60085D543}"/>
              </a:ext>
            </a:extLst>
          </p:cNvPr>
          <p:cNvSpPr/>
          <p:nvPr/>
        </p:nvSpPr>
        <p:spPr>
          <a:xfrm>
            <a:off x="525780" y="326009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5" name="!!conn-node-3">
            <a:extLst>
              <a:ext uri="{FF2B5EF4-FFF2-40B4-BE49-F238E27FC236}">
                <a16:creationId xmlns:a16="http://schemas.microsoft.com/office/drawing/2014/main" id="{86011213-800B-4127-AFFC-AA4A89FB3C3C}"/>
              </a:ext>
            </a:extLst>
          </p:cNvPr>
          <p:cNvSpPr/>
          <p:nvPr/>
        </p:nvSpPr>
        <p:spPr>
          <a:xfrm>
            <a:off x="1814830" y="263398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6" name="!!conn-node-4">
            <a:extLst>
              <a:ext uri="{FF2B5EF4-FFF2-40B4-BE49-F238E27FC236}">
                <a16:creationId xmlns:a16="http://schemas.microsoft.com/office/drawing/2014/main" id="{892F9F57-02D8-48AE-96F4-DE92BCFF2202}"/>
              </a:ext>
            </a:extLst>
          </p:cNvPr>
          <p:cNvSpPr/>
          <p:nvPr/>
        </p:nvSpPr>
        <p:spPr>
          <a:xfrm>
            <a:off x="3030220" y="263398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7" name="!!conn-node-5">
            <a:extLst>
              <a:ext uri="{FF2B5EF4-FFF2-40B4-BE49-F238E27FC236}">
                <a16:creationId xmlns:a16="http://schemas.microsoft.com/office/drawing/2014/main" id="{7DAB7732-A681-42E4-954C-4A24872A40AE}"/>
              </a:ext>
            </a:extLst>
          </p:cNvPr>
          <p:cNvSpPr/>
          <p:nvPr/>
        </p:nvSpPr>
        <p:spPr>
          <a:xfrm>
            <a:off x="4098290" y="197104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8" name="!!conn-node-6">
            <a:extLst>
              <a:ext uri="{FF2B5EF4-FFF2-40B4-BE49-F238E27FC236}">
                <a16:creationId xmlns:a16="http://schemas.microsoft.com/office/drawing/2014/main" id="{FB6A81BE-E65D-4D3B-A170-198D5155CA2E}"/>
              </a:ext>
            </a:extLst>
          </p:cNvPr>
          <p:cNvSpPr/>
          <p:nvPr/>
        </p:nvSpPr>
        <p:spPr>
          <a:xfrm>
            <a:off x="4171950" y="326009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cxnSp>
        <p:nvCxnSpPr>
          <p:cNvPr id="19" name="!!disconn-edge-1-2">
            <a:extLst>
              <a:ext uri="{FF2B5EF4-FFF2-40B4-BE49-F238E27FC236}">
                <a16:creationId xmlns:a16="http://schemas.microsoft.com/office/drawing/2014/main" id="{0A1FB369-89B9-454F-9D0F-0105C1297072}"/>
              </a:ext>
            </a:extLst>
          </p:cNvPr>
          <p:cNvCxnSpPr/>
          <p:nvPr/>
        </p:nvCxnSpPr>
        <p:spPr>
          <a:xfrm flipH="1">
            <a:off x="6826779" y="2605709"/>
            <a:ext cx="29930" cy="65471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0" name="!!disconn-edge-2-3">
            <a:extLst>
              <a:ext uri="{FF2B5EF4-FFF2-40B4-BE49-F238E27FC236}">
                <a16:creationId xmlns:a16="http://schemas.microsoft.com/office/drawing/2014/main" id="{962D63D6-CF9A-4BB8-9266-3D390E1659BE}"/>
              </a:ext>
            </a:extLst>
          </p:cNvPr>
          <p:cNvCxnSpPr/>
          <p:nvPr/>
        </p:nvCxnSpPr>
        <p:spPr>
          <a:xfrm flipV="1">
            <a:off x="7097874" y="3090197"/>
            <a:ext cx="717862" cy="34867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1" name="!!disconn-edge-3-1">
            <a:extLst>
              <a:ext uri="{FF2B5EF4-FFF2-40B4-BE49-F238E27FC236}">
                <a16:creationId xmlns:a16="http://schemas.microsoft.com/office/drawing/2014/main" id="{019921AF-9017-4034-BC2B-DF85D75ACF33}"/>
              </a:ext>
            </a:extLst>
          </p:cNvPr>
          <p:cNvCxnSpPr/>
          <p:nvPr/>
        </p:nvCxnSpPr>
        <p:spPr>
          <a:xfrm flipH="1" flipV="1">
            <a:off x="7150704" y="2439166"/>
            <a:ext cx="671130" cy="361687"/>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2" name="!!disconn-edge-4-5">
            <a:extLst>
              <a:ext uri="{FF2B5EF4-FFF2-40B4-BE49-F238E27FC236}">
                <a16:creationId xmlns:a16="http://schemas.microsoft.com/office/drawing/2014/main" id="{C43986F0-E7EE-494F-B781-10A07DAF1EA6}"/>
              </a:ext>
            </a:extLst>
          </p:cNvPr>
          <p:cNvCxnSpPr/>
          <p:nvPr/>
        </p:nvCxnSpPr>
        <p:spPr>
          <a:xfrm flipV="1">
            <a:off x="9586481" y="2455978"/>
            <a:ext cx="528548" cy="32806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3" name="!!disconn-edge-5-6">
            <a:extLst>
              <a:ext uri="{FF2B5EF4-FFF2-40B4-BE49-F238E27FC236}">
                <a16:creationId xmlns:a16="http://schemas.microsoft.com/office/drawing/2014/main" id="{0C2EBA10-B8C1-4AAB-8B60-BD5D137813DD}"/>
              </a:ext>
            </a:extLst>
          </p:cNvPr>
          <p:cNvCxnSpPr/>
          <p:nvPr/>
        </p:nvCxnSpPr>
        <p:spPr>
          <a:xfrm>
            <a:off x="10402903" y="2605523"/>
            <a:ext cx="37433" cy="6550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4" name="!!disconn-edge-6-4">
            <a:extLst>
              <a:ext uri="{FF2B5EF4-FFF2-40B4-BE49-F238E27FC236}">
                <a16:creationId xmlns:a16="http://schemas.microsoft.com/office/drawing/2014/main" id="{D505CC81-1880-4242-AAE9-22614DD23EF2}"/>
              </a:ext>
            </a:extLst>
          </p:cNvPr>
          <p:cNvCxnSpPr/>
          <p:nvPr/>
        </p:nvCxnSpPr>
        <p:spPr>
          <a:xfrm flipH="1" flipV="1">
            <a:off x="9595108" y="3104144"/>
            <a:ext cx="584954" cy="32078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disconn-node-1">
            <a:extLst>
              <a:ext uri="{FF2B5EF4-FFF2-40B4-BE49-F238E27FC236}">
                <a16:creationId xmlns:a16="http://schemas.microsoft.com/office/drawing/2014/main" id="{B4E02F0D-DCAB-4278-9403-17C36A998E13}"/>
              </a:ext>
            </a:extLst>
          </p:cNvPr>
          <p:cNvSpPr/>
          <p:nvPr/>
        </p:nvSpPr>
        <p:spPr>
          <a:xfrm>
            <a:off x="6553708" y="197104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6" name="!!disconn-node-2">
            <a:extLst>
              <a:ext uri="{FF2B5EF4-FFF2-40B4-BE49-F238E27FC236}">
                <a16:creationId xmlns:a16="http://schemas.microsoft.com/office/drawing/2014/main" id="{E23A462E-8061-4C8D-B509-A5BBE5AB1FA9}"/>
              </a:ext>
            </a:extLst>
          </p:cNvPr>
          <p:cNvSpPr/>
          <p:nvPr/>
        </p:nvSpPr>
        <p:spPr>
          <a:xfrm>
            <a:off x="6494780" y="326009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7" name="!!disconn-node-3">
            <a:extLst>
              <a:ext uri="{FF2B5EF4-FFF2-40B4-BE49-F238E27FC236}">
                <a16:creationId xmlns:a16="http://schemas.microsoft.com/office/drawing/2014/main" id="{71544B24-75E4-417F-8AEE-112B7E5C00B7}"/>
              </a:ext>
            </a:extLst>
          </p:cNvPr>
          <p:cNvSpPr/>
          <p:nvPr/>
        </p:nvSpPr>
        <p:spPr>
          <a:xfrm>
            <a:off x="7783830" y="263398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8" name="!!disconn-node-4">
            <a:extLst>
              <a:ext uri="{FF2B5EF4-FFF2-40B4-BE49-F238E27FC236}">
                <a16:creationId xmlns:a16="http://schemas.microsoft.com/office/drawing/2014/main" id="{EB066C10-3165-4BBE-AEEB-2D09FE6DC839}"/>
              </a:ext>
            </a:extLst>
          </p:cNvPr>
          <p:cNvSpPr/>
          <p:nvPr/>
        </p:nvSpPr>
        <p:spPr>
          <a:xfrm>
            <a:off x="8999220" y="263398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9" name="!!disconn-node-5">
            <a:extLst>
              <a:ext uri="{FF2B5EF4-FFF2-40B4-BE49-F238E27FC236}">
                <a16:creationId xmlns:a16="http://schemas.microsoft.com/office/drawing/2014/main" id="{36247667-6FF0-414D-B158-356084AD0002}"/>
              </a:ext>
            </a:extLst>
          </p:cNvPr>
          <p:cNvSpPr/>
          <p:nvPr/>
        </p:nvSpPr>
        <p:spPr>
          <a:xfrm>
            <a:off x="10067290" y="197104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30" name="!!disconn-node-6">
            <a:extLst>
              <a:ext uri="{FF2B5EF4-FFF2-40B4-BE49-F238E27FC236}">
                <a16:creationId xmlns:a16="http://schemas.microsoft.com/office/drawing/2014/main" id="{21791DF5-1523-4BA0-9815-168891077379}"/>
              </a:ext>
            </a:extLst>
          </p:cNvPr>
          <p:cNvSpPr/>
          <p:nvPr/>
        </p:nvSpPr>
        <p:spPr>
          <a:xfrm>
            <a:off x="10140950" y="326009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31" name="box-27-393">
            <a:extLst>
              <a:ext uri="{FF2B5EF4-FFF2-40B4-BE49-F238E27FC236}">
                <a16:creationId xmlns:a16="http://schemas.microsoft.com/office/drawing/2014/main" id="{081D2840-0A7D-413D-84D6-EF9156CA0FE2}"/>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28-394">
            <a:extLst>
              <a:ext uri="{FF2B5EF4-FFF2-40B4-BE49-F238E27FC236}">
                <a16:creationId xmlns:a16="http://schemas.microsoft.com/office/drawing/2014/main" id="{CF1BFD0A-8E42-4CCB-8600-BD0FE71C2191}"/>
              </a:ext>
            </a:extLst>
          </p:cNvPr>
          <p:cNvSpPr txBox="1"/>
          <p:nvPr/>
        </p:nvSpPr>
        <p:spPr bwMode="auto">
          <a:xfrm>
            <a:off x="660400" y="5969000"/>
            <a:ext cx="10871200" cy="457200"/>
          </a:xfrm>
          <a:prstGeom prst="rect">
            <a:avLst/>
          </a:prstGeom>
        </p:spPr>
        <p:txBody>
          <a:bodyPr vert="horz" wrap="square" lIns="38100" tIns="25400" rIns="38100" bIns="25400" rtlCol="0" anchor="ctr">
            <a:noAutofit/>
          </a:bodyPr>
          <a:lstStyle/>
          <a:p>
            <a:r>
              <a:rPr lang="ru-RU" sz="2200">
                <a:solidFill>
                  <a:srgbClr val="FFFFFF"/>
                </a:solidFill>
                <a:latin typeface="Montserrat"/>
              </a:rPr>
              <a:t>Граф называется связным, если между любой парой его вершин существует путь.</a:t>
            </a:r>
          </a:p>
        </p:txBody>
      </p:sp>
      <p:sp>
        <p:nvSpPr>
          <p:cNvPr id="33" name="lecture-footer">
            <a:extLst>
              <a:ext uri="{FF2B5EF4-FFF2-40B4-BE49-F238E27FC236}">
                <a16:creationId xmlns:a16="http://schemas.microsoft.com/office/drawing/2014/main" id="{EDE03B7F-3ECE-45C3-B502-7FD07E1B97A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4" name="slide-number">
            <a:extLst>
              <a:ext uri="{FF2B5EF4-FFF2-40B4-BE49-F238E27FC236}">
                <a16:creationId xmlns:a16="http://schemas.microsoft.com/office/drawing/2014/main" id="{BDFFC842-9734-4467-BCCC-BEA123612525}"/>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10</a:t>
            </a:r>
          </a:p>
        </p:txBody>
      </p:sp>
    </p:spTree>
    <p:extLst>
      <p:ext uri="{BB962C8B-B14F-4D97-AF65-F5344CB8AC3E}">
        <p14:creationId xmlns:p14="http://schemas.microsoft.com/office/powerpoint/2010/main" val="323452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Компонента связности</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600F51F5-04D4-44BA-A996-ED49F0A16985}"/>
              </a:ext>
            </a:extLst>
          </p:cNvPr>
          <p:cNvCxnSpPr/>
          <p:nvPr/>
        </p:nvCxnSpPr>
        <p:spPr>
          <a:xfrm flipV="1">
            <a:off x="1380707" y="2132402"/>
            <a:ext cx="921586" cy="30719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5E29CDA3-5E6E-40E4-AB09-FC41CC7C90E5}"/>
              </a:ext>
            </a:extLst>
          </p:cNvPr>
          <p:cNvCxnSpPr/>
          <p:nvPr/>
        </p:nvCxnSpPr>
        <p:spPr>
          <a:xfrm>
            <a:off x="2614832" y="2349298"/>
            <a:ext cx="40836" cy="114340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88368C06-5886-42A5-A5BF-0DBE92F459BD}"/>
              </a:ext>
            </a:extLst>
          </p:cNvPr>
          <p:cNvCxnSpPr/>
          <p:nvPr/>
        </p:nvCxnSpPr>
        <p:spPr>
          <a:xfrm flipH="1" flipV="1">
            <a:off x="1327426" y="2738341"/>
            <a:ext cx="1091648" cy="87331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4-5">
            <a:extLst>
              <a:ext uri="{FF2B5EF4-FFF2-40B4-BE49-F238E27FC236}">
                <a16:creationId xmlns:a16="http://schemas.microsoft.com/office/drawing/2014/main" id="{DEA01878-DDFF-4372-8A40-EFE5BFA84D5E}"/>
              </a:ext>
            </a:extLst>
          </p:cNvPr>
          <p:cNvCxnSpPr/>
          <p:nvPr/>
        </p:nvCxnSpPr>
        <p:spPr>
          <a:xfrm flipV="1">
            <a:off x="4932785" y="2143482"/>
            <a:ext cx="929430" cy="3485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5-6">
            <a:extLst>
              <a:ext uri="{FF2B5EF4-FFF2-40B4-BE49-F238E27FC236}">
                <a16:creationId xmlns:a16="http://schemas.microsoft.com/office/drawing/2014/main" id="{F8C55652-527D-4AB5-A4CC-CFF698E3345F}"/>
              </a:ext>
            </a:extLst>
          </p:cNvPr>
          <p:cNvCxnSpPr/>
          <p:nvPr/>
        </p:nvCxnSpPr>
        <p:spPr>
          <a:xfrm>
            <a:off x="6159500" y="2349500"/>
            <a:ext cx="0" cy="1206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6-4">
            <a:extLst>
              <a:ext uri="{FF2B5EF4-FFF2-40B4-BE49-F238E27FC236}">
                <a16:creationId xmlns:a16="http://schemas.microsoft.com/office/drawing/2014/main" id="{DFDD79AB-0AAE-44E4-AEB6-7808E8FA0F39}"/>
              </a:ext>
            </a:extLst>
          </p:cNvPr>
          <p:cNvCxnSpPr/>
          <p:nvPr/>
        </p:nvCxnSpPr>
        <p:spPr>
          <a:xfrm flipH="1" flipV="1">
            <a:off x="4879410" y="2806759"/>
            <a:ext cx="1036180" cy="86348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7-8">
            <a:extLst>
              <a:ext uri="{FF2B5EF4-FFF2-40B4-BE49-F238E27FC236}">
                <a16:creationId xmlns:a16="http://schemas.microsoft.com/office/drawing/2014/main" id="{ADD6DED8-C513-47E4-B392-2AF615FDD6B5}"/>
              </a:ext>
            </a:extLst>
          </p:cNvPr>
          <p:cNvCxnSpPr/>
          <p:nvPr/>
        </p:nvCxnSpPr>
        <p:spPr>
          <a:xfrm>
            <a:off x="2921000" y="5397500"/>
            <a:ext cx="1333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A3E6BA9D-CA9D-4097-A104-BB1290F3AB2A}"/>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5979D972-746A-46F7-8AE1-754849C601D1}"/>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F36A61FD-AF74-4B33-AC57-87AACE834230}"/>
              </a:ext>
            </a:extLst>
          </p:cNvPr>
          <p:cNvSpPr/>
          <p:nvPr/>
        </p:nvSpPr>
        <p:spPr>
          <a:xfrm>
            <a:off x="2349500" y="349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671F7FAF-5F91-4232-BBBB-A132520E2D07}"/>
              </a:ext>
            </a:extLst>
          </p:cNvPr>
          <p:cNvSpPr/>
          <p:nvPr/>
        </p:nvSpPr>
        <p:spPr>
          <a:xfrm>
            <a:off x="43180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5" name="!!g-node-5">
            <a:extLst>
              <a:ext uri="{FF2B5EF4-FFF2-40B4-BE49-F238E27FC236}">
                <a16:creationId xmlns:a16="http://schemas.microsoft.com/office/drawing/2014/main" id="{929B4919-317D-402C-8E2A-8DE9A9BC88A8}"/>
              </a:ext>
            </a:extLst>
          </p:cNvPr>
          <p:cNvSpPr/>
          <p:nvPr/>
        </p:nvSpPr>
        <p:spPr>
          <a:xfrm>
            <a:off x="5842000" y="1714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6" name="!!g-node-6">
            <a:extLst>
              <a:ext uri="{FF2B5EF4-FFF2-40B4-BE49-F238E27FC236}">
                <a16:creationId xmlns:a16="http://schemas.microsoft.com/office/drawing/2014/main" id="{770C8DB1-51FD-4C23-9DEA-D181E7EC6FAB}"/>
              </a:ext>
            </a:extLst>
          </p:cNvPr>
          <p:cNvSpPr/>
          <p:nvPr/>
        </p:nvSpPr>
        <p:spPr>
          <a:xfrm>
            <a:off x="5842000" y="355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7" name="!!g-node-7">
            <a:extLst>
              <a:ext uri="{FF2B5EF4-FFF2-40B4-BE49-F238E27FC236}">
                <a16:creationId xmlns:a16="http://schemas.microsoft.com/office/drawing/2014/main" id="{3DE4FB9A-3B49-424F-8088-0C977319D73A}"/>
              </a:ext>
            </a:extLst>
          </p:cNvPr>
          <p:cNvSpPr/>
          <p:nvPr/>
        </p:nvSpPr>
        <p:spPr>
          <a:xfrm>
            <a:off x="2286000" y="5080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8" name="!!g-node-8">
            <a:extLst>
              <a:ext uri="{FF2B5EF4-FFF2-40B4-BE49-F238E27FC236}">
                <a16:creationId xmlns:a16="http://schemas.microsoft.com/office/drawing/2014/main" id="{671BF621-87EE-4379-A45F-E0826F63C039}"/>
              </a:ext>
            </a:extLst>
          </p:cNvPr>
          <p:cNvSpPr/>
          <p:nvPr/>
        </p:nvSpPr>
        <p:spPr>
          <a:xfrm>
            <a:off x="4254500" y="5080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19" name="box-15-410">
            <a:extLst>
              <a:ext uri="{FF2B5EF4-FFF2-40B4-BE49-F238E27FC236}">
                <a16:creationId xmlns:a16="http://schemas.microsoft.com/office/drawing/2014/main" id="{9AAFB0D0-D414-4C3C-A070-5CF388697D78}"/>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box-16-411">
            <a:extLst>
              <a:ext uri="{FF2B5EF4-FFF2-40B4-BE49-F238E27FC236}">
                <a16:creationId xmlns:a16="http://schemas.microsoft.com/office/drawing/2014/main" id="{FAD60C5D-7CCA-49AC-9B94-3D1F0B73B0C5}"/>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17-412">
            <a:extLst>
              <a:ext uri="{FF2B5EF4-FFF2-40B4-BE49-F238E27FC236}">
                <a16:creationId xmlns:a16="http://schemas.microsoft.com/office/drawing/2014/main" id="{A6767914-9835-40E2-85CB-889E3471A44F}"/>
              </a:ext>
            </a:extLst>
          </p:cNvPr>
          <p:cNvSpPr txBox="1"/>
          <p:nvPr/>
        </p:nvSpPr>
        <p:spPr bwMode="auto">
          <a:xfrm>
            <a:off x="8128000" y="1869217"/>
            <a:ext cx="3390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Определение</a:t>
            </a:r>
          </a:p>
        </p:txBody>
      </p:sp>
      <p:sp>
        <p:nvSpPr>
          <p:cNvPr id="22" name="text-18-413">
            <a:extLst>
              <a:ext uri="{FF2B5EF4-FFF2-40B4-BE49-F238E27FC236}">
                <a16:creationId xmlns:a16="http://schemas.microsoft.com/office/drawing/2014/main" id="{9A6EAFD7-3E38-450D-BFD2-778D90EBE2F4}"/>
              </a:ext>
            </a:extLst>
          </p:cNvPr>
          <p:cNvSpPr txBox="1"/>
          <p:nvPr/>
        </p:nvSpPr>
        <p:spPr bwMode="auto">
          <a:xfrm>
            <a:off x="8153400" y="2578099"/>
            <a:ext cx="3340100" cy="2781300"/>
          </a:xfrm>
          <a:prstGeom prst="rect">
            <a:avLst/>
          </a:prstGeom>
        </p:spPr>
        <p:txBody>
          <a:bodyPr vert="horz" wrap="square" lIns="38100" tIns="25400" rIns="38100" bIns="25400" rtlCol="0" anchor="t">
            <a:noAutofit/>
          </a:bodyPr>
          <a:lstStyle/>
          <a:p>
            <a:r>
              <a:rPr lang="ru-RU" sz="2200">
                <a:solidFill>
                  <a:srgbClr val="352379"/>
                </a:solidFill>
                <a:latin typeface="Montserrat"/>
              </a:rPr>
              <a:t>Компонента связности — максимальная группа вершин, внутри которой между любыми двумя вершинами существует путь.</a:t>
            </a:r>
          </a:p>
        </p:txBody>
      </p:sp>
      <p:sp>
        <p:nvSpPr>
          <p:cNvPr id="23" name="box-19-414">
            <a:extLst>
              <a:ext uri="{FF2B5EF4-FFF2-40B4-BE49-F238E27FC236}">
                <a16:creationId xmlns:a16="http://schemas.microsoft.com/office/drawing/2014/main" id="{24647CE7-B3CD-4137-8EF7-306F162BEFE4}"/>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20-415">
            <a:extLst>
              <a:ext uri="{FF2B5EF4-FFF2-40B4-BE49-F238E27FC236}">
                <a16:creationId xmlns:a16="http://schemas.microsoft.com/office/drawing/2014/main" id="{70805864-716F-4228-A4AE-012EE10214FC}"/>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Внутри группы есть пути. Между группами — нет.</a:t>
            </a:r>
          </a:p>
        </p:txBody>
      </p:sp>
      <p:sp>
        <p:nvSpPr>
          <p:cNvPr id="25" name="lecture-footer">
            <a:extLst>
              <a:ext uri="{FF2B5EF4-FFF2-40B4-BE49-F238E27FC236}">
                <a16:creationId xmlns:a16="http://schemas.microsoft.com/office/drawing/2014/main" id="{F0CFDDEE-F6B2-4AF9-967A-457F01C28E19}"/>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6" name="slide-number">
            <a:extLst>
              <a:ext uri="{FF2B5EF4-FFF2-40B4-BE49-F238E27FC236}">
                <a16:creationId xmlns:a16="http://schemas.microsoft.com/office/drawing/2014/main" id="{EEE714C7-640E-462F-B96B-792F65D8AC22}"/>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11</a:t>
            </a:r>
          </a:p>
        </p:txBody>
      </p:sp>
    </p:spTree>
    <p:extLst>
      <p:ext uri="{BB962C8B-B14F-4D97-AF65-F5344CB8AC3E}">
        <p14:creationId xmlns:p14="http://schemas.microsoft.com/office/powerpoint/2010/main" val="8391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Компоненты: выбираем первую вершину</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A767B4B5-A670-44D5-96A9-75F58D0747E6}"/>
              </a:ext>
            </a:extLst>
          </p:cNvPr>
          <p:cNvCxnSpPr/>
          <p:nvPr/>
        </p:nvCxnSpPr>
        <p:spPr>
          <a:xfrm flipV="1">
            <a:off x="1380707" y="2132402"/>
            <a:ext cx="921586" cy="30719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80220508-B20B-40ED-B70B-2F2F72676C27}"/>
              </a:ext>
            </a:extLst>
          </p:cNvPr>
          <p:cNvCxnSpPr/>
          <p:nvPr/>
        </p:nvCxnSpPr>
        <p:spPr>
          <a:xfrm>
            <a:off x="2614832" y="2349298"/>
            <a:ext cx="40836" cy="114340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8D7FA96E-F1F1-47DB-A020-6D8FB98DB11A}"/>
              </a:ext>
            </a:extLst>
          </p:cNvPr>
          <p:cNvCxnSpPr/>
          <p:nvPr/>
        </p:nvCxnSpPr>
        <p:spPr>
          <a:xfrm flipH="1" flipV="1">
            <a:off x="1327426" y="2738341"/>
            <a:ext cx="1091648" cy="87331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4-5">
            <a:extLst>
              <a:ext uri="{FF2B5EF4-FFF2-40B4-BE49-F238E27FC236}">
                <a16:creationId xmlns:a16="http://schemas.microsoft.com/office/drawing/2014/main" id="{22CF5127-F487-486B-9918-CF7AF230FA5F}"/>
              </a:ext>
            </a:extLst>
          </p:cNvPr>
          <p:cNvCxnSpPr/>
          <p:nvPr/>
        </p:nvCxnSpPr>
        <p:spPr>
          <a:xfrm flipV="1">
            <a:off x="4932785" y="2143482"/>
            <a:ext cx="929430" cy="3485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5-6">
            <a:extLst>
              <a:ext uri="{FF2B5EF4-FFF2-40B4-BE49-F238E27FC236}">
                <a16:creationId xmlns:a16="http://schemas.microsoft.com/office/drawing/2014/main" id="{C969D2EA-9F96-42C7-9EBB-0E08C3064594}"/>
              </a:ext>
            </a:extLst>
          </p:cNvPr>
          <p:cNvCxnSpPr/>
          <p:nvPr/>
        </p:nvCxnSpPr>
        <p:spPr>
          <a:xfrm>
            <a:off x="6159500" y="2349500"/>
            <a:ext cx="0" cy="1206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6-4">
            <a:extLst>
              <a:ext uri="{FF2B5EF4-FFF2-40B4-BE49-F238E27FC236}">
                <a16:creationId xmlns:a16="http://schemas.microsoft.com/office/drawing/2014/main" id="{00FA8E82-9B55-4C84-8C29-D3942B8D7B49}"/>
              </a:ext>
            </a:extLst>
          </p:cNvPr>
          <p:cNvCxnSpPr/>
          <p:nvPr/>
        </p:nvCxnSpPr>
        <p:spPr>
          <a:xfrm flipH="1" flipV="1">
            <a:off x="4879410" y="2806759"/>
            <a:ext cx="1036180" cy="86348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7-8">
            <a:extLst>
              <a:ext uri="{FF2B5EF4-FFF2-40B4-BE49-F238E27FC236}">
                <a16:creationId xmlns:a16="http://schemas.microsoft.com/office/drawing/2014/main" id="{4CEC9701-E712-4F82-8947-5C2E062AE0BD}"/>
              </a:ext>
            </a:extLst>
          </p:cNvPr>
          <p:cNvCxnSpPr/>
          <p:nvPr/>
        </p:nvCxnSpPr>
        <p:spPr>
          <a:xfrm>
            <a:off x="2921000" y="5397500"/>
            <a:ext cx="1333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B87F9AD5-A8C9-4489-9A74-F34B655FDCE0}"/>
              </a:ext>
            </a:extLst>
          </p:cNvPr>
          <p:cNvSpPr/>
          <p:nvPr/>
        </p:nvSpPr>
        <p:spPr>
          <a:xfrm>
            <a:off x="7620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6369DA8B-665F-4068-92CA-6CC14A2193E1}"/>
              </a:ext>
            </a:extLst>
          </p:cNvPr>
          <p:cNvSpPr/>
          <p:nvPr/>
        </p:nvSpPr>
        <p:spPr>
          <a:xfrm>
            <a:off x="2286000" y="171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8A7E3C8A-62E0-4A1F-BFFB-D38560DCF743}"/>
              </a:ext>
            </a:extLst>
          </p:cNvPr>
          <p:cNvSpPr/>
          <p:nvPr/>
        </p:nvSpPr>
        <p:spPr>
          <a:xfrm>
            <a:off x="2349500" y="349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E4BE1D77-B82B-4963-AA04-818F06F1ADA0}"/>
              </a:ext>
            </a:extLst>
          </p:cNvPr>
          <p:cNvSpPr/>
          <p:nvPr/>
        </p:nvSpPr>
        <p:spPr>
          <a:xfrm>
            <a:off x="43180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6DEEA703-637D-402F-8942-7D54D0CA3CBF}"/>
              </a:ext>
            </a:extLst>
          </p:cNvPr>
          <p:cNvSpPr/>
          <p:nvPr/>
        </p:nvSpPr>
        <p:spPr>
          <a:xfrm>
            <a:off x="5842000" y="171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54CDA76D-E691-4798-B86F-6BA0FBB3B597}"/>
              </a:ext>
            </a:extLst>
          </p:cNvPr>
          <p:cNvSpPr/>
          <p:nvPr/>
        </p:nvSpPr>
        <p:spPr>
          <a:xfrm>
            <a:off x="5842000" y="355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g-node-7">
            <a:extLst>
              <a:ext uri="{FF2B5EF4-FFF2-40B4-BE49-F238E27FC236}">
                <a16:creationId xmlns:a16="http://schemas.microsoft.com/office/drawing/2014/main" id="{7D6F38D2-EEC8-4CF6-830D-2E14ABE0DA27}"/>
              </a:ext>
            </a:extLst>
          </p:cNvPr>
          <p:cNvSpPr/>
          <p:nvPr/>
        </p:nvSpPr>
        <p:spPr>
          <a:xfrm>
            <a:off x="2286000" y="508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8" name="!!g-node-8">
            <a:extLst>
              <a:ext uri="{FF2B5EF4-FFF2-40B4-BE49-F238E27FC236}">
                <a16:creationId xmlns:a16="http://schemas.microsoft.com/office/drawing/2014/main" id="{B6892010-1805-4F9D-8E00-B71AA3165749}"/>
              </a:ext>
            </a:extLst>
          </p:cNvPr>
          <p:cNvSpPr/>
          <p:nvPr/>
        </p:nvSpPr>
        <p:spPr>
          <a:xfrm>
            <a:off x="4254500" y="508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9" name="box-15-431">
            <a:extLst>
              <a:ext uri="{FF2B5EF4-FFF2-40B4-BE49-F238E27FC236}">
                <a16:creationId xmlns:a16="http://schemas.microsoft.com/office/drawing/2014/main" id="{669B5DC8-F309-41AD-9C81-D555D3D89DC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box-16-432">
            <a:extLst>
              <a:ext uri="{FF2B5EF4-FFF2-40B4-BE49-F238E27FC236}">
                <a16:creationId xmlns:a16="http://schemas.microsoft.com/office/drawing/2014/main" id="{B19E1425-EED4-4457-BFE5-FEE3262C098C}"/>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17-433">
            <a:extLst>
              <a:ext uri="{FF2B5EF4-FFF2-40B4-BE49-F238E27FC236}">
                <a16:creationId xmlns:a16="http://schemas.microsoft.com/office/drawing/2014/main" id="{34E28F43-A8A1-478F-9125-B942C892E2AC}"/>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Начало</a:t>
            </a:r>
          </a:p>
        </p:txBody>
      </p:sp>
      <p:sp>
        <p:nvSpPr>
          <p:cNvPr id="22" name="text-18-434">
            <a:extLst>
              <a:ext uri="{FF2B5EF4-FFF2-40B4-BE49-F238E27FC236}">
                <a16:creationId xmlns:a16="http://schemas.microsoft.com/office/drawing/2014/main" id="{8164BCD4-2CD9-4552-895C-55FB4940F88D}"/>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visited = ∅</a:t>
            </a:r>
          </a:p>
          <a:p>
            <a:endParaRPr lang="en-US" sz="2100">
              <a:solidFill>
                <a:srgbClr val="352379"/>
              </a:solidFill>
              <a:latin typeface="Montserrat"/>
            </a:endParaRPr>
          </a:p>
          <a:p>
            <a:r>
              <a:rPr lang="en-US" sz="2100">
                <a:solidFill>
                  <a:srgbClr val="352379"/>
                </a:solidFill>
                <a:latin typeface="Montserrat"/>
              </a:rPr>
              <a:t>components = 0</a:t>
            </a:r>
            <a:endParaRPr lang="ru-RU" sz="2100">
              <a:solidFill>
                <a:srgbClr val="352379"/>
              </a:solidFill>
              <a:latin typeface="Montserrat"/>
            </a:endParaRPr>
          </a:p>
        </p:txBody>
      </p:sp>
      <p:grpSp>
        <p:nvGrpSpPr>
          <p:cNvPr id="28" name="animation-stage-1">
            <a:extLst>
              <a:ext uri="{FF2B5EF4-FFF2-40B4-BE49-F238E27FC236}">
                <a16:creationId xmlns:a16="http://schemas.microsoft.com/office/drawing/2014/main" id="{9C0605F8-AEF2-4B20-B66E-B5E2380B180D}"/>
              </a:ext>
            </a:extLst>
          </p:cNvPr>
          <p:cNvGrpSpPr/>
          <p:nvPr/>
        </p:nvGrpSpPr>
        <p:grpSpPr>
          <a:xfrm>
            <a:off x="762000" y="1816100"/>
            <a:ext cx="10947400" cy="3657600"/>
            <a:chOff x="762000" y="1816100"/>
            <a:chExt cx="10947400" cy="3657600"/>
          </a:xfrm>
        </p:grpSpPr>
        <p:sp>
          <p:nvSpPr>
            <p:cNvPr id="23" name="active-node-1-435">
              <a:extLst>
                <a:ext uri="{FF2B5EF4-FFF2-40B4-BE49-F238E27FC236}">
                  <a16:creationId xmlns:a16="http://schemas.microsoft.com/office/drawing/2014/main" id="{37477B39-3D7C-49FD-9F99-D04C715526A1}"/>
                </a:ext>
              </a:extLst>
            </p:cNvPr>
            <p:cNvSpPr/>
            <p:nvPr/>
          </p:nvSpPr>
          <p:spPr>
            <a:xfrm>
              <a:off x="762000" y="2222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24" name="box-1-436">
              <a:extLst>
                <a:ext uri="{FF2B5EF4-FFF2-40B4-BE49-F238E27FC236}">
                  <a16:creationId xmlns:a16="http://schemas.microsoft.com/office/drawing/2014/main" id="{75C1443D-B6B5-4AD4-A351-B505466193B0}"/>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box-2-437">
              <a:extLst>
                <a:ext uri="{FF2B5EF4-FFF2-40B4-BE49-F238E27FC236}">
                  <a16:creationId xmlns:a16="http://schemas.microsoft.com/office/drawing/2014/main" id="{2C7C4914-80B9-4304-B028-C3A702D3D0A3}"/>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3-438">
              <a:extLst>
                <a:ext uri="{FF2B5EF4-FFF2-40B4-BE49-F238E27FC236}">
                  <a16:creationId xmlns:a16="http://schemas.microsoft.com/office/drawing/2014/main" id="{121907CF-E053-480A-9F85-0E8048B73B29}"/>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Первый запуск</a:t>
              </a:r>
            </a:p>
          </p:txBody>
        </p:sp>
        <p:sp>
          <p:nvSpPr>
            <p:cNvPr id="27" name="text-4-439">
              <a:extLst>
                <a:ext uri="{FF2B5EF4-FFF2-40B4-BE49-F238E27FC236}">
                  <a16:creationId xmlns:a16="http://schemas.microsoft.com/office/drawing/2014/main" id="{A280C6B7-7C10-4774-A025-2EC1FDE85051}"/>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DFS(1)</a:t>
              </a:r>
            </a:p>
            <a:p>
              <a:endParaRPr lang="en-US" sz="2100">
                <a:solidFill>
                  <a:srgbClr val="352379"/>
                </a:solidFill>
                <a:latin typeface="Montserrat"/>
              </a:endParaRPr>
            </a:p>
            <a:p>
              <a:r>
                <a:rPr lang="en-US" sz="2100">
                  <a:solidFill>
                    <a:srgbClr val="352379"/>
                  </a:solidFill>
                  <a:latin typeface="Montserrat"/>
                </a:rPr>
                <a:t>components = 1</a:t>
              </a:r>
              <a:endParaRPr lang="ru-RU" sz="2100">
                <a:solidFill>
                  <a:srgbClr val="352379"/>
                </a:solidFill>
                <a:latin typeface="Montserrat"/>
              </a:endParaRPr>
            </a:p>
          </p:txBody>
        </p:sp>
      </p:grpSp>
      <p:sp>
        <p:nvSpPr>
          <p:cNvPr id="29" name="lecture-footer">
            <a:extLst>
              <a:ext uri="{FF2B5EF4-FFF2-40B4-BE49-F238E27FC236}">
                <a16:creationId xmlns:a16="http://schemas.microsoft.com/office/drawing/2014/main" id="{368D8EA5-157D-49A7-8AD1-7093E49B4815}"/>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A18CB0CE-FECF-4D57-B349-FB7960938390}"/>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12</a:t>
            </a:r>
          </a:p>
        </p:txBody>
      </p:sp>
    </p:spTree>
    <p:extLst>
      <p:ext uri="{BB962C8B-B14F-4D97-AF65-F5344CB8AC3E}">
        <p14:creationId xmlns:p14="http://schemas.microsoft.com/office/powerpoint/2010/main" val="15768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Компоненты: один DFS закрашивает группу</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323A8C3C-58AC-45FE-BF1F-C58FF1669228}"/>
              </a:ext>
            </a:extLst>
          </p:cNvPr>
          <p:cNvCxnSpPr/>
          <p:nvPr/>
        </p:nvCxnSpPr>
        <p:spPr>
          <a:xfrm flipV="1">
            <a:off x="1380707" y="2132402"/>
            <a:ext cx="921586" cy="30719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27B5350D-B4D5-48BC-B450-CA7B4CD58FE9}"/>
              </a:ext>
            </a:extLst>
          </p:cNvPr>
          <p:cNvCxnSpPr/>
          <p:nvPr/>
        </p:nvCxnSpPr>
        <p:spPr>
          <a:xfrm>
            <a:off x="2614832" y="2349298"/>
            <a:ext cx="40836" cy="114340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E5859C52-C314-4ACB-9066-DEE2EBA8379F}"/>
              </a:ext>
            </a:extLst>
          </p:cNvPr>
          <p:cNvCxnSpPr/>
          <p:nvPr/>
        </p:nvCxnSpPr>
        <p:spPr>
          <a:xfrm flipH="1" flipV="1">
            <a:off x="1327426" y="2738341"/>
            <a:ext cx="1091648" cy="87331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4-5">
            <a:extLst>
              <a:ext uri="{FF2B5EF4-FFF2-40B4-BE49-F238E27FC236}">
                <a16:creationId xmlns:a16="http://schemas.microsoft.com/office/drawing/2014/main" id="{79A4BE09-1BA5-4198-A4D2-0CEEF0B1FDB7}"/>
              </a:ext>
            </a:extLst>
          </p:cNvPr>
          <p:cNvCxnSpPr/>
          <p:nvPr/>
        </p:nvCxnSpPr>
        <p:spPr>
          <a:xfrm flipV="1">
            <a:off x="4932785" y="2143482"/>
            <a:ext cx="929430" cy="3485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5-6">
            <a:extLst>
              <a:ext uri="{FF2B5EF4-FFF2-40B4-BE49-F238E27FC236}">
                <a16:creationId xmlns:a16="http://schemas.microsoft.com/office/drawing/2014/main" id="{B7C93558-71CD-4134-937D-16D4BB5B837D}"/>
              </a:ext>
            </a:extLst>
          </p:cNvPr>
          <p:cNvCxnSpPr/>
          <p:nvPr/>
        </p:nvCxnSpPr>
        <p:spPr>
          <a:xfrm>
            <a:off x="6159500" y="2349500"/>
            <a:ext cx="0" cy="1206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6-4">
            <a:extLst>
              <a:ext uri="{FF2B5EF4-FFF2-40B4-BE49-F238E27FC236}">
                <a16:creationId xmlns:a16="http://schemas.microsoft.com/office/drawing/2014/main" id="{FFBB2377-1EB8-48EA-956B-819AEFED7B59}"/>
              </a:ext>
            </a:extLst>
          </p:cNvPr>
          <p:cNvCxnSpPr/>
          <p:nvPr/>
        </p:nvCxnSpPr>
        <p:spPr>
          <a:xfrm flipH="1" flipV="1">
            <a:off x="4879410" y="2806759"/>
            <a:ext cx="1036180" cy="86348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7-8">
            <a:extLst>
              <a:ext uri="{FF2B5EF4-FFF2-40B4-BE49-F238E27FC236}">
                <a16:creationId xmlns:a16="http://schemas.microsoft.com/office/drawing/2014/main" id="{507CB5F9-8AFB-42D4-949A-73EC5C86E1BF}"/>
              </a:ext>
            </a:extLst>
          </p:cNvPr>
          <p:cNvCxnSpPr/>
          <p:nvPr/>
        </p:nvCxnSpPr>
        <p:spPr>
          <a:xfrm>
            <a:off x="2921000" y="5397500"/>
            <a:ext cx="1333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32DE2798-A87B-4953-945D-B1E2F5D55056}"/>
              </a:ext>
            </a:extLst>
          </p:cNvPr>
          <p:cNvSpPr/>
          <p:nvPr/>
        </p:nvSpPr>
        <p:spPr>
          <a:xfrm>
            <a:off x="7620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8D8EBCE8-EC28-4D9A-A5B8-3606FE6BFD7D}"/>
              </a:ext>
            </a:extLst>
          </p:cNvPr>
          <p:cNvSpPr/>
          <p:nvPr/>
        </p:nvSpPr>
        <p:spPr>
          <a:xfrm>
            <a:off x="2286000" y="171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D8A2466C-1A42-4F01-86A4-0745FC5F7F65}"/>
              </a:ext>
            </a:extLst>
          </p:cNvPr>
          <p:cNvSpPr/>
          <p:nvPr/>
        </p:nvSpPr>
        <p:spPr>
          <a:xfrm>
            <a:off x="2349500" y="349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A6ACDF50-7D9F-488D-9C8D-585314E49B62}"/>
              </a:ext>
            </a:extLst>
          </p:cNvPr>
          <p:cNvSpPr/>
          <p:nvPr/>
        </p:nvSpPr>
        <p:spPr>
          <a:xfrm>
            <a:off x="43180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862E4F45-3F1B-4E35-9A66-EDAA225FB92E}"/>
              </a:ext>
            </a:extLst>
          </p:cNvPr>
          <p:cNvSpPr/>
          <p:nvPr/>
        </p:nvSpPr>
        <p:spPr>
          <a:xfrm>
            <a:off x="5842000" y="171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8726BCD1-3852-4D35-BDE7-10C12B28C163}"/>
              </a:ext>
            </a:extLst>
          </p:cNvPr>
          <p:cNvSpPr/>
          <p:nvPr/>
        </p:nvSpPr>
        <p:spPr>
          <a:xfrm>
            <a:off x="5842000" y="355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g-node-7">
            <a:extLst>
              <a:ext uri="{FF2B5EF4-FFF2-40B4-BE49-F238E27FC236}">
                <a16:creationId xmlns:a16="http://schemas.microsoft.com/office/drawing/2014/main" id="{E16C5219-C919-4A3A-8595-FC9248DC222B}"/>
              </a:ext>
            </a:extLst>
          </p:cNvPr>
          <p:cNvSpPr/>
          <p:nvPr/>
        </p:nvSpPr>
        <p:spPr>
          <a:xfrm>
            <a:off x="2286000" y="508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8" name="!!g-node-8">
            <a:extLst>
              <a:ext uri="{FF2B5EF4-FFF2-40B4-BE49-F238E27FC236}">
                <a16:creationId xmlns:a16="http://schemas.microsoft.com/office/drawing/2014/main" id="{0474CA99-8F1B-4762-A023-28E3C5532729}"/>
              </a:ext>
            </a:extLst>
          </p:cNvPr>
          <p:cNvSpPr/>
          <p:nvPr/>
        </p:nvSpPr>
        <p:spPr>
          <a:xfrm>
            <a:off x="4254500" y="508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9" name="box-15-455">
            <a:extLst>
              <a:ext uri="{FF2B5EF4-FFF2-40B4-BE49-F238E27FC236}">
                <a16:creationId xmlns:a16="http://schemas.microsoft.com/office/drawing/2014/main" id="{5D028EA1-84E1-41DF-A804-72C324239595}"/>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box-16-456">
            <a:extLst>
              <a:ext uri="{FF2B5EF4-FFF2-40B4-BE49-F238E27FC236}">
                <a16:creationId xmlns:a16="http://schemas.microsoft.com/office/drawing/2014/main" id="{A9E61EC5-BBC5-4C8D-B7D3-2ACBA7CDA920}"/>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17-457">
            <a:extLst>
              <a:ext uri="{FF2B5EF4-FFF2-40B4-BE49-F238E27FC236}">
                <a16:creationId xmlns:a16="http://schemas.microsoft.com/office/drawing/2014/main" id="{2AA36426-1024-4D83-8D6E-53A7B89ADD4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компонента</a:t>
            </a:r>
          </a:p>
        </p:txBody>
      </p:sp>
      <p:sp>
        <p:nvSpPr>
          <p:cNvPr id="22" name="text-18-458">
            <a:extLst>
              <a:ext uri="{FF2B5EF4-FFF2-40B4-BE49-F238E27FC236}">
                <a16:creationId xmlns:a16="http://schemas.microsoft.com/office/drawing/2014/main" id="{0C5D150F-301C-41F1-AD0C-C706B4C6C9D9}"/>
              </a:ext>
            </a:extLst>
          </p:cNvPr>
          <p:cNvSpPr txBox="1"/>
          <p:nvPr/>
        </p:nvSpPr>
        <p:spPr bwMode="auto">
          <a:xfrm>
            <a:off x="8153400" y="2631217"/>
            <a:ext cx="3340100" cy="374461"/>
          </a:xfrm>
          <a:prstGeom prst="rect">
            <a:avLst/>
          </a:prstGeom>
        </p:spPr>
        <p:txBody>
          <a:bodyPr vert="horz" wrap="square" lIns="38100" tIns="25400" rIns="38100" bIns="25400" rtlCol="0" anchor="ctr">
            <a:spAutoFit/>
          </a:bodyPr>
          <a:lstStyle/>
          <a:p>
            <a:r>
              <a:rPr lang="en-US" sz="2100">
                <a:solidFill>
                  <a:srgbClr val="352379"/>
                </a:solidFill>
                <a:latin typeface="Montserrat"/>
              </a:rPr>
              <a:t>DFS(1)</a:t>
            </a:r>
            <a:endParaRPr lang="ru-RU" sz="2100">
              <a:solidFill>
                <a:srgbClr val="352379"/>
              </a:solidFill>
              <a:latin typeface="Montserrat"/>
            </a:endParaRPr>
          </a:p>
        </p:txBody>
      </p:sp>
      <p:sp>
        <p:nvSpPr>
          <p:cNvPr id="23" name="box-19-459">
            <a:extLst>
              <a:ext uri="{FF2B5EF4-FFF2-40B4-BE49-F238E27FC236}">
                <a16:creationId xmlns:a16="http://schemas.microsoft.com/office/drawing/2014/main" id="{2EAE9ED8-48BB-4DF2-A672-6BB29075C2C6}"/>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20-460">
            <a:extLst>
              <a:ext uri="{FF2B5EF4-FFF2-40B4-BE49-F238E27FC236}">
                <a16:creationId xmlns:a16="http://schemas.microsoft.com/office/drawing/2014/main" id="{98299851-33FB-4C3D-B23B-F1EF6ADFB884}"/>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Один запуск DFS находит одну компоненту.</a:t>
            </a:r>
          </a:p>
        </p:txBody>
      </p:sp>
      <p:grpSp>
        <p:nvGrpSpPr>
          <p:cNvPr id="30" name="animation-stage-1">
            <a:extLst>
              <a:ext uri="{FF2B5EF4-FFF2-40B4-BE49-F238E27FC236}">
                <a16:creationId xmlns:a16="http://schemas.microsoft.com/office/drawing/2014/main" id="{D418FE48-8D65-4042-865C-739206B91534}"/>
              </a:ext>
            </a:extLst>
          </p:cNvPr>
          <p:cNvGrpSpPr/>
          <p:nvPr/>
        </p:nvGrpSpPr>
        <p:grpSpPr>
          <a:xfrm>
            <a:off x="762000" y="1816100"/>
            <a:ext cx="10947400" cy="3657600"/>
            <a:chOff x="762000" y="1816100"/>
            <a:chExt cx="10947400" cy="3657600"/>
          </a:xfrm>
        </p:grpSpPr>
        <p:sp>
          <p:nvSpPr>
            <p:cNvPr id="25" name="active-node-1-461">
              <a:extLst>
                <a:ext uri="{FF2B5EF4-FFF2-40B4-BE49-F238E27FC236}">
                  <a16:creationId xmlns:a16="http://schemas.microsoft.com/office/drawing/2014/main" id="{BE1B6CE2-571C-40CB-B4FE-8C9EF32AC793}"/>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6" name="box-1-462">
              <a:extLst>
                <a:ext uri="{FF2B5EF4-FFF2-40B4-BE49-F238E27FC236}">
                  <a16:creationId xmlns:a16="http://schemas.microsoft.com/office/drawing/2014/main" id="{B1231924-7BD7-4A1C-B458-679CF1B4D892}"/>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box-2-463">
              <a:extLst>
                <a:ext uri="{FF2B5EF4-FFF2-40B4-BE49-F238E27FC236}">
                  <a16:creationId xmlns:a16="http://schemas.microsoft.com/office/drawing/2014/main" id="{CE360630-84AD-45EC-994B-5F5364BD556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3-464">
              <a:extLst>
                <a:ext uri="{FF2B5EF4-FFF2-40B4-BE49-F238E27FC236}">
                  <a16:creationId xmlns:a16="http://schemas.microsoft.com/office/drawing/2014/main" id="{F5E2381E-8743-44D5-AD1B-43D7487684F9}"/>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компонента</a:t>
              </a:r>
            </a:p>
          </p:txBody>
        </p:sp>
        <p:sp>
          <p:nvSpPr>
            <p:cNvPr id="29" name="text-4-465">
              <a:extLst>
                <a:ext uri="{FF2B5EF4-FFF2-40B4-BE49-F238E27FC236}">
                  <a16:creationId xmlns:a16="http://schemas.microsoft.com/office/drawing/2014/main" id="{07892ECF-1C43-4B6D-9066-F36C105B6070}"/>
                </a:ext>
              </a:extLst>
            </p:cNvPr>
            <p:cNvSpPr txBox="1"/>
            <p:nvPr/>
          </p:nvSpPr>
          <p:spPr bwMode="auto">
            <a:xfrm>
              <a:off x="8153400" y="2631217"/>
              <a:ext cx="3340100" cy="374461"/>
            </a:xfrm>
            <a:prstGeom prst="rect">
              <a:avLst/>
            </a:prstGeom>
          </p:spPr>
          <p:txBody>
            <a:bodyPr vert="horz" wrap="square" lIns="38100" tIns="25400" rIns="38100" bIns="25400" rtlCol="0" anchor="ctr">
              <a:spAutoFit/>
            </a:bodyPr>
            <a:lstStyle/>
            <a:p>
              <a:r>
                <a:rPr lang="ru-RU" sz="2100">
                  <a:solidFill>
                    <a:srgbClr val="352379"/>
                  </a:solidFill>
                  <a:latin typeface="Montserrat"/>
                </a:rPr>
                <a:t>Посещены: [1]</a:t>
              </a:r>
            </a:p>
          </p:txBody>
        </p:sp>
      </p:grpSp>
      <p:grpSp>
        <p:nvGrpSpPr>
          <p:cNvPr id="37" name="animation-stage-2">
            <a:extLst>
              <a:ext uri="{FF2B5EF4-FFF2-40B4-BE49-F238E27FC236}">
                <a16:creationId xmlns:a16="http://schemas.microsoft.com/office/drawing/2014/main" id="{4AB03A50-980B-428E-9D24-134A1347AAA4}"/>
              </a:ext>
            </a:extLst>
          </p:cNvPr>
          <p:cNvGrpSpPr/>
          <p:nvPr/>
        </p:nvGrpSpPr>
        <p:grpSpPr>
          <a:xfrm>
            <a:off x="762000" y="1714500"/>
            <a:ext cx="10947400" cy="3759200"/>
            <a:chOff x="762000" y="1714500"/>
            <a:chExt cx="10947400" cy="3759200"/>
          </a:xfrm>
        </p:grpSpPr>
        <p:sp>
          <p:nvSpPr>
            <p:cNvPr id="31" name="active-node-1-466">
              <a:extLst>
                <a:ext uri="{FF2B5EF4-FFF2-40B4-BE49-F238E27FC236}">
                  <a16:creationId xmlns:a16="http://schemas.microsoft.com/office/drawing/2014/main" id="{1799FF24-096A-4530-9755-29343BB898EC}"/>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2" name="active-node-2-467">
              <a:extLst>
                <a:ext uri="{FF2B5EF4-FFF2-40B4-BE49-F238E27FC236}">
                  <a16:creationId xmlns:a16="http://schemas.microsoft.com/office/drawing/2014/main" id="{12CDBD2F-8123-46BD-868E-0F0EA73AE1C2}"/>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3" name="box-2-468">
              <a:extLst>
                <a:ext uri="{FF2B5EF4-FFF2-40B4-BE49-F238E27FC236}">
                  <a16:creationId xmlns:a16="http://schemas.microsoft.com/office/drawing/2014/main" id="{2408A934-97D2-48C2-ABE9-127DCEA67289}"/>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box-3-469">
              <a:extLst>
                <a:ext uri="{FF2B5EF4-FFF2-40B4-BE49-F238E27FC236}">
                  <a16:creationId xmlns:a16="http://schemas.microsoft.com/office/drawing/2014/main" id="{9BF43E7E-0A6E-4010-AB07-F25F677BAF60}"/>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ext-4-470">
              <a:extLst>
                <a:ext uri="{FF2B5EF4-FFF2-40B4-BE49-F238E27FC236}">
                  <a16:creationId xmlns:a16="http://schemas.microsoft.com/office/drawing/2014/main" id="{CFB96787-1488-47D2-896B-5C9932C0DF2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компонента</a:t>
              </a:r>
            </a:p>
          </p:txBody>
        </p:sp>
        <p:sp>
          <p:nvSpPr>
            <p:cNvPr id="36" name="text-5-471">
              <a:extLst>
                <a:ext uri="{FF2B5EF4-FFF2-40B4-BE49-F238E27FC236}">
                  <a16:creationId xmlns:a16="http://schemas.microsoft.com/office/drawing/2014/main" id="{CF1A33E2-0E35-4A22-BBF2-E4D0BC59D070}"/>
                </a:ext>
              </a:extLst>
            </p:cNvPr>
            <p:cNvSpPr txBox="1"/>
            <p:nvPr/>
          </p:nvSpPr>
          <p:spPr bwMode="auto">
            <a:xfrm>
              <a:off x="8153400" y="2631217"/>
              <a:ext cx="3340100" cy="374461"/>
            </a:xfrm>
            <a:prstGeom prst="rect">
              <a:avLst/>
            </a:prstGeom>
          </p:spPr>
          <p:txBody>
            <a:bodyPr vert="horz" wrap="square" lIns="38100" tIns="25400" rIns="38100" bIns="25400" rtlCol="0" anchor="ctr">
              <a:spAutoFit/>
            </a:bodyPr>
            <a:lstStyle/>
            <a:p>
              <a:r>
                <a:rPr lang="ru-RU" sz="2100">
                  <a:solidFill>
                    <a:srgbClr val="352379"/>
                  </a:solidFill>
                  <a:latin typeface="Montserrat"/>
                </a:rPr>
                <a:t>Посещены: [1, 2]</a:t>
              </a:r>
            </a:p>
          </p:txBody>
        </p:sp>
      </p:grpSp>
      <p:grpSp>
        <p:nvGrpSpPr>
          <p:cNvPr id="45" name="animation-stage-3">
            <a:extLst>
              <a:ext uri="{FF2B5EF4-FFF2-40B4-BE49-F238E27FC236}">
                <a16:creationId xmlns:a16="http://schemas.microsoft.com/office/drawing/2014/main" id="{708A87B6-274E-430E-85F6-1F339085DA76}"/>
              </a:ext>
            </a:extLst>
          </p:cNvPr>
          <p:cNvGrpSpPr/>
          <p:nvPr/>
        </p:nvGrpSpPr>
        <p:grpSpPr>
          <a:xfrm>
            <a:off x="762000" y="1714500"/>
            <a:ext cx="10947400" cy="3759200"/>
            <a:chOff x="762000" y="1714500"/>
            <a:chExt cx="10947400" cy="3759200"/>
          </a:xfrm>
        </p:grpSpPr>
        <p:sp>
          <p:nvSpPr>
            <p:cNvPr id="38" name="active-node-1-472">
              <a:extLst>
                <a:ext uri="{FF2B5EF4-FFF2-40B4-BE49-F238E27FC236}">
                  <a16:creationId xmlns:a16="http://schemas.microsoft.com/office/drawing/2014/main" id="{1CB69DDC-8D80-4203-8C9D-BC70722E780D}"/>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9" name="active-node-2-473">
              <a:extLst>
                <a:ext uri="{FF2B5EF4-FFF2-40B4-BE49-F238E27FC236}">
                  <a16:creationId xmlns:a16="http://schemas.microsoft.com/office/drawing/2014/main" id="{90DB2A53-9DEC-454C-A980-9FA6CD5101B1}"/>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0" name="active-node-3-474">
              <a:extLst>
                <a:ext uri="{FF2B5EF4-FFF2-40B4-BE49-F238E27FC236}">
                  <a16:creationId xmlns:a16="http://schemas.microsoft.com/office/drawing/2014/main" id="{85BF1F6C-6D04-47D5-B2EB-1C5484ADD457}"/>
                </a:ext>
              </a:extLst>
            </p:cNvPr>
            <p:cNvSpPr/>
            <p:nvPr/>
          </p:nvSpPr>
          <p:spPr>
            <a:xfrm>
              <a:off x="2349500" y="349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1" name="box-3-475">
              <a:extLst>
                <a:ext uri="{FF2B5EF4-FFF2-40B4-BE49-F238E27FC236}">
                  <a16:creationId xmlns:a16="http://schemas.microsoft.com/office/drawing/2014/main" id="{0AC74B01-11F8-4CB7-81C8-A2409B4668F7}"/>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box-4-476">
              <a:extLst>
                <a:ext uri="{FF2B5EF4-FFF2-40B4-BE49-F238E27FC236}">
                  <a16:creationId xmlns:a16="http://schemas.microsoft.com/office/drawing/2014/main" id="{56A079FC-881E-473F-8A50-A05CA332EAF3}"/>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text-5-477">
              <a:extLst>
                <a:ext uri="{FF2B5EF4-FFF2-40B4-BE49-F238E27FC236}">
                  <a16:creationId xmlns:a16="http://schemas.microsoft.com/office/drawing/2014/main" id="{BF55D4C7-03A1-4D91-8F0A-766CB8A76131}"/>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компонента</a:t>
              </a:r>
            </a:p>
          </p:txBody>
        </p:sp>
        <p:sp>
          <p:nvSpPr>
            <p:cNvPr id="44" name="text-6-478">
              <a:extLst>
                <a:ext uri="{FF2B5EF4-FFF2-40B4-BE49-F238E27FC236}">
                  <a16:creationId xmlns:a16="http://schemas.microsoft.com/office/drawing/2014/main" id="{C5F4E5A2-10AB-4305-A7B6-F0D483A01764}"/>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Посещены: [1, 2, 3]</a:t>
              </a:r>
            </a:p>
            <a:p>
              <a:endParaRPr lang="ru-RU" sz="2100">
                <a:solidFill>
                  <a:srgbClr val="352379"/>
                </a:solidFill>
                <a:latin typeface="Montserrat"/>
              </a:endParaRPr>
            </a:p>
            <a:p>
              <a:r>
                <a:rPr lang="ru-RU" sz="2100">
                  <a:solidFill>
                    <a:srgbClr val="352379"/>
                  </a:solidFill>
                  <a:latin typeface="Montserrat"/>
                </a:rPr>
                <a:t>C₁ = {1, 2, 3}</a:t>
              </a:r>
            </a:p>
          </p:txBody>
        </p:sp>
      </p:grpSp>
      <p:sp>
        <p:nvSpPr>
          <p:cNvPr id="46" name="lecture-footer">
            <a:extLst>
              <a:ext uri="{FF2B5EF4-FFF2-40B4-BE49-F238E27FC236}">
                <a16:creationId xmlns:a16="http://schemas.microsoft.com/office/drawing/2014/main" id="{BD3372B4-21C3-4B90-8B0A-2563163B84B0}"/>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47" name="slide-number">
            <a:extLst>
              <a:ext uri="{FF2B5EF4-FFF2-40B4-BE49-F238E27FC236}">
                <a16:creationId xmlns:a16="http://schemas.microsoft.com/office/drawing/2014/main" id="{1EEAF9B2-8B69-4635-A954-BA7674EB64E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13</a:t>
            </a:r>
          </a:p>
        </p:txBody>
      </p:sp>
    </p:spTree>
    <p:extLst>
      <p:ext uri="{BB962C8B-B14F-4D97-AF65-F5344CB8AC3E}">
        <p14:creationId xmlns:p14="http://schemas.microsoft.com/office/powerpoint/2010/main" val="37120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25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250"/>
                                        <p:tgtEl>
                                          <p:spTgt spid="37"/>
                                        </p:tgtEl>
                                      </p:cBhvr>
                                    </p:animEffect>
                                  </p:childTnLst>
                                </p:cTn>
                              </p:par>
                              <p:par>
                                <p:cTn id="13" presetID="10" presetClass="exit" presetSubtype="0" fill="hold" nodeType="withEffect">
                                  <p:stCondLst>
                                    <p:cond delay="0"/>
                                  </p:stCondLst>
                                  <p:childTnLst>
                                    <p:animEffect transition="out" filter="fade">
                                      <p:cBhvr>
                                        <p:cTn id="14" dur="150"/>
                                        <p:tgtEl>
                                          <p:spTgt spid="30"/>
                                        </p:tgtEl>
                                      </p:cBhvr>
                                    </p:animEffect>
                                    <p:set>
                                      <p:cBhvr>
                                        <p:cTn id="15" dur="1" fill="hold">
                                          <p:stCondLst>
                                            <p:cond delay="149"/>
                                          </p:stCondLst>
                                        </p:cTn>
                                        <p:tgtEl>
                                          <p:spTgt spid="3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250"/>
                                        <p:tgtEl>
                                          <p:spTgt spid="45"/>
                                        </p:tgtEl>
                                      </p:cBhvr>
                                    </p:animEffect>
                                  </p:childTnLst>
                                </p:cTn>
                              </p:par>
                              <p:par>
                                <p:cTn id="21" presetID="10" presetClass="exit" presetSubtype="0" fill="hold" nodeType="withEffect">
                                  <p:stCondLst>
                                    <p:cond delay="0"/>
                                  </p:stCondLst>
                                  <p:childTnLst>
                                    <p:animEffect transition="out" filter="fade">
                                      <p:cBhvr>
                                        <p:cTn id="22" dur="150"/>
                                        <p:tgtEl>
                                          <p:spTgt spid="37"/>
                                        </p:tgtEl>
                                      </p:cBhvr>
                                    </p:animEffect>
                                    <p:set>
                                      <p:cBhvr>
                                        <p:cTn id="23" dur="1" fill="hold">
                                          <p:stCondLst>
                                            <p:cond delay="14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Компоненты: продолжаем внешний цикл</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C54F7AD0-3680-414A-A2FD-C61BAD4AC640}"/>
              </a:ext>
            </a:extLst>
          </p:cNvPr>
          <p:cNvCxnSpPr/>
          <p:nvPr/>
        </p:nvCxnSpPr>
        <p:spPr>
          <a:xfrm flipV="1">
            <a:off x="1380707" y="2132402"/>
            <a:ext cx="921586" cy="30719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C7F12A32-8052-40AA-9E11-14D210F9BC01}"/>
              </a:ext>
            </a:extLst>
          </p:cNvPr>
          <p:cNvCxnSpPr/>
          <p:nvPr/>
        </p:nvCxnSpPr>
        <p:spPr>
          <a:xfrm>
            <a:off x="2614832" y="2349298"/>
            <a:ext cx="40836" cy="114340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842227AD-259B-4C14-8F7D-C372C888F0F8}"/>
              </a:ext>
            </a:extLst>
          </p:cNvPr>
          <p:cNvCxnSpPr/>
          <p:nvPr/>
        </p:nvCxnSpPr>
        <p:spPr>
          <a:xfrm flipH="1" flipV="1">
            <a:off x="1327426" y="2738341"/>
            <a:ext cx="1091648" cy="87331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4-5">
            <a:extLst>
              <a:ext uri="{FF2B5EF4-FFF2-40B4-BE49-F238E27FC236}">
                <a16:creationId xmlns:a16="http://schemas.microsoft.com/office/drawing/2014/main" id="{1290199F-000D-46AB-AA5E-A57FBC34B6C7}"/>
              </a:ext>
            </a:extLst>
          </p:cNvPr>
          <p:cNvCxnSpPr/>
          <p:nvPr/>
        </p:nvCxnSpPr>
        <p:spPr>
          <a:xfrm flipV="1">
            <a:off x="4932785" y="2143482"/>
            <a:ext cx="929430" cy="3485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5-6">
            <a:extLst>
              <a:ext uri="{FF2B5EF4-FFF2-40B4-BE49-F238E27FC236}">
                <a16:creationId xmlns:a16="http://schemas.microsoft.com/office/drawing/2014/main" id="{F1CFE7EE-1855-4A15-A97A-E6BEB155951F}"/>
              </a:ext>
            </a:extLst>
          </p:cNvPr>
          <p:cNvCxnSpPr/>
          <p:nvPr/>
        </p:nvCxnSpPr>
        <p:spPr>
          <a:xfrm>
            <a:off x="6159500" y="2349500"/>
            <a:ext cx="0" cy="1206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6-4">
            <a:extLst>
              <a:ext uri="{FF2B5EF4-FFF2-40B4-BE49-F238E27FC236}">
                <a16:creationId xmlns:a16="http://schemas.microsoft.com/office/drawing/2014/main" id="{9B0A60D3-019E-47BA-82B3-E10151CCA41B}"/>
              </a:ext>
            </a:extLst>
          </p:cNvPr>
          <p:cNvCxnSpPr/>
          <p:nvPr/>
        </p:nvCxnSpPr>
        <p:spPr>
          <a:xfrm flipH="1" flipV="1">
            <a:off x="4879410" y="2806759"/>
            <a:ext cx="1036180" cy="86348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7-8">
            <a:extLst>
              <a:ext uri="{FF2B5EF4-FFF2-40B4-BE49-F238E27FC236}">
                <a16:creationId xmlns:a16="http://schemas.microsoft.com/office/drawing/2014/main" id="{6BA45F97-F9E4-40FD-8C26-89477D16AF82}"/>
              </a:ext>
            </a:extLst>
          </p:cNvPr>
          <p:cNvCxnSpPr/>
          <p:nvPr/>
        </p:nvCxnSpPr>
        <p:spPr>
          <a:xfrm>
            <a:off x="2921000" y="5397500"/>
            <a:ext cx="1333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0871B987-8F1D-48BE-99C0-186B5ABF882D}"/>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B298C4FF-AA22-47BC-9A3C-A115A53AAF37}"/>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69E83CC1-5A1C-4647-9100-BCD287A388C5}"/>
              </a:ext>
            </a:extLst>
          </p:cNvPr>
          <p:cNvSpPr/>
          <p:nvPr/>
        </p:nvSpPr>
        <p:spPr>
          <a:xfrm>
            <a:off x="2349500" y="349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A96017CB-6B64-4B4D-AA72-7331F5149480}"/>
              </a:ext>
            </a:extLst>
          </p:cNvPr>
          <p:cNvSpPr/>
          <p:nvPr/>
        </p:nvSpPr>
        <p:spPr>
          <a:xfrm>
            <a:off x="43180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2120EFD8-5B21-4ACF-916D-26A3384BA7A4}"/>
              </a:ext>
            </a:extLst>
          </p:cNvPr>
          <p:cNvSpPr/>
          <p:nvPr/>
        </p:nvSpPr>
        <p:spPr>
          <a:xfrm>
            <a:off x="5842000" y="171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CFC80732-5A48-4C29-ADD1-0A1D7996632E}"/>
              </a:ext>
            </a:extLst>
          </p:cNvPr>
          <p:cNvSpPr/>
          <p:nvPr/>
        </p:nvSpPr>
        <p:spPr>
          <a:xfrm>
            <a:off x="5842000" y="355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g-node-7">
            <a:extLst>
              <a:ext uri="{FF2B5EF4-FFF2-40B4-BE49-F238E27FC236}">
                <a16:creationId xmlns:a16="http://schemas.microsoft.com/office/drawing/2014/main" id="{31C64384-1DC5-446E-A39E-379C6DACD917}"/>
              </a:ext>
            </a:extLst>
          </p:cNvPr>
          <p:cNvSpPr/>
          <p:nvPr/>
        </p:nvSpPr>
        <p:spPr>
          <a:xfrm>
            <a:off x="2286000" y="508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8" name="!!g-node-8">
            <a:extLst>
              <a:ext uri="{FF2B5EF4-FFF2-40B4-BE49-F238E27FC236}">
                <a16:creationId xmlns:a16="http://schemas.microsoft.com/office/drawing/2014/main" id="{E7F4CEB3-2821-4D2D-8D8F-56C1C1DF4E9E}"/>
              </a:ext>
            </a:extLst>
          </p:cNvPr>
          <p:cNvSpPr/>
          <p:nvPr/>
        </p:nvSpPr>
        <p:spPr>
          <a:xfrm>
            <a:off x="4254500" y="508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9" name="box-15-494">
            <a:extLst>
              <a:ext uri="{FF2B5EF4-FFF2-40B4-BE49-F238E27FC236}">
                <a16:creationId xmlns:a16="http://schemas.microsoft.com/office/drawing/2014/main" id="{4A19C0CD-4151-499C-BC73-DC40CA923149}"/>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box-16-495">
            <a:extLst>
              <a:ext uri="{FF2B5EF4-FFF2-40B4-BE49-F238E27FC236}">
                <a16:creationId xmlns:a16="http://schemas.microsoft.com/office/drawing/2014/main" id="{21804574-D7E1-4217-872C-049D031FBC9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17-496">
            <a:extLst>
              <a:ext uri="{FF2B5EF4-FFF2-40B4-BE49-F238E27FC236}">
                <a16:creationId xmlns:a16="http://schemas.microsoft.com/office/drawing/2014/main" id="{D1DB342F-6BED-4DED-A155-15721686B18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Следующая группа</a:t>
            </a:r>
          </a:p>
        </p:txBody>
      </p:sp>
      <p:sp>
        <p:nvSpPr>
          <p:cNvPr id="22" name="text-18-497">
            <a:extLst>
              <a:ext uri="{FF2B5EF4-FFF2-40B4-BE49-F238E27FC236}">
                <a16:creationId xmlns:a16="http://schemas.microsoft.com/office/drawing/2014/main" id="{70FA9C4E-3723-4180-8B2F-BD8C8FA40A47}"/>
              </a:ext>
            </a:extLst>
          </p:cNvPr>
          <p:cNvSpPr txBox="1"/>
          <p:nvPr/>
        </p:nvSpPr>
        <p:spPr bwMode="auto">
          <a:xfrm>
            <a:off x="8153400" y="2608134"/>
            <a:ext cx="3340100" cy="697627"/>
          </a:xfrm>
          <a:prstGeom prst="rect">
            <a:avLst/>
          </a:prstGeom>
        </p:spPr>
        <p:txBody>
          <a:bodyPr vert="horz" wrap="square" lIns="38100" tIns="25400" rIns="38100" bIns="25400" rtlCol="0" anchor="ctr">
            <a:spAutoFit/>
          </a:bodyPr>
          <a:lstStyle/>
          <a:p>
            <a:r>
              <a:rPr lang="ru-RU" sz="2100">
                <a:solidFill>
                  <a:srgbClr val="352379"/>
                </a:solidFill>
                <a:latin typeface="Montserrat"/>
              </a:rPr>
              <a:t>Ищем непосещённую</a:t>
            </a:r>
          </a:p>
          <a:p>
            <a:r>
              <a:rPr lang="ru-RU" sz="2100">
                <a:solidFill>
                  <a:srgbClr val="352379"/>
                </a:solidFill>
                <a:latin typeface="Montserrat"/>
              </a:rPr>
              <a:t>вершину: 4</a:t>
            </a:r>
          </a:p>
        </p:txBody>
      </p:sp>
      <p:grpSp>
        <p:nvGrpSpPr>
          <p:cNvPr id="31" name="animation-stage-1">
            <a:extLst>
              <a:ext uri="{FF2B5EF4-FFF2-40B4-BE49-F238E27FC236}">
                <a16:creationId xmlns:a16="http://schemas.microsoft.com/office/drawing/2014/main" id="{4709FD31-D087-4C1C-B736-A97CABDC4309}"/>
              </a:ext>
            </a:extLst>
          </p:cNvPr>
          <p:cNvGrpSpPr/>
          <p:nvPr/>
        </p:nvGrpSpPr>
        <p:grpSpPr>
          <a:xfrm>
            <a:off x="762000" y="1714500"/>
            <a:ext cx="10947400" cy="3759200"/>
            <a:chOff x="762000" y="1714500"/>
            <a:chExt cx="10947400" cy="3759200"/>
          </a:xfrm>
        </p:grpSpPr>
        <p:sp>
          <p:nvSpPr>
            <p:cNvPr id="23" name="active-node-1-498">
              <a:extLst>
                <a:ext uri="{FF2B5EF4-FFF2-40B4-BE49-F238E27FC236}">
                  <a16:creationId xmlns:a16="http://schemas.microsoft.com/office/drawing/2014/main" id="{941936D5-3105-45AC-AF82-0C26528CD682}"/>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4" name="active-node-2-499">
              <a:extLst>
                <a:ext uri="{FF2B5EF4-FFF2-40B4-BE49-F238E27FC236}">
                  <a16:creationId xmlns:a16="http://schemas.microsoft.com/office/drawing/2014/main" id="{CB0D452F-3F0A-445F-B8EE-7167C6361F9B}"/>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5" name="active-node-3-500">
              <a:extLst>
                <a:ext uri="{FF2B5EF4-FFF2-40B4-BE49-F238E27FC236}">
                  <a16:creationId xmlns:a16="http://schemas.microsoft.com/office/drawing/2014/main" id="{7C3A2522-B1BA-4F09-87FB-B8A7FC03670F}"/>
                </a:ext>
              </a:extLst>
            </p:cNvPr>
            <p:cNvSpPr/>
            <p:nvPr/>
          </p:nvSpPr>
          <p:spPr>
            <a:xfrm>
              <a:off x="2349500" y="349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6" name="active-node-4-501">
              <a:extLst>
                <a:ext uri="{FF2B5EF4-FFF2-40B4-BE49-F238E27FC236}">
                  <a16:creationId xmlns:a16="http://schemas.microsoft.com/office/drawing/2014/main" id="{D4E4A755-6FB7-42ED-8665-55CBD5FC97AB}"/>
                </a:ext>
              </a:extLst>
            </p:cNvPr>
            <p:cNvSpPr/>
            <p:nvPr/>
          </p:nvSpPr>
          <p:spPr>
            <a:xfrm>
              <a:off x="43180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7" name="box-4-502">
              <a:extLst>
                <a:ext uri="{FF2B5EF4-FFF2-40B4-BE49-F238E27FC236}">
                  <a16:creationId xmlns:a16="http://schemas.microsoft.com/office/drawing/2014/main" id="{5C2BA71C-8277-4134-880C-F8C7A43A635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box-5-503">
              <a:extLst>
                <a:ext uri="{FF2B5EF4-FFF2-40B4-BE49-F238E27FC236}">
                  <a16:creationId xmlns:a16="http://schemas.microsoft.com/office/drawing/2014/main" id="{BA2FA4AF-9BE6-48B6-8D91-2A34B1CD07D7}"/>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text-6-504">
              <a:extLst>
                <a:ext uri="{FF2B5EF4-FFF2-40B4-BE49-F238E27FC236}">
                  <a16:creationId xmlns:a16="http://schemas.microsoft.com/office/drawing/2014/main" id="{33782542-70E2-4EE9-A6E9-7E311A1E266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Второй запуск</a:t>
              </a:r>
            </a:p>
          </p:txBody>
        </p:sp>
        <p:sp>
          <p:nvSpPr>
            <p:cNvPr id="30" name="text-7-505">
              <a:extLst>
                <a:ext uri="{FF2B5EF4-FFF2-40B4-BE49-F238E27FC236}">
                  <a16:creationId xmlns:a16="http://schemas.microsoft.com/office/drawing/2014/main" id="{496F312F-F314-433A-9A75-BA94BFE1F9D9}"/>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DFS(4)</a:t>
              </a:r>
            </a:p>
            <a:p>
              <a:endParaRPr lang="en-US" sz="2100">
                <a:solidFill>
                  <a:srgbClr val="352379"/>
                </a:solidFill>
                <a:latin typeface="Montserrat"/>
              </a:endParaRPr>
            </a:p>
            <a:p>
              <a:r>
                <a:rPr lang="en-US" sz="2100">
                  <a:solidFill>
                    <a:srgbClr val="352379"/>
                  </a:solidFill>
                  <a:latin typeface="Montserrat"/>
                </a:rPr>
                <a:t>components = 2</a:t>
              </a:r>
              <a:endParaRPr lang="ru-RU" sz="2100">
                <a:solidFill>
                  <a:srgbClr val="352379"/>
                </a:solidFill>
                <a:latin typeface="Montserrat"/>
              </a:endParaRPr>
            </a:p>
          </p:txBody>
        </p:sp>
      </p:grpSp>
      <p:grpSp>
        <p:nvGrpSpPr>
          <p:cNvPr id="42" name="animation-stage-2">
            <a:extLst>
              <a:ext uri="{FF2B5EF4-FFF2-40B4-BE49-F238E27FC236}">
                <a16:creationId xmlns:a16="http://schemas.microsoft.com/office/drawing/2014/main" id="{F9979200-3843-42E8-B41D-7F66819DBA48}"/>
              </a:ext>
            </a:extLst>
          </p:cNvPr>
          <p:cNvGrpSpPr/>
          <p:nvPr/>
        </p:nvGrpSpPr>
        <p:grpSpPr>
          <a:xfrm>
            <a:off x="762000" y="1714500"/>
            <a:ext cx="10947400" cy="3759200"/>
            <a:chOff x="762000" y="1714500"/>
            <a:chExt cx="10947400" cy="3759200"/>
          </a:xfrm>
        </p:grpSpPr>
        <p:sp>
          <p:nvSpPr>
            <p:cNvPr id="32" name="active-node-1-506">
              <a:extLst>
                <a:ext uri="{FF2B5EF4-FFF2-40B4-BE49-F238E27FC236}">
                  <a16:creationId xmlns:a16="http://schemas.microsoft.com/office/drawing/2014/main" id="{57F53849-3978-4DB2-AC40-DC11BE16E284}"/>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3" name="active-node-2-507">
              <a:extLst>
                <a:ext uri="{FF2B5EF4-FFF2-40B4-BE49-F238E27FC236}">
                  <a16:creationId xmlns:a16="http://schemas.microsoft.com/office/drawing/2014/main" id="{53AC8311-DBE5-4EA0-8A10-4836F89E2D94}"/>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4" name="active-node-3-508">
              <a:extLst>
                <a:ext uri="{FF2B5EF4-FFF2-40B4-BE49-F238E27FC236}">
                  <a16:creationId xmlns:a16="http://schemas.microsoft.com/office/drawing/2014/main" id="{84E43BE9-A068-4C76-9C8A-6C955A90541E}"/>
                </a:ext>
              </a:extLst>
            </p:cNvPr>
            <p:cNvSpPr/>
            <p:nvPr/>
          </p:nvSpPr>
          <p:spPr>
            <a:xfrm>
              <a:off x="2349500" y="349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35" name="active-node-4-509">
              <a:extLst>
                <a:ext uri="{FF2B5EF4-FFF2-40B4-BE49-F238E27FC236}">
                  <a16:creationId xmlns:a16="http://schemas.microsoft.com/office/drawing/2014/main" id="{7846D93A-1C3C-4D37-A177-E6BB804F528B}"/>
                </a:ext>
              </a:extLst>
            </p:cNvPr>
            <p:cNvSpPr/>
            <p:nvPr/>
          </p:nvSpPr>
          <p:spPr>
            <a:xfrm>
              <a:off x="43180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36" name="active-node-5-510">
              <a:extLst>
                <a:ext uri="{FF2B5EF4-FFF2-40B4-BE49-F238E27FC236}">
                  <a16:creationId xmlns:a16="http://schemas.microsoft.com/office/drawing/2014/main" id="{34D13980-1E35-465D-B49F-31B95B160DB4}"/>
                </a:ext>
              </a:extLst>
            </p:cNvPr>
            <p:cNvSpPr/>
            <p:nvPr/>
          </p:nvSpPr>
          <p:spPr>
            <a:xfrm>
              <a:off x="5842000" y="1714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37" name="active-node-6-511">
              <a:extLst>
                <a:ext uri="{FF2B5EF4-FFF2-40B4-BE49-F238E27FC236}">
                  <a16:creationId xmlns:a16="http://schemas.microsoft.com/office/drawing/2014/main" id="{083D20AF-59D3-426D-86EE-FF1A60293DAC}"/>
                </a:ext>
              </a:extLst>
            </p:cNvPr>
            <p:cNvSpPr/>
            <p:nvPr/>
          </p:nvSpPr>
          <p:spPr>
            <a:xfrm>
              <a:off x="5842000" y="355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38" name="box-6-512">
              <a:extLst>
                <a:ext uri="{FF2B5EF4-FFF2-40B4-BE49-F238E27FC236}">
                  <a16:creationId xmlns:a16="http://schemas.microsoft.com/office/drawing/2014/main" id="{E58D3BBC-D018-4539-A963-B3DBDF270DC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box-7-513">
              <a:extLst>
                <a:ext uri="{FF2B5EF4-FFF2-40B4-BE49-F238E27FC236}">
                  <a16:creationId xmlns:a16="http://schemas.microsoft.com/office/drawing/2014/main" id="{F230371A-1B0D-4210-BEAF-DBE301C7ECE8}"/>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8-514">
              <a:extLst>
                <a:ext uri="{FF2B5EF4-FFF2-40B4-BE49-F238E27FC236}">
                  <a16:creationId xmlns:a16="http://schemas.microsoft.com/office/drawing/2014/main" id="{B6C848F4-3985-49E0-A2FF-4C25BEE17325}"/>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Вторая компонента</a:t>
              </a:r>
            </a:p>
          </p:txBody>
        </p:sp>
        <p:sp>
          <p:nvSpPr>
            <p:cNvPr id="41" name="text-9-515">
              <a:extLst>
                <a:ext uri="{FF2B5EF4-FFF2-40B4-BE49-F238E27FC236}">
                  <a16:creationId xmlns:a16="http://schemas.microsoft.com/office/drawing/2014/main" id="{A5F0B32F-AA77-458D-8D89-0C83122BDBC6}"/>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C₂ = {4, 5, 6}</a:t>
              </a:r>
            </a:p>
            <a:p>
              <a:endParaRPr lang="en-US" sz="2100">
                <a:solidFill>
                  <a:srgbClr val="352379"/>
                </a:solidFill>
                <a:latin typeface="Montserrat"/>
              </a:endParaRPr>
            </a:p>
            <a:p>
              <a:r>
                <a:rPr lang="en-US" sz="2100">
                  <a:solidFill>
                    <a:srgbClr val="352379"/>
                  </a:solidFill>
                  <a:latin typeface="Montserrat"/>
                </a:rPr>
                <a:t>components = 2</a:t>
              </a:r>
              <a:endParaRPr lang="ru-RU" sz="2100">
                <a:solidFill>
                  <a:srgbClr val="352379"/>
                </a:solidFill>
                <a:latin typeface="Montserrat"/>
              </a:endParaRPr>
            </a:p>
          </p:txBody>
        </p:sp>
      </p:grpSp>
      <p:grpSp>
        <p:nvGrpSpPr>
          <p:cNvPr id="55" name="animation-stage-3">
            <a:extLst>
              <a:ext uri="{FF2B5EF4-FFF2-40B4-BE49-F238E27FC236}">
                <a16:creationId xmlns:a16="http://schemas.microsoft.com/office/drawing/2014/main" id="{7255C429-EFB3-465E-9C63-8A4F2CFF3C86}"/>
              </a:ext>
            </a:extLst>
          </p:cNvPr>
          <p:cNvGrpSpPr/>
          <p:nvPr/>
        </p:nvGrpSpPr>
        <p:grpSpPr>
          <a:xfrm>
            <a:off x="762000" y="1714500"/>
            <a:ext cx="10947400" cy="4000500"/>
            <a:chOff x="762000" y="1714500"/>
            <a:chExt cx="10947400" cy="4000500"/>
          </a:xfrm>
        </p:grpSpPr>
        <p:sp>
          <p:nvSpPr>
            <p:cNvPr id="43" name="active-node-1-516">
              <a:extLst>
                <a:ext uri="{FF2B5EF4-FFF2-40B4-BE49-F238E27FC236}">
                  <a16:creationId xmlns:a16="http://schemas.microsoft.com/office/drawing/2014/main" id="{2668D4B2-837F-4E6A-8AEB-2F87930F9BD0}"/>
                </a:ext>
              </a:extLst>
            </p:cNvPr>
            <p:cNvSpPr/>
            <p:nvPr/>
          </p:nvSpPr>
          <p:spPr>
            <a:xfrm>
              <a:off x="7620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44" name="active-node-2-517">
              <a:extLst>
                <a:ext uri="{FF2B5EF4-FFF2-40B4-BE49-F238E27FC236}">
                  <a16:creationId xmlns:a16="http://schemas.microsoft.com/office/drawing/2014/main" id="{B654D711-F1D0-40B2-B782-92646CD9F3A2}"/>
                </a:ext>
              </a:extLst>
            </p:cNvPr>
            <p:cNvSpPr/>
            <p:nvPr/>
          </p:nvSpPr>
          <p:spPr>
            <a:xfrm>
              <a:off x="2286000" y="1714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5" name="active-node-3-518">
              <a:extLst>
                <a:ext uri="{FF2B5EF4-FFF2-40B4-BE49-F238E27FC236}">
                  <a16:creationId xmlns:a16="http://schemas.microsoft.com/office/drawing/2014/main" id="{D2E4A632-243B-46C5-A931-EB41AB349FB0}"/>
                </a:ext>
              </a:extLst>
            </p:cNvPr>
            <p:cNvSpPr/>
            <p:nvPr/>
          </p:nvSpPr>
          <p:spPr>
            <a:xfrm>
              <a:off x="2349500" y="349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6" name="active-node-4-519">
              <a:extLst>
                <a:ext uri="{FF2B5EF4-FFF2-40B4-BE49-F238E27FC236}">
                  <a16:creationId xmlns:a16="http://schemas.microsoft.com/office/drawing/2014/main" id="{2726058E-98DE-42B1-8B4D-7FF182B26D01}"/>
                </a:ext>
              </a:extLst>
            </p:cNvPr>
            <p:cNvSpPr/>
            <p:nvPr/>
          </p:nvSpPr>
          <p:spPr>
            <a:xfrm>
              <a:off x="43180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47" name="active-node-5-520">
              <a:extLst>
                <a:ext uri="{FF2B5EF4-FFF2-40B4-BE49-F238E27FC236}">
                  <a16:creationId xmlns:a16="http://schemas.microsoft.com/office/drawing/2014/main" id="{E43F43E2-B988-4B53-9015-67AF051C3BF3}"/>
                </a:ext>
              </a:extLst>
            </p:cNvPr>
            <p:cNvSpPr/>
            <p:nvPr/>
          </p:nvSpPr>
          <p:spPr>
            <a:xfrm>
              <a:off x="5842000" y="1714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48" name="active-node-6-521">
              <a:extLst>
                <a:ext uri="{FF2B5EF4-FFF2-40B4-BE49-F238E27FC236}">
                  <a16:creationId xmlns:a16="http://schemas.microsoft.com/office/drawing/2014/main" id="{C27125D6-AE17-4367-953F-13E438124574}"/>
                </a:ext>
              </a:extLst>
            </p:cNvPr>
            <p:cNvSpPr/>
            <p:nvPr/>
          </p:nvSpPr>
          <p:spPr>
            <a:xfrm>
              <a:off x="5842000" y="355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49" name="active-node-7-522">
              <a:extLst>
                <a:ext uri="{FF2B5EF4-FFF2-40B4-BE49-F238E27FC236}">
                  <a16:creationId xmlns:a16="http://schemas.microsoft.com/office/drawing/2014/main" id="{C2DF2CA4-CCB6-4CAF-90DD-15051D2DCCBA}"/>
                </a:ext>
              </a:extLst>
            </p:cNvPr>
            <p:cNvSpPr/>
            <p:nvPr/>
          </p:nvSpPr>
          <p:spPr>
            <a:xfrm>
              <a:off x="2286000" y="5080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50" name="active-node-8-523">
              <a:extLst>
                <a:ext uri="{FF2B5EF4-FFF2-40B4-BE49-F238E27FC236}">
                  <a16:creationId xmlns:a16="http://schemas.microsoft.com/office/drawing/2014/main" id="{51D2FC8D-1F7C-41CA-BCC0-935E8A7157E0}"/>
                </a:ext>
              </a:extLst>
            </p:cNvPr>
            <p:cNvSpPr/>
            <p:nvPr/>
          </p:nvSpPr>
          <p:spPr>
            <a:xfrm>
              <a:off x="4254500" y="5080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51" name="box-8-524">
              <a:extLst>
                <a:ext uri="{FF2B5EF4-FFF2-40B4-BE49-F238E27FC236}">
                  <a16:creationId xmlns:a16="http://schemas.microsoft.com/office/drawing/2014/main" id="{8EB090C4-03FD-4123-B920-1E83B7CD2BD9}"/>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box-9-525">
              <a:extLst>
                <a:ext uri="{FF2B5EF4-FFF2-40B4-BE49-F238E27FC236}">
                  <a16:creationId xmlns:a16="http://schemas.microsoft.com/office/drawing/2014/main" id="{F03BF9BA-A437-4B96-8C9A-C6A71EE27513}"/>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text-10-526">
              <a:extLst>
                <a:ext uri="{FF2B5EF4-FFF2-40B4-BE49-F238E27FC236}">
                  <a16:creationId xmlns:a16="http://schemas.microsoft.com/office/drawing/2014/main" id="{30479C7D-A9E8-45D4-9E5B-C7EDF31353F3}"/>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Итог</a:t>
              </a:r>
            </a:p>
          </p:txBody>
        </p:sp>
        <p:sp>
          <p:nvSpPr>
            <p:cNvPr id="54" name="text-11-527">
              <a:extLst>
                <a:ext uri="{FF2B5EF4-FFF2-40B4-BE49-F238E27FC236}">
                  <a16:creationId xmlns:a16="http://schemas.microsoft.com/office/drawing/2014/main" id="{240480D3-DFEB-4AF2-B837-0ACABDCB8CDB}"/>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en-US" sz="2100">
                  <a:solidFill>
                    <a:srgbClr val="352379"/>
                  </a:solidFill>
                  <a:latin typeface="Montserrat"/>
                </a:rPr>
                <a:t>C₁ = {1, 2, 3}</a:t>
              </a:r>
            </a:p>
            <a:p>
              <a:r>
                <a:rPr lang="en-US" sz="2100">
                  <a:solidFill>
                    <a:srgbClr val="352379"/>
                  </a:solidFill>
                  <a:latin typeface="Montserrat"/>
                </a:rPr>
                <a:t>C₂ = {4, 5, 6}</a:t>
              </a:r>
            </a:p>
            <a:p>
              <a:r>
                <a:rPr lang="en-US" sz="2100">
                  <a:solidFill>
                    <a:srgbClr val="352379"/>
                  </a:solidFill>
                  <a:latin typeface="Montserrat"/>
                </a:rPr>
                <a:t>C₃ = {7, 8}</a:t>
              </a:r>
            </a:p>
            <a:p>
              <a:endParaRPr lang="en-US" sz="2100">
                <a:solidFill>
                  <a:srgbClr val="352379"/>
                </a:solidFill>
                <a:latin typeface="Montserrat"/>
              </a:endParaRPr>
            </a:p>
            <a:p>
              <a:r>
                <a:rPr lang="en-US" sz="2100">
                  <a:solidFill>
                    <a:srgbClr val="352379"/>
                  </a:solidFill>
                  <a:latin typeface="Montserrat"/>
                </a:rPr>
                <a:t>components = 3</a:t>
              </a:r>
              <a:endParaRPr lang="ru-RU" sz="2100">
                <a:solidFill>
                  <a:srgbClr val="352379"/>
                </a:solidFill>
                <a:latin typeface="Montserrat"/>
              </a:endParaRPr>
            </a:p>
          </p:txBody>
        </p:sp>
      </p:grpSp>
      <p:sp>
        <p:nvSpPr>
          <p:cNvPr id="56" name="lecture-footer">
            <a:extLst>
              <a:ext uri="{FF2B5EF4-FFF2-40B4-BE49-F238E27FC236}">
                <a16:creationId xmlns:a16="http://schemas.microsoft.com/office/drawing/2014/main" id="{E2B043D9-0D6F-4D98-AC9C-5B0FFB20E34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57" name="slide-number">
            <a:extLst>
              <a:ext uri="{FF2B5EF4-FFF2-40B4-BE49-F238E27FC236}">
                <a16:creationId xmlns:a16="http://schemas.microsoft.com/office/drawing/2014/main" id="{8984BED8-8767-4D50-9097-6F2815FB84B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14</a:t>
            </a:r>
          </a:p>
        </p:txBody>
      </p:sp>
    </p:spTree>
    <p:extLst>
      <p:ext uri="{BB962C8B-B14F-4D97-AF65-F5344CB8AC3E}">
        <p14:creationId xmlns:p14="http://schemas.microsoft.com/office/powerpoint/2010/main" val="200527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250"/>
                                        <p:tgtEl>
                                          <p:spTgt spid="42"/>
                                        </p:tgtEl>
                                      </p:cBhvr>
                                    </p:animEffect>
                                  </p:childTnLst>
                                </p:cTn>
                              </p:par>
                              <p:par>
                                <p:cTn id="13" presetID="10" presetClass="exit" presetSubtype="0" fill="hold" nodeType="withEffect">
                                  <p:stCondLst>
                                    <p:cond delay="0"/>
                                  </p:stCondLst>
                                  <p:childTnLst>
                                    <p:animEffect transition="out" filter="fade">
                                      <p:cBhvr>
                                        <p:cTn id="14" dur="150"/>
                                        <p:tgtEl>
                                          <p:spTgt spid="31"/>
                                        </p:tgtEl>
                                      </p:cBhvr>
                                    </p:animEffect>
                                    <p:set>
                                      <p:cBhvr>
                                        <p:cTn id="15" dur="1" fill="hold">
                                          <p:stCondLst>
                                            <p:cond delay="149"/>
                                          </p:stCondLst>
                                        </p:cTn>
                                        <p:tgtEl>
                                          <p:spTgt spid="3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fade">
                                      <p:cBhvr>
                                        <p:cTn id="20" dur="250"/>
                                        <p:tgtEl>
                                          <p:spTgt spid="55"/>
                                        </p:tgtEl>
                                      </p:cBhvr>
                                    </p:animEffect>
                                  </p:childTnLst>
                                </p:cTn>
                              </p:par>
                              <p:par>
                                <p:cTn id="21" presetID="10" presetClass="exit" presetSubtype="0" fill="hold" nodeType="withEffect">
                                  <p:stCondLst>
                                    <p:cond delay="0"/>
                                  </p:stCondLst>
                                  <p:childTnLst>
                                    <p:animEffect transition="out" filter="fade">
                                      <p:cBhvr>
                                        <p:cTn id="22" dur="150"/>
                                        <p:tgtEl>
                                          <p:spTgt spid="42"/>
                                        </p:tgtEl>
                                      </p:cBhvr>
                                    </p:animEffect>
                                    <p:set>
                                      <p:cBhvr>
                                        <p:cTn id="23" dur="1" fill="hold">
                                          <p:stCondLst>
                                            <p:cond delay="14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Компоненты: алгоритмическая идея</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box-0-528">
            <a:extLst>
              <a:ext uri="{FF2B5EF4-FFF2-40B4-BE49-F238E27FC236}">
                <a16:creationId xmlns:a16="http://schemas.microsoft.com/office/drawing/2014/main" id="{4CBAFDF4-FCF5-4B40-9B86-304DDC58FDB5}"/>
              </a:ext>
            </a:extLst>
          </p:cNvPr>
          <p:cNvSpPr/>
          <p:nvPr/>
        </p:nvSpPr>
        <p:spPr>
          <a:xfrm>
            <a:off x="698500" y="1905000"/>
            <a:ext cx="6731000" cy="35560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box-1-529">
            <a:extLst>
              <a:ext uri="{FF2B5EF4-FFF2-40B4-BE49-F238E27FC236}">
                <a16:creationId xmlns:a16="http://schemas.microsoft.com/office/drawing/2014/main" id="{58DF14BD-6160-4224-80EE-4FD7B8B4A738}"/>
              </a:ext>
            </a:extLst>
          </p:cNvPr>
          <p:cNvSpPr/>
          <p:nvPr/>
        </p:nvSpPr>
        <p:spPr>
          <a:xfrm>
            <a:off x="698500" y="1905000"/>
            <a:ext cx="67310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2-530">
            <a:extLst>
              <a:ext uri="{FF2B5EF4-FFF2-40B4-BE49-F238E27FC236}">
                <a16:creationId xmlns:a16="http://schemas.microsoft.com/office/drawing/2014/main" id="{55F0C381-B415-4566-9BF1-15B1CC6AB3A9}"/>
              </a:ext>
            </a:extLst>
          </p:cNvPr>
          <p:cNvSpPr txBox="1"/>
          <p:nvPr/>
        </p:nvSpPr>
        <p:spPr bwMode="auto">
          <a:xfrm>
            <a:off x="889000" y="1958117"/>
            <a:ext cx="63500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Внешний цикл</a:t>
            </a:r>
          </a:p>
        </p:txBody>
      </p:sp>
      <p:sp>
        <p:nvSpPr>
          <p:cNvPr id="6" name="text-3-531">
            <a:extLst>
              <a:ext uri="{FF2B5EF4-FFF2-40B4-BE49-F238E27FC236}">
                <a16:creationId xmlns:a16="http://schemas.microsoft.com/office/drawing/2014/main" id="{740F0BEB-D04F-4F04-BD01-BCD045BCB0EF}"/>
              </a:ext>
            </a:extLst>
          </p:cNvPr>
          <p:cNvSpPr txBox="1"/>
          <p:nvPr/>
        </p:nvSpPr>
        <p:spPr bwMode="auto">
          <a:xfrm>
            <a:off x="914400" y="2571359"/>
            <a:ext cx="6299200" cy="1821011"/>
          </a:xfrm>
          <a:prstGeom prst="rect">
            <a:avLst/>
          </a:prstGeom>
        </p:spPr>
        <p:txBody>
          <a:bodyPr vert="horz" wrap="square" lIns="38100" tIns="25400" rIns="38100" bIns="25400" rtlCol="0" anchor="ctr">
            <a:spAutoFit/>
          </a:bodyPr>
          <a:lstStyle/>
          <a:p>
            <a:r>
              <a:rPr lang="en-US" sz="2300" b="1">
                <a:solidFill>
                  <a:srgbClr val="352379"/>
                </a:solidFill>
                <a:latin typeface="Montserrat"/>
              </a:rPr>
              <a:t>components = 0</a:t>
            </a:r>
          </a:p>
          <a:p>
            <a:r>
              <a:rPr lang="en-US" sz="2300" b="1">
                <a:solidFill>
                  <a:srgbClr val="352379"/>
                </a:solidFill>
                <a:latin typeface="Montserrat"/>
              </a:rPr>
              <a:t>for v in graph:</a:t>
            </a:r>
          </a:p>
          <a:p>
            <a:r>
              <a:rPr lang="en-US" sz="2300" b="1">
                <a:solidFill>
                  <a:srgbClr val="352379"/>
                </a:solidFill>
                <a:latin typeface="Montserrat"/>
              </a:rPr>
              <a:t>    if not visited[v]:</a:t>
            </a:r>
          </a:p>
          <a:p>
            <a:r>
              <a:rPr lang="en-US" sz="2300" b="1">
                <a:solidFill>
                  <a:srgbClr val="352379"/>
                </a:solidFill>
                <a:latin typeface="Montserrat"/>
              </a:rPr>
              <a:t>        dfs(v)</a:t>
            </a:r>
          </a:p>
          <a:p>
            <a:r>
              <a:rPr lang="en-US" sz="2300" b="1">
                <a:solidFill>
                  <a:srgbClr val="352379"/>
                </a:solidFill>
                <a:latin typeface="Montserrat"/>
              </a:rPr>
              <a:t>        components += 1</a:t>
            </a:r>
            <a:endParaRPr lang="ru-RU" sz="2300" b="1">
              <a:solidFill>
                <a:srgbClr val="352379"/>
              </a:solidFill>
              <a:latin typeface="Montserrat"/>
            </a:endParaRPr>
          </a:p>
        </p:txBody>
      </p:sp>
      <p:sp>
        <p:nvSpPr>
          <p:cNvPr id="8" name="box-4-532">
            <a:extLst>
              <a:ext uri="{FF2B5EF4-FFF2-40B4-BE49-F238E27FC236}">
                <a16:creationId xmlns:a16="http://schemas.microsoft.com/office/drawing/2014/main" id="{ECD45E84-D3E0-4BC7-B502-C39CBB83C23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box-5-533">
            <a:extLst>
              <a:ext uri="{FF2B5EF4-FFF2-40B4-BE49-F238E27FC236}">
                <a16:creationId xmlns:a16="http://schemas.microsoft.com/office/drawing/2014/main" id="{73C0B0A0-9271-458E-B1CE-E35314538163}"/>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6-534">
            <a:extLst>
              <a:ext uri="{FF2B5EF4-FFF2-40B4-BE49-F238E27FC236}">
                <a16:creationId xmlns:a16="http://schemas.microsoft.com/office/drawing/2014/main" id="{725F9E1E-62CB-48DB-B09B-D360FEFD36F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Число запусков</a:t>
            </a:r>
          </a:p>
        </p:txBody>
      </p:sp>
      <p:sp>
        <p:nvSpPr>
          <p:cNvPr id="11" name="text-7-535">
            <a:extLst>
              <a:ext uri="{FF2B5EF4-FFF2-40B4-BE49-F238E27FC236}">
                <a16:creationId xmlns:a16="http://schemas.microsoft.com/office/drawing/2014/main" id="{D2D23EB7-74DC-4DF6-BB34-18D7082A0ECC}"/>
              </a:ext>
            </a:extLst>
          </p:cNvPr>
          <p:cNvSpPr txBox="1"/>
          <p:nvPr/>
        </p:nvSpPr>
        <p:spPr bwMode="auto">
          <a:xfrm>
            <a:off x="8153400" y="2443987"/>
            <a:ext cx="3340100" cy="1897955"/>
          </a:xfrm>
          <a:prstGeom prst="rect">
            <a:avLst/>
          </a:prstGeom>
        </p:spPr>
        <p:txBody>
          <a:bodyPr vert="horz" wrap="square" lIns="38100" tIns="25400" rIns="38100" bIns="25400" rtlCol="0" anchor="ctr">
            <a:spAutoFit/>
          </a:bodyPr>
          <a:lstStyle/>
          <a:p>
            <a:r>
              <a:rPr lang="en-US" sz="2400">
                <a:solidFill>
                  <a:srgbClr val="352379"/>
                </a:solidFill>
                <a:latin typeface="Montserrat"/>
              </a:rPr>
              <a:t>DFS(1) → C₁</a:t>
            </a:r>
          </a:p>
          <a:p>
            <a:endParaRPr lang="en-US" sz="2400">
              <a:solidFill>
                <a:srgbClr val="352379"/>
              </a:solidFill>
              <a:latin typeface="Montserrat"/>
            </a:endParaRPr>
          </a:p>
          <a:p>
            <a:r>
              <a:rPr lang="en-US" sz="2400">
                <a:solidFill>
                  <a:srgbClr val="352379"/>
                </a:solidFill>
                <a:latin typeface="Montserrat"/>
              </a:rPr>
              <a:t>DFS(4) → C₂</a:t>
            </a:r>
          </a:p>
          <a:p>
            <a:endParaRPr lang="en-US" sz="2400">
              <a:solidFill>
                <a:srgbClr val="352379"/>
              </a:solidFill>
              <a:latin typeface="Montserrat"/>
            </a:endParaRPr>
          </a:p>
          <a:p>
            <a:r>
              <a:rPr lang="en-US" sz="2400">
                <a:solidFill>
                  <a:srgbClr val="352379"/>
                </a:solidFill>
                <a:latin typeface="Montserrat"/>
              </a:rPr>
              <a:t>DFS(7) → C₃</a:t>
            </a:r>
            <a:endParaRPr lang="ru-RU" sz="2400">
              <a:solidFill>
                <a:srgbClr val="352379"/>
              </a:solidFill>
              <a:latin typeface="Montserrat"/>
            </a:endParaRPr>
          </a:p>
        </p:txBody>
      </p:sp>
      <p:sp>
        <p:nvSpPr>
          <p:cNvPr id="12" name="box-8-536">
            <a:extLst>
              <a:ext uri="{FF2B5EF4-FFF2-40B4-BE49-F238E27FC236}">
                <a16:creationId xmlns:a16="http://schemas.microsoft.com/office/drawing/2014/main" id="{AB35F3B0-A061-44C0-9A3C-2BA7EF77943C}"/>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9-537">
            <a:extLst>
              <a:ext uri="{FF2B5EF4-FFF2-40B4-BE49-F238E27FC236}">
                <a16:creationId xmlns:a16="http://schemas.microsoft.com/office/drawing/2014/main" id="{BD612295-4F97-4CCC-B237-F6E2DFCFF00E}"/>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Все запуски вместе: O(V + E).</a:t>
            </a:r>
          </a:p>
        </p:txBody>
      </p:sp>
      <p:sp>
        <p:nvSpPr>
          <p:cNvPr id="14" name="lecture-footer">
            <a:extLst>
              <a:ext uri="{FF2B5EF4-FFF2-40B4-BE49-F238E27FC236}">
                <a16:creationId xmlns:a16="http://schemas.microsoft.com/office/drawing/2014/main" id="{DFB6B97E-D128-4769-AC2C-C8A41B4848D4}"/>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5" name="slide-number">
            <a:extLst>
              <a:ext uri="{FF2B5EF4-FFF2-40B4-BE49-F238E27FC236}">
                <a16:creationId xmlns:a16="http://schemas.microsoft.com/office/drawing/2014/main" id="{34C93238-4F5A-45FE-9C6C-3964C3291A39}"/>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15</a:t>
            </a:r>
          </a:p>
        </p:txBody>
      </p:sp>
    </p:spTree>
    <p:extLst>
      <p:ext uri="{BB962C8B-B14F-4D97-AF65-F5344CB8AC3E}">
        <p14:creationId xmlns:p14="http://schemas.microsoft.com/office/powerpoint/2010/main" val="348454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В ориентированном графе всё сложнее</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chain-edge-1-2">
            <a:extLst>
              <a:ext uri="{FF2B5EF4-FFF2-40B4-BE49-F238E27FC236}">
                <a16:creationId xmlns:a16="http://schemas.microsoft.com/office/drawing/2014/main" id="{4E068A36-3286-4BEB-8467-50C86AB9F798}"/>
              </a:ext>
            </a:extLst>
          </p:cNvPr>
          <p:cNvCxnSpPr/>
          <p:nvPr/>
        </p:nvCxnSpPr>
        <p:spPr>
          <a:xfrm>
            <a:off x="1841500" y="3302000"/>
            <a:ext cx="1270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chain-edge-2-3">
            <a:extLst>
              <a:ext uri="{FF2B5EF4-FFF2-40B4-BE49-F238E27FC236}">
                <a16:creationId xmlns:a16="http://schemas.microsoft.com/office/drawing/2014/main" id="{8ED30759-36F9-4C6E-8690-50FD78A5B651}"/>
              </a:ext>
            </a:extLst>
          </p:cNvPr>
          <p:cNvCxnSpPr/>
          <p:nvPr/>
        </p:nvCxnSpPr>
        <p:spPr>
          <a:xfrm>
            <a:off x="3746500" y="3302000"/>
            <a:ext cx="1270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5" name="!!chain-node-1">
            <a:extLst>
              <a:ext uri="{FF2B5EF4-FFF2-40B4-BE49-F238E27FC236}">
                <a16:creationId xmlns:a16="http://schemas.microsoft.com/office/drawing/2014/main" id="{F09B636D-FB0B-4D0E-99E7-8902ED3A07F3}"/>
              </a:ext>
            </a:extLst>
          </p:cNvPr>
          <p:cNvSpPr/>
          <p:nvPr/>
        </p:nvSpPr>
        <p:spPr>
          <a:xfrm>
            <a:off x="1206500" y="298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 name="!!chain-node-2">
            <a:extLst>
              <a:ext uri="{FF2B5EF4-FFF2-40B4-BE49-F238E27FC236}">
                <a16:creationId xmlns:a16="http://schemas.microsoft.com/office/drawing/2014/main" id="{F7F52D28-684C-440F-9469-5BA02F296A35}"/>
              </a:ext>
            </a:extLst>
          </p:cNvPr>
          <p:cNvSpPr/>
          <p:nvPr/>
        </p:nvSpPr>
        <p:spPr>
          <a:xfrm>
            <a:off x="3111500" y="298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8" name="!!chain-node-3">
            <a:extLst>
              <a:ext uri="{FF2B5EF4-FFF2-40B4-BE49-F238E27FC236}">
                <a16:creationId xmlns:a16="http://schemas.microsoft.com/office/drawing/2014/main" id="{1AE8F1A2-E28E-444F-B8AA-DD1C72A8081E}"/>
              </a:ext>
            </a:extLst>
          </p:cNvPr>
          <p:cNvSpPr/>
          <p:nvPr/>
        </p:nvSpPr>
        <p:spPr>
          <a:xfrm>
            <a:off x="5016500" y="298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cxnSp>
        <p:nvCxnSpPr>
          <p:cNvPr id="9" name="!!cycle-edge-1-2">
            <a:extLst>
              <a:ext uri="{FF2B5EF4-FFF2-40B4-BE49-F238E27FC236}">
                <a16:creationId xmlns:a16="http://schemas.microsoft.com/office/drawing/2014/main" id="{7F7C00E0-B9B4-47B4-9715-FDFB391922FF}"/>
              </a:ext>
            </a:extLst>
          </p:cNvPr>
          <p:cNvCxnSpPr/>
          <p:nvPr/>
        </p:nvCxnSpPr>
        <p:spPr>
          <a:xfrm flipH="1">
            <a:off x="7559584" y="2601158"/>
            <a:ext cx="882832" cy="114768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cycle-edge-2-3">
            <a:extLst>
              <a:ext uri="{FF2B5EF4-FFF2-40B4-BE49-F238E27FC236}">
                <a16:creationId xmlns:a16="http://schemas.microsoft.com/office/drawing/2014/main" id="{DED5AFF0-4795-4479-A4E6-91879C56776E}"/>
              </a:ext>
            </a:extLst>
          </p:cNvPr>
          <p:cNvCxnSpPr/>
          <p:nvPr/>
        </p:nvCxnSpPr>
        <p:spPr>
          <a:xfrm>
            <a:off x="7683500" y="4000500"/>
            <a:ext cx="23495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cycle-edge-3-1">
            <a:extLst>
              <a:ext uri="{FF2B5EF4-FFF2-40B4-BE49-F238E27FC236}">
                <a16:creationId xmlns:a16="http://schemas.microsoft.com/office/drawing/2014/main" id="{1936B36F-37F7-499D-A649-27B774C5300D}"/>
              </a:ext>
            </a:extLst>
          </p:cNvPr>
          <p:cNvCxnSpPr/>
          <p:nvPr/>
        </p:nvCxnSpPr>
        <p:spPr>
          <a:xfrm flipH="1" flipV="1">
            <a:off x="8864702" y="2569731"/>
            <a:ext cx="1257096" cy="121053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2" name="!!cycle-node-1">
            <a:extLst>
              <a:ext uri="{FF2B5EF4-FFF2-40B4-BE49-F238E27FC236}">
                <a16:creationId xmlns:a16="http://schemas.microsoft.com/office/drawing/2014/main" id="{4A061227-A90A-4210-B18C-F0CBD76A281F}"/>
              </a:ext>
            </a:extLst>
          </p:cNvPr>
          <p:cNvSpPr/>
          <p:nvPr/>
        </p:nvSpPr>
        <p:spPr>
          <a:xfrm>
            <a:off x="8318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3" name="!!cycle-node-2">
            <a:extLst>
              <a:ext uri="{FF2B5EF4-FFF2-40B4-BE49-F238E27FC236}">
                <a16:creationId xmlns:a16="http://schemas.microsoft.com/office/drawing/2014/main" id="{D3A16088-2B0D-411D-A2A8-81C48E4DB2B4}"/>
              </a:ext>
            </a:extLst>
          </p:cNvPr>
          <p:cNvSpPr/>
          <p:nvPr/>
        </p:nvSpPr>
        <p:spPr>
          <a:xfrm>
            <a:off x="70485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4" name="!!cycle-node-3">
            <a:extLst>
              <a:ext uri="{FF2B5EF4-FFF2-40B4-BE49-F238E27FC236}">
                <a16:creationId xmlns:a16="http://schemas.microsoft.com/office/drawing/2014/main" id="{F14DAF71-0ECF-4A5E-AB91-545949E60FDB}"/>
              </a:ext>
            </a:extLst>
          </p:cNvPr>
          <p:cNvSpPr/>
          <p:nvPr/>
        </p:nvSpPr>
        <p:spPr>
          <a:xfrm>
            <a:off x="10033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5" name="text-11-549">
            <a:extLst>
              <a:ext uri="{FF2B5EF4-FFF2-40B4-BE49-F238E27FC236}">
                <a16:creationId xmlns:a16="http://schemas.microsoft.com/office/drawing/2014/main" id="{6CD1AF7D-C114-455E-A01A-6875E7C66397}"/>
              </a:ext>
            </a:extLst>
          </p:cNvPr>
          <p:cNvSpPr txBox="1"/>
          <p:nvPr/>
        </p:nvSpPr>
        <p:spPr bwMode="auto">
          <a:xfrm>
            <a:off x="762000" y="4518139"/>
            <a:ext cx="5334000" cy="436017"/>
          </a:xfrm>
          <a:prstGeom prst="rect">
            <a:avLst/>
          </a:prstGeom>
        </p:spPr>
        <p:txBody>
          <a:bodyPr vert="horz" wrap="square" lIns="38100" tIns="25400" rIns="38100" bIns="25400" rtlCol="0" anchor="ctr">
            <a:spAutoFit/>
          </a:bodyPr>
          <a:lstStyle/>
          <a:p>
            <a:r>
              <a:rPr lang="ru-RU" sz="2500">
                <a:solidFill>
                  <a:srgbClr val="352379"/>
                </a:solidFill>
                <a:latin typeface="Montserrat"/>
              </a:rPr>
              <a:t>Цепочка: назад пути нет</a:t>
            </a:r>
          </a:p>
        </p:txBody>
      </p:sp>
      <p:sp>
        <p:nvSpPr>
          <p:cNvPr id="16" name="text-12-550">
            <a:extLst>
              <a:ext uri="{FF2B5EF4-FFF2-40B4-BE49-F238E27FC236}">
                <a16:creationId xmlns:a16="http://schemas.microsoft.com/office/drawing/2014/main" id="{126F6FC7-23C6-4D95-88F4-E20C4B56FD1A}"/>
              </a:ext>
            </a:extLst>
          </p:cNvPr>
          <p:cNvSpPr txBox="1"/>
          <p:nvPr/>
        </p:nvSpPr>
        <p:spPr bwMode="auto">
          <a:xfrm>
            <a:off x="6604000" y="4518139"/>
            <a:ext cx="5080000" cy="436017"/>
          </a:xfrm>
          <a:prstGeom prst="rect">
            <a:avLst/>
          </a:prstGeom>
        </p:spPr>
        <p:txBody>
          <a:bodyPr vert="horz" wrap="square" lIns="38100" tIns="25400" rIns="38100" bIns="25400" rtlCol="0" anchor="ctr">
            <a:spAutoFit/>
          </a:bodyPr>
          <a:lstStyle/>
          <a:p>
            <a:r>
              <a:rPr lang="ru-RU" sz="2500">
                <a:solidFill>
                  <a:srgbClr val="352379"/>
                </a:solidFill>
                <a:latin typeface="Montserrat"/>
              </a:rPr>
              <a:t>Цикл: можно вернуться</a:t>
            </a:r>
          </a:p>
        </p:txBody>
      </p:sp>
      <p:sp>
        <p:nvSpPr>
          <p:cNvPr id="17" name="box-13-551">
            <a:extLst>
              <a:ext uri="{FF2B5EF4-FFF2-40B4-BE49-F238E27FC236}">
                <a16:creationId xmlns:a16="http://schemas.microsoft.com/office/drawing/2014/main" id="{BFFFC894-883B-431A-8F61-5EDE1273D831}"/>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14-552">
            <a:extLst>
              <a:ext uri="{FF2B5EF4-FFF2-40B4-BE49-F238E27FC236}">
                <a16:creationId xmlns:a16="http://schemas.microsoft.com/office/drawing/2014/main" id="{561A3F3D-CD46-40D1-B2C9-A01D4A4DB8AB}"/>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Направление рёбер меняет смысл связности.</a:t>
            </a:r>
          </a:p>
        </p:txBody>
      </p:sp>
      <p:sp>
        <p:nvSpPr>
          <p:cNvPr id="19" name="lecture-footer">
            <a:extLst>
              <a:ext uri="{FF2B5EF4-FFF2-40B4-BE49-F238E27FC236}">
                <a16:creationId xmlns:a16="http://schemas.microsoft.com/office/drawing/2014/main" id="{63C1F7EE-ABDE-4E5A-8465-9E67BC8A29F2}"/>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0" name="slide-number">
            <a:extLst>
              <a:ext uri="{FF2B5EF4-FFF2-40B4-BE49-F238E27FC236}">
                <a16:creationId xmlns:a16="http://schemas.microsoft.com/office/drawing/2014/main" id="{3E287E4F-886B-4280-96D7-080D69E3BA7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16</a:t>
            </a:r>
          </a:p>
        </p:txBody>
      </p:sp>
    </p:spTree>
    <p:extLst>
      <p:ext uri="{BB962C8B-B14F-4D97-AF65-F5344CB8AC3E}">
        <p14:creationId xmlns:p14="http://schemas.microsoft.com/office/powerpoint/2010/main" val="1590445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Сильная связность</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strong-edge-u-a">
            <a:extLst>
              <a:ext uri="{FF2B5EF4-FFF2-40B4-BE49-F238E27FC236}">
                <a16:creationId xmlns:a16="http://schemas.microsoft.com/office/drawing/2014/main" id="{80C8B0CF-315A-4A0C-9DDF-CB530D1516C9}"/>
              </a:ext>
            </a:extLst>
          </p:cNvPr>
          <p:cNvCxnSpPr/>
          <p:nvPr/>
        </p:nvCxnSpPr>
        <p:spPr>
          <a:xfrm flipV="1">
            <a:off x="2324407" y="2155711"/>
            <a:ext cx="2717186" cy="114957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strong-edge-a-v">
            <a:extLst>
              <a:ext uri="{FF2B5EF4-FFF2-40B4-BE49-F238E27FC236}">
                <a16:creationId xmlns:a16="http://schemas.microsoft.com/office/drawing/2014/main" id="{3207E690-D55A-413C-97B1-8DDC99987F67}"/>
              </a:ext>
            </a:extLst>
          </p:cNvPr>
          <p:cNvCxnSpPr/>
          <p:nvPr/>
        </p:nvCxnSpPr>
        <p:spPr>
          <a:xfrm>
            <a:off x="5630862" y="2144603"/>
            <a:ext cx="3089276" cy="117179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strong-edge-v-b">
            <a:extLst>
              <a:ext uri="{FF2B5EF4-FFF2-40B4-BE49-F238E27FC236}">
                <a16:creationId xmlns:a16="http://schemas.microsoft.com/office/drawing/2014/main" id="{36FCA47D-B350-4C7A-B74A-22F1330E9440}"/>
              </a:ext>
            </a:extLst>
          </p:cNvPr>
          <p:cNvCxnSpPr/>
          <p:nvPr/>
        </p:nvCxnSpPr>
        <p:spPr>
          <a:xfrm flipH="1">
            <a:off x="5627376" y="3550397"/>
            <a:ext cx="3096249" cy="128120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strong-edge-b-u">
            <a:extLst>
              <a:ext uri="{FF2B5EF4-FFF2-40B4-BE49-F238E27FC236}">
                <a16:creationId xmlns:a16="http://schemas.microsoft.com/office/drawing/2014/main" id="{C5E5372A-DF04-4F96-A8AB-E66FE299B262}"/>
              </a:ext>
            </a:extLst>
          </p:cNvPr>
          <p:cNvCxnSpPr/>
          <p:nvPr/>
        </p:nvCxnSpPr>
        <p:spPr>
          <a:xfrm flipH="1" flipV="1">
            <a:off x="2320277" y="3562051"/>
            <a:ext cx="2725446" cy="125789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strong-node-u">
            <a:extLst>
              <a:ext uri="{FF2B5EF4-FFF2-40B4-BE49-F238E27FC236}">
                <a16:creationId xmlns:a16="http://schemas.microsoft.com/office/drawing/2014/main" id="{6BD2B16B-37FB-4155-8CDB-22DF36ED1B0D}"/>
              </a:ext>
            </a:extLst>
          </p:cNvPr>
          <p:cNvSpPr/>
          <p:nvPr/>
        </p:nvSpPr>
        <p:spPr>
          <a:xfrm>
            <a:off x="1714500" y="3111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u</a:t>
            </a:r>
            <a:endParaRPr lang="ru-RU" sz="2200">
              <a:solidFill>
                <a:srgbClr val="352379"/>
              </a:solidFill>
              <a:latin typeface="Montserrat"/>
            </a:endParaRPr>
          </a:p>
        </p:txBody>
      </p:sp>
      <p:sp>
        <p:nvSpPr>
          <p:cNvPr id="9" name="!!strong-node-a">
            <a:extLst>
              <a:ext uri="{FF2B5EF4-FFF2-40B4-BE49-F238E27FC236}">
                <a16:creationId xmlns:a16="http://schemas.microsoft.com/office/drawing/2014/main" id="{B498F743-FA91-4B29-92A7-9F5F4271DE39}"/>
              </a:ext>
            </a:extLst>
          </p:cNvPr>
          <p:cNvSpPr/>
          <p:nvPr/>
        </p:nvSpPr>
        <p:spPr>
          <a:xfrm>
            <a:off x="5016500" y="1714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0" name="!!strong-node-v">
            <a:extLst>
              <a:ext uri="{FF2B5EF4-FFF2-40B4-BE49-F238E27FC236}">
                <a16:creationId xmlns:a16="http://schemas.microsoft.com/office/drawing/2014/main" id="{E84FACFC-8A9E-4318-9B91-49D4335907B1}"/>
              </a:ext>
            </a:extLst>
          </p:cNvPr>
          <p:cNvSpPr/>
          <p:nvPr/>
        </p:nvSpPr>
        <p:spPr>
          <a:xfrm>
            <a:off x="8699500" y="3111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v</a:t>
            </a:r>
            <a:endParaRPr lang="ru-RU" sz="2200">
              <a:solidFill>
                <a:srgbClr val="352379"/>
              </a:solidFill>
              <a:latin typeface="Montserrat"/>
            </a:endParaRPr>
          </a:p>
        </p:txBody>
      </p:sp>
      <p:sp>
        <p:nvSpPr>
          <p:cNvPr id="11" name="!!strong-node-b">
            <a:extLst>
              <a:ext uri="{FF2B5EF4-FFF2-40B4-BE49-F238E27FC236}">
                <a16:creationId xmlns:a16="http://schemas.microsoft.com/office/drawing/2014/main" id="{2CB5B23A-0B4D-42F2-A1E8-59494C409344}"/>
              </a:ext>
            </a:extLst>
          </p:cNvPr>
          <p:cNvSpPr/>
          <p:nvPr/>
        </p:nvSpPr>
        <p:spPr>
          <a:xfrm>
            <a:off x="5016500" y="463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dirty="0">
                <a:solidFill>
                  <a:srgbClr val="352379"/>
                </a:solidFill>
                <a:latin typeface="Montserrat"/>
              </a:rPr>
              <a:t>b</a:t>
            </a:r>
            <a:endParaRPr lang="ru-RU" sz="2200" dirty="0">
              <a:solidFill>
                <a:srgbClr val="352379"/>
              </a:solidFill>
              <a:latin typeface="Montserrat"/>
            </a:endParaRPr>
          </a:p>
        </p:txBody>
      </p:sp>
      <p:sp>
        <p:nvSpPr>
          <p:cNvPr id="12" name="text-8-561">
            <a:extLst>
              <a:ext uri="{FF2B5EF4-FFF2-40B4-BE49-F238E27FC236}">
                <a16:creationId xmlns:a16="http://schemas.microsoft.com/office/drawing/2014/main" id="{B0DD5C58-BE1D-4B62-8D69-6A4F217358DF}"/>
              </a:ext>
            </a:extLst>
          </p:cNvPr>
          <p:cNvSpPr txBox="1"/>
          <p:nvPr/>
        </p:nvSpPr>
        <p:spPr bwMode="auto">
          <a:xfrm>
            <a:off x="4000500" y="2495778"/>
            <a:ext cx="2921000" cy="543739"/>
          </a:xfrm>
          <a:prstGeom prst="rect">
            <a:avLst/>
          </a:prstGeom>
        </p:spPr>
        <p:txBody>
          <a:bodyPr vert="horz" wrap="square" lIns="38100" tIns="25400" rIns="38100" bIns="25400" rtlCol="0" anchor="ctr">
            <a:noAutofit/>
          </a:bodyPr>
          <a:lstStyle/>
          <a:p>
            <a:r>
              <a:rPr lang="en-US" sz="3200" b="1">
                <a:solidFill>
                  <a:srgbClr val="352379"/>
                </a:solidFill>
                <a:latin typeface="Montserrat"/>
              </a:rPr>
              <a:t>u → … → v</a:t>
            </a:r>
            <a:endParaRPr lang="ru-RU" sz="3200" b="1">
              <a:solidFill>
                <a:srgbClr val="352379"/>
              </a:solidFill>
              <a:latin typeface="Montserrat"/>
            </a:endParaRPr>
          </a:p>
        </p:txBody>
      </p:sp>
      <p:sp>
        <p:nvSpPr>
          <p:cNvPr id="13" name="text-9-562">
            <a:extLst>
              <a:ext uri="{FF2B5EF4-FFF2-40B4-BE49-F238E27FC236}">
                <a16:creationId xmlns:a16="http://schemas.microsoft.com/office/drawing/2014/main" id="{8648BC09-03CC-401C-B1F1-CC0F8135A137}"/>
              </a:ext>
            </a:extLst>
          </p:cNvPr>
          <p:cNvSpPr txBox="1"/>
          <p:nvPr/>
        </p:nvSpPr>
        <p:spPr bwMode="auto">
          <a:xfrm>
            <a:off x="4000500" y="3956278"/>
            <a:ext cx="2921000" cy="543739"/>
          </a:xfrm>
          <a:prstGeom prst="rect">
            <a:avLst/>
          </a:prstGeom>
        </p:spPr>
        <p:txBody>
          <a:bodyPr vert="horz" wrap="square" lIns="38100" tIns="25400" rIns="38100" bIns="25400" rtlCol="0" anchor="ctr">
            <a:noAutofit/>
          </a:bodyPr>
          <a:lstStyle/>
          <a:p>
            <a:r>
              <a:rPr lang="en-US" sz="3200" b="1">
                <a:solidFill>
                  <a:srgbClr val="352379"/>
                </a:solidFill>
                <a:latin typeface="Montserrat"/>
              </a:rPr>
              <a:t>v → … → u</a:t>
            </a:r>
            <a:endParaRPr lang="ru-RU" sz="3200" b="1">
              <a:solidFill>
                <a:srgbClr val="352379"/>
              </a:solidFill>
              <a:latin typeface="Montserrat"/>
            </a:endParaRPr>
          </a:p>
        </p:txBody>
      </p:sp>
      <p:sp>
        <p:nvSpPr>
          <p:cNvPr id="14" name="box-10-563">
            <a:extLst>
              <a:ext uri="{FF2B5EF4-FFF2-40B4-BE49-F238E27FC236}">
                <a16:creationId xmlns:a16="http://schemas.microsoft.com/office/drawing/2014/main" id="{CAEE2B37-9CCC-41F9-A058-9927E453DC74}"/>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11-564">
            <a:extLst>
              <a:ext uri="{FF2B5EF4-FFF2-40B4-BE49-F238E27FC236}">
                <a16:creationId xmlns:a16="http://schemas.microsoft.com/office/drawing/2014/main" id="{BFDB40B2-C228-485E-9CDD-EFF626455DC7}"/>
              </a:ext>
            </a:extLst>
          </p:cNvPr>
          <p:cNvSpPr txBox="1"/>
          <p:nvPr/>
        </p:nvSpPr>
        <p:spPr bwMode="auto">
          <a:xfrm>
            <a:off x="660400" y="5969000"/>
            <a:ext cx="10871200" cy="457200"/>
          </a:xfrm>
          <a:prstGeom prst="rect">
            <a:avLst/>
          </a:prstGeom>
        </p:spPr>
        <p:txBody>
          <a:bodyPr vert="horz" wrap="square" lIns="38100" tIns="25400" rIns="38100" bIns="25400" rtlCol="0" anchor="ctr">
            <a:noAutofit/>
          </a:bodyPr>
          <a:lstStyle/>
          <a:p>
            <a:r>
              <a:rPr lang="ru-RU" sz="2200">
                <a:solidFill>
                  <a:srgbClr val="FFFFFF"/>
                </a:solidFill>
                <a:latin typeface="Montserrat"/>
              </a:rPr>
              <a:t>Вершины u и v сильно связаны, если существует путь u → … → v и путь v → … → u.</a:t>
            </a:r>
          </a:p>
        </p:txBody>
      </p:sp>
      <p:sp>
        <p:nvSpPr>
          <p:cNvPr id="16" name="lecture-footer">
            <a:extLst>
              <a:ext uri="{FF2B5EF4-FFF2-40B4-BE49-F238E27FC236}">
                <a16:creationId xmlns:a16="http://schemas.microsoft.com/office/drawing/2014/main" id="{1DCBDD82-5940-47C3-8408-DFCF837CA5A2}"/>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7" name="slide-number">
            <a:extLst>
              <a:ext uri="{FF2B5EF4-FFF2-40B4-BE49-F238E27FC236}">
                <a16:creationId xmlns:a16="http://schemas.microsoft.com/office/drawing/2014/main" id="{C3651DEE-93B4-4719-84CE-CF733C5AB59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17</a:t>
            </a:r>
          </a:p>
        </p:txBody>
      </p:sp>
    </p:spTree>
    <p:extLst>
      <p:ext uri="{BB962C8B-B14F-4D97-AF65-F5344CB8AC3E}">
        <p14:creationId xmlns:p14="http://schemas.microsoft.com/office/powerpoint/2010/main" val="60612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Прямоугольник: скругленные углы 31">
            <a:extLst>
              <a:ext uri="{FF2B5EF4-FFF2-40B4-BE49-F238E27FC236}">
                <a16:creationId xmlns:a16="http://schemas.microsoft.com/office/drawing/2014/main" id="{CA80654C-6F5D-42EF-9D2E-0B2B59898BB0}"/>
              </a:ext>
            </a:extLst>
          </p:cNvPr>
          <p:cNvSpPr/>
          <p:nvPr/>
        </p:nvSpPr>
        <p:spPr>
          <a:xfrm>
            <a:off x="482600" y="5676900"/>
            <a:ext cx="11226800" cy="8128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en-US">
                <a:latin typeface="Montserrat SemiBold"/>
              </a:rPr>
              <a:t>SCC: </a:t>
            </a:r>
            <a:r>
              <a:rPr lang="ru-RU">
                <a:latin typeface="Montserrat SemiBold"/>
              </a:rPr>
              <a:t>компоненты сильной связности</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scc-edge-1-2">
            <a:extLst>
              <a:ext uri="{FF2B5EF4-FFF2-40B4-BE49-F238E27FC236}">
                <a16:creationId xmlns:a16="http://schemas.microsoft.com/office/drawing/2014/main" id="{1DDD7783-D5E2-48E8-BF29-F7DA77D1BC77}"/>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scc-edge-2-3">
            <a:extLst>
              <a:ext uri="{FF2B5EF4-FFF2-40B4-BE49-F238E27FC236}">
                <a16:creationId xmlns:a16="http://schemas.microsoft.com/office/drawing/2014/main" id="{AA72BFEF-F443-409C-871D-C4032EABA560}"/>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scc-edge-3-1">
            <a:extLst>
              <a:ext uri="{FF2B5EF4-FFF2-40B4-BE49-F238E27FC236}">
                <a16:creationId xmlns:a16="http://schemas.microsoft.com/office/drawing/2014/main" id="{61BADFD2-FE16-454E-8DA1-8265307D159D}"/>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scc-edge-3-4">
            <a:extLst>
              <a:ext uri="{FF2B5EF4-FFF2-40B4-BE49-F238E27FC236}">
                <a16:creationId xmlns:a16="http://schemas.microsoft.com/office/drawing/2014/main" id="{FE73F77E-F975-4001-BC00-A47F4F59CD14}"/>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scc-edge-4-5">
            <a:extLst>
              <a:ext uri="{FF2B5EF4-FFF2-40B4-BE49-F238E27FC236}">
                <a16:creationId xmlns:a16="http://schemas.microsoft.com/office/drawing/2014/main" id="{E78CEF02-18B5-4C8B-96F2-442099A99BA2}"/>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scc-edge-5-4">
            <a:extLst>
              <a:ext uri="{FF2B5EF4-FFF2-40B4-BE49-F238E27FC236}">
                <a16:creationId xmlns:a16="http://schemas.microsoft.com/office/drawing/2014/main" id="{B766161F-2765-4297-9963-D9D16CFA848E}"/>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scc-edge-5-6">
            <a:extLst>
              <a:ext uri="{FF2B5EF4-FFF2-40B4-BE49-F238E27FC236}">
                <a16:creationId xmlns:a16="http://schemas.microsoft.com/office/drawing/2014/main" id="{10D8832D-2CFD-4CBC-A432-9EFCC7598F62}"/>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scc-edge-6-7">
            <a:extLst>
              <a:ext uri="{FF2B5EF4-FFF2-40B4-BE49-F238E27FC236}">
                <a16:creationId xmlns:a16="http://schemas.microsoft.com/office/drawing/2014/main" id="{4833D534-47D7-4A1A-BC25-D55FFB850D4A}"/>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scc-edge-7-8">
            <a:extLst>
              <a:ext uri="{FF2B5EF4-FFF2-40B4-BE49-F238E27FC236}">
                <a16:creationId xmlns:a16="http://schemas.microsoft.com/office/drawing/2014/main" id="{A76A91FB-B6D7-497B-A2E0-1A4AC6C80346}"/>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scc-edge-8-6">
            <a:extLst>
              <a:ext uri="{FF2B5EF4-FFF2-40B4-BE49-F238E27FC236}">
                <a16:creationId xmlns:a16="http://schemas.microsoft.com/office/drawing/2014/main" id="{42D629EB-8E4C-4B9A-8A43-1D105BD1DADE}"/>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scc-edge-2-7-part-0">
            <a:extLst>
              <a:ext uri="{FF2B5EF4-FFF2-40B4-BE49-F238E27FC236}">
                <a16:creationId xmlns:a16="http://schemas.microsoft.com/office/drawing/2014/main" id="{6892BE3B-8BC7-4A85-9ACE-87F2EDF6BDD5}"/>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scc-edge-2-7-part-1">
            <a:extLst>
              <a:ext uri="{FF2B5EF4-FFF2-40B4-BE49-F238E27FC236}">
                <a16:creationId xmlns:a16="http://schemas.microsoft.com/office/drawing/2014/main" id="{D5E7E4B0-1596-4136-A2BA-E1412205B7DD}"/>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scc-edge-2-7-part-2">
            <a:extLst>
              <a:ext uri="{FF2B5EF4-FFF2-40B4-BE49-F238E27FC236}">
                <a16:creationId xmlns:a16="http://schemas.microsoft.com/office/drawing/2014/main" id="{C6D7587E-E62C-48BA-91A0-CB6A554D258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scc-node-1">
            <a:extLst>
              <a:ext uri="{FF2B5EF4-FFF2-40B4-BE49-F238E27FC236}">
                <a16:creationId xmlns:a16="http://schemas.microsoft.com/office/drawing/2014/main" id="{14F24082-D01F-4CA6-9219-5D7FB55CD33C}"/>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scc-node-2">
            <a:extLst>
              <a:ext uri="{FF2B5EF4-FFF2-40B4-BE49-F238E27FC236}">
                <a16:creationId xmlns:a16="http://schemas.microsoft.com/office/drawing/2014/main" id="{F658B7A5-184C-4B3B-BF91-4E6EC97F5585}"/>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scc-node-3">
            <a:extLst>
              <a:ext uri="{FF2B5EF4-FFF2-40B4-BE49-F238E27FC236}">
                <a16:creationId xmlns:a16="http://schemas.microsoft.com/office/drawing/2014/main" id="{8372D419-FBCE-47EA-822D-E672563237E8}"/>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scc-node-4">
            <a:extLst>
              <a:ext uri="{FF2B5EF4-FFF2-40B4-BE49-F238E27FC236}">
                <a16:creationId xmlns:a16="http://schemas.microsoft.com/office/drawing/2014/main" id="{DDBE0F5A-1C13-418A-9A12-A329664CC4DB}"/>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1" name="!!scc-node-5">
            <a:extLst>
              <a:ext uri="{FF2B5EF4-FFF2-40B4-BE49-F238E27FC236}">
                <a16:creationId xmlns:a16="http://schemas.microsoft.com/office/drawing/2014/main" id="{41D48472-4071-4589-ADD2-67C4F27E6AEF}"/>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22" name="!!scc-node-6">
            <a:extLst>
              <a:ext uri="{FF2B5EF4-FFF2-40B4-BE49-F238E27FC236}">
                <a16:creationId xmlns:a16="http://schemas.microsoft.com/office/drawing/2014/main" id="{E808E953-A295-4579-B785-365B866C3211}"/>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scc-node-7">
            <a:extLst>
              <a:ext uri="{FF2B5EF4-FFF2-40B4-BE49-F238E27FC236}">
                <a16:creationId xmlns:a16="http://schemas.microsoft.com/office/drawing/2014/main" id="{8DFDB5CC-9FEA-4189-95C2-133DE2DAB625}"/>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 name="!!scc-node-8">
            <a:extLst>
              <a:ext uri="{FF2B5EF4-FFF2-40B4-BE49-F238E27FC236}">
                <a16:creationId xmlns:a16="http://schemas.microsoft.com/office/drawing/2014/main" id="{11A296DB-0D4A-471B-9C76-2256BA9B3AA0}"/>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586">
            <a:extLst>
              <a:ext uri="{FF2B5EF4-FFF2-40B4-BE49-F238E27FC236}">
                <a16:creationId xmlns:a16="http://schemas.microsoft.com/office/drawing/2014/main" id="{C2585B96-2766-4C4D-9F5D-6ED1D90B8186}"/>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587">
            <a:extLst>
              <a:ext uri="{FF2B5EF4-FFF2-40B4-BE49-F238E27FC236}">
                <a16:creationId xmlns:a16="http://schemas.microsoft.com/office/drawing/2014/main" id="{47557555-ADC8-48DA-B54D-1EB127BC045F}"/>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588">
            <a:extLst>
              <a:ext uri="{FF2B5EF4-FFF2-40B4-BE49-F238E27FC236}">
                <a16:creationId xmlns:a16="http://schemas.microsoft.com/office/drawing/2014/main" id="{CEF386BD-73BB-4D5B-8EEC-8F15937CE7D6}"/>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Три </a:t>
            </a:r>
            <a:r>
              <a:rPr lang="en-US" sz="2100">
                <a:solidFill>
                  <a:srgbClr val="FFFFFF"/>
                </a:solidFill>
                <a:latin typeface="Montserrat"/>
              </a:rPr>
              <a:t>SCC</a:t>
            </a:r>
            <a:endParaRPr lang="ru-RU" sz="2100">
              <a:solidFill>
                <a:srgbClr val="FFFFFF"/>
              </a:solidFill>
              <a:latin typeface="Montserrat"/>
            </a:endParaRPr>
          </a:p>
        </p:txBody>
      </p:sp>
      <p:sp>
        <p:nvSpPr>
          <p:cNvPr id="28" name="text-24-589">
            <a:extLst>
              <a:ext uri="{FF2B5EF4-FFF2-40B4-BE49-F238E27FC236}">
                <a16:creationId xmlns:a16="http://schemas.microsoft.com/office/drawing/2014/main" id="{45FBCA12-BC38-47EB-AA5E-D8BD2EC6F80D}"/>
              </a:ext>
            </a:extLst>
          </p:cNvPr>
          <p:cNvSpPr txBox="1"/>
          <p:nvPr/>
        </p:nvSpPr>
        <p:spPr bwMode="auto">
          <a:xfrm>
            <a:off x="8915400" y="2520931"/>
            <a:ext cx="2578100" cy="1744067"/>
          </a:xfrm>
          <a:prstGeom prst="rect">
            <a:avLst/>
          </a:prstGeom>
        </p:spPr>
        <p:txBody>
          <a:bodyPr vert="horz" wrap="square" lIns="38100" tIns="25400" rIns="38100" bIns="25400" rtlCol="0" anchor="ctr">
            <a:spAutoFit/>
          </a:bodyPr>
          <a:lstStyle/>
          <a:p>
            <a:r>
              <a:rPr lang="en-US" sz="2200">
                <a:solidFill>
                  <a:srgbClr val="352379"/>
                </a:solidFill>
                <a:latin typeface="Montserrat"/>
              </a:rPr>
              <a:t>C₁ = {1, 2, 3}</a:t>
            </a:r>
          </a:p>
          <a:p>
            <a:endParaRPr lang="en-US" sz="2200">
              <a:solidFill>
                <a:srgbClr val="352379"/>
              </a:solidFill>
              <a:latin typeface="Montserrat"/>
            </a:endParaRPr>
          </a:p>
          <a:p>
            <a:r>
              <a:rPr lang="en-US" sz="2200">
                <a:solidFill>
                  <a:srgbClr val="352379"/>
                </a:solidFill>
                <a:latin typeface="Montserrat"/>
              </a:rPr>
              <a:t>C₂ = {4, 5}</a:t>
            </a:r>
          </a:p>
          <a:p>
            <a:endParaRPr lang="en-US" sz="2200">
              <a:solidFill>
                <a:srgbClr val="352379"/>
              </a:solidFill>
              <a:latin typeface="Montserrat"/>
            </a:endParaRPr>
          </a:p>
          <a:p>
            <a:r>
              <a:rPr lang="en-US" sz="2200">
                <a:solidFill>
                  <a:srgbClr val="352379"/>
                </a:solidFill>
                <a:latin typeface="Montserrat"/>
              </a:rPr>
              <a:t>C₃ = {6, 7, 8}</a:t>
            </a:r>
            <a:endParaRPr lang="ru-RU" sz="2200">
              <a:solidFill>
                <a:srgbClr val="352379"/>
              </a:solidFill>
              <a:latin typeface="Montserrat"/>
            </a:endParaRPr>
          </a:p>
        </p:txBody>
      </p:sp>
      <p:sp>
        <p:nvSpPr>
          <p:cNvPr id="29" name="lecture-footer">
            <a:extLst>
              <a:ext uri="{FF2B5EF4-FFF2-40B4-BE49-F238E27FC236}">
                <a16:creationId xmlns:a16="http://schemas.microsoft.com/office/drawing/2014/main" id="{BC5B321F-2DB1-404E-A061-36A7BBF2D937}"/>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B1577811-26AC-45DF-9B41-2598BC383B0B}"/>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18</a:t>
            </a:r>
          </a:p>
        </p:txBody>
      </p:sp>
      <p:sp>
        <p:nvSpPr>
          <p:cNvPr id="31" name="definition-SCC">
            <a:extLst>
              <a:ext uri="{FF2B5EF4-FFF2-40B4-BE49-F238E27FC236}">
                <a16:creationId xmlns:a16="http://schemas.microsoft.com/office/drawing/2014/main" id="{DB48C3F2-3AB0-4E2A-87F4-9D59FCA8A28C}"/>
              </a:ext>
            </a:extLst>
          </p:cNvPr>
          <p:cNvSpPr txBox="1"/>
          <p:nvPr/>
        </p:nvSpPr>
        <p:spPr bwMode="auto">
          <a:xfrm>
            <a:off x="660400" y="5727699"/>
            <a:ext cx="10871200" cy="711200"/>
          </a:xfrm>
          <a:prstGeom prst="rect">
            <a:avLst/>
          </a:prstGeom>
        </p:spPr>
        <p:txBody>
          <a:bodyPr vert="horz" wrap="square" lIns="38100" tIns="25400" rIns="38100" bIns="25400" rtlCol="0" anchor="ctr">
            <a:noAutofit/>
          </a:bodyPr>
          <a:lstStyle/>
          <a:p>
            <a:r>
              <a:rPr lang="ru-RU" sz="2200">
                <a:solidFill>
                  <a:srgbClr val="FFFFFF"/>
                </a:solidFill>
                <a:latin typeface="Montserrat"/>
              </a:rPr>
              <a:t>SCC — максимальная группа вершин, внутри которой из каждой вершины можно попасть в каждую другую.</a:t>
            </a:r>
          </a:p>
        </p:txBody>
      </p:sp>
      <p:sp>
        <p:nvSpPr>
          <p:cNvPr id="33" name="SCC-abbreviation">
            <a:extLst>
              <a:ext uri="{FF2B5EF4-FFF2-40B4-BE49-F238E27FC236}">
                <a16:creationId xmlns:a16="http://schemas.microsoft.com/office/drawing/2014/main" id="{69E0DBD8-75CA-4A9C-B449-9121BF5721B1}"/>
              </a:ext>
            </a:extLst>
          </p:cNvPr>
          <p:cNvSpPr txBox="1"/>
          <p:nvPr/>
        </p:nvSpPr>
        <p:spPr bwMode="auto">
          <a:xfrm>
            <a:off x="660400" y="5219700"/>
            <a:ext cx="8890000" cy="381000"/>
          </a:xfrm>
          <a:prstGeom prst="rect">
            <a:avLst/>
          </a:prstGeom>
        </p:spPr>
        <p:txBody>
          <a:bodyPr vert="horz" lIns="38100" tIns="25400" rIns="38100" bIns="25400" rtlCol="0">
            <a:noAutofit/>
          </a:bodyPr>
          <a:lstStyle/>
          <a:p>
            <a:r>
              <a:rPr lang="en-US" sz="2000">
                <a:solidFill>
                  <a:srgbClr val="352379"/>
                </a:solidFill>
                <a:latin typeface="Montserrat"/>
              </a:rPr>
              <a:t>SCC — Strongly Connected Component.</a:t>
            </a:r>
            <a:endParaRPr lang="ru-RU" sz="2000">
              <a:solidFill>
                <a:srgbClr val="352379"/>
              </a:solidFill>
              <a:latin typeface="Montserrat"/>
            </a:endParaRPr>
          </a:p>
        </p:txBody>
      </p:sp>
    </p:spTree>
    <p:extLst>
      <p:ext uri="{BB962C8B-B14F-4D97-AF65-F5344CB8AC3E}">
        <p14:creationId xmlns:p14="http://schemas.microsoft.com/office/powerpoint/2010/main" val="358807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Сожмём каждую </a:t>
            </a:r>
            <a:r>
              <a:rPr lang="en-US">
                <a:latin typeface="Montserrat SemiBold"/>
              </a:rPr>
              <a:t>SCC</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scc-reference-edge-1-2">
            <a:extLst>
              <a:ext uri="{FF2B5EF4-FFF2-40B4-BE49-F238E27FC236}">
                <a16:creationId xmlns:a16="http://schemas.microsoft.com/office/drawing/2014/main" id="{374D5A9B-C8B4-4FCC-B513-DE13BB724902}"/>
              </a:ext>
            </a:extLst>
          </p:cNvPr>
          <p:cNvCxnSpPr/>
          <p:nvPr/>
        </p:nvCxnSpPr>
        <p:spPr>
          <a:xfrm flipH="1">
            <a:off x="746448" y="2736946"/>
            <a:ext cx="97779" cy="606233"/>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scc-reference-edge-2-3">
            <a:extLst>
              <a:ext uri="{FF2B5EF4-FFF2-40B4-BE49-F238E27FC236}">
                <a16:creationId xmlns:a16="http://schemas.microsoft.com/office/drawing/2014/main" id="{0EF0F407-DB22-47BD-8BE4-AF77F0F3B66D}"/>
              </a:ext>
            </a:extLst>
          </p:cNvPr>
          <p:cNvCxnSpPr/>
          <p:nvPr/>
        </p:nvCxnSpPr>
        <p:spPr>
          <a:xfrm>
            <a:off x="949325" y="3581400"/>
            <a:ext cx="4953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scc-reference-edge-3-1">
            <a:extLst>
              <a:ext uri="{FF2B5EF4-FFF2-40B4-BE49-F238E27FC236}">
                <a16:creationId xmlns:a16="http://schemas.microsoft.com/office/drawing/2014/main" id="{119B1E85-920D-4403-BFDF-3330D436D725}"/>
              </a:ext>
            </a:extLst>
          </p:cNvPr>
          <p:cNvCxnSpPr/>
          <p:nvPr/>
        </p:nvCxnSpPr>
        <p:spPr>
          <a:xfrm flipH="1" flipV="1">
            <a:off x="1026428" y="2692513"/>
            <a:ext cx="515719" cy="6951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scc-reference-edge-3-4">
            <a:extLst>
              <a:ext uri="{FF2B5EF4-FFF2-40B4-BE49-F238E27FC236}">
                <a16:creationId xmlns:a16="http://schemas.microsoft.com/office/drawing/2014/main" id="{2B13624D-C877-4061-9EE4-721B0E9B1BF4}"/>
              </a:ext>
            </a:extLst>
          </p:cNvPr>
          <p:cNvCxnSpPr/>
          <p:nvPr/>
        </p:nvCxnSpPr>
        <p:spPr>
          <a:xfrm flipV="1">
            <a:off x="1834069" y="2828896"/>
            <a:ext cx="437137" cy="562033"/>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scc-reference-edge-4-5">
            <a:extLst>
              <a:ext uri="{FF2B5EF4-FFF2-40B4-BE49-F238E27FC236}">
                <a16:creationId xmlns:a16="http://schemas.microsoft.com/office/drawing/2014/main" id="{CE15FB7A-D97D-4109-89FC-1C0D04C294DB}"/>
              </a:ext>
            </a:extLst>
          </p:cNvPr>
          <p:cNvCxnSpPr/>
          <p:nvPr/>
        </p:nvCxnSpPr>
        <p:spPr>
          <a:xfrm>
            <a:off x="2542365" y="2846013"/>
            <a:ext cx="312770" cy="527799"/>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scc-reference-edge-5-4">
            <a:extLst>
              <a:ext uri="{FF2B5EF4-FFF2-40B4-BE49-F238E27FC236}">
                <a16:creationId xmlns:a16="http://schemas.microsoft.com/office/drawing/2014/main" id="{36AE120E-A48A-4238-AD97-006E0EC714F3}"/>
              </a:ext>
            </a:extLst>
          </p:cNvPr>
          <p:cNvCxnSpPr/>
          <p:nvPr/>
        </p:nvCxnSpPr>
        <p:spPr>
          <a:xfrm flipH="1" flipV="1">
            <a:off x="2542365" y="2846013"/>
            <a:ext cx="312770" cy="527799"/>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scc-reference-edge-5-6">
            <a:extLst>
              <a:ext uri="{FF2B5EF4-FFF2-40B4-BE49-F238E27FC236}">
                <a16:creationId xmlns:a16="http://schemas.microsoft.com/office/drawing/2014/main" id="{327540A5-1785-454D-AA99-C4D7E7D271E1}"/>
              </a:ext>
            </a:extLst>
          </p:cNvPr>
          <p:cNvCxnSpPr/>
          <p:nvPr/>
        </p:nvCxnSpPr>
        <p:spPr>
          <a:xfrm flipV="1">
            <a:off x="3136631" y="2680685"/>
            <a:ext cx="626013" cy="71875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scc-reference-edge-6-7">
            <a:extLst>
              <a:ext uri="{FF2B5EF4-FFF2-40B4-BE49-F238E27FC236}">
                <a16:creationId xmlns:a16="http://schemas.microsoft.com/office/drawing/2014/main" id="{EAD647BA-74AA-4E50-BFA8-15831B05F870}"/>
              </a:ext>
            </a:extLst>
          </p:cNvPr>
          <p:cNvCxnSpPr/>
          <p:nvPr/>
        </p:nvCxnSpPr>
        <p:spPr>
          <a:xfrm flipH="1">
            <a:off x="3729799" y="2734099"/>
            <a:ext cx="138177" cy="611927"/>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scc-reference-edge-7-8">
            <a:extLst>
              <a:ext uri="{FF2B5EF4-FFF2-40B4-BE49-F238E27FC236}">
                <a16:creationId xmlns:a16="http://schemas.microsoft.com/office/drawing/2014/main" id="{A4CEDB4F-3C65-4316-919E-6293808EE63A}"/>
              </a:ext>
            </a:extLst>
          </p:cNvPr>
          <p:cNvCxnSpPr/>
          <p:nvPr/>
        </p:nvCxnSpPr>
        <p:spPr>
          <a:xfrm>
            <a:off x="3917950" y="3581400"/>
            <a:ext cx="4953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scc-reference-edge-8-6">
            <a:extLst>
              <a:ext uri="{FF2B5EF4-FFF2-40B4-BE49-F238E27FC236}">
                <a16:creationId xmlns:a16="http://schemas.microsoft.com/office/drawing/2014/main" id="{51FF73CA-5340-4C6A-A28A-2C18119D6705}"/>
              </a:ext>
            </a:extLst>
          </p:cNvPr>
          <p:cNvCxnSpPr/>
          <p:nvPr/>
        </p:nvCxnSpPr>
        <p:spPr>
          <a:xfrm flipH="1" flipV="1">
            <a:off x="4056458" y="2698502"/>
            <a:ext cx="462759" cy="683121"/>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scc-reference-edge-2-7-part-0">
            <a:extLst>
              <a:ext uri="{FF2B5EF4-FFF2-40B4-BE49-F238E27FC236}">
                <a16:creationId xmlns:a16="http://schemas.microsoft.com/office/drawing/2014/main" id="{DA157DEA-DE44-44FC-A8AC-C22EF2E2EF06}"/>
              </a:ext>
            </a:extLst>
          </p:cNvPr>
          <p:cNvCxnSpPr/>
          <p:nvPr/>
        </p:nvCxnSpPr>
        <p:spPr>
          <a:xfrm>
            <a:off x="708025" y="3822700"/>
            <a:ext cx="0" cy="33782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scc-reference-edge-2-7-part-1">
            <a:extLst>
              <a:ext uri="{FF2B5EF4-FFF2-40B4-BE49-F238E27FC236}">
                <a16:creationId xmlns:a16="http://schemas.microsoft.com/office/drawing/2014/main" id="{F05662A6-286E-4AD1-9EA6-D213725FB010}"/>
              </a:ext>
            </a:extLst>
          </p:cNvPr>
          <p:cNvCxnSpPr/>
          <p:nvPr/>
        </p:nvCxnSpPr>
        <p:spPr>
          <a:xfrm>
            <a:off x="708025" y="4160520"/>
            <a:ext cx="2968625"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scc-reference-edge-2-7-part-2">
            <a:extLst>
              <a:ext uri="{FF2B5EF4-FFF2-40B4-BE49-F238E27FC236}">
                <a16:creationId xmlns:a16="http://schemas.microsoft.com/office/drawing/2014/main" id="{6DB4D06D-B22F-42D3-BF35-155CBC1FC664}"/>
              </a:ext>
            </a:extLst>
          </p:cNvPr>
          <p:cNvCxnSpPr/>
          <p:nvPr/>
        </p:nvCxnSpPr>
        <p:spPr>
          <a:xfrm flipV="1">
            <a:off x="3676650" y="3822700"/>
            <a:ext cx="0" cy="33782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scc-reference-node-1">
            <a:extLst>
              <a:ext uri="{FF2B5EF4-FFF2-40B4-BE49-F238E27FC236}">
                <a16:creationId xmlns:a16="http://schemas.microsoft.com/office/drawing/2014/main" id="{4B8797CF-CFF7-4EC7-9123-FF69D8A680B2}"/>
              </a:ext>
            </a:extLst>
          </p:cNvPr>
          <p:cNvSpPr/>
          <p:nvPr/>
        </p:nvSpPr>
        <p:spPr>
          <a:xfrm>
            <a:off x="641350" y="2257425"/>
            <a:ext cx="482600" cy="4826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scc-reference-node-2">
            <a:extLst>
              <a:ext uri="{FF2B5EF4-FFF2-40B4-BE49-F238E27FC236}">
                <a16:creationId xmlns:a16="http://schemas.microsoft.com/office/drawing/2014/main" id="{E8B8F3D7-1A26-4C42-94FD-9A2A5D1A1F56}"/>
              </a:ext>
            </a:extLst>
          </p:cNvPr>
          <p:cNvSpPr/>
          <p:nvPr/>
        </p:nvSpPr>
        <p:spPr>
          <a:xfrm>
            <a:off x="466725" y="3340100"/>
            <a:ext cx="482600" cy="4826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scc-reference-node-3">
            <a:extLst>
              <a:ext uri="{FF2B5EF4-FFF2-40B4-BE49-F238E27FC236}">
                <a16:creationId xmlns:a16="http://schemas.microsoft.com/office/drawing/2014/main" id="{928260D6-7AA6-49C9-BEC3-6D4ED8004A3D}"/>
              </a:ext>
            </a:extLst>
          </p:cNvPr>
          <p:cNvSpPr/>
          <p:nvPr/>
        </p:nvSpPr>
        <p:spPr>
          <a:xfrm>
            <a:off x="1444625" y="3340100"/>
            <a:ext cx="482600" cy="4826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scc-reference-node-4">
            <a:extLst>
              <a:ext uri="{FF2B5EF4-FFF2-40B4-BE49-F238E27FC236}">
                <a16:creationId xmlns:a16="http://schemas.microsoft.com/office/drawing/2014/main" id="{43686CD5-4E82-494E-86D8-D1CE5585AF61}"/>
              </a:ext>
            </a:extLst>
          </p:cNvPr>
          <p:cNvSpPr/>
          <p:nvPr/>
        </p:nvSpPr>
        <p:spPr>
          <a:xfrm>
            <a:off x="2178050" y="2397125"/>
            <a:ext cx="482600" cy="4826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1" name="!!scc-reference-node-5">
            <a:extLst>
              <a:ext uri="{FF2B5EF4-FFF2-40B4-BE49-F238E27FC236}">
                <a16:creationId xmlns:a16="http://schemas.microsoft.com/office/drawing/2014/main" id="{380A612E-9B4A-4245-92B7-302F2492F2FF}"/>
              </a:ext>
            </a:extLst>
          </p:cNvPr>
          <p:cNvSpPr/>
          <p:nvPr/>
        </p:nvSpPr>
        <p:spPr>
          <a:xfrm>
            <a:off x="2736850" y="3340100"/>
            <a:ext cx="482600" cy="4826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22" name="!!scc-reference-node-6">
            <a:extLst>
              <a:ext uri="{FF2B5EF4-FFF2-40B4-BE49-F238E27FC236}">
                <a16:creationId xmlns:a16="http://schemas.microsoft.com/office/drawing/2014/main" id="{CC7524A0-E623-4E00-B9E2-1F4C635F90CD}"/>
              </a:ext>
            </a:extLst>
          </p:cNvPr>
          <p:cNvSpPr/>
          <p:nvPr/>
        </p:nvSpPr>
        <p:spPr>
          <a:xfrm>
            <a:off x="3679825" y="2257425"/>
            <a:ext cx="482600" cy="4826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scc-reference-node-7">
            <a:extLst>
              <a:ext uri="{FF2B5EF4-FFF2-40B4-BE49-F238E27FC236}">
                <a16:creationId xmlns:a16="http://schemas.microsoft.com/office/drawing/2014/main" id="{E96909E8-C899-4292-911B-9889E4B82C66}"/>
              </a:ext>
            </a:extLst>
          </p:cNvPr>
          <p:cNvSpPr/>
          <p:nvPr/>
        </p:nvSpPr>
        <p:spPr>
          <a:xfrm>
            <a:off x="3435350" y="3340100"/>
            <a:ext cx="482600" cy="4826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 name="!!scc-reference-node-8">
            <a:extLst>
              <a:ext uri="{FF2B5EF4-FFF2-40B4-BE49-F238E27FC236}">
                <a16:creationId xmlns:a16="http://schemas.microsoft.com/office/drawing/2014/main" id="{9FCF483C-BF47-4CBA-8FF0-0DE7698595AA}"/>
              </a:ext>
            </a:extLst>
          </p:cNvPr>
          <p:cNvSpPr/>
          <p:nvPr/>
        </p:nvSpPr>
        <p:spPr>
          <a:xfrm>
            <a:off x="4413250" y="3340100"/>
            <a:ext cx="482600" cy="4826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scc-node-1">
            <a:extLst>
              <a:ext uri="{FF2B5EF4-FFF2-40B4-BE49-F238E27FC236}">
                <a16:creationId xmlns:a16="http://schemas.microsoft.com/office/drawing/2014/main" id="{9826396E-A6C1-4776-BB20-2E4141368101}"/>
              </a:ext>
            </a:extLst>
          </p:cNvPr>
          <p:cNvSpPr/>
          <p:nvPr/>
        </p:nvSpPr>
        <p:spPr>
          <a:xfrm>
            <a:off x="7594600" y="3022600"/>
            <a:ext cx="50800" cy="50800"/>
          </a:xfrm>
          <a:prstGeom prst="ellipse">
            <a:avLst/>
          </a:prstGeom>
          <a:solidFill>
            <a:srgbClr val="C7ADEB"/>
          </a:solidFill>
          <a:ln w="12700">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26" name="!!scc-node-2">
            <a:extLst>
              <a:ext uri="{FF2B5EF4-FFF2-40B4-BE49-F238E27FC236}">
                <a16:creationId xmlns:a16="http://schemas.microsoft.com/office/drawing/2014/main" id="{D97ED0B2-EB3A-42E8-B203-B5F0E7C82C6A}"/>
              </a:ext>
            </a:extLst>
          </p:cNvPr>
          <p:cNvSpPr/>
          <p:nvPr/>
        </p:nvSpPr>
        <p:spPr>
          <a:xfrm>
            <a:off x="7594600" y="3022600"/>
            <a:ext cx="50800" cy="50800"/>
          </a:xfrm>
          <a:prstGeom prst="ellipse">
            <a:avLst/>
          </a:prstGeom>
          <a:solidFill>
            <a:srgbClr val="C7ADEB"/>
          </a:solidFill>
          <a:ln w="12700">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27" name="!!scc-node-3">
            <a:extLst>
              <a:ext uri="{FF2B5EF4-FFF2-40B4-BE49-F238E27FC236}">
                <a16:creationId xmlns:a16="http://schemas.microsoft.com/office/drawing/2014/main" id="{A6BF4566-5C04-421F-9CA4-F8B7F41E3526}"/>
              </a:ext>
            </a:extLst>
          </p:cNvPr>
          <p:cNvSpPr/>
          <p:nvPr/>
        </p:nvSpPr>
        <p:spPr>
          <a:xfrm>
            <a:off x="7594600" y="3022600"/>
            <a:ext cx="50800" cy="50800"/>
          </a:xfrm>
          <a:prstGeom prst="ellipse">
            <a:avLst/>
          </a:prstGeom>
          <a:solidFill>
            <a:srgbClr val="C7ADEB"/>
          </a:solidFill>
          <a:ln w="12700">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28" name="!!scc-node-4">
            <a:extLst>
              <a:ext uri="{FF2B5EF4-FFF2-40B4-BE49-F238E27FC236}">
                <a16:creationId xmlns:a16="http://schemas.microsoft.com/office/drawing/2014/main" id="{C8B00478-5ACA-42BA-AA37-BC9C18AEAB7F}"/>
              </a:ext>
            </a:extLst>
          </p:cNvPr>
          <p:cNvSpPr/>
          <p:nvPr/>
        </p:nvSpPr>
        <p:spPr>
          <a:xfrm>
            <a:off x="10452100" y="3022600"/>
            <a:ext cx="50800" cy="50800"/>
          </a:xfrm>
          <a:prstGeom prst="ellipse">
            <a:avLst/>
          </a:prstGeom>
          <a:solidFill>
            <a:srgbClr val="8C64D8"/>
          </a:solidFill>
          <a:ln w="12700">
            <a:solidFill>
              <a:srgbClr val="8C64D8"/>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29" name="!!scc-node-5">
            <a:extLst>
              <a:ext uri="{FF2B5EF4-FFF2-40B4-BE49-F238E27FC236}">
                <a16:creationId xmlns:a16="http://schemas.microsoft.com/office/drawing/2014/main" id="{38DADDD0-5CFF-49AF-8EEC-2055DDAF5540}"/>
              </a:ext>
            </a:extLst>
          </p:cNvPr>
          <p:cNvSpPr/>
          <p:nvPr/>
        </p:nvSpPr>
        <p:spPr>
          <a:xfrm>
            <a:off x="10452100" y="3022600"/>
            <a:ext cx="50800" cy="50800"/>
          </a:xfrm>
          <a:prstGeom prst="ellipse">
            <a:avLst/>
          </a:prstGeom>
          <a:solidFill>
            <a:srgbClr val="8C64D8"/>
          </a:solidFill>
          <a:ln w="12700">
            <a:solidFill>
              <a:srgbClr val="8C64D8"/>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30" name="!!scc-node-6">
            <a:extLst>
              <a:ext uri="{FF2B5EF4-FFF2-40B4-BE49-F238E27FC236}">
                <a16:creationId xmlns:a16="http://schemas.microsoft.com/office/drawing/2014/main" id="{D5BB390F-334A-4503-BCCD-284A3A23DC54}"/>
              </a:ext>
            </a:extLst>
          </p:cNvPr>
          <p:cNvSpPr/>
          <p:nvPr/>
        </p:nvSpPr>
        <p:spPr>
          <a:xfrm>
            <a:off x="9055100" y="5181600"/>
            <a:ext cx="50800" cy="50800"/>
          </a:xfrm>
          <a:prstGeom prst="ellipse">
            <a:avLst/>
          </a:prstGeom>
          <a:solidFill>
            <a:srgbClr val="762181"/>
          </a:solidFill>
          <a:ln w="1270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31" name="!!scc-node-7">
            <a:extLst>
              <a:ext uri="{FF2B5EF4-FFF2-40B4-BE49-F238E27FC236}">
                <a16:creationId xmlns:a16="http://schemas.microsoft.com/office/drawing/2014/main" id="{4BE8E061-7721-48CC-B738-9D33BC4B833F}"/>
              </a:ext>
            </a:extLst>
          </p:cNvPr>
          <p:cNvSpPr/>
          <p:nvPr/>
        </p:nvSpPr>
        <p:spPr>
          <a:xfrm>
            <a:off x="9055100" y="5181600"/>
            <a:ext cx="50800" cy="50800"/>
          </a:xfrm>
          <a:prstGeom prst="ellipse">
            <a:avLst/>
          </a:prstGeom>
          <a:solidFill>
            <a:srgbClr val="762181"/>
          </a:solidFill>
          <a:ln w="1270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sp>
        <p:nvSpPr>
          <p:cNvPr id="32" name="!!scc-node-8">
            <a:extLst>
              <a:ext uri="{FF2B5EF4-FFF2-40B4-BE49-F238E27FC236}">
                <a16:creationId xmlns:a16="http://schemas.microsoft.com/office/drawing/2014/main" id="{1582ED3F-7CFD-4824-9BA9-0389D3DC9DD4}"/>
              </a:ext>
            </a:extLst>
          </p:cNvPr>
          <p:cNvSpPr/>
          <p:nvPr/>
        </p:nvSpPr>
        <p:spPr>
          <a:xfrm>
            <a:off x="9055100" y="5181600"/>
            <a:ext cx="50800" cy="50800"/>
          </a:xfrm>
          <a:prstGeom prst="ellipse">
            <a:avLst/>
          </a:prstGeom>
          <a:solidFill>
            <a:srgbClr val="762181"/>
          </a:solidFill>
          <a:ln w="1270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endParaRPr lang="ru-RU" sz="2200">
              <a:solidFill>
                <a:srgbClr val="FFFFFF"/>
              </a:solidFill>
              <a:latin typeface="Montserrat"/>
            </a:endParaRPr>
          </a:p>
        </p:txBody>
      </p:sp>
      <p:cxnSp>
        <p:nvCxnSpPr>
          <p:cNvPr id="33" name="!!cond-edge-C₁-C₂">
            <a:extLst>
              <a:ext uri="{FF2B5EF4-FFF2-40B4-BE49-F238E27FC236}">
                <a16:creationId xmlns:a16="http://schemas.microsoft.com/office/drawing/2014/main" id="{475B13F2-C292-4DFF-B447-E3B7337813A2}"/>
              </a:ext>
            </a:extLst>
          </p:cNvPr>
          <p:cNvCxnSpPr/>
          <p:nvPr/>
        </p:nvCxnSpPr>
        <p:spPr>
          <a:xfrm>
            <a:off x="8115300" y="3048000"/>
            <a:ext cx="18669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4" name="!!cond-edge-C₂-C₃">
            <a:extLst>
              <a:ext uri="{FF2B5EF4-FFF2-40B4-BE49-F238E27FC236}">
                <a16:creationId xmlns:a16="http://schemas.microsoft.com/office/drawing/2014/main" id="{3B448E9F-F4F4-4E7F-8A0F-EAB5E4A9B31F}"/>
              </a:ext>
            </a:extLst>
          </p:cNvPr>
          <p:cNvCxnSpPr/>
          <p:nvPr/>
        </p:nvCxnSpPr>
        <p:spPr>
          <a:xfrm flipH="1">
            <a:off x="9349573" y="3463839"/>
            <a:ext cx="858854" cy="132732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5" name="!!cond-edge-C₁-C₃">
            <a:extLst>
              <a:ext uri="{FF2B5EF4-FFF2-40B4-BE49-F238E27FC236}">
                <a16:creationId xmlns:a16="http://schemas.microsoft.com/office/drawing/2014/main" id="{C1009813-7EEB-4022-969F-A6985E3AACC9}"/>
              </a:ext>
            </a:extLst>
          </p:cNvPr>
          <p:cNvCxnSpPr/>
          <p:nvPr/>
        </p:nvCxnSpPr>
        <p:spPr>
          <a:xfrm>
            <a:off x="7897521" y="3458249"/>
            <a:ext cx="905458" cy="13385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36" name="!!cond-node-C₁">
            <a:extLst>
              <a:ext uri="{FF2B5EF4-FFF2-40B4-BE49-F238E27FC236}">
                <a16:creationId xmlns:a16="http://schemas.microsoft.com/office/drawing/2014/main" id="{4E545D7F-A22B-44E9-AE53-3FD4B649D27C}"/>
              </a:ext>
            </a:extLst>
          </p:cNvPr>
          <p:cNvSpPr/>
          <p:nvPr/>
        </p:nvSpPr>
        <p:spPr>
          <a:xfrm>
            <a:off x="7124700" y="2552700"/>
            <a:ext cx="990600" cy="9906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C₁</a:t>
            </a:r>
            <a:endParaRPr lang="ru-RU" sz="2200">
              <a:solidFill>
                <a:srgbClr val="352379"/>
              </a:solidFill>
              <a:latin typeface="Montserrat"/>
            </a:endParaRPr>
          </a:p>
        </p:txBody>
      </p:sp>
      <p:sp>
        <p:nvSpPr>
          <p:cNvPr id="37" name="!!cond-node-C₂">
            <a:extLst>
              <a:ext uri="{FF2B5EF4-FFF2-40B4-BE49-F238E27FC236}">
                <a16:creationId xmlns:a16="http://schemas.microsoft.com/office/drawing/2014/main" id="{6AC20717-DC8E-4201-957F-69139CBEA8F2}"/>
              </a:ext>
            </a:extLst>
          </p:cNvPr>
          <p:cNvSpPr/>
          <p:nvPr/>
        </p:nvSpPr>
        <p:spPr>
          <a:xfrm>
            <a:off x="9982200" y="2552700"/>
            <a:ext cx="990600" cy="9906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C₂</a:t>
            </a:r>
            <a:endParaRPr lang="ru-RU" sz="2200">
              <a:solidFill>
                <a:srgbClr val="FFFFFF"/>
              </a:solidFill>
              <a:latin typeface="Montserrat"/>
            </a:endParaRPr>
          </a:p>
        </p:txBody>
      </p:sp>
      <p:sp>
        <p:nvSpPr>
          <p:cNvPr id="38" name="!!cond-node-C₃">
            <a:extLst>
              <a:ext uri="{FF2B5EF4-FFF2-40B4-BE49-F238E27FC236}">
                <a16:creationId xmlns:a16="http://schemas.microsoft.com/office/drawing/2014/main" id="{33AE0AA6-376F-4159-9FFE-580AC77D0A61}"/>
              </a:ext>
            </a:extLst>
          </p:cNvPr>
          <p:cNvSpPr/>
          <p:nvPr/>
        </p:nvSpPr>
        <p:spPr>
          <a:xfrm>
            <a:off x="8585200" y="4711700"/>
            <a:ext cx="990600" cy="9906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C₃</a:t>
            </a:r>
            <a:endParaRPr lang="ru-RU" sz="2200">
              <a:solidFill>
                <a:srgbClr val="FFFFFF"/>
              </a:solidFill>
              <a:latin typeface="Montserrat"/>
            </a:endParaRPr>
          </a:p>
        </p:txBody>
      </p:sp>
      <p:sp>
        <p:nvSpPr>
          <p:cNvPr id="39" name="text-35-625">
            <a:extLst>
              <a:ext uri="{FF2B5EF4-FFF2-40B4-BE49-F238E27FC236}">
                <a16:creationId xmlns:a16="http://schemas.microsoft.com/office/drawing/2014/main" id="{5048477E-1A44-4AF7-AC77-81B26404235C}"/>
              </a:ext>
            </a:extLst>
          </p:cNvPr>
          <p:cNvSpPr txBox="1"/>
          <p:nvPr/>
        </p:nvSpPr>
        <p:spPr bwMode="auto">
          <a:xfrm>
            <a:off x="762000" y="1612528"/>
            <a:ext cx="4699000" cy="405239"/>
          </a:xfrm>
          <a:prstGeom prst="rect">
            <a:avLst/>
          </a:prstGeom>
        </p:spPr>
        <p:txBody>
          <a:bodyPr vert="horz" wrap="square" lIns="38100" tIns="25400" rIns="38100" bIns="25400" rtlCol="0" anchor="ctr">
            <a:spAutoFit/>
          </a:bodyPr>
          <a:lstStyle/>
          <a:p>
            <a:r>
              <a:rPr lang="ru-RU" sz="2300" b="1">
                <a:solidFill>
                  <a:srgbClr val="352379"/>
                </a:solidFill>
                <a:latin typeface="Montserrat"/>
              </a:rPr>
              <a:t>Исходные </a:t>
            </a:r>
            <a:r>
              <a:rPr lang="en-US" sz="2300" b="1">
                <a:solidFill>
                  <a:srgbClr val="352379"/>
                </a:solidFill>
                <a:latin typeface="Montserrat"/>
              </a:rPr>
              <a:t>SCC</a:t>
            </a:r>
            <a:endParaRPr lang="ru-RU" sz="2300" b="1">
              <a:solidFill>
                <a:srgbClr val="352379"/>
              </a:solidFill>
              <a:latin typeface="Montserrat"/>
            </a:endParaRPr>
          </a:p>
        </p:txBody>
      </p:sp>
      <p:sp>
        <p:nvSpPr>
          <p:cNvPr id="40" name="text-36-626">
            <a:extLst>
              <a:ext uri="{FF2B5EF4-FFF2-40B4-BE49-F238E27FC236}">
                <a16:creationId xmlns:a16="http://schemas.microsoft.com/office/drawing/2014/main" id="{11A55037-F619-469D-A264-404D4AEB5745}"/>
              </a:ext>
            </a:extLst>
          </p:cNvPr>
          <p:cNvSpPr txBox="1"/>
          <p:nvPr/>
        </p:nvSpPr>
        <p:spPr bwMode="auto">
          <a:xfrm>
            <a:off x="6858000" y="1612528"/>
            <a:ext cx="4762500" cy="405239"/>
          </a:xfrm>
          <a:prstGeom prst="rect">
            <a:avLst/>
          </a:prstGeom>
        </p:spPr>
        <p:txBody>
          <a:bodyPr vert="horz" wrap="square" lIns="38100" tIns="25400" rIns="38100" bIns="25400" rtlCol="0" anchor="ctr">
            <a:spAutoFit/>
          </a:bodyPr>
          <a:lstStyle/>
          <a:p>
            <a:r>
              <a:rPr lang="ru-RU" sz="2300" b="1">
                <a:solidFill>
                  <a:srgbClr val="352379"/>
                </a:solidFill>
                <a:latin typeface="Montserrat"/>
              </a:rPr>
              <a:t>Граф конденсации</a:t>
            </a:r>
          </a:p>
        </p:txBody>
      </p:sp>
      <p:sp>
        <p:nvSpPr>
          <p:cNvPr id="41" name="text-37-627">
            <a:extLst>
              <a:ext uri="{FF2B5EF4-FFF2-40B4-BE49-F238E27FC236}">
                <a16:creationId xmlns:a16="http://schemas.microsoft.com/office/drawing/2014/main" id="{32BC78E6-AB8B-4F0B-95DC-59B1F3D04A18}"/>
              </a:ext>
            </a:extLst>
          </p:cNvPr>
          <p:cNvSpPr txBox="1"/>
          <p:nvPr/>
        </p:nvSpPr>
        <p:spPr bwMode="auto">
          <a:xfrm>
            <a:off x="5689600" y="3157751"/>
            <a:ext cx="952500" cy="743793"/>
          </a:xfrm>
          <a:prstGeom prst="rect">
            <a:avLst/>
          </a:prstGeom>
        </p:spPr>
        <p:txBody>
          <a:bodyPr vert="horz" wrap="square" lIns="38100" tIns="25400" rIns="38100" bIns="25400" rtlCol="0" anchor="ctr">
            <a:spAutoFit/>
          </a:bodyPr>
          <a:lstStyle/>
          <a:p>
            <a:r>
              <a:rPr lang="ru-RU" sz="4500" b="1">
                <a:solidFill>
                  <a:srgbClr val="352379"/>
                </a:solidFill>
                <a:latin typeface="Montserrat"/>
              </a:rPr>
              <a:t>→</a:t>
            </a:r>
          </a:p>
        </p:txBody>
      </p:sp>
      <p:sp>
        <p:nvSpPr>
          <p:cNvPr id="42" name="box-38-628">
            <a:extLst>
              <a:ext uri="{FF2B5EF4-FFF2-40B4-BE49-F238E27FC236}">
                <a16:creationId xmlns:a16="http://schemas.microsoft.com/office/drawing/2014/main" id="{4954A8C4-9644-40C5-8391-BA1A2CEE41B8}"/>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text-39-629">
            <a:extLst>
              <a:ext uri="{FF2B5EF4-FFF2-40B4-BE49-F238E27FC236}">
                <a16:creationId xmlns:a16="http://schemas.microsoft.com/office/drawing/2014/main" id="{B1A15C64-1FCC-46E2-849C-DBF67FF9D47A}"/>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После сжатия получаем DAG: направленных циклов нет.</a:t>
            </a:r>
          </a:p>
        </p:txBody>
      </p:sp>
      <p:sp>
        <p:nvSpPr>
          <p:cNvPr id="44" name="lecture-footer">
            <a:extLst>
              <a:ext uri="{FF2B5EF4-FFF2-40B4-BE49-F238E27FC236}">
                <a16:creationId xmlns:a16="http://schemas.microsoft.com/office/drawing/2014/main" id="{816027E7-6820-481D-A5E3-626DE9355CC1}"/>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45" name="slide-number">
            <a:extLst>
              <a:ext uri="{FF2B5EF4-FFF2-40B4-BE49-F238E27FC236}">
                <a16:creationId xmlns:a16="http://schemas.microsoft.com/office/drawing/2014/main" id="{479D56A5-9F32-4E15-A9C8-D40C5EB9A018}"/>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19</a:t>
            </a:r>
          </a:p>
        </p:txBody>
      </p:sp>
    </p:spTree>
    <p:extLst>
      <p:ext uri="{BB962C8B-B14F-4D97-AF65-F5344CB8AC3E}">
        <p14:creationId xmlns:p14="http://schemas.microsoft.com/office/powerpoint/2010/main" val="3344577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Как найти </a:t>
            </a:r>
            <a:r>
              <a:rPr lang="en-US">
                <a:latin typeface="Montserrat SemiBold"/>
              </a:rPr>
              <a:t>SCC?</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1D8F6E09-6521-4836-94F1-01A355D5553D}"/>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F53814F3-32CA-4B18-ADD6-17E6AC7B98F0}"/>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5D6F86E7-A103-416F-93FE-7E589D08F796}"/>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7D6B8710-9F40-464E-A35A-5852883BDCFF}"/>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926CF07F-5FA1-4061-9F8D-935F7AF5F38F}"/>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B8BCC45B-44E3-4357-B184-D6770D301500}"/>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668DED40-C60F-413B-ABD7-C07C7B1C0EDE}"/>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BF9E0941-4E12-4A86-AC04-367D2F1BB612}"/>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5D605750-E19F-48B0-A959-EAB00205314B}"/>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99749D72-2C16-404D-B40D-22C11CEB3355}"/>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AC21B567-31C4-4331-89F1-C554A65FE00A}"/>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3CB77DB1-2E3C-47BA-97EE-6E7D6CEE225E}"/>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2788C03E-4B18-4DA0-9DEF-3FCFD92E0F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3A1438B4-DB37-4EDD-8143-9FB919728271}"/>
              </a:ext>
            </a:extLst>
          </p:cNvPr>
          <p:cNvSpPr/>
          <p:nvPr/>
        </p:nvSpPr>
        <p:spPr>
          <a:xfrm>
            <a:off x="825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EC2D1CC6-CB73-4B7C-8034-A06F67A39950}"/>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46CD2013-C349-4381-A34F-F5D7AA7157CB}"/>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9FB08C8E-10DD-45B4-9C71-DD26B6B48589}"/>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68FFE559-EB40-4876-95F8-1CA1DC09D277}"/>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BA4E1CF0-55BE-4D32-B998-6AB77A066D13}"/>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8768DEA7-B846-47AA-8340-491C547D1FAB}"/>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E3030831-9923-48A0-95A4-85FC74B0BF6F}"/>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651">
            <a:extLst>
              <a:ext uri="{FF2B5EF4-FFF2-40B4-BE49-F238E27FC236}">
                <a16:creationId xmlns:a16="http://schemas.microsoft.com/office/drawing/2014/main" id="{5072DBEC-7275-40A0-BE64-AAB1027C40E3}"/>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52">
            <a:extLst>
              <a:ext uri="{FF2B5EF4-FFF2-40B4-BE49-F238E27FC236}">
                <a16:creationId xmlns:a16="http://schemas.microsoft.com/office/drawing/2014/main" id="{9096E946-327D-4925-BD7D-CE6D964C617E}"/>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53">
            <a:extLst>
              <a:ext uri="{FF2B5EF4-FFF2-40B4-BE49-F238E27FC236}">
                <a16:creationId xmlns:a16="http://schemas.microsoft.com/office/drawing/2014/main" id="{A8AC46D0-5698-4C54-A4C6-782B74DEF004}"/>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Задача</a:t>
            </a:r>
          </a:p>
        </p:txBody>
      </p:sp>
      <p:sp>
        <p:nvSpPr>
          <p:cNvPr id="28" name="text-24-654">
            <a:extLst>
              <a:ext uri="{FF2B5EF4-FFF2-40B4-BE49-F238E27FC236}">
                <a16:creationId xmlns:a16="http://schemas.microsoft.com/office/drawing/2014/main" id="{0614EB3E-CAE0-4066-9686-6B4261D3222E}"/>
              </a:ext>
            </a:extLst>
          </p:cNvPr>
          <p:cNvSpPr txBox="1"/>
          <p:nvPr/>
        </p:nvSpPr>
        <p:spPr bwMode="auto">
          <a:xfrm>
            <a:off x="8915400" y="2351654"/>
            <a:ext cx="2578100" cy="2082621"/>
          </a:xfrm>
          <a:prstGeom prst="rect">
            <a:avLst/>
          </a:prstGeom>
        </p:spPr>
        <p:txBody>
          <a:bodyPr vert="horz" wrap="square" lIns="38100" tIns="25400" rIns="38100" bIns="25400" rtlCol="0" anchor="ctr">
            <a:spAutoFit/>
          </a:bodyPr>
          <a:lstStyle/>
          <a:p>
            <a:r>
              <a:rPr lang="ru-RU" sz="2200">
                <a:solidFill>
                  <a:srgbClr val="352379"/>
                </a:solidFill>
                <a:latin typeface="Montserrat"/>
              </a:rPr>
              <a:t>Найти все группы</a:t>
            </a:r>
          </a:p>
          <a:p>
            <a:r>
              <a:rPr lang="ru-RU" sz="2200">
                <a:solidFill>
                  <a:srgbClr val="352379"/>
                </a:solidFill>
                <a:latin typeface="Montserrat"/>
              </a:rPr>
              <a:t>взаимной достижимости</a:t>
            </a:r>
          </a:p>
          <a:p>
            <a:endParaRPr lang="ru-RU" sz="2200">
              <a:solidFill>
                <a:srgbClr val="352379"/>
              </a:solidFill>
              <a:latin typeface="Montserrat"/>
            </a:endParaRPr>
          </a:p>
          <a:p>
            <a:r>
              <a:rPr lang="ru-RU" sz="2200">
                <a:solidFill>
                  <a:srgbClr val="352379"/>
                </a:solidFill>
                <a:latin typeface="Montserrat"/>
              </a:rPr>
              <a:t>Без запуска поиска</a:t>
            </a:r>
          </a:p>
          <a:p>
            <a:r>
              <a:rPr lang="ru-RU" sz="2200">
                <a:solidFill>
                  <a:srgbClr val="352379"/>
                </a:solidFill>
                <a:latin typeface="Montserrat"/>
              </a:rPr>
              <a:t>для каждой пары</a:t>
            </a:r>
          </a:p>
        </p:txBody>
      </p:sp>
      <p:sp>
        <p:nvSpPr>
          <p:cNvPr id="29" name="box-25-655">
            <a:extLst>
              <a:ext uri="{FF2B5EF4-FFF2-40B4-BE49-F238E27FC236}">
                <a16:creationId xmlns:a16="http://schemas.microsoft.com/office/drawing/2014/main" id="{2FF079E7-E9DB-4B01-B2F6-D7C31F326CE0}"/>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26-656">
            <a:extLst>
              <a:ext uri="{FF2B5EF4-FFF2-40B4-BE49-F238E27FC236}">
                <a16:creationId xmlns:a16="http://schemas.microsoft.com/office/drawing/2014/main" id="{4DC96C0A-77A2-4693-A6FC-ED0453DA4862}"/>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Хотим уложиться в O(V + E).</a:t>
            </a:r>
          </a:p>
        </p:txBody>
      </p:sp>
      <p:sp>
        <p:nvSpPr>
          <p:cNvPr id="31" name="lecture-footer">
            <a:extLst>
              <a:ext uri="{FF2B5EF4-FFF2-40B4-BE49-F238E27FC236}">
                <a16:creationId xmlns:a16="http://schemas.microsoft.com/office/drawing/2014/main" id="{13707ADA-4694-4D8C-894D-4EDE0D950C6A}"/>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2" name="slide-number">
            <a:extLst>
              <a:ext uri="{FF2B5EF4-FFF2-40B4-BE49-F238E27FC236}">
                <a16:creationId xmlns:a16="http://schemas.microsoft.com/office/drawing/2014/main" id="{C6105335-05A9-4BCF-B418-DDDA2056E74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20</a:t>
            </a:r>
          </a:p>
        </p:txBody>
      </p:sp>
    </p:spTree>
    <p:extLst>
      <p:ext uri="{BB962C8B-B14F-4D97-AF65-F5344CB8AC3E}">
        <p14:creationId xmlns:p14="http://schemas.microsoft.com/office/powerpoint/2010/main" val="351231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два обхода</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box-0-657">
            <a:extLst>
              <a:ext uri="{FF2B5EF4-FFF2-40B4-BE49-F238E27FC236}">
                <a16:creationId xmlns:a16="http://schemas.microsoft.com/office/drawing/2014/main" id="{53F86173-5FA6-4499-8EF4-E7BB61E5B042}"/>
              </a:ext>
            </a:extLst>
          </p:cNvPr>
          <p:cNvSpPr/>
          <p:nvPr/>
        </p:nvSpPr>
        <p:spPr>
          <a:xfrm>
            <a:off x="1016000" y="2159000"/>
            <a:ext cx="3175000" cy="9525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1-658">
            <a:extLst>
              <a:ext uri="{FF2B5EF4-FFF2-40B4-BE49-F238E27FC236}">
                <a16:creationId xmlns:a16="http://schemas.microsoft.com/office/drawing/2014/main" id="{E0F3BF77-3DDE-4F3C-9FB1-D84D8434A1FC}"/>
              </a:ext>
            </a:extLst>
          </p:cNvPr>
          <p:cNvSpPr txBox="1"/>
          <p:nvPr/>
        </p:nvSpPr>
        <p:spPr bwMode="auto">
          <a:xfrm>
            <a:off x="1117600" y="2184028"/>
            <a:ext cx="2971800" cy="405239"/>
          </a:xfrm>
          <a:prstGeom prst="rect">
            <a:avLst/>
          </a:prstGeom>
        </p:spPr>
        <p:txBody>
          <a:bodyPr vert="horz" wrap="square" lIns="38100" tIns="25400" rIns="38100" bIns="25400" rtlCol="0" anchor="ctr">
            <a:spAutoFit/>
          </a:bodyPr>
          <a:lstStyle/>
          <a:p>
            <a:pPr algn="ctr"/>
            <a:r>
              <a:rPr lang="ru-RU" sz="2300">
                <a:solidFill>
                  <a:srgbClr val="FFFFFF"/>
                </a:solidFill>
                <a:latin typeface="Montserrat"/>
              </a:rPr>
              <a:t>Граф </a:t>
            </a:r>
            <a:r>
              <a:rPr lang="en-US" sz="2300">
                <a:solidFill>
                  <a:srgbClr val="FFFFFF"/>
                </a:solidFill>
                <a:latin typeface="Montserrat"/>
              </a:rPr>
              <a:t>G</a:t>
            </a:r>
            <a:endParaRPr lang="ru-RU" sz="2300">
              <a:solidFill>
                <a:srgbClr val="FFFFFF"/>
              </a:solidFill>
              <a:latin typeface="Montserrat"/>
            </a:endParaRPr>
          </a:p>
        </p:txBody>
      </p:sp>
      <p:sp>
        <p:nvSpPr>
          <p:cNvPr id="5" name="text-2-659">
            <a:extLst>
              <a:ext uri="{FF2B5EF4-FFF2-40B4-BE49-F238E27FC236}">
                <a16:creationId xmlns:a16="http://schemas.microsoft.com/office/drawing/2014/main" id="{9AAADE61-A6DC-4AFF-A372-3FBF339EEB95}"/>
              </a:ext>
            </a:extLst>
          </p:cNvPr>
          <p:cNvSpPr txBox="1"/>
          <p:nvPr/>
        </p:nvSpPr>
        <p:spPr bwMode="auto">
          <a:xfrm>
            <a:off x="4114800" y="2206739"/>
            <a:ext cx="457200" cy="436017"/>
          </a:xfrm>
          <a:prstGeom prst="rect">
            <a:avLst/>
          </a:prstGeom>
        </p:spPr>
        <p:txBody>
          <a:bodyPr vert="horz" wrap="square" lIns="38100" tIns="25400" rIns="38100" bIns="25400" rtlCol="0" anchor="ctr">
            <a:spAutoFit/>
          </a:bodyPr>
          <a:lstStyle/>
          <a:p>
            <a:pPr algn="ctr"/>
            <a:r>
              <a:rPr lang="ru-RU" sz="2500">
                <a:solidFill>
                  <a:srgbClr val="352379"/>
                </a:solidFill>
                <a:latin typeface="Montserrat"/>
              </a:rPr>
              <a:t>→</a:t>
            </a:r>
          </a:p>
        </p:txBody>
      </p:sp>
      <p:sp>
        <p:nvSpPr>
          <p:cNvPr id="6" name="box-3-660">
            <a:extLst>
              <a:ext uri="{FF2B5EF4-FFF2-40B4-BE49-F238E27FC236}">
                <a16:creationId xmlns:a16="http://schemas.microsoft.com/office/drawing/2014/main" id="{248B0190-1045-48D7-B228-C4BC99BFEBAF}"/>
              </a:ext>
            </a:extLst>
          </p:cNvPr>
          <p:cNvSpPr/>
          <p:nvPr/>
        </p:nvSpPr>
        <p:spPr>
          <a:xfrm>
            <a:off x="4495800" y="2159000"/>
            <a:ext cx="3175000" cy="9525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4-661">
            <a:extLst>
              <a:ext uri="{FF2B5EF4-FFF2-40B4-BE49-F238E27FC236}">
                <a16:creationId xmlns:a16="http://schemas.microsoft.com/office/drawing/2014/main" id="{0E6A15C3-177A-44F7-AE11-B47FA6112495}"/>
              </a:ext>
            </a:extLst>
          </p:cNvPr>
          <p:cNvSpPr txBox="1"/>
          <p:nvPr/>
        </p:nvSpPr>
        <p:spPr bwMode="auto">
          <a:xfrm>
            <a:off x="4597400" y="2184028"/>
            <a:ext cx="2971800" cy="405239"/>
          </a:xfrm>
          <a:prstGeom prst="rect">
            <a:avLst/>
          </a:prstGeom>
        </p:spPr>
        <p:txBody>
          <a:bodyPr vert="horz" wrap="square" lIns="38100" tIns="25400" rIns="38100" bIns="25400" rtlCol="0" anchor="ctr">
            <a:spAutoFit/>
          </a:bodyPr>
          <a:lstStyle/>
          <a:p>
            <a:pPr algn="ctr"/>
            <a:r>
              <a:rPr lang="en-US" sz="2300">
                <a:solidFill>
                  <a:srgbClr val="FFFFFF"/>
                </a:solidFill>
                <a:latin typeface="Montserrat"/>
              </a:rPr>
              <a:t>DFS</a:t>
            </a:r>
            <a:endParaRPr lang="ru-RU" sz="2300">
              <a:solidFill>
                <a:srgbClr val="FFFFFF"/>
              </a:solidFill>
              <a:latin typeface="Montserrat"/>
            </a:endParaRPr>
          </a:p>
        </p:txBody>
      </p:sp>
      <p:sp>
        <p:nvSpPr>
          <p:cNvPr id="9" name="text-5-662">
            <a:extLst>
              <a:ext uri="{FF2B5EF4-FFF2-40B4-BE49-F238E27FC236}">
                <a16:creationId xmlns:a16="http://schemas.microsoft.com/office/drawing/2014/main" id="{0678971B-F713-4736-9213-F00FB06083A2}"/>
              </a:ext>
            </a:extLst>
          </p:cNvPr>
          <p:cNvSpPr txBox="1"/>
          <p:nvPr/>
        </p:nvSpPr>
        <p:spPr bwMode="auto">
          <a:xfrm>
            <a:off x="7594600" y="2206739"/>
            <a:ext cx="457200" cy="436017"/>
          </a:xfrm>
          <a:prstGeom prst="rect">
            <a:avLst/>
          </a:prstGeom>
        </p:spPr>
        <p:txBody>
          <a:bodyPr vert="horz" wrap="square" lIns="38100" tIns="25400" rIns="38100" bIns="25400" rtlCol="0" anchor="ctr">
            <a:spAutoFit/>
          </a:bodyPr>
          <a:lstStyle/>
          <a:p>
            <a:pPr algn="ctr"/>
            <a:r>
              <a:rPr lang="ru-RU" sz="2500">
                <a:solidFill>
                  <a:srgbClr val="352379"/>
                </a:solidFill>
                <a:latin typeface="Montserrat"/>
              </a:rPr>
              <a:t>→</a:t>
            </a:r>
          </a:p>
        </p:txBody>
      </p:sp>
      <p:sp>
        <p:nvSpPr>
          <p:cNvPr id="10" name="box-6-663">
            <a:extLst>
              <a:ext uri="{FF2B5EF4-FFF2-40B4-BE49-F238E27FC236}">
                <a16:creationId xmlns:a16="http://schemas.microsoft.com/office/drawing/2014/main" id="{07BB73AB-D7FB-4630-A138-84D97A16485B}"/>
              </a:ext>
            </a:extLst>
          </p:cNvPr>
          <p:cNvSpPr/>
          <p:nvPr/>
        </p:nvSpPr>
        <p:spPr>
          <a:xfrm>
            <a:off x="7975600" y="2159000"/>
            <a:ext cx="3175000" cy="9525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7-664">
            <a:extLst>
              <a:ext uri="{FF2B5EF4-FFF2-40B4-BE49-F238E27FC236}">
                <a16:creationId xmlns:a16="http://schemas.microsoft.com/office/drawing/2014/main" id="{324618A2-871B-4752-8640-67C5AD4B4595}"/>
              </a:ext>
            </a:extLst>
          </p:cNvPr>
          <p:cNvSpPr txBox="1"/>
          <p:nvPr/>
        </p:nvSpPr>
        <p:spPr bwMode="auto">
          <a:xfrm>
            <a:off x="8077200" y="2184028"/>
            <a:ext cx="2971800" cy="405239"/>
          </a:xfrm>
          <a:prstGeom prst="rect">
            <a:avLst/>
          </a:prstGeom>
        </p:spPr>
        <p:txBody>
          <a:bodyPr vert="horz" wrap="square" lIns="38100" tIns="25400" rIns="38100" bIns="25400" rtlCol="0" anchor="ctr">
            <a:spAutoFit/>
          </a:bodyPr>
          <a:lstStyle/>
          <a:p>
            <a:pPr algn="ctr"/>
            <a:r>
              <a:rPr lang="ru-RU" sz="2300">
                <a:solidFill>
                  <a:srgbClr val="FFFFFF"/>
                </a:solidFill>
                <a:latin typeface="Montserrat"/>
              </a:rPr>
              <a:t>Выход</a:t>
            </a:r>
          </a:p>
        </p:txBody>
      </p:sp>
      <p:sp>
        <p:nvSpPr>
          <p:cNvPr id="12" name="box-8-665">
            <a:extLst>
              <a:ext uri="{FF2B5EF4-FFF2-40B4-BE49-F238E27FC236}">
                <a16:creationId xmlns:a16="http://schemas.microsoft.com/office/drawing/2014/main" id="{C95FEA1E-807D-4829-BF31-6A3B1B315196}"/>
              </a:ext>
            </a:extLst>
          </p:cNvPr>
          <p:cNvSpPr/>
          <p:nvPr/>
        </p:nvSpPr>
        <p:spPr>
          <a:xfrm>
            <a:off x="1016000" y="4000500"/>
            <a:ext cx="3175000" cy="9525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9-666">
            <a:extLst>
              <a:ext uri="{FF2B5EF4-FFF2-40B4-BE49-F238E27FC236}">
                <a16:creationId xmlns:a16="http://schemas.microsoft.com/office/drawing/2014/main" id="{19B52787-DD54-447B-B825-375E9ECF251A}"/>
              </a:ext>
            </a:extLst>
          </p:cNvPr>
          <p:cNvSpPr txBox="1"/>
          <p:nvPr/>
        </p:nvSpPr>
        <p:spPr bwMode="auto">
          <a:xfrm>
            <a:off x="1117600" y="4025528"/>
            <a:ext cx="2971800" cy="405239"/>
          </a:xfrm>
          <a:prstGeom prst="rect">
            <a:avLst/>
          </a:prstGeom>
        </p:spPr>
        <p:txBody>
          <a:bodyPr vert="horz" wrap="square" lIns="38100" tIns="25400" rIns="38100" bIns="25400" rtlCol="0" anchor="ctr">
            <a:spAutoFit/>
          </a:bodyPr>
          <a:lstStyle/>
          <a:p>
            <a:pPr algn="ctr"/>
            <a:r>
              <a:rPr lang="ru-RU" sz="2300">
                <a:solidFill>
                  <a:srgbClr val="FFFFFF"/>
                </a:solidFill>
                <a:latin typeface="Montserrat"/>
              </a:rPr>
              <a:t>Граф </a:t>
            </a:r>
            <a:r>
              <a:rPr lang="en-US" sz="2300">
                <a:solidFill>
                  <a:srgbClr val="FFFFFF"/>
                </a:solidFill>
                <a:latin typeface="Montserrat"/>
              </a:rPr>
              <a:t>Gᵀ</a:t>
            </a:r>
            <a:endParaRPr lang="ru-RU" sz="2300">
              <a:solidFill>
                <a:srgbClr val="FFFFFF"/>
              </a:solidFill>
              <a:latin typeface="Montserrat"/>
            </a:endParaRPr>
          </a:p>
        </p:txBody>
      </p:sp>
      <p:sp>
        <p:nvSpPr>
          <p:cNvPr id="14" name="text-10-667">
            <a:extLst>
              <a:ext uri="{FF2B5EF4-FFF2-40B4-BE49-F238E27FC236}">
                <a16:creationId xmlns:a16="http://schemas.microsoft.com/office/drawing/2014/main" id="{8161219F-0DDE-4BD1-B36B-A630461EFF82}"/>
              </a:ext>
            </a:extLst>
          </p:cNvPr>
          <p:cNvSpPr txBox="1"/>
          <p:nvPr/>
        </p:nvSpPr>
        <p:spPr bwMode="auto">
          <a:xfrm>
            <a:off x="4114800" y="4048239"/>
            <a:ext cx="457200" cy="436017"/>
          </a:xfrm>
          <a:prstGeom prst="rect">
            <a:avLst/>
          </a:prstGeom>
        </p:spPr>
        <p:txBody>
          <a:bodyPr vert="horz" wrap="square" lIns="38100" tIns="25400" rIns="38100" bIns="25400" rtlCol="0" anchor="ctr">
            <a:spAutoFit/>
          </a:bodyPr>
          <a:lstStyle/>
          <a:p>
            <a:pPr algn="ctr"/>
            <a:r>
              <a:rPr lang="ru-RU" sz="2500">
                <a:solidFill>
                  <a:srgbClr val="352379"/>
                </a:solidFill>
                <a:latin typeface="Montserrat"/>
              </a:rPr>
              <a:t>→</a:t>
            </a:r>
          </a:p>
        </p:txBody>
      </p:sp>
      <p:sp>
        <p:nvSpPr>
          <p:cNvPr id="15" name="box-11-668">
            <a:extLst>
              <a:ext uri="{FF2B5EF4-FFF2-40B4-BE49-F238E27FC236}">
                <a16:creationId xmlns:a16="http://schemas.microsoft.com/office/drawing/2014/main" id="{A17E28BA-8916-47A6-AC2E-EE71ED6BAE34}"/>
              </a:ext>
            </a:extLst>
          </p:cNvPr>
          <p:cNvSpPr/>
          <p:nvPr/>
        </p:nvSpPr>
        <p:spPr>
          <a:xfrm>
            <a:off x="4495800" y="4000500"/>
            <a:ext cx="3175000" cy="9525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12-669">
            <a:extLst>
              <a:ext uri="{FF2B5EF4-FFF2-40B4-BE49-F238E27FC236}">
                <a16:creationId xmlns:a16="http://schemas.microsoft.com/office/drawing/2014/main" id="{E2735D57-35C4-4DF9-9A38-859C8D967E52}"/>
              </a:ext>
            </a:extLst>
          </p:cNvPr>
          <p:cNvSpPr txBox="1"/>
          <p:nvPr/>
        </p:nvSpPr>
        <p:spPr bwMode="auto">
          <a:xfrm>
            <a:off x="4597400" y="4025528"/>
            <a:ext cx="2971800" cy="405239"/>
          </a:xfrm>
          <a:prstGeom prst="rect">
            <a:avLst/>
          </a:prstGeom>
        </p:spPr>
        <p:txBody>
          <a:bodyPr vert="horz" wrap="square" lIns="38100" tIns="25400" rIns="38100" bIns="25400" rtlCol="0" anchor="ctr">
            <a:spAutoFit/>
          </a:bodyPr>
          <a:lstStyle/>
          <a:p>
            <a:pPr algn="ctr"/>
            <a:r>
              <a:rPr lang="en-US" sz="2300">
                <a:solidFill>
                  <a:srgbClr val="FFFFFF"/>
                </a:solidFill>
                <a:latin typeface="Montserrat"/>
              </a:rPr>
              <a:t>DFS</a:t>
            </a:r>
            <a:endParaRPr lang="ru-RU" sz="2300">
              <a:solidFill>
                <a:srgbClr val="FFFFFF"/>
              </a:solidFill>
              <a:latin typeface="Montserrat"/>
            </a:endParaRPr>
          </a:p>
        </p:txBody>
      </p:sp>
      <p:sp>
        <p:nvSpPr>
          <p:cNvPr id="17" name="text-13-670">
            <a:extLst>
              <a:ext uri="{FF2B5EF4-FFF2-40B4-BE49-F238E27FC236}">
                <a16:creationId xmlns:a16="http://schemas.microsoft.com/office/drawing/2014/main" id="{A26A2C5C-E778-40D6-A41D-C20A7A60B2AC}"/>
              </a:ext>
            </a:extLst>
          </p:cNvPr>
          <p:cNvSpPr txBox="1"/>
          <p:nvPr/>
        </p:nvSpPr>
        <p:spPr bwMode="auto">
          <a:xfrm>
            <a:off x="7594600" y="4048239"/>
            <a:ext cx="457200" cy="436017"/>
          </a:xfrm>
          <a:prstGeom prst="rect">
            <a:avLst/>
          </a:prstGeom>
        </p:spPr>
        <p:txBody>
          <a:bodyPr vert="horz" wrap="square" lIns="38100" tIns="25400" rIns="38100" bIns="25400" rtlCol="0" anchor="ctr">
            <a:spAutoFit/>
          </a:bodyPr>
          <a:lstStyle/>
          <a:p>
            <a:pPr algn="ctr"/>
            <a:r>
              <a:rPr lang="ru-RU" sz="2500">
                <a:solidFill>
                  <a:srgbClr val="352379"/>
                </a:solidFill>
                <a:latin typeface="Montserrat"/>
              </a:rPr>
              <a:t>→</a:t>
            </a:r>
          </a:p>
        </p:txBody>
      </p:sp>
      <p:sp>
        <p:nvSpPr>
          <p:cNvPr id="18" name="box-14-671">
            <a:extLst>
              <a:ext uri="{FF2B5EF4-FFF2-40B4-BE49-F238E27FC236}">
                <a16:creationId xmlns:a16="http://schemas.microsoft.com/office/drawing/2014/main" id="{E40A179D-C83C-4C7D-BED7-7D58E60A4786}"/>
              </a:ext>
            </a:extLst>
          </p:cNvPr>
          <p:cNvSpPr/>
          <p:nvPr/>
        </p:nvSpPr>
        <p:spPr>
          <a:xfrm>
            <a:off x="7975600" y="4000500"/>
            <a:ext cx="3175000" cy="9525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15-672">
            <a:extLst>
              <a:ext uri="{FF2B5EF4-FFF2-40B4-BE49-F238E27FC236}">
                <a16:creationId xmlns:a16="http://schemas.microsoft.com/office/drawing/2014/main" id="{9B34AA2C-262A-461E-A3CB-C08C5B4EB455}"/>
              </a:ext>
            </a:extLst>
          </p:cNvPr>
          <p:cNvSpPr txBox="1"/>
          <p:nvPr/>
        </p:nvSpPr>
        <p:spPr bwMode="auto">
          <a:xfrm>
            <a:off x="8077200" y="4025528"/>
            <a:ext cx="2971800" cy="405239"/>
          </a:xfrm>
          <a:prstGeom prst="rect">
            <a:avLst/>
          </a:prstGeom>
        </p:spPr>
        <p:txBody>
          <a:bodyPr vert="horz" wrap="square" lIns="38100" tIns="25400" rIns="38100" bIns="25400" rtlCol="0" anchor="ctr">
            <a:spAutoFit/>
          </a:bodyPr>
          <a:lstStyle/>
          <a:p>
            <a:pPr algn="ctr"/>
            <a:r>
              <a:rPr lang="en-US" sz="2300">
                <a:solidFill>
                  <a:srgbClr val="FFFFFF"/>
                </a:solidFill>
                <a:latin typeface="Montserrat"/>
              </a:rPr>
              <a:t>SCC</a:t>
            </a:r>
            <a:endParaRPr lang="ru-RU" sz="2300">
              <a:solidFill>
                <a:srgbClr val="FFFFFF"/>
              </a:solidFill>
              <a:latin typeface="Montserrat"/>
            </a:endParaRPr>
          </a:p>
        </p:txBody>
      </p:sp>
      <p:sp>
        <p:nvSpPr>
          <p:cNvPr id="20" name="text-16-673">
            <a:extLst>
              <a:ext uri="{FF2B5EF4-FFF2-40B4-BE49-F238E27FC236}">
                <a16:creationId xmlns:a16="http://schemas.microsoft.com/office/drawing/2014/main" id="{2D0DBDAC-A3CB-4360-911F-0921239AEB3B}"/>
              </a:ext>
            </a:extLst>
          </p:cNvPr>
          <p:cNvSpPr txBox="1"/>
          <p:nvPr/>
        </p:nvSpPr>
        <p:spPr bwMode="auto">
          <a:xfrm>
            <a:off x="1206500" y="3248139"/>
            <a:ext cx="9842500" cy="436017"/>
          </a:xfrm>
          <a:prstGeom prst="rect">
            <a:avLst/>
          </a:prstGeom>
        </p:spPr>
        <p:txBody>
          <a:bodyPr vert="horz" wrap="square" lIns="38100" tIns="25400" rIns="38100" bIns="25400" rtlCol="0" anchor="ctr">
            <a:spAutoFit/>
          </a:bodyPr>
          <a:lstStyle/>
          <a:p>
            <a:r>
              <a:rPr lang="ru-RU" sz="2500" b="1">
                <a:solidFill>
                  <a:srgbClr val="352379"/>
                </a:solidFill>
                <a:latin typeface="Montserrat"/>
              </a:rPr>
              <a:t>Перевернуть рёбра и развернуть порядок выхода</a:t>
            </a:r>
          </a:p>
        </p:txBody>
      </p:sp>
      <p:sp>
        <p:nvSpPr>
          <p:cNvPr id="21" name="box-17-674">
            <a:extLst>
              <a:ext uri="{FF2B5EF4-FFF2-40B4-BE49-F238E27FC236}">
                <a16:creationId xmlns:a16="http://schemas.microsoft.com/office/drawing/2014/main" id="{43A01E54-0037-4778-9694-5EF59B7F73A8}"/>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18-675">
            <a:extLst>
              <a:ext uri="{FF2B5EF4-FFF2-40B4-BE49-F238E27FC236}">
                <a16:creationId xmlns:a16="http://schemas.microsoft.com/office/drawing/2014/main" id="{879EA817-F595-470A-9FDC-380B2B8724E1}"/>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Первый обход задаёт порядок. Второй выделяет компоненты.</a:t>
            </a:r>
          </a:p>
        </p:txBody>
      </p:sp>
      <p:sp>
        <p:nvSpPr>
          <p:cNvPr id="23" name="lecture-footer">
            <a:extLst>
              <a:ext uri="{FF2B5EF4-FFF2-40B4-BE49-F238E27FC236}">
                <a16:creationId xmlns:a16="http://schemas.microsoft.com/office/drawing/2014/main" id="{01E0F969-62F2-4D10-A929-A30A7FB7A7CE}"/>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4" name="slide-number">
            <a:extLst>
              <a:ext uri="{FF2B5EF4-FFF2-40B4-BE49-F238E27FC236}">
                <a16:creationId xmlns:a16="http://schemas.microsoft.com/office/drawing/2014/main" id="{CF56A60C-5569-491A-8E9C-1E1D93AA5B61}"/>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21</a:t>
            </a:r>
          </a:p>
        </p:txBody>
      </p:sp>
    </p:spTree>
    <p:extLst>
      <p:ext uri="{BB962C8B-B14F-4D97-AF65-F5344CB8AC3E}">
        <p14:creationId xmlns:p14="http://schemas.microsoft.com/office/powerpoint/2010/main" val="3723649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исходный граф</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Правило примера</a:t>
            </a:r>
          </a:p>
        </p:txBody>
      </p:sp>
      <p:sp>
        <p:nvSpPr>
          <p:cNvPr id="28" name="text-24-700">
            <a:extLst>
              <a:ext uri="{FF2B5EF4-FFF2-40B4-BE49-F238E27FC236}">
                <a16:creationId xmlns:a16="http://schemas.microsoft.com/office/drawing/2014/main" id="{9CFD8315-8D4C-4209-9842-53907060DBD1}"/>
              </a:ext>
            </a:extLst>
          </p:cNvPr>
          <p:cNvSpPr txBox="1"/>
          <p:nvPr/>
        </p:nvSpPr>
        <p:spPr bwMode="auto">
          <a:xfrm>
            <a:off x="8915400" y="2536319"/>
            <a:ext cx="2578100" cy="1990288"/>
          </a:xfrm>
          <a:prstGeom prst="rect">
            <a:avLst/>
          </a:prstGeom>
        </p:spPr>
        <p:txBody>
          <a:bodyPr vert="horz" wrap="square" lIns="38100" tIns="25400" rIns="38100" bIns="25400" rtlCol="0" anchor="ctr">
            <a:spAutoFit/>
          </a:bodyPr>
          <a:lstStyle/>
          <a:p>
            <a:r>
              <a:rPr lang="ru-RU" sz="2100">
                <a:solidFill>
                  <a:srgbClr val="352379"/>
                </a:solidFill>
                <a:latin typeface="Montserrat"/>
              </a:rPr>
              <a:t>Стартуем с 1</a:t>
            </a:r>
          </a:p>
          <a:p>
            <a:endParaRPr lang="ru-RU" sz="2100">
              <a:solidFill>
                <a:srgbClr val="352379"/>
              </a:solidFill>
              <a:latin typeface="Montserrat"/>
            </a:endParaRPr>
          </a:p>
          <a:p>
            <a:r>
              <a:rPr lang="ru-RU" sz="2100">
                <a:solidFill>
                  <a:srgbClr val="352379"/>
                </a:solidFill>
                <a:latin typeface="Montserrat"/>
              </a:rPr>
              <a:t>Соседи — по номеру</a:t>
            </a:r>
          </a:p>
          <a:p>
            <a:endParaRPr lang="ru-RU" sz="2100">
              <a:solidFill>
                <a:srgbClr val="352379"/>
              </a:solidFill>
              <a:latin typeface="Montserrat"/>
            </a:endParaRPr>
          </a:p>
          <a:p>
            <a:r>
              <a:rPr lang="ru-RU" sz="2100">
                <a:solidFill>
                  <a:srgbClr val="352379"/>
                </a:solidFill>
                <a:latin typeface="Montserrat"/>
              </a:rPr>
              <a:t>Все вершины</a:t>
            </a:r>
          </a:p>
          <a:p>
            <a:r>
              <a:rPr lang="ru-RU" sz="2100">
                <a:solidFill>
                  <a:srgbClr val="352379"/>
                </a:solidFill>
                <a:latin typeface="Montserrat"/>
              </a:rPr>
              <a:t>пока нейтральные</a:t>
            </a: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22</a:t>
            </a:r>
          </a:p>
        </p:txBody>
      </p:sp>
    </p:spTree>
    <p:extLst>
      <p:ext uri="{BB962C8B-B14F-4D97-AF65-F5344CB8AC3E}">
        <p14:creationId xmlns:p14="http://schemas.microsoft.com/office/powerpoint/2010/main" val="1178540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первый </a:t>
            </a:r>
            <a:r>
              <a:rPr lang="en-US">
                <a:latin typeface="Montserrat SemiBold"/>
              </a:rPr>
              <a:t>DFS </a:t>
            </a:r>
            <a:r>
              <a:rPr lang="ru-RU">
                <a:latin typeface="Montserrat SemiBold"/>
              </a:rPr>
              <a:t>начинается</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5E03E559-5D25-4810-8535-CD242BF6D678}"/>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4BEC1D36-C4EA-4CDA-A8BF-36CFF00DB218}"/>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A11E332A-E929-4C91-A9A3-76908E30285A}"/>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916E8733-E9BB-4543-963E-1CBECCB899E9}"/>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8ECDBA44-AA0D-411A-907B-D9D08E2C04B2}"/>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93F23FA4-7212-4464-8AC6-5359B6D32B70}"/>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908B58B6-5BE8-431F-851D-B75788B202EF}"/>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60816735-C52D-4D18-A979-B0D9E9386FD9}"/>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824B41E5-4F0C-408C-8740-91143D007D9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F3382F0D-7B4B-4AE3-8BDB-985630EFCE2E}"/>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43C7A658-9F02-448F-BBEE-101903799E4C}"/>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A709BAAB-8824-4DFE-9454-4873E9F89596}"/>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9B9FCB04-C394-432A-A989-F2449F5476EB}"/>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13DCDF85-88F5-4416-A945-D13C372672FF}"/>
              </a:ext>
            </a:extLst>
          </p:cNvPr>
          <p:cNvSpPr/>
          <p:nvPr/>
        </p:nvSpPr>
        <p:spPr>
          <a:xfrm>
            <a:off x="825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29B2D67C-372A-4F04-A9D7-F937527FC42E}"/>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0AF062AC-E059-4E88-9107-0686FCF8D49C}"/>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8F05A9EF-EC4C-46C2-BB8A-E38B4DB571B8}"/>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7414B7C4-5983-4B99-8C9E-2C144D0A0F70}"/>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79752C77-CE7F-475C-8FEF-EDCDCAF3F8AB}"/>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14A9CBDC-339A-4BF1-9905-6DA538152854}"/>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BC08764D-6B31-40E8-A514-0FFFACCA5EEB}"/>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722">
            <a:extLst>
              <a:ext uri="{FF2B5EF4-FFF2-40B4-BE49-F238E27FC236}">
                <a16:creationId xmlns:a16="http://schemas.microsoft.com/office/drawing/2014/main" id="{F6A0E1C0-EDD0-4784-901E-DEE3D5C7A468}"/>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723">
            <a:extLst>
              <a:ext uri="{FF2B5EF4-FFF2-40B4-BE49-F238E27FC236}">
                <a16:creationId xmlns:a16="http://schemas.microsoft.com/office/drawing/2014/main" id="{A20DEC35-7237-4F45-83AF-EB2B2B7CFCE6}"/>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724">
            <a:extLst>
              <a:ext uri="{FF2B5EF4-FFF2-40B4-BE49-F238E27FC236}">
                <a16:creationId xmlns:a16="http://schemas.microsoft.com/office/drawing/2014/main" id="{A066DC3F-1EC6-4F23-BB67-2DC253F969FE}"/>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Стек вызовов</a:t>
            </a:r>
          </a:p>
        </p:txBody>
      </p:sp>
      <p:sp>
        <p:nvSpPr>
          <p:cNvPr id="28" name="text-24-725">
            <a:extLst>
              <a:ext uri="{FF2B5EF4-FFF2-40B4-BE49-F238E27FC236}">
                <a16:creationId xmlns:a16="http://schemas.microsoft.com/office/drawing/2014/main" id="{1A51BA87-ECC0-46CB-9E3D-593359C693E0}"/>
              </a:ext>
            </a:extLst>
          </p:cNvPr>
          <p:cNvSpPr txBox="1"/>
          <p:nvPr/>
        </p:nvSpPr>
        <p:spPr bwMode="auto">
          <a:xfrm>
            <a:off x="8915400" y="2538884"/>
            <a:ext cx="2578100" cy="1113125"/>
          </a:xfrm>
          <a:prstGeom prst="rect">
            <a:avLst/>
          </a:prstGeom>
        </p:spPr>
        <p:txBody>
          <a:bodyPr vert="horz" wrap="square" lIns="38100" tIns="25400" rIns="38100" bIns="25400" rtlCol="0" anchor="ctr">
            <a:spAutoFit/>
          </a:bodyPr>
          <a:lstStyle/>
          <a:p>
            <a:r>
              <a:rPr lang="en-US" sz="2300">
                <a:solidFill>
                  <a:srgbClr val="352379"/>
                </a:solidFill>
                <a:latin typeface="Montserrat"/>
              </a:rPr>
              <a:t>[]</a:t>
            </a:r>
          </a:p>
          <a:p>
            <a:endParaRPr lang="en-US" sz="2300">
              <a:solidFill>
                <a:srgbClr val="352379"/>
              </a:solidFill>
              <a:latin typeface="Montserrat"/>
            </a:endParaRPr>
          </a:p>
          <a:p>
            <a:r>
              <a:rPr lang="en-US" sz="2300">
                <a:solidFill>
                  <a:srgbClr val="352379"/>
                </a:solidFill>
                <a:latin typeface="Montserrat"/>
              </a:rPr>
              <a:t>order = []</a:t>
            </a:r>
            <a:endParaRPr lang="ru-RU" sz="2300">
              <a:solidFill>
                <a:srgbClr val="352379"/>
              </a:solidFill>
              <a:latin typeface="Montserrat"/>
            </a:endParaRPr>
          </a:p>
        </p:txBody>
      </p:sp>
      <p:grpSp>
        <p:nvGrpSpPr>
          <p:cNvPr id="34" name="animation-stage-1">
            <a:extLst>
              <a:ext uri="{FF2B5EF4-FFF2-40B4-BE49-F238E27FC236}">
                <a16:creationId xmlns:a16="http://schemas.microsoft.com/office/drawing/2014/main" id="{062E0919-58F9-4957-8F7E-84766EB84B83}"/>
              </a:ext>
            </a:extLst>
          </p:cNvPr>
          <p:cNvGrpSpPr/>
          <p:nvPr/>
        </p:nvGrpSpPr>
        <p:grpSpPr>
          <a:xfrm>
            <a:off x="825500" y="1816100"/>
            <a:ext cx="10883900" cy="3657600"/>
            <a:chOff x="825500" y="1816100"/>
            <a:chExt cx="10883900" cy="3657600"/>
          </a:xfrm>
        </p:grpSpPr>
        <p:sp>
          <p:nvSpPr>
            <p:cNvPr id="29" name="active-node-1-726">
              <a:extLst>
                <a:ext uri="{FF2B5EF4-FFF2-40B4-BE49-F238E27FC236}">
                  <a16:creationId xmlns:a16="http://schemas.microsoft.com/office/drawing/2014/main" id="{85AB8120-0779-4FD3-A93C-7E122C61BD71}"/>
                </a:ext>
              </a:extLst>
            </p:cNvPr>
            <p:cNvSpPr/>
            <p:nvPr/>
          </p:nvSpPr>
          <p:spPr>
            <a:xfrm>
              <a:off x="8255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30" name="box-1-727">
              <a:extLst>
                <a:ext uri="{FF2B5EF4-FFF2-40B4-BE49-F238E27FC236}">
                  <a16:creationId xmlns:a16="http://schemas.microsoft.com/office/drawing/2014/main" id="{B4254430-1737-444D-848D-CEEA9BBE2622}"/>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box-2-728">
              <a:extLst>
                <a:ext uri="{FF2B5EF4-FFF2-40B4-BE49-F238E27FC236}">
                  <a16:creationId xmlns:a16="http://schemas.microsoft.com/office/drawing/2014/main" id="{81299EA7-AD59-4E13-9455-213F390529D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3-729">
              <a:extLst>
                <a:ext uri="{FF2B5EF4-FFF2-40B4-BE49-F238E27FC236}">
                  <a16:creationId xmlns:a16="http://schemas.microsoft.com/office/drawing/2014/main" id="{15EF8C06-E8EA-4B7F-9C9B-A570EA9E93AE}"/>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1</a:t>
              </a:r>
            </a:p>
          </p:txBody>
        </p:sp>
        <p:sp>
          <p:nvSpPr>
            <p:cNvPr id="33" name="text-4-730">
              <a:extLst>
                <a:ext uri="{FF2B5EF4-FFF2-40B4-BE49-F238E27FC236}">
                  <a16:creationId xmlns:a16="http://schemas.microsoft.com/office/drawing/2014/main" id="{51097F4C-1A8F-45B9-8C82-41973E9396DC}"/>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stack = [1]</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grpSp>
        <p:nvGrpSpPr>
          <p:cNvPr id="42" name="animation-stage-2">
            <a:extLst>
              <a:ext uri="{FF2B5EF4-FFF2-40B4-BE49-F238E27FC236}">
                <a16:creationId xmlns:a16="http://schemas.microsoft.com/office/drawing/2014/main" id="{AC0292F8-F7E6-4A2E-AE31-4C6BEF34093B}"/>
              </a:ext>
            </a:extLst>
          </p:cNvPr>
          <p:cNvGrpSpPr/>
          <p:nvPr/>
        </p:nvGrpSpPr>
        <p:grpSpPr>
          <a:xfrm>
            <a:off x="508000" y="1816100"/>
            <a:ext cx="11201400" cy="3657600"/>
            <a:chOff x="508000" y="1816100"/>
            <a:chExt cx="11201400" cy="3657600"/>
          </a:xfrm>
        </p:grpSpPr>
        <p:cxnSp>
          <p:nvCxnSpPr>
            <p:cNvPr id="35" name="active-edge-1-2-731">
              <a:extLst>
                <a:ext uri="{FF2B5EF4-FFF2-40B4-BE49-F238E27FC236}">
                  <a16:creationId xmlns:a16="http://schemas.microsoft.com/office/drawing/2014/main" id="{AEF31580-6180-4BF8-B6E9-0F90846B5980}"/>
                </a:ext>
              </a:extLst>
            </p:cNvPr>
            <p:cNvCxnSpPr/>
            <p:nvPr/>
          </p:nvCxnSpPr>
          <p:spPr>
            <a:xfrm flipH="1">
              <a:off x="876056" y="2662949"/>
              <a:ext cx="216388" cy="1341602"/>
            </a:xfrm>
            <a:prstGeom prst="straightConnector1">
              <a:avLst/>
            </a:prstGeom>
            <a:ln w="38100">
              <a:solidFill>
                <a:srgbClr val="8C64D8"/>
              </a:solidFill>
              <a:tailEnd type="arrow" w="med" len="med"/>
            </a:ln>
          </p:spPr>
          <p:style>
            <a:lnRef idx="1">
              <a:schemeClr val="accent1"/>
            </a:lnRef>
            <a:fillRef idx="0">
              <a:schemeClr val="accent1"/>
            </a:fillRef>
            <a:effectRef idx="0">
              <a:schemeClr val="accent1"/>
            </a:effectRef>
            <a:fontRef idx="minor">
              <a:schemeClr val="tx1"/>
            </a:fontRef>
          </p:style>
        </p:cxnSp>
        <p:sp>
          <p:nvSpPr>
            <p:cNvPr id="36" name="active-node-1-732">
              <a:extLst>
                <a:ext uri="{FF2B5EF4-FFF2-40B4-BE49-F238E27FC236}">
                  <a16:creationId xmlns:a16="http://schemas.microsoft.com/office/drawing/2014/main" id="{6F42F914-5575-485F-8283-B3388D952CC1}"/>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7" name="active-node-2-733">
              <a:extLst>
                <a:ext uri="{FF2B5EF4-FFF2-40B4-BE49-F238E27FC236}">
                  <a16:creationId xmlns:a16="http://schemas.microsoft.com/office/drawing/2014/main" id="{6EE5867B-5C1C-4A0B-8694-981F17EC5CD3}"/>
                </a:ext>
              </a:extLst>
            </p:cNvPr>
            <p:cNvSpPr/>
            <p:nvPr/>
          </p:nvSpPr>
          <p:spPr>
            <a:xfrm>
              <a:off x="5080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2</a:t>
              </a:r>
            </a:p>
          </p:txBody>
        </p:sp>
        <p:sp>
          <p:nvSpPr>
            <p:cNvPr id="38" name="box-3-734">
              <a:extLst>
                <a:ext uri="{FF2B5EF4-FFF2-40B4-BE49-F238E27FC236}">
                  <a16:creationId xmlns:a16="http://schemas.microsoft.com/office/drawing/2014/main" id="{74498718-DD66-494C-B540-CADE4F470922}"/>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box-4-735">
              <a:extLst>
                <a:ext uri="{FF2B5EF4-FFF2-40B4-BE49-F238E27FC236}">
                  <a16:creationId xmlns:a16="http://schemas.microsoft.com/office/drawing/2014/main" id="{AB0EF823-AD85-4A4B-ACAF-BC6CE567B581}"/>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5-736">
              <a:extLst>
                <a:ext uri="{FF2B5EF4-FFF2-40B4-BE49-F238E27FC236}">
                  <a16:creationId xmlns:a16="http://schemas.microsoft.com/office/drawing/2014/main" id="{32B27E72-A6D5-46E2-AFF9-D157D9271848}"/>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2</a:t>
              </a:r>
            </a:p>
          </p:txBody>
        </p:sp>
        <p:sp>
          <p:nvSpPr>
            <p:cNvPr id="41" name="text-6-737">
              <a:extLst>
                <a:ext uri="{FF2B5EF4-FFF2-40B4-BE49-F238E27FC236}">
                  <a16:creationId xmlns:a16="http://schemas.microsoft.com/office/drawing/2014/main" id="{D1E47890-C3EA-41E3-8879-96E620E64920}"/>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stack = [1, 2]</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sp>
        <p:nvSpPr>
          <p:cNvPr id="43" name="lecture-footer">
            <a:extLst>
              <a:ext uri="{FF2B5EF4-FFF2-40B4-BE49-F238E27FC236}">
                <a16:creationId xmlns:a16="http://schemas.microsoft.com/office/drawing/2014/main" id="{6F00FDAC-BC41-47E6-A0C7-0B2CDA8C053D}"/>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44" name="slide-number">
            <a:extLst>
              <a:ext uri="{FF2B5EF4-FFF2-40B4-BE49-F238E27FC236}">
                <a16:creationId xmlns:a16="http://schemas.microsoft.com/office/drawing/2014/main" id="{7029F54C-CA91-4B8A-BBF8-F56DAFBEDA01}"/>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23</a:t>
            </a:r>
          </a:p>
        </p:txBody>
      </p:sp>
    </p:spTree>
    <p:extLst>
      <p:ext uri="{BB962C8B-B14F-4D97-AF65-F5344CB8AC3E}">
        <p14:creationId xmlns:p14="http://schemas.microsoft.com/office/powerpoint/2010/main" val="389285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25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250"/>
                                        <p:tgtEl>
                                          <p:spTgt spid="42"/>
                                        </p:tgtEl>
                                      </p:cBhvr>
                                    </p:animEffect>
                                  </p:childTnLst>
                                </p:cTn>
                              </p:par>
                              <p:par>
                                <p:cTn id="13" presetID="10" presetClass="exit" presetSubtype="0" fill="hold" nodeType="withEffect">
                                  <p:stCondLst>
                                    <p:cond delay="0"/>
                                  </p:stCondLst>
                                  <p:childTnLst>
                                    <p:animEffect transition="out" filter="fade">
                                      <p:cBhvr>
                                        <p:cTn id="14" dur="150"/>
                                        <p:tgtEl>
                                          <p:spTgt spid="34"/>
                                        </p:tgtEl>
                                      </p:cBhvr>
                                    </p:animEffect>
                                    <p:set>
                                      <p:cBhvr>
                                        <p:cTn id="15" dur="1" fill="hold">
                                          <p:stCondLst>
                                            <p:cond delay="14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dirty="0" err="1">
                <a:latin typeface="Montserrat SemiBold"/>
              </a:rPr>
              <a:t>Косарайю</a:t>
            </a:r>
            <a:r>
              <a:rPr lang="ru-RU" dirty="0">
                <a:latin typeface="Montserrat SemiBold"/>
              </a:rPr>
              <a:t>: первый </a:t>
            </a:r>
            <a:r>
              <a:rPr lang="en-US" dirty="0">
                <a:latin typeface="Montserrat SemiBold"/>
              </a:rPr>
              <a:t>DFS </a:t>
            </a:r>
            <a:r>
              <a:rPr lang="ru-RU" dirty="0">
                <a:latin typeface="Montserrat SemiBold"/>
              </a:rPr>
              <a:t>продолжается</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1113C13F-5521-4DD0-B7A0-B4748E971D3B}"/>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3C93571C-462C-417B-A0E4-C6D079ED55A5}"/>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78081FA1-C7FA-49B1-9168-569E37186164}"/>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05BE98AC-8DF1-424A-AAAD-D2A01B445488}"/>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B81259B2-9FA4-40E4-8C45-FC5EC25BCBE5}"/>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9D02CFDE-6516-4DB6-A530-A7A90064DC52}"/>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56D412AB-5475-4266-BEE8-28B7E6D074A1}"/>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B67992A6-729E-41F5-8D56-1D3CE8924C1A}"/>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C9A55AED-535D-4433-93EC-920821B534CB}"/>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6F2E0A4F-A466-4D0E-A854-A6EF4AF27D0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19524455-DDCD-471F-AAD3-4442DF55B096}"/>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B9D8280F-127A-457D-B64A-47E10FEC90F7}"/>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A3B2A9D8-B636-49DC-AB97-B2F0FB72D86E}"/>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1FD7FE99-3DFB-48ED-95D8-3EA2FA9966D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63312021-AB96-46E6-B11F-98618FC01628}"/>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F8D0C2C1-47CE-4E23-BA14-3EB6CFD3D621}"/>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89335806-A44B-473F-8114-A1AFA67528F1}"/>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D4B72E6D-B853-47C3-8C94-24E27502D952}"/>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CCEC5092-AADE-45EE-9EAD-AC83451695D8}"/>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62BDE1AA-F54B-43A5-98C7-748A193E34FC}"/>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B7A2D73F-4C55-4076-948D-4802537CEBD2}"/>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759">
            <a:extLst>
              <a:ext uri="{FF2B5EF4-FFF2-40B4-BE49-F238E27FC236}">
                <a16:creationId xmlns:a16="http://schemas.microsoft.com/office/drawing/2014/main" id="{5F13DAD8-BFA1-43EE-A996-C91990B759BA}"/>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760">
            <a:extLst>
              <a:ext uri="{FF2B5EF4-FFF2-40B4-BE49-F238E27FC236}">
                <a16:creationId xmlns:a16="http://schemas.microsoft.com/office/drawing/2014/main" id="{41E0934F-8E3B-4927-8B11-87292E4A3A2E}"/>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761">
            <a:extLst>
              <a:ext uri="{FF2B5EF4-FFF2-40B4-BE49-F238E27FC236}">
                <a16:creationId xmlns:a16="http://schemas.microsoft.com/office/drawing/2014/main" id="{9192F471-A96A-4530-85D1-752316D7BCC8}"/>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Первый проход</a:t>
            </a:r>
          </a:p>
        </p:txBody>
      </p:sp>
      <p:sp>
        <p:nvSpPr>
          <p:cNvPr id="28" name="text-24-762">
            <a:extLst>
              <a:ext uri="{FF2B5EF4-FFF2-40B4-BE49-F238E27FC236}">
                <a16:creationId xmlns:a16="http://schemas.microsoft.com/office/drawing/2014/main" id="{38315236-3AE4-4504-A60B-BD112135E536}"/>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stack = [1, 2]</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sp>
        <p:nvSpPr>
          <p:cNvPr id="29" name="box-25-763">
            <a:extLst>
              <a:ext uri="{FF2B5EF4-FFF2-40B4-BE49-F238E27FC236}">
                <a16:creationId xmlns:a16="http://schemas.microsoft.com/office/drawing/2014/main" id="{A113EEC3-5C90-4C57-BD10-18FAD36FDEAA}"/>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26-764">
            <a:extLst>
              <a:ext uri="{FF2B5EF4-FFF2-40B4-BE49-F238E27FC236}">
                <a16:creationId xmlns:a16="http://schemas.microsoft.com/office/drawing/2014/main" id="{F05612DE-41B5-4289-BF2A-43981357D976}"/>
              </a:ext>
            </a:extLst>
          </p:cNvPr>
          <p:cNvSpPr txBox="1"/>
          <p:nvPr/>
        </p:nvSpPr>
        <p:spPr bwMode="auto">
          <a:xfrm>
            <a:off x="660400" y="5953611"/>
            <a:ext cx="10871200" cy="359073"/>
          </a:xfrm>
          <a:prstGeom prst="rect">
            <a:avLst/>
          </a:prstGeom>
        </p:spPr>
        <p:txBody>
          <a:bodyPr vert="horz" wrap="square" lIns="38100" tIns="25400" rIns="38100" bIns="25400" rtlCol="0" anchor="ctr">
            <a:spAutoFit/>
          </a:bodyPr>
          <a:lstStyle/>
          <a:p>
            <a:r>
              <a:rPr lang="ru-RU" sz="2000">
                <a:solidFill>
                  <a:srgbClr val="FFFFFF"/>
                </a:solidFill>
                <a:latin typeface="Montserrat"/>
              </a:rPr>
              <a:t>Посетить вершину и закончить её обработку — разные события.</a:t>
            </a:r>
          </a:p>
        </p:txBody>
      </p:sp>
      <p:grpSp>
        <p:nvGrpSpPr>
          <p:cNvPr id="38" name="animation-stage-1">
            <a:extLst>
              <a:ext uri="{FF2B5EF4-FFF2-40B4-BE49-F238E27FC236}">
                <a16:creationId xmlns:a16="http://schemas.microsoft.com/office/drawing/2014/main" id="{59997836-CE65-4943-A3B9-323279C6F821}"/>
              </a:ext>
            </a:extLst>
          </p:cNvPr>
          <p:cNvGrpSpPr/>
          <p:nvPr/>
        </p:nvGrpSpPr>
        <p:grpSpPr>
          <a:xfrm>
            <a:off x="508000" y="1816100"/>
            <a:ext cx="11201400" cy="3657600"/>
            <a:chOff x="508000" y="1816100"/>
            <a:chExt cx="11201400" cy="3657600"/>
          </a:xfrm>
        </p:grpSpPr>
        <p:sp>
          <p:nvSpPr>
            <p:cNvPr id="31" name="active-node-1-765">
              <a:extLst>
                <a:ext uri="{FF2B5EF4-FFF2-40B4-BE49-F238E27FC236}">
                  <a16:creationId xmlns:a16="http://schemas.microsoft.com/office/drawing/2014/main" id="{03C0369D-DA7F-4CBD-9197-54B2E094BB1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2" name="active-node-2-766">
              <a:extLst>
                <a:ext uri="{FF2B5EF4-FFF2-40B4-BE49-F238E27FC236}">
                  <a16:creationId xmlns:a16="http://schemas.microsoft.com/office/drawing/2014/main" id="{8726A1F5-BABE-4DB4-A4BD-A56C9FC3703E}"/>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3" name="active-node-3-767">
              <a:extLst>
                <a:ext uri="{FF2B5EF4-FFF2-40B4-BE49-F238E27FC236}">
                  <a16:creationId xmlns:a16="http://schemas.microsoft.com/office/drawing/2014/main" id="{6E9EF7BA-CA09-4454-9E9D-10D6BD0DBA0E}"/>
                </a:ext>
              </a:extLst>
            </p:cNvPr>
            <p:cNvSpPr/>
            <p:nvPr/>
          </p:nvSpPr>
          <p:spPr>
            <a:xfrm>
              <a:off x="22860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3</a:t>
              </a:r>
            </a:p>
          </p:txBody>
        </p:sp>
        <p:sp>
          <p:nvSpPr>
            <p:cNvPr id="34" name="box-3-768">
              <a:extLst>
                <a:ext uri="{FF2B5EF4-FFF2-40B4-BE49-F238E27FC236}">
                  <a16:creationId xmlns:a16="http://schemas.microsoft.com/office/drawing/2014/main" id="{7D6C29D6-FE92-48A7-B29F-20C85C20A1BC}"/>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box-4-769">
              <a:extLst>
                <a:ext uri="{FF2B5EF4-FFF2-40B4-BE49-F238E27FC236}">
                  <a16:creationId xmlns:a16="http://schemas.microsoft.com/office/drawing/2014/main" id="{C2823005-BE47-4F01-BF9C-7540865DBC44}"/>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text-5-770">
              <a:extLst>
                <a:ext uri="{FF2B5EF4-FFF2-40B4-BE49-F238E27FC236}">
                  <a16:creationId xmlns:a16="http://schemas.microsoft.com/office/drawing/2014/main" id="{D348B48B-3CDE-4F17-94A5-6471EAE1338C}"/>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3</a:t>
              </a:r>
            </a:p>
          </p:txBody>
        </p:sp>
        <p:sp>
          <p:nvSpPr>
            <p:cNvPr id="37" name="text-6-771">
              <a:extLst>
                <a:ext uri="{FF2B5EF4-FFF2-40B4-BE49-F238E27FC236}">
                  <a16:creationId xmlns:a16="http://schemas.microsoft.com/office/drawing/2014/main" id="{EEF1179E-ED02-4FEE-9ECE-23B21044F192}"/>
                </a:ext>
              </a:extLst>
            </p:cNvPr>
            <p:cNvSpPr txBox="1"/>
            <p:nvPr/>
          </p:nvSpPr>
          <p:spPr bwMode="auto">
            <a:xfrm>
              <a:off x="8915400" y="2582486"/>
              <a:ext cx="2578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stack =</a:t>
              </a:r>
            </a:p>
            <a:p>
              <a:r>
                <a:rPr lang="en-US" sz="2100">
                  <a:solidFill>
                    <a:srgbClr val="352379"/>
                  </a:solidFill>
                  <a:latin typeface="Montserrat"/>
                </a:rPr>
                <a:t>[1, 2, 3]</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grpSp>
        <p:nvGrpSpPr>
          <p:cNvPr id="47" name="animation-stage-2">
            <a:extLst>
              <a:ext uri="{FF2B5EF4-FFF2-40B4-BE49-F238E27FC236}">
                <a16:creationId xmlns:a16="http://schemas.microsoft.com/office/drawing/2014/main" id="{1C1B95EC-61ED-40BF-AF35-C3C573D5F06C}"/>
              </a:ext>
            </a:extLst>
          </p:cNvPr>
          <p:cNvGrpSpPr/>
          <p:nvPr/>
        </p:nvGrpSpPr>
        <p:grpSpPr>
          <a:xfrm>
            <a:off x="508000" y="1816100"/>
            <a:ext cx="11201400" cy="3657600"/>
            <a:chOff x="508000" y="1816100"/>
            <a:chExt cx="11201400" cy="3657600"/>
          </a:xfrm>
        </p:grpSpPr>
        <p:sp>
          <p:nvSpPr>
            <p:cNvPr id="39" name="active-node-1-772">
              <a:extLst>
                <a:ext uri="{FF2B5EF4-FFF2-40B4-BE49-F238E27FC236}">
                  <a16:creationId xmlns:a16="http://schemas.microsoft.com/office/drawing/2014/main" id="{2DD32823-AE3C-47BC-9065-77EDEC16A17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40" name="active-node-2-773">
              <a:extLst>
                <a:ext uri="{FF2B5EF4-FFF2-40B4-BE49-F238E27FC236}">
                  <a16:creationId xmlns:a16="http://schemas.microsoft.com/office/drawing/2014/main" id="{4AD2B8B6-9EC3-485D-A719-66A051579EA1}"/>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1" name="active-node-3-774">
              <a:extLst>
                <a:ext uri="{FF2B5EF4-FFF2-40B4-BE49-F238E27FC236}">
                  <a16:creationId xmlns:a16="http://schemas.microsoft.com/office/drawing/2014/main" id="{09E1A69D-4C66-43C5-940E-51140412356C}"/>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2" name="active-node-4-775">
              <a:extLst>
                <a:ext uri="{FF2B5EF4-FFF2-40B4-BE49-F238E27FC236}">
                  <a16:creationId xmlns:a16="http://schemas.microsoft.com/office/drawing/2014/main" id="{0D769244-44E5-4411-9CDE-BB1C57757F45}"/>
                </a:ext>
              </a:extLst>
            </p:cNvPr>
            <p:cNvSpPr/>
            <p:nvPr/>
          </p:nvSpPr>
          <p:spPr>
            <a:xfrm>
              <a:off x="36195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43" name="box-4-776">
              <a:extLst>
                <a:ext uri="{FF2B5EF4-FFF2-40B4-BE49-F238E27FC236}">
                  <a16:creationId xmlns:a16="http://schemas.microsoft.com/office/drawing/2014/main" id="{02D51CA9-108C-46EC-BC8C-E9EEFA3C3C18}"/>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box-5-777">
              <a:extLst>
                <a:ext uri="{FF2B5EF4-FFF2-40B4-BE49-F238E27FC236}">
                  <a16:creationId xmlns:a16="http://schemas.microsoft.com/office/drawing/2014/main" id="{4F12B2D8-9101-481A-A4D7-F00BCFC5D824}"/>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text-6-778">
              <a:extLst>
                <a:ext uri="{FF2B5EF4-FFF2-40B4-BE49-F238E27FC236}">
                  <a16:creationId xmlns:a16="http://schemas.microsoft.com/office/drawing/2014/main" id="{8FE1A484-9E37-47A0-BFF6-9CB1D849BFAE}"/>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4</a:t>
              </a:r>
            </a:p>
          </p:txBody>
        </p:sp>
        <p:sp>
          <p:nvSpPr>
            <p:cNvPr id="46" name="text-7-779">
              <a:extLst>
                <a:ext uri="{FF2B5EF4-FFF2-40B4-BE49-F238E27FC236}">
                  <a16:creationId xmlns:a16="http://schemas.microsoft.com/office/drawing/2014/main" id="{945CC5DD-FCCD-4C07-B6C9-CC3694A94277}"/>
                </a:ext>
              </a:extLst>
            </p:cNvPr>
            <p:cNvSpPr txBox="1"/>
            <p:nvPr/>
          </p:nvSpPr>
          <p:spPr bwMode="auto">
            <a:xfrm>
              <a:off x="8915400" y="2582486"/>
              <a:ext cx="2578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stack =</a:t>
              </a:r>
            </a:p>
            <a:p>
              <a:r>
                <a:rPr lang="en-US" sz="2100">
                  <a:solidFill>
                    <a:srgbClr val="352379"/>
                  </a:solidFill>
                  <a:latin typeface="Montserrat"/>
                </a:rPr>
                <a:t>[1, 2, 3, 4]</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grpSp>
        <p:nvGrpSpPr>
          <p:cNvPr id="57" name="animation-stage-3">
            <a:extLst>
              <a:ext uri="{FF2B5EF4-FFF2-40B4-BE49-F238E27FC236}">
                <a16:creationId xmlns:a16="http://schemas.microsoft.com/office/drawing/2014/main" id="{E100600D-2A2F-4963-AEE6-C47DEBF8D7FE}"/>
              </a:ext>
            </a:extLst>
          </p:cNvPr>
          <p:cNvGrpSpPr/>
          <p:nvPr/>
        </p:nvGrpSpPr>
        <p:grpSpPr>
          <a:xfrm>
            <a:off x="508000" y="1816100"/>
            <a:ext cx="11201400" cy="3657600"/>
            <a:chOff x="508000" y="1816100"/>
            <a:chExt cx="11201400" cy="3657600"/>
          </a:xfrm>
        </p:grpSpPr>
        <p:sp>
          <p:nvSpPr>
            <p:cNvPr id="48" name="active-node-1-780">
              <a:extLst>
                <a:ext uri="{FF2B5EF4-FFF2-40B4-BE49-F238E27FC236}">
                  <a16:creationId xmlns:a16="http://schemas.microsoft.com/office/drawing/2014/main" id="{C9F6C065-2F45-4EBF-A039-8081C9818A00}"/>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49" name="active-node-2-781">
              <a:extLst>
                <a:ext uri="{FF2B5EF4-FFF2-40B4-BE49-F238E27FC236}">
                  <a16:creationId xmlns:a16="http://schemas.microsoft.com/office/drawing/2014/main" id="{43EEB04C-AF4E-4F91-94F7-A333345B17EC}"/>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50" name="active-node-3-782">
              <a:extLst>
                <a:ext uri="{FF2B5EF4-FFF2-40B4-BE49-F238E27FC236}">
                  <a16:creationId xmlns:a16="http://schemas.microsoft.com/office/drawing/2014/main" id="{5F68CE68-D5A2-47E1-9B44-F6050A7111EF}"/>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51" name="active-node-4-783">
              <a:extLst>
                <a:ext uri="{FF2B5EF4-FFF2-40B4-BE49-F238E27FC236}">
                  <a16:creationId xmlns:a16="http://schemas.microsoft.com/office/drawing/2014/main" id="{AE82E347-E6DF-4DA6-B872-004A26F1EBAA}"/>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52" name="active-node-5-784">
              <a:extLst>
                <a:ext uri="{FF2B5EF4-FFF2-40B4-BE49-F238E27FC236}">
                  <a16:creationId xmlns:a16="http://schemas.microsoft.com/office/drawing/2014/main" id="{5C091E6F-227D-4BF3-8DFE-B65AFC9E9F99}"/>
                </a:ext>
              </a:extLst>
            </p:cNvPr>
            <p:cNvSpPr/>
            <p:nvPr/>
          </p:nvSpPr>
          <p:spPr>
            <a:xfrm>
              <a:off x="463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53" name="box-5-785">
              <a:extLst>
                <a:ext uri="{FF2B5EF4-FFF2-40B4-BE49-F238E27FC236}">
                  <a16:creationId xmlns:a16="http://schemas.microsoft.com/office/drawing/2014/main" id="{46D58B1C-A050-4167-80DC-C00A4B816E1A}"/>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box-6-786">
              <a:extLst>
                <a:ext uri="{FF2B5EF4-FFF2-40B4-BE49-F238E27FC236}">
                  <a16:creationId xmlns:a16="http://schemas.microsoft.com/office/drawing/2014/main" id="{BACD4B47-9CD5-4FF4-B982-2841225D7B82}"/>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7-787">
              <a:extLst>
                <a:ext uri="{FF2B5EF4-FFF2-40B4-BE49-F238E27FC236}">
                  <a16:creationId xmlns:a16="http://schemas.microsoft.com/office/drawing/2014/main" id="{7DDB07E0-081D-4BAE-B4BB-14D7E36C3B5F}"/>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5</a:t>
              </a:r>
            </a:p>
          </p:txBody>
        </p:sp>
        <p:sp>
          <p:nvSpPr>
            <p:cNvPr id="56" name="text-8-788">
              <a:extLst>
                <a:ext uri="{FF2B5EF4-FFF2-40B4-BE49-F238E27FC236}">
                  <a16:creationId xmlns:a16="http://schemas.microsoft.com/office/drawing/2014/main" id="{327F652E-255A-42DE-9EA4-8137EC895175}"/>
                </a:ext>
              </a:extLst>
            </p:cNvPr>
            <p:cNvSpPr txBox="1"/>
            <p:nvPr/>
          </p:nvSpPr>
          <p:spPr bwMode="auto">
            <a:xfrm>
              <a:off x="8915400" y="2582486"/>
              <a:ext cx="2578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stack =</a:t>
              </a:r>
            </a:p>
            <a:p>
              <a:r>
                <a:rPr lang="en-US" sz="2100">
                  <a:solidFill>
                    <a:srgbClr val="352379"/>
                  </a:solidFill>
                  <a:latin typeface="Montserrat"/>
                </a:rPr>
                <a:t>[1, 2, 3, 4, 5]</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grpSp>
        <p:nvGrpSpPr>
          <p:cNvPr id="68" name="animation-stage-4">
            <a:extLst>
              <a:ext uri="{FF2B5EF4-FFF2-40B4-BE49-F238E27FC236}">
                <a16:creationId xmlns:a16="http://schemas.microsoft.com/office/drawing/2014/main" id="{E9F4D92E-69CE-4FFB-BD29-15C7A13BEB64}"/>
              </a:ext>
            </a:extLst>
          </p:cNvPr>
          <p:cNvGrpSpPr/>
          <p:nvPr/>
        </p:nvGrpSpPr>
        <p:grpSpPr>
          <a:xfrm>
            <a:off x="508000" y="1816100"/>
            <a:ext cx="11201400" cy="3657600"/>
            <a:chOff x="508000" y="1816100"/>
            <a:chExt cx="11201400" cy="3657600"/>
          </a:xfrm>
        </p:grpSpPr>
        <p:sp>
          <p:nvSpPr>
            <p:cNvPr id="58" name="active-node-1-789">
              <a:extLst>
                <a:ext uri="{FF2B5EF4-FFF2-40B4-BE49-F238E27FC236}">
                  <a16:creationId xmlns:a16="http://schemas.microsoft.com/office/drawing/2014/main" id="{9BA17A71-6D14-4924-AB5C-F229B1A32C19}"/>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59" name="active-node-2-790">
              <a:extLst>
                <a:ext uri="{FF2B5EF4-FFF2-40B4-BE49-F238E27FC236}">
                  <a16:creationId xmlns:a16="http://schemas.microsoft.com/office/drawing/2014/main" id="{43989B6A-A2E7-494B-AE4A-DDB88FA19F6E}"/>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0" name="active-node-3-791">
              <a:extLst>
                <a:ext uri="{FF2B5EF4-FFF2-40B4-BE49-F238E27FC236}">
                  <a16:creationId xmlns:a16="http://schemas.microsoft.com/office/drawing/2014/main" id="{09CDD5E6-6E02-4F27-B509-9618AE4BDE23}"/>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1" name="active-node-4-792">
              <a:extLst>
                <a:ext uri="{FF2B5EF4-FFF2-40B4-BE49-F238E27FC236}">
                  <a16:creationId xmlns:a16="http://schemas.microsoft.com/office/drawing/2014/main" id="{5204050C-4059-4956-9185-BE62BCDBBDD9}"/>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62" name="active-node-5-793">
              <a:extLst>
                <a:ext uri="{FF2B5EF4-FFF2-40B4-BE49-F238E27FC236}">
                  <a16:creationId xmlns:a16="http://schemas.microsoft.com/office/drawing/2014/main" id="{2CDBF64F-AD52-4514-8435-F1991A2DCD85}"/>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63" name="active-node-6-794">
              <a:extLst>
                <a:ext uri="{FF2B5EF4-FFF2-40B4-BE49-F238E27FC236}">
                  <a16:creationId xmlns:a16="http://schemas.microsoft.com/office/drawing/2014/main" id="{69699351-5CA7-45F4-B76D-098118C1BC8B}"/>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64" name="box-6-795">
              <a:extLst>
                <a:ext uri="{FF2B5EF4-FFF2-40B4-BE49-F238E27FC236}">
                  <a16:creationId xmlns:a16="http://schemas.microsoft.com/office/drawing/2014/main" id="{211F676E-E01E-4596-9485-695DFEFA3AC5}"/>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box-7-796">
              <a:extLst>
                <a:ext uri="{FF2B5EF4-FFF2-40B4-BE49-F238E27FC236}">
                  <a16:creationId xmlns:a16="http://schemas.microsoft.com/office/drawing/2014/main" id="{D7AEB380-7890-4C7C-9EB2-86C8CB12EBC6}"/>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text-8-797">
              <a:extLst>
                <a:ext uri="{FF2B5EF4-FFF2-40B4-BE49-F238E27FC236}">
                  <a16:creationId xmlns:a16="http://schemas.microsoft.com/office/drawing/2014/main" id="{CB50A435-41D6-48AE-911B-C361B3822A3E}"/>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6</a:t>
              </a:r>
            </a:p>
          </p:txBody>
        </p:sp>
        <p:sp>
          <p:nvSpPr>
            <p:cNvPr id="67" name="text-9-798">
              <a:extLst>
                <a:ext uri="{FF2B5EF4-FFF2-40B4-BE49-F238E27FC236}">
                  <a16:creationId xmlns:a16="http://schemas.microsoft.com/office/drawing/2014/main" id="{0695180C-B705-4DE7-BBA3-649407209AD6}"/>
                </a:ext>
              </a:extLst>
            </p:cNvPr>
            <p:cNvSpPr txBox="1"/>
            <p:nvPr/>
          </p:nvSpPr>
          <p:spPr bwMode="auto">
            <a:xfrm>
              <a:off x="8915400" y="2582486"/>
              <a:ext cx="2578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stack =</a:t>
              </a:r>
            </a:p>
            <a:p>
              <a:r>
                <a:rPr lang="en-US" sz="2100">
                  <a:solidFill>
                    <a:srgbClr val="352379"/>
                  </a:solidFill>
                  <a:latin typeface="Montserrat"/>
                </a:rPr>
                <a:t>[1, 2, 3, 4, 5, 6]</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grpSp>
        <p:nvGrpSpPr>
          <p:cNvPr id="80" name="animation-stage-5">
            <a:extLst>
              <a:ext uri="{FF2B5EF4-FFF2-40B4-BE49-F238E27FC236}">
                <a16:creationId xmlns:a16="http://schemas.microsoft.com/office/drawing/2014/main" id="{7B2A3341-C17C-4699-A64B-AC4E7323AB19}"/>
              </a:ext>
            </a:extLst>
          </p:cNvPr>
          <p:cNvGrpSpPr/>
          <p:nvPr/>
        </p:nvGrpSpPr>
        <p:grpSpPr>
          <a:xfrm>
            <a:off x="508000" y="1816100"/>
            <a:ext cx="11201400" cy="3657600"/>
            <a:chOff x="508000" y="1816100"/>
            <a:chExt cx="11201400" cy="3657600"/>
          </a:xfrm>
        </p:grpSpPr>
        <p:sp>
          <p:nvSpPr>
            <p:cNvPr id="69" name="active-node-1-799">
              <a:extLst>
                <a:ext uri="{FF2B5EF4-FFF2-40B4-BE49-F238E27FC236}">
                  <a16:creationId xmlns:a16="http://schemas.microsoft.com/office/drawing/2014/main" id="{636FBCE0-E1F5-44B6-8674-FCC2284D20A9}"/>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70" name="active-node-2-800">
              <a:extLst>
                <a:ext uri="{FF2B5EF4-FFF2-40B4-BE49-F238E27FC236}">
                  <a16:creationId xmlns:a16="http://schemas.microsoft.com/office/drawing/2014/main" id="{72C0163B-F191-4DA2-B48F-A49566AF6235}"/>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71" name="active-node-3-801">
              <a:extLst>
                <a:ext uri="{FF2B5EF4-FFF2-40B4-BE49-F238E27FC236}">
                  <a16:creationId xmlns:a16="http://schemas.microsoft.com/office/drawing/2014/main" id="{76C42D72-912D-43BE-9A19-C6A75E63D5FE}"/>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72" name="active-node-4-802">
              <a:extLst>
                <a:ext uri="{FF2B5EF4-FFF2-40B4-BE49-F238E27FC236}">
                  <a16:creationId xmlns:a16="http://schemas.microsoft.com/office/drawing/2014/main" id="{D094C88F-6FCD-4281-9B44-9A0A8E15FBDA}"/>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73" name="active-node-5-803">
              <a:extLst>
                <a:ext uri="{FF2B5EF4-FFF2-40B4-BE49-F238E27FC236}">
                  <a16:creationId xmlns:a16="http://schemas.microsoft.com/office/drawing/2014/main" id="{A5EAB37D-0E09-48E3-8D0D-2E23AF3DEDA5}"/>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74" name="active-node-6-804">
              <a:extLst>
                <a:ext uri="{FF2B5EF4-FFF2-40B4-BE49-F238E27FC236}">
                  <a16:creationId xmlns:a16="http://schemas.microsoft.com/office/drawing/2014/main" id="{3C055E7A-83B7-408E-A05E-141145ADE2C9}"/>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75" name="active-node-7-805">
              <a:extLst>
                <a:ext uri="{FF2B5EF4-FFF2-40B4-BE49-F238E27FC236}">
                  <a16:creationId xmlns:a16="http://schemas.microsoft.com/office/drawing/2014/main" id="{7F642C63-55F8-44F9-8FE1-A68B58AFEA54}"/>
                </a:ext>
              </a:extLst>
            </p:cNvPr>
            <p:cNvSpPr/>
            <p:nvPr/>
          </p:nvSpPr>
          <p:spPr>
            <a:xfrm>
              <a:off x="590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76" name="box-7-806">
              <a:extLst>
                <a:ext uri="{FF2B5EF4-FFF2-40B4-BE49-F238E27FC236}">
                  <a16:creationId xmlns:a16="http://schemas.microsoft.com/office/drawing/2014/main" id="{6BC8A9BD-D441-423C-99B9-DB39B8A6ED89}"/>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box-8-807">
              <a:extLst>
                <a:ext uri="{FF2B5EF4-FFF2-40B4-BE49-F238E27FC236}">
                  <a16:creationId xmlns:a16="http://schemas.microsoft.com/office/drawing/2014/main" id="{700FA54E-E38F-4DFA-9C76-F2BFC922892D}"/>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9-808">
              <a:extLst>
                <a:ext uri="{FF2B5EF4-FFF2-40B4-BE49-F238E27FC236}">
                  <a16:creationId xmlns:a16="http://schemas.microsoft.com/office/drawing/2014/main" id="{329045D4-5023-4022-93AC-DA514CBEEAE1}"/>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7</a:t>
              </a:r>
            </a:p>
          </p:txBody>
        </p:sp>
        <p:sp>
          <p:nvSpPr>
            <p:cNvPr id="79" name="text-10-809">
              <a:extLst>
                <a:ext uri="{FF2B5EF4-FFF2-40B4-BE49-F238E27FC236}">
                  <a16:creationId xmlns:a16="http://schemas.microsoft.com/office/drawing/2014/main" id="{09E4C114-53A4-403C-8FA3-AEC9F687CB5E}"/>
                </a:ext>
              </a:extLst>
            </p:cNvPr>
            <p:cNvSpPr txBox="1"/>
            <p:nvPr/>
          </p:nvSpPr>
          <p:spPr bwMode="auto">
            <a:xfrm>
              <a:off x="8915400" y="2582486"/>
              <a:ext cx="2578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stack =</a:t>
              </a:r>
            </a:p>
            <a:p>
              <a:r>
                <a:rPr lang="en-US" sz="2100">
                  <a:solidFill>
                    <a:srgbClr val="352379"/>
                  </a:solidFill>
                  <a:latin typeface="Montserrat"/>
                </a:rPr>
                <a:t>[1, 2, 3, 4, 5, 6, 7]</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grpSp>
        <p:nvGrpSpPr>
          <p:cNvPr id="93" name="animation-stage-6">
            <a:extLst>
              <a:ext uri="{FF2B5EF4-FFF2-40B4-BE49-F238E27FC236}">
                <a16:creationId xmlns:a16="http://schemas.microsoft.com/office/drawing/2014/main" id="{A2C8FA3A-140C-41BA-86EA-16908F56DB4B}"/>
              </a:ext>
            </a:extLst>
          </p:cNvPr>
          <p:cNvGrpSpPr/>
          <p:nvPr/>
        </p:nvGrpSpPr>
        <p:grpSpPr>
          <a:xfrm>
            <a:off x="508000" y="1816100"/>
            <a:ext cx="11201400" cy="3657600"/>
            <a:chOff x="508000" y="1816100"/>
            <a:chExt cx="11201400" cy="3657600"/>
          </a:xfrm>
        </p:grpSpPr>
        <p:sp>
          <p:nvSpPr>
            <p:cNvPr id="81" name="active-node-1-810">
              <a:extLst>
                <a:ext uri="{FF2B5EF4-FFF2-40B4-BE49-F238E27FC236}">
                  <a16:creationId xmlns:a16="http://schemas.microsoft.com/office/drawing/2014/main" id="{983F3FD8-C6E0-417B-94EC-E0667AF0EE85}"/>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82" name="active-node-2-811">
              <a:extLst>
                <a:ext uri="{FF2B5EF4-FFF2-40B4-BE49-F238E27FC236}">
                  <a16:creationId xmlns:a16="http://schemas.microsoft.com/office/drawing/2014/main" id="{6FFED768-3FC1-47E6-A830-51D05A75F3EC}"/>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83" name="active-node-3-812">
              <a:extLst>
                <a:ext uri="{FF2B5EF4-FFF2-40B4-BE49-F238E27FC236}">
                  <a16:creationId xmlns:a16="http://schemas.microsoft.com/office/drawing/2014/main" id="{2DB30C21-A2DC-4F7E-A0D0-380D6D3CD2B5}"/>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84" name="active-node-4-813">
              <a:extLst>
                <a:ext uri="{FF2B5EF4-FFF2-40B4-BE49-F238E27FC236}">
                  <a16:creationId xmlns:a16="http://schemas.microsoft.com/office/drawing/2014/main" id="{B8AA4EED-DA8E-4BCF-979D-2CF31B7429F3}"/>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85" name="active-node-5-814">
              <a:extLst>
                <a:ext uri="{FF2B5EF4-FFF2-40B4-BE49-F238E27FC236}">
                  <a16:creationId xmlns:a16="http://schemas.microsoft.com/office/drawing/2014/main" id="{E392FC47-37F4-4344-B88B-30B1260293EF}"/>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86" name="active-node-6-815">
              <a:extLst>
                <a:ext uri="{FF2B5EF4-FFF2-40B4-BE49-F238E27FC236}">
                  <a16:creationId xmlns:a16="http://schemas.microsoft.com/office/drawing/2014/main" id="{F1877E53-3181-4F6D-BA4C-D3A0BB97506C}"/>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87" name="active-node-7-816">
              <a:extLst>
                <a:ext uri="{FF2B5EF4-FFF2-40B4-BE49-F238E27FC236}">
                  <a16:creationId xmlns:a16="http://schemas.microsoft.com/office/drawing/2014/main" id="{86B8E27F-F5EF-41CE-AB56-4E9FF83A4AFE}"/>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88" name="active-node-8-817">
              <a:extLst>
                <a:ext uri="{FF2B5EF4-FFF2-40B4-BE49-F238E27FC236}">
                  <a16:creationId xmlns:a16="http://schemas.microsoft.com/office/drawing/2014/main" id="{BA3209DE-BDB3-4989-8C7D-33C720ED6446}"/>
                </a:ext>
              </a:extLst>
            </p:cNvPr>
            <p:cNvSpPr/>
            <p:nvPr/>
          </p:nvSpPr>
          <p:spPr>
            <a:xfrm>
              <a:off x="7683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89" name="box-8-818">
              <a:extLst>
                <a:ext uri="{FF2B5EF4-FFF2-40B4-BE49-F238E27FC236}">
                  <a16:creationId xmlns:a16="http://schemas.microsoft.com/office/drawing/2014/main" id="{5F89B457-7061-4D82-9132-5901363C66AF}"/>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box-9-819">
              <a:extLst>
                <a:ext uri="{FF2B5EF4-FFF2-40B4-BE49-F238E27FC236}">
                  <a16:creationId xmlns:a16="http://schemas.microsoft.com/office/drawing/2014/main" id="{512086C3-35CC-40AB-8B20-62E2934406DC}"/>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text-10-820">
              <a:extLst>
                <a:ext uri="{FF2B5EF4-FFF2-40B4-BE49-F238E27FC236}">
                  <a16:creationId xmlns:a16="http://schemas.microsoft.com/office/drawing/2014/main" id="{BA85C491-6AC3-4872-AECF-320710816FFA}"/>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8</a:t>
              </a:r>
            </a:p>
          </p:txBody>
        </p:sp>
        <p:sp>
          <p:nvSpPr>
            <p:cNvPr id="92" name="text-11-821">
              <a:extLst>
                <a:ext uri="{FF2B5EF4-FFF2-40B4-BE49-F238E27FC236}">
                  <a16:creationId xmlns:a16="http://schemas.microsoft.com/office/drawing/2014/main" id="{E964E27A-DB11-400E-B879-EDA0CAD2A9BC}"/>
                </a:ext>
              </a:extLst>
            </p:cNvPr>
            <p:cNvSpPr txBox="1"/>
            <p:nvPr/>
          </p:nvSpPr>
          <p:spPr bwMode="auto">
            <a:xfrm>
              <a:off x="8915400" y="2582486"/>
              <a:ext cx="2578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stack =</a:t>
              </a:r>
            </a:p>
            <a:p>
              <a:r>
                <a:rPr lang="en-US" sz="2100">
                  <a:solidFill>
                    <a:srgbClr val="352379"/>
                  </a:solidFill>
                  <a:latin typeface="Montserrat"/>
                </a:rPr>
                <a:t>[1, 2, 3, 4, 5, 6, 7, 8]</a:t>
              </a:r>
            </a:p>
            <a:p>
              <a:endParaRPr lang="en-US" sz="2100">
                <a:solidFill>
                  <a:srgbClr val="352379"/>
                </a:solidFill>
                <a:latin typeface="Montserrat"/>
              </a:endParaRPr>
            </a:p>
            <a:p>
              <a:r>
                <a:rPr lang="en-US" sz="2100">
                  <a:solidFill>
                    <a:srgbClr val="352379"/>
                  </a:solidFill>
                  <a:latin typeface="Montserrat"/>
                </a:rPr>
                <a:t>order = []</a:t>
              </a:r>
              <a:endParaRPr lang="ru-RU" sz="2100">
                <a:solidFill>
                  <a:srgbClr val="352379"/>
                </a:solidFill>
                <a:latin typeface="Montserrat"/>
              </a:endParaRPr>
            </a:p>
          </p:txBody>
        </p:sp>
      </p:grpSp>
      <p:sp>
        <p:nvSpPr>
          <p:cNvPr id="94" name="lecture-footer">
            <a:extLst>
              <a:ext uri="{FF2B5EF4-FFF2-40B4-BE49-F238E27FC236}">
                <a16:creationId xmlns:a16="http://schemas.microsoft.com/office/drawing/2014/main" id="{1D82BA79-539E-4254-92A0-B1185B5CBF07}"/>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95" name="slide-number">
            <a:extLst>
              <a:ext uri="{FF2B5EF4-FFF2-40B4-BE49-F238E27FC236}">
                <a16:creationId xmlns:a16="http://schemas.microsoft.com/office/drawing/2014/main" id="{D0F5B7D4-E542-4D50-A5AC-001805CD3DB1}"/>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24</a:t>
            </a:r>
          </a:p>
        </p:txBody>
      </p:sp>
    </p:spTree>
    <p:extLst>
      <p:ext uri="{BB962C8B-B14F-4D97-AF65-F5344CB8AC3E}">
        <p14:creationId xmlns:p14="http://schemas.microsoft.com/office/powerpoint/2010/main" val="195062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25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250"/>
                                        <p:tgtEl>
                                          <p:spTgt spid="47"/>
                                        </p:tgtEl>
                                      </p:cBhvr>
                                    </p:animEffect>
                                  </p:childTnLst>
                                </p:cTn>
                              </p:par>
                              <p:par>
                                <p:cTn id="13" presetID="10" presetClass="exit" presetSubtype="0" fill="hold" nodeType="withEffect">
                                  <p:stCondLst>
                                    <p:cond delay="0"/>
                                  </p:stCondLst>
                                  <p:childTnLst>
                                    <p:animEffect transition="out" filter="fade">
                                      <p:cBhvr>
                                        <p:cTn id="14" dur="150"/>
                                        <p:tgtEl>
                                          <p:spTgt spid="38"/>
                                        </p:tgtEl>
                                      </p:cBhvr>
                                    </p:animEffect>
                                    <p:set>
                                      <p:cBhvr>
                                        <p:cTn id="15" dur="1" fill="hold">
                                          <p:stCondLst>
                                            <p:cond delay="149"/>
                                          </p:stCondLst>
                                        </p:cTn>
                                        <p:tgtEl>
                                          <p:spTgt spid="3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fade">
                                      <p:cBhvr>
                                        <p:cTn id="20" dur="250"/>
                                        <p:tgtEl>
                                          <p:spTgt spid="57"/>
                                        </p:tgtEl>
                                      </p:cBhvr>
                                    </p:animEffect>
                                  </p:childTnLst>
                                </p:cTn>
                              </p:par>
                              <p:par>
                                <p:cTn id="21" presetID="10" presetClass="exit" presetSubtype="0" fill="hold" nodeType="withEffect">
                                  <p:stCondLst>
                                    <p:cond delay="0"/>
                                  </p:stCondLst>
                                  <p:childTnLst>
                                    <p:animEffect transition="out" filter="fade">
                                      <p:cBhvr>
                                        <p:cTn id="22" dur="150"/>
                                        <p:tgtEl>
                                          <p:spTgt spid="47"/>
                                        </p:tgtEl>
                                      </p:cBhvr>
                                    </p:animEffect>
                                    <p:set>
                                      <p:cBhvr>
                                        <p:cTn id="23" dur="1" fill="hold">
                                          <p:stCondLst>
                                            <p:cond delay="149"/>
                                          </p:stCondLst>
                                        </p:cTn>
                                        <p:tgtEl>
                                          <p:spTgt spid="4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p:cTn id="28" dur="250"/>
                                        <p:tgtEl>
                                          <p:spTgt spid="68"/>
                                        </p:tgtEl>
                                      </p:cBhvr>
                                    </p:animEffect>
                                  </p:childTnLst>
                                </p:cTn>
                              </p:par>
                              <p:par>
                                <p:cTn id="29" presetID="10" presetClass="exit" presetSubtype="0" fill="hold" nodeType="withEffect">
                                  <p:stCondLst>
                                    <p:cond delay="0"/>
                                  </p:stCondLst>
                                  <p:childTnLst>
                                    <p:animEffect transition="out" filter="fade">
                                      <p:cBhvr>
                                        <p:cTn id="30" dur="150"/>
                                        <p:tgtEl>
                                          <p:spTgt spid="57"/>
                                        </p:tgtEl>
                                      </p:cBhvr>
                                    </p:animEffect>
                                    <p:set>
                                      <p:cBhvr>
                                        <p:cTn id="31" dur="1" fill="hold">
                                          <p:stCondLst>
                                            <p:cond delay="149"/>
                                          </p:stCondLst>
                                        </p:cTn>
                                        <p:tgtEl>
                                          <p:spTgt spid="5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0"/>
                                        </p:tgtEl>
                                        <p:attrNameLst>
                                          <p:attrName>style.visibility</p:attrName>
                                        </p:attrNameLst>
                                      </p:cBhvr>
                                      <p:to>
                                        <p:strVal val="visible"/>
                                      </p:to>
                                    </p:set>
                                    <p:animEffect transition="in" filter="fade">
                                      <p:cBhvr>
                                        <p:cTn id="36" dur="250"/>
                                        <p:tgtEl>
                                          <p:spTgt spid="80"/>
                                        </p:tgtEl>
                                      </p:cBhvr>
                                    </p:animEffect>
                                  </p:childTnLst>
                                </p:cTn>
                              </p:par>
                              <p:par>
                                <p:cTn id="37" presetID="10" presetClass="exit" presetSubtype="0" fill="hold" nodeType="withEffect">
                                  <p:stCondLst>
                                    <p:cond delay="0"/>
                                  </p:stCondLst>
                                  <p:childTnLst>
                                    <p:animEffect transition="out" filter="fade">
                                      <p:cBhvr>
                                        <p:cTn id="38" dur="150"/>
                                        <p:tgtEl>
                                          <p:spTgt spid="68"/>
                                        </p:tgtEl>
                                      </p:cBhvr>
                                    </p:animEffect>
                                    <p:set>
                                      <p:cBhvr>
                                        <p:cTn id="39" dur="1" fill="hold">
                                          <p:stCondLst>
                                            <p:cond delay="149"/>
                                          </p:stCondLst>
                                        </p:cTn>
                                        <p:tgtEl>
                                          <p:spTgt spid="68"/>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3"/>
                                        </p:tgtEl>
                                        <p:attrNameLst>
                                          <p:attrName>style.visibility</p:attrName>
                                        </p:attrNameLst>
                                      </p:cBhvr>
                                      <p:to>
                                        <p:strVal val="visible"/>
                                      </p:to>
                                    </p:set>
                                    <p:animEffect transition="in" filter="fade">
                                      <p:cBhvr>
                                        <p:cTn id="44" dur="250"/>
                                        <p:tgtEl>
                                          <p:spTgt spid="93"/>
                                        </p:tgtEl>
                                      </p:cBhvr>
                                    </p:animEffect>
                                  </p:childTnLst>
                                </p:cTn>
                              </p:par>
                              <p:par>
                                <p:cTn id="45" presetID="10" presetClass="exit" presetSubtype="0" fill="hold" nodeType="withEffect">
                                  <p:stCondLst>
                                    <p:cond delay="0"/>
                                  </p:stCondLst>
                                  <p:childTnLst>
                                    <p:animEffect transition="out" filter="fade">
                                      <p:cBhvr>
                                        <p:cTn id="46" dur="150"/>
                                        <p:tgtEl>
                                          <p:spTgt spid="80"/>
                                        </p:tgtEl>
                                      </p:cBhvr>
                                    </p:animEffect>
                                    <p:set>
                                      <p:cBhvr>
                                        <p:cTn id="47" dur="1" fill="hold">
                                          <p:stCondLst>
                                            <p:cond delay="149"/>
                                          </p:stCondLst>
                                        </p:cTn>
                                        <p:tgtEl>
                                          <p:spTgt spid="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порядок выхода</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CDBBE62A-A541-4550-A285-C37BC42C1741}"/>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257AD17D-7B6B-4CBF-A281-1BC1EDCDAC63}"/>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86DB0F07-9B94-42C7-B327-3429ABE6494E}"/>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FD4C6E17-541E-4E56-84F0-65315E511649}"/>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60F764F7-FD8E-4694-BD24-5FBF067CD962}"/>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03C551E8-546A-4EA9-97FD-B5D6876824A0}"/>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1EEA88BF-424B-4471-8E80-155860E9DAB9}"/>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A462D2C7-DC7C-4C71-A782-081BEBE37E55}"/>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4197972-B0C7-47F4-8744-5672A7E94963}"/>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9DF89B76-4999-470C-A8E1-922B87FC9C79}"/>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3EEC772D-9F3E-4190-80A9-9F1C17391056}"/>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248F5051-133B-41EF-9EEB-30A1E0C84460}"/>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168D610A-2036-44B3-A633-9F8E556973FF}"/>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E8E7C0D5-0BAD-420C-BEFD-DFCF16BD331D}"/>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9049566A-16AD-42D7-AB8D-7D54511187A8}"/>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11127FC6-911F-4F41-8757-A05B6E4515B3}"/>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FCECAE9B-653B-49AF-9159-7EE7A59D7A09}"/>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275FDEFF-8C76-4ABE-A4EF-092D08D083C9}"/>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1D1BE5A9-6386-478C-A6D2-7F7C65676621}"/>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0B76D1DD-5F74-4A2D-B48E-95F7849C8185}"/>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BB588841-2859-4C58-AFBA-F31F9B9C1D4D}"/>
              </a:ext>
            </a:extLst>
          </p:cNvPr>
          <p:cNvSpPr/>
          <p:nvPr/>
        </p:nvSpPr>
        <p:spPr>
          <a:xfrm>
            <a:off x="7683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843">
            <a:extLst>
              <a:ext uri="{FF2B5EF4-FFF2-40B4-BE49-F238E27FC236}">
                <a16:creationId xmlns:a16="http://schemas.microsoft.com/office/drawing/2014/main" id="{43A716B1-A5AE-4DF8-B119-4384F3FF9429}"/>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844">
            <a:extLst>
              <a:ext uri="{FF2B5EF4-FFF2-40B4-BE49-F238E27FC236}">
                <a16:creationId xmlns:a16="http://schemas.microsoft.com/office/drawing/2014/main" id="{0F77FC06-9F7E-413D-B1F3-C65D6EAA4B92}"/>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845">
            <a:extLst>
              <a:ext uri="{FF2B5EF4-FFF2-40B4-BE49-F238E27FC236}">
                <a16:creationId xmlns:a16="http://schemas.microsoft.com/office/drawing/2014/main" id="{BBDB93CF-4190-44AA-ADCB-134CD42D0941}"/>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Порядок выхода</a:t>
            </a:r>
          </a:p>
        </p:txBody>
      </p:sp>
      <p:sp>
        <p:nvSpPr>
          <p:cNvPr id="28" name="text-24-846">
            <a:extLst>
              <a:ext uri="{FF2B5EF4-FFF2-40B4-BE49-F238E27FC236}">
                <a16:creationId xmlns:a16="http://schemas.microsoft.com/office/drawing/2014/main" id="{401EF684-620C-4A7A-A6EB-2E2FB5B7C6BD}"/>
              </a:ext>
            </a:extLst>
          </p:cNvPr>
          <p:cNvSpPr txBox="1"/>
          <p:nvPr/>
        </p:nvSpPr>
        <p:spPr bwMode="auto">
          <a:xfrm>
            <a:off x="8915400" y="2615828"/>
            <a:ext cx="2578100" cy="405239"/>
          </a:xfrm>
          <a:prstGeom prst="rect">
            <a:avLst/>
          </a:prstGeom>
        </p:spPr>
        <p:txBody>
          <a:bodyPr vert="horz" wrap="square" lIns="38100" tIns="25400" rIns="38100" bIns="25400" rtlCol="0" anchor="ctr">
            <a:spAutoFit/>
          </a:bodyPr>
          <a:lstStyle/>
          <a:p>
            <a:r>
              <a:rPr lang="en-US" sz="2300">
                <a:solidFill>
                  <a:srgbClr val="352379"/>
                </a:solidFill>
                <a:latin typeface="Montserrat"/>
              </a:rPr>
              <a:t>order </a:t>
            </a:r>
            <a:r>
              <a:rPr lang="ru-RU" sz="2300">
                <a:solidFill>
                  <a:srgbClr val="352379"/>
                </a:solidFill>
                <a:latin typeface="Montserrat"/>
              </a:rPr>
              <a:t>пока пуст</a:t>
            </a:r>
          </a:p>
        </p:txBody>
      </p:sp>
      <p:sp>
        <p:nvSpPr>
          <p:cNvPr id="29" name="box-25-847">
            <a:extLst>
              <a:ext uri="{FF2B5EF4-FFF2-40B4-BE49-F238E27FC236}">
                <a16:creationId xmlns:a16="http://schemas.microsoft.com/office/drawing/2014/main" id="{4FE46EAB-C8F0-47B0-BB7C-3371063D67B8}"/>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26-848">
            <a:extLst>
              <a:ext uri="{FF2B5EF4-FFF2-40B4-BE49-F238E27FC236}">
                <a16:creationId xmlns:a16="http://schemas.microsoft.com/office/drawing/2014/main" id="{B9556963-94B3-4CCD-A84F-507D9761C690}"/>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Добавляем вершину в order только при завершении её DFS.</a:t>
            </a:r>
          </a:p>
        </p:txBody>
      </p:sp>
      <p:grpSp>
        <p:nvGrpSpPr>
          <p:cNvPr id="45" name="animation-stage-1">
            <a:extLst>
              <a:ext uri="{FF2B5EF4-FFF2-40B4-BE49-F238E27FC236}">
                <a16:creationId xmlns:a16="http://schemas.microsoft.com/office/drawing/2014/main" id="{92370F52-219E-4C23-B77C-080EED46310B}"/>
              </a:ext>
            </a:extLst>
          </p:cNvPr>
          <p:cNvGrpSpPr/>
          <p:nvPr/>
        </p:nvGrpSpPr>
        <p:grpSpPr>
          <a:xfrm>
            <a:off x="508000" y="1816100"/>
            <a:ext cx="11201400" cy="3657600"/>
            <a:chOff x="508000" y="1816100"/>
            <a:chExt cx="11201400" cy="3657600"/>
          </a:xfrm>
        </p:grpSpPr>
        <p:sp>
          <p:nvSpPr>
            <p:cNvPr id="31" name="active-node-1-849">
              <a:extLst>
                <a:ext uri="{FF2B5EF4-FFF2-40B4-BE49-F238E27FC236}">
                  <a16:creationId xmlns:a16="http://schemas.microsoft.com/office/drawing/2014/main" id="{2695317A-C341-4A6D-A9AA-2A9FF7CBCBEC}"/>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2" name="active-node-2-850">
              <a:extLst>
                <a:ext uri="{FF2B5EF4-FFF2-40B4-BE49-F238E27FC236}">
                  <a16:creationId xmlns:a16="http://schemas.microsoft.com/office/drawing/2014/main" id="{A96FCBBB-DC4C-458C-8371-B3B519C291C8}"/>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3" name="active-node-3-851">
              <a:extLst>
                <a:ext uri="{FF2B5EF4-FFF2-40B4-BE49-F238E27FC236}">
                  <a16:creationId xmlns:a16="http://schemas.microsoft.com/office/drawing/2014/main" id="{A25A7FD6-9AA3-4947-A974-5196E7AC4610}"/>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34" name="active-node-4-852">
              <a:extLst>
                <a:ext uri="{FF2B5EF4-FFF2-40B4-BE49-F238E27FC236}">
                  <a16:creationId xmlns:a16="http://schemas.microsoft.com/office/drawing/2014/main" id="{6010A269-9A5C-416C-9CED-80C9DDFF1A39}"/>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35" name="active-node-5-853">
              <a:extLst>
                <a:ext uri="{FF2B5EF4-FFF2-40B4-BE49-F238E27FC236}">
                  <a16:creationId xmlns:a16="http://schemas.microsoft.com/office/drawing/2014/main" id="{852B5927-D8EB-472F-95C7-16CDCE86E0D1}"/>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36" name="active-node-6-854">
              <a:extLst>
                <a:ext uri="{FF2B5EF4-FFF2-40B4-BE49-F238E27FC236}">
                  <a16:creationId xmlns:a16="http://schemas.microsoft.com/office/drawing/2014/main" id="{127D79F1-64AF-43D3-919A-41B11032171C}"/>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37" name="active-node-7-855">
              <a:extLst>
                <a:ext uri="{FF2B5EF4-FFF2-40B4-BE49-F238E27FC236}">
                  <a16:creationId xmlns:a16="http://schemas.microsoft.com/office/drawing/2014/main" id="{EDBDEAAA-B6CF-439D-A675-0012BB7FB4E6}"/>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38" name="active-node-8-856">
              <a:extLst>
                <a:ext uri="{FF2B5EF4-FFF2-40B4-BE49-F238E27FC236}">
                  <a16:creationId xmlns:a16="http://schemas.microsoft.com/office/drawing/2014/main" id="{CA72BE1B-C7C4-4DC0-BB64-9EAFF100DFB0}"/>
                </a:ext>
              </a:extLst>
            </p:cNvPr>
            <p:cNvSpPr/>
            <p:nvPr/>
          </p:nvSpPr>
          <p:spPr>
            <a:xfrm>
              <a:off x="7683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39" name="box-8-857">
              <a:extLst>
                <a:ext uri="{FF2B5EF4-FFF2-40B4-BE49-F238E27FC236}">
                  <a16:creationId xmlns:a16="http://schemas.microsoft.com/office/drawing/2014/main" id="{862D38AA-C2D3-487F-88B9-A8CA528A1177}"/>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box-9-858">
              <a:extLst>
                <a:ext uri="{FF2B5EF4-FFF2-40B4-BE49-F238E27FC236}">
                  <a16:creationId xmlns:a16="http://schemas.microsoft.com/office/drawing/2014/main" id="{11459B4C-B481-40DD-824C-002B13EFCA19}"/>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10-859">
              <a:extLst>
                <a:ext uri="{FF2B5EF4-FFF2-40B4-BE49-F238E27FC236}">
                  <a16:creationId xmlns:a16="http://schemas.microsoft.com/office/drawing/2014/main" id="{F6CDA71E-848E-4305-99E3-70475EFF4139}"/>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8 → </a:t>
              </a:r>
              <a:r>
                <a:rPr lang="en-US" sz="2100">
                  <a:solidFill>
                    <a:srgbClr val="FFFFFF"/>
                  </a:solidFill>
                  <a:latin typeface="Montserrat"/>
                </a:rPr>
                <a:t>order</a:t>
              </a:r>
              <a:endParaRPr lang="ru-RU" sz="2100">
                <a:solidFill>
                  <a:srgbClr val="FFFFFF"/>
                </a:solidFill>
                <a:latin typeface="Montserrat"/>
              </a:endParaRPr>
            </a:p>
          </p:txBody>
        </p:sp>
        <p:sp>
          <p:nvSpPr>
            <p:cNvPr id="42" name="text-11-860">
              <a:extLst>
                <a:ext uri="{FF2B5EF4-FFF2-40B4-BE49-F238E27FC236}">
                  <a16:creationId xmlns:a16="http://schemas.microsoft.com/office/drawing/2014/main" id="{159080CB-88BD-483A-8DE8-CED733CC2B73}"/>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43" name="box-12-861">
              <a:extLst>
                <a:ext uri="{FF2B5EF4-FFF2-40B4-BE49-F238E27FC236}">
                  <a16:creationId xmlns:a16="http://schemas.microsoft.com/office/drawing/2014/main" id="{CE742365-D408-48B8-A080-8F7D2EF1B0F0}"/>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text-13-862">
              <a:extLst>
                <a:ext uri="{FF2B5EF4-FFF2-40B4-BE49-F238E27FC236}">
                  <a16:creationId xmlns:a16="http://schemas.microsoft.com/office/drawing/2014/main" id="{1D255048-2C2F-4575-BA63-C8366E6854BF}"/>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grpSp>
      <p:grpSp>
        <p:nvGrpSpPr>
          <p:cNvPr id="62" name="animation-stage-2">
            <a:extLst>
              <a:ext uri="{FF2B5EF4-FFF2-40B4-BE49-F238E27FC236}">
                <a16:creationId xmlns:a16="http://schemas.microsoft.com/office/drawing/2014/main" id="{3F35D5AC-A52D-4207-8C2A-EEC7B880602B}"/>
              </a:ext>
            </a:extLst>
          </p:cNvPr>
          <p:cNvGrpSpPr/>
          <p:nvPr/>
        </p:nvGrpSpPr>
        <p:grpSpPr>
          <a:xfrm>
            <a:off x="508000" y="1816100"/>
            <a:ext cx="11201400" cy="3657600"/>
            <a:chOff x="508000" y="1816100"/>
            <a:chExt cx="11201400" cy="3657600"/>
          </a:xfrm>
        </p:grpSpPr>
        <p:sp>
          <p:nvSpPr>
            <p:cNvPr id="46" name="active-node-1-863">
              <a:extLst>
                <a:ext uri="{FF2B5EF4-FFF2-40B4-BE49-F238E27FC236}">
                  <a16:creationId xmlns:a16="http://schemas.microsoft.com/office/drawing/2014/main" id="{4426943D-5816-4F25-8DC0-C4FD2E52C796}"/>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47" name="active-node-2-864">
              <a:extLst>
                <a:ext uri="{FF2B5EF4-FFF2-40B4-BE49-F238E27FC236}">
                  <a16:creationId xmlns:a16="http://schemas.microsoft.com/office/drawing/2014/main" id="{E8EBAE8B-6CFA-4867-9891-B7EFF2468BE3}"/>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8" name="active-node-3-865">
              <a:extLst>
                <a:ext uri="{FF2B5EF4-FFF2-40B4-BE49-F238E27FC236}">
                  <a16:creationId xmlns:a16="http://schemas.microsoft.com/office/drawing/2014/main" id="{286CF90C-81D3-42B5-A15A-2D71F078A177}"/>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9" name="active-node-4-866">
              <a:extLst>
                <a:ext uri="{FF2B5EF4-FFF2-40B4-BE49-F238E27FC236}">
                  <a16:creationId xmlns:a16="http://schemas.microsoft.com/office/drawing/2014/main" id="{DFAD0C24-1DA9-4618-89CE-D9B69433FD5A}"/>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50" name="active-node-5-867">
              <a:extLst>
                <a:ext uri="{FF2B5EF4-FFF2-40B4-BE49-F238E27FC236}">
                  <a16:creationId xmlns:a16="http://schemas.microsoft.com/office/drawing/2014/main" id="{DDAA8AD8-B13D-4730-8BB8-F27BEA7AF7DC}"/>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51" name="active-node-6-868">
              <a:extLst>
                <a:ext uri="{FF2B5EF4-FFF2-40B4-BE49-F238E27FC236}">
                  <a16:creationId xmlns:a16="http://schemas.microsoft.com/office/drawing/2014/main" id="{0C1B9718-BC40-49EA-9975-D3D06CABD4DE}"/>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52" name="active-node-7-869">
              <a:extLst>
                <a:ext uri="{FF2B5EF4-FFF2-40B4-BE49-F238E27FC236}">
                  <a16:creationId xmlns:a16="http://schemas.microsoft.com/office/drawing/2014/main" id="{7F0B1284-85E8-4EF7-8CFA-F2D6D3A2C5EC}"/>
                </a:ext>
              </a:extLst>
            </p:cNvPr>
            <p:cNvSpPr/>
            <p:nvPr/>
          </p:nvSpPr>
          <p:spPr>
            <a:xfrm>
              <a:off x="590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53" name="active-node-8-870">
              <a:extLst>
                <a:ext uri="{FF2B5EF4-FFF2-40B4-BE49-F238E27FC236}">
                  <a16:creationId xmlns:a16="http://schemas.microsoft.com/office/drawing/2014/main" id="{A295A758-D45C-4E5F-80A7-596C78657E58}"/>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54" name="box-8-871">
              <a:extLst>
                <a:ext uri="{FF2B5EF4-FFF2-40B4-BE49-F238E27FC236}">
                  <a16:creationId xmlns:a16="http://schemas.microsoft.com/office/drawing/2014/main" id="{C1D2A2F5-EE34-496F-AB8D-0BB8AD353478}"/>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box-9-872">
              <a:extLst>
                <a:ext uri="{FF2B5EF4-FFF2-40B4-BE49-F238E27FC236}">
                  <a16:creationId xmlns:a16="http://schemas.microsoft.com/office/drawing/2014/main" id="{B1D5928F-2FCD-490A-814D-A3BC22C677FD}"/>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10-873">
              <a:extLst>
                <a:ext uri="{FF2B5EF4-FFF2-40B4-BE49-F238E27FC236}">
                  <a16:creationId xmlns:a16="http://schemas.microsoft.com/office/drawing/2014/main" id="{2AE06CE1-F82B-4BE0-821A-26F1E47F500A}"/>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7 → </a:t>
              </a:r>
              <a:r>
                <a:rPr lang="en-US" sz="2100">
                  <a:solidFill>
                    <a:srgbClr val="FFFFFF"/>
                  </a:solidFill>
                  <a:latin typeface="Montserrat"/>
                </a:rPr>
                <a:t>order</a:t>
              </a:r>
              <a:endParaRPr lang="ru-RU" sz="2100">
                <a:solidFill>
                  <a:srgbClr val="FFFFFF"/>
                </a:solidFill>
                <a:latin typeface="Montserrat"/>
              </a:endParaRPr>
            </a:p>
          </p:txBody>
        </p:sp>
        <p:sp>
          <p:nvSpPr>
            <p:cNvPr id="57" name="text-11-874">
              <a:extLst>
                <a:ext uri="{FF2B5EF4-FFF2-40B4-BE49-F238E27FC236}">
                  <a16:creationId xmlns:a16="http://schemas.microsoft.com/office/drawing/2014/main" id="{DB6B8226-B0CC-4150-8BFD-79ED3EA9910F}"/>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58" name="box-12-875">
              <a:extLst>
                <a:ext uri="{FF2B5EF4-FFF2-40B4-BE49-F238E27FC236}">
                  <a16:creationId xmlns:a16="http://schemas.microsoft.com/office/drawing/2014/main" id="{EAE6BC4D-D68C-4E7A-B944-97D737404C0F}"/>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13-876">
              <a:extLst>
                <a:ext uri="{FF2B5EF4-FFF2-40B4-BE49-F238E27FC236}">
                  <a16:creationId xmlns:a16="http://schemas.microsoft.com/office/drawing/2014/main" id="{1E186CC0-F99C-4C78-9430-E96A54E3EA89}"/>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60" name="box-14-877">
              <a:extLst>
                <a:ext uri="{FF2B5EF4-FFF2-40B4-BE49-F238E27FC236}">
                  <a16:creationId xmlns:a16="http://schemas.microsoft.com/office/drawing/2014/main" id="{CD2EF8E5-CCD0-4260-BAD5-C6DEB5552402}"/>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ext-15-878">
              <a:extLst>
                <a:ext uri="{FF2B5EF4-FFF2-40B4-BE49-F238E27FC236}">
                  <a16:creationId xmlns:a16="http://schemas.microsoft.com/office/drawing/2014/main" id="{4DB9B65E-8864-4B24-A05F-72D8DF2C2DFF}"/>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grpSp>
      <p:grpSp>
        <p:nvGrpSpPr>
          <p:cNvPr id="81" name="animation-stage-3">
            <a:extLst>
              <a:ext uri="{FF2B5EF4-FFF2-40B4-BE49-F238E27FC236}">
                <a16:creationId xmlns:a16="http://schemas.microsoft.com/office/drawing/2014/main" id="{2471473E-46AB-4786-86AF-CB3BE2597D61}"/>
              </a:ext>
            </a:extLst>
          </p:cNvPr>
          <p:cNvGrpSpPr/>
          <p:nvPr/>
        </p:nvGrpSpPr>
        <p:grpSpPr>
          <a:xfrm>
            <a:off x="508000" y="1816100"/>
            <a:ext cx="11201400" cy="3657600"/>
            <a:chOff x="508000" y="1816100"/>
            <a:chExt cx="11201400" cy="3657600"/>
          </a:xfrm>
        </p:grpSpPr>
        <p:sp>
          <p:nvSpPr>
            <p:cNvPr id="63" name="active-node-1-879">
              <a:extLst>
                <a:ext uri="{FF2B5EF4-FFF2-40B4-BE49-F238E27FC236}">
                  <a16:creationId xmlns:a16="http://schemas.microsoft.com/office/drawing/2014/main" id="{8F45DA94-F1FD-4B02-A981-AEC35B1478CC}"/>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4" name="active-node-2-880">
              <a:extLst>
                <a:ext uri="{FF2B5EF4-FFF2-40B4-BE49-F238E27FC236}">
                  <a16:creationId xmlns:a16="http://schemas.microsoft.com/office/drawing/2014/main" id="{76EED36E-F024-4700-BB35-ECBEF15B60A1}"/>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5" name="active-node-3-881">
              <a:extLst>
                <a:ext uri="{FF2B5EF4-FFF2-40B4-BE49-F238E27FC236}">
                  <a16:creationId xmlns:a16="http://schemas.microsoft.com/office/drawing/2014/main" id="{FE1C17FA-D01F-43D8-97D2-09C3631A57FA}"/>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6" name="active-node-4-882">
              <a:extLst>
                <a:ext uri="{FF2B5EF4-FFF2-40B4-BE49-F238E27FC236}">
                  <a16:creationId xmlns:a16="http://schemas.microsoft.com/office/drawing/2014/main" id="{92697311-46A3-48A9-AFBE-461D8E35EBCE}"/>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67" name="active-node-5-883">
              <a:extLst>
                <a:ext uri="{FF2B5EF4-FFF2-40B4-BE49-F238E27FC236}">
                  <a16:creationId xmlns:a16="http://schemas.microsoft.com/office/drawing/2014/main" id="{A566D5D2-95D9-4334-801A-17CCC3E79198}"/>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68" name="active-node-6-884">
              <a:extLst>
                <a:ext uri="{FF2B5EF4-FFF2-40B4-BE49-F238E27FC236}">
                  <a16:creationId xmlns:a16="http://schemas.microsoft.com/office/drawing/2014/main" id="{EEDC1FC6-B8E9-43D4-B1DB-7BE0E145D44B}"/>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69" name="active-node-7-885">
              <a:extLst>
                <a:ext uri="{FF2B5EF4-FFF2-40B4-BE49-F238E27FC236}">
                  <a16:creationId xmlns:a16="http://schemas.microsoft.com/office/drawing/2014/main" id="{E4392D2A-F3E1-4FE5-8BB0-9C6AF6CC0D9F}"/>
                </a:ext>
              </a:extLst>
            </p:cNvPr>
            <p:cNvSpPr/>
            <p:nvPr/>
          </p:nvSpPr>
          <p:spPr>
            <a:xfrm>
              <a:off x="590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70" name="active-node-8-886">
              <a:extLst>
                <a:ext uri="{FF2B5EF4-FFF2-40B4-BE49-F238E27FC236}">
                  <a16:creationId xmlns:a16="http://schemas.microsoft.com/office/drawing/2014/main" id="{6954FA5B-04C0-4E5E-BC3F-3B198FEBAF21}"/>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71" name="box-8-887">
              <a:extLst>
                <a:ext uri="{FF2B5EF4-FFF2-40B4-BE49-F238E27FC236}">
                  <a16:creationId xmlns:a16="http://schemas.microsoft.com/office/drawing/2014/main" id="{53E1AB13-AC56-401F-A770-D21DEB13A7A3}"/>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box-9-888">
              <a:extLst>
                <a:ext uri="{FF2B5EF4-FFF2-40B4-BE49-F238E27FC236}">
                  <a16:creationId xmlns:a16="http://schemas.microsoft.com/office/drawing/2014/main" id="{6C176961-6B4F-4F1F-BF2A-6B35DB89CBA6}"/>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text-10-889">
              <a:extLst>
                <a:ext uri="{FF2B5EF4-FFF2-40B4-BE49-F238E27FC236}">
                  <a16:creationId xmlns:a16="http://schemas.microsoft.com/office/drawing/2014/main" id="{61F0FD7A-561A-4616-8BEE-765151381994}"/>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6 → </a:t>
              </a:r>
              <a:r>
                <a:rPr lang="en-US" sz="2100">
                  <a:solidFill>
                    <a:srgbClr val="FFFFFF"/>
                  </a:solidFill>
                  <a:latin typeface="Montserrat"/>
                </a:rPr>
                <a:t>order</a:t>
              </a:r>
              <a:endParaRPr lang="ru-RU" sz="2100">
                <a:solidFill>
                  <a:srgbClr val="FFFFFF"/>
                </a:solidFill>
                <a:latin typeface="Montserrat"/>
              </a:endParaRPr>
            </a:p>
          </p:txBody>
        </p:sp>
        <p:sp>
          <p:nvSpPr>
            <p:cNvPr id="74" name="text-11-890">
              <a:extLst>
                <a:ext uri="{FF2B5EF4-FFF2-40B4-BE49-F238E27FC236}">
                  <a16:creationId xmlns:a16="http://schemas.microsoft.com/office/drawing/2014/main" id="{DAC0DA84-27F3-4E70-97F9-294855DDB4FD}"/>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75" name="box-12-891">
              <a:extLst>
                <a:ext uri="{FF2B5EF4-FFF2-40B4-BE49-F238E27FC236}">
                  <a16:creationId xmlns:a16="http://schemas.microsoft.com/office/drawing/2014/main" id="{339A24BD-8DA7-437B-A0B1-FF1A64F03720}"/>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6" name="text-13-892">
              <a:extLst>
                <a:ext uri="{FF2B5EF4-FFF2-40B4-BE49-F238E27FC236}">
                  <a16:creationId xmlns:a16="http://schemas.microsoft.com/office/drawing/2014/main" id="{023F4E47-4C65-402B-9DA1-E999375FED5D}"/>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77" name="box-14-893">
              <a:extLst>
                <a:ext uri="{FF2B5EF4-FFF2-40B4-BE49-F238E27FC236}">
                  <a16:creationId xmlns:a16="http://schemas.microsoft.com/office/drawing/2014/main" id="{B4039270-6917-4804-B295-B27D9EE89324}"/>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8" name="text-15-894">
              <a:extLst>
                <a:ext uri="{FF2B5EF4-FFF2-40B4-BE49-F238E27FC236}">
                  <a16:creationId xmlns:a16="http://schemas.microsoft.com/office/drawing/2014/main" id="{38788BBF-E97E-42D9-84FC-F87A76BB92A7}"/>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sp>
          <p:nvSpPr>
            <p:cNvPr id="79" name="box-16-895">
              <a:extLst>
                <a:ext uri="{FF2B5EF4-FFF2-40B4-BE49-F238E27FC236}">
                  <a16:creationId xmlns:a16="http://schemas.microsoft.com/office/drawing/2014/main" id="{37B70E54-F2E3-444E-AED5-60E107535164}"/>
                </a:ext>
              </a:extLst>
            </p:cNvPr>
            <p:cNvSpPr/>
            <p:nvPr/>
          </p:nvSpPr>
          <p:spPr>
            <a:xfrm>
              <a:off x="9017000" y="3251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0" name="text-17-896">
              <a:extLst>
                <a:ext uri="{FF2B5EF4-FFF2-40B4-BE49-F238E27FC236}">
                  <a16:creationId xmlns:a16="http://schemas.microsoft.com/office/drawing/2014/main" id="{E6F33AB0-4AF9-4078-B9F8-601B3842C6A2}"/>
                </a:ext>
              </a:extLst>
            </p:cNvPr>
            <p:cNvSpPr txBox="1"/>
            <p:nvPr/>
          </p:nvSpPr>
          <p:spPr bwMode="auto">
            <a:xfrm>
              <a:off x="9067800" y="3235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6</a:t>
              </a:r>
            </a:p>
          </p:txBody>
        </p:sp>
      </p:grpSp>
      <p:grpSp>
        <p:nvGrpSpPr>
          <p:cNvPr id="102" name="animation-stage-4">
            <a:extLst>
              <a:ext uri="{FF2B5EF4-FFF2-40B4-BE49-F238E27FC236}">
                <a16:creationId xmlns:a16="http://schemas.microsoft.com/office/drawing/2014/main" id="{6AE1331E-1832-4F9E-B396-E2B0C15CB6B6}"/>
              </a:ext>
            </a:extLst>
          </p:cNvPr>
          <p:cNvGrpSpPr/>
          <p:nvPr/>
        </p:nvGrpSpPr>
        <p:grpSpPr>
          <a:xfrm>
            <a:off x="508000" y="1816100"/>
            <a:ext cx="11201400" cy="3657600"/>
            <a:chOff x="508000" y="1816100"/>
            <a:chExt cx="11201400" cy="3657600"/>
          </a:xfrm>
        </p:grpSpPr>
        <p:sp>
          <p:nvSpPr>
            <p:cNvPr id="82" name="active-node-1-897">
              <a:extLst>
                <a:ext uri="{FF2B5EF4-FFF2-40B4-BE49-F238E27FC236}">
                  <a16:creationId xmlns:a16="http://schemas.microsoft.com/office/drawing/2014/main" id="{7C914ECB-7777-4BF5-B129-0775AC18D483}"/>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83" name="active-node-2-898">
              <a:extLst>
                <a:ext uri="{FF2B5EF4-FFF2-40B4-BE49-F238E27FC236}">
                  <a16:creationId xmlns:a16="http://schemas.microsoft.com/office/drawing/2014/main" id="{9A4968D1-75B2-4680-83D3-884182D98918}"/>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84" name="active-node-3-899">
              <a:extLst>
                <a:ext uri="{FF2B5EF4-FFF2-40B4-BE49-F238E27FC236}">
                  <a16:creationId xmlns:a16="http://schemas.microsoft.com/office/drawing/2014/main" id="{FA694A7D-763C-48F2-9B04-11C0C46691D0}"/>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85" name="active-node-4-900">
              <a:extLst>
                <a:ext uri="{FF2B5EF4-FFF2-40B4-BE49-F238E27FC236}">
                  <a16:creationId xmlns:a16="http://schemas.microsoft.com/office/drawing/2014/main" id="{6C83835A-692C-4BC6-9B02-B4AC708AF045}"/>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86" name="active-node-5-901">
              <a:extLst>
                <a:ext uri="{FF2B5EF4-FFF2-40B4-BE49-F238E27FC236}">
                  <a16:creationId xmlns:a16="http://schemas.microsoft.com/office/drawing/2014/main" id="{4AFDD7B3-F9B3-4ED3-9D6C-29D509247F2D}"/>
                </a:ext>
              </a:extLst>
            </p:cNvPr>
            <p:cNvSpPr/>
            <p:nvPr/>
          </p:nvSpPr>
          <p:spPr>
            <a:xfrm>
              <a:off x="463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87" name="active-node-6-902">
              <a:extLst>
                <a:ext uri="{FF2B5EF4-FFF2-40B4-BE49-F238E27FC236}">
                  <a16:creationId xmlns:a16="http://schemas.microsoft.com/office/drawing/2014/main" id="{F0D82205-8451-48ED-829F-D8A86CDAF521}"/>
                </a:ext>
              </a:extLst>
            </p:cNvPr>
            <p:cNvSpPr/>
            <p:nvPr/>
          </p:nvSpPr>
          <p:spPr>
            <a:xfrm>
              <a:off x="6350000" y="2032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88" name="active-node-7-903">
              <a:extLst>
                <a:ext uri="{FF2B5EF4-FFF2-40B4-BE49-F238E27FC236}">
                  <a16:creationId xmlns:a16="http://schemas.microsoft.com/office/drawing/2014/main" id="{FF3149A2-C973-4784-9BFC-DB5E3678C567}"/>
                </a:ext>
              </a:extLst>
            </p:cNvPr>
            <p:cNvSpPr/>
            <p:nvPr/>
          </p:nvSpPr>
          <p:spPr>
            <a:xfrm>
              <a:off x="590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89" name="active-node-8-904">
              <a:extLst>
                <a:ext uri="{FF2B5EF4-FFF2-40B4-BE49-F238E27FC236}">
                  <a16:creationId xmlns:a16="http://schemas.microsoft.com/office/drawing/2014/main" id="{6D03056E-D2DF-4E07-8681-349A54870549}"/>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90" name="box-8-905">
              <a:extLst>
                <a:ext uri="{FF2B5EF4-FFF2-40B4-BE49-F238E27FC236}">
                  <a16:creationId xmlns:a16="http://schemas.microsoft.com/office/drawing/2014/main" id="{5EE33ADF-C61A-4C7F-A982-C397F55F836E}"/>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box-9-906">
              <a:extLst>
                <a:ext uri="{FF2B5EF4-FFF2-40B4-BE49-F238E27FC236}">
                  <a16:creationId xmlns:a16="http://schemas.microsoft.com/office/drawing/2014/main" id="{57C67EF0-3263-427A-90F8-D32AD654FC0F}"/>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text-10-907">
              <a:extLst>
                <a:ext uri="{FF2B5EF4-FFF2-40B4-BE49-F238E27FC236}">
                  <a16:creationId xmlns:a16="http://schemas.microsoft.com/office/drawing/2014/main" id="{A9EA16E5-63E6-4A92-8AB9-F81FA0F6F625}"/>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5 → </a:t>
              </a:r>
              <a:r>
                <a:rPr lang="en-US" sz="2100">
                  <a:solidFill>
                    <a:srgbClr val="FFFFFF"/>
                  </a:solidFill>
                  <a:latin typeface="Montserrat"/>
                </a:rPr>
                <a:t>order</a:t>
              </a:r>
              <a:endParaRPr lang="ru-RU" sz="2100">
                <a:solidFill>
                  <a:srgbClr val="FFFFFF"/>
                </a:solidFill>
                <a:latin typeface="Montserrat"/>
              </a:endParaRPr>
            </a:p>
          </p:txBody>
        </p:sp>
        <p:sp>
          <p:nvSpPr>
            <p:cNvPr id="93" name="text-11-908">
              <a:extLst>
                <a:ext uri="{FF2B5EF4-FFF2-40B4-BE49-F238E27FC236}">
                  <a16:creationId xmlns:a16="http://schemas.microsoft.com/office/drawing/2014/main" id="{5390C254-8D91-4C29-AE7F-327CCA570C0A}"/>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94" name="box-12-909">
              <a:extLst>
                <a:ext uri="{FF2B5EF4-FFF2-40B4-BE49-F238E27FC236}">
                  <a16:creationId xmlns:a16="http://schemas.microsoft.com/office/drawing/2014/main" id="{7E00140B-FB70-4820-B29F-BDB62A300EFC}"/>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text-13-910">
              <a:extLst>
                <a:ext uri="{FF2B5EF4-FFF2-40B4-BE49-F238E27FC236}">
                  <a16:creationId xmlns:a16="http://schemas.microsoft.com/office/drawing/2014/main" id="{A9AC1D3D-ADF8-498C-AAEE-64F5094B80C4}"/>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96" name="box-14-911">
              <a:extLst>
                <a:ext uri="{FF2B5EF4-FFF2-40B4-BE49-F238E27FC236}">
                  <a16:creationId xmlns:a16="http://schemas.microsoft.com/office/drawing/2014/main" id="{1DBAAC7D-E403-452D-AEAD-EF6C585C2828}"/>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text-15-912">
              <a:extLst>
                <a:ext uri="{FF2B5EF4-FFF2-40B4-BE49-F238E27FC236}">
                  <a16:creationId xmlns:a16="http://schemas.microsoft.com/office/drawing/2014/main" id="{81913667-EDA8-43BA-A39C-B114B4FC1EC5}"/>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sp>
          <p:nvSpPr>
            <p:cNvPr id="98" name="box-16-913">
              <a:extLst>
                <a:ext uri="{FF2B5EF4-FFF2-40B4-BE49-F238E27FC236}">
                  <a16:creationId xmlns:a16="http://schemas.microsoft.com/office/drawing/2014/main" id="{60396AA5-09F1-45EC-A2FF-B2C2AEF0213A}"/>
                </a:ext>
              </a:extLst>
            </p:cNvPr>
            <p:cNvSpPr/>
            <p:nvPr/>
          </p:nvSpPr>
          <p:spPr>
            <a:xfrm>
              <a:off x="9017000" y="3251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9" name="text-17-914">
              <a:extLst>
                <a:ext uri="{FF2B5EF4-FFF2-40B4-BE49-F238E27FC236}">
                  <a16:creationId xmlns:a16="http://schemas.microsoft.com/office/drawing/2014/main" id="{8C45404C-4CB3-429A-B8DC-7B87698590FC}"/>
                </a:ext>
              </a:extLst>
            </p:cNvPr>
            <p:cNvSpPr txBox="1"/>
            <p:nvPr/>
          </p:nvSpPr>
          <p:spPr bwMode="auto">
            <a:xfrm>
              <a:off x="9067800" y="3235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6</a:t>
              </a:r>
            </a:p>
          </p:txBody>
        </p:sp>
        <p:sp>
          <p:nvSpPr>
            <p:cNvPr id="100" name="box-18-915">
              <a:extLst>
                <a:ext uri="{FF2B5EF4-FFF2-40B4-BE49-F238E27FC236}">
                  <a16:creationId xmlns:a16="http://schemas.microsoft.com/office/drawing/2014/main" id="{373C4BD1-2AC8-42F9-9C3B-6A6EFEC379EC}"/>
                </a:ext>
              </a:extLst>
            </p:cNvPr>
            <p:cNvSpPr/>
            <p:nvPr/>
          </p:nvSpPr>
          <p:spPr>
            <a:xfrm>
              <a:off x="9017000" y="36068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19-916">
              <a:extLst>
                <a:ext uri="{FF2B5EF4-FFF2-40B4-BE49-F238E27FC236}">
                  <a16:creationId xmlns:a16="http://schemas.microsoft.com/office/drawing/2014/main" id="{79BCCCE4-3513-4476-A698-D5AE7FDBC04C}"/>
                </a:ext>
              </a:extLst>
            </p:cNvPr>
            <p:cNvSpPr txBox="1"/>
            <p:nvPr/>
          </p:nvSpPr>
          <p:spPr bwMode="auto">
            <a:xfrm>
              <a:off x="9067800" y="35914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grpSp>
      <p:grpSp>
        <p:nvGrpSpPr>
          <p:cNvPr id="125" name="animation-stage-5">
            <a:extLst>
              <a:ext uri="{FF2B5EF4-FFF2-40B4-BE49-F238E27FC236}">
                <a16:creationId xmlns:a16="http://schemas.microsoft.com/office/drawing/2014/main" id="{0551FCAD-43B0-4703-8F8C-296C01AA42AD}"/>
              </a:ext>
            </a:extLst>
          </p:cNvPr>
          <p:cNvGrpSpPr/>
          <p:nvPr/>
        </p:nvGrpSpPr>
        <p:grpSpPr>
          <a:xfrm>
            <a:off x="508000" y="1816100"/>
            <a:ext cx="11201400" cy="3657600"/>
            <a:chOff x="508000" y="1816100"/>
            <a:chExt cx="11201400" cy="3657600"/>
          </a:xfrm>
        </p:grpSpPr>
        <p:sp>
          <p:nvSpPr>
            <p:cNvPr id="103" name="active-node-1-917">
              <a:extLst>
                <a:ext uri="{FF2B5EF4-FFF2-40B4-BE49-F238E27FC236}">
                  <a16:creationId xmlns:a16="http://schemas.microsoft.com/office/drawing/2014/main" id="{F022B05F-1306-491C-8FA5-DA49E49E053A}"/>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04" name="active-node-2-918">
              <a:extLst>
                <a:ext uri="{FF2B5EF4-FFF2-40B4-BE49-F238E27FC236}">
                  <a16:creationId xmlns:a16="http://schemas.microsoft.com/office/drawing/2014/main" id="{D6B181D5-247B-4889-9D09-9C3933F98E43}"/>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05" name="active-node-3-919">
              <a:extLst>
                <a:ext uri="{FF2B5EF4-FFF2-40B4-BE49-F238E27FC236}">
                  <a16:creationId xmlns:a16="http://schemas.microsoft.com/office/drawing/2014/main" id="{F2F9E211-A727-423E-B96A-38238B1FD14C}"/>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6" name="active-node-4-920">
              <a:extLst>
                <a:ext uri="{FF2B5EF4-FFF2-40B4-BE49-F238E27FC236}">
                  <a16:creationId xmlns:a16="http://schemas.microsoft.com/office/drawing/2014/main" id="{54CFD968-9FCC-4360-9A76-2D90BFCECB02}"/>
                </a:ext>
              </a:extLst>
            </p:cNvPr>
            <p:cNvSpPr/>
            <p:nvPr/>
          </p:nvSpPr>
          <p:spPr>
            <a:xfrm>
              <a:off x="36195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07" name="active-node-5-921">
              <a:extLst>
                <a:ext uri="{FF2B5EF4-FFF2-40B4-BE49-F238E27FC236}">
                  <a16:creationId xmlns:a16="http://schemas.microsoft.com/office/drawing/2014/main" id="{AC797911-C0C8-4579-8563-17ED2F68FC73}"/>
                </a:ext>
              </a:extLst>
            </p:cNvPr>
            <p:cNvSpPr/>
            <p:nvPr/>
          </p:nvSpPr>
          <p:spPr>
            <a:xfrm>
              <a:off x="463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08" name="active-node-6-922">
              <a:extLst>
                <a:ext uri="{FF2B5EF4-FFF2-40B4-BE49-F238E27FC236}">
                  <a16:creationId xmlns:a16="http://schemas.microsoft.com/office/drawing/2014/main" id="{7423B964-6B95-4CA5-B1C3-02B9C6CB6F0C}"/>
                </a:ext>
              </a:extLst>
            </p:cNvPr>
            <p:cNvSpPr/>
            <p:nvPr/>
          </p:nvSpPr>
          <p:spPr>
            <a:xfrm>
              <a:off x="6350000" y="2032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09" name="active-node-7-923">
              <a:extLst>
                <a:ext uri="{FF2B5EF4-FFF2-40B4-BE49-F238E27FC236}">
                  <a16:creationId xmlns:a16="http://schemas.microsoft.com/office/drawing/2014/main" id="{FB039872-0AAB-4760-9E5F-1AC555B0CAD6}"/>
                </a:ext>
              </a:extLst>
            </p:cNvPr>
            <p:cNvSpPr/>
            <p:nvPr/>
          </p:nvSpPr>
          <p:spPr>
            <a:xfrm>
              <a:off x="590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10" name="active-node-8-924">
              <a:extLst>
                <a:ext uri="{FF2B5EF4-FFF2-40B4-BE49-F238E27FC236}">
                  <a16:creationId xmlns:a16="http://schemas.microsoft.com/office/drawing/2014/main" id="{D66F46C6-A192-412B-9EF3-CEC412666D66}"/>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11" name="box-8-925">
              <a:extLst>
                <a:ext uri="{FF2B5EF4-FFF2-40B4-BE49-F238E27FC236}">
                  <a16:creationId xmlns:a16="http://schemas.microsoft.com/office/drawing/2014/main" id="{247D0B81-A46E-4158-8415-F575BAE20732}"/>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box-9-926">
              <a:extLst>
                <a:ext uri="{FF2B5EF4-FFF2-40B4-BE49-F238E27FC236}">
                  <a16:creationId xmlns:a16="http://schemas.microsoft.com/office/drawing/2014/main" id="{5F471DBF-169A-49D3-9C8A-E85160CF352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text-10-927">
              <a:extLst>
                <a:ext uri="{FF2B5EF4-FFF2-40B4-BE49-F238E27FC236}">
                  <a16:creationId xmlns:a16="http://schemas.microsoft.com/office/drawing/2014/main" id="{1371AC8E-DDD2-4F48-81A4-4235BA86F615}"/>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4 → </a:t>
              </a:r>
              <a:r>
                <a:rPr lang="en-US" sz="2100">
                  <a:solidFill>
                    <a:srgbClr val="FFFFFF"/>
                  </a:solidFill>
                  <a:latin typeface="Montserrat"/>
                </a:rPr>
                <a:t>order</a:t>
              </a:r>
              <a:endParaRPr lang="ru-RU" sz="2100">
                <a:solidFill>
                  <a:srgbClr val="FFFFFF"/>
                </a:solidFill>
                <a:latin typeface="Montserrat"/>
              </a:endParaRPr>
            </a:p>
          </p:txBody>
        </p:sp>
        <p:sp>
          <p:nvSpPr>
            <p:cNvPr id="114" name="text-11-928">
              <a:extLst>
                <a:ext uri="{FF2B5EF4-FFF2-40B4-BE49-F238E27FC236}">
                  <a16:creationId xmlns:a16="http://schemas.microsoft.com/office/drawing/2014/main" id="{269687EE-C0AC-450D-9FA3-A0837D00041F}"/>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115" name="box-12-929">
              <a:extLst>
                <a:ext uri="{FF2B5EF4-FFF2-40B4-BE49-F238E27FC236}">
                  <a16:creationId xmlns:a16="http://schemas.microsoft.com/office/drawing/2014/main" id="{F745572B-3825-4D50-9775-3D04566FBD40}"/>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13-930">
              <a:extLst>
                <a:ext uri="{FF2B5EF4-FFF2-40B4-BE49-F238E27FC236}">
                  <a16:creationId xmlns:a16="http://schemas.microsoft.com/office/drawing/2014/main" id="{A9CAF77F-840A-4746-B394-332298CE9653}"/>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117" name="box-14-931">
              <a:extLst>
                <a:ext uri="{FF2B5EF4-FFF2-40B4-BE49-F238E27FC236}">
                  <a16:creationId xmlns:a16="http://schemas.microsoft.com/office/drawing/2014/main" id="{CCD0DFA8-FF62-4CF2-87F2-774990074AB2}"/>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8" name="text-15-932">
              <a:extLst>
                <a:ext uri="{FF2B5EF4-FFF2-40B4-BE49-F238E27FC236}">
                  <a16:creationId xmlns:a16="http://schemas.microsoft.com/office/drawing/2014/main" id="{4F6EF516-5AC0-40D4-A9BD-834EEF7CF4CE}"/>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sp>
          <p:nvSpPr>
            <p:cNvPr id="119" name="box-16-933">
              <a:extLst>
                <a:ext uri="{FF2B5EF4-FFF2-40B4-BE49-F238E27FC236}">
                  <a16:creationId xmlns:a16="http://schemas.microsoft.com/office/drawing/2014/main" id="{1AC70A83-1C37-4361-8D5E-DD2AC25B819B}"/>
                </a:ext>
              </a:extLst>
            </p:cNvPr>
            <p:cNvSpPr/>
            <p:nvPr/>
          </p:nvSpPr>
          <p:spPr>
            <a:xfrm>
              <a:off x="9017000" y="3251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0" name="text-17-934">
              <a:extLst>
                <a:ext uri="{FF2B5EF4-FFF2-40B4-BE49-F238E27FC236}">
                  <a16:creationId xmlns:a16="http://schemas.microsoft.com/office/drawing/2014/main" id="{FBF12393-7A07-4470-AB5A-C3B380A3BBD7}"/>
                </a:ext>
              </a:extLst>
            </p:cNvPr>
            <p:cNvSpPr txBox="1"/>
            <p:nvPr/>
          </p:nvSpPr>
          <p:spPr bwMode="auto">
            <a:xfrm>
              <a:off x="9067800" y="3235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6</a:t>
              </a:r>
            </a:p>
          </p:txBody>
        </p:sp>
        <p:sp>
          <p:nvSpPr>
            <p:cNvPr id="121" name="box-18-935">
              <a:extLst>
                <a:ext uri="{FF2B5EF4-FFF2-40B4-BE49-F238E27FC236}">
                  <a16:creationId xmlns:a16="http://schemas.microsoft.com/office/drawing/2014/main" id="{5149441E-0995-4837-9E7F-74DEE4F6DDB9}"/>
                </a:ext>
              </a:extLst>
            </p:cNvPr>
            <p:cNvSpPr/>
            <p:nvPr/>
          </p:nvSpPr>
          <p:spPr>
            <a:xfrm>
              <a:off x="9017000" y="36068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2" name="text-19-936">
              <a:extLst>
                <a:ext uri="{FF2B5EF4-FFF2-40B4-BE49-F238E27FC236}">
                  <a16:creationId xmlns:a16="http://schemas.microsoft.com/office/drawing/2014/main" id="{40056DBB-F396-4DC2-8C3B-0097EA19E936}"/>
                </a:ext>
              </a:extLst>
            </p:cNvPr>
            <p:cNvSpPr txBox="1"/>
            <p:nvPr/>
          </p:nvSpPr>
          <p:spPr bwMode="auto">
            <a:xfrm>
              <a:off x="9067800" y="35914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sp>
          <p:nvSpPr>
            <p:cNvPr id="123" name="box-20-937">
              <a:extLst>
                <a:ext uri="{FF2B5EF4-FFF2-40B4-BE49-F238E27FC236}">
                  <a16:creationId xmlns:a16="http://schemas.microsoft.com/office/drawing/2014/main" id="{4F2C412D-2906-493B-A23A-6650ABB0B98C}"/>
                </a:ext>
              </a:extLst>
            </p:cNvPr>
            <p:cNvSpPr/>
            <p:nvPr/>
          </p:nvSpPr>
          <p:spPr>
            <a:xfrm>
              <a:off x="9017000" y="39624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4" name="text-21-938">
              <a:extLst>
                <a:ext uri="{FF2B5EF4-FFF2-40B4-BE49-F238E27FC236}">
                  <a16:creationId xmlns:a16="http://schemas.microsoft.com/office/drawing/2014/main" id="{6366CFE8-AFE1-4C1F-A231-54BF1D16D0F4}"/>
                </a:ext>
              </a:extLst>
            </p:cNvPr>
            <p:cNvSpPr txBox="1"/>
            <p:nvPr/>
          </p:nvSpPr>
          <p:spPr bwMode="auto">
            <a:xfrm>
              <a:off x="9067800" y="39470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grpSp>
      <p:grpSp>
        <p:nvGrpSpPr>
          <p:cNvPr id="150" name="animation-stage-6">
            <a:extLst>
              <a:ext uri="{FF2B5EF4-FFF2-40B4-BE49-F238E27FC236}">
                <a16:creationId xmlns:a16="http://schemas.microsoft.com/office/drawing/2014/main" id="{66EB06EB-B6F8-4402-9988-B19E4FA5823E}"/>
              </a:ext>
            </a:extLst>
          </p:cNvPr>
          <p:cNvGrpSpPr/>
          <p:nvPr/>
        </p:nvGrpSpPr>
        <p:grpSpPr>
          <a:xfrm>
            <a:off x="508000" y="1816100"/>
            <a:ext cx="11201400" cy="3657600"/>
            <a:chOff x="508000" y="1816100"/>
            <a:chExt cx="11201400" cy="3657600"/>
          </a:xfrm>
        </p:grpSpPr>
        <p:sp>
          <p:nvSpPr>
            <p:cNvPr id="126" name="active-node-1-939">
              <a:extLst>
                <a:ext uri="{FF2B5EF4-FFF2-40B4-BE49-F238E27FC236}">
                  <a16:creationId xmlns:a16="http://schemas.microsoft.com/office/drawing/2014/main" id="{A826D54D-1160-48B6-9BD7-3340CAC97B20}"/>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7" name="active-node-2-940">
              <a:extLst>
                <a:ext uri="{FF2B5EF4-FFF2-40B4-BE49-F238E27FC236}">
                  <a16:creationId xmlns:a16="http://schemas.microsoft.com/office/drawing/2014/main" id="{CEBFF18F-B845-45EB-9DD7-B87C412B8535}"/>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28" name="active-node-3-941">
              <a:extLst>
                <a:ext uri="{FF2B5EF4-FFF2-40B4-BE49-F238E27FC236}">
                  <a16:creationId xmlns:a16="http://schemas.microsoft.com/office/drawing/2014/main" id="{D3DC996F-4B4C-4C40-8EF6-0D2A2E18E6AC}"/>
                </a:ext>
              </a:extLst>
            </p:cNvPr>
            <p:cNvSpPr/>
            <p:nvPr/>
          </p:nvSpPr>
          <p:spPr>
            <a:xfrm>
              <a:off x="22860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3</a:t>
              </a:r>
            </a:p>
          </p:txBody>
        </p:sp>
        <p:sp>
          <p:nvSpPr>
            <p:cNvPr id="129" name="active-node-4-942">
              <a:extLst>
                <a:ext uri="{FF2B5EF4-FFF2-40B4-BE49-F238E27FC236}">
                  <a16:creationId xmlns:a16="http://schemas.microsoft.com/office/drawing/2014/main" id="{EB4DE41A-65D1-4F98-B993-054EDF66204F}"/>
                </a:ext>
              </a:extLst>
            </p:cNvPr>
            <p:cNvSpPr/>
            <p:nvPr/>
          </p:nvSpPr>
          <p:spPr>
            <a:xfrm>
              <a:off x="3619500" y="2286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30" name="active-node-5-943">
              <a:extLst>
                <a:ext uri="{FF2B5EF4-FFF2-40B4-BE49-F238E27FC236}">
                  <a16:creationId xmlns:a16="http://schemas.microsoft.com/office/drawing/2014/main" id="{B0D30F85-F528-43D2-B924-456DAFE68EA1}"/>
                </a:ext>
              </a:extLst>
            </p:cNvPr>
            <p:cNvSpPr/>
            <p:nvPr/>
          </p:nvSpPr>
          <p:spPr>
            <a:xfrm>
              <a:off x="463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31" name="active-node-6-944">
              <a:extLst>
                <a:ext uri="{FF2B5EF4-FFF2-40B4-BE49-F238E27FC236}">
                  <a16:creationId xmlns:a16="http://schemas.microsoft.com/office/drawing/2014/main" id="{70E4896A-7122-47CD-A63E-40129344D3BB}"/>
                </a:ext>
              </a:extLst>
            </p:cNvPr>
            <p:cNvSpPr/>
            <p:nvPr/>
          </p:nvSpPr>
          <p:spPr>
            <a:xfrm>
              <a:off x="6350000" y="2032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32" name="active-node-7-945">
              <a:extLst>
                <a:ext uri="{FF2B5EF4-FFF2-40B4-BE49-F238E27FC236}">
                  <a16:creationId xmlns:a16="http://schemas.microsoft.com/office/drawing/2014/main" id="{EC981A20-4C5C-4AA8-A3AF-DC8BEE4FE21E}"/>
                </a:ext>
              </a:extLst>
            </p:cNvPr>
            <p:cNvSpPr/>
            <p:nvPr/>
          </p:nvSpPr>
          <p:spPr>
            <a:xfrm>
              <a:off x="590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33" name="active-node-8-946">
              <a:extLst>
                <a:ext uri="{FF2B5EF4-FFF2-40B4-BE49-F238E27FC236}">
                  <a16:creationId xmlns:a16="http://schemas.microsoft.com/office/drawing/2014/main" id="{2550E48E-183A-483E-896B-EB22B88E4483}"/>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34" name="box-8-947">
              <a:extLst>
                <a:ext uri="{FF2B5EF4-FFF2-40B4-BE49-F238E27FC236}">
                  <a16:creationId xmlns:a16="http://schemas.microsoft.com/office/drawing/2014/main" id="{6987AFA4-C481-4AEA-8E94-B6ED881ACDCB}"/>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5" name="box-9-948">
              <a:extLst>
                <a:ext uri="{FF2B5EF4-FFF2-40B4-BE49-F238E27FC236}">
                  <a16:creationId xmlns:a16="http://schemas.microsoft.com/office/drawing/2014/main" id="{989D36FB-652E-4C82-9922-8FC62E97DE90}"/>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6" name="text-10-949">
              <a:extLst>
                <a:ext uri="{FF2B5EF4-FFF2-40B4-BE49-F238E27FC236}">
                  <a16:creationId xmlns:a16="http://schemas.microsoft.com/office/drawing/2014/main" id="{6F255621-7093-46EF-BB15-AB893AF2089E}"/>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3 → </a:t>
              </a:r>
              <a:r>
                <a:rPr lang="en-US" sz="2100">
                  <a:solidFill>
                    <a:srgbClr val="FFFFFF"/>
                  </a:solidFill>
                  <a:latin typeface="Montserrat"/>
                </a:rPr>
                <a:t>order</a:t>
              </a:r>
              <a:endParaRPr lang="ru-RU" sz="2100">
                <a:solidFill>
                  <a:srgbClr val="FFFFFF"/>
                </a:solidFill>
                <a:latin typeface="Montserrat"/>
              </a:endParaRPr>
            </a:p>
          </p:txBody>
        </p:sp>
        <p:sp>
          <p:nvSpPr>
            <p:cNvPr id="137" name="text-11-950">
              <a:extLst>
                <a:ext uri="{FF2B5EF4-FFF2-40B4-BE49-F238E27FC236}">
                  <a16:creationId xmlns:a16="http://schemas.microsoft.com/office/drawing/2014/main" id="{7D7BDE61-B3DA-4D18-A814-C2D08574CC85}"/>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138" name="box-12-951">
              <a:extLst>
                <a:ext uri="{FF2B5EF4-FFF2-40B4-BE49-F238E27FC236}">
                  <a16:creationId xmlns:a16="http://schemas.microsoft.com/office/drawing/2014/main" id="{DD9D9211-06DC-47D8-9D72-ED8AF83E993E}"/>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9" name="text-13-952">
              <a:extLst>
                <a:ext uri="{FF2B5EF4-FFF2-40B4-BE49-F238E27FC236}">
                  <a16:creationId xmlns:a16="http://schemas.microsoft.com/office/drawing/2014/main" id="{D29ADD82-737E-4744-B300-1EF62793A6C4}"/>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140" name="box-14-953">
              <a:extLst>
                <a:ext uri="{FF2B5EF4-FFF2-40B4-BE49-F238E27FC236}">
                  <a16:creationId xmlns:a16="http://schemas.microsoft.com/office/drawing/2014/main" id="{3D3A268F-E35F-4A8C-ABA7-D6E431A9ADCA}"/>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1" name="text-15-954">
              <a:extLst>
                <a:ext uri="{FF2B5EF4-FFF2-40B4-BE49-F238E27FC236}">
                  <a16:creationId xmlns:a16="http://schemas.microsoft.com/office/drawing/2014/main" id="{44F37DF7-D947-40E9-A379-E7C754571D22}"/>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sp>
          <p:nvSpPr>
            <p:cNvPr id="142" name="box-16-955">
              <a:extLst>
                <a:ext uri="{FF2B5EF4-FFF2-40B4-BE49-F238E27FC236}">
                  <a16:creationId xmlns:a16="http://schemas.microsoft.com/office/drawing/2014/main" id="{B61F851B-7F17-4E84-8FBA-41AF78E24DFC}"/>
                </a:ext>
              </a:extLst>
            </p:cNvPr>
            <p:cNvSpPr/>
            <p:nvPr/>
          </p:nvSpPr>
          <p:spPr>
            <a:xfrm>
              <a:off x="9017000" y="3251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3" name="text-17-956">
              <a:extLst>
                <a:ext uri="{FF2B5EF4-FFF2-40B4-BE49-F238E27FC236}">
                  <a16:creationId xmlns:a16="http://schemas.microsoft.com/office/drawing/2014/main" id="{28EAD769-461C-4540-B177-9AE96D95C8D7}"/>
                </a:ext>
              </a:extLst>
            </p:cNvPr>
            <p:cNvSpPr txBox="1"/>
            <p:nvPr/>
          </p:nvSpPr>
          <p:spPr bwMode="auto">
            <a:xfrm>
              <a:off x="9067800" y="3235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6</a:t>
              </a:r>
            </a:p>
          </p:txBody>
        </p:sp>
        <p:sp>
          <p:nvSpPr>
            <p:cNvPr id="144" name="box-18-957">
              <a:extLst>
                <a:ext uri="{FF2B5EF4-FFF2-40B4-BE49-F238E27FC236}">
                  <a16:creationId xmlns:a16="http://schemas.microsoft.com/office/drawing/2014/main" id="{EFB324C5-7D8B-40CA-B4B8-055DA5F60355}"/>
                </a:ext>
              </a:extLst>
            </p:cNvPr>
            <p:cNvSpPr/>
            <p:nvPr/>
          </p:nvSpPr>
          <p:spPr>
            <a:xfrm>
              <a:off x="9017000" y="36068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5" name="text-19-958">
              <a:extLst>
                <a:ext uri="{FF2B5EF4-FFF2-40B4-BE49-F238E27FC236}">
                  <a16:creationId xmlns:a16="http://schemas.microsoft.com/office/drawing/2014/main" id="{86831E09-552E-42C4-B77B-97FF2D24DBC1}"/>
                </a:ext>
              </a:extLst>
            </p:cNvPr>
            <p:cNvSpPr txBox="1"/>
            <p:nvPr/>
          </p:nvSpPr>
          <p:spPr bwMode="auto">
            <a:xfrm>
              <a:off x="9067800" y="35914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sp>
          <p:nvSpPr>
            <p:cNvPr id="146" name="box-20-959">
              <a:extLst>
                <a:ext uri="{FF2B5EF4-FFF2-40B4-BE49-F238E27FC236}">
                  <a16:creationId xmlns:a16="http://schemas.microsoft.com/office/drawing/2014/main" id="{73091C5A-5C03-4E8A-BFF1-AE3889B80155}"/>
                </a:ext>
              </a:extLst>
            </p:cNvPr>
            <p:cNvSpPr/>
            <p:nvPr/>
          </p:nvSpPr>
          <p:spPr>
            <a:xfrm>
              <a:off x="9017000" y="39624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7" name="text-21-960">
              <a:extLst>
                <a:ext uri="{FF2B5EF4-FFF2-40B4-BE49-F238E27FC236}">
                  <a16:creationId xmlns:a16="http://schemas.microsoft.com/office/drawing/2014/main" id="{71643A61-319B-4A09-8C63-C2B9A046F06C}"/>
                </a:ext>
              </a:extLst>
            </p:cNvPr>
            <p:cNvSpPr txBox="1"/>
            <p:nvPr/>
          </p:nvSpPr>
          <p:spPr bwMode="auto">
            <a:xfrm>
              <a:off x="9067800" y="39470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sp>
          <p:nvSpPr>
            <p:cNvPr id="148" name="box-22-961">
              <a:extLst>
                <a:ext uri="{FF2B5EF4-FFF2-40B4-BE49-F238E27FC236}">
                  <a16:creationId xmlns:a16="http://schemas.microsoft.com/office/drawing/2014/main" id="{55BCC664-25CD-4718-BD79-3B3022A8FADF}"/>
                </a:ext>
              </a:extLst>
            </p:cNvPr>
            <p:cNvSpPr/>
            <p:nvPr/>
          </p:nvSpPr>
          <p:spPr>
            <a:xfrm>
              <a:off x="9017000" y="4318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9" name="text-23-962">
              <a:extLst>
                <a:ext uri="{FF2B5EF4-FFF2-40B4-BE49-F238E27FC236}">
                  <a16:creationId xmlns:a16="http://schemas.microsoft.com/office/drawing/2014/main" id="{72C7EC9D-7ECA-4FCC-9BB0-560FE7C8886F}"/>
                </a:ext>
              </a:extLst>
            </p:cNvPr>
            <p:cNvSpPr txBox="1"/>
            <p:nvPr/>
          </p:nvSpPr>
          <p:spPr bwMode="auto">
            <a:xfrm>
              <a:off x="9067800" y="4302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grpSp>
      <p:grpSp>
        <p:nvGrpSpPr>
          <p:cNvPr id="177" name="animation-stage-7">
            <a:extLst>
              <a:ext uri="{FF2B5EF4-FFF2-40B4-BE49-F238E27FC236}">
                <a16:creationId xmlns:a16="http://schemas.microsoft.com/office/drawing/2014/main" id="{6969C28B-6D29-414F-9A7F-18532A0DF0E5}"/>
              </a:ext>
            </a:extLst>
          </p:cNvPr>
          <p:cNvGrpSpPr/>
          <p:nvPr/>
        </p:nvGrpSpPr>
        <p:grpSpPr>
          <a:xfrm>
            <a:off x="508000" y="1816100"/>
            <a:ext cx="11201400" cy="3657600"/>
            <a:chOff x="508000" y="1816100"/>
            <a:chExt cx="11201400" cy="3657600"/>
          </a:xfrm>
        </p:grpSpPr>
        <p:sp>
          <p:nvSpPr>
            <p:cNvPr id="151" name="active-node-1-963">
              <a:extLst>
                <a:ext uri="{FF2B5EF4-FFF2-40B4-BE49-F238E27FC236}">
                  <a16:creationId xmlns:a16="http://schemas.microsoft.com/office/drawing/2014/main" id="{1841A98C-4837-43AF-AD6D-6E6A3ADB59B2}"/>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52" name="active-node-2-964">
              <a:extLst>
                <a:ext uri="{FF2B5EF4-FFF2-40B4-BE49-F238E27FC236}">
                  <a16:creationId xmlns:a16="http://schemas.microsoft.com/office/drawing/2014/main" id="{CEBFD917-E878-4BA3-B415-9D6D31785E24}"/>
                </a:ext>
              </a:extLst>
            </p:cNvPr>
            <p:cNvSpPr/>
            <p:nvPr/>
          </p:nvSpPr>
          <p:spPr>
            <a:xfrm>
              <a:off x="5080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2</a:t>
              </a:r>
            </a:p>
          </p:txBody>
        </p:sp>
        <p:sp>
          <p:nvSpPr>
            <p:cNvPr id="153" name="active-node-3-965">
              <a:extLst>
                <a:ext uri="{FF2B5EF4-FFF2-40B4-BE49-F238E27FC236}">
                  <a16:creationId xmlns:a16="http://schemas.microsoft.com/office/drawing/2014/main" id="{8426874F-71C0-4B09-9468-4CB5EC941409}"/>
                </a:ext>
              </a:extLst>
            </p:cNvPr>
            <p:cNvSpPr/>
            <p:nvPr/>
          </p:nvSpPr>
          <p:spPr>
            <a:xfrm>
              <a:off x="22860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54" name="active-node-4-966">
              <a:extLst>
                <a:ext uri="{FF2B5EF4-FFF2-40B4-BE49-F238E27FC236}">
                  <a16:creationId xmlns:a16="http://schemas.microsoft.com/office/drawing/2014/main" id="{14D07E5C-F360-4644-8D8D-4E03CDA8970E}"/>
                </a:ext>
              </a:extLst>
            </p:cNvPr>
            <p:cNvSpPr/>
            <p:nvPr/>
          </p:nvSpPr>
          <p:spPr>
            <a:xfrm>
              <a:off x="3619500" y="2286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5" name="active-node-5-967">
              <a:extLst>
                <a:ext uri="{FF2B5EF4-FFF2-40B4-BE49-F238E27FC236}">
                  <a16:creationId xmlns:a16="http://schemas.microsoft.com/office/drawing/2014/main" id="{7A3D221F-B291-4F55-99DF-27AF02AE49CD}"/>
                </a:ext>
              </a:extLst>
            </p:cNvPr>
            <p:cNvSpPr/>
            <p:nvPr/>
          </p:nvSpPr>
          <p:spPr>
            <a:xfrm>
              <a:off x="463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56" name="active-node-6-968">
              <a:extLst>
                <a:ext uri="{FF2B5EF4-FFF2-40B4-BE49-F238E27FC236}">
                  <a16:creationId xmlns:a16="http://schemas.microsoft.com/office/drawing/2014/main" id="{5B5AA702-C846-4669-A917-76E72C71144E}"/>
                </a:ext>
              </a:extLst>
            </p:cNvPr>
            <p:cNvSpPr/>
            <p:nvPr/>
          </p:nvSpPr>
          <p:spPr>
            <a:xfrm>
              <a:off x="6350000" y="2032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57" name="active-node-7-969">
              <a:extLst>
                <a:ext uri="{FF2B5EF4-FFF2-40B4-BE49-F238E27FC236}">
                  <a16:creationId xmlns:a16="http://schemas.microsoft.com/office/drawing/2014/main" id="{B25E6716-F703-4D24-888E-B52D270241D0}"/>
                </a:ext>
              </a:extLst>
            </p:cNvPr>
            <p:cNvSpPr/>
            <p:nvPr/>
          </p:nvSpPr>
          <p:spPr>
            <a:xfrm>
              <a:off x="590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58" name="active-node-8-970">
              <a:extLst>
                <a:ext uri="{FF2B5EF4-FFF2-40B4-BE49-F238E27FC236}">
                  <a16:creationId xmlns:a16="http://schemas.microsoft.com/office/drawing/2014/main" id="{893A0098-F515-4C90-8D27-CBF2AC58075F}"/>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59" name="box-8-971">
              <a:extLst>
                <a:ext uri="{FF2B5EF4-FFF2-40B4-BE49-F238E27FC236}">
                  <a16:creationId xmlns:a16="http://schemas.microsoft.com/office/drawing/2014/main" id="{8A430886-4546-4720-B038-1DDD2654E025}"/>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0" name="box-9-972">
              <a:extLst>
                <a:ext uri="{FF2B5EF4-FFF2-40B4-BE49-F238E27FC236}">
                  <a16:creationId xmlns:a16="http://schemas.microsoft.com/office/drawing/2014/main" id="{4C614707-D71C-4F13-B4BD-15E8D9AE3080}"/>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1" name="text-10-973">
              <a:extLst>
                <a:ext uri="{FF2B5EF4-FFF2-40B4-BE49-F238E27FC236}">
                  <a16:creationId xmlns:a16="http://schemas.microsoft.com/office/drawing/2014/main" id="{9453AD09-4E7B-4607-9BAB-46B37E497CF2}"/>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2 → </a:t>
              </a:r>
              <a:r>
                <a:rPr lang="en-US" sz="2100">
                  <a:solidFill>
                    <a:srgbClr val="FFFFFF"/>
                  </a:solidFill>
                  <a:latin typeface="Montserrat"/>
                </a:rPr>
                <a:t>order</a:t>
              </a:r>
              <a:endParaRPr lang="ru-RU" sz="2100">
                <a:solidFill>
                  <a:srgbClr val="FFFFFF"/>
                </a:solidFill>
                <a:latin typeface="Montserrat"/>
              </a:endParaRPr>
            </a:p>
          </p:txBody>
        </p:sp>
        <p:sp>
          <p:nvSpPr>
            <p:cNvPr id="162" name="text-11-974">
              <a:extLst>
                <a:ext uri="{FF2B5EF4-FFF2-40B4-BE49-F238E27FC236}">
                  <a16:creationId xmlns:a16="http://schemas.microsoft.com/office/drawing/2014/main" id="{345CF665-AF50-48B3-8672-C8495E293EE4}"/>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163" name="box-12-975">
              <a:extLst>
                <a:ext uri="{FF2B5EF4-FFF2-40B4-BE49-F238E27FC236}">
                  <a16:creationId xmlns:a16="http://schemas.microsoft.com/office/drawing/2014/main" id="{11084F39-DE1D-40D8-9A94-E5155087DAC9}"/>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4" name="text-13-976">
              <a:extLst>
                <a:ext uri="{FF2B5EF4-FFF2-40B4-BE49-F238E27FC236}">
                  <a16:creationId xmlns:a16="http://schemas.microsoft.com/office/drawing/2014/main" id="{651734D5-62EF-44D7-AE73-B27D93C9A777}"/>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165" name="box-14-977">
              <a:extLst>
                <a:ext uri="{FF2B5EF4-FFF2-40B4-BE49-F238E27FC236}">
                  <a16:creationId xmlns:a16="http://schemas.microsoft.com/office/drawing/2014/main" id="{B5CB7B58-4F3D-43E4-BF07-7592A419F6A8}"/>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6" name="text-15-978">
              <a:extLst>
                <a:ext uri="{FF2B5EF4-FFF2-40B4-BE49-F238E27FC236}">
                  <a16:creationId xmlns:a16="http://schemas.microsoft.com/office/drawing/2014/main" id="{3F13D361-418F-4284-B5C1-F1B0ADAE38A7}"/>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sp>
          <p:nvSpPr>
            <p:cNvPr id="167" name="box-16-979">
              <a:extLst>
                <a:ext uri="{FF2B5EF4-FFF2-40B4-BE49-F238E27FC236}">
                  <a16:creationId xmlns:a16="http://schemas.microsoft.com/office/drawing/2014/main" id="{0A1E5C42-5F78-4BA5-BA82-0B0E01930421}"/>
                </a:ext>
              </a:extLst>
            </p:cNvPr>
            <p:cNvSpPr/>
            <p:nvPr/>
          </p:nvSpPr>
          <p:spPr>
            <a:xfrm>
              <a:off x="9017000" y="3251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8" name="text-17-980">
              <a:extLst>
                <a:ext uri="{FF2B5EF4-FFF2-40B4-BE49-F238E27FC236}">
                  <a16:creationId xmlns:a16="http://schemas.microsoft.com/office/drawing/2014/main" id="{E55F8273-BD8D-4D2B-B804-9BB710D61F91}"/>
                </a:ext>
              </a:extLst>
            </p:cNvPr>
            <p:cNvSpPr txBox="1"/>
            <p:nvPr/>
          </p:nvSpPr>
          <p:spPr bwMode="auto">
            <a:xfrm>
              <a:off x="9067800" y="3235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6</a:t>
              </a:r>
            </a:p>
          </p:txBody>
        </p:sp>
        <p:sp>
          <p:nvSpPr>
            <p:cNvPr id="169" name="box-18-981">
              <a:extLst>
                <a:ext uri="{FF2B5EF4-FFF2-40B4-BE49-F238E27FC236}">
                  <a16:creationId xmlns:a16="http://schemas.microsoft.com/office/drawing/2014/main" id="{C02D3E8B-B0AB-4258-B966-72F0274AD010}"/>
                </a:ext>
              </a:extLst>
            </p:cNvPr>
            <p:cNvSpPr/>
            <p:nvPr/>
          </p:nvSpPr>
          <p:spPr>
            <a:xfrm>
              <a:off x="9017000" y="36068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0" name="text-19-982">
              <a:extLst>
                <a:ext uri="{FF2B5EF4-FFF2-40B4-BE49-F238E27FC236}">
                  <a16:creationId xmlns:a16="http://schemas.microsoft.com/office/drawing/2014/main" id="{3CA4B4D9-3719-4972-8B91-D287E56905FF}"/>
                </a:ext>
              </a:extLst>
            </p:cNvPr>
            <p:cNvSpPr txBox="1"/>
            <p:nvPr/>
          </p:nvSpPr>
          <p:spPr bwMode="auto">
            <a:xfrm>
              <a:off x="9067800" y="35914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sp>
          <p:nvSpPr>
            <p:cNvPr id="171" name="box-20-983">
              <a:extLst>
                <a:ext uri="{FF2B5EF4-FFF2-40B4-BE49-F238E27FC236}">
                  <a16:creationId xmlns:a16="http://schemas.microsoft.com/office/drawing/2014/main" id="{D86FCFBF-78C8-4CD1-AC65-046F67F475CE}"/>
                </a:ext>
              </a:extLst>
            </p:cNvPr>
            <p:cNvSpPr/>
            <p:nvPr/>
          </p:nvSpPr>
          <p:spPr>
            <a:xfrm>
              <a:off x="9017000" y="39624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2" name="text-21-984">
              <a:extLst>
                <a:ext uri="{FF2B5EF4-FFF2-40B4-BE49-F238E27FC236}">
                  <a16:creationId xmlns:a16="http://schemas.microsoft.com/office/drawing/2014/main" id="{70BDDB42-12E8-45A0-8EAC-86B342C125E1}"/>
                </a:ext>
              </a:extLst>
            </p:cNvPr>
            <p:cNvSpPr txBox="1"/>
            <p:nvPr/>
          </p:nvSpPr>
          <p:spPr bwMode="auto">
            <a:xfrm>
              <a:off x="9067800" y="39470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sp>
          <p:nvSpPr>
            <p:cNvPr id="173" name="box-22-985">
              <a:extLst>
                <a:ext uri="{FF2B5EF4-FFF2-40B4-BE49-F238E27FC236}">
                  <a16:creationId xmlns:a16="http://schemas.microsoft.com/office/drawing/2014/main" id="{2BC33C77-9EF2-4BB4-8438-0696CF19F524}"/>
                </a:ext>
              </a:extLst>
            </p:cNvPr>
            <p:cNvSpPr/>
            <p:nvPr/>
          </p:nvSpPr>
          <p:spPr>
            <a:xfrm>
              <a:off x="9017000" y="4318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4" name="text-23-986">
              <a:extLst>
                <a:ext uri="{FF2B5EF4-FFF2-40B4-BE49-F238E27FC236}">
                  <a16:creationId xmlns:a16="http://schemas.microsoft.com/office/drawing/2014/main" id="{BF7EE769-A8BF-4E30-A023-0664679056FE}"/>
                </a:ext>
              </a:extLst>
            </p:cNvPr>
            <p:cNvSpPr txBox="1"/>
            <p:nvPr/>
          </p:nvSpPr>
          <p:spPr bwMode="auto">
            <a:xfrm>
              <a:off x="9067800" y="4302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175" name="box-24-987">
              <a:extLst>
                <a:ext uri="{FF2B5EF4-FFF2-40B4-BE49-F238E27FC236}">
                  <a16:creationId xmlns:a16="http://schemas.microsoft.com/office/drawing/2014/main" id="{5E447DF2-89E1-4B48-B008-B816822600BE}"/>
                </a:ext>
              </a:extLst>
            </p:cNvPr>
            <p:cNvSpPr/>
            <p:nvPr/>
          </p:nvSpPr>
          <p:spPr>
            <a:xfrm>
              <a:off x="9017000" y="4673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6" name="text-25-988">
              <a:extLst>
                <a:ext uri="{FF2B5EF4-FFF2-40B4-BE49-F238E27FC236}">
                  <a16:creationId xmlns:a16="http://schemas.microsoft.com/office/drawing/2014/main" id="{8A93EE67-FD48-457A-8EAA-D4EEB2D99302}"/>
                </a:ext>
              </a:extLst>
            </p:cNvPr>
            <p:cNvSpPr txBox="1"/>
            <p:nvPr/>
          </p:nvSpPr>
          <p:spPr bwMode="auto">
            <a:xfrm>
              <a:off x="9067800" y="4658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2</a:t>
              </a:r>
            </a:p>
          </p:txBody>
        </p:sp>
      </p:grpSp>
      <p:grpSp>
        <p:nvGrpSpPr>
          <p:cNvPr id="206" name="animation-stage-8">
            <a:extLst>
              <a:ext uri="{FF2B5EF4-FFF2-40B4-BE49-F238E27FC236}">
                <a16:creationId xmlns:a16="http://schemas.microsoft.com/office/drawing/2014/main" id="{3FB14C0C-5337-4C5F-9A7B-2AF6F8C06F54}"/>
              </a:ext>
            </a:extLst>
          </p:cNvPr>
          <p:cNvGrpSpPr/>
          <p:nvPr/>
        </p:nvGrpSpPr>
        <p:grpSpPr>
          <a:xfrm>
            <a:off x="508000" y="1816100"/>
            <a:ext cx="11201400" cy="3657600"/>
            <a:chOff x="508000" y="1816100"/>
            <a:chExt cx="11201400" cy="3657600"/>
          </a:xfrm>
        </p:grpSpPr>
        <p:sp>
          <p:nvSpPr>
            <p:cNvPr id="178" name="active-node-1-989">
              <a:extLst>
                <a:ext uri="{FF2B5EF4-FFF2-40B4-BE49-F238E27FC236}">
                  <a16:creationId xmlns:a16="http://schemas.microsoft.com/office/drawing/2014/main" id="{ABED6FAA-4216-431D-9C83-37304826EAEC}"/>
                </a:ext>
              </a:extLst>
            </p:cNvPr>
            <p:cNvSpPr/>
            <p:nvPr/>
          </p:nvSpPr>
          <p:spPr>
            <a:xfrm>
              <a:off x="8255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179" name="active-node-2-990">
              <a:extLst>
                <a:ext uri="{FF2B5EF4-FFF2-40B4-BE49-F238E27FC236}">
                  <a16:creationId xmlns:a16="http://schemas.microsoft.com/office/drawing/2014/main" id="{62B697D8-3BBD-4332-A64A-514DA44D7264}"/>
                </a:ext>
              </a:extLst>
            </p:cNvPr>
            <p:cNvSpPr/>
            <p:nvPr/>
          </p:nvSpPr>
          <p:spPr>
            <a:xfrm>
              <a:off x="5080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80" name="active-node-3-991">
              <a:extLst>
                <a:ext uri="{FF2B5EF4-FFF2-40B4-BE49-F238E27FC236}">
                  <a16:creationId xmlns:a16="http://schemas.microsoft.com/office/drawing/2014/main" id="{6CA8B3DE-5A94-44A8-B7AA-A008B2E68DBF}"/>
                </a:ext>
              </a:extLst>
            </p:cNvPr>
            <p:cNvSpPr/>
            <p:nvPr/>
          </p:nvSpPr>
          <p:spPr>
            <a:xfrm>
              <a:off x="22860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81" name="active-node-4-992">
              <a:extLst>
                <a:ext uri="{FF2B5EF4-FFF2-40B4-BE49-F238E27FC236}">
                  <a16:creationId xmlns:a16="http://schemas.microsoft.com/office/drawing/2014/main" id="{7F7CE9A6-FF19-4645-9900-E40E565E91C0}"/>
                </a:ext>
              </a:extLst>
            </p:cNvPr>
            <p:cNvSpPr/>
            <p:nvPr/>
          </p:nvSpPr>
          <p:spPr>
            <a:xfrm>
              <a:off x="3619500" y="2286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82" name="active-node-5-993">
              <a:extLst>
                <a:ext uri="{FF2B5EF4-FFF2-40B4-BE49-F238E27FC236}">
                  <a16:creationId xmlns:a16="http://schemas.microsoft.com/office/drawing/2014/main" id="{341FE04A-918B-4B58-90D2-46953655B594}"/>
                </a:ext>
              </a:extLst>
            </p:cNvPr>
            <p:cNvSpPr/>
            <p:nvPr/>
          </p:nvSpPr>
          <p:spPr>
            <a:xfrm>
              <a:off x="463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83" name="active-node-6-994">
              <a:extLst>
                <a:ext uri="{FF2B5EF4-FFF2-40B4-BE49-F238E27FC236}">
                  <a16:creationId xmlns:a16="http://schemas.microsoft.com/office/drawing/2014/main" id="{34F4AD06-AE64-44E9-88AC-ED8BD630012B}"/>
                </a:ext>
              </a:extLst>
            </p:cNvPr>
            <p:cNvSpPr/>
            <p:nvPr/>
          </p:nvSpPr>
          <p:spPr>
            <a:xfrm>
              <a:off x="6350000" y="2032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84" name="active-node-7-995">
              <a:extLst>
                <a:ext uri="{FF2B5EF4-FFF2-40B4-BE49-F238E27FC236}">
                  <a16:creationId xmlns:a16="http://schemas.microsoft.com/office/drawing/2014/main" id="{43DBE886-1BE4-4E15-A337-D2CCBF8EF387}"/>
                </a:ext>
              </a:extLst>
            </p:cNvPr>
            <p:cNvSpPr/>
            <p:nvPr/>
          </p:nvSpPr>
          <p:spPr>
            <a:xfrm>
              <a:off x="5905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85" name="active-node-8-996">
              <a:extLst>
                <a:ext uri="{FF2B5EF4-FFF2-40B4-BE49-F238E27FC236}">
                  <a16:creationId xmlns:a16="http://schemas.microsoft.com/office/drawing/2014/main" id="{D97C631B-A053-4345-B1E7-9D71F3237CB5}"/>
                </a:ext>
              </a:extLst>
            </p:cNvPr>
            <p:cNvSpPr/>
            <p:nvPr/>
          </p:nvSpPr>
          <p:spPr>
            <a:xfrm>
              <a:off x="7683500" y="40005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86" name="box-8-997">
              <a:extLst>
                <a:ext uri="{FF2B5EF4-FFF2-40B4-BE49-F238E27FC236}">
                  <a16:creationId xmlns:a16="http://schemas.microsoft.com/office/drawing/2014/main" id="{B6D8C25D-D5AE-4579-98E0-5335398DD287}"/>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7" name="box-9-998">
              <a:extLst>
                <a:ext uri="{FF2B5EF4-FFF2-40B4-BE49-F238E27FC236}">
                  <a16:creationId xmlns:a16="http://schemas.microsoft.com/office/drawing/2014/main" id="{17E1E7BD-7A2E-4759-8147-DD8D36FE5D1A}"/>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8" name="text-10-999">
              <a:extLst>
                <a:ext uri="{FF2B5EF4-FFF2-40B4-BE49-F238E27FC236}">
                  <a16:creationId xmlns:a16="http://schemas.microsoft.com/office/drawing/2014/main" id="{BC9C3172-1D3F-4AD6-8C22-C54779360CD1}"/>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1 → </a:t>
              </a:r>
              <a:r>
                <a:rPr lang="en-US" sz="2100">
                  <a:solidFill>
                    <a:srgbClr val="FFFFFF"/>
                  </a:solidFill>
                  <a:latin typeface="Montserrat"/>
                </a:rPr>
                <a:t>order</a:t>
              </a:r>
              <a:endParaRPr lang="ru-RU" sz="2100">
                <a:solidFill>
                  <a:srgbClr val="FFFFFF"/>
                </a:solidFill>
                <a:latin typeface="Montserrat"/>
              </a:endParaRPr>
            </a:p>
          </p:txBody>
        </p:sp>
        <p:sp>
          <p:nvSpPr>
            <p:cNvPr id="189" name="text-11-1000">
              <a:extLst>
                <a:ext uri="{FF2B5EF4-FFF2-40B4-BE49-F238E27FC236}">
                  <a16:creationId xmlns:a16="http://schemas.microsoft.com/office/drawing/2014/main" id="{D7B8CF1F-C8C2-4F1E-9015-B27C1DB8309F}"/>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190" name="box-12-1001">
              <a:extLst>
                <a:ext uri="{FF2B5EF4-FFF2-40B4-BE49-F238E27FC236}">
                  <a16:creationId xmlns:a16="http://schemas.microsoft.com/office/drawing/2014/main" id="{76791175-6A17-44FB-963F-450663BFB9D7}"/>
                </a:ext>
              </a:extLst>
            </p:cNvPr>
            <p:cNvSpPr/>
            <p:nvPr/>
          </p:nvSpPr>
          <p:spPr>
            <a:xfrm>
              <a:off x="9017000" y="2540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1" name="text-13-1002">
              <a:extLst>
                <a:ext uri="{FF2B5EF4-FFF2-40B4-BE49-F238E27FC236}">
                  <a16:creationId xmlns:a16="http://schemas.microsoft.com/office/drawing/2014/main" id="{B0B4B656-03AD-4C1B-8404-2FE9C7F94AC7}"/>
                </a:ext>
              </a:extLst>
            </p:cNvPr>
            <p:cNvSpPr txBox="1"/>
            <p:nvPr/>
          </p:nvSpPr>
          <p:spPr bwMode="auto">
            <a:xfrm>
              <a:off x="9067800" y="2524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8</a:t>
              </a:r>
            </a:p>
          </p:txBody>
        </p:sp>
        <p:sp>
          <p:nvSpPr>
            <p:cNvPr id="192" name="box-14-1003">
              <a:extLst>
                <a:ext uri="{FF2B5EF4-FFF2-40B4-BE49-F238E27FC236}">
                  <a16:creationId xmlns:a16="http://schemas.microsoft.com/office/drawing/2014/main" id="{F3D829DE-4BC1-4B50-AAF8-FDC9A744F198}"/>
                </a:ext>
              </a:extLst>
            </p:cNvPr>
            <p:cNvSpPr/>
            <p:nvPr/>
          </p:nvSpPr>
          <p:spPr>
            <a:xfrm>
              <a:off x="9017000" y="2895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3" name="text-15-1004">
              <a:extLst>
                <a:ext uri="{FF2B5EF4-FFF2-40B4-BE49-F238E27FC236}">
                  <a16:creationId xmlns:a16="http://schemas.microsoft.com/office/drawing/2014/main" id="{2F3AAAA9-8C4E-433E-BC8C-FC03D8D8C1CC}"/>
                </a:ext>
              </a:extLst>
            </p:cNvPr>
            <p:cNvSpPr txBox="1"/>
            <p:nvPr/>
          </p:nvSpPr>
          <p:spPr bwMode="auto">
            <a:xfrm>
              <a:off x="9067800" y="2880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7</a:t>
              </a:r>
            </a:p>
          </p:txBody>
        </p:sp>
        <p:sp>
          <p:nvSpPr>
            <p:cNvPr id="194" name="box-16-1005">
              <a:extLst>
                <a:ext uri="{FF2B5EF4-FFF2-40B4-BE49-F238E27FC236}">
                  <a16:creationId xmlns:a16="http://schemas.microsoft.com/office/drawing/2014/main" id="{0E59940B-495D-4425-9385-FD53ED37EC3A}"/>
                </a:ext>
              </a:extLst>
            </p:cNvPr>
            <p:cNvSpPr/>
            <p:nvPr/>
          </p:nvSpPr>
          <p:spPr>
            <a:xfrm>
              <a:off x="9017000" y="3251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5" name="text-17-1006">
              <a:extLst>
                <a:ext uri="{FF2B5EF4-FFF2-40B4-BE49-F238E27FC236}">
                  <a16:creationId xmlns:a16="http://schemas.microsoft.com/office/drawing/2014/main" id="{4837DB8D-8A83-4F89-8434-4BEA92936ABF}"/>
                </a:ext>
              </a:extLst>
            </p:cNvPr>
            <p:cNvSpPr txBox="1"/>
            <p:nvPr/>
          </p:nvSpPr>
          <p:spPr bwMode="auto">
            <a:xfrm>
              <a:off x="9067800" y="3235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6</a:t>
              </a:r>
            </a:p>
          </p:txBody>
        </p:sp>
        <p:sp>
          <p:nvSpPr>
            <p:cNvPr id="196" name="box-18-1007">
              <a:extLst>
                <a:ext uri="{FF2B5EF4-FFF2-40B4-BE49-F238E27FC236}">
                  <a16:creationId xmlns:a16="http://schemas.microsoft.com/office/drawing/2014/main" id="{5430FE7F-F17A-4CC0-9EB3-068414146AF9}"/>
                </a:ext>
              </a:extLst>
            </p:cNvPr>
            <p:cNvSpPr/>
            <p:nvPr/>
          </p:nvSpPr>
          <p:spPr>
            <a:xfrm>
              <a:off x="9017000" y="36068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7" name="text-19-1008">
              <a:extLst>
                <a:ext uri="{FF2B5EF4-FFF2-40B4-BE49-F238E27FC236}">
                  <a16:creationId xmlns:a16="http://schemas.microsoft.com/office/drawing/2014/main" id="{8D5499E5-8B99-4B1A-A85C-D62483055CFA}"/>
                </a:ext>
              </a:extLst>
            </p:cNvPr>
            <p:cNvSpPr txBox="1"/>
            <p:nvPr/>
          </p:nvSpPr>
          <p:spPr bwMode="auto">
            <a:xfrm>
              <a:off x="9067800" y="35914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sp>
          <p:nvSpPr>
            <p:cNvPr id="198" name="box-20-1009">
              <a:extLst>
                <a:ext uri="{FF2B5EF4-FFF2-40B4-BE49-F238E27FC236}">
                  <a16:creationId xmlns:a16="http://schemas.microsoft.com/office/drawing/2014/main" id="{0D6C622B-B414-44DC-AA16-F23AD1C97B81}"/>
                </a:ext>
              </a:extLst>
            </p:cNvPr>
            <p:cNvSpPr/>
            <p:nvPr/>
          </p:nvSpPr>
          <p:spPr>
            <a:xfrm>
              <a:off x="9017000" y="39624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9" name="text-21-1010">
              <a:extLst>
                <a:ext uri="{FF2B5EF4-FFF2-40B4-BE49-F238E27FC236}">
                  <a16:creationId xmlns:a16="http://schemas.microsoft.com/office/drawing/2014/main" id="{3B490450-D1A1-497B-A0E7-997C64BA7D7E}"/>
                </a:ext>
              </a:extLst>
            </p:cNvPr>
            <p:cNvSpPr txBox="1"/>
            <p:nvPr/>
          </p:nvSpPr>
          <p:spPr bwMode="auto">
            <a:xfrm>
              <a:off x="9067800" y="39470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sp>
          <p:nvSpPr>
            <p:cNvPr id="200" name="box-22-1011">
              <a:extLst>
                <a:ext uri="{FF2B5EF4-FFF2-40B4-BE49-F238E27FC236}">
                  <a16:creationId xmlns:a16="http://schemas.microsoft.com/office/drawing/2014/main" id="{DD41A25F-D45F-457B-8009-62EAB4EA4039}"/>
                </a:ext>
              </a:extLst>
            </p:cNvPr>
            <p:cNvSpPr/>
            <p:nvPr/>
          </p:nvSpPr>
          <p:spPr>
            <a:xfrm>
              <a:off x="9017000" y="43180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1" name="text-23-1012">
              <a:extLst>
                <a:ext uri="{FF2B5EF4-FFF2-40B4-BE49-F238E27FC236}">
                  <a16:creationId xmlns:a16="http://schemas.microsoft.com/office/drawing/2014/main" id="{731E9208-F2ED-47C7-BCA2-5FB62C6F3EE8}"/>
                </a:ext>
              </a:extLst>
            </p:cNvPr>
            <p:cNvSpPr txBox="1"/>
            <p:nvPr/>
          </p:nvSpPr>
          <p:spPr bwMode="auto">
            <a:xfrm>
              <a:off x="9067800" y="43026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202" name="box-24-1013">
              <a:extLst>
                <a:ext uri="{FF2B5EF4-FFF2-40B4-BE49-F238E27FC236}">
                  <a16:creationId xmlns:a16="http://schemas.microsoft.com/office/drawing/2014/main" id="{E802ABF7-B61B-4736-B164-500A9DE2F95D}"/>
                </a:ext>
              </a:extLst>
            </p:cNvPr>
            <p:cNvSpPr/>
            <p:nvPr/>
          </p:nvSpPr>
          <p:spPr>
            <a:xfrm>
              <a:off x="9017000" y="46736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3" name="text-25-1014">
              <a:extLst>
                <a:ext uri="{FF2B5EF4-FFF2-40B4-BE49-F238E27FC236}">
                  <a16:creationId xmlns:a16="http://schemas.microsoft.com/office/drawing/2014/main" id="{747A6EA4-1D04-47EC-952E-EFE54C5C329A}"/>
                </a:ext>
              </a:extLst>
            </p:cNvPr>
            <p:cNvSpPr txBox="1"/>
            <p:nvPr/>
          </p:nvSpPr>
          <p:spPr bwMode="auto">
            <a:xfrm>
              <a:off x="9067800" y="46582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2</a:t>
              </a:r>
            </a:p>
          </p:txBody>
        </p:sp>
        <p:sp>
          <p:nvSpPr>
            <p:cNvPr id="204" name="box-26-1015">
              <a:extLst>
                <a:ext uri="{FF2B5EF4-FFF2-40B4-BE49-F238E27FC236}">
                  <a16:creationId xmlns:a16="http://schemas.microsoft.com/office/drawing/2014/main" id="{067C50A1-7104-45CE-BBA8-AB7748C1D2CD}"/>
                </a:ext>
              </a:extLst>
            </p:cNvPr>
            <p:cNvSpPr/>
            <p:nvPr/>
          </p:nvSpPr>
          <p:spPr>
            <a:xfrm>
              <a:off x="9017000" y="5029200"/>
              <a:ext cx="2387600" cy="3556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5" name="text-27-1016">
              <a:extLst>
                <a:ext uri="{FF2B5EF4-FFF2-40B4-BE49-F238E27FC236}">
                  <a16:creationId xmlns:a16="http://schemas.microsoft.com/office/drawing/2014/main" id="{B51BED09-0FDF-409B-9B81-6654A506B553}"/>
                </a:ext>
              </a:extLst>
            </p:cNvPr>
            <p:cNvSpPr txBox="1"/>
            <p:nvPr/>
          </p:nvSpPr>
          <p:spPr bwMode="auto">
            <a:xfrm>
              <a:off x="9067800" y="5013811"/>
              <a:ext cx="2286000"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1</a:t>
              </a:r>
            </a:p>
          </p:txBody>
        </p:sp>
      </p:grpSp>
      <p:sp>
        <p:nvSpPr>
          <p:cNvPr id="207" name="lecture-footer">
            <a:extLst>
              <a:ext uri="{FF2B5EF4-FFF2-40B4-BE49-F238E27FC236}">
                <a16:creationId xmlns:a16="http://schemas.microsoft.com/office/drawing/2014/main" id="{1C4B5DD6-E4C7-4FD2-B112-CDBEC3C75F4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08" name="slide-number">
            <a:extLst>
              <a:ext uri="{FF2B5EF4-FFF2-40B4-BE49-F238E27FC236}">
                <a16:creationId xmlns:a16="http://schemas.microsoft.com/office/drawing/2014/main" id="{9496D0C0-4549-463D-82CA-90834EB53DA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25</a:t>
            </a:r>
          </a:p>
        </p:txBody>
      </p:sp>
    </p:spTree>
    <p:extLst>
      <p:ext uri="{BB962C8B-B14F-4D97-AF65-F5344CB8AC3E}">
        <p14:creationId xmlns:p14="http://schemas.microsoft.com/office/powerpoint/2010/main" val="38366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25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250"/>
                                        <p:tgtEl>
                                          <p:spTgt spid="62"/>
                                        </p:tgtEl>
                                      </p:cBhvr>
                                    </p:animEffect>
                                  </p:childTnLst>
                                </p:cTn>
                              </p:par>
                              <p:par>
                                <p:cTn id="13" presetID="10" presetClass="exit" presetSubtype="0" fill="hold" nodeType="withEffect">
                                  <p:stCondLst>
                                    <p:cond delay="0"/>
                                  </p:stCondLst>
                                  <p:childTnLst>
                                    <p:animEffect transition="out" filter="fade">
                                      <p:cBhvr>
                                        <p:cTn id="14" dur="150"/>
                                        <p:tgtEl>
                                          <p:spTgt spid="45"/>
                                        </p:tgtEl>
                                      </p:cBhvr>
                                    </p:animEffect>
                                    <p:set>
                                      <p:cBhvr>
                                        <p:cTn id="15" dur="1" fill="hold">
                                          <p:stCondLst>
                                            <p:cond delay="149"/>
                                          </p:stCondLst>
                                        </p:cTn>
                                        <p:tgtEl>
                                          <p:spTgt spid="4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1"/>
                                        </p:tgtEl>
                                        <p:attrNameLst>
                                          <p:attrName>style.visibility</p:attrName>
                                        </p:attrNameLst>
                                      </p:cBhvr>
                                      <p:to>
                                        <p:strVal val="visible"/>
                                      </p:to>
                                    </p:set>
                                    <p:animEffect transition="in" filter="fade">
                                      <p:cBhvr>
                                        <p:cTn id="20" dur="250"/>
                                        <p:tgtEl>
                                          <p:spTgt spid="81"/>
                                        </p:tgtEl>
                                      </p:cBhvr>
                                    </p:animEffect>
                                  </p:childTnLst>
                                </p:cTn>
                              </p:par>
                              <p:par>
                                <p:cTn id="21" presetID="10" presetClass="exit" presetSubtype="0" fill="hold" nodeType="withEffect">
                                  <p:stCondLst>
                                    <p:cond delay="0"/>
                                  </p:stCondLst>
                                  <p:childTnLst>
                                    <p:animEffect transition="out" filter="fade">
                                      <p:cBhvr>
                                        <p:cTn id="22" dur="150"/>
                                        <p:tgtEl>
                                          <p:spTgt spid="62"/>
                                        </p:tgtEl>
                                      </p:cBhvr>
                                    </p:animEffect>
                                    <p:set>
                                      <p:cBhvr>
                                        <p:cTn id="23" dur="1" fill="hold">
                                          <p:stCondLst>
                                            <p:cond delay="149"/>
                                          </p:stCondLst>
                                        </p:cTn>
                                        <p:tgtEl>
                                          <p:spTgt spid="6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2"/>
                                        </p:tgtEl>
                                        <p:attrNameLst>
                                          <p:attrName>style.visibility</p:attrName>
                                        </p:attrNameLst>
                                      </p:cBhvr>
                                      <p:to>
                                        <p:strVal val="visible"/>
                                      </p:to>
                                    </p:set>
                                    <p:animEffect transition="in" filter="fade">
                                      <p:cBhvr>
                                        <p:cTn id="28" dur="250"/>
                                        <p:tgtEl>
                                          <p:spTgt spid="102"/>
                                        </p:tgtEl>
                                      </p:cBhvr>
                                    </p:animEffect>
                                  </p:childTnLst>
                                </p:cTn>
                              </p:par>
                              <p:par>
                                <p:cTn id="29" presetID="10" presetClass="exit" presetSubtype="0" fill="hold" nodeType="withEffect">
                                  <p:stCondLst>
                                    <p:cond delay="0"/>
                                  </p:stCondLst>
                                  <p:childTnLst>
                                    <p:animEffect transition="out" filter="fade">
                                      <p:cBhvr>
                                        <p:cTn id="30" dur="150"/>
                                        <p:tgtEl>
                                          <p:spTgt spid="81"/>
                                        </p:tgtEl>
                                      </p:cBhvr>
                                    </p:animEffect>
                                    <p:set>
                                      <p:cBhvr>
                                        <p:cTn id="31" dur="1" fill="hold">
                                          <p:stCondLst>
                                            <p:cond delay="149"/>
                                          </p:stCondLst>
                                        </p:cTn>
                                        <p:tgtEl>
                                          <p:spTgt spid="81"/>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5"/>
                                        </p:tgtEl>
                                        <p:attrNameLst>
                                          <p:attrName>style.visibility</p:attrName>
                                        </p:attrNameLst>
                                      </p:cBhvr>
                                      <p:to>
                                        <p:strVal val="visible"/>
                                      </p:to>
                                    </p:set>
                                    <p:animEffect transition="in" filter="fade">
                                      <p:cBhvr>
                                        <p:cTn id="36" dur="250"/>
                                        <p:tgtEl>
                                          <p:spTgt spid="125"/>
                                        </p:tgtEl>
                                      </p:cBhvr>
                                    </p:animEffect>
                                  </p:childTnLst>
                                </p:cTn>
                              </p:par>
                              <p:par>
                                <p:cTn id="37" presetID="10" presetClass="exit" presetSubtype="0" fill="hold" nodeType="withEffect">
                                  <p:stCondLst>
                                    <p:cond delay="0"/>
                                  </p:stCondLst>
                                  <p:childTnLst>
                                    <p:animEffect transition="out" filter="fade">
                                      <p:cBhvr>
                                        <p:cTn id="38" dur="150"/>
                                        <p:tgtEl>
                                          <p:spTgt spid="102"/>
                                        </p:tgtEl>
                                      </p:cBhvr>
                                    </p:animEffect>
                                    <p:set>
                                      <p:cBhvr>
                                        <p:cTn id="39" dur="1" fill="hold">
                                          <p:stCondLst>
                                            <p:cond delay="149"/>
                                          </p:stCondLst>
                                        </p:cTn>
                                        <p:tgtEl>
                                          <p:spTgt spid="10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0"/>
                                        </p:tgtEl>
                                        <p:attrNameLst>
                                          <p:attrName>style.visibility</p:attrName>
                                        </p:attrNameLst>
                                      </p:cBhvr>
                                      <p:to>
                                        <p:strVal val="visible"/>
                                      </p:to>
                                    </p:set>
                                    <p:animEffect transition="in" filter="fade">
                                      <p:cBhvr>
                                        <p:cTn id="44" dur="250"/>
                                        <p:tgtEl>
                                          <p:spTgt spid="150"/>
                                        </p:tgtEl>
                                      </p:cBhvr>
                                    </p:animEffect>
                                  </p:childTnLst>
                                </p:cTn>
                              </p:par>
                              <p:par>
                                <p:cTn id="45" presetID="10" presetClass="exit" presetSubtype="0" fill="hold" nodeType="withEffect">
                                  <p:stCondLst>
                                    <p:cond delay="0"/>
                                  </p:stCondLst>
                                  <p:childTnLst>
                                    <p:animEffect transition="out" filter="fade">
                                      <p:cBhvr>
                                        <p:cTn id="46" dur="150"/>
                                        <p:tgtEl>
                                          <p:spTgt spid="125"/>
                                        </p:tgtEl>
                                      </p:cBhvr>
                                    </p:animEffect>
                                    <p:set>
                                      <p:cBhvr>
                                        <p:cTn id="47" dur="1" fill="hold">
                                          <p:stCondLst>
                                            <p:cond delay="149"/>
                                          </p:stCondLst>
                                        </p:cTn>
                                        <p:tgtEl>
                                          <p:spTgt spid="12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7"/>
                                        </p:tgtEl>
                                        <p:attrNameLst>
                                          <p:attrName>style.visibility</p:attrName>
                                        </p:attrNameLst>
                                      </p:cBhvr>
                                      <p:to>
                                        <p:strVal val="visible"/>
                                      </p:to>
                                    </p:set>
                                    <p:animEffect transition="in" filter="fade">
                                      <p:cBhvr>
                                        <p:cTn id="52" dur="250"/>
                                        <p:tgtEl>
                                          <p:spTgt spid="177"/>
                                        </p:tgtEl>
                                      </p:cBhvr>
                                    </p:animEffect>
                                  </p:childTnLst>
                                </p:cTn>
                              </p:par>
                              <p:par>
                                <p:cTn id="53" presetID="10" presetClass="exit" presetSubtype="0" fill="hold" nodeType="withEffect">
                                  <p:stCondLst>
                                    <p:cond delay="0"/>
                                  </p:stCondLst>
                                  <p:childTnLst>
                                    <p:animEffect transition="out" filter="fade">
                                      <p:cBhvr>
                                        <p:cTn id="54" dur="150"/>
                                        <p:tgtEl>
                                          <p:spTgt spid="150"/>
                                        </p:tgtEl>
                                      </p:cBhvr>
                                    </p:animEffect>
                                    <p:set>
                                      <p:cBhvr>
                                        <p:cTn id="55" dur="1" fill="hold">
                                          <p:stCondLst>
                                            <p:cond delay="149"/>
                                          </p:stCondLst>
                                        </p:cTn>
                                        <p:tgtEl>
                                          <p:spTgt spid="15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06"/>
                                        </p:tgtEl>
                                        <p:attrNameLst>
                                          <p:attrName>style.visibility</p:attrName>
                                        </p:attrNameLst>
                                      </p:cBhvr>
                                      <p:to>
                                        <p:strVal val="visible"/>
                                      </p:to>
                                    </p:set>
                                    <p:animEffect transition="in" filter="fade">
                                      <p:cBhvr>
                                        <p:cTn id="60" dur="250"/>
                                        <p:tgtEl>
                                          <p:spTgt spid="206"/>
                                        </p:tgtEl>
                                      </p:cBhvr>
                                    </p:animEffect>
                                  </p:childTnLst>
                                </p:cTn>
                              </p:par>
                              <p:par>
                                <p:cTn id="61" presetID="10" presetClass="exit" presetSubtype="0" fill="hold" nodeType="withEffect">
                                  <p:stCondLst>
                                    <p:cond delay="0"/>
                                  </p:stCondLst>
                                  <p:childTnLst>
                                    <p:animEffect transition="out" filter="fade">
                                      <p:cBhvr>
                                        <p:cTn id="62" dur="150"/>
                                        <p:tgtEl>
                                          <p:spTgt spid="177"/>
                                        </p:tgtEl>
                                      </p:cBhvr>
                                    </p:animEffect>
                                    <p:set>
                                      <p:cBhvr>
                                        <p:cTn id="63" dur="1" fill="hold">
                                          <p:stCondLst>
                                            <p:cond delay="149"/>
                                          </p:stCondLst>
                                        </p:cTn>
                                        <p:tgtEl>
                                          <p:spTgt spid="1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транспонируем граф</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original-edge-1-2">
            <a:extLst>
              <a:ext uri="{FF2B5EF4-FFF2-40B4-BE49-F238E27FC236}">
                <a16:creationId xmlns:a16="http://schemas.microsoft.com/office/drawing/2014/main" id="{1940DB97-DC7B-47DC-9790-DAB71FC1E3F7}"/>
              </a:ext>
            </a:extLst>
          </p:cNvPr>
          <p:cNvCxnSpPr/>
          <p:nvPr/>
        </p:nvCxnSpPr>
        <p:spPr>
          <a:xfrm flipH="1">
            <a:off x="744074" y="3030329"/>
            <a:ext cx="91732" cy="56874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original-edge-2-3">
            <a:extLst>
              <a:ext uri="{FF2B5EF4-FFF2-40B4-BE49-F238E27FC236}">
                <a16:creationId xmlns:a16="http://schemas.microsoft.com/office/drawing/2014/main" id="{E036D68D-2B83-4147-9118-EDE3FCC8608D}"/>
              </a:ext>
            </a:extLst>
          </p:cNvPr>
          <p:cNvCxnSpPr/>
          <p:nvPr/>
        </p:nvCxnSpPr>
        <p:spPr>
          <a:xfrm>
            <a:off x="904240" y="3787140"/>
            <a:ext cx="47244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original-edge-3-1">
            <a:extLst>
              <a:ext uri="{FF2B5EF4-FFF2-40B4-BE49-F238E27FC236}">
                <a16:creationId xmlns:a16="http://schemas.microsoft.com/office/drawing/2014/main" id="{9800F931-3CAF-4437-B29D-136253298B23}"/>
              </a:ext>
            </a:extLst>
          </p:cNvPr>
          <p:cNvCxnSpPr/>
          <p:nvPr/>
        </p:nvCxnSpPr>
        <p:spPr>
          <a:xfrm flipH="1" flipV="1">
            <a:off x="979649" y="2995250"/>
            <a:ext cx="474022" cy="6389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original-edge-3-4">
            <a:extLst>
              <a:ext uri="{FF2B5EF4-FFF2-40B4-BE49-F238E27FC236}">
                <a16:creationId xmlns:a16="http://schemas.microsoft.com/office/drawing/2014/main" id="{7E05479D-9CAF-43E6-B767-9446B877598E}"/>
              </a:ext>
            </a:extLst>
          </p:cNvPr>
          <p:cNvCxnSpPr/>
          <p:nvPr/>
        </p:nvCxnSpPr>
        <p:spPr>
          <a:xfrm flipV="1">
            <a:off x="1684136" y="3114552"/>
            <a:ext cx="406168" cy="52221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original-edge-4-5">
            <a:extLst>
              <a:ext uri="{FF2B5EF4-FFF2-40B4-BE49-F238E27FC236}">
                <a16:creationId xmlns:a16="http://schemas.microsoft.com/office/drawing/2014/main" id="{8F1CC68B-93C0-4337-BB09-C48C8C41CDDE}"/>
              </a:ext>
            </a:extLst>
          </p:cNvPr>
          <p:cNvCxnSpPr/>
          <p:nvPr/>
        </p:nvCxnSpPr>
        <p:spPr>
          <a:xfrm>
            <a:off x="2304377" y="3128065"/>
            <a:ext cx="293446" cy="495189"/>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original-edge-5-4">
            <a:extLst>
              <a:ext uri="{FF2B5EF4-FFF2-40B4-BE49-F238E27FC236}">
                <a16:creationId xmlns:a16="http://schemas.microsoft.com/office/drawing/2014/main" id="{8E4CBC97-6661-4028-BDF5-C57665D23378}"/>
              </a:ext>
            </a:extLst>
          </p:cNvPr>
          <p:cNvCxnSpPr/>
          <p:nvPr/>
        </p:nvCxnSpPr>
        <p:spPr>
          <a:xfrm flipH="1" flipV="1">
            <a:off x="2304377" y="3128065"/>
            <a:ext cx="293446" cy="495189"/>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original-edge-5-6">
            <a:extLst>
              <a:ext uri="{FF2B5EF4-FFF2-40B4-BE49-F238E27FC236}">
                <a16:creationId xmlns:a16="http://schemas.microsoft.com/office/drawing/2014/main" id="{4556934E-8813-4754-91E5-BDEEAC393400}"/>
              </a:ext>
            </a:extLst>
          </p:cNvPr>
          <p:cNvCxnSpPr/>
          <p:nvPr/>
        </p:nvCxnSpPr>
        <p:spPr>
          <a:xfrm flipV="1">
            <a:off x="2820057" y="2985913"/>
            <a:ext cx="572726" cy="65757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original-edge-6-7">
            <a:extLst>
              <a:ext uri="{FF2B5EF4-FFF2-40B4-BE49-F238E27FC236}">
                <a16:creationId xmlns:a16="http://schemas.microsoft.com/office/drawing/2014/main" id="{89369078-4245-4E03-AD1C-DCC3424BDBC0}"/>
              </a:ext>
            </a:extLst>
          </p:cNvPr>
          <p:cNvCxnSpPr/>
          <p:nvPr/>
        </p:nvCxnSpPr>
        <p:spPr>
          <a:xfrm flipH="1">
            <a:off x="3346500" y="3028081"/>
            <a:ext cx="129440" cy="57323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original-edge-7-8">
            <a:extLst>
              <a:ext uri="{FF2B5EF4-FFF2-40B4-BE49-F238E27FC236}">
                <a16:creationId xmlns:a16="http://schemas.microsoft.com/office/drawing/2014/main" id="{44DDF936-7B54-4FB5-BD5E-746ADD989443}"/>
              </a:ext>
            </a:extLst>
          </p:cNvPr>
          <p:cNvCxnSpPr/>
          <p:nvPr/>
        </p:nvCxnSpPr>
        <p:spPr>
          <a:xfrm>
            <a:off x="3495040" y="3787140"/>
            <a:ext cx="47244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original-edge-8-6">
            <a:extLst>
              <a:ext uri="{FF2B5EF4-FFF2-40B4-BE49-F238E27FC236}">
                <a16:creationId xmlns:a16="http://schemas.microsoft.com/office/drawing/2014/main" id="{C05D2FD5-4C3A-4243-850E-1F40A6BB4B8B}"/>
              </a:ext>
            </a:extLst>
          </p:cNvPr>
          <p:cNvCxnSpPr/>
          <p:nvPr/>
        </p:nvCxnSpPr>
        <p:spPr>
          <a:xfrm flipH="1" flipV="1">
            <a:off x="3624742" y="2999979"/>
            <a:ext cx="426396" cy="62944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original-edge-2-7-part-0">
            <a:extLst>
              <a:ext uri="{FF2B5EF4-FFF2-40B4-BE49-F238E27FC236}">
                <a16:creationId xmlns:a16="http://schemas.microsoft.com/office/drawing/2014/main" id="{C862A342-2C00-45CB-BB6A-3DB7311E371D}"/>
              </a:ext>
            </a:extLst>
          </p:cNvPr>
          <p:cNvCxnSpPr/>
          <p:nvPr/>
        </p:nvCxnSpPr>
        <p:spPr>
          <a:xfrm>
            <a:off x="713740" y="3977640"/>
            <a:ext cx="0" cy="2667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original-edge-2-7-part-1">
            <a:extLst>
              <a:ext uri="{FF2B5EF4-FFF2-40B4-BE49-F238E27FC236}">
                <a16:creationId xmlns:a16="http://schemas.microsoft.com/office/drawing/2014/main" id="{8746D111-596D-4C40-AC87-8E5D62D2BAFD}"/>
              </a:ext>
            </a:extLst>
          </p:cNvPr>
          <p:cNvCxnSpPr/>
          <p:nvPr/>
        </p:nvCxnSpPr>
        <p:spPr>
          <a:xfrm>
            <a:off x="713740" y="4244340"/>
            <a:ext cx="25908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original-edge-2-7-part-2">
            <a:extLst>
              <a:ext uri="{FF2B5EF4-FFF2-40B4-BE49-F238E27FC236}">
                <a16:creationId xmlns:a16="http://schemas.microsoft.com/office/drawing/2014/main" id="{363DC437-87AD-441C-B03A-0FF8B25AF070}"/>
              </a:ext>
            </a:extLst>
          </p:cNvPr>
          <p:cNvCxnSpPr/>
          <p:nvPr/>
        </p:nvCxnSpPr>
        <p:spPr>
          <a:xfrm flipV="1">
            <a:off x="3304540" y="3977640"/>
            <a:ext cx="0" cy="2667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original-node-1">
            <a:extLst>
              <a:ext uri="{FF2B5EF4-FFF2-40B4-BE49-F238E27FC236}">
                <a16:creationId xmlns:a16="http://schemas.microsoft.com/office/drawing/2014/main" id="{D682C71F-916B-441A-8987-B775F1812EA5}"/>
              </a:ext>
            </a:extLst>
          </p:cNvPr>
          <p:cNvSpPr/>
          <p:nvPr/>
        </p:nvSpPr>
        <p:spPr>
          <a:xfrm>
            <a:off x="675640" y="265176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1</a:t>
            </a:r>
          </a:p>
        </p:txBody>
      </p:sp>
      <p:sp>
        <p:nvSpPr>
          <p:cNvPr id="18" name="!!original-node-2">
            <a:extLst>
              <a:ext uri="{FF2B5EF4-FFF2-40B4-BE49-F238E27FC236}">
                <a16:creationId xmlns:a16="http://schemas.microsoft.com/office/drawing/2014/main" id="{18FA0DE6-5C6C-451B-B4D7-BF6716492AF7}"/>
              </a:ext>
            </a:extLst>
          </p:cNvPr>
          <p:cNvSpPr/>
          <p:nvPr/>
        </p:nvSpPr>
        <p:spPr>
          <a:xfrm>
            <a:off x="523240" y="359664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2</a:t>
            </a:r>
          </a:p>
        </p:txBody>
      </p:sp>
      <p:sp>
        <p:nvSpPr>
          <p:cNvPr id="19" name="!!original-node-3">
            <a:extLst>
              <a:ext uri="{FF2B5EF4-FFF2-40B4-BE49-F238E27FC236}">
                <a16:creationId xmlns:a16="http://schemas.microsoft.com/office/drawing/2014/main" id="{8DE40EC8-B49F-4F49-9C37-67E6B540A79B}"/>
              </a:ext>
            </a:extLst>
          </p:cNvPr>
          <p:cNvSpPr/>
          <p:nvPr/>
        </p:nvSpPr>
        <p:spPr>
          <a:xfrm>
            <a:off x="1376680" y="359664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3</a:t>
            </a:r>
          </a:p>
        </p:txBody>
      </p:sp>
      <p:sp>
        <p:nvSpPr>
          <p:cNvPr id="20" name="!!original-node-4">
            <a:extLst>
              <a:ext uri="{FF2B5EF4-FFF2-40B4-BE49-F238E27FC236}">
                <a16:creationId xmlns:a16="http://schemas.microsoft.com/office/drawing/2014/main" id="{40BA44A0-2966-4A27-AC2F-517746D82E61}"/>
              </a:ext>
            </a:extLst>
          </p:cNvPr>
          <p:cNvSpPr/>
          <p:nvPr/>
        </p:nvSpPr>
        <p:spPr>
          <a:xfrm>
            <a:off x="2016760" y="277368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4</a:t>
            </a:r>
          </a:p>
        </p:txBody>
      </p:sp>
      <p:sp>
        <p:nvSpPr>
          <p:cNvPr id="21" name="!!original-node-5">
            <a:extLst>
              <a:ext uri="{FF2B5EF4-FFF2-40B4-BE49-F238E27FC236}">
                <a16:creationId xmlns:a16="http://schemas.microsoft.com/office/drawing/2014/main" id="{DBBB647A-5451-455B-BDF3-5BB4E395E018}"/>
              </a:ext>
            </a:extLst>
          </p:cNvPr>
          <p:cNvSpPr/>
          <p:nvPr/>
        </p:nvSpPr>
        <p:spPr>
          <a:xfrm>
            <a:off x="2504440" y="359664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5</a:t>
            </a:r>
          </a:p>
        </p:txBody>
      </p:sp>
      <p:sp>
        <p:nvSpPr>
          <p:cNvPr id="22" name="!!original-node-6">
            <a:extLst>
              <a:ext uri="{FF2B5EF4-FFF2-40B4-BE49-F238E27FC236}">
                <a16:creationId xmlns:a16="http://schemas.microsoft.com/office/drawing/2014/main" id="{85B4461E-DC0A-4A18-A982-7D863E42C14D}"/>
              </a:ext>
            </a:extLst>
          </p:cNvPr>
          <p:cNvSpPr/>
          <p:nvPr/>
        </p:nvSpPr>
        <p:spPr>
          <a:xfrm>
            <a:off x="3327400" y="265176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6</a:t>
            </a:r>
          </a:p>
        </p:txBody>
      </p:sp>
      <p:sp>
        <p:nvSpPr>
          <p:cNvPr id="23" name="!!original-node-7">
            <a:extLst>
              <a:ext uri="{FF2B5EF4-FFF2-40B4-BE49-F238E27FC236}">
                <a16:creationId xmlns:a16="http://schemas.microsoft.com/office/drawing/2014/main" id="{7D1A08CA-0663-43CA-81D3-E787F175336D}"/>
              </a:ext>
            </a:extLst>
          </p:cNvPr>
          <p:cNvSpPr/>
          <p:nvPr/>
        </p:nvSpPr>
        <p:spPr>
          <a:xfrm>
            <a:off x="3114040" y="359664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7</a:t>
            </a:r>
          </a:p>
        </p:txBody>
      </p:sp>
      <p:sp>
        <p:nvSpPr>
          <p:cNvPr id="24" name="!!original-node-8">
            <a:extLst>
              <a:ext uri="{FF2B5EF4-FFF2-40B4-BE49-F238E27FC236}">
                <a16:creationId xmlns:a16="http://schemas.microsoft.com/office/drawing/2014/main" id="{C3E4D585-7807-4E0D-88B5-9C5424BF5BD1}"/>
              </a:ext>
            </a:extLst>
          </p:cNvPr>
          <p:cNvSpPr/>
          <p:nvPr/>
        </p:nvSpPr>
        <p:spPr>
          <a:xfrm>
            <a:off x="3967480" y="3596640"/>
            <a:ext cx="381000" cy="381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a:solidFill>
                  <a:srgbClr val="352379"/>
                </a:solidFill>
                <a:latin typeface="Montserrat"/>
              </a:rPr>
              <a:t>8</a:t>
            </a:r>
          </a:p>
        </p:txBody>
      </p:sp>
      <p:cxnSp>
        <p:nvCxnSpPr>
          <p:cNvPr id="25" name="!!g-edge-2-1">
            <a:extLst>
              <a:ext uri="{FF2B5EF4-FFF2-40B4-BE49-F238E27FC236}">
                <a16:creationId xmlns:a16="http://schemas.microsoft.com/office/drawing/2014/main" id="{B429339B-6255-45A9-9461-765F6D6974E3}"/>
              </a:ext>
            </a:extLst>
          </p:cNvPr>
          <p:cNvCxnSpPr/>
          <p:nvPr/>
        </p:nvCxnSpPr>
        <p:spPr>
          <a:xfrm flipV="1">
            <a:off x="5483899" y="3154925"/>
            <a:ext cx="171371" cy="1062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6" name="!!g-edge-3-2">
            <a:extLst>
              <a:ext uri="{FF2B5EF4-FFF2-40B4-BE49-F238E27FC236}">
                <a16:creationId xmlns:a16="http://schemas.microsoft.com/office/drawing/2014/main" id="{05CB65F0-A345-4A47-A9A3-D3CA38465277}"/>
              </a:ext>
            </a:extLst>
          </p:cNvPr>
          <p:cNvCxnSpPr/>
          <p:nvPr/>
        </p:nvCxnSpPr>
        <p:spPr>
          <a:xfrm flipH="1">
            <a:off x="5718810" y="4493260"/>
            <a:ext cx="89916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7" name="!!g-edge-1-3">
            <a:extLst>
              <a:ext uri="{FF2B5EF4-FFF2-40B4-BE49-F238E27FC236}">
                <a16:creationId xmlns:a16="http://schemas.microsoft.com/office/drawing/2014/main" id="{C1330C68-A145-4756-AE73-7BC60732CD7E}"/>
              </a:ext>
            </a:extLst>
          </p:cNvPr>
          <p:cNvCxnSpPr/>
          <p:nvPr/>
        </p:nvCxnSpPr>
        <p:spPr>
          <a:xfrm>
            <a:off x="5866240" y="3103476"/>
            <a:ext cx="864651" cy="116539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8" name="!!g-edge-4-3">
            <a:extLst>
              <a:ext uri="{FF2B5EF4-FFF2-40B4-BE49-F238E27FC236}">
                <a16:creationId xmlns:a16="http://schemas.microsoft.com/office/drawing/2014/main" id="{B578539F-7401-450E-8CDC-64DAB441EB16}"/>
              </a:ext>
            </a:extLst>
          </p:cNvPr>
          <p:cNvCxnSpPr/>
          <p:nvPr/>
        </p:nvCxnSpPr>
        <p:spPr>
          <a:xfrm flipH="1">
            <a:off x="7068905" y="3307915"/>
            <a:ext cx="750400" cy="9648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9" name="!!g-edge-5-4">
            <a:extLst>
              <a:ext uri="{FF2B5EF4-FFF2-40B4-BE49-F238E27FC236}">
                <a16:creationId xmlns:a16="http://schemas.microsoft.com/office/drawing/2014/main" id="{4B028D01-C46B-4033-9BC1-A1BB4F5A60CB}"/>
              </a:ext>
            </a:extLst>
          </p:cNvPr>
          <p:cNvCxnSpPr/>
          <p:nvPr/>
        </p:nvCxnSpPr>
        <p:spPr>
          <a:xfrm flipH="1" flipV="1">
            <a:off x="8133279" y="3327736"/>
            <a:ext cx="548242" cy="925159"/>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0" name="!!g-edge-4-5">
            <a:extLst>
              <a:ext uri="{FF2B5EF4-FFF2-40B4-BE49-F238E27FC236}">
                <a16:creationId xmlns:a16="http://schemas.microsoft.com/office/drawing/2014/main" id="{C52C17DF-6B6A-4EDC-9554-9588062DE2A6}"/>
              </a:ext>
            </a:extLst>
          </p:cNvPr>
          <p:cNvCxnSpPr/>
          <p:nvPr/>
        </p:nvCxnSpPr>
        <p:spPr>
          <a:xfrm>
            <a:off x="8133279" y="3327736"/>
            <a:ext cx="548242" cy="925159"/>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1" name="!!g-edge-6-5">
            <a:extLst>
              <a:ext uri="{FF2B5EF4-FFF2-40B4-BE49-F238E27FC236}">
                <a16:creationId xmlns:a16="http://schemas.microsoft.com/office/drawing/2014/main" id="{5F5A710E-1731-435D-8079-E4F5BC21ABB4}"/>
              </a:ext>
            </a:extLst>
          </p:cNvPr>
          <p:cNvCxnSpPr/>
          <p:nvPr/>
        </p:nvCxnSpPr>
        <p:spPr>
          <a:xfrm flipH="1">
            <a:off x="9007465" y="3089780"/>
            <a:ext cx="1038881" cy="119279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2" name="!!g-edge-7-6">
            <a:extLst>
              <a:ext uri="{FF2B5EF4-FFF2-40B4-BE49-F238E27FC236}">
                <a16:creationId xmlns:a16="http://schemas.microsoft.com/office/drawing/2014/main" id="{F79EB1B8-300B-407E-84F8-C7BC95769851}"/>
              </a:ext>
            </a:extLst>
          </p:cNvPr>
          <p:cNvCxnSpPr/>
          <p:nvPr/>
        </p:nvCxnSpPr>
        <p:spPr>
          <a:xfrm flipV="1">
            <a:off x="9926901" y="3151628"/>
            <a:ext cx="241408" cy="106909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3" name="!!g-edge-8-7">
            <a:extLst>
              <a:ext uri="{FF2B5EF4-FFF2-40B4-BE49-F238E27FC236}">
                <a16:creationId xmlns:a16="http://schemas.microsoft.com/office/drawing/2014/main" id="{35D663D5-837D-40D4-B685-A4CE8E75C256}"/>
              </a:ext>
            </a:extLst>
          </p:cNvPr>
          <p:cNvCxnSpPr/>
          <p:nvPr/>
        </p:nvCxnSpPr>
        <p:spPr>
          <a:xfrm flipH="1">
            <a:off x="10144760" y="4493260"/>
            <a:ext cx="89916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4" name="!!g-edge-6-8">
            <a:extLst>
              <a:ext uri="{FF2B5EF4-FFF2-40B4-BE49-F238E27FC236}">
                <a16:creationId xmlns:a16="http://schemas.microsoft.com/office/drawing/2014/main" id="{BA3B813B-D5B4-4B90-AA17-63DB360AF322}"/>
              </a:ext>
            </a:extLst>
          </p:cNvPr>
          <p:cNvCxnSpPr/>
          <p:nvPr/>
        </p:nvCxnSpPr>
        <p:spPr>
          <a:xfrm>
            <a:off x="10386551" y="3110411"/>
            <a:ext cx="780068" cy="115152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35" name="!!g-edge-7-2-part-0">
            <a:extLst>
              <a:ext uri="{FF2B5EF4-FFF2-40B4-BE49-F238E27FC236}">
                <a16:creationId xmlns:a16="http://schemas.microsoft.com/office/drawing/2014/main" id="{A63AFFD8-868E-4A74-A59B-4B2B2933EA28}"/>
              </a:ext>
            </a:extLst>
          </p:cNvPr>
          <p:cNvCxnSpPr/>
          <p:nvPr/>
        </p:nvCxnSpPr>
        <p:spPr>
          <a:xfrm>
            <a:off x="9865360" y="4772660"/>
            <a:ext cx="0" cy="39116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6" name="!!g-edge-7-2-part-1">
            <a:extLst>
              <a:ext uri="{FF2B5EF4-FFF2-40B4-BE49-F238E27FC236}">
                <a16:creationId xmlns:a16="http://schemas.microsoft.com/office/drawing/2014/main" id="{55AA0F93-1C0D-4CDC-87E7-C187106BFB64}"/>
              </a:ext>
            </a:extLst>
          </p:cNvPr>
          <p:cNvCxnSpPr/>
          <p:nvPr/>
        </p:nvCxnSpPr>
        <p:spPr>
          <a:xfrm flipH="1">
            <a:off x="5439410" y="5163820"/>
            <a:ext cx="442595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7" name="!!g-edge-7-2-part-2">
            <a:extLst>
              <a:ext uri="{FF2B5EF4-FFF2-40B4-BE49-F238E27FC236}">
                <a16:creationId xmlns:a16="http://schemas.microsoft.com/office/drawing/2014/main" id="{F2CDA784-3C32-419E-8E44-1D076DEF4537}"/>
              </a:ext>
            </a:extLst>
          </p:cNvPr>
          <p:cNvCxnSpPr/>
          <p:nvPr/>
        </p:nvCxnSpPr>
        <p:spPr>
          <a:xfrm flipV="1">
            <a:off x="5439410" y="4772660"/>
            <a:ext cx="0" cy="39116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38" name="!!g-node-1">
            <a:extLst>
              <a:ext uri="{FF2B5EF4-FFF2-40B4-BE49-F238E27FC236}">
                <a16:creationId xmlns:a16="http://schemas.microsoft.com/office/drawing/2014/main" id="{D85C1DD1-CB83-42C4-9FB0-F5899CA73B68}"/>
              </a:ext>
            </a:extLst>
          </p:cNvPr>
          <p:cNvSpPr/>
          <p:nvPr/>
        </p:nvSpPr>
        <p:spPr>
          <a:xfrm>
            <a:off x="5420360" y="259969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9" name="!!g-node-2">
            <a:extLst>
              <a:ext uri="{FF2B5EF4-FFF2-40B4-BE49-F238E27FC236}">
                <a16:creationId xmlns:a16="http://schemas.microsoft.com/office/drawing/2014/main" id="{50DA5C9E-2314-4BC8-97C6-ECCBA9420C81}"/>
              </a:ext>
            </a:extLst>
          </p:cNvPr>
          <p:cNvSpPr/>
          <p:nvPr/>
        </p:nvSpPr>
        <p:spPr>
          <a:xfrm>
            <a:off x="5160010" y="421386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0" name="!!g-node-3">
            <a:extLst>
              <a:ext uri="{FF2B5EF4-FFF2-40B4-BE49-F238E27FC236}">
                <a16:creationId xmlns:a16="http://schemas.microsoft.com/office/drawing/2014/main" id="{2029608A-632B-4995-9CBD-B47B0F1B9E53}"/>
              </a:ext>
            </a:extLst>
          </p:cNvPr>
          <p:cNvSpPr/>
          <p:nvPr/>
        </p:nvSpPr>
        <p:spPr>
          <a:xfrm>
            <a:off x="6617970" y="421386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1" name="!!g-node-4">
            <a:extLst>
              <a:ext uri="{FF2B5EF4-FFF2-40B4-BE49-F238E27FC236}">
                <a16:creationId xmlns:a16="http://schemas.microsoft.com/office/drawing/2014/main" id="{BAE834C9-308A-4A3F-BDD1-01628A605A82}"/>
              </a:ext>
            </a:extLst>
          </p:cNvPr>
          <p:cNvSpPr/>
          <p:nvPr/>
        </p:nvSpPr>
        <p:spPr>
          <a:xfrm>
            <a:off x="7711440" y="280797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42" name="!!g-node-5">
            <a:extLst>
              <a:ext uri="{FF2B5EF4-FFF2-40B4-BE49-F238E27FC236}">
                <a16:creationId xmlns:a16="http://schemas.microsoft.com/office/drawing/2014/main" id="{E2DB787B-CEBE-4BF6-B4BB-9EE82A4D38FD}"/>
              </a:ext>
            </a:extLst>
          </p:cNvPr>
          <p:cNvSpPr/>
          <p:nvPr/>
        </p:nvSpPr>
        <p:spPr>
          <a:xfrm>
            <a:off x="8544560" y="421386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43" name="!!g-node-6">
            <a:extLst>
              <a:ext uri="{FF2B5EF4-FFF2-40B4-BE49-F238E27FC236}">
                <a16:creationId xmlns:a16="http://schemas.microsoft.com/office/drawing/2014/main" id="{DB9B8F68-CC29-401C-A845-3217A1C18E30}"/>
              </a:ext>
            </a:extLst>
          </p:cNvPr>
          <p:cNvSpPr/>
          <p:nvPr/>
        </p:nvSpPr>
        <p:spPr>
          <a:xfrm>
            <a:off x="9950450" y="259969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44" name="!!g-node-7">
            <a:extLst>
              <a:ext uri="{FF2B5EF4-FFF2-40B4-BE49-F238E27FC236}">
                <a16:creationId xmlns:a16="http://schemas.microsoft.com/office/drawing/2014/main" id="{B1A07CED-F20A-40BF-9FD8-C5BB2A5AF522}"/>
              </a:ext>
            </a:extLst>
          </p:cNvPr>
          <p:cNvSpPr/>
          <p:nvPr/>
        </p:nvSpPr>
        <p:spPr>
          <a:xfrm>
            <a:off x="9585960" y="421386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45" name="!!g-node-8">
            <a:extLst>
              <a:ext uri="{FF2B5EF4-FFF2-40B4-BE49-F238E27FC236}">
                <a16:creationId xmlns:a16="http://schemas.microsoft.com/office/drawing/2014/main" id="{7FBB2D6B-AF9B-46E5-BA97-1FDA76236642}"/>
              </a:ext>
            </a:extLst>
          </p:cNvPr>
          <p:cNvSpPr/>
          <p:nvPr/>
        </p:nvSpPr>
        <p:spPr>
          <a:xfrm>
            <a:off x="11043920" y="4213860"/>
            <a:ext cx="558800" cy="5588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46" name="text-42-1059">
            <a:extLst>
              <a:ext uri="{FF2B5EF4-FFF2-40B4-BE49-F238E27FC236}">
                <a16:creationId xmlns:a16="http://schemas.microsoft.com/office/drawing/2014/main" id="{8D87203F-614C-43DE-987F-9ABF6501CB90}"/>
              </a:ext>
            </a:extLst>
          </p:cNvPr>
          <p:cNvSpPr txBox="1"/>
          <p:nvPr/>
        </p:nvSpPr>
        <p:spPr bwMode="auto">
          <a:xfrm>
            <a:off x="698500" y="1739528"/>
            <a:ext cx="3683000" cy="405239"/>
          </a:xfrm>
          <a:prstGeom prst="rect">
            <a:avLst/>
          </a:prstGeom>
        </p:spPr>
        <p:txBody>
          <a:bodyPr vert="horz" wrap="square" lIns="38100" tIns="25400" rIns="38100" bIns="25400" rtlCol="0" anchor="ctr">
            <a:spAutoFit/>
          </a:bodyPr>
          <a:lstStyle/>
          <a:p>
            <a:r>
              <a:rPr lang="ru-RU" sz="2300" b="1">
                <a:solidFill>
                  <a:srgbClr val="352379"/>
                </a:solidFill>
                <a:latin typeface="Montserrat"/>
              </a:rPr>
              <a:t>Исходный </a:t>
            </a:r>
            <a:r>
              <a:rPr lang="en-US" sz="2300" b="1">
                <a:solidFill>
                  <a:srgbClr val="352379"/>
                </a:solidFill>
                <a:latin typeface="Montserrat"/>
              </a:rPr>
              <a:t>G</a:t>
            </a:r>
            <a:endParaRPr lang="ru-RU" sz="2300" b="1">
              <a:solidFill>
                <a:srgbClr val="352379"/>
              </a:solidFill>
              <a:latin typeface="Montserrat"/>
            </a:endParaRPr>
          </a:p>
        </p:txBody>
      </p:sp>
      <p:sp>
        <p:nvSpPr>
          <p:cNvPr id="47" name="text-43-1060">
            <a:extLst>
              <a:ext uri="{FF2B5EF4-FFF2-40B4-BE49-F238E27FC236}">
                <a16:creationId xmlns:a16="http://schemas.microsoft.com/office/drawing/2014/main" id="{A5355B1F-0981-41B2-9029-602A082C058A}"/>
              </a:ext>
            </a:extLst>
          </p:cNvPr>
          <p:cNvSpPr txBox="1"/>
          <p:nvPr/>
        </p:nvSpPr>
        <p:spPr bwMode="auto">
          <a:xfrm>
            <a:off x="5207000" y="1739528"/>
            <a:ext cx="6477000" cy="405239"/>
          </a:xfrm>
          <a:prstGeom prst="rect">
            <a:avLst/>
          </a:prstGeom>
        </p:spPr>
        <p:txBody>
          <a:bodyPr vert="horz" wrap="square" lIns="38100" tIns="25400" rIns="38100" bIns="25400" rtlCol="0" anchor="ctr">
            <a:spAutoFit/>
          </a:bodyPr>
          <a:lstStyle/>
          <a:p>
            <a:r>
              <a:rPr lang="ru-RU" sz="2300" b="1">
                <a:solidFill>
                  <a:srgbClr val="352379"/>
                </a:solidFill>
                <a:latin typeface="Montserrat"/>
              </a:rPr>
              <a:t>Транспонированный </a:t>
            </a:r>
            <a:r>
              <a:rPr lang="en-US" sz="2300" b="1">
                <a:solidFill>
                  <a:srgbClr val="352379"/>
                </a:solidFill>
                <a:latin typeface="Montserrat"/>
              </a:rPr>
              <a:t>Gᵀ</a:t>
            </a:r>
            <a:endParaRPr lang="ru-RU" sz="2300" b="1">
              <a:solidFill>
                <a:srgbClr val="352379"/>
              </a:solidFill>
              <a:latin typeface="Montserrat"/>
            </a:endParaRPr>
          </a:p>
        </p:txBody>
      </p:sp>
      <p:sp>
        <p:nvSpPr>
          <p:cNvPr id="48" name="text-44-1061">
            <a:extLst>
              <a:ext uri="{FF2B5EF4-FFF2-40B4-BE49-F238E27FC236}">
                <a16:creationId xmlns:a16="http://schemas.microsoft.com/office/drawing/2014/main" id="{2C342C54-2C7A-4569-BA6D-056D49092C50}"/>
              </a:ext>
            </a:extLst>
          </p:cNvPr>
          <p:cNvSpPr txBox="1"/>
          <p:nvPr/>
        </p:nvSpPr>
        <p:spPr bwMode="auto">
          <a:xfrm>
            <a:off x="4343400" y="3132723"/>
            <a:ext cx="698500" cy="666849"/>
          </a:xfrm>
          <a:prstGeom prst="rect">
            <a:avLst/>
          </a:prstGeom>
        </p:spPr>
        <p:txBody>
          <a:bodyPr vert="horz" wrap="square" lIns="38100" tIns="25400" rIns="38100" bIns="25400" rtlCol="0" anchor="ctr">
            <a:spAutoFit/>
          </a:bodyPr>
          <a:lstStyle/>
          <a:p>
            <a:r>
              <a:rPr lang="ru-RU" sz="4000" b="1">
                <a:solidFill>
                  <a:srgbClr val="352379"/>
                </a:solidFill>
                <a:latin typeface="Montserrat"/>
              </a:rPr>
              <a:t>→</a:t>
            </a:r>
          </a:p>
        </p:txBody>
      </p:sp>
      <p:sp>
        <p:nvSpPr>
          <p:cNvPr id="49" name="text-45-1062">
            <a:extLst>
              <a:ext uri="{FF2B5EF4-FFF2-40B4-BE49-F238E27FC236}">
                <a16:creationId xmlns:a16="http://schemas.microsoft.com/office/drawing/2014/main" id="{742B6882-0610-48EA-A723-B42626E30323}"/>
              </a:ext>
            </a:extLst>
          </p:cNvPr>
          <p:cNvSpPr txBox="1"/>
          <p:nvPr/>
        </p:nvSpPr>
        <p:spPr bwMode="auto">
          <a:xfrm>
            <a:off x="698500" y="5425217"/>
            <a:ext cx="10922000" cy="374461"/>
          </a:xfrm>
          <a:prstGeom prst="rect">
            <a:avLst/>
          </a:prstGeom>
        </p:spPr>
        <p:txBody>
          <a:bodyPr vert="horz" wrap="square" lIns="38100" tIns="25400" rIns="38100" bIns="25400" rtlCol="0" anchor="ctr">
            <a:spAutoFit/>
          </a:bodyPr>
          <a:lstStyle/>
          <a:p>
            <a:r>
              <a:rPr lang="ru-RU" sz="2100">
                <a:solidFill>
                  <a:srgbClr val="352379"/>
                </a:solidFill>
                <a:latin typeface="Montserrat"/>
              </a:rPr>
              <a:t>Каждая дуга u → v превращается в v → u.</a:t>
            </a:r>
          </a:p>
        </p:txBody>
      </p:sp>
      <p:sp>
        <p:nvSpPr>
          <p:cNvPr id="50" name="box-46-1063">
            <a:extLst>
              <a:ext uri="{FF2B5EF4-FFF2-40B4-BE49-F238E27FC236}">
                <a16:creationId xmlns:a16="http://schemas.microsoft.com/office/drawing/2014/main" id="{78006103-6FBC-4B1E-B5B8-0739E770DD44}"/>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47-1064">
            <a:extLst>
              <a:ext uri="{FF2B5EF4-FFF2-40B4-BE49-F238E27FC236}">
                <a16:creationId xmlns:a16="http://schemas.microsoft.com/office/drawing/2014/main" id="{870FBE0C-6F3C-420B-9945-0D7F38D18E83}"/>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Состав SCC сохранился. Связи между SCC развернулись.</a:t>
            </a:r>
          </a:p>
        </p:txBody>
      </p:sp>
      <p:sp>
        <p:nvSpPr>
          <p:cNvPr id="52" name="lecture-footer">
            <a:extLst>
              <a:ext uri="{FF2B5EF4-FFF2-40B4-BE49-F238E27FC236}">
                <a16:creationId xmlns:a16="http://schemas.microsoft.com/office/drawing/2014/main" id="{61340779-65B8-4AEF-853B-03641A1CE4B6}"/>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53" name="slide-number">
            <a:extLst>
              <a:ext uri="{FF2B5EF4-FFF2-40B4-BE49-F238E27FC236}">
                <a16:creationId xmlns:a16="http://schemas.microsoft.com/office/drawing/2014/main" id="{66D50023-3E6B-40D8-A166-134CA7EA1BB9}"/>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26</a:t>
            </a:r>
          </a:p>
        </p:txBody>
      </p:sp>
    </p:spTree>
    <p:extLst>
      <p:ext uri="{BB962C8B-B14F-4D97-AF65-F5344CB8AC3E}">
        <p14:creationId xmlns:p14="http://schemas.microsoft.com/office/powerpoint/2010/main" val="164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второй DFS выделяет SCC</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2-1">
            <a:extLst>
              <a:ext uri="{FF2B5EF4-FFF2-40B4-BE49-F238E27FC236}">
                <a16:creationId xmlns:a16="http://schemas.microsoft.com/office/drawing/2014/main" id="{62E4C161-28D9-4442-92F2-F6BBC283C867}"/>
              </a:ext>
            </a:extLst>
          </p:cNvPr>
          <p:cNvCxnSpPr/>
          <p:nvPr/>
        </p:nvCxnSpPr>
        <p:spPr>
          <a:xfrm flipV="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3-2">
            <a:extLst>
              <a:ext uri="{FF2B5EF4-FFF2-40B4-BE49-F238E27FC236}">
                <a16:creationId xmlns:a16="http://schemas.microsoft.com/office/drawing/2014/main" id="{78B17C1C-61C2-4592-ADD1-EE73BF64C6DA}"/>
              </a:ext>
            </a:extLst>
          </p:cNvPr>
          <p:cNvCxnSpPr/>
          <p:nvPr/>
        </p:nvCxnSpPr>
        <p:spPr>
          <a:xfrm flipH="1">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1-3">
            <a:extLst>
              <a:ext uri="{FF2B5EF4-FFF2-40B4-BE49-F238E27FC236}">
                <a16:creationId xmlns:a16="http://schemas.microsoft.com/office/drawing/2014/main" id="{6D2F82D3-9122-45BC-BAE4-C46A42833098}"/>
              </a:ext>
            </a:extLst>
          </p:cNvPr>
          <p:cNvCxnSpPr/>
          <p:nvPr/>
        </p:nvCxnSpPr>
        <p:spPr>
          <a:xfrm>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4-3">
            <a:extLst>
              <a:ext uri="{FF2B5EF4-FFF2-40B4-BE49-F238E27FC236}">
                <a16:creationId xmlns:a16="http://schemas.microsoft.com/office/drawing/2014/main" id="{06DD3AC9-32B0-4D6E-96D6-3E726DEE420C}"/>
              </a:ext>
            </a:extLst>
          </p:cNvPr>
          <p:cNvCxnSpPr/>
          <p:nvPr/>
        </p:nvCxnSpPr>
        <p:spPr>
          <a:xfrm flipH="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5-4">
            <a:extLst>
              <a:ext uri="{FF2B5EF4-FFF2-40B4-BE49-F238E27FC236}">
                <a16:creationId xmlns:a16="http://schemas.microsoft.com/office/drawing/2014/main" id="{63609D59-A85F-4ADD-8BF0-7AD04B5796B1}"/>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4-5">
            <a:extLst>
              <a:ext uri="{FF2B5EF4-FFF2-40B4-BE49-F238E27FC236}">
                <a16:creationId xmlns:a16="http://schemas.microsoft.com/office/drawing/2014/main" id="{0AD2E134-B949-4538-AFDB-21B389F3CDDA}"/>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6-5">
            <a:extLst>
              <a:ext uri="{FF2B5EF4-FFF2-40B4-BE49-F238E27FC236}">
                <a16:creationId xmlns:a16="http://schemas.microsoft.com/office/drawing/2014/main" id="{2511DDA7-3788-424A-BCE6-15E7BAFF13FF}"/>
              </a:ext>
            </a:extLst>
          </p:cNvPr>
          <p:cNvCxnSpPr/>
          <p:nvPr/>
        </p:nvCxnSpPr>
        <p:spPr>
          <a:xfrm flipH="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7-6">
            <a:extLst>
              <a:ext uri="{FF2B5EF4-FFF2-40B4-BE49-F238E27FC236}">
                <a16:creationId xmlns:a16="http://schemas.microsoft.com/office/drawing/2014/main" id="{4E1F0B91-A245-4075-961E-F9DB00F5CCC9}"/>
              </a:ext>
            </a:extLst>
          </p:cNvPr>
          <p:cNvCxnSpPr/>
          <p:nvPr/>
        </p:nvCxnSpPr>
        <p:spPr>
          <a:xfrm flipV="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8-7">
            <a:extLst>
              <a:ext uri="{FF2B5EF4-FFF2-40B4-BE49-F238E27FC236}">
                <a16:creationId xmlns:a16="http://schemas.microsoft.com/office/drawing/2014/main" id="{AADC6ABA-3B13-463D-AC3D-3CEB87E7F79E}"/>
              </a:ext>
            </a:extLst>
          </p:cNvPr>
          <p:cNvCxnSpPr/>
          <p:nvPr/>
        </p:nvCxnSpPr>
        <p:spPr>
          <a:xfrm flipH="1">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6-8">
            <a:extLst>
              <a:ext uri="{FF2B5EF4-FFF2-40B4-BE49-F238E27FC236}">
                <a16:creationId xmlns:a16="http://schemas.microsoft.com/office/drawing/2014/main" id="{371550F4-C81E-4E2F-9DF2-CFB1F9C64A9A}"/>
              </a:ext>
            </a:extLst>
          </p:cNvPr>
          <p:cNvCxnSpPr/>
          <p:nvPr/>
        </p:nvCxnSpPr>
        <p:spPr>
          <a:xfrm>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7-2-part-0">
            <a:extLst>
              <a:ext uri="{FF2B5EF4-FFF2-40B4-BE49-F238E27FC236}">
                <a16:creationId xmlns:a16="http://schemas.microsoft.com/office/drawing/2014/main" id="{644001C3-A20E-49C4-8865-8B2F2C820664}"/>
              </a:ext>
            </a:extLst>
          </p:cNvPr>
          <p:cNvCxnSpPr/>
          <p:nvPr/>
        </p:nvCxnSpPr>
        <p:spPr>
          <a:xfrm>
            <a:off x="62230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7-2-part-1">
            <a:extLst>
              <a:ext uri="{FF2B5EF4-FFF2-40B4-BE49-F238E27FC236}">
                <a16:creationId xmlns:a16="http://schemas.microsoft.com/office/drawing/2014/main" id="{854AB739-8991-4D90-9E07-F553AB68E6FA}"/>
              </a:ext>
            </a:extLst>
          </p:cNvPr>
          <p:cNvCxnSpPr/>
          <p:nvPr/>
        </p:nvCxnSpPr>
        <p:spPr>
          <a:xfrm flipH="1">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7-2-part-2">
            <a:extLst>
              <a:ext uri="{FF2B5EF4-FFF2-40B4-BE49-F238E27FC236}">
                <a16:creationId xmlns:a16="http://schemas.microsoft.com/office/drawing/2014/main" id="{590ED518-4A64-46FC-B60F-24B646B916CB}"/>
              </a:ext>
            </a:extLst>
          </p:cNvPr>
          <p:cNvCxnSpPr/>
          <p:nvPr/>
        </p:nvCxnSpPr>
        <p:spPr>
          <a:xfrm flipV="1">
            <a:off x="8255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8A25DBAF-53A9-404C-A31A-364AFA0989F3}"/>
              </a:ext>
            </a:extLst>
          </p:cNvPr>
          <p:cNvSpPr/>
          <p:nvPr/>
        </p:nvSpPr>
        <p:spPr>
          <a:xfrm>
            <a:off x="825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C92A5A6F-CFBF-4FFA-9CA3-DE696B4B371D}"/>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CFB08FB6-0D00-4642-B9E5-4D6B534DE014}"/>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C1B3FC83-86C7-4924-B2BC-8F9E2ECB6A6B}"/>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B967F7E5-AEBD-4CF3-9635-2A388B3C9CF3}"/>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049BAB49-8944-4984-9F6A-548518BFC58B}"/>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8A17B04F-0492-4B62-AC1C-0843CF64F3BE}"/>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CA792609-CCFD-4F80-94E2-454C7C811878}"/>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1086">
            <a:extLst>
              <a:ext uri="{FF2B5EF4-FFF2-40B4-BE49-F238E27FC236}">
                <a16:creationId xmlns:a16="http://schemas.microsoft.com/office/drawing/2014/main" id="{530BEA92-7344-4EAD-82CC-7325FE5E1647}"/>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1087">
            <a:extLst>
              <a:ext uri="{FF2B5EF4-FFF2-40B4-BE49-F238E27FC236}">
                <a16:creationId xmlns:a16="http://schemas.microsoft.com/office/drawing/2014/main" id="{E999DD9B-466B-420A-9B67-8AB0054B2D60}"/>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1088">
            <a:extLst>
              <a:ext uri="{FF2B5EF4-FFF2-40B4-BE49-F238E27FC236}">
                <a16:creationId xmlns:a16="http://schemas.microsoft.com/office/drawing/2014/main" id="{D24B82B2-182C-43F1-B742-688D7C472537}"/>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Обратный порядок</a:t>
            </a:r>
          </a:p>
        </p:txBody>
      </p:sp>
      <p:sp>
        <p:nvSpPr>
          <p:cNvPr id="28" name="text-24-1089">
            <a:extLst>
              <a:ext uri="{FF2B5EF4-FFF2-40B4-BE49-F238E27FC236}">
                <a16:creationId xmlns:a16="http://schemas.microsoft.com/office/drawing/2014/main" id="{E150C69F-BB37-498B-843F-B3D9137F09C8}"/>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1, 2, 3, 4, 5, 6, 7, 8</a:t>
            </a:r>
          </a:p>
          <a:p>
            <a:endParaRPr lang="ru-RU" sz="2100">
              <a:solidFill>
                <a:srgbClr val="352379"/>
              </a:solidFill>
              <a:latin typeface="Montserrat"/>
            </a:endParaRPr>
          </a:p>
          <a:p>
            <a:r>
              <a:rPr lang="ru-RU" sz="2100">
                <a:solidFill>
                  <a:srgbClr val="352379"/>
                </a:solidFill>
                <a:latin typeface="Montserrat"/>
              </a:rPr>
              <a:t>Старт: 1</a:t>
            </a:r>
          </a:p>
        </p:txBody>
      </p:sp>
      <p:grpSp>
        <p:nvGrpSpPr>
          <p:cNvPr id="34" name="animation-stage-1">
            <a:extLst>
              <a:ext uri="{FF2B5EF4-FFF2-40B4-BE49-F238E27FC236}">
                <a16:creationId xmlns:a16="http://schemas.microsoft.com/office/drawing/2014/main" id="{4D1B6D7A-E516-41A9-87F3-3BCFBEDE07C2}"/>
              </a:ext>
            </a:extLst>
          </p:cNvPr>
          <p:cNvGrpSpPr/>
          <p:nvPr/>
        </p:nvGrpSpPr>
        <p:grpSpPr>
          <a:xfrm>
            <a:off x="825500" y="1816100"/>
            <a:ext cx="10883900" cy="3657600"/>
            <a:chOff x="825500" y="1816100"/>
            <a:chExt cx="10883900" cy="3657600"/>
          </a:xfrm>
        </p:grpSpPr>
        <p:sp>
          <p:nvSpPr>
            <p:cNvPr id="29" name="active-node-1-1090">
              <a:extLst>
                <a:ext uri="{FF2B5EF4-FFF2-40B4-BE49-F238E27FC236}">
                  <a16:creationId xmlns:a16="http://schemas.microsoft.com/office/drawing/2014/main" id="{87D14045-CA34-4E72-BFA6-227DAFB27BCA}"/>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0" name="box-1-1091">
              <a:extLst>
                <a:ext uri="{FF2B5EF4-FFF2-40B4-BE49-F238E27FC236}">
                  <a16:creationId xmlns:a16="http://schemas.microsoft.com/office/drawing/2014/main" id="{B51D2619-5332-42A4-9092-64BFFAA99EE8}"/>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box-2-1092">
              <a:extLst>
                <a:ext uri="{FF2B5EF4-FFF2-40B4-BE49-F238E27FC236}">
                  <a16:creationId xmlns:a16="http://schemas.microsoft.com/office/drawing/2014/main" id="{06721A78-5F4B-468D-8A29-DB0E52D25DD1}"/>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3-1093">
              <a:extLst>
                <a:ext uri="{FF2B5EF4-FFF2-40B4-BE49-F238E27FC236}">
                  <a16:creationId xmlns:a16="http://schemas.microsoft.com/office/drawing/2014/main" id="{AD49C573-30FB-47FD-98F0-CF8B18AF8ABD}"/>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a:t>
              </a:r>
              <a:r>
                <a:rPr lang="en-US" sz="2100">
                  <a:solidFill>
                    <a:srgbClr val="FFFFFF"/>
                  </a:solidFill>
                  <a:latin typeface="Montserrat"/>
                </a:rPr>
                <a:t>SCC</a:t>
              </a:r>
              <a:endParaRPr lang="ru-RU" sz="2100">
                <a:solidFill>
                  <a:srgbClr val="FFFFFF"/>
                </a:solidFill>
                <a:latin typeface="Montserrat"/>
              </a:endParaRPr>
            </a:p>
          </p:txBody>
        </p:sp>
        <p:sp>
          <p:nvSpPr>
            <p:cNvPr id="33" name="text-4-1094">
              <a:extLst>
                <a:ext uri="{FF2B5EF4-FFF2-40B4-BE49-F238E27FC236}">
                  <a16:creationId xmlns:a16="http://schemas.microsoft.com/office/drawing/2014/main" id="{149167CC-FBF5-4382-8171-81EE05A16B49}"/>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r>
                <a:rPr lang="ru-RU" sz="2100">
                  <a:solidFill>
                    <a:srgbClr val="352379"/>
                  </a:solidFill>
                  <a:latin typeface="Montserrat"/>
                </a:rPr>
                <a:t>Посещены: [1]</a:t>
              </a:r>
            </a:p>
          </p:txBody>
        </p:sp>
      </p:grpSp>
      <p:grpSp>
        <p:nvGrpSpPr>
          <p:cNvPr id="41" name="animation-stage-2">
            <a:extLst>
              <a:ext uri="{FF2B5EF4-FFF2-40B4-BE49-F238E27FC236}">
                <a16:creationId xmlns:a16="http://schemas.microsoft.com/office/drawing/2014/main" id="{5BCAF03D-1AD9-4104-B703-661BA7ACFCF0}"/>
              </a:ext>
            </a:extLst>
          </p:cNvPr>
          <p:cNvGrpSpPr/>
          <p:nvPr/>
        </p:nvGrpSpPr>
        <p:grpSpPr>
          <a:xfrm>
            <a:off x="825500" y="1816100"/>
            <a:ext cx="10883900" cy="3657600"/>
            <a:chOff x="825500" y="1816100"/>
            <a:chExt cx="10883900" cy="3657600"/>
          </a:xfrm>
        </p:grpSpPr>
        <p:sp>
          <p:nvSpPr>
            <p:cNvPr id="35" name="active-node-1-1095">
              <a:extLst>
                <a:ext uri="{FF2B5EF4-FFF2-40B4-BE49-F238E27FC236}">
                  <a16:creationId xmlns:a16="http://schemas.microsoft.com/office/drawing/2014/main" id="{AAD48401-3E0B-474C-B245-A9C200813605}"/>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6" name="active-node-3-1096">
              <a:extLst>
                <a:ext uri="{FF2B5EF4-FFF2-40B4-BE49-F238E27FC236}">
                  <a16:creationId xmlns:a16="http://schemas.microsoft.com/office/drawing/2014/main" id="{8CA6CFB0-F17C-406C-B2E2-C277612EC188}"/>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37" name="box-2-1097">
              <a:extLst>
                <a:ext uri="{FF2B5EF4-FFF2-40B4-BE49-F238E27FC236}">
                  <a16:creationId xmlns:a16="http://schemas.microsoft.com/office/drawing/2014/main" id="{886F967F-E7B3-401C-B330-456B9C711F9A}"/>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box-3-1098">
              <a:extLst>
                <a:ext uri="{FF2B5EF4-FFF2-40B4-BE49-F238E27FC236}">
                  <a16:creationId xmlns:a16="http://schemas.microsoft.com/office/drawing/2014/main" id="{05AA249A-83C6-453E-940C-0EF14316AA66}"/>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4-1099">
              <a:extLst>
                <a:ext uri="{FF2B5EF4-FFF2-40B4-BE49-F238E27FC236}">
                  <a16:creationId xmlns:a16="http://schemas.microsoft.com/office/drawing/2014/main" id="{33298FFF-0974-4165-84D5-8B2D26B19572}"/>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a:t>
              </a:r>
              <a:r>
                <a:rPr lang="en-US" sz="2100">
                  <a:solidFill>
                    <a:srgbClr val="FFFFFF"/>
                  </a:solidFill>
                  <a:latin typeface="Montserrat"/>
                </a:rPr>
                <a:t>SCC</a:t>
              </a:r>
              <a:endParaRPr lang="ru-RU" sz="2100">
                <a:solidFill>
                  <a:srgbClr val="FFFFFF"/>
                </a:solidFill>
                <a:latin typeface="Montserrat"/>
              </a:endParaRPr>
            </a:p>
          </p:txBody>
        </p:sp>
        <p:sp>
          <p:nvSpPr>
            <p:cNvPr id="40" name="text-5-1100">
              <a:extLst>
                <a:ext uri="{FF2B5EF4-FFF2-40B4-BE49-F238E27FC236}">
                  <a16:creationId xmlns:a16="http://schemas.microsoft.com/office/drawing/2014/main" id="{652CF699-1BE7-441F-916E-B55B91496033}"/>
                </a:ext>
              </a:extLst>
            </p:cNvPr>
            <p:cNvSpPr txBox="1"/>
            <p:nvPr/>
          </p:nvSpPr>
          <p:spPr bwMode="auto">
            <a:xfrm>
              <a:off x="8915400" y="2631217"/>
              <a:ext cx="2578100" cy="374461"/>
            </a:xfrm>
            <a:prstGeom prst="rect">
              <a:avLst/>
            </a:prstGeom>
          </p:spPr>
          <p:txBody>
            <a:bodyPr vert="horz" wrap="square" lIns="38100" tIns="25400" rIns="38100" bIns="25400" rtlCol="0" anchor="ctr">
              <a:spAutoFit/>
            </a:bodyPr>
            <a:lstStyle/>
            <a:p>
              <a:r>
                <a:rPr lang="ru-RU" sz="2100">
                  <a:solidFill>
                    <a:srgbClr val="352379"/>
                  </a:solidFill>
                  <a:latin typeface="Montserrat"/>
                </a:rPr>
                <a:t>Посещены: [1, 3]</a:t>
              </a:r>
            </a:p>
          </p:txBody>
        </p:sp>
      </p:grpSp>
      <p:grpSp>
        <p:nvGrpSpPr>
          <p:cNvPr id="49" name="animation-stage-3">
            <a:extLst>
              <a:ext uri="{FF2B5EF4-FFF2-40B4-BE49-F238E27FC236}">
                <a16:creationId xmlns:a16="http://schemas.microsoft.com/office/drawing/2014/main" id="{0D177DCF-57DE-48CF-9803-27F87CA89D58}"/>
              </a:ext>
            </a:extLst>
          </p:cNvPr>
          <p:cNvGrpSpPr/>
          <p:nvPr/>
        </p:nvGrpSpPr>
        <p:grpSpPr>
          <a:xfrm>
            <a:off x="508000" y="1816100"/>
            <a:ext cx="11201400" cy="3657600"/>
            <a:chOff x="508000" y="1816100"/>
            <a:chExt cx="11201400" cy="3657600"/>
          </a:xfrm>
        </p:grpSpPr>
        <p:sp>
          <p:nvSpPr>
            <p:cNvPr id="42" name="active-node-1-1101">
              <a:extLst>
                <a:ext uri="{FF2B5EF4-FFF2-40B4-BE49-F238E27FC236}">
                  <a16:creationId xmlns:a16="http://schemas.microsoft.com/office/drawing/2014/main" id="{FC4F1CFE-9CEE-4BC9-9CC9-2870F33A4F46}"/>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43" name="active-node-3-1102">
              <a:extLst>
                <a:ext uri="{FF2B5EF4-FFF2-40B4-BE49-F238E27FC236}">
                  <a16:creationId xmlns:a16="http://schemas.microsoft.com/office/drawing/2014/main" id="{29B8FD06-4294-43A9-97D2-F1632B5608E2}"/>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4" name="active-node-2-1103">
              <a:extLst>
                <a:ext uri="{FF2B5EF4-FFF2-40B4-BE49-F238E27FC236}">
                  <a16:creationId xmlns:a16="http://schemas.microsoft.com/office/drawing/2014/main" id="{357CE454-839D-4CF6-A8FD-5F56193C0B87}"/>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5" name="box-3-1104">
              <a:extLst>
                <a:ext uri="{FF2B5EF4-FFF2-40B4-BE49-F238E27FC236}">
                  <a16:creationId xmlns:a16="http://schemas.microsoft.com/office/drawing/2014/main" id="{E203190E-8B4D-46C4-9D4E-634133EAB722}"/>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box-4-1105">
              <a:extLst>
                <a:ext uri="{FF2B5EF4-FFF2-40B4-BE49-F238E27FC236}">
                  <a16:creationId xmlns:a16="http://schemas.microsoft.com/office/drawing/2014/main" id="{6D0A00DD-6250-4AD3-ABEA-0C39C683B723}"/>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text-5-1106">
              <a:extLst>
                <a:ext uri="{FF2B5EF4-FFF2-40B4-BE49-F238E27FC236}">
                  <a16:creationId xmlns:a16="http://schemas.microsoft.com/office/drawing/2014/main" id="{B2E9E355-39DF-43A5-9BF7-FA07FD52959C}"/>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Первая </a:t>
              </a:r>
              <a:r>
                <a:rPr lang="en-US" sz="2100">
                  <a:solidFill>
                    <a:srgbClr val="FFFFFF"/>
                  </a:solidFill>
                  <a:latin typeface="Montserrat"/>
                </a:rPr>
                <a:t>SCC</a:t>
              </a:r>
              <a:endParaRPr lang="ru-RU" sz="2100">
                <a:solidFill>
                  <a:srgbClr val="FFFFFF"/>
                </a:solidFill>
                <a:latin typeface="Montserrat"/>
              </a:endParaRPr>
            </a:p>
          </p:txBody>
        </p:sp>
        <p:sp>
          <p:nvSpPr>
            <p:cNvPr id="48" name="text-6-1107">
              <a:extLst>
                <a:ext uri="{FF2B5EF4-FFF2-40B4-BE49-F238E27FC236}">
                  <a16:creationId xmlns:a16="http://schemas.microsoft.com/office/drawing/2014/main" id="{4D9327BF-4A86-422E-9FD0-A3FBBD236D37}"/>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Посещены: [1, 3, 2]</a:t>
              </a:r>
            </a:p>
            <a:p>
              <a:endParaRPr lang="ru-RU" sz="2100">
                <a:solidFill>
                  <a:srgbClr val="352379"/>
                </a:solidFill>
                <a:latin typeface="Montserrat"/>
              </a:endParaRPr>
            </a:p>
            <a:p>
              <a:r>
                <a:rPr lang="ru-RU" sz="2100">
                  <a:solidFill>
                    <a:srgbClr val="352379"/>
                  </a:solidFill>
                  <a:latin typeface="Montserrat"/>
                </a:rPr>
                <a:t>C₁ = {1, 2, 3}</a:t>
              </a:r>
            </a:p>
          </p:txBody>
        </p:sp>
      </p:grpSp>
      <p:sp>
        <p:nvSpPr>
          <p:cNvPr id="50" name="lecture-footer">
            <a:extLst>
              <a:ext uri="{FF2B5EF4-FFF2-40B4-BE49-F238E27FC236}">
                <a16:creationId xmlns:a16="http://schemas.microsoft.com/office/drawing/2014/main" id="{52FED591-F9B8-4695-BC1C-AA766AB58D94}"/>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51" name="slide-number">
            <a:extLst>
              <a:ext uri="{FF2B5EF4-FFF2-40B4-BE49-F238E27FC236}">
                <a16:creationId xmlns:a16="http://schemas.microsoft.com/office/drawing/2014/main" id="{8D76B730-6C7F-4A01-B1B2-7AD6F2EA53F2}"/>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27</a:t>
            </a:r>
          </a:p>
        </p:txBody>
      </p:sp>
    </p:spTree>
    <p:extLst>
      <p:ext uri="{BB962C8B-B14F-4D97-AF65-F5344CB8AC3E}">
        <p14:creationId xmlns:p14="http://schemas.microsoft.com/office/powerpoint/2010/main" val="11591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25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250"/>
                                        <p:tgtEl>
                                          <p:spTgt spid="41"/>
                                        </p:tgtEl>
                                      </p:cBhvr>
                                    </p:animEffect>
                                  </p:childTnLst>
                                </p:cTn>
                              </p:par>
                              <p:par>
                                <p:cTn id="13" presetID="10" presetClass="exit" presetSubtype="0" fill="hold" nodeType="withEffect">
                                  <p:stCondLst>
                                    <p:cond delay="0"/>
                                  </p:stCondLst>
                                  <p:childTnLst>
                                    <p:animEffect transition="out" filter="fade">
                                      <p:cBhvr>
                                        <p:cTn id="14" dur="150"/>
                                        <p:tgtEl>
                                          <p:spTgt spid="34"/>
                                        </p:tgtEl>
                                      </p:cBhvr>
                                    </p:animEffect>
                                    <p:set>
                                      <p:cBhvr>
                                        <p:cTn id="15" dur="1" fill="hold">
                                          <p:stCondLst>
                                            <p:cond delay="149"/>
                                          </p:stCondLst>
                                        </p:cTn>
                                        <p:tgtEl>
                                          <p:spTgt spid="3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250"/>
                                        <p:tgtEl>
                                          <p:spTgt spid="49"/>
                                        </p:tgtEl>
                                      </p:cBhvr>
                                    </p:animEffect>
                                  </p:childTnLst>
                                </p:cTn>
                              </p:par>
                              <p:par>
                                <p:cTn id="21" presetID="10" presetClass="exit" presetSubtype="0" fill="hold" nodeType="withEffect">
                                  <p:stCondLst>
                                    <p:cond delay="0"/>
                                  </p:stCondLst>
                                  <p:childTnLst>
                                    <p:animEffect transition="out" filter="fade">
                                      <p:cBhvr>
                                        <p:cTn id="22" dur="150"/>
                                        <p:tgtEl>
                                          <p:spTgt spid="41"/>
                                        </p:tgtEl>
                                      </p:cBhvr>
                                    </p:animEffect>
                                    <p:set>
                                      <p:cBhvr>
                                        <p:cTn id="23" dur="1" fill="hold">
                                          <p:stCondLst>
                                            <p:cond delay="14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следующая непосещённая</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2-1">
            <a:extLst>
              <a:ext uri="{FF2B5EF4-FFF2-40B4-BE49-F238E27FC236}">
                <a16:creationId xmlns:a16="http://schemas.microsoft.com/office/drawing/2014/main" id="{750CC3A8-DEC9-4360-A4C4-1B4D7E2B2B30}"/>
              </a:ext>
            </a:extLst>
          </p:cNvPr>
          <p:cNvCxnSpPr/>
          <p:nvPr/>
        </p:nvCxnSpPr>
        <p:spPr>
          <a:xfrm flipV="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3-2">
            <a:extLst>
              <a:ext uri="{FF2B5EF4-FFF2-40B4-BE49-F238E27FC236}">
                <a16:creationId xmlns:a16="http://schemas.microsoft.com/office/drawing/2014/main" id="{45C69C65-6B47-49B1-92F2-DE76C51AA742}"/>
              </a:ext>
            </a:extLst>
          </p:cNvPr>
          <p:cNvCxnSpPr/>
          <p:nvPr/>
        </p:nvCxnSpPr>
        <p:spPr>
          <a:xfrm flipH="1">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1-3">
            <a:extLst>
              <a:ext uri="{FF2B5EF4-FFF2-40B4-BE49-F238E27FC236}">
                <a16:creationId xmlns:a16="http://schemas.microsoft.com/office/drawing/2014/main" id="{30A25785-CF0D-4975-B549-761E81F4B8A9}"/>
              </a:ext>
            </a:extLst>
          </p:cNvPr>
          <p:cNvCxnSpPr/>
          <p:nvPr/>
        </p:nvCxnSpPr>
        <p:spPr>
          <a:xfrm>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4-3">
            <a:extLst>
              <a:ext uri="{FF2B5EF4-FFF2-40B4-BE49-F238E27FC236}">
                <a16:creationId xmlns:a16="http://schemas.microsoft.com/office/drawing/2014/main" id="{4BED4D7E-6618-449E-9DC0-DD2D60E00CF7}"/>
              </a:ext>
            </a:extLst>
          </p:cNvPr>
          <p:cNvCxnSpPr/>
          <p:nvPr/>
        </p:nvCxnSpPr>
        <p:spPr>
          <a:xfrm flipH="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5-4">
            <a:extLst>
              <a:ext uri="{FF2B5EF4-FFF2-40B4-BE49-F238E27FC236}">
                <a16:creationId xmlns:a16="http://schemas.microsoft.com/office/drawing/2014/main" id="{08760AA8-EC70-4A17-B1FE-F0CCD0168CC9}"/>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4-5">
            <a:extLst>
              <a:ext uri="{FF2B5EF4-FFF2-40B4-BE49-F238E27FC236}">
                <a16:creationId xmlns:a16="http://schemas.microsoft.com/office/drawing/2014/main" id="{EDBD2CC0-DA96-4BBA-85DB-91117325DF58}"/>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6-5">
            <a:extLst>
              <a:ext uri="{FF2B5EF4-FFF2-40B4-BE49-F238E27FC236}">
                <a16:creationId xmlns:a16="http://schemas.microsoft.com/office/drawing/2014/main" id="{977E4876-1AD4-41F8-AC0A-131B59EF1B64}"/>
              </a:ext>
            </a:extLst>
          </p:cNvPr>
          <p:cNvCxnSpPr/>
          <p:nvPr/>
        </p:nvCxnSpPr>
        <p:spPr>
          <a:xfrm flipH="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7-6">
            <a:extLst>
              <a:ext uri="{FF2B5EF4-FFF2-40B4-BE49-F238E27FC236}">
                <a16:creationId xmlns:a16="http://schemas.microsoft.com/office/drawing/2014/main" id="{28B70F1F-4CDE-426F-8FB8-2FA07E3A7C12}"/>
              </a:ext>
            </a:extLst>
          </p:cNvPr>
          <p:cNvCxnSpPr/>
          <p:nvPr/>
        </p:nvCxnSpPr>
        <p:spPr>
          <a:xfrm flipV="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8-7">
            <a:extLst>
              <a:ext uri="{FF2B5EF4-FFF2-40B4-BE49-F238E27FC236}">
                <a16:creationId xmlns:a16="http://schemas.microsoft.com/office/drawing/2014/main" id="{A534A2C0-D49D-4517-8E5B-3F67A4EB291A}"/>
              </a:ext>
            </a:extLst>
          </p:cNvPr>
          <p:cNvCxnSpPr/>
          <p:nvPr/>
        </p:nvCxnSpPr>
        <p:spPr>
          <a:xfrm flipH="1">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6-8">
            <a:extLst>
              <a:ext uri="{FF2B5EF4-FFF2-40B4-BE49-F238E27FC236}">
                <a16:creationId xmlns:a16="http://schemas.microsoft.com/office/drawing/2014/main" id="{68E44D58-04A0-46A6-968F-0C6DB3571162}"/>
              </a:ext>
            </a:extLst>
          </p:cNvPr>
          <p:cNvCxnSpPr/>
          <p:nvPr/>
        </p:nvCxnSpPr>
        <p:spPr>
          <a:xfrm>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7-2-part-0">
            <a:extLst>
              <a:ext uri="{FF2B5EF4-FFF2-40B4-BE49-F238E27FC236}">
                <a16:creationId xmlns:a16="http://schemas.microsoft.com/office/drawing/2014/main" id="{D80F6997-61C5-4EE6-83D6-BE11B0DA069C}"/>
              </a:ext>
            </a:extLst>
          </p:cNvPr>
          <p:cNvCxnSpPr/>
          <p:nvPr/>
        </p:nvCxnSpPr>
        <p:spPr>
          <a:xfrm>
            <a:off x="62230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7-2-part-1">
            <a:extLst>
              <a:ext uri="{FF2B5EF4-FFF2-40B4-BE49-F238E27FC236}">
                <a16:creationId xmlns:a16="http://schemas.microsoft.com/office/drawing/2014/main" id="{9DB562A0-C509-4BC6-A07C-3538F2DFCA10}"/>
              </a:ext>
            </a:extLst>
          </p:cNvPr>
          <p:cNvCxnSpPr/>
          <p:nvPr/>
        </p:nvCxnSpPr>
        <p:spPr>
          <a:xfrm flipH="1">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7-2-part-2">
            <a:extLst>
              <a:ext uri="{FF2B5EF4-FFF2-40B4-BE49-F238E27FC236}">
                <a16:creationId xmlns:a16="http://schemas.microsoft.com/office/drawing/2014/main" id="{B0D0494C-69A6-465B-B0FC-C471BDE4EE69}"/>
              </a:ext>
            </a:extLst>
          </p:cNvPr>
          <p:cNvCxnSpPr/>
          <p:nvPr/>
        </p:nvCxnSpPr>
        <p:spPr>
          <a:xfrm flipV="1">
            <a:off x="8255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ECA97475-2952-40EC-80B1-2FA069AD9539}"/>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EF0E1382-854D-4C7A-96E4-E9482905AE5E}"/>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120993FD-3580-4F3E-BF15-CC9B0BC2865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8DFC38C3-5547-4208-91EE-B99722465BB7}"/>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82C03DAD-0125-4A90-A29D-4EF1414D5EEA}"/>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4A06A62A-E805-4D28-BC11-0709385D12D9}"/>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91D7A33B-E63F-4709-9647-00A1513946DE}"/>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D4049116-917A-4A95-AA64-D7EAC3C16655}"/>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1129">
            <a:extLst>
              <a:ext uri="{FF2B5EF4-FFF2-40B4-BE49-F238E27FC236}">
                <a16:creationId xmlns:a16="http://schemas.microsoft.com/office/drawing/2014/main" id="{7651E800-0E99-44E9-B862-09718466B30D}"/>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1130">
            <a:extLst>
              <a:ext uri="{FF2B5EF4-FFF2-40B4-BE49-F238E27FC236}">
                <a16:creationId xmlns:a16="http://schemas.microsoft.com/office/drawing/2014/main" id="{963ED531-89A8-4D4D-A952-5EC67F0C8EC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1131">
            <a:extLst>
              <a:ext uri="{FF2B5EF4-FFF2-40B4-BE49-F238E27FC236}">
                <a16:creationId xmlns:a16="http://schemas.microsoft.com/office/drawing/2014/main" id="{9798EA00-8F46-423F-AEE0-58298166627A}"/>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Следующий старт</a:t>
            </a:r>
          </a:p>
        </p:txBody>
      </p:sp>
      <p:sp>
        <p:nvSpPr>
          <p:cNvPr id="28" name="text-24-1132">
            <a:extLst>
              <a:ext uri="{FF2B5EF4-FFF2-40B4-BE49-F238E27FC236}">
                <a16:creationId xmlns:a16="http://schemas.microsoft.com/office/drawing/2014/main" id="{E717FF83-E72A-4995-B73B-13676668D66C}"/>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1, 2, 3 — посещены</a:t>
            </a:r>
          </a:p>
          <a:p>
            <a:endParaRPr lang="ru-RU" sz="2100">
              <a:solidFill>
                <a:srgbClr val="352379"/>
              </a:solidFill>
              <a:latin typeface="Montserrat"/>
            </a:endParaRPr>
          </a:p>
          <a:p>
            <a:r>
              <a:rPr lang="ru-RU" sz="2100">
                <a:solidFill>
                  <a:srgbClr val="352379"/>
                </a:solidFill>
                <a:latin typeface="Montserrat"/>
              </a:rPr>
              <a:t>Старт: 4</a:t>
            </a:r>
          </a:p>
        </p:txBody>
      </p:sp>
      <p:grpSp>
        <p:nvGrpSpPr>
          <p:cNvPr id="37" name="animation-stage-1">
            <a:extLst>
              <a:ext uri="{FF2B5EF4-FFF2-40B4-BE49-F238E27FC236}">
                <a16:creationId xmlns:a16="http://schemas.microsoft.com/office/drawing/2014/main" id="{301C1820-8143-4318-B96C-FB2012F9C4B6}"/>
              </a:ext>
            </a:extLst>
          </p:cNvPr>
          <p:cNvGrpSpPr/>
          <p:nvPr/>
        </p:nvGrpSpPr>
        <p:grpSpPr>
          <a:xfrm>
            <a:off x="508000" y="1816100"/>
            <a:ext cx="11201400" cy="3657600"/>
            <a:chOff x="508000" y="1816100"/>
            <a:chExt cx="11201400" cy="3657600"/>
          </a:xfrm>
        </p:grpSpPr>
        <p:sp>
          <p:nvSpPr>
            <p:cNvPr id="29" name="active-node-1-1133">
              <a:extLst>
                <a:ext uri="{FF2B5EF4-FFF2-40B4-BE49-F238E27FC236}">
                  <a16:creationId xmlns:a16="http://schemas.microsoft.com/office/drawing/2014/main" id="{4D27A5F7-437E-41AF-85FF-ABED1881CEA2}"/>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0" name="active-node-2-1134">
              <a:extLst>
                <a:ext uri="{FF2B5EF4-FFF2-40B4-BE49-F238E27FC236}">
                  <a16:creationId xmlns:a16="http://schemas.microsoft.com/office/drawing/2014/main" id="{ADA80BC6-501A-4E9B-A3D4-25738500647D}"/>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1" name="active-node-3-1135">
              <a:extLst>
                <a:ext uri="{FF2B5EF4-FFF2-40B4-BE49-F238E27FC236}">
                  <a16:creationId xmlns:a16="http://schemas.microsoft.com/office/drawing/2014/main" id="{DC36BA02-1C9B-4D8B-BEEF-380A7FB150AF}"/>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32" name="active-node-4-1136">
              <a:extLst>
                <a:ext uri="{FF2B5EF4-FFF2-40B4-BE49-F238E27FC236}">
                  <a16:creationId xmlns:a16="http://schemas.microsoft.com/office/drawing/2014/main" id="{CD973416-5CA5-45D0-9AD7-2D9332E0DA82}"/>
                </a:ext>
              </a:extLst>
            </p:cNvPr>
            <p:cNvSpPr/>
            <p:nvPr/>
          </p:nvSpPr>
          <p:spPr>
            <a:xfrm>
              <a:off x="36195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33" name="box-4-1137">
              <a:extLst>
                <a:ext uri="{FF2B5EF4-FFF2-40B4-BE49-F238E27FC236}">
                  <a16:creationId xmlns:a16="http://schemas.microsoft.com/office/drawing/2014/main" id="{29461CE1-100E-4C42-8D34-C88B2BC4B04E}"/>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box-5-1138">
              <a:extLst>
                <a:ext uri="{FF2B5EF4-FFF2-40B4-BE49-F238E27FC236}">
                  <a16:creationId xmlns:a16="http://schemas.microsoft.com/office/drawing/2014/main" id="{5419DE41-47F5-410E-90CB-40C88E6FF9A3}"/>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ext-6-1139">
              <a:extLst>
                <a:ext uri="{FF2B5EF4-FFF2-40B4-BE49-F238E27FC236}">
                  <a16:creationId xmlns:a16="http://schemas.microsoft.com/office/drawing/2014/main" id="{B2E43C3D-8AE0-4E2D-94E4-6910456D9F27}"/>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Запускаем </a:t>
              </a:r>
              <a:r>
                <a:rPr lang="en-US" sz="2100">
                  <a:solidFill>
                    <a:srgbClr val="FFFFFF"/>
                  </a:solidFill>
                  <a:latin typeface="Montserrat"/>
                </a:rPr>
                <a:t>DFS(4)</a:t>
              </a:r>
              <a:endParaRPr lang="ru-RU" sz="2100">
                <a:solidFill>
                  <a:srgbClr val="FFFFFF"/>
                </a:solidFill>
                <a:latin typeface="Montserrat"/>
              </a:endParaRPr>
            </a:p>
          </p:txBody>
        </p:sp>
        <p:sp>
          <p:nvSpPr>
            <p:cNvPr id="36" name="text-7-1140">
              <a:extLst>
                <a:ext uri="{FF2B5EF4-FFF2-40B4-BE49-F238E27FC236}">
                  <a16:creationId xmlns:a16="http://schemas.microsoft.com/office/drawing/2014/main" id="{5617D8E0-4D30-4EC0-A33F-FDB0D45AB5D0}"/>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 [4]</a:t>
              </a:r>
            </a:p>
            <a:p>
              <a:endParaRPr lang="ru-RU" sz="2100">
                <a:solidFill>
                  <a:srgbClr val="352379"/>
                </a:solidFill>
                <a:latin typeface="Montserrat"/>
              </a:endParaRPr>
            </a:p>
            <a:p>
              <a:r>
                <a:rPr lang="ru-RU" sz="2100">
                  <a:solidFill>
                    <a:srgbClr val="352379"/>
                  </a:solidFill>
                  <a:latin typeface="Montserrat"/>
                </a:rPr>
                <a:t>3 уже посещена</a:t>
              </a:r>
            </a:p>
          </p:txBody>
        </p:sp>
      </p:grpSp>
      <p:grpSp>
        <p:nvGrpSpPr>
          <p:cNvPr id="47" name="animation-stage-2">
            <a:extLst>
              <a:ext uri="{FF2B5EF4-FFF2-40B4-BE49-F238E27FC236}">
                <a16:creationId xmlns:a16="http://schemas.microsoft.com/office/drawing/2014/main" id="{62803063-8C48-4118-9F7B-E3187A3157A6}"/>
              </a:ext>
            </a:extLst>
          </p:cNvPr>
          <p:cNvGrpSpPr/>
          <p:nvPr/>
        </p:nvGrpSpPr>
        <p:grpSpPr>
          <a:xfrm>
            <a:off x="508000" y="1816100"/>
            <a:ext cx="11201400" cy="3657600"/>
            <a:chOff x="508000" y="1816100"/>
            <a:chExt cx="11201400" cy="3657600"/>
          </a:xfrm>
        </p:grpSpPr>
        <p:sp>
          <p:nvSpPr>
            <p:cNvPr id="38" name="active-node-1-1141">
              <a:extLst>
                <a:ext uri="{FF2B5EF4-FFF2-40B4-BE49-F238E27FC236}">
                  <a16:creationId xmlns:a16="http://schemas.microsoft.com/office/drawing/2014/main" id="{9C3DFF30-F5C3-4DFC-BCEF-7998006F8615}"/>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9" name="active-node-2-1142">
              <a:extLst>
                <a:ext uri="{FF2B5EF4-FFF2-40B4-BE49-F238E27FC236}">
                  <a16:creationId xmlns:a16="http://schemas.microsoft.com/office/drawing/2014/main" id="{B71AABAC-63BB-4FD3-B6D0-0AC083CFFD0B}"/>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0" name="active-node-3-1143">
              <a:extLst>
                <a:ext uri="{FF2B5EF4-FFF2-40B4-BE49-F238E27FC236}">
                  <a16:creationId xmlns:a16="http://schemas.microsoft.com/office/drawing/2014/main" id="{1E5FA4C8-E446-43A5-97DD-391931CD003D}"/>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1" name="active-node-4-1144">
              <a:extLst>
                <a:ext uri="{FF2B5EF4-FFF2-40B4-BE49-F238E27FC236}">
                  <a16:creationId xmlns:a16="http://schemas.microsoft.com/office/drawing/2014/main" id="{AAE731DC-2C64-410B-8CA7-713FAC432F5F}"/>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42" name="active-node-5-1145">
              <a:extLst>
                <a:ext uri="{FF2B5EF4-FFF2-40B4-BE49-F238E27FC236}">
                  <a16:creationId xmlns:a16="http://schemas.microsoft.com/office/drawing/2014/main" id="{C302F200-1B63-4A2A-9363-D754A5BB3478}"/>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43" name="box-5-1146">
              <a:extLst>
                <a:ext uri="{FF2B5EF4-FFF2-40B4-BE49-F238E27FC236}">
                  <a16:creationId xmlns:a16="http://schemas.microsoft.com/office/drawing/2014/main" id="{3754F4B1-F561-491A-B902-85C023E25737}"/>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box-6-1147">
              <a:extLst>
                <a:ext uri="{FF2B5EF4-FFF2-40B4-BE49-F238E27FC236}">
                  <a16:creationId xmlns:a16="http://schemas.microsoft.com/office/drawing/2014/main" id="{2669386E-5540-4AA6-AAF3-23F4C41B64CC}"/>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text-7-1148">
              <a:extLst>
                <a:ext uri="{FF2B5EF4-FFF2-40B4-BE49-F238E27FC236}">
                  <a16:creationId xmlns:a16="http://schemas.microsoft.com/office/drawing/2014/main" id="{18D10921-C0DC-4452-BB4B-AF510ED9C7D1}"/>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Вторая </a:t>
              </a:r>
              <a:r>
                <a:rPr lang="en-US" sz="2100">
                  <a:solidFill>
                    <a:srgbClr val="FFFFFF"/>
                  </a:solidFill>
                  <a:latin typeface="Montserrat"/>
                </a:rPr>
                <a:t>SCC</a:t>
              </a:r>
              <a:endParaRPr lang="ru-RU" sz="2100">
                <a:solidFill>
                  <a:srgbClr val="FFFFFF"/>
                </a:solidFill>
                <a:latin typeface="Montserrat"/>
              </a:endParaRPr>
            </a:p>
          </p:txBody>
        </p:sp>
        <p:sp>
          <p:nvSpPr>
            <p:cNvPr id="46" name="text-8-1149">
              <a:extLst>
                <a:ext uri="{FF2B5EF4-FFF2-40B4-BE49-F238E27FC236}">
                  <a16:creationId xmlns:a16="http://schemas.microsoft.com/office/drawing/2014/main" id="{B35156F1-2E7B-449F-9280-D26A859DC485}"/>
                </a:ext>
              </a:extLst>
            </p:cNvPr>
            <p:cNvSpPr txBox="1"/>
            <p:nvPr/>
          </p:nvSpPr>
          <p:spPr bwMode="auto">
            <a:xfrm>
              <a:off x="8915400" y="2585051"/>
              <a:ext cx="2578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C₂ = {4, 5}</a:t>
              </a:r>
            </a:p>
            <a:p>
              <a:endParaRPr lang="ru-RU" sz="2100">
                <a:solidFill>
                  <a:srgbClr val="352379"/>
                </a:solidFill>
                <a:latin typeface="Montserrat"/>
              </a:endParaRPr>
            </a:p>
            <a:p>
              <a:r>
                <a:rPr lang="ru-RU" sz="2100">
                  <a:solidFill>
                    <a:srgbClr val="352379"/>
                  </a:solidFill>
                  <a:latin typeface="Montserrat"/>
                </a:rPr>
                <a:t>Дальше стартуем с 6</a:t>
              </a:r>
            </a:p>
          </p:txBody>
        </p:sp>
      </p:grpSp>
      <p:sp>
        <p:nvSpPr>
          <p:cNvPr id="48" name="lecture-footer">
            <a:extLst>
              <a:ext uri="{FF2B5EF4-FFF2-40B4-BE49-F238E27FC236}">
                <a16:creationId xmlns:a16="http://schemas.microsoft.com/office/drawing/2014/main" id="{9BF15AA1-F34C-4E36-BE9D-5B2022CA0770}"/>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49" name="slide-number">
            <a:extLst>
              <a:ext uri="{FF2B5EF4-FFF2-40B4-BE49-F238E27FC236}">
                <a16:creationId xmlns:a16="http://schemas.microsoft.com/office/drawing/2014/main" id="{E89C8708-66B1-4072-800B-8E4141BECB1B}"/>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28</a:t>
            </a:r>
          </a:p>
        </p:txBody>
      </p:sp>
    </p:spTree>
    <p:extLst>
      <p:ext uri="{BB962C8B-B14F-4D97-AF65-F5344CB8AC3E}">
        <p14:creationId xmlns:p14="http://schemas.microsoft.com/office/powerpoint/2010/main" val="67402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250"/>
                                        <p:tgtEl>
                                          <p:spTgt spid="47"/>
                                        </p:tgtEl>
                                      </p:cBhvr>
                                    </p:animEffect>
                                  </p:childTnLst>
                                </p:cTn>
                              </p:par>
                              <p:par>
                                <p:cTn id="13" presetID="10" presetClass="exit" presetSubtype="0" fill="hold" nodeType="withEffect">
                                  <p:stCondLst>
                                    <p:cond delay="0"/>
                                  </p:stCondLst>
                                  <p:childTnLst>
                                    <p:animEffect transition="out" filter="fade">
                                      <p:cBhvr>
                                        <p:cTn id="14" dur="150"/>
                                        <p:tgtEl>
                                          <p:spTgt spid="37"/>
                                        </p:tgtEl>
                                      </p:cBhvr>
                                    </p:animEffect>
                                    <p:set>
                                      <p:cBhvr>
                                        <p:cTn id="15" dur="1" fill="hold">
                                          <p:stCondLst>
                                            <p:cond delay="14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итог</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4FCEA58A-AB2D-4D10-811C-F4935C2632BB}"/>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4D895D50-7F2C-40E0-B63E-3C400BFC5872}"/>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227556E5-C5BC-402A-AC42-DE358A6775A1}"/>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BD8EBE3D-1C4F-473D-A452-EB2E7069DF34}"/>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F7AFFA72-A0A4-4F17-B2D8-DAAC67DB0BA4}"/>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B07ABF5-7164-4125-8821-161B0AB2ADD5}"/>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0987724C-39EE-4BDB-BAE3-A6F1BC241A64}"/>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32076F88-92DE-4A93-B468-9E2E9DDD2EF5}"/>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5B7EA294-299E-495E-B24F-C3F1659470B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0A40DB8E-EC79-4815-8102-D14339A73232}"/>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BAB2275B-7B86-48BE-BD84-AA4947D3DCD9}"/>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501903F9-BB3B-4534-869B-D537E5A4C3E9}"/>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09432D46-CF35-49CB-AC52-3CF6B66F7416}"/>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DB3A1129-C5FD-47F2-9208-1374CA6EC29B}"/>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45EF0B23-6544-44EE-90C6-7F35C1BCC3B1}"/>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5DB6735C-9089-4093-889A-EB42BB56DE32}"/>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52DD4CE6-EE6C-4CDB-9150-DDE9CE37CD1A}"/>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1" name="!!g-node-5">
            <a:extLst>
              <a:ext uri="{FF2B5EF4-FFF2-40B4-BE49-F238E27FC236}">
                <a16:creationId xmlns:a16="http://schemas.microsoft.com/office/drawing/2014/main" id="{D2AE5E6B-654C-40F5-83ED-8975D5C7D3B8}"/>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22" name="!!g-node-6">
            <a:extLst>
              <a:ext uri="{FF2B5EF4-FFF2-40B4-BE49-F238E27FC236}">
                <a16:creationId xmlns:a16="http://schemas.microsoft.com/office/drawing/2014/main" id="{0B6A8861-E97F-4312-81F1-298EE92985FC}"/>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g-node-7">
            <a:extLst>
              <a:ext uri="{FF2B5EF4-FFF2-40B4-BE49-F238E27FC236}">
                <a16:creationId xmlns:a16="http://schemas.microsoft.com/office/drawing/2014/main" id="{D6D1E97C-8157-486C-B0B5-EE961992A56A}"/>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 name="!!g-node-8">
            <a:extLst>
              <a:ext uri="{FF2B5EF4-FFF2-40B4-BE49-F238E27FC236}">
                <a16:creationId xmlns:a16="http://schemas.microsoft.com/office/drawing/2014/main" id="{A08D25F4-7A5B-4AB3-B43E-677D2F7FA3EE}"/>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1171">
            <a:extLst>
              <a:ext uri="{FF2B5EF4-FFF2-40B4-BE49-F238E27FC236}">
                <a16:creationId xmlns:a16="http://schemas.microsoft.com/office/drawing/2014/main" id="{D4A68743-7107-405F-BBB0-29634B16E50E}"/>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1172">
            <a:extLst>
              <a:ext uri="{FF2B5EF4-FFF2-40B4-BE49-F238E27FC236}">
                <a16:creationId xmlns:a16="http://schemas.microsoft.com/office/drawing/2014/main" id="{D8D0512B-E4B9-4CCF-812B-6486890455FE}"/>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1173">
            <a:extLst>
              <a:ext uri="{FF2B5EF4-FFF2-40B4-BE49-F238E27FC236}">
                <a16:creationId xmlns:a16="http://schemas.microsoft.com/office/drawing/2014/main" id="{2DE15480-C11D-42A0-A7BC-093195E9BB1C}"/>
              </a:ext>
            </a:extLst>
          </p:cNvPr>
          <p:cNvSpPr txBox="1"/>
          <p:nvPr/>
        </p:nvSpPr>
        <p:spPr bwMode="auto">
          <a:xfrm>
            <a:off x="8890000" y="1869217"/>
            <a:ext cx="2628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Результат</a:t>
            </a:r>
          </a:p>
        </p:txBody>
      </p:sp>
      <p:sp>
        <p:nvSpPr>
          <p:cNvPr id="28" name="text-24-1174">
            <a:extLst>
              <a:ext uri="{FF2B5EF4-FFF2-40B4-BE49-F238E27FC236}">
                <a16:creationId xmlns:a16="http://schemas.microsoft.com/office/drawing/2014/main" id="{19B43C6D-BAC5-40FB-B196-8A6658EF5C6B}"/>
              </a:ext>
            </a:extLst>
          </p:cNvPr>
          <p:cNvSpPr txBox="1"/>
          <p:nvPr/>
        </p:nvSpPr>
        <p:spPr bwMode="auto">
          <a:xfrm>
            <a:off x="8915400" y="2405514"/>
            <a:ext cx="2578100" cy="2528897"/>
          </a:xfrm>
          <a:prstGeom prst="rect">
            <a:avLst/>
          </a:prstGeom>
        </p:spPr>
        <p:txBody>
          <a:bodyPr vert="horz" wrap="square" lIns="38100" tIns="25400" rIns="38100" bIns="25400" rtlCol="0" anchor="ctr">
            <a:spAutoFit/>
          </a:bodyPr>
          <a:lstStyle/>
          <a:p>
            <a:r>
              <a:rPr lang="pt-BR" sz="2300">
                <a:solidFill>
                  <a:srgbClr val="352379"/>
                </a:solidFill>
                <a:latin typeface="Montserrat"/>
              </a:rPr>
              <a:t>{1, 2, 3}</a:t>
            </a:r>
          </a:p>
          <a:p>
            <a:r>
              <a:rPr lang="pt-BR" sz="2300">
                <a:solidFill>
                  <a:srgbClr val="352379"/>
                </a:solidFill>
                <a:latin typeface="Montserrat"/>
              </a:rPr>
              <a:t>{4, 5}</a:t>
            </a:r>
          </a:p>
          <a:p>
            <a:r>
              <a:rPr lang="pt-BR" sz="2300">
                <a:solidFill>
                  <a:srgbClr val="352379"/>
                </a:solidFill>
                <a:latin typeface="Montserrat"/>
              </a:rPr>
              <a:t>{6, 7, 8}</a:t>
            </a:r>
          </a:p>
          <a:p>
            <a:endParaRPr lang="pt-BR" sz="2300">
              <a:solidFill>
                <a:srgbClr val="352379"/>
              </a:solidFill>
              <a:latin typeface="Montserrat"/>
            </a:endParaRPr>
          </a:p>
          <a:p>
            <a:r>
              <a:rPr lang="pt-BR" sz="2300">
                <a:solidFill>
                  <a:srgbClr val="352379"/>
                </a:solidFill>
                <a:latin typeface="Montserrat"/>
              </a:rPr>
              <a:t>2 × DFS + Gᵀ</a:t>
            </a:r>
          </a:p>
          <a:p>
            <a:endParaRPr lang="pt-BR" sz="2300">
              <a:solidFill>
                <a:srgbClr val="352379"/>
              </a:solidFill>
              <a:latin typeface="Montserrat"/>
            </a:endParaRPr>
          </a:p>
          <a:p>
            <a:r>
              <a:rPr lang="pt-BR" sz="2300">
                <a:solidFill>
                  <a:srgbClr val="352379"/>
                </a:solidFill>
                <a:latin typeface="Montserrat"/>
              </a:rPr>
              <a:t>O(V + E)</a:t>
            </a:r>
            <a:endParaRPr lang="ru-RU" sz="2300">
              <a:solidFill>
                <a:srgbClr val="352379"/>
              </a:solidFill>
              <a:latin typeface="Montserrat"/>
            </a:endParaRPr>
          </a:p>
        </p:txBody>
      </p:sp>
      <p:sp>
        <p:nvSpPr>
          <p:cNvPr id="29" name="lecture-footer">
            <a:extLst>
              <a:ext uri="{FF2B5EF4-FFF2-40B4-BE49-F238E27FC236}">
                <a16:creationId xmlns:a16="http://schemas.microsoft.com/office/drawing/2014/main" id="{D73F66BE-D3AB-4605-917D-CCC05A3536B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59A01802-5F8F-4376-9C31-26357238D468}"/>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29</a:t>
            </a:r>
          </a:p>
        </p:txBody>
      </p:sp>
    </p:spTree>
    <p:extLst>
      <p:ext uri="{BB962C8B-B14F-4D97-AF65-F5344CB8AC3E}">
        <p14:creationId xmlns:p14="http://schemas.microsoft.com/office/powerpoint/2010/main" val="4172276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Косарайю: две стадии в коде</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box-0-1175">
            <a:extLst>
              <a:ext uri="{FF2B5EF4-FFF2-40B4-BE49-F238E27FC236}">
                <a16:creationId xmlns:a16="http://schemas.microsoft.com/office/drawing/2014/main" id="{936E68E5-5D73-4A55-8CEF-D718B2911EF7}"/>
              </a:ext>
            </a:extLst>
          </p:cNvPr>
          <p:cNvSpPr/>
          <p:nvPr/>
        </p:nvSpPr>
        <p:spPr>
          <a:xfrm>
            <a:off x="482600" y="1625600"/>
            <a:ext cx="54610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box-1-1176">
            <a:extLst>
              <a:ext uri="{FF2B5EF4-FFF2-40B4-BE49-F238E27FC236}">
                <a16:creationId xmlns:a16="http://schemas.microsoft.com/office/drawing/2014/main" id="{B0034209-6538-4D4C-96EA-6E7C192397CC}"/>
              </a:ext>
            </a:extLst>
          </p:cNvPr>
          <p:cNvSpPr/>
          <p:nvPr/>
        </p:nvSpPr>
        <p:spPr>
          <a:xfrm>
            <a:off x="482600" y="1625600"/>
            <a:ext cx="54610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2-1177">
            <a:extLst>
              <a:ext uri="{FF2B5EF4-FFF2-40B4-BE49-F238E27FC236}">
                <a16:creationId xmlns:a16="http://schemas.microsoft.com/office/drawing/2014/main" id="{FA9B98AA-43C1-40B6-9218-30F05AA6369E}"/>
              </a:ext>
            </a:extLst>
          </p:cNvPr>
          <p:cNvSpPr txBox="1"/>
          <p:nvPr/>
        </p:nvSpPr>
        <p:spPr bwMode="auto">
          <a:xfrm>
            <a:off x="673100" y="1678717"/>
            <a:ext cx="50800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1. Порядок выхода</a:t>
            </a:r>
          </a:p>
        </p:txBody>
      </p:sp>
      <p:sp>
        <p:nvSpPr>
          <p:cNvPr id="6" name="text-3-1178">
            <a:extLst>
              <a:ext uri="{FF2B5EF4-FFF2-40B4-BE49-F238E27FC236}">
                <a16:creationId xmlns:a16="http://schemas.microsoft.com/office/drawing/2014/main" id="{75CF00FC-B5DC-4E46-BC3C-BE31C489FB04}"/>
              </a:ext>
            </a:extLst>
          </p:cNvPr>
          <p:cNvSpPr txBox="1"/>
          <p:nvPr/>
        </p:nvSpPr>
        <p:spPr bwMode="auto">
          <a:xfrm>
            <a:off x="698500" y="2391986"/>
            <a:ext cx="5029200" cy="1897955"/>
          </a:xfrm>
          <a:prstGeom prst="rect">
            <a:avLst/>
          </a:prstGeom>
        </p:spPr>
        <p:txBody>
          <a:bodyPr vert="horz" wrap="square" lIns="38100" tIns="25400" rIns="38100" bIns="25400" rtlCol="0" anchor="ctr">
            <a:spAutoFit/>
          </a:bodyPr>
          <a:lstStyle/>
          <a:p>
            <a:r>
              <a:rPr lang="en-US" sz="2000" b="1">
                <a:solidFill>
                  <a:srgbClr val="352379"/>
                </a:solidFill>
                <a:latin typeface="Montserrat"/>
              </a:rPr>
              <a:t>def dfs_exit(v):</a:t>
            </a:r>
          </a:p>
          <a:p>
            <a:r>
              <a:rPr lang="en-US" sz="2000" b="1">
                <a:solidFill>
                  <a:srgbClr val="352379"/>
                </a:solidFill>
                <a:latin typeface="Montserrat"/>
              </a:rPr>
              <a:t>    seen[v] = True</a:t>
            </a:r>
          </a:p>
          <a:p>
            <a:r>
              <a:rPr lang="en-US" sz="2000" b="1">
                <a:solidFill>
                  <a:srgbClr val="352379"/>
                </a:solidFill>
                <a:latin typeface="Montserrat"/>
              </a:rPr>
              <a:t>    for to in graph[v]:</a:t>
            </a:r>
          </a:p>
          <a:p>
            <a:r>
              <a:rPr lang="en-US" sz="2000" b="1">
                <a:solidFill>
                  <a:srgbClr val="352379"/>
                </a:solidFill>
                <a:latin typeface="Montserrat"/>
              </a:rPr>
              <a:t>        if not seen[to]:</a:t>
            </a:r>
          </a:p>
          <a:p>
            <a:r>
              <a:rPr lang="en-US" sz="2000" b="1">
                <a:solidFill>
                  <a:srgbClr val="352379"/>
                </a:solidFill>
                <a:latin typeface="Montserrat"/>
              </a:rPr>
              <a:t>            dfs_exit(to)</a:t>
            </a:r>
          </a:p>
          <a:p>
            <a:r>
              <a:rPr lang="en-US" sz="2000" b="1">
                <a:solidFill>
                  <a:srgbClr val="352379"/>
                </a:solidFill>
                <a:latin typeface="Montserrat"/>
              </a:rPr>
              <a:t>    order.append(v)</a:t>
            </a:r>
            <a:endParaRPr lang="ru-RU" sz="2000" b="1">
              <a:solidFill>
                <a:srgbClr val="352379"/>
              </a:solidFill>
              <a:latin typeface="Montserrat"/>
            </a:endParaRPr>
          </a:p>
        </p:txBody>
      </p:sp>
      <p:sp>
        <p:nvSpPr>
          <p:cNvPr id="8" name="box-4-1179">
            <a:extLst>
              <a:ext uri="{FF2B5EF4-FFF2-40B4-BE49-F238E27FC236}">
                <a16:creationId xmlns:a16="http://schemas.microsoft.com/office/drawing/2014/main" id="{4A38403B-4585-4980-9B96-851545A6FDDE}"/>
              </a:ext>
            </a:extLst>
          </p:cNvPr>
          <p:cNvSpPr/>
          <p:nvPr/>
        </p:nvSpPr>
        <p:spPr>
          <a:xfrm>
            <a:off x="6248400" y="1625600"/>
            <a:ext cx="54610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box-5-1180">
            <a:extLst>
              <a:ext uri="{FF2B5EF4-FFF2-40B4-BE49-F238E27FC236}">
                <a16:creationId xmlns:a16="http://schemas.microsoft.com/office/drawing/2014/main" id="{C7ABEA80-4C77-4259-B1A8-E3464B8EA817}"/>
              </a:ext>
            </a:extLst>
          </p:cNvPr>
          <p:cNvSpPr/>
          <p:nvPr/>
        </p:nvSpPr>
        <p:spPr>
          <a:xfrm>
            <a:off x="6248400" y="1625600"/>
            <a:ext cx="54610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6-1181">
            <a:extLst>
              <a:ext uri="{FF2B5EF4-FFF2-40B4-BE49-F238E27FC236}">
                <a16:creationId xmlns:a16="http://schemas.microsoft.com/office/drawing/2014/main" id="{1FF04822-1CCD-4E7C-A0CA-57E97F72EF28}"/>
              </a:ext>
            </a:extLst>
          </p:cNvPr>
          <p:cNvSpPr txBox="1"/>
          <p:nvPr/>
        </p:nvSpPr>
        <p:spPr bwMode="auto">
          <a:xfrm>
            <a:off x="6438900" y="1678717"/>
            <a:ext cx="50800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2. Компонента в </a:t>
            </a:r>
            <a:r>
              <a:rPr lang="en-US" sz="2100">
                <a:solidFill>
                  <a:srgbClr val="FFFFFF"/>
                </a:solidFill>
                <a:latin typeface="Montserrat"/>
              </a:rPr>
              <a:t>Gᵀ</a:t>
            </a:r>
            <a:endParaRPr lang="ru-RU" sz="2100">
              <a:solidFill>
                <a:srgbClr val="FFFFFF"/>
              </a:solidFill>
              <a:latin typeface="Montserrat"/>
            </a:endParaRPr>
          </a:p>
        </p:txBody>
      </p:sp>
      <p:sp>
        <p:nvSpPr>
          <p:cNvPr id="11" name="text-7-1182">
            <a:extLst>
              <a:ext uri="{FF2B5EF4-FFF2-40B4-BE49-F238E27FC236}">
                <a16:creationId xmlns:a16="http://schemas.microsoft.com/office/drawing/2014/main" id="{E01505B7-407F-4814-9A6C-8FB9A8D5E4DE}"/>
              </a:ext>
            </a:extLst>
          </p:cNvPr>
          <p:cNvSpPr txBox="1"/>
          <p:nvPr/>
        </p:nvSpPr>
        <p:spPr bwMode="auto">
          <a:xfrm>
            <a:off x="6464300" y="2407375"/>
            <a:ext cx="5029200" cy="1590179"/>
          </a:xfrm>
          <a:prstGeom prst="rect">
            <a:avLst/>
          </a:prstGeom>
        </p:spPr>
        <p:txBody>
          <a:bodyPr vert="horz" wrap="square" lIns="38100" tIns="25400" rIns="38100" bIns="25400" rtlCol="0" anchor="ctr">
            <a:spAutoFit/>
          </a:bodyPr>
          <a:lstStyle/>
          <a:p>
            <a:r>
              <a:rPr lang="en-US" sz="2000" b="1">
                <a:solidFill>
                  <a:srgbClr val="352379"/>
                </a:solidFill>
                <a:latin typeface="Montserrat"/>
              </a:rPr>
              <a:t>def dfs_collect(v, cid):</a:t>
            </a:r>
          </a:p>
          <a:p>
            <a:r>
              <a:rPr lang="en-US" sz="2000" b="1">
                <a:solidFill>
                  <a:srgbClr val="352379"/>
                </a:solidFill>
                <a:latin typeface="Montserrat"/>
              </a:rPr>
              <a:t>    comp[v] = cid</a:t>
            </a:r>
          </a:p>
          <a:p>
            <a:r>
              <a:rPr lang="en-US" sz="2000" b="1">
                <a:solidFill>
                  <a:srgbClr val="352379"/>
                </a:solidFill>
                <a:latin typeface="Montserrat"/>
              </a:rPr>
              <a:t>    for to in rev_graph[v]:</a:t>
            </a:r>
          </a:p>
          <a:p>
            <a:r>
              <a:rPr lang="en-US" sz="2000" b="1">
                <a:solidFill>
                  <a:srgbClr val="352379"/>
                </a:solidFill>
                <a:latin typeface="Montserrat"/>
              </a:rPr>
              <a:t>        if comp[to] == -1:</a:t>
            </a:r>
          </a:p>
          <a:p>
            <a:r>
              <a:rPr lang="en-US" sz="2000" b="1">
                <a:solidFill>
                  <a:srgbClr val="352379"/>
                </a:solidFill>
                <a:latin typeface="Montserrat"/>
              </a:rPr>
              <a:t>            dfs_collect(to, cid)</a:t>
            </a:r>
            <a:endParaRPr lang="ru-RU" sz="2000" b="1">
              <a:solidFill>
                <a:srgbClr val="352379"/>
              </a:solidFill>
              <a:latin typeface="Montserrat"/>
            </a:endParaRPr>
          </a:p>
        </p:txBody>
      </p:sp>
      <p:sp>
        <p:nvSpPr>
          <p:cNvPr id="12" name="text-8-1183">
            <a:extLst>
              <a:ext uri="{FF2B5EF4-FFF2-40B4-BE49-F238E27FC236}">
                <a16:creationId xmlns:a16="http://schemas.microsoft.com/office/drawing/2014/main" id="{BCD9361E-B6DF-48C3-B982-4B215C2253ED}"/>
              </a:ext>
            </a:extLst>
          </p:cNvPr>
          <p:cNvSpPr txBox="1"/>
          <p:nvPr/>
        </p:nvSpPr>
        <p:spPr bwMode="auto">
          <a:xfrm>
            <a:off x="609600" y="5427534"/>
            <a:ext cx="10922000" cy="697627"/>
          </a:xfrm>
          <a:prstGeom prst="rect">
            <a:avLst/>
          </a:prstGeom>
        </p:spPr>
        <p:txBody>
          <a:bodyPr vert="horz" wrap="square" lIns="38100" tIns="25400" rIns="38100" bIns="25400" rtlCol="0" anchor="ctr">
            <a:spAutoFit/>
          </a:bodyPr>
          <a:lstStyle/>
          <a:p>
            <a:r>
              <a:rPr lang="ru-RU" sz="2100">
                <a:solidFill>
                  <a:srgbClr val="352379"/>
                </a:solidFill>
                <a:latin typeface="Montserrat"/>
              </a:rPr>
              <a:t>Все </a:t>
            </a:r>
            <a:r>
              <a:rPr lang="en-US" sz="2100">
                <a:solidFill>
                  <a:srgbClr val="352379"/>
                </a:solidFill>
                <a:latin typeface="Montserrat"/>
              </a:rPr>
              <a:t>v: dfs_exit(v), </a:t>
            </a:r>
            <a:r>
              <a:rPr lang="ru-RU" sz="2100">
                <a:solidFill>
                  <a:srgbClr val="352379"/>
                </a:solidFill>
                <a:latin typeface="Montserrat"/>
              </a:rPr>
              <a:t>если не </a:t>
            </a:r>
            <a:r>
              <a:rPr lang="en-US" sz="2100">
                <a:solidFill>
                  <a:srgbClr val="352379"/>
                </a:solidFill>
                <a:latin typeface="Montserrat"/>
              </a:rPr>
              <a:t>seen[v]</a:t>
            </a:r>
          </a:p>
          <a:p>
            <a:r>
              <a:rPr lang="ru-RU" sz="2100">
                <a:solidFill>
                  <a:srgbClr val="352379"/>
                </a:solidFill>
                <a:latin typeface="Montserrat"/>
              </a:rPr>
              <a:t>Все </a:t>
            </a:r>
            <a:r>
              <a:rPr lang="en-US" sz="2100">
                <a:solidFill>
                  <a:srgbClr val="352379"/>
                </a:solidFill>
                <a:latin typeface="Montserrat"/>
              </a:rPr>
              <a:t>v </a:t>
            </a:r>
            <a:r>
              <a:rPr lang="ru-RU" sz="2100">
                <a:solidFill>
                  <a:srgbClr val="352379"/>
                </a:solidFill>
                <a:latin typeface="Montserrat"/>
              </a:rPr>
              <a:t>в </a:t>
            </a:r>
            <a:r>
              <a:rPr lang="en-US" sz="2100">
                <a:solidFill>
                  <a:srgbClr val="352379"/>
                </a:solidFill>
                <a:latin typeface="Montserrat"/>
              </a:rPr>
              <a:t>reversed(order): </a:t>
            </a:r>
            <a:r>
              <a:rPr lang="ru-RU" sz="2100">
                <a:solidFill>
                  <a:srgbClr val="352379"/>
                </a:solidFill>
                <a:latin typeface="Montserrat"/>
              </a:rPr>
              <a:t>если </a:t>
            </a:r>
            <a:r>
              <a:rPr lang="en-US" sz="2100">
                <a:solidFill>
                  <a:srgbClr val="352379"/>
                </a:solidFill>
                <a:latin typeface="Montserrat"/>
              </a:rPr>
              <a:t>comp[v] == -1, dfs_collect(v, cid); cid += 1</a:t>
            </a:r>
            <a:endParaRPr lang="ru-RU" sz="2100">
              <a:solidFill>
                <a:srgbClr val="352379"/>
              </a:solidFill>
              <a:latin typeface="Montserrat"/>
            </a:endParaRPr>
          </a:p>
        </p:txBody>
      </p:sp>
      <p:sp>
        <p:nvSpPr>
          <p:cNvPr id="13" name="lecture-footer">
            <a:extLst>
              <a:ext uri="{FF2B5EF4-FFF2-40B4-BE49-F238E27FC236}">
                <a16:creationId xmlns:a16="http://schemas.microsoft.com/office/drawing/2014/main" id="{A72FEF26-6179-4ABC-A9C0-298667751B0B}"/>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4" name="slide-number">
            <a:extLst>
              <a:ext uri="{FF2B5EF4-FFF2-40B4-BE49-F238E27FC236}">
                <a16:creationId xmlns:a16="http://schemas.microsoft.com/office/drawing/2014/main" id="{76564EE8-44D2-4C1F-B5F2-834DF8747A13}"/>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30</a:t>
            </a:r>
          </a:p>
        </p:txBody>
      </p:sp>
    </p:spTree>
    <p:extLst>
      <p:ext uri="{BB962C8B-B14F-4D97-AF65-F5344CB8AC3E}">
        <p14:creationId xmlns:p14="http://schemas.microsoft.com/office/powerpoint/2010/main" val="4107688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Почему Косарайю работает</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proof-edge-C₁-C₂">
            <a:extLst>
              <a:ext uri="{FF2B5EF4-FFF2-40B4-BE49-F238E27FC236}">
                <a16:creationId xmlns:a16="http://schemas.microsoft.com/office/drawing/2014/main" id="{CD911364-31DA-4DEB-A1AC-066FD8874906}"/>
              </a:ext>
            </a:extLst>
          </p:cNvPr>
          <p:cNvCxnSpPr/>
          <p:nvPr/>
        </p:nvCxnSpPr>
        <p:spPr>
          <a:xfrm>
            <a:off x="2082800" y="3556000"/>
            <a:ext cx="13589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proof-edge-C₂-C₃">
            <a:extLst>
              <a:ext uri="{FF2B5EF4-FFF2-40B4-BE49-F238E27FC236}">
                <a16:creationId xmlns:a16="http://schemas.microsoft.com/office/drawing/2014/main" id="{B45DA310-33FE-4DA9-9156-8EB84787A98C}"/>
              </a:ext>
            </a:extLst>
          </p:cNvPr>
          <p:cNvCxnSpPr/>
          <p:nvPr/>
        </p:nvCxnSpPr>
        <p:spPr>
          <a:xfrm>
            <a:off x="4432300" y="3556000"/>
            <a:ext cx="14859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5" name="!!proof-node-C₁">
            <a:extLst>
              <a:ext uri="{FF2B5EF4-FFF2-40B4-BE49-F238E27FC236}">
                <a16:creationId xmlns:a16="http://schemas.microsoft.com/office/drawing/2014/main" id="{E9FC7BC9-535E-4319-8069-CA03D5C7BFA3}"/>
              </a:ext>
            </a:extLst>
          </p:cNvPr>
          <p:cNvSpPr/>
          <p:nvPr/>
        </p:nvSpPr>
        <p:spPr>
          <a:xfrm>
            <a:off x="1092200" y="3060700"/>
            <a:ext cx="990600" cy="9906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C₁</a:t>
            </a:r>
            <a:endParaRPr lang="ru-RU" sz="2200">
              <a:solidFill>
                <a:srgbClr val="352379"/>
              </a:solidFill>
              <a:latin typeface="Montserrat"/>
            </a:endParaRPr>
          </a:p>
        </p:txBody>
      </p:sp>
      <p:sp>
        <p:nvSpPr>
          <p:cNvPr id="6" name="!!proof-node-C₂">
            <a:extLst>
              <a:ext uri="{FF2B5EF4-FFF2-40B4-BE49-F238E27FC236}">
                <a16:creationId xmlns:a16="http://schemas.microsoft.com/office/drawing/2014/main" id="{6C649668-7039-4B7A-988A-D0BF83C0BE54}"/>
              </a:ext>
            </a:extLst>
          </p:cNvPr>
          <p:cNvSpPr/>
          <p:nvPr/>
        </p:nvSpPr>
        <p:spPr>
          <a:xfrm>
            <a:off x="3441700" y="3060700"/>
            <a:ext cx="990600" cy="9906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C₂</a:t>
            </a:r>
            <a:endParaRPr lang="ru-RU" sz="2200">
              <a:solidFill>
                <a:srgbClr val="FFFFFF"/>
              </a:solidFill>
              <a:latin typeface="Montserrat"/>
            </a:endParaRPr>
          </a:p>
        </p:txBody>
      </p:sp>
      <p:sp>
        <p:nvSpPr>
          <p:cNvPr id="8" name="!!proof-node-C₃">
            <a:extLst>
              <a:ext uri="{FF2B5EF4-FFF2-40B4-BE49-F238E27FC236}">
                <a16:creationId xmlns:a16="http://schemas.microsoft.com/office/drawing/2014/main" id="{C401789F-1CFB-46FC-A926-3130CA38404D}"/>
              </a:ext>
            </a:extLst>
          </p:cNvPr>
          <p:cNvSpPr/>
          <p:nvPr/>
        </p:nvSpPr>
        <p:spPr>
          <a:xfrm>
            <a:off x="5918200" y="3060700"/>
            <a:ext cx="990600" cy="9906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C₃</a:t>
            </a:r>
            <a:endParaRPr lang="ru-RU" sz="2200">
              <a:solidFill>
                <a:srgbClr val="FFFFFF"/>
              </a:solidFill>
              <a:latin typeface="Montserrat"/>
            </a:endParaRPr>
          </a:p>
        </p:txBody>
      </p:sp>
      <p:sp>
        <p:nvSpPr>
          <p:cNvPr id="12" name="box-8-1192">
            <a:extLst>
              <a:ext uri="{FF2B5EF4-FFF2-40B4-BE49-F238E27FC236}">
                <a16:creationId xmlns:a16="http://schemas.microsoft.com/office/drawing/2014/main" id="{BE3F0E3C-5D8B-43CF-9E80-4784FCA8D71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193">
            <a:extLst>
              <a:ext uri="{FF2B5EF4-FFF2-40B4-BE49-F238E27FC236}">
                <a16:creationId xmlns:a16="http://schemas.microsoft.com/office/drawing/2014/main" id="{B22C609F-5B0E-4ABF-A4FF-1098E40CF2DE}"/>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194">
            <a:extLst>
              <a:ext uri="{FF2B5EF4-FFF2-40B4-BE49-F238E27FC236}">
                <a16:creationId xmlns:a16="http://schemas.microsoft.com/office/drawing/2014/main" id="{86F0EF3D-4BB9-4728-B6CF-EB833C3AC4AA}"/>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Порядок помогает</a:t>
            </a:r>
          </a:p>
        </p:txBody>
      </p:sp>
      <p:sp>
        <p:nvSpPr>
          <p:cNvPr id="15" name="text-11-1195">
            <a:extLst>
              <a:ext uri="{FF2B5EF4-FFF2-40B4-BE49-F238E27FC236}">
                <a16:creationId xmlns:a16="http://schemas.microsoft.com/office/drawing/2014/main" id="{85A63248-BCA9-4B68-8178-B587619DA418}"/>
              </a:ext>
            </a:extLst>
          </p:cNvPr>
          <p:cNvSpPr txBox="1"/>
          <p:nvPr/>
        </p:nvSpPr>
        <p:spPr bwMode="auto">
          <a:xfrm>
            <a:off x="8153400" y="2578099"/>
            <a:ext cx="3340100" cy="2781300"/>
          </a:xfrm>
          <a:prstGeom prst="rect">
            <a:avLst/>
          </a:prstGeom>
        </p:spPr>
        <p:txBody>
          <a:bodyPr vert="horz" wrap="square" lIns="38100" tIns="25400" rIns="38100" bIns="25400" rtlCol="0" anchor="ctr">
            <a:noAutofit/>
          </a:bodyPr>
          <a:lstStyle/>
          <a:p>
            <a:r>
              <a:rPr lang="ru-RU" sz="2100">
                <a:solidFill>
                  <a:srgbClr val="352379"/>
                </a:solidFill>
                <a:latin typeface="Montserrat"/>
              </a:rPr>
              <a:t>Каждая SCC сжимается</a:t>
            </a:r>
          </a:p>
          <a:p>
            <a:r>
              <a:rPr lang="ru-RU" sz="2100">
                <a:solidFill>
                  <a:srgbClr val="352379"/>
                </a:solidFill>
                <a:latin typeface="Montserrat"/>
              </a:rPr>
              <a:t>в одну вершину.</a:t>
            </a:r>
          </a:p>
          <a:p>
            <a:endParaRPr lang="ru-RU" sz="2100">
              <a:solidFill>
                <a:srgbClr val="352379"/>
              </a:solidFill>
              <a:latin typeface="Montserrat"/>
            </a:endParaRPr>
          </a:p>
          <a:p>
            <a:r>
              <a:rPr lang="ru-RU" sz="2100">
                <a:solidFill>
                  <a:srgbClr val="352379"/>
                </a:solidFill>
                <a:latin typeface="Montserrat"/>
              </a:rPr>
              <a:t>Граф конденсации — DAG.</a:t>
            </a:r>
          </a:p>
          <a:p>
            <a:endParaRPr lang="ru-RU" sz="2100">
              <a:solidFill>
                <a:srgbClr val="352379"/>
              </a:solidFill>
              <a:latin typeface="Montserrat"/>
            </a:endParaRPr>
          </a:p>
          <a:p>
            <a:r>
              <a:rPr lang="ru-RU" sz="2100">
                <a:solidFill>
                  <a:srgbClr val="352379"/>
                </a:solidFill>
                <a:latin typeface="Montserrat"/>
              </a:rPr>
              <a:t>Порядок выхода DFS</a:t>
            </a:r>
          </a:p>
          <a:p>
            <a:r>
              <a:rPr lang="ru-RU" sz="2100">
                <a:solidFill>
                  <a:srgbClr val="352379"/>
                </a:solidFill>
                <a:latin typeface="Montserrat"/>
              </a:rPr>
              <a:t>помогает выбрать</a:t>
            </a:r>
          </a:p>
          <a:p>
            <a:r>
              <a:rPr lang="ru-RU" sz="2100">
                <a:solidFill>
                  <a:srgbClr val="352379"/>
                </a:solidFill>
                <a:latin typeface="Montserrat"/>
              </a:rPr>
              <a:t>следующую SCC.</a:t>
            </a:r>
          </a:p>
        </p:txBody>
      </p:sp>
      <p:sp>
        <p:nvSpPr>
          <p:cNvPr id="16" name="box-12-1196">
            <a:extLst>
              <a:ext uri="{FF2B5EF4-FFF2-40B4-BE49-F238E27FC236}">
                <a16:creationId xmlns:a16="http://schemas.microsoft.com/office/drawing/2014/main" id="{84941BF4-31B9-4CE5-9F74-1C6A0966F317}"/>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1197">
            <a:extLst>
              <a:ext uri="{FF2B5EF4-FFF2-40B4-BE49-F238E27FC236}">
                <a16:creationId xmlns:a16="http://schemas.microsoft.com/office/drawing/2014/main" id="{F6C502C3-0BA2-49D1-A2DD-CB5E140B80C7}"/>
              </a:ext>
            </a:extLst>
          </p:cNvPr>
          <p:cNvSpPr txBox="1"/>
          <p:nvPr/>
        </p:nvSpPr>
        <p:spPr bwMode="auto">
          <a:xfrm>
            <a:off x="660400" y="5945917"/>
            <a:ext cx="108712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Транспонирование не меняет состав SCC.</a:t>
            </a:r>
          </a:p>
        </p:txBody>
      </p:sp>
      <p:sp>
        <p:nvSpPr>
          <p:cNvPr id="18" name="lecture-footer">
            <a:extLst>
              <a:ext uri="{FF2B5EF4-FFF2-40B4-BE49-F238E27FC236}">
                <a16:creationId xmlns:a16="http://schemas.microsoft.com/office/drawing/2014/main" id="{92E3080B-58D1-4150-9178-272CC5DDEE7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9" name="slide-number">
            <a:extLst>
              <a:ext uri="{FF2B5EF4-FFF2-40B4-BE49-F238E27FC236}">
                <a16:creationId xmlns:a16="http://schemas.microsoft.com/office/drawing/2014/main" id="{5B2F071F-BE22-43D2-9919-C563008E26F4}"/>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31</a:t>
            </a:r>
          </a:p>
        </p:txBody>
      </p:sp>
    </p:spTree>
    <p:extLst>
      <p:ext uri="{BB962C8B-B14F-4D97-AF65-F5344CB8AC3E}">
        <p14:creationId xmlns:p14="http://schemas.microsoft.com/office/powerpoint/2010/main" val="3913570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Алгоритм Тарьяна: SCC за один DFS</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Два алгоритма</a:t>
            </a:r>
          </a:p>
        </p:txBody>
      </p:sp>
      <p:sp>
        <p:nvSpPr>
          <p:cNvPr id="28" name="text-24-700">
            <a:extLst>
              <a:ext uri="{FF2B5EF4-FFF2-40B4-BE49-F238E27FC236}">
                <a16:creationId xmlns:a16="http://schemas.microsoft.com/office/drawing/2014/main" id="{9CFD8315-8D4C-4209-9842-53907060DBD1}"/>
              </a:ext>
            </a:extLst>
          </p:cNvPr>
          <p:cNvSpPr txBox="1"/>
          <p:nvPr/>
        </p:nvSpPr>
        <p:spPr bwMode="auto">
          <a:xfrm>
            <a:off x="8915400" y="2578100"/>
            <a:ext cx="2578100" cy="2781300"/>
          </a:xfrm>
          <a:prstGeom prst="rect">
            <a:avLst/>
          </a:prstGeom>
        </p:spPr>
        <p:txBody>
          <a:bodyPr vert="horz" wrap="square" lIns="38100" tIns="25400" rIns="38100" bIns="25400" rtlCol="0" anchor="ctr">
            <a:noAutofit/>
          </a:bodyPr>
          <a:lstStyle/>
          <a:p>
            <a:r>
              <a:rPr lang="ru-RU" sz="2100">
                <a:solidFill>
                  <a:srgbClr val="352379"/>
                </a:solidFill>
                <a:latin typeface="Montserrat"/>
              </a:rPr>
              <a:t>Косарайю:</a:t>
            </a:r>
          </a:p>
          <a:p>
            <a:r>
              <a:rPr lang="ru-RU" sz="2100">
                <a:solidFill>
                  <a:srgbClr val="352379"/>
                </a:solidFill>
                <a:latin typeface="Montserrat"/>
              </a:rPr>
              <a:t>2 </a:t>
            </a:r>
            <a:r>
              <a:rPr lang="en-US" sz="2100">
                <a:solidFill>
                  <a:srgbClr val="352379"/>
                </a:solidFill>
                <a:latin typeface="Montserrat"/>
              </a:rPr>
              <a:t>DFS +</a:t>
            </a:r>
          </a:p>
          <a:p>
            <a:r>
              <a:rPr lang="ru-RU" sz="2100">
                <a:solidFill>
                  <a:srgbClr val="352379"/>
                </a:solidFill>
                <a:latin typeface="Montserrat"/>
              </a:rPr>
              <a:t>транспонирование</a:t>
            </a:r>
          </a:p>
          <a:p>
            <a:endParaRPr lang="ru-RU" sz="2100">
              <a:solidFill>
                <a:srgbClr val="352379"/>
              </a:solidFill>
              <a:latin typeface="Montserrat"/>
            </a:endParaRPr>
          </a:p>
          <a:p>
            <a:r>
              <a:rPr lang="ru-RU" sz="2100">
                <a:solidFill>
                  <a:srgbClr val="352379"/>
                </a:solidFill>
                <a:latin typeface="Montserrat"/>
              </a:rPr>
              <a:t>Тарьян:</a:t>
            </a:r>
          </a:p>
          <a:p>
            <a:r>
              <a:rPr lang="ru-RU" sz="2100">
                <a:solidFill>
                  <a:srgbClr val="352379"/>
                </a:solidFill>
                <a:latin typeface="Montserrat"/>
              </a:rPr>
              <a:t>1 </a:t>
            </a:r>
            <a:r>
              <a:rPr lang="en-US" sz="2100">
                <a:solidFill>
                  <a:srgbClr val="352379"/>
                </a:solidFill>
                <a:latin typeface="Montserrat"/>
              </a:rPr>
              <a:t>DFS +</a:t>
            </a:r>
          </a:p>
          <a:p>
            <a:r>
              <a:rPr lang="en-US" sz="2100">
                <a:solidFill>
                  <a:srgbClr val="352379"/>
                </a:solidFill>
                <a:latin typeface="Montserrat"/>
              </a:rPr>
              <a:t>tin + low + stack</a:t>
            </a:r>
            <a:endParaRPr lang="ru-RU" sz="2100">
              <a:solidFill>
                <a:srgbClr val="352379"/>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32</a:t>
            </a:r>
          </a:p>
        </p:txBody>
      </p:sp>
      <p:sp>
        <p:nvSpPr>
          <p:cNvPr id="31" name="tarjan-band-background">
            <a:extLst>
              <a:ext uri="{FF2B5EF4-FFF2-40B4-BE49-F238E27FC236}">
                <a16:creationId xmlns:a16="http://schemas.microsoft.com/office/drawing/2014/main" id="{7BF59FE2-C6CA-4E15-879F-DFEDAEF5098D}"/>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arjan-definition">
            <a:extLst>
              <a:ext uri="{FF2B5EF4-FFF2-40B4-BE49-F238E27FC236}">
                <a16:creationId xmlns:a16="http://schemas.microsoft.com/office/drawing/2014/main" id="{BCBA9B98-192B-4A71-BD5D-97A8F6201991}"/>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200">
                <a:solidFill>
                  <a:srgbClr val="FFFFFF"/>
                </a:solidFill>
                <a:latin typeface="Montserrat"/>
              </a:rPr>
              <a:t>Попробуем найти те же SCC на уже знакомом графе.</a:t>
            </a:r>
          </a:p>
        </p:txBody>
      </p:sp>
    </p:spTree>
    <p:extLst>
      <p:ext uri="{BB962C8B-B14F-4D97-AF65-F5344CB8AC3E}">
        <p14:creationId xmlns:p14="http://schemas.microsoft.com/office/powerpoint/2010/main" val="23745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tin[v]: момент первого входа DFS</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До запуска </a:t>
            </a:r>
            <a:r>
              <a:rPr lang="en-US" sz="2100">
                <a:solidFill>
                  <a:srgbClr val="FFFFFF"/>
                </a:solidFill>
                <a:latin typeface="Montserrat"/>
              </a:rPr>
              <a:t>DFS</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33</a:t>
            </a:r>
          </a:p>
        </p:txBody>
      </p:sp>
      <p:sp>
        <p:nvSpPr>
          <p:cNvPr id="31" name="grid-0-0">
            <a:extLst>
              <a:ext uri="{FF2B5EF4-FFF2-40B4-BE49-F238E27FC236}">
                <a16:creationId xmlns:a16="http://schemas.microsoft.com/office/drawing/2014/main" id="{3CA6C241-A52B-4E9C-9B9D-E33BDFBB0DDD}"/>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5D27782B-C8E8-4B35-A40F-89362AB16CB0}"/>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1-0">
            <a:extLst>
              <a:ext uri="{FF2B5EF4-FFF2-40B4-BE49-F238E27FC236}">
                <a16:creationId xmlns:a16="http://schemas.microsoft.com/office/drawing/2014/main" id="{4869E474-C3E0-45B2-899F-49848DD8C5A7}"/>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4" name="grid-1-1">
            <a:extLst>
              <a:ext uri="{FF2B5EF4-FFF2-40B4-BE49-F238E27FC236}">
                <a16:creationId xmlns:a16="http://schemas.microsoft.com/office/drawing/2014/main" id="{44DC5BAC-E3CC-444A-8D11-2212335ADC79}"/>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35" name="grid-2-0">
            <a:extLst>
              <a:ext uri="{FF2B5EF4-FFF2-40B4-BE49-F238E27FC236}">
                <a16:creationId xmlns:a16="http://schemas.microsoft.com/office/drawing/2014/main" id="{C35B9CFB-EF7F-4C59-962F-2AC7B516617F}"/>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6" name="grid-2-1">
            <a:extLst>
              <a:ext uri="{FF2B5EF4-FFF2-40B4-BE49-F238E27FC236}">
                <a16:creationId xmlns:a16="http://schemas.microsoft.com/office/drawing/2014/main" id="{7EA8ABCF-E66B-4FEF-9964-64CF05927271}"/>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37" name="grid-3-0">
            <a:extLst>
              <a:ext uri="{FF2B5EF4-FFF2-40B4-BE49-F238E27FC236}">
                <a16:creationId xmlns:a16="http://schemas.microsoft.com/office/drawing/2014/main" id="{39D4CD4C-D056-4B9A-A297-5338B0869915}"/>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38" name="grid-3-1">
            <a:extLst>
              <a:ext uri="{FF2B5EF4-FFF2-40B4-BE49-F238E27FC236}">
                <a16:creationId xmlns:a16="http://schemas.microsoft.com/office/drawing/2014/main" id="{1C9F30DC-7BF2-4121-AC8B-1E648DA0AF34}"/>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39" name="grid-4-0">
            <a:extLst>
              <a:ext uri="{FF2B5EF4-FFF2-40B4-BE49-F238E27FC236}">
                <a16:creationId xmlns:a16="http://schemas.microsoft.com/office/drawing/2014/main" id="{495616BE-6A58-49A3-80B2-AE9B452CFCAD}"/>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0" name="grid-4-1">
            <a:extLst>
              <a:ext uri="{FF2B5EF4-FFF2-40B4-BE49-F238E27FC236}">
                <a16:creationId xmlns:a16="http://schemas.microsoft.com/office/drawing/2014/main" id="{AFF161FA-6FE9-47DB-B89B-9C5F3D5888A7}"/>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41" name="grid-5-0">
            <a:extLst>
              <a:ext uri="{FF2B5EF4-FFF2-40B4-BE49-F238E27FC236}">
                <a16:creationId xmlns:a16="http://schemas.microsoft.com/office/drawing/2014/main" id="{D8A29E7B-B866-4C77-A8BF-E9258FA1CC2A}"/>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2" name="grid-5-1">
            <a:extLst>
              <a:ext uri="{FF2B5EF4-FFF2-40B4-BE49-F238E27FC236}">
                <a16:creationId xmlns:a16="http://schemas.microsoft.com/office/drawing/2014/main" id="{612F791A-E616-45BF-B619-4C687C4438A2}"/>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43" name="grid-6-0">
            <a:extLst>
              <a:ext uri="{FF2B5EF4-FFF2-40B4-BE49-F238E27FC236}">
                <a16:creationId xmlns:a16="http://schemas.microsoft.com/office/drawing/2014/main" id="{391C6C26-0A79-4A06-A6B6-F239E65F73D6}"/>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44" name="grid-6-1">
            <a:extLst>
              <a:ext uri="{FF2B5EF4-FFF2-40B4-BE49-F238E27FC236}">
                <a16:creationId xmlns:a16="http://schemas.microsoft.com/office/drawing/2014/main" id="{BB82B414-AF56-47C0-BCC4-2558169A5DFB}"/>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45" name="grid-7-0">
            <a:extLst>
              <a:ext uri="{FF2B5EF4-FFF2-40B4-BE49-F238E27FC236}">
                <a16:creationId xmlns:a16="http://schemas.microsoft.com/office/drawing/2014/main" id="{4A6F7850-D739-492D-9326-4E2E4255763C}"/>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46" name="grid-7-1">
            <a:extLst>
              <a:ext uri="{FF2B5EF4-FFF2-40B4-BE49-F238E27FC236}">
                <a16:creationId xmlns:a16="http://schemas.microsoft.com/office/drawing/2014/main" id="{A77A0794-56B2-4056-B509-93EC617A2723}"/>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47" name="grid-8-0">
            <a:extLst>
              <a:ext uri="{FF2B5EF4-FFF2-40B4-BE49-F238E27FC236}">
                <a16:creationId xmlns:a16="http://schemas.microsoft.com/office/drawing/2014/main" id="{9B92AE1D-18C9-488E-9627-382903001986}"/>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48" name="grid-8-1">
            <a:extLst>
              <a:ext uri="{FF2B5EF4-FFF2-40B4-BE49-F238E27FC236}">
                <a16:creationId xmlns:a16="http://schemas.microsoft.com/office/drawing/2014/main" id="{A330209C-FC6B-4381-9C1E-0606F0FC24A9}"/>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49" name="tarjan-caption">
            <a:extLst>
              <a:ext uri="{FF2B5EF4-FFF2-40B4-BE49-F238E27FC236}">
                <a16:creationId xmlns:a16="http://schemas.microsoft.com/office/drawing/2014/main" id="{B70EFAFA-43F7-4269-999F-562B1E010B92}"/>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ru-RU" sz="2000">
                <a:solidFill>
                  <a:srgbClr val="352379"/>
                </a:solidFill>
                <a:latin typeface="Montserrat"/>
              </a:rPr>
              <a:t>DFS стартует с 1; соседей выбираем по номеру.</a:t>
            </a:r>
          </a:p>
        </p:txBody>
      </p:sp>
      <p:sp>
        <p:nvSpPr>
          <p:cNvPr id="50" name="tarjan-band-background">
            <a:extLst>
              <a:ext uri="{FF2B5EF4-FFF2-40B4-BE49-F238E27FC236}">
                <a16:creationId xmlns:a16="http://schemas.microsoft.com/office/drawing/2014/main" id="{E61416B5-29B9-43BC-BB08-632E540FD808}"/>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arjan-definition">
            <a:extLst>
              <a:ext uri="{FF2B5EF4-FFF2-40B4-BE49-F238E27FC236}">
                <a16:creationId xmlns:a16="http://schemas.microsoft.com/office/drawing/2014/main" id="{5029CA8C-C724-4B44-BBED-68CA7A459FB0}"/>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200">
                <a:solidFill>
                  <a:srgbClr val="FFFFFF"/>
                </a:solidFill>
                <a:latin typeface="Montserrat"/>
              </a:rPr>
              <a:t>tin[v] — момент первого входа DFS в вершину v.</a:t>
            </a:r>
          </a:p>
        </p:txBody>
      </p:sp>
      <p:grpSp>
        <p:nvGrpSpPr>
          <p:cNvPr id="82" name="tarjan-stage-1">
            <a:extLst>
              <a:ext uri="{FF2B5EF4-FFF2-40B4-BE49-F238E27FC236}">
                <a16:creationId xmlns:a16="http://schemas.microsoft.com/office/drawing/2014/main" id="{5FE9906B-B08E-490A-8939-6D9736DDC51C}"/>
              </a:ext>
            </a:extLst>
          </p:cNvPr>
          <p:cNvGrpSpPr/>
          <p:nvPr/>
        </p:nvGrpSpPr>
        <p:grpSpPr>
          <a:xfrm>
            <a:off x="508000" y="1816100"/>
            <a:ext cx="11201400" cy="3848100"/>
            <a:chOff x="508000" y="1816100"/>
            <a:chExt cx="11201400" cy="3848100"/>
          </a:xfrm>
        </p:grpSpPr>
        <p:sp>
          <p:nvSpPr>
            <p:cNvPr id="52" name="stage-1-!!g-node-1">
              <a:extLst>
                <a:ext uri="{FF2B5EF4-FFF2-40B4-BE49-F238E27FC236}">
                  <a16:creationId xmlns:a16="http://schemas.microsoft.com/office/drawing/2014/main" id="{DDDC90AF-BE0A-49DD-B4ED-B84A55787B16}"/>
                </a:ext>
              </a:extLst>
            </p:cNvPr>
            <p:cNvSpPr/>
            <p:nvPr/>
          </p:nvSpPr>
          <p:spPr>
            <a:xfrm>
              <a:off x="8255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53" name="stage-1-!!g-node-2">
              <a:extLst>
                <a:ext uri="{FF2B5EF4-FFF2-40B4-BE49-F238E27FC236}">
                  <a16:creationId xmlns:a16="http://schemas.microsoft.com/office/drawing/2014/main" id="{5491114B-0E57-46B6-9360-08D866CC4610}"/>
                </a:ext>
              </a:extLst>
            </p:cNvPr>
            <p:cNvSpPr/>
            <p:nvPr/>
          </p:nvSpPr>
          <p:spPr>
            <a:xfrm>
              <a:off x="508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54" name="stage-1-!!g-node-3">
              <a:extLst>
                <a:ext uri="{FF2B5EF4-FFF2-40B4-BE49-F238E27FC236}">
                  <a16:creationId xmlns:a16="http://schemas.microsoft.com/office/drawing/2014/main" id="{03A81EA0-27A2-49B2-B233-0520AA589942}"/>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55" name="stage-1-!!g-node-4">
              <a:extLst>
                <a:ext uri="{FF2B5EF4-FFF2-40B4-BE49-F238E27FC236}">
                  <a16:creationId xmlns:a16="http://schemas.microsoft.com/office/drawing/2014/main" id="{F343E6DA-2B1D-4E38-A74D-0AC4D4091274}"/>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56" name="stage-1-!!g-node-5">
              <a:extLst>
                <a:ext uri="{FF2B5EF4-FFF2-40B4-BE49-F238E27FC236}">
                  <a16:creationId xmlns:a16="http://schemas.microsoft.com/office/drawing/2014/main" id="{DF6BB757-A855-41ED-B0B5-E3F31C57542E}"/>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57" name="stage-1-!!g-node-6">
              <a:extLst>
                <a:ext uri="{FF2B5EF4-FFF2-40B4-BE49-F238E27FC236}">
                  <a16:creationId xmlns:a16="http://schemas.microsoft.com/office/drawing/2014/main" id="{0D3FAE18-4C58-4AEE-AED4-2B878F7516F8}"/>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58" name="stage-1-!!g-node-7">
              <a:extLst>
                <a:ext uri="{FF2B5EF4-FFF2-40B4-BE49-F238E27FC236}">
                  <a16:creationId xmlns:a16="http://schemas.microsoft.com/office/drawing/2014/main" id="{5363A901-2F41-474E-835C-F2F37051C1FD}"/>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59" name="stage-1-!!g-node-8">
              <a:extLst>
                <a:ext uri="{FF2B5EF4-FFF2-40B4-BE49-F238E27FC236}">
                  <a16:creationId xmlns:a16="http://schemas.microsoft.com/office/drawing/2014/main" id="{5D3297B0-A32F-4D4E-AD08-C2F3B24AA9EB}"/>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60" name="stage-1-box-21-697">
              <a:extLst>
                <a:ext uri="{FF2B5EF4-FFF2-40B4-BE49-F238E27FC236}">
                  <a16:creationId xmlns:a16="http://schemas.microsoft.com/office/drawing/2014/main" id="{F74B34F9-6536-4902-8AA2-83B4096E96F3}"/>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stage-1-box-22-698">
              <a:extLst>
                <a:ext uri="{FF2B5EF4-FFF2-40B4-BE49-F238E27FC236}">
                  <a16:creationId xmlns:a16="http://schemas.microsoft.com/office/drawing/2014/main" id="{68B8B376-2C69-478A-AE38-785DE002B717}"/>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stage-1-text-23-699">
              <a:extLst>
                <a:ext uri="{FF2B5EF4-FFF2-40B4-BE49-F238E27FC236}">
                  <a16:creationId xmlns:a16="http://schemas.microsoft.com/office/drawing/2014/main" id="{E61864F8-AA38-4D00-9235-594FC52DC135}"/>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1</a:t>
              </a:r>
            </a:p>
          </p:txBody>
        </p:sp>
        <p:sp>
          <p:nvSpPr>
            <p:cNvPr id="63" name="stage-1-grid-0-0">
              <a:extLst>
                <a:ext uri="{FF2B5EF4-FFF2-40B4-BE49-F238E27FC236}">
                  <a16:creationId xmlns:a16="http://schemas.microsoft.com/office/drawing/2014/main" id="{658D229F-B2CF-4A2A-8E05-BA91EA842E00}"/>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64" name="stage-1-grid-0-1">
              <a:extLst>
                <a:ext uri="{FF2B5EF4-FFF2-40B4-BE49-F238E27FC236}">
                  <a16:creationId xmlns:a16="http://schemas.microsoft.com/office/drawing/2014/main" id="{A458E1CA-6655-4A3E-B278-2EC20AC3354B}"/>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65" name="stage-1-grid-1-0">
              <a:extLst>
                <a:ext uri="{FF2B5EF4-FFF2-40B4-BE49-F238E27FC236}">
                  <a16:creationId xmlns:a16="http://schemas.microsoft.com/office/drawing/2014/main" id="{2F792412-9EB9-4DE6-AF39-5095EDBF4871}"/>
                </a:ext>
              </a:extLst>
            </p:cNvPr>
            <p:cNvSpPr/>
            <p:nvPr/>
          </p:nvSpPr>
          <p:spPr>
            <a:xfrm>
              <a:off x="8915400" y="27940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66" name="stage-1-grid-1-1">
              <a:extLst>
                <a:ext uri="{FF2B5EF4-FFF2-40B4-BE49-F238E27FC236}">
                  <a16:creationId xmlns:a16="http://schemas.microsoft.com/office/drawing/2014/main" id="{F362367E-DF8A-4074-ACB5-E651B9CD1643}"/>
                </a:ext>
              </a:extLst>
            </p:cNvPr>
            <p:cNvSpPr/>
            <p:nvPr/>
          </p:nvSpPr>
          <p:spPr>
            <a:xfrm>
              <a:off x="10204450" y="27940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67" name="stage-1-grid-2-0">
              <a:extLst>
                <a:ext uri="{FF2B5EF4-FFF2-40B4-BE49-F238E27FC236}">
                  <a16:creationId xmlns:a16="http://schemas.microsoft.com/office/drawing/2014/main" id="{BF8FFE46-18E4-4717-9DF9-44A37796074F}"/>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68" name="stage-1-grid-2-1">
              <a:extLst>
                <a:ext uri="{FF2B5EF4-FFF2-40B4-BE49-F238E27FC236}">
                  <a16:creationId xmlns:a16="http://schemas.microsoft.com/office/drawing/2014/main" id="{4A1C24A6-27A7-4903-B1B5-C2119D52B383}"/>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69" name="stage-1-grid-3-0">
              <a:extLst>
                <a:ext uri="{FF2B5EF4-FFF2-40B4-BE49-F238E27FC236}">
                  <a16:creationId xmlns:a16="http://schemas.microsoft.com/office/drawing/2014/main" id="{2D1E1BC7-B6C4-4076-A6DD-50F200A8B317}"/>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70" name="stage-1-grid-3-1">
              <a:extLst>
                <a:ext uri="{FF2B5EF4-FFF2-40B4-BE49-F238E27FC236}">
                  <a16:creationId xmlns:a16="http://schemas.microsoft.com/office/drawing/2014/main" id="{FDDF86C4-938B-480A-8274-B120AC342B5F}"/>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71" name="stage-1-grid-4-0">
              <a:extLst>
                <a:ext uri="{FF2B5EF4-FFF2-40B4-BE49-F238E27FC236}">
                  <a16:creationId xmlns:a16="http://schemas.microsoft.com/office/drawing/2014/main" id="{F8CA449E-7167-4D8B-8786-2C3CE90246B1}"/>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72" name="stage-1-grid-4-1">
              <a:extLst>
                <a:ext uri="{FF2B5EF4-FFF2-40B4-BE49-F238E27FC236}">
                  <a16:creationId xmlns:a16="http://schemas.microsoft.com/office/drawing/2014/main" id="{05A391F3-8E0A-4AD8-BC1F-918F3ED9BDA5}"/>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73" name="stage-1-grid-5-0">
              <a:extLst>
                <a:ext uri="{FF2B5EF4-FFF2-40B4-BE49-F238E27FC236}">
                  <a16:creationId xmlns:a16="http://schemas.microsoft.com/office/drawing/2014/main" id="{912226DE-148E-47B1-83E1-09182F3A3183}"/>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74" name="stage-1-grid-5-1">
              <a:extLst>
                <a:ext uri="{FF2B5EF4-FFF2-40B4-BE49-F238E27FC236}">
                  <a16:creationId xmlns:a16="http://schemas.microsoft.com/office/drawing/2014/main" id="{0E8DA207-03DE-4838-9C6A-E38C3F6723AB}"/>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75" name="stage-1-grid-6-0">
              <a:extLst>
                <a:ext uri="{FF2B5EF4-FFF2-40B4-BE49-F238E27FC236}">
                  <a16:creationId xmlns:a16="http://schemas.microsoft.com/office/drawing/2014/main" id="{4073F4A6-58FD-4EF2-BF38-5782DDA84CD2}"/>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76" name="stage-1-grid-6-1">
              <a:extLst>
                <a:ext uri="{FF2B5EF4-FFF2-40B4-BE49-F238E27FC236}">
                  <a16:creationId xmlns:a16="http://schemas.microsoft.com/office/drawing/2014/main" id="{1DF90106-1E9E-4545-BC7D-1BB958E36A19}"/>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77" name="stage-1-grid-7-0">
              <a:extLst>
                <a:ext uri="{FF2B5EF4-FFF2-40B4-BE49-F238E27FC236}">
                  <a16:creationId xmlns:a16="http://schemas.microsoft.com/office/drawing/2014/main" id="{520E5C10-F453-4DF8-8724-0D99821E96B8}"/>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78" name="stage-1-grid-7-1">
              <a:extLst>
                <a:ext uri="{FF2B5EF4-FFF2-40B4-BE49-F238E27FC236}">
                  <a16:creationId xmlns:a16="http://schemas.microsoft.com/office/drawing/2014/main" id="{FA708241-A516-47A5-BD66-2AA7CA9E487B}"/>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79" name="stage-1-grid-8-0">
              <a:extLst>
                <a:ext uri="{FF2B5EF4-FFF2-40B4-BE49-F238E27FC236}">
                  <a16:creationId xmlns:a16="http://schemas.microsoft.com/office/drawing/2014/main" id="{8A2DEFCC-99D3-49F0-B46B-91B0746E675E}"/>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80" name="stage-1-grid-8-1">
              <a:extLst>
                <a:ext uri="{FF2B5EF4-FFF2-40B4-BE49-F238E27FC236}">
                  <a16:creationId xmlns:a16="http://schemas.microsoft.com/office/drawing/2014/main" id="{208A9D7A-F28A-4951-8E30-14EE7A8EE525}"/>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81" name="stage-1-tarjan-caption">
              <a:extLst>
                <a:ext uri="{FF2B5EF4-FFF2-40B4-BE49-F238E27FC236}">
                  <a16:creationId xmlns:a16="http://schemas.microsoft.com/office/drawing/2014/main" id="{BFC8EDAB-DA53-41A1-A861-1B625D196A48}"/>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tin[1] = 1 · </a:t>
              </a:r>
              <a:r>
                <a:rPr lang="ru-RU" sz="2000">
                  <a:solidFill>
                    <a:srgbClr val="352379"/>
                  </a:solidFill>
                  <a:latin typeface="Montserrat"/>
                </a:rPr>
                <a:t>путь </a:t>
              </a:r>
              <a:r>
                <a:rPr lang="en-US" sz="2000">
                  <a:solidFill>
                    <a:srgbClr val="352379"/>
                  </a:solidFill>
                  <a:latin typeface="Montserrat"/>
                </a:rPr>
                <a:t>DFS: 1 → … → 1</a:t>
              </a:r>
              <a:endParaRPr lang="ru-RU" sz="2000">
                <a:solidFill>
                  <a:srgbClr val="352379"/>
                </a:solidFill>
                <a:latin typeface="Montserrat"/>
              </a:endParaRPr>
            </a:p>
          </p:txBody>
        </p:sp>
      </p:grpSp>
      <p:grpSp>
        <p:nvGrpSpPr>
          <p:cNvPr id="113" name="tarjan-stage-2">
            <a:extLst>
              <a:ext uri="{FF2B5EF4-FFF2-40B4-BE49-F238E27FC236}">
                <a16:creationId xmlns:a16="http://schemas.microsoft.com/office/drawing/2014/main" id="{2BEC189B-4AF5-485B-A061-B5859AAEC028}"/>
              </a:ext>
            </a:extLst>
          </p:cNvPr>
          <p:cNvGrpSpPr/>
          <p:nvPr/>
        </p:nvGrpSpPr>
        <p:grpSpPr>
          <a:xfrm>
            <a:off x="508000" y="1816100"/>
            <a:ext cx="11201400" cy="3848100"/>
            <a:chOff x="508000" y="1816100"/>
            <a:chExt cx="11201400" cy="3848100"/>
          </a:xfrm>
        </p:grpSpPr>
        <p:sp>
          <p:nvSpPr>
            <p:cNvPr id="83" name="stage-2-!!g-node-1">
              <a:extLst>
                <a:ext uri="{FF2B5EF4-FFF2-40B4-BE49-F238E27FC236}">
                  <a16:creationId xmlns:a16="http://schemas.microsoft.com/office/drawing/2014/main" id="{B4CCF923-D462-44D9-87D9-D79D54924731}"/>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84" name="stage-2-!!g-node-2">
              <a:extLst>
                <a:ext uri="{FF2B5EF4-FFF2-40B4-BE49-F238E27FC236}">
                  <a16:creationId xmlns:a16="http://schemas.microsoft.com/office/drawing/2014/main" id="{086682D2-3FAA-4BFF-97BE-CB66A5A58309}"/>
                </a:ext>
              </a:extLst>
            </p:cNvPr>
            <p:cNvSpPr/>
            <p:nvPr/>
          </p:nvSpPr>
          <p:spPr>
            <a:xfrm>
              <a:off x="5080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2</a:t>
              </a:r>
            </a:p>
          </p:txBody>
        </p:sp>
        <p:sp>
          <p:nvSpPr>
            <p:cNvPr id="85" name="stage-2-!!g-node-3">
              <a:extLst>
                <a:ext uri="{FF2B5EF4-FFF2-40B4-BE49-F238E27FC236}">
                  <a16:creationId xmlns:a16="http://schemas.microsoft.com/office/drawing/2014/main" id="{CA7F1B77-D96D-4A90-B478-53E34065FC56}"/>
                </a:ext>
              </a:extLst>
            </p:cNvPr>
            <p:cNvSpPr/>
            <p:nvPr/>
          </p:nvSpPr>
          <p:spPr>
            <a:xfrm>
              <a:off x="2286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86" name="stage-2-!!g-node-4">
              <a:extLst>
                <a:ext uri="{FF2B5EF4-FFF2-40B4-BE49-F238E27FC236}">
                  <a16:creationId xmlns:a16="http://schemas.microsoft.com/office/drawing/2014/main" id="{404797CA-23A4-4AC1-A0F5-4F02D0374FFA}"/>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87" name="stage-2-!!g-node-5">
              <a:extLst>
                <a:ext uri="{FF2B5EF4-FFF2-40B4-BE49-F238E27FC236}">
                  <a16:creationId xmlns:a16="http://schemas.microsoft.com/office/drawing/2014/main" id="{918491E9-D3CB-4B34-9761-92B5E3A8BAF2}"/>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88" name="stage-2-!!g-node-6">
              <a:extLst>
                <a:ext uri="{FF2B5EF4-FFF2-40B4-BE49-F238E27FC236}">
                  <a16:creationId xmlns:a16="http://schemas.microsoft.com/office/drawing/2014/main" id="{449C5364-C9FA-485B-A125-E207EDA15E82}"/>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89" name="stage-2-!!g-node-7">
              <a:extLst>
                <a:ext uri="{FF2B5EF4-FFF2-40B4-BE49-F238E27FC236}">
                  <a16:creationId xmlns:a16="http://schemas.microsoft.com/office/drawing/2014/main" id="{0604F54E-2925-4104-825E-11FED9586043}"/>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90" name="stage-2-!!g-node-8">
              <a:extLst>
                <a:ext uri="{FF2B5EF4-FFF2-40B4-BE49-F238E27FC236}">
                  <a16:creationId xmlns:a16="http://schemas.microsoft.com/office/drawing/2014/main" id="{FFCF261E-700F-4384-84A8-F886E06396FA}"/>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91" name="stage-2-box-21-697">
              <a:extLst>
                <a:ext uri="{FF2B5EF4-FFF2-40B4-BE49-F238E27FC236}">
                  <a16:creationId xmlns:a16="http://schemas.microsoft.com/office/drawing/2014/main" id="{307B735A-1C8E-4BD5-9CAB-22AA88D16EF6}"/>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2" name="stage-2-box-22-698">
              <a:extLst>
                <a:ext uri="{FF2B5EF4-FFF2-40B4-BE49-F238E27FC236}">
                  <a16:creationId xmlns:a16="http://schemas.microsoft.com/office/drawing/2014/main" id="{7C7E2531-BA98-4C6C-B3B4-F5BBA241477D}"/>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stage-2-text-23-699">
              <a:extLst>
                <a:ext uri="{FF2B5EF4-FFF2-40B4-BE49-F238E27FC236}">
                  <a16:creationId xmlns:a16="http://schemas.microsoft.com/office/drawing/2014/main" id="{784AE251-FADD-4F83-B71C-F1D1A667F395}"/>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2</a:t>
              </a:r>
            </a:p>
          </p:txBody>
        </p:sp>
        <p:sp>
          <p:nvSpPr>
            <p:cNvPr id="94" name="stage-2-grid-0-0">
              <a:extLst>
                <a:ext uri="{FF2B5EF4-FFF2-40B4-BE49-F238E27FC236}">
                  <a16:creationId xmlns:a16="http://schemas.microsoft.com/office/drawing/2014/main" id="{12191874-F176-49A4-94C6-FB350A993C75}"/>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95" name="stage-2-grid-0-1">
              <a:extLst>
                <a:ext uri="{FF2B5EF4-FFF2-40B4-BE49-F238E27FC236}">
                  <a16:creationId xmlns:a16="http://schemas.microsoft.com/office/drawing/2014/main" id="{BF914A19-7BDD-4349-B9F2-E7EECDC09A2B}"/>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96" name="stage-2-grid-1-0">
              <a:extLst>
                <a:ext uri="{FF2B5EF4-FFF2-40B4-BE49-F238E27FC236}">
                  <a16:creationId xmlns:a16="http://schemas.microsoft.com/office/drawing/2014/main" id="{DBD5420D-4F33-4799-829E-DDE73DADA503}"/>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97" name="stage-2-grid-1-1">
              <a:extLst>
                <a:ext uri="{FF2B5EF4-FFF2-40B4-BE49-F238E27FC236}">
                  <a16:creationId xmlns:a16="http://schemas.microsoft.com/office/drawing/2014/main" id="{A114804A-9E03-41F9-83FE-26F608C555BC}"/>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98" name="stage-2-grid-2-0">
              <a:extLst>
                <a:ext uri="{FF2B5EF4-FFF2-40B4-BE49-F238E27FC236}">
                  <a16:creationId xmlns:a16="http://schemas.microsoft.com/office/drawing/2014/main" id="{995E21D4-CB24-4C01-B9BB-9EC2C7949CC1}"/>
                </a:ext>
              </a:extLst>
            </p:cNvPr>
            <p:cNvSpPr/>
            <p:nvPr/>
          </p:nvSpPr>
          <p:spPr>
            <a:xfrm>
              <a:off x="8915400" y="31369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2</a:t>
              </a:r>
            </a:p>
          </p:txBody>
        </p:sp>
        <p:sp>
          <p:nvSpPr>
            <p:cNvPr id="99" name="stage-2-grid-2-1">
              <a:extLst>
                <a:ext uri="{FF2B5EF4-FFF2-40B4-BE49-F238E27FC236}">
                  <a16:creationId xmlns:a16="http://schemas.microsoft.com/office/drawing/2014/main" id="{98CAF09C-6A3D-4537-96AE-5A047C1E83D8}"/>
                </a:ext>
              </a:extLst>
            </p:cNvPr>
            <p:cNvSpPr/>
            <p:nvPr/>
          </p:nvSpPr>
          <p:spPr>
            <a:xfrm>
              <a:off x="10204450" y="31369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2</a:t>
              </a:r>
            </a:p>
          </p:txBody>
        </p:sp>
        <p:sp>
          <p:nvSpPr>
            <p:cNvPr id="100" name="stage-2-grid-3-0">
              <a:extLst>
                <a:ext uri="{FF2B5EF4-FFF2-40B4-BE49-F238E27FC236}">
                  <a16:creationId xmlns:a16="http://schemas.microsoft.com/office/drawing/2014/main" id="{B4A39E0C-65CB-4822-A8B0-57D4974FAF5E}"/>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01" name="stage-2-grid-3-1">
              <a:extLst>
                <a:ext uri="{FF2B5EF4-FFF2-40B4-BE49-F238E27FC236}">
                  <a16:creationId xmlns:a16="http://schemas.microsoft.com/office/drawing/2014/main" id="{DF98546D-582F-416E-9FEF-A0F6E14A0FA6}"/>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02" name="stage-2-grid-4-0">
              <a:extLst>
                <a:ext uri="{FF2B5EF4-FFF2-40B4-BE49-F238E27FC236}">
                  <a16:creationId xmlns:a16="http://schemas.microsoft.com/office/drawing/2014/main" id="{E4BF42D2-8A6E-449E-A2D5-38D74DB36474}"/>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03" name="stage-2-grid-4-1">
              <a:extLst>
                <a:ext uri="{FF2B5EF4-FFF2-40B4-BE49-F238E27FC236}">
                  <a16:creationId xmlns:a16="http://schemas.microsoft.com/office/drawing/2014/main" id="{B1B6A57C-CAA5-4B10-9544-35E5711E7F4C}"/>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04" name="stage-2-grid-5-0">
              <a:extLst>
                <a:ext uri="{FF2B5EF4-FFF2-40B4-BE49-F238E27FC236}">
                  <a16:creationId xmlns:a16="http://schemas.microsoft.com/office/drawing/2014/main" id="{A0CDF24C-938A-4B77-894B-8845EEED93D3}"/>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05" name="stage-2-grid-5-1">
              <a:extLst>
                <a:ext uri="{FF2B5EF4-FFF2-40B4-BE49-F238E27FC236}">
                  <a16:creationId xmlns:a16="http://schemas.microsoft.com/office/drawing/2014/main" id="{92253B65-E67E-4CED-9A4A-3B9EC34D8039}"/>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06" name="stage-2-grid-6-0">
              <a:extLst>
                <a:ext uri="{FF2B5EF4-FFF2-40B4-BE49-F238E27FC236}">
                  <a16:creationId xmlns:a16="http://schemas.microsoft.com/office/drawing/2014/main" id="{475B74B7-1951-4891-9F6F-E6BA35B825DF}"/>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07" name="stage-2-grid-6-1">
              <a:extLst>
                <a:ext uri="{FF2B5EF4-FFF2-40B4-BE49-F238E27FC236}">
                  <a16:creationId xmlns:a16="http://schemas.microsoft.com/office/drawing/2014/main" id="{7AE2B5AD-3F9E-4831-B09E-0A9D6909E7FE}"/>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08" name="stage-2-grid-7-0">
              <a:extLst>
                <a:ext uri="{FF2B5EF4-FFF2-40B4-BE49-F238E27FC236}">
                  <a16:creationId xmlns:a16="http://schemas.microsoft.com/office/drawing/2014/main" id="{0D55B3DD-8334-45B7-91F2-50E8BDC17210}"/>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109" name="stage-2-grid-7-1">
              <a:extLst>
                <a:ext uri="{FF2B5EF4-FFF2-40B4-BE49-F238E27FC236}">
                  <a16:creationId xmlns:a16="http://schemas.microsoft.com/office/drawing/2014/main" id="{973FDD6A-CA66-417F-9295-7DCB370A2879}"/>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10" name="stage-2-grid-8-0">
              <a:extLst>
                <a:ext uri="{FF2B5EF4-FFF2-40B4-BE49-F238E27FC236}">
                  <a16:creationId xmlns:a16="http://schemas.microsoft.com/office/drawing/2014/main" id="{D68C2571-DB00-4290-8A46-7999774CAA2D}"/>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11" name="stage-2-grid-8-1">
              <a:extLst>
                <a:ext uri="{FF2B5EF4-FFF2-40B4-BE49-F238E27FC236}">
                  <a16:creationId xmlns:a16="http://schemas.microsoft.com/office/drawing/2014/main" id="{8AB902BE-3F4E-4E34-BF8B-F544AB10ADE7}"/>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12" name="stage-2-tarjan-caption">
              <a:extLst>
                <a:ext uri="{FF2B5EF4-FFF2-40B4-BE49-F238E27FC236}">
                  <a16:creationId xmlns:a16="http://schemas.microsoft.com/office/drawing/2014/main" id="{F1FB0CC5-BFBE-4534-A2EF-982736232F37}"/>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tin[2] = 2 · </a:t>
              </a:r>
              <a:r>
                <a:rPr lang="ru-RU" sz="2000">
                  <a:solidFill>
                    <a:srgbClr val="352379"/>
                  </a:solidFill>
                  <a:latin typeface="Montserrat"/>
                </a:rPr>
                <a:t>путь </a:t>
              </a:r>
              <a:r>
                <a:rPr lang="en-US" sz="2000">
                  <a:solidFill>
                    <a:srgbClr val="352379"/>
                  </a:solidFill>
                  <a:latin typeface="Montserrat"/>
                </a:rPr>
                <a:t>DFS: 1 → … → 2</a:t>
              </a:r>
              <a:endParaRPr lang="ru-RU" sz="2000">
                <a:solidFill>
                  <a:srgbClr val="352379"/>
                </a:solidFill>
                <a:latin typeface="Montserrat"/>
              </a:endParaRPr>
            </a:p>
          </p:txBody>
        </p:sp>
      </p:grpSp>
      <p:grpSp>
        <p:nvGrpSpPr>
          <p:cNvPr id="144" name="tarjan-stage-4">
            <a:extLst>
              <a:ext uri="{FF2B5EF4-FFF2-40B4-BE49-F238E27FC236}">
                <a16:creationId xmlns:a16="http://schemas.microsoft.com/office/drawing/2014/main" id="{4147A5E7-AEFB-433E-8497-8CC6E9B96A3A}"/>
              </a:ext>
            </a:extLst>
          </p:cNvPr>
          <p:cNvGrpSpPr/>
          <p:nvPr/>
        </p:nvGrpSpPr>
        <p:grpSpPr>
          <a:xfrm>
            <a:off x="508000" y="1816100"/>
            <a:ext cx="11201400" cy="3848100"/>
            <a:chOff x="508000" y="1816100"/>
            <a:chExt cx="11201400" cy="3848100"/>
          </a:xfrm>
        </p:grpSpPr>
        <p:sp>
          <p:nvSpPr>
            <p:cNvPr id="114" name="stage-4-!!g-node-1">
              <a:extLst>
                <a:ext uri="{FF2B5EF4-FFF2-40B4-BE49-F238E27FC236}">
                  <a16:creationId xmlns:a16="http://schemas.microsoft.com/office/drawing/2014/main" id="{E8F6969E-F696-4FE9-B07D-A77777463FC1}"/>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15" name="stage-4-!!g-node-2">
              <a:extLst>
                <a:ext uri="{FF2B5EF4-FFF2-40B4-BE49-F238E27FC236}">
                  <a16:creationId xmlns:a16="http://schemas.microsoft.com/office/drawing/2014/main" id="{0269596E-1732-4BD7-B585-AB5C4CC89A29}"/>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16" name="stage-4-!!g-node-3">
              <a:extLst>
                <a:ext uri="{FF2B5EF4-FFF2-40B4-BE49-F238E27FC236}">
                  <a16:creationId xmlns:a16="http://schemas.microsoft.com/office/drawing/2014/main" id="{EE6369D8-C770-4592-87B6-B91B8FF58636}"/>
                </a:ext>
              </a:extLst>
            </p:cNvPr>
            <p:cNvSpPr/>
            <p:nvPr/>
          </p:nvSpPr>
          <p:spPr>
            <a:xfrm>
              <a:off x="22860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3</a:t>
              </a:r>
            </a:p>
          </p:txBody>
        </p:sp>
        <p:sp>
          <p:nvSpPr>
            <p:cNvPr id="117" name="stage-4-!!g-node-4">
              <a:extLst>
                <a:ext uri="{FF2B5EF4-FFF2-40B4-BE49-F238E27FC236}">
                  <a16:creationId xmlns:a16="http://schemas.microsoft.com/office/drawing/2014/main" id="{0B1A3F78-B6C3-4B93-92EF-CD0FBB997F16}"/>
                </a:ext>
              </a:extLst>
            </p:cNvPr>
            <p:cNvSpPr/>
            <p:nvPr/>
          </p:nvSpPr>
          <p:spPr>
            <a:xfrm>
              <a:off x="3619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18" name="stage-4-!!g-node-5">
              <a:extLst>
                <a:ext uri="{FF2B5EF4-FFF2-40B4-BE49-F238E27FC236}">
                  <a16:creationId xmlns:a16="http://schemas.microsoft.com/office/drawing/2014/main" id="{81A31B98-AF89-4C0A-AC0A-BA4883A86B80}"/>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19" name="stage-4-!!g-node-6">
              <a:extLst>
                <a:ext uri="{FF2B5EF4-FFF2-40B4-BE49-F238E27FC236}">
                  <a16:creationId xmlns:a16="http://schemas.microsoft.com/office/drawing/2014/main" id="{95B0B772-08E2-4AB8-89BB-AEE549C8040C}"/>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20" name="stage-4-!!g-node-7">
              <a:extLst>
                <a:ext uri="{FF2B5EF4-FFF2-40B4-BE49-F238E27FC236}">
                  <a16:creationId xmlns:a16="http://schemas.microsoft.com/office/drawing/2014/main" id="{B12B986F-B0DF-473F-8636-33E45E578CA2}"/>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21" name="stage-4-!!g-node-8">
              <a:extLst>
                <a:ext uri="{FF2B5EF4-FFF2-40B4-BE49-F238E27FC236}">
                  <a16:creationId xmlns:a16="http://schemas.microsoft.com/office/drawing/2014/main" id="{E3658B3E-A73B-4385-B1D5-A655B19BDC1D}"/>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22" name="stage-4-box-21-697">
              <a:extLst>
                <a:ext uri="{FF2B5EF4-FFF2-40B4-BE49-F238E27FC236}">
                  <a16:creationId xmlns:a16="http://schemas.microsoft.com/office/drawing/2014/main" id="{B3477785-2C5A-42D9-B88F-837876BAEACB}"/>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3" name="stage-4-box-22-698">
              <a:extLst>
                <a:ext uri="{FF2B5EF4-FFF2-40B4-BE49-F238E27FC236}">
                  <a16:creationId xmlns:a16="http://schemas.microsoft.com/office/drawing/2014/main" id="{372F7D06-BCE8-4B56-814D-04BD8C380989}"/>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4" name="stage-4-text-23-699">
              <a:extLst>
                <a:ext uri="{FF2B5EF4-FFF2-40B4-BE49-F238E27FC236}">
                  <a16:creationId xmlns:a16="http://schemas.microsoft.com/office/drawing/2014/main" id="{0D0D4948-259D-4AC0-B9BD-C6EDB84655E2}"/>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3</a:t>
              </a:r>
            </a:p>
          </p:txBody>
        </p:sp>
        <p:sp>
          <p:nvSpPr>
            <p:cNvPr id="125" name="stage-4-grid-0-0">
              <a:extLst>
                <a:ext uri="{FF2B5EF4-FFF2-40B4-BE49-F238E27FC236}">
                  <a16:creationId xmlns:a16="http://schemas.microsoft.com/office/drawing/2014/main" id="{72E5EF6A-70DE-4257-836E-A5523A9E1C4E}"/>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26" name="stage-4-grid-0-1">
              <a:extLst>
                <a:ext uri="{FF2B5EF4-FFF2-40B4-BE49-F238E27FC236}">
                  <a16:creationId xmlns:a16="http://schemas.microsoft.com/office/drawing/2014/main" id="{659E4804-9E8B-4F1E-84F5-4FE0087CF004}"/>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27" name="stage-4-grid-1-0">
              <a:extLst>
                <a:ext uri="{FF2B5EF4-FFF2-40B4-BE49-F238E27FC236}">
                  <a16:creationId xmlns:a16="http://schemas.microsoft.com/office/drawing/2014/main" id="{EA1FC339-9117-4541-A319-C3A49192415A}"/>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8" name="stage-4-grid-1-1">
              <a:extLst>
                <a:ext uri="{FF2B5EF4-FFF2-40B4-BE49-F238E27FC236}">
                  <a16:creationId xmlns:a16="http://schemas.microsoft.com/office/drawing/2014/main" id="{FD55162A-808A-450D-97EE-7418B0FC7233}"/>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9" name="stage-4-grid-2-0">
              <a:extLst>
                <a:ext uri="{FF2B5EF4-FFF2-40B4-BE49-F238E27FC236}">
                  <a16:creationId xmlns:a16="http://schemas.microsoft.com/office/drawing/2014/main" id="{C103F067-6839-408A-A11E-5050ADA63291}"/>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30" name="stage-4-grid-2-1">
              <a:extLst>
                <a:ext uri="{FF2B5EF4-FFF2-40B4-BE49-F238E27FC236}">
                  <a16:creationId xmlns:a16="http://schemas.microsoft.com/office/drawing/2014/main" id="{368B12BC-5ACA-470B-96FB-F722E76C67C6}"/>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31" name="stage-4-grid-3-0">
              <a:extLst>
                <a:ext uri="{FF2B5EF4-FFF2-40B4-BE49-F238E27FC236}">
                  <a16:creationId xmlns:a16="http://schemas.microsoft.com/office/drawing/2014/main" id="{991CA26C-29CB-431E-ACA6-C8843BB666F4}"/>
                </a:ext>
              </a:extLst>
            </p:cNvPr>
            <p:cNvSpPr/>
            <p:nvPr/>
          </p:nvSpPr>
          <p:spPr>
            <a:xfrm>
              <a:off x="8915400" y="34798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3</a:t>
              </a:r>
            </a:p>
          </p:txBody>
        </p:sp>
        <p:sp>
          <p:nvSpPr>
            <p:cNvPr id="132" name="stage-4-grid-3-1">
              <a:extLst>
                <a:ext uri="{FF2B5EF4-FFF2-40B4-BE49-F238E27FC236}">
                  <a16:creationId xmlns:a16="http://schemas.microsoft.com/office/drawing/2014/main" id="{9A58CBC8-98B6-4A5E-A5E2-10934334A485}"/>
                </a:ext>
              </a:extLst>
            </p:cNvPr>
            <p:cNvSpPr/>
            <p:nvPr/>
          </p:nvSpPr>
          <p:spPr>
            <a:xfrm>
              <a:off x="10204450" y="34798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3</a:t>
              </a:r>
            </a:p>
          </p:txBody>
        </p:sp>
        <p:sp>
          <p:nvSpPr>
            <p:cNvPr id="133" name="stage-4-grid-4-0">
              <a:extLst>
                <a:ext uri="{FF2B5EF4-FFF2-40B4-BE49-F238E27FC236}">
                  <a16:creationId xmlns:a16="http://schemas.microsoft.com/office/drawing/2014/main" id="{B417AD02-7287-4E17-B32D-A766B67EE47C}"/>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34" name="stage-4-grid-4-1">
              <a:extLst>
                <a:ext uri="{FF2B5EF4-FFF2-40B4-BE49-F238E27FC236}">
                  <a16:creationId xmlns:a16="http://schemas.microsoft.com/office/drawing/2014/main" id="{7B1636EB-92B9-476C-BF66-EF6606532D65}"/>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35" name="stage-4-grid-5-0">
              <a:extLst>
                <a:ext uri="{FF2B5EF4-FFF2-40B4-BE49-F238E27FC236}">
                  <a16:creationId xmlns:a16="http://schemas.microsoft.com/office/drawing/2014/main" id="{8248CC2E-D579-47C7-B9D3-4F070E15D9E0}"/>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36" name="stage-4-grid-5-1">
              <a:extLst>
                <a:ext uri="{FF2B5EF4-FFF2-40B4-BE49-F238E27FC236}">
                  <a16:creationId xmlns:a16="http://schemas.microsoft.com/office/drawing/2014/main" id="{CA948D39-8EBB-45ED-BEDE-A7E187791AB5}"/>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37" name="stage-4-grid-6-0">
              <a:extLst>
                <a:ext uri="{FF2B5EF4-FFF2-40B4-BE49-F238E27FC236}">
                  <a16:creationId xmlns:a16="http://schemas.microsoft.com/office/drawing/2014/main" id="{D6C7D05E-AAF5-4BB0-AAFC-0813F020ACBB}"/>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38" name="stage-4-grid-6-1">
              <a:extLst>
                <a:ext uri="{FF2B5EF4-FFF2-40B4-BE49-F238E27FC236}">
                  <a16:creationId xmlns:a16="http://schemas.microsoft.com/office/drawing/2014/main" id="{3598B852-CAE2-4F28-A50C-B01382BF3A6D}"/>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39" name="stage-4-grid-7-0">
              <a:extLst>
                <a:ext uri="{FF2B5EF4-FFF2-40B4-BE49-F238E27FC236}">
                  <a16:creationId xmlns:a16="http://schemas.microsoft.com/office/drawing/2014/main" id="{631B1B9B-FDCF-4416-8C9E-55718CDCAA92}"/>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140" name="stage-4-grid-7-1">
              <a:extLst>
                <a:ext uri="{FF2B5EF4-FFF2-40B4-BE49-F238E27FC236}">
                  <a16:creationId xmlns:a16="http://schemas.microsoft.com/office/drawing/2014/main" id="{A0D27C9E-7145-4E7D-91F6-7F7FB4782767}"/>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41" name="stage-4-grid-8-0">
              <a:extLst>
                <a:ext uri="{FF2B5EF4-FFF2-40B4-BE49-F238E27FC236}">
                  <a16:creationId xmlns:a16="http://schemas.microsoft.com/office/drawing/2014/main" id="{96E5A44F-CFDD-431F-BB19-FDAF406B08C2}"/>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42" name="stage-4-grid-8-1">
              <a:extLst>
                <a:ext uri="{FF2B5EF4-FFF2-40B4-BE49-F238E27FC236}">
                  <a16:creationId xmlns:a16="http://schemas.microsoft.com/office/drawing/2014/main" id="{A01E376C-1D92-44AE-AE04-688D33709777}"/>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43" name="stage-4-tarjan-caption">
              <a:extLst>
                <a:ext uri="{FF2B5EF4-FFF2-40B4-BE49-F238E27FC236}">
                  <a16:creationId xmlns:a16="http://schemas.microsoft.com/office/drawing/2014/main" id="{4E9F4654-82BE-4F70-ABD6-660308CCE3F3}"/>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tin[3] = 3 · </a:t>
              </a:r>
              <a:r>
                <a:rPr lang="ru-RU" sz="2000">
                  <a:solidFill>
                    <a:srgbClr val="352379"/>
                  </a:solidFill>
                  <a:latin typeface="Montserrat"/>
                </a:rPr>
                <a:t>путь </a:t>
              </a:r>
              <a:r>
                <a:rPr lang="en-US" sz="2000">
                  <a:solidFill>
                    <a:srgbClr val="352379"/>
                  </a:solidFill>
                  <a:latin typeface="Montserrat"/>
                </a:rPr>
                <a:t>DFS: 1 → … → 3</a:t>
              </a:r>
              <a:endParaRPr lang="ru-RU" sz="2000">
                <a:solidFill>
                  <a:srgbClr val="352379"/>
                </a:solidFill>
                <a:latin typeface="Montserrat"/>
              </a:endParaRPr>
            </a:p>
          </p:txBody>
        </p:sp>
      </p:grpSp>
      <p:grpSp>
        <p:nvGrpSpPr>
          <p:cNvPr id="175" name="tarjan-stage-6">
            <a:extLst>
              <a:ext uri="{FF2B5EF4-FFF2-40B4-BE49-F238E27FC236}">
                <a16:creationId xmlns:a16="http://schemas.microsoft.com/office/drawing/2014/main" id="{DB5D8210-F3C2-432A-8EC6-2035E2C5C68D}"/>
              </a:ext>
            </a:extLst>
          </p:cNvPr>
          <p:cNvGrpSpPr/>
          <p:nvPr/>
        </p:nvGrpSpPr>
        <p:grpSpPr>
          <a:xfrm>
            <a:off x="508000" y="1816100"/>
            <a:ext cx="11201400" cy="3848100"/>
            <a:chOff x="508000" y="1816100"/>
            <a:chExt cx="11201400" cy="3848100"/>
          </a:xfrm>
        </p:grpSpPr>
        <p:sp>
          <p:nvSpPr>
            <p:cNvPr id="145" name="stage-6-!!g-node-1">
              <a:extLst>
                <a:ext uri="{FF2B5EF4-FFF2-40B4-BE49-F238E27FC236}">
                  <a16:creationId xmlns:a16="http://schemas.microsoft.com/office/drawing/2014/main" id="{74E5D1AF-A342-4CCA-9EC8-62921632BC0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46" name="stage-6-!!g-node-2">
              <a:extLst>
                <a:ext uri="{FF2B5EF4-FFF2-40B4-BE49-F238E27FC236}">
                  <a16:creationId xmlns:a16="http://schemas.microsoft.com/office/drawing/2014/main" id="{F8C6ECA0-5DC5-4432-86A4-06C92582CA54}"/>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47" name="stage-6-!!g-node-3">
              <a:extLst>
                <a:ext uri="{FF2B5EF4-FFF2-40B4-BE49-F238E27FC236}">
                  <a16:creationId xmlns:a16="http://schemas.microsoft.com/office/drawing/2014/main" id="{E5736610-80C6-4C98-99B2-B694213D5F31}"/>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8" name="stage-6-!!g-node-4">
              <a:extLst>
                <a:ext uri="{FF2B5EF4-FFF2-40B4-BE49-F238E27FC236}">
                  <a16:creationId xmlns:a16="http://schemas.microsoft.com/office/drawing/2014/main" id="{34CF6608-0463-49E9-BA37-ECAAC35C5F3A}"/>
                </a:ext>
              </a:extLst>
            </p:cNvPr>
            <p:cNvSpPr/>
            <p:nvPr/>
          </p:nvSpPr>
          <p:spPr>
            <a:xfrm>
              <a:off x="36195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49" name="stage-6-!!g-node-5">
              <a:extLst>
                <a:ext uri="{FF2B5EF4-FFF2-40B4-BE49-F238E27FC236}">
                  <a16:creationId xmlns:a16="http://schemas.microsoft.com/office/drawing/2014/main" id="{76FFA30D-B686-41F6-8481-456D4AAEE7D0}"/>
                </a:ext>
              </a:extLst>
            </p:cNvPr>
            <p:cNvSpPr/>
            <p:nvPr/>
          </p:nvSpPr>
          <p:spPr>
            <a:xfrm>
              <a:off x="463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50" name="stage-6-!!g-node-6">
              <a:extLst>
                <a:ext uri="{FF2B5EF4-FFF2-40B4-BE49-F238E27FC236}">
                  <a16:creationId xmlns:a16="http://schemas.microsoft.com/office/drawing/2014/main" id="{6CA8B0EA-1DEA-48E9-A8CD-29FCDCB3C6DB}"/>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51" name="stage-6-!!g-node-7">
              <a:extLst>
                <a:ext uri="{FF2B5EF4-FFF2-40B4-BE49-F238E27FC236}">
                  <a16:creationId xmlns:a16="http://schemas.microsoft.com/office/drawing/2014/main" id="{E012B546-93DC-4BEE-8D0B-D923C1FFAF0A}"/>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52" name="stage-6-!!g-node-8">
              <a:extLst>
                <a:ext uri="{FF2B5EF4-FFF2-40B4-BE49-F238E27FC236}">
                  <a16:creationId xmlns:a16="http://schemas.microsoft.com/office/drawing/2014/main" id="{4A8853B5-6880-4FD9-9AAD-7976C68FDD6B}"/>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53" name="stage-6-box-21-697">
              <a:extLst>
                <a:ext uri="{FF2B5EF4-FFF2-40B4-BE49-F238E27FC236}">
                  <a16:creationId xmlns:a16="http://schemas.microsoft.com/office/drawing/2014/main" id="{75EC954D-CA15-4A1E-A212-3A0F683EA2D6}"/>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4" name="stage-6-box-22-698">
              <a:extLst>
                <a:ext uri="{FF2B5EF4-FFF2-40B4-BE49-F238E27FC236}">
                  <a16:creationId xmlns:a16="http://schemas.microsoft.com/office/drawing/2014/main" id="{897C090D-9B9C-458A-9BC0-765B84BE1EDC}"/>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5" name="stage-6-text-23-699">
              <a:extLst>
                <a:ext uri="{FF2B5EF4-FFF2-40B4-BE49-F238E27FC236}">
                  <a16:creationId xmlns:a16="http://schemas.microsoft.com/office/drawing/2014/main" id="{4E196DCE-3DAC-451B-A562-30FBAF7C420E}"/>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4</a:t>
              </a:r>
            </a:p>
          </p:txBody>
        </p:sp>
        <p:sp>
          <p:nvSpPr>
            <p:cNvPr id="156" name="stage-6-grid-0-0">
              <a:extLst>
                <a:ext uri="{FF2B5EF4-FFF2-40B4-BE49-F238E27FC236}">
                  <a16:creationId xmlns:a16="http://schemas.microsoft.com/office/drawing/2014/main" id="{BBF07B3F-1D09-42DA-B5F4-87AF66A283F0}"/>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57" name="stage-6-grid-0-1">
              <a:extLst>
                <a:ext uri="{FF2B5EF4-FFF2-40B4-BE49-F238E27FC236}">
                  <a16:creationId xmlns:a16="http://schemas.microsoft.com/office/drawing/2014/main" id="{85096FCE-FA7F-4C70-854C-63F33C219963}"/>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58" name="stage-6-grid-1-0">
              <a:extLst>
                <a:ext uri="{FF2B5EF4-FFF2-40B4-BE49-F238E27FC236}">
                  <a16:creationId xmlns:a16="http://schemas.microsoft.com/office/drawing/2014/main" id="{0DABDF2A-ECDB-4D31-B628-7C4947D69589}"/>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59" name="stage-6-grid-1-1">
              <a:extLst>
                <a:ext uri="{FF2B5EF4-FFF2-40B4-BE49-F238E27FC236}">
                  <a16:creationId xmlns:a16="http://schemas.microsoft.com/office/drawing/2014/main" id="{D89288CC-3EB2-4305-AC0F-3EB3F714E191}"/>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0" name="stage-6-grid-2-0">
              <a:extLst>
                <a:ext uri="{FF2B5EF4-FFF2-40B4-BE49-F238E27FC236}">
                  <a16:creationId xmlns:a16="http://schemas.microsoft.com/office/drawing/2014/main" id="{8B07F833-C126-4D39-8C70-D2BF4195E7F9}"/>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1" name="stage-6-grid-2-1">
              <a:extLst>
                <a:ext uri="{FF2B5EF4-FFF2-40B4-BE49-F238E27FC236}">
                  <a16:creationId xmlns:a16="http://schemas.microsoft.com/office/drawing/2014/main" id="{6696887B-5968-43ED-A65E-A867D43814C6}"/>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2" name="stage-6-grid-3-0">
              <a:extLst>
                <a:ext uri="{FF2B5EF4-FFF2-40B4-BE49-F238E27FC236}">
                  <a16:creationId xmlns:a16="http://schemas.microsoft.com/office/drawing/2014/main" id="{AD0FFFE8-5A94-4FEE-BDA6-8FEE8DB8AE75}"/>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3" name="stage-6-grid-3-1">
              <a:extLst>
                <a:ext uri="{FF2B5EF4-FFF2-40B4-BE49-F238E27FC236}">
                  <a16:creationId xmlns:a16="http://schemas.microsoft.com/office/drawing/2014/main" id="{8930C1C2-7CD2-4DE0-BA3F-C25259E88C0C}"/>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4" name="stage-6-grid-4-0">
              <a:extLst>
                <a:ext uri="{FF2B5EF4-FFF2-40B4-BE49-F238E27FC236}">
                  <a16:creationId xmlns:a16="http://schemas.microsoft.com/office/drawing/2014/main" id="{476F2734-D75B-4604-99F5-7965A8C3A1CD}"/>
                </a:ext>
              </a:extLst>
            </p:cNvPr>
            <p:cNvSpPr/>
            <p:nvPr/>
          </p:nvSpPr>
          <p:spPr>
            <a:xfrm>
              <a:off x="8915400" y="38227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65" name="stage-6-grid-4-1">
              <a:extLst>
                <a:ext uri="{FF2B5EF4-FFF2-40B4-BE49-F238E27FC236}">
                  <a16:creationId xmlns:a16="http://schemas.microsoft.com/office/drawing/2014/main" id="{F669502F-15F2-480A-9302-82C04ADA67E0}"/>
                </a:ext>
              </a:extLst>
            </p:cNvPr>
            <p:cNvSpPr/>
            <p:nvPr/>
          </p:nvSpPr>
          <p:spPr>
            <a:xfrm>
              <a:off x="10204450" y="38227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66" name="stage-6-grid-5-0">
              <a:extLst>
                <a:ext uri="{FF2B5EF4-FFF2-40B4-BE49-F238E27FC236}">
                  <a16:creationId xmlns:a16="http://schemas.microsoft.com/office/drawing/2014/main" id="{4BE09B8D-478D-45C5-AC9A-35281E647AB8}"/>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67" name="stage-6-grid-5-1">
              <a:extLst>
                <a:ext uri="{FF2B5EF4-FFF2-40B4-BE49-F238E27FC236}">
                  <a16:creationId xmlns:a16="http://schemas.microsoft.com/office/drawing/2014/main" id="{87CDDA63-E2AA-439A-BFCF-84387AEDD35E}"/>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68" name="stage-6-grid-6-0">
              <a:extLst>
                <a:ext uri="{FF2B5EF4-FFF2-40B4-BE49-F238E27FC236}">
                  <a16:creationId xmlns:a16="http://schemas.microsoft.com/office/drawing/2014/main" id="{7136CA23-215D-4E0D-8075-55F2B9EEBD25}"/>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69" name="stage-6-grid-6-1">
              <a:extLst>
                <a:ext uri="{FF2B5EF4-FFF2-40B4-BE49-F238E27FC236}">
                  <a16:creationId xmlns:a16="http://schemas.microsoft.com/office/drawing/2014/main" id="{91B8F4D2-EAA4-4184-82BB-8493DCB29608}"/>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70" name="stage-6-grid-7-0">
              <a:extLst>
                <a:ext uri="{FF2B5EF4-FFF2-40B4-BE49-F238E27FC236}">
                  <a16:creationId xmlns:a16="http://schemas.microsoft.com/office/drawing/2014/main" id="{2712E164-1238-4EC8-8F8B-EC9D6FE97356}"/>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171" name="stage-6-grid-7-1">
              <a:extLst>
                <a:ext uri="{FF2B5EF4-FFF2-40B4-BE49-F238E27FC236}">
                  <a16:creationId xmlns:a16="http://schemas.microsoft.com/office/drawing/2014/main" id="{C22EB5AD-68CA-4675-8686-8FB2FEB0D4A4}"/>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72" name="stage-6-grid-8-0">
              <a:extLst>
                <a:ext uri="{FF2B5EF4-FFF2-40B4-BE49-F238E27FC236}">
                  <a16:creationId xmlns:a16="http://schemas.microsoft.com/office/drawing/2014/main" id="{CC08912B-7297-4BA8-AD31-791768F4F049}"/>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73" name="stage-6-grid-8-1">
              <a:extLst>
                <a:ext uri="{FF2B5EF4-FFF2-40B4-BE49-F238E27FC236}">
                  <a16:creationId xmlns:a16="http://schemas.microsoft.com/office/drawing/2014/main" id="{B7B4D55D-82B4-4E9F-A7E1-012DE29F7C59}"/>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174" name="stage-6-tarjan-caption">
              <a:extLst>
                <a:ext uri="{FF2B5EF4-FFF2-40B4-BE49-F238E27FC236}">
                  <a16:creationId xmlns:a16="http://schemas.microsoft.com/office/drawing/2014/main" id="{87E2D423-6A6C-4612-9389-6B6F8E0EAFBD}"/>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tin[4] = 4 · </a:t>
              </a:r>
              <a:r>
                <a:rPr lang="ru-RU" sz="2000">
                  <a:solidFill>
                    <a:srgbClr val="352379"/>
                  </a:solidFill>
                  <a:latin typeface="Montserrat"/>
                </a:rPr>
                <a:t>путь </a:t>
              </a:r>
              <a:r>
                <a:rPr lang="en-US" sz="2000">
                  <a:solidFill>
                    <a:srgbClr val="352379"/>
                  </a:solidFill>
                  <a:latin typeface="Montserrat"/>
                </a:rPr>
                <a:t>DFS: 1 → … → 4</a:t>
              </a:r>
              <a:endParaRPr lang="ru-RU" sz="2000">
                <a:solidFill>
                  <a:srgbClr val="352379"/>
                </a:solidFill>
                <a:latin typeface="Montserrat"/>
              </a:endParaRPr>
            </a:p>
          </p:txBody>
        </p:sp>
      </p:grpSp>
      <p:grpSp>
        <p:nvGrpSpPr>
          <p:cNvPr id="206" name="tarjan-stage-8">
            <a:extLst>
              <a:ext uri="{FF2B5EF4-FFF2-40B4-BE49-F238E27FC236}">
                <a16:creationId xmlns:a16="http://schemas.microsoft.com/office/drawing/2014/main" id="{67B8881B-A315-446B-8497-D31B995983E7}"/>
              </a:ext>
            </a:extLst>
          </p:cNvPr>
          <p:cNvGrpSpPr/>
          <p:nvPr/>
        </p:nvGrpSpPr>
        <p:grpSpPr>
          <a:xfrm>
            <a:off x="508000" y="1816100"/>
            <a:ext cx="11201400" cy="3848100"/>
            <a:chOff x="508000" y="1816100"/>
            <a:chExt cx="11201400" cy="3848100"/>
          </a:xfrm>
        </p:grpSpPr>
        <p:sp>
          <p:nvSpPr>
            <p:cNvPr id="176" name="stage-8-!!g-node-1">
              <a:extLst>
                <a:ext uri="{FF2B5EF4-FFF2-40B4-BE49-F238E27FC236}">
                  <a16:creationId xmlns:a16="http://schemas.microsoft.com/office/drawing/2014/main" id="{AEC819AF-1C3F-400A-99C4-0E9A5EE2A003}"/>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77" name="stage-8-!!g-node-2">
              <a:extLst>
                <a:ext uri="{FF2B5EF4-FFF2-40B4-BE49-F238E27FC236}">
                  <a16:creationId xmlns:a16="http://schemas.microsoft.com/office/drawing/2014/main" id="{FB840A0D-220B-48E8-AB9C-D949BA3E851D}"/>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78" name="stage-8-!!g-node-3">
              <a:extLst>
                <a:ext uri="{FF2B5EF4-FFF2-40B4-BE49-F238E27FC236}">
                  <a16:creationId xmlns:a16="http://schemas.microsoft.com/office/drawing/2014/main" id="{28464D6A-48CA-4FDD-AF4C-BBA7725204C8}"/>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79" name="stage-8-!!g-node-4">
              <a:extLst>
                <a:ext uri="{FF2B5EF4-FFF2-40B4-BE49-F238E27FC236}">
                  <a16:creationId xmlns:a16="http://schemas.microsoft.com/office/drawing/2014/main" id="{A973A356-2F46-432F-ACBC-12EC2DE4B062}"/>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80" name="stage-8-!!g-node-5">
              <a:extLst>
                <a:ext uri="{FF2B5EF4-FFF2-40B4-BE49-F238E27FC236}">
                  <a16:creationId xmlns:a16="http://schemas.microsoft.com/office/drawing/2014/main" id="{9FF67B9B-B4C1-4223-BC93-2DA337F65A1C}"/>
                </a:ext>
              </a:extLst>
            </p:cNvPr>
            <p:cNvSpPr/>
            <p:nvPr/>
          </p:nvSpPr>
          <p:spPr>
            <a:xfrm>
              <a:off x="463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81" name="stage-8-!!g-node-6">
              <a:extLst>
                <a:ext uri="{FF2B5EF4-FFF2-40B4-BE49-F238E27FC236}">
                  <a16:creationId xmlns:a16="http://schemas.microsoft.com/office/drawing/2014/main" id="{41899ED2-7A75-4788-A6C0-99970EC62430}"/>
                </a:ext>
              </a:extLst>
            </p:cNvPr>
            <p:cNvSpPr/>
            <p:nvPr/>
          </p:nvSpPr>
          <p:spPr>
            <a:xfrm>
              <a:off x="6350000" y="203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82" name="stage-8-!!g-node-7">
              <a:extLst>
                <a:ext uri="{FF2B5EF4-FFF2-40B4-BE49-F238E27FC236}">
                  <a16:creationId xmlns:a16="http://schemas.microsoft.com/office/drawing/2014/main" id="{65D015AD-1DE5-466F-9502-BDEB76439F5A}"/>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83" name="stage-8-!!g-node-8">
              <a:extLst>
                <a:ext uri="{FF2B5EF4-FFF2-40B4-BE49-F238E27FC236}">
                  <a16:creationId xmlns:a16="http://schemas.microsoft.com/office/drawing/2014/main" id="{A771CB04-FF6F-4736-857E-E984CA34DD9F}"/>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84" name="stage-8-box-21-697">
              <a:extLst>
                <a:ext uri="{FF2B5EF4-FFF2-40B4-BE49-F238E27FC236}">
                  <a16:creationId xmlns:a16="http://schemas.microsoft.com/office/drawing/2014/main" id="{05358CBB-9942-4FEA-BE84-4AADEFEADA63}"/>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5" name="stage-8-box-22-698">
              <a:extLst>
                <a:ext uri="{FF2B5EF4-FFF2-40B4-BE49-F238E27FC236}">
                  <a16:creationId xmlns:a16="http://schemas.microsoft.com/office/drawing/2014/main" id="{B691D5E3-921E-4076-965A-69F77D3CE9F7}"/>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6" name="stage-8-text-23-699">
              <a:extLst>
                <a:ext uri="{FF2B5EF4-FFF2-40B4-BE49-F238E27FC236}">
                  <a16:creationId xmlns:a16="http://schemas.microsoft.com/office/drawing/2014/main" id="{A3069FE1-015A-417D-ABE5-06DCCE27E71E}"/>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5</a:t>
              </a:r>
            </a:p>
          </p:txBody>
        </p:sp>
        <p:sp>
          <p:nvSpPr>
            <p:cNvPr id="187" name="stage-8-grid-0-0">
              <a:extLst>
                <a:ext uri="{FF2B5EF4-FFF2-40B4-BE49-F238E27FC236}">
                  <a16:creationId xmlns:a16="http://schemas.microsoft.com/office/drawing/2014/main" id="{550304C1-8613-4B15-81D9-1379CB5CFBC0}"/>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88" name="stage-8-grid-0-1">
              <a:extLst>
                <a:ext uri="{FF2B5EF4-FFF2-40B4-BE49-F238E27FC236}">
                  <a16:creationId xmlns:a16="http://schemas.microsoft.com/office/drawing/2014/main" id="{93499BA9-EC09-418D-A5A9-7F140756494F}"/>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89" name="stage-8-grid-1-0">
              <a:extLst>
                <a:ext uri="{FF2B5EF4-FFF2-40B4-BE49-F238E27FC236}">
                  <a16:creationId xmlns:a16="http://schemas.microsoft.com/office/drawing/2014/main" id="{B38EF2E0-775A-4375-A737-5AE4290C6E33}"/>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90" name="stage-8-grid-1-1">
              <a:extLst>
                <a:ext uri="{FF2B5EF4-FFF2-40B4-BE49-F238E27FC236}">
                  <a16:creationId xmlns:a16="http://schemas.microsoft.com/office/drawing/2014/main" id="{A030169D-076B-441D-9A17-EC71ACE527CB}"/>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91" name="stage-8-grid-2-0">
              <a:extLst>
                <a:ext uri="{FF2B5EF4-FFF2-40B4-BE49-F238E27FC236}">
                  <a16:creationId xmlns:a16="http://schemas.microsoft.com/office/drawing/2014/main" id="{B9F42FBF-E23E-41F5-A79A-C0483ADFD051}"/>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92" name="stage-8-grid-2-1">
              <a:extLst>
                <a:ext uri="{FF2B5EF4-FFF2-40B4-BE49-F238E27FC236}">
                  <a16:creationId xmlns:a16="http://schemas.microsoft.com/office/drawing/2014/main" id="{B83E00B4-F524-4D45-8BE0-1F09BB707B16}"/>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93" name="stage-8-grid-3-0">
              <a:extLst>
                <a:ext uri="{FF2B5EF4-FFF2-40B4-BE49-F238E27FC236}">
                  <a16:creationId xmlns:a16="http://schemas.microsoft.com/office/drawing/2014/main" id="{C5A3AC1A-0C79-4E62-8B18-657C77483BD9}"/>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94" name="stage-8-grid-3-1">
              <a:extLst>
                <a:ext uri="{FF2B5EF4-FFF2-40B4-BE49-F238E27FC236}">
                  <a16:creationId xmlns:a16="http://schemas.microsoft.com/office/drawing/2014/main" id="{6351F0C5-F4B3-4933-BE54-2741677644EC}"/>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95" name="stage-8-grid-4-0">
              <a:extLst>
                <a:ext uri="{FF2B5EF4-FFF2-40B4-BE49-F238E27FC236}">
                  <a16:creationId xmlns:a16="http://schemas.microsoft.com/office/drawing/2014/main" id="{DC3EFB70-9CDC-4CFA-9B8A-C73FAC0A546F}"/>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96" name="stage-8-grid-4-1">
              <a:extLst>
                <a:ext uri="{FF2B5EF4-FFF2-40B4-BE49-F238E27FC236}">
                  <a16:creationId xmlns:a16="http://schemas.microsoft.com/office/drawing/2014/main" id="{931465DB-CA13-497E-A023-C4830BA4965D}"/>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97" name="stage-8-grid-5-0">
              <a:extLst>
                <a:ext uri="{FF2B5EF4-FFF2-40B4-BE49-F238E27FC236}">
                  <a16:creationId xmlns:a16="http://schemas.microsoft.com/office/drawing/2014/main" id="{4CE8DD2C-FA86-44D9-B10D-C6D1E55B28EC}"/>
                </a:ext>
              </a:extLst>
            </p:cNvPr>
            <p:cNvSpPr/>
            <p:nvPr/>
          </p:nvSpPr>
          <p:spPr>
            <a:xfrm>
              <a:off x="8915400" y="41656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98" name="stage-8-grid-5-1">
              <a:extLst>
                <a:ext uri="{FF2B5EF4-FFF2-40B4-BE49-F238E27FC236}">
                  <a16:creationId xmlns:a16="http://schemas.microsoft.com/office/drawing/2014/main" id="{250C1306-984B-4B8B-820F-23254FFABE2C}"/>
                </a:ext>
              </a:extLst>
            </p:cNvPr>
            <p:cNvSpPr/>
            <p:nvPr/>
          </p:nvSpPr>
          <p:spPr>
            <a:xfrm>
              <a:off x="10204450" y="41656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99" name="stage-8-grid-6-0">
              <a:extLst>
                <a:ext uri="{FF2B5EF4-FFF2-40B4-BE49-F238E27FC236}">
                  <a16:creationId xmlns:a16="http://schemas.microsoft.com/office/drawing/2014/main" id="{AD1C8EA2-B325-4369-B520-BCDE0EA49252}"/>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200" name="stage-8-grid-6-1">
              <a:extLst>
                <a:ext uri="{FF2B5EF4-FFF2-40B4-BE49-F238E27FC236}">
                  <a16:creationId xmlns:a16="http://schemas.microsoft.com/office/drawing/2014/main" id="{349DEC89-6C04-4D55-A2F5-1CF8249D4F6F}"/>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201" name="stage-8-grid-7-0">
              <a:extLst>
                <a:ext uri="{FF2B5EF4-FFF2-40B4-BE49-F238E27FC236}">
                  <a16:creationId xmlns:a16="http://schemas.microsoft.com/office/drawing/2014/main" id="{2DD5E648-99E5-4DBC-B4E2-B2ED79C7C669}"/>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202" name="stage-8-grid-7-1">
              <a:extLst>
                <a:ext uri="{FF2B5EF4-FFF2-40B4-BE49-F238E27FC236}">
                  <a16:creationId xmlns:a16="http://schemas.microsoft.com/office/drawing/2014/main" id="{D720F76D-F71B-4D0A-BAB9-4150D83C9342}"/>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203" name="stage-8-grid-8-0">
              <a:extLst>
                <a:ext uri="{FF2B5EF4-FFF2-40B4-BE49-F238E27FC236}">
                  <a16:creationId xmlns:a16="http://schemas.microsoft.com/office/drawing/2014/main" id="{05290B4D-830A-44F3-B5AD-9C5E9B1F8576}"/>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204" name="stage-8-grid-8-1">
              <a:extLst>
                <a:ext uri="{FF2B5EF4-FFF2-40B4-BE49-F238E27FC236}">
                  <a16:creationId xmlns:a16="http://schemas.microsoft.com/office/drawing/2014/main" id="{E97FA29B-78F6-4D4B-A9C3-D3D845C1345F}"/>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205" name="stage-8-tarjan-caption">
              <a:extLst>
                <a:ext uri="{FF2B5EF4-FFF2-40B4-BE49-F238E27FC236}">
                  <a16:creationId xmlns:a16="http://schemas.microsoft.com/office/drawing/2014/main" id="{7A9A08E9-D349-4417-A8D8-1E6497134240}"/>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tin[5] = 5 · </a:t>
              </a:r>
              <a:r>
                <a:rPr lang="ru-RU" sz="2000">
                  <a:solidFill>
                    <a:srgbClr val="352379"/>
                  </a:solidFill>
                  <a:latin typeface="Montserrat"/>
                </a:rPr>
                <a:t>путь </a:t>
              </a:r>
              <a:r>
                <a:rPr lang="en-US" sz="2000">
                  <a:solidFill>
                    <a:srgbClr val="352379"/>
                  </a:solidFill>
                  <a:latin typeface="Montserrat"/>
                </a:rPr>
                <a:t>DFS: 1 → … → 5</a:t>
              </a:r>
              <a:endParaRPr lang="ru-RU" sz="2000">
                <a:solidFill>
                  <a:srgbClr val="352379"/>
                </a:solidFill>
                <a:latin typeface="Montserrat"/>
              </a:endParaRPr>
            </a:p>
          </p:txBody>
        </p:sp>
      </p:grpSp>
      <p:grpSp>
        <p:nvGrpSpPr>
          <p:cNvPr id="237" name="tarjan-stage-10">
            <a:extLst>
              <a:ext uri="{FF2B5EF4-FFF2-40B4-BE49-F238E27FC236}">
                <a16:creationId xmlns:a16="http://schemas.microsoft.com/office/drawing/2014/main" id="{B9827D95-56DF-4307-B55B-44A731639B51}"/>
              </a:ext>
            </a:extLst>
          </p:cNvPr>
          <p:cNvGrpSpPr/>
          <p:nvPr/>
        </p:nvGrpSpPr>
        <p:grpSpPr>
          <a:xfrm>
            <a:off x="508000" y="1816100"/>
            <a:ext cx="11201400" cy="3848100"/>
            <a:chOff x="508000" y="1816100"/>
            <a:chExt cx="11201400" cy="3848100"/>
          </a:xfrm>
        </p:grpSpPr>
        <p:sp>
          <p:nvSpPr>
            <p:cNvPr id="207" name="stage-10-!!g-node-1">
              <a:extLst>
                <a:ext uri="{FF2B5EF4-FFF2-40B4-BE49-F238E27FC236}">
                  <a16:creationId xmlns:a16="http://schemas.microsoft.com/office/drawing/2014/main" id="{32E788F9-28A4-4EB0-A07A-B0D384766F48}"/>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08" name="stage-10-!!g-node-2">
              <a:extLst>
                <a:ext uri="{FF2B5EF4-FFF2-40B4-BE49-F238E27FC236}">
                  <a16:creationId xmlns:a16="http://schemas.microsoft.com/office/drawing/2014/main" id="{6CEC5ED2-0C8D-47D6-8887-2744F006A2EF}"/>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09" name="stage-10-!!g-node-3">
              <a:extLst>
                <a:ext uri="{FF2B5EF4-FFF2-40B4-BE49-F238E27FC236}">
                  <a16:creationId xmlns:a16="http://schemas.microsoft.com/office/drawing/2014/main" id="{89DFBB32-C39A-4C4E-A2F9-B38C3C22BA62}"/>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10" name="stage-10-!!g-node-4">
              <a:extLst>
                <a:ext uri="{FF2B5EF4-FFF2-40B4-BE49-F238E27FC236}">
                  <a16:creationId xmlns:a16="http://schemas.microsoft.com/office/drawing/2014/main" id="{4E104252-540D-4303-B853-C4E8ED8238F9}"/>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1" name="stage-10-!!g-node-5">
              <a:extLst>
                <a:ext uri="{FF2B5EF4-FFF2-40B4-BE49-F238E27FC236}">
                  <a16:creationId xmlns:a16="http://schemas.microsoft.com/office/drawing/2014/main" id="{B8310DA1-684D-4874-840F-327A59551179}"/>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12" name="stage-10-!!g-node-6">
              <a:extLst>
                <a:ext uri="{FF2B5EF4-FFF2-40B4-BE49-F238E27FC236}">
                  <a16:creationId xmlns:a16="http://schemas.microsoft.com/office/drawing/2014/main" id="{950743D7-B0F0-4E13-9FE0-A66D2059FBA8}"/>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13" name="stage-10-!!g-node-7">
              <a:extLst>
                <a:ext uri="{FF2B5EF4-FFF2-40B4-BE49-F238E27FC236}">
                  <a16:creationId xmlns:a16="http://schemas.microsoft.com/office/drawing/2014/main" id="{90FF3394-8AC1-4C77-B757-93D2B93A6C73}"/>
                </a:ext>
              </a:extLst>
            </p:cNvPr>
            <p:cNvSpPr/>
            <p:nvPr/>
          </p:nvSpPr>
          <p:spPr>
            <a:xfrm>
              <a:off x="5905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14" name="stage-10-!!g-node-8">
              <a:extLst>
                <a:ext uri="{FF2B5EF4-FFF2-40B4-BE49-F238E27FC236}">
                  <a16:creationId xmlns:a16="http://schemas.microsoft.com/office/drawing/2014/main" id="{3ACF9279-4C4F-4E61-8DF5-A83AE16CC8CD}"/>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15" name="stage-10-box-21-697">
              <a:extLst>
                <a:ext uri="{FF2B5EF4-FFF2-40B4-BE49-F238E27FC236}">
                  <a16:creationId xmlns:a16="http://schemas.microsoft.com/office/drawing/2014/main" id="{B40530EA-34B9-4846-A865-E543857ABA3D}"/>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6" name="stage-10-box-22-698">
              <a:extLst>
                <a:ext uri="{FF2B5EF4-FFF2-40B4-BE49-F238E27FC236}">
                  <a16:creationId xmlns:a16="http://schemas.microsoft.com/office/drawing/2014/main" id="{89FEFB38-D626-4A98-A55F-922A34BF991A}"/>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7" name="stage-10-text-23-699">
              <a:extLst>
                <a:ext uri="{FF2B5EF4-FFF2-40B4-BE49-F238E27FC236}">
                  <a16:creationId xmlns:a16="http://schemas.microsoft.com/office/drawing/2014/main" id="{3F9BBF9A-3508-4AC4-9524-3DBAB34823EC}"/>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6</a:t>
              </a:r>
            </a:p>
          </p:txBody>
        </p:sp>
        <p:sp>
          <p:nvSpPr>
            <p:cNvPr id="218" name="stage-10-grid-0-0">
              <a:extLst>
                <a:ext uri="{FF2B5EF4-FFF2-40B4-BE49-F238E27FC236}">
                  <a16:creationId xmlns:a16="http://schemas.microsoft.com/office/drawing/2014/main" id="{E8D55AA1-E2CE-4E51-940D-B5C63C036B74}"/>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219" name="stage-10-grid-0-1">
              <a:extLst>
                <a:ext uri="{FF2B5EF4-FFF2-40B4-BE49-F238E27FC236}">
                  <a16:creationId xmlns:a16="http://schemas.microsoft.com/office/drawing/2014/main" id="{09520436-5411-48C2-9AF9-A0D888EDE258}"/>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220" name="stage-10-grid-1-0">
              <a:extLst>
                <a:ext uri="{FF2B5EF4-FFF2-40B4-BE49-F238E27FC236}">
                  <a16:creationId xmlns:a16="http://schemas.microsoft.com/office/drawing/2014/main" id="{E2E58A6B-0FD3-4E8B-A861-7DB95D100851}"/>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221" name="stage-10-grid-1-1">
              <a:extLst>
                <a:ext uri="{FF2B5EF4-FFF2-40B4-BE49-F238E27FC236}">
                  <a16:creationId xmlns:a16="http://schemas.microsoft.com/office/drawing/2014/main" id="{38256006-6191-4474-9124-826837F394CB}"/>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222" name="stage-10-grid-2-0">
              <a:extLst>
                <a:ext uri="{FF2B5EF4-FFF2-40B4-BE49-F238E27FC236}">
                  <a16:creationId xmlns:a16="http://schemas.microsoft.com/office/drawing/2014/main" id="{3E0C1368-5D3C-4031-8CAA-C35D0D6262C1}"/>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223" name="stage-10-grid-2-1">
              <a:extLst>
                <a:ext uri="{FF2B5EF4-FFF2-40B4-BE49-F238E27FC236}">
                  <a16:creationId xmlns:a16="http://schemas.microsoft.com/office/drawing/2014/main" id="{CD9CDDFB-DF4B-41F5-95B1-1A864FF4BD95}"/>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224" name="stage-10-grid-3-0">
              <a:extLst>
                <a:ext uri="{FF2B5EF4-FFF2-40B4-BE49-F238E27FC236}">
                  <a16:creationId xmlns:a16="http://schemas.microsoft.com/office/drawing/2014/main" id="{4DB0B479-E3E2-4DA3-9855-40107211CE4C}"/>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225" name="stage-10-grid-3-1">
              <a:extLst>
                <a:ext uri="{FF2B5EF4-FFF2-40B4-BE49-F238E27FC236}">
                  <a16:creationId xmlns:a16="http://schemas.microsoft.com/office/drawing/2014/main" id="{8075CDE1-8A3F-4194-94B3-4BAAA03D4CB6}"/>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226" name="stage-10-grid-4-0">
              <a:extLst>
                <a:ext uri="{FF2B5EF4-FFF2-40B4-BE49-F238E27FC236}">
                  <a16:creationId xmlns:a16="http://schemas.microsoft.com/office/drawing/2014/main" id="{332ED35E-9B1F-44E5-B238-7542484AFD79}"/>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227" name="stage-10-grid-4-1">
              <a:extLst>
                <a:ext uri="{FF2B5EF4-FFF2-40B4-BE49-F238E27FC236}">
                  <a16:creationId xmlns:a16="http://schemas.microsoft.com/office/drawing/2014/main" id="{7B8674DA-DA0F-42B7-AA86-3621D0A6798C}"/>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228" name="stage-10-grid-5-0">
              <a:extLst>
                <a:ext uri="{FF2B5EF4-FFF2-40B4-BE49-F238E27FC236}">
                  <a16:creationId xmlns:a16="http://schemas.microsoft.com/office/drawing/2014/main" id="{205685FA-0286-40B4-ABB0-26B06349BEEA}"/>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229" name="stage-10-grid-5-1">
              <a:extLst>
                <a:ext uri="{FF2B5EF4-FFF2-40B4-BE49-F238E27FC236}">
                  <a16:creationId xmlns:a16="http://schemas.microsoft.com/office/drawing/2014/main" id="{9B7A188E-BC8D-4F35-B968-91A796F7DFC9}"/>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230" name="stage-10-grid-6-0">
              <a:extLst>
                <a:ext uri="{FF2B5EF4-FFF2-40B4-BE49-F238E27FC236}">
                  <a16:creationId xmlns:a16="http://schemas.microsoft.com/office/drawing/2014/main" id="{8A26A8BF-E1D8-40C7-A7D1-03BC126DCB67}"/>
                </a:ext>
              </a:extLst>
            </p:cNvPr>
            <p:cNvSpPr/>
            <p:nvPr/>
          </p:nvSpPr>
          <p:spPr>
            <a:xfrm>
              <a:off x="8915400" y="45085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231" name="stage-10-grid-6-1">
              <a:extLst>
                <a:ext uri="{FF2B5EF4-FFF2-40B4-BE49-F238E27FC236}">
                  <a16:creationId xmlns:a16="http://schemas.microsoft.com/office/drawing/2014/main" id="{6DA9AD39-323C-4832-9E29-BA9C420BC5E6}"/>
                </a:ext>
              </a:extLst>
            </p:cNvPr>
            <p:cNvSpPr/>
            <p:nvPr/>
          </p:nvSpPr>
          <p:spPr>
            <a:xfrm>
              <a:off x="10204450" y="45085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232" name="stage-10-grid-7-0">
              <a:extLst>
                <a:ext uri="{FF2B5EF4-FFF2-40B4-BE49-F238E27FC236}">
                  <a16:creationId xmlns:a16="http://schemas.microsoft.com/office/drawing/2014/main" id="{0EBD8D3A-76B7-4554-8607-08B6C9C5C1D8}"/>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233" name="stage-10-grid-7-1">
              <a:extLst>
                <a:ext uri="{FF2B5EF4-FFF2-40B4-BE49-F238E27FC236}">
                  <a16:creationId xmlns:a16="http://schemas.microsoft.com/office/drawing/2014/main" id="{10131BB4-D03A-45CF-A630-88D2EBC5B355}"/>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234" name="stage-10-grid-8-0">
              <a:extLst>
                <a:ext uri="{FF2B5EF4-FFF2-40B4-BE49-F238E27FC236}">
                  <a16:creationId xmlns:a16="http://schemas.microsoft.com/office/drawing/2014/main" id="{50E4DF7F-59A5-4D90-8EDE-A0A1A9E7A4BA}"/>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235" name="stage-10-grid-8-1">
              <a:extLst>
                <a:ext uri="{FF2B5EF4-FFF2-40B4-BE49-F238E27FC236}">
                  <a16:creationId xmlns:a16="http://schemas.microsoft.com/office/drawing/2014/main" id="{68F9EA69-96B3-46F3-869E-603423C5D2E5}"/>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236" name="stage-10-tarjan-caption">
              <a:extLst>
                <a:ext uri="{FF2B5EF4-FFF2-40B4-BE49-F238E27FC236}">
                  <a16:creationId xmlns:a16="http://schemas.microsoft.com/office/drawing/2014/main" id="{45F486F6-0A8B-421A-89D5-33A7085BBCDE}"/>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tin[6] = 6 · </a:t>
              </a:r>
              <a:r>
                <a:rPr lang="ru-RU" sz="2000">
                  <a:solidFill>
                    <a:srgbClr val="352379"/>
                  </a:solidFill>
                  <a:latin typeface="Montserrat"/>
                </a:rPr>
                <a:t>путь </a:t>
              </a:r>
              <a:r>
                <a:rPr lang="en-US" sz="2000">
                  <a:solidFill>
                    <a:srgbClr val="352379"/>
                  </a:solidFill>
                  <a:latin typeface="Montserrat"/>
                </a:rPr>
                <a:t>DFS: 1 → … → 6</a:t>
              </a:r>
              <a:endParaRPr lang="ru-RU" sz="2000">
                <a:solidFill>
                  <a:srgbClr val="352379"/>
                </a:solidFill>
                <a:latin typeface="Montserrat"/>
              </a:endParaRPr>
            </a:p>
          </p:txBody>
        </p:sp>
      </p:grpSp>
      <p:grpSp>
        <p:nvGrpSpPr>
          <p:cNvPr id="268" name="tarjan-stage-12">
            <a:extLst>
              <a:ext uri="{FF2B5EF4-FFF2-40B4-BE49-F238E27FC236}">
                <a16:creationId xmlns:a16="http://schemas.microsoft.com/office/drawing/2014/main" id="{393C8581-675E-4B46-9DA3-B790C60EC3E9}"/>
              </a:ext>
            </a:extLst>
          </p:cNvPr>
          <p:cNvGrpSpPr/>
          <p:nvPr/>
        </p:nvGrpSpPr>
        <p:grpSpPr>
          <a:xfrm>
            <a:off x="508000" y="1816100"/>
            <a:ext cx="11201400" cy="3848100"/>
            <a:chOff x="508000" y="1816100"/>
            <a:chExt cx="11201400" cy="3848100"/>
          </a:xfrm>
        </p:grpSpPr>
        <p:sp>
          <p:nvSpPr>
            <p:cNvPr id="238" name="stage-12-!!g-node-1">
              <a:extLst>
                <a:ext uri="{FF2B5EF4-FFF2-40B4-BE49-F238E27FC236}">
                  <a16:creationId xmlns:a16="http://schemas.microsoft.com/office/drawing/2014/main" id="{8F4FCCA6-6FE7-4AFA-B0CF-AA6DCAC2A446}"/>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39" name="stage-12-!!g-node-2">
              <a:extLst>
                <a:ext uri="{FF2B5EF4-FFF2-40B4-BE49-F238E27FC236}">
                  <a16:creationId xmlns:a16="http://schemas.microsoft.com/office/drawing/2014/main" id="{693E4A42-FB50-45D0-9250-53D1627E40BF}"/>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40" name="stage-12-!!g-node-3">
              <a:extLst>
                <a:ext uri="{FF2B5EF4-FFF2-40B4-BE49-F238E27FC236}">
                  <a16:creationId xmlns:a16="http://schemas.microsoft.com/office/drawing/2014/main" id="{CD3FA4FD-67F0-405F-BA13-6B5B33CBA851}"/>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41" name="stage-12-!!g-node-4">
              <a:extLst>
                <a:ext uri="{FF2B5EF4-FFF2-40B4-BE49-F238E27FC236}">
                  <a16:creationId xmlns:a16="http://schemas.microsoft.com/office/drawing/2014/main" id="{2467453B-F0E7-454B-9FEB-5DEFD64BF6CF}"/>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42" name="stage-12-!!g-node-5">
              <a:extLst>
                <a:ext uri="{FF2B5EF4-FFF2-40B4-BE49-F238E27FC236}">
                  <a16:creationId xmlns:a16="http://schemas.microsoft.com/office/drawing/2014/main" id="{04D7B85B-269F-435F-860E-5F36ABB3C73A}"/>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43" name="stage-12-!!g-node-6">
              <a:extLst>
                <a:ext uri="{FF2B5EF4-FFF2-40B4-BE49-F238E27FC236}">
                  <a16:creationId xmlns:a16="http://schemas.microsoft.com/office/drawing/2014/main" id="{1C96825D-6BF5-401E-84FB-6DB46F013A81}"/>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44" name="stage-12-!!g-node-7">
              <a:extLst>
                <a:ext uri="{FF2B5EF4-FFF2-40B4-BE49-F238E27FC236}">
                  <a16:creationId xmlns:a16="http://schemas.microsoft.com/office/drawing/2014/main" id="{85AD931B-6BB0-40B4-ACA8-1CBA30F7BEDC}"/>
                </a:ext>
              </a:extLst>
            </p:cNvPr>
            <p:cNvSpPr/>
            <p:nvPr/>
          </p:nvSpPr>
          <p:spPr>
            <a:xfrm>
              <a:off x="590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5" name="stage-12-!!g-node-8">
              <a:extLst>
                <a:ext uri="{FF2B5EF4-FFF2-40B4-BE49-F238E27FC236}">
                  <a16:creationId xmlns:a16="http://schemas.microsoft.com/office/drawing/2014/main" id="{DBE8CB63-7FBD-4425-A217-F7FA65387CDC}"/>
                </a:ext>
              </a:extLst>
            </p:cNvPr>
            <p:cNvSpPr/>
            <p:nvPr/>
          </p:nvSpPr>
          <p:spPr>
            <a:xfrm>
              <a:off x="768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46" name="stage-12-box-21-697">
              <a:extLst>
                <a:ext uri="{FF2B5EF4-FFF2-40B4-BE49-F238E27FC236}">
                  <a16:creationId xmlns:a16="http://schemas.microsoft.com/office/drawing/2014/main" id="{3B453B75-1780-40B9-AD26-6ED060D6FAE9}"/>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7" name="stage-12-box-22-698">
              <a:extLst>
                <a:ext uri="{FF2B5EF4-FFF2-40B4-BE49-F238E27FC236}">
                  <a16:creationId xmlns:a16="http://schemas.microsoft.com/office/drawing/2014/main" id="{79268B74-8FE5-42A8-B575-5A766344EA5E}"/>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8" name="stage-12-text-23-699">
              <a:extLst>
                <a:ext uri="{FF2B5EF4-FFF2-40B4-BE49-F238E27FC236}">
                  <a16:creationId xmlns:a16="http://schemas.microsoft.com/office/drawing/2014/main" id="{957FAB5F-A46C-45FA-868B-8E04168D3438}"/>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7</a:t>
              </a:r>
            </a:p>
          </p:txBody>
        </p:sp>
        <p:sp>
          <p:nvSpPr>
            <p:cNvPr id="249" name="stage-12-grid-0-0">
              <a:extLst>
                <a:ext uri="{FF2B5EF4-FFF2-40B4-BE49-F238E27FC236}">
                  <a16:creationId xmlns:a16="http://schemas.microsoft.com/office/drawing/2014/main" id="{EC2FEC23-00F6-4E3F-85EE-976938C6F189}"/>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250" name="stage-12-grid-0-1">
              <a:extLst>
                <a:ext uri="{FF2B5EF4-FFF2-40B4-BE49-F238E27FC236}">
                  <a16:creationId xmlns:a16="http://schemas.microsoft.com/office/drawing/2014/main" id="{2F8BF5C2-90E1-4D10-89D7-19EB3E6BB7E9}"/>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251" name="stage-12-grid-1-0">
              <a:extLst>
                <a:ext uri="{FF2B5EF4-FFF2-40B4-BE49-F238E27FC236}">
                  <a16:creationId xmlns:a16="http://schemas.microsoft.com/office/drawing/2014/main" id="{47486C00-4F3A-4264-A944-C8E76C042A2B}"/>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252" name="stage-12-grid-1-1">
              <a:extLst>
                <a:ext uri="{FF2B5EF4-FFF2-40B4-BE49-F238E27FC236}">
                  <a16:creationId xmlns:a16="http://schemas.microsoft.com/office/drawing/2014/main" id="{68103AFE-0D2C-42A6-B717-E27D37A51F03}"/>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253" name="stage-12-grid-2-0">
              <a:extLst>
                <a:ext uri="{FF2B5EF4-FFF2-40B4-BE49-F238E27FC236}">
                  <a16:creationId xmlns:a16="http://schemas.microsoft.com/office/drawing/2014/main" id="{60C5D7C4-2D36-494D-9244-D4868FD705E3}"/>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254" name="stage-12-grid-2-1">
              <a:extLst>
                <a:ext uri="{FF2B5EF4-FFF2-40B4-BE49-F238E27FC236}">
                  <a16:creationId xmlns:a16="http://schemas.microsoft.com/office/drawing/2014/main" id="{BB5A8ED1-9C13-498F-9BCC-427906C024FE}"/>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255" name="stage-12-grid-3-0">
              <a:extLst>
                <a:ext uri="{FF2B5EF4-FFF2-40B4-BE49-F238E27FC236}">
                  <a16:creationId xmlns:a16="http://schemas.microsoft.com/office/drawing/2014/main" id="{31BE53CB-E603-4066-9A12-79A80131F64C}"/>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256" name="stage-12-grid-3-1">
              <a:extLst>
                <a:ext uri="{FF2B5EF4-FFF2-40B4-BE49-F238E27FC236}">
                  <a16:creationId xmlns:a16="http://schemas.microsoft.com/office/drawing/2014/main" id="{D54D9529-14CF-4E09-A4DE-787034DAEC88}"/>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257" name="stage-12-grid-4-0">
              <a:extLst>
                <a:ext uri="{FF2B5EF4-FFF2-40B4-BE49-F238E27FC236}">
                  <a16:creationId xmlns:a16="http://schemas.microsoft.com/office/drawing/2014/main" id="{B4714EA5-CDB9-494A-94DC-EDF7F2401586}"/>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258" name="stage-12-grid-4-1">
              <a:extLst>
                <a:ext uri="{FF2B5EF4-FFF2-40B4-BE49-F238E27FC236}">
                  <a16:creationId xmlns:a16="http://schemas.microsoft.com/office/drawing/2014/main" id="{E0A4F035-34AE-4976-926E-C0794B36D993}"/>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259" name="stage-12-grid-5-0">
              <a:extLst>
                <a:ext uri="{FF2B5EF4-FFF2-40B4-BE49-F238E27FC236}">
                  <a16:creationId xmlns:a16="http://schemas.microsoft.com/office/drawing/2014/main" id="{E8C92635-6A05-4455-8D36-259528535511}"/>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260" name="stage-12-grid-5-1">
              <a:extLst>
                <a:ext uri="{FF2B5EF4-FFF2-40B4-BE49-F238E27FC236}">
                  <a16:creationId xmlns:a16="http://schemas.microsoft.com/office/drawing/2014/main" id="{65E4CE51-3380-4DAB-A666-86AA0BA1224E}"/>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261" name="stage-12-grid-6-0">
              <a:extLst>
                <a:ext uri="{FF2B5EF4-FFF2-40B4-BE49-F238E27FC236}">
                  <a16:creationId xmlns:a16="http://schemas.microsoft.com/office/drawing/2014/main" id="{F2F20CCA-A403-4C87-A06A-C516B26B13D6}"/>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262" name="stage-12-grid-6-1">
              <a:extLst>
                <a:ext uri="{FF2B5EF4-FFF2-40B4-BE49-F238E27FC236}">
                  <a16:creationId xmlns:a16="http://schemas.microsoft.com/office/drawing/2014/main" id="{7B7EEA0E-FD07-4BBB-B72F-F494F4CEE49C}"/>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263" name="stage-12-grid-7-0">
              <a:extLst>
                <a:ext uri="{FF2B5EF4-FFF2-40B4-BE49-F238E27FC236}">
                  <a16:creationId xmlns:a16="http://schemas.microsoft.com/office/drawing/2014/main" id="{A79C398E-0F90-4A8B-B412-9DD1CBC4D957}"/>
                </a:ext>
              </a:extLst>
            </p:cNvPr>
            <p:cNvSpPr/>
            <p:nvPr/>
          </p:nvSpPr>
          <p:spPr>
            <a:xfrm>
              <a:off x="8915400" y="48514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264" name="stage-12-grid-7-1">
              <a:extLst>
                <a:ext uri="{FF2B5EF4-FFF2-40B4-BE49-F238E27FC236}">
                  <a16:creationId xmlns:a16="http://schemas.microsoft.com/office/drawing/2014/main" id="{2E0A43B2-D2A9-4284-A56B-478F54F74DF5}"/>
                </a:ext>
              </a:extLst>
            </p:cNvPr>
            <p:cNvSpPr/>
            <p:nvPr/>
          </p:nvSpPr>
          <p:spPr>
            <a:xfrm>
              <a:off x="10204450" y="48514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265" name="stage-12-grid-8-0">
              <a:extLst>
                <a:ext uri="{FF2B5EF4-FFF2-40B4-BE49-F238E27FC236}">
                  <a16:creationId xmlns:a16="http://schemas.microsoft.com/office/drawing/2014/main" id="{A81AA6DD-5D58-4AAD-9934-F1D54B7FC9EF}"/>
                </a:ext>
              </a:extLst>
            </p:cNvPr>
            <p:cNvSpPr/>
            <p:nvPr/>
          </p:nvSpPr>
          <p:spPr>
            <a:xfrm>
              <a:off x="891540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266" name="stage-12-grid-8-1">
              <a:extLst>
                <a:ext uri="{FF2B5EF4-FFF2-40B4-BE49-F238E27FC236}">
                  <a16:creationId xmlns:a16="http://schemas.microsoft.com/office/drawing/2014/main" id="{FF2B50E9-FA0C-430D-ABDB-2D302F04CAFF}"/>
                </a:ext>
              </a:extLst>
            </p:cNvPr>
            <p:cNvSpPr/>
            <p:nvPr/>
          </p:nvSpPr>
          <p:spPr>
            <a:xfrm>
              <a:off x="10204450" y="51943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a:t>
              </a:r>
            </a:p>
          </p:txBody>
        </p:sp>
        <p:sp>
          <p:nvSpPr>
            <p:cNvPr id="267" name="stage-12-tarjan-caption">
              <a:extLst>
                <a:ext uri="{FF2B5EF4-FFF2-40B4-BE49-F238E27FC236}">
                  <a16:creationId xmlns:a16="http://schemas.microsoft.com/office/drawing/2014/main" id="{8F0B95EB-2B65-4885-BDEB-F9382CDAB25C}"/>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tin[7] = 7 · </a:t>
              </a:r>
              <a:r>
                <a:rPr lang="ru-RU" sz="2000">
                  <a:solidFill>
                    <a:srgbClr val="352379"/>
                  </a:solidFill>
                  <a:latin typeface="Montserrat"/>
                </a:rPr>
                <a:t>путь </a:t>
              </a:r>
              <a:r>
                <a:rPr lang="en-US" sz="2000">
                  <a:solidFill>
                    <a:srgbClr val="352379"/>
                  </a:solidFill>
                  <a:latin typeface="Montserrat"/>
                </a:rPr>
                <a:t>DFS: 1 → … → 7</a:t>
              </a:r>
              <a:endParaRPr lang="ru-RU" sz="2000">
                <a:solidFill>
                  <a:srgbClr val="352379"/>
                </a:solidFill>
                <a:latin typeface="Montserrat"/>
              </a:endParaRPr>
            </a:p>
          </p:txBody>
        </p:sp>
      </p:grpSp>
      <p:grpSp>
        <p:nvGrpSpPr>
          <p:cNvPr id="299" name="tarjan-stage-14">
            <a:extLst>
              <a:ext uri="{FF2B5EF4-FFF2-40B4-BE49-F238E27FC236}">
                <a16:creationId xmlns:a16="http://schemas.microsoft.com/office/drawing/2014/main" id="{C0702AC6-0C3B-4273-900B-F148C9B40B9F}"/>
              </a:ext>
            </a:extLst>
          </p:cNvPr>
          <p:cNvGrpSpPr/>
          <p:nvPr/>
        </p:nvGrpSpPr>
        <p:grpSpPr>
          <a:xfrm>
            <a:off x="508000" y="1816100"/>
            <a:ext cx="11201400" cy="3848100"/>
            <a:chOff x="508000" y="1816100"/>
            <a:chExt cx="11201400" cy="3848100"/>
          </a:xfrm>
        </p:grpSpPr>
        <p:sp>
          <p:nvSpPr>
            <p:cNvPr id="269" name="stage-14-!!g-node-1">
              <a:extLst>
                <a:ext uri="{FF2B5EF4-FFF2-40B4-BE49-F238E27FC236}">
                  <a16:creationId xmlns:a16="http://schemas.microsoft.com/office/drawing/2014/main" id="{FCD63351-59E0-44DE-B8FC-8455CC4CE51A}"/>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70" name="stage-14-!!g-node-2">
              <a:extLst>
                <a:ext uri="{FF2B5EF4-FFF2-40B4-BE49-F238E27FC236}">
                  <a16:creationId xmlns:a16="http://schemas.microsoft.com/office/drawing/2014/main" id="{8855B7A3-5261-409C-B7D8-98CCEB03585B}"/>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71" name="stage-14-!!g-node-3">
              <a:extLst>
                <a:ext uri="{FF2B5EF4-FFF2-40B4-BE49-F238E27FC236}">
                  <a16:creationId xmlns:a16="http://schemas.microsoft.com/office/drawing/2014/main" id="{D139D4BE-4E3D-4DD4-BCE9-3753B90266D0}"/>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72" name="stage-14-!!g-node-4">
              <a:extLst>
                <a:ext uri="{FF2B5EF4-FFF2-40B4-BE49-F238E27FC236}">
                  <a16:creationId xmlns:a16="http://schemas.microsoft.com/office/drawing/2014/main" id="{63A0C468-BE24-45C5-8D9A-166990BF9B48}"/>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73" name="stage-14-!!g-node-5">
              <a:extLst>
                <a:ext uri="{FF2B5EF4-FFF2-40B4-BE49-F238E27FC236}">
                  <a16:creationId xmlns:a16="http://schemas.microsoft.com/office/drawing/2014/main" id="{31EFB9B0-75B4-43BB-9470-49993B85A6CA}"/>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74" name="stage-14-!!g-node-6">
              <a:extLst>
                <a:ext uri="{FF2B5EF4-FFF2-40B4-BE49-F238E27FC236}">
                  <a16:creationId xmlns:a16="http://schemas.microsoft.com/office/drawing/2014/main" id="{BDBB0D5C-323F-4F8D-B183-F883A99374D8}"/>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75" name="stage-14-!!g-node-7">
              <a:extLst>
                <a:ext uri="{FF2B5EF4-FFF2-40B4-BE49-F238E27FC236}">
                  <a16:creationId xmlns:a16="http://schemas.microsoft.com/office/drawing/2014/main" id="{06DAC4D7-D950-4528-81DA-F8980884E1D3}"/>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76" name="stage-14-!!g-node-8">
              <a:extLst>
                <a:ext uri="{FF2B5EF4-FFF2-40B4-BE49-F238E27FC236}">
                  <a16:creationId xmlns:a16="http://schemas.microsoft.com/office/drawing/2014/main" id="{CFC75838-CFE4-451D-AAAB-E3D687260FA5}"/>
                </a:ext>
              </a:extLst>
            </p:cNvPr>
            <p:cNvSpPr/>
            <p:nvPr/>
          </p:nvSpPr>
          <p:spPr>
            <a:xfrm>
              <a:off x="7683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77" name="stage-14-box-21-697">
              <a:extLst>
                <a:ext uri="{FF2B5EF4-FFF2-40B4-BE49-F238E27FC236}">
                  <a16:creationId xmlns:a16="http://schemas.microsoft.com/office/drawing/2014/main" id="{3E07A470-E07B-4951-BD68-9A976688A5A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8" name="stage-14-box-22-698">
              <a:extLst>
                <a:ext uri="{FF2B5EF4-FFF2-40B4-BE49-F238E27FC236}">
                  <a16:creationId xmlns:a16="http://schemas.microsoft.com/office/drawing/2014/main" id="{B7258E8A-9CDF-4890-87D9-3A33E5C44856}"/>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9" name="stage-14-text-23-699">
              <a:extLst>
                <a:ext uri="{FF2B5EF4-FFF2-40B4-BE49-F238E27FC236}">
                  <a16:creationId xmlns:a16="http://schemas.microsoft.com/office/drawing/2014/main" id="{0F3DD983-35F4-411D-9CA9-99BE119E72AD}"/>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Вход в 8</a:t>
              </a:r>
            </a:p>
          </p:txBody>
        </p:sp>
        <p:sp>
          <p:nvSpPr>
            <p:cNvPr id="280" name="stage-14-grid-0-0">
              <a:extLst>
                <a:ext uri="{FF2B5EF4-FFF2-40B4-BE49-F238E27FC236}">
                  <a16:creationId xmlns:a16="http://schemas.microsoft.com/office/drawing/2014/main" id="{2423CD4B-0096-4B8F-9FB0-B7A56707D0B6}"/>
                </a:ext>
              </a:extLst>
            </p:cNvPr>
            <p:cNvSpPr/>
            <p:nvPr/>
          </p:nvSpPr>
          <p:spPr>
            <a:xfrm>
              <a:off x="891540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281" name="stage-14-grid-0-1">
              <a:extLst>
                <a:ext uri="{FF2B5EF4-FFF2-40B4-BE49-F238E27FC236}">
                  <a16:creationId xmlns:a16="http://schemas.microsoft.com/office/drawing/2014/main" id="{687593C2-38BA-4614-8E6D-A8150AACF03C}"/>
                </a:ext>
              </a:extLst>
            </p:cNvPr>
            <p:cNvSpPr/>
            <p:nvPr/>
          </p:nvSpPr>
          <p:spPr>
            <a:xfrm>
              <a:off x="10204450" y="24511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282" name="stage-14-grid-1-0">
              <a:extLst>
                <a:ext uri="{FF2B5EF4-FFF2-40B4-BE49-F238E27FC236}">
                  <a16:creationId xmlns:a16="http://schemas.microsoft.com/office/drawing/2014/main" id="{DF96C4D9-9826-48FA-8185-63AF01A82F37}"/>
                </a:ext>
              </a:extLst>
            </p:cNvPr>
            <p:cNvSpPr/>
            <p:nvPr/>
          </p:nvSpPr>
          <p:spPr>
            <a:xfrm>
              <a:off x="891540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283" name="stage-14-grid-1-1">
              <a:extLst>
                <a:ext uri="{FF2B5EF4-FFF2-40B4-BE49-F238E27FC236}">
                  <a16:creationId xmlns:a16="http://schemas.microsoft.com/office/drawing/2014/main" id="{508C3047-5829-413B-945B-BE8571CDECD8}"/>
                </a:ext>
              </a:extLst>
            </p:cNvPr>
            <p:cNvSpPr/>
            <p:nvPr/>
          </p:nvSpPr>
          <p:spPr>
            <a:xfrm>
              <a:off x="10204450" y="27940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284" name="stage-14-grid-2-0">
              <a:extLst>
                <a:ext uri="{FF2B5EF4-FFF2-40B4-BE49-F238E27FC236}">
                  <a16:creationId xmlns:a16="http://schemas.microsoft.com/office/drawing/2014/main" id="{8F354D8B-E183-4A17-B4C3-2E5F3E995221}"/>
                </a:ext>
              </a:extLst>
            </p:cNvPr>
            <p:cNvSpPr/>
            <p:nvPr/>
          </p:nvSpPr>
          <p:spPr>
            <a:xfrm>
              <a:off x="891540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285" name="stage-14-grid-2-1">
              <a:extLst>
                <a:ext uri="{FF2B5EF4-FFF2-40B4-BE49-F238E27FC236}">
                  <a16:creationId xmlns:a16="http://schemas.microsoft.com/office/drawing/2014/main" id="{5D7E382C-9B27-4543-A9D6-F83F90DAA77F}"/>
                </a:ext>
              </a:extLst>
            </p:cNvPr>
            <p:cNvSpPr/>
            <p:nvPr/>
          </p:nvSpPr>
          <p:spPr>
            <a:xfrm>
              <a:off x="10204450" y="31369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286" name="stage-14-grid-3-0">
              <a:extLst>
                <a:ext uri="{FF2B5EF4-FFF2-40B4-BE49-F238E27FC236}">
                  <a16:creationId xmlns:a16="http://schemas.microsoft.com/office/drawing/2014/main" id="{DBB1905C-EFBC-47BD-A87A-4617F39F43CA}"/>
                </a:ext>
              </a:extLst>
            </p:cNvPr>
            <p:cNvSpPr/>
            <p:nvPr/>
          </p:nvSpPr>
          <p:spPr>
            <a:xfrm>
              <a:off x="891540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287" name="stage-14-grid-3-1">
              <a:extLst>
                <a:ext uri="{FF2B5EF4-FFF2-40B4-BE49-F238E27FC236}">
                  <a16:creationId xmlns:a16="http://schemas.microsoft.com/office/drawing/2014/main" id="{FA694626-C502-4364-AE50-ACC36E37F25A}"/>
                </a:ext>
              </a:extLst>
            </p:cNvPr>
            <p:cNvSpPr/>
            <p:nvPr/>
          </p:nvSpPr>
          <p:spPr>
            <a:xfrm>
              <a:off x="10204450" y="34798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288" name="stage-14-grid-4-0">
              <a:extLst>
                <a:ext uri="{FF2B5EF4-FFF2-40B4-BE49-F238E27FC236}">
                  <a16:creationId xmlns:a16="http://schemas.microsoft.com/office/drawing/2014/main" id="{4C9D7EAC-D0A9-46A3-B1CA-92C40F44171C}"/>
                </a:ext>
              </a:extLst>
            </p:cNvPr>
            <p:cNvSpPr/>
            <p:nvPr/>
          </p:nvSpPr>
          <p:spPr>
            <a:xfrm>
              <a:off x="891540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289" name="stage-14-grid-4-1">
              <a:extLst>
                <a:ext uri="{FF2B5EF4-FFF2-40B4-BE49-F238E27FC236}">
                  <a16:creationId xmlns:a16="http://schemas.microsoft.com/office/drawing/2014/main" id="{08ABC896-532E-46C6-967D-72A1208F5CBE}"/>
                </a:ext>
              </a:extLst>
            </p:cNvPr>
            <p:cNvSpPr/>
            <p:nvPr/>
          </p:nvSpPr>
          <p:spPr>
            <a:xfrm>
              <a:off x="10204450" y="38227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290" name="stage-14-grid-5-0">
              <a:extLst>
                <a:ext uri="{FF2B5EF4-FFF2-40B4-BE49-F238E27FC236}">
                  <a16:creationId xmlns:a16="http://schemas.microsoft.com/office/drawing/2014/main" id="{39437023-D1CE-440E-A18C-7A481F6F61C4}"/>
                </a:ext>
              </a:extLst>
            </p:cNvPr>
            <p:cNvSpPr/>
            <p:nvPr/>
          </p:nvSpPr>
          <p:spPr>
            <a:xfrm>
              <a:off x="891540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291" name="stage-14-grid-5-1">
              <a:extLst>
                <a:ext uri="{FF2B5EF4-FFF2-40B4-BE49-F238E27FC236}">
                  <a16:creationId xmlns:a16="http://schemas.microsoft.com/office/drawing/2014/main" id="{40DF0392-376A-494A-B28C-60168864D857}"/>
                </a:ext>
              </a:extLst>
            </p:cNvPr>
            <p:cNvSpPr/>
            <p:nvPr/>
          </p:nvSpPr>
          <p:spPr>
            <a:xfrm>
              <a:off x="10204450" y="41656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292" name="stage-14-grid-6-0">
              <a:extLst>
                <a:ext uri="{FF2B5EF4-FFF2-40B4-BE49-F238E27FC236}">
                  <a16:creationId xmlns:a16="http://schemas.microsoft.com/office/drawing/2014/main" id="{834C3886-0BDD-4771-B0FE-9A83DE3A8509}"/>
                </a:ext>
              </a:extLst>
            </p:cNvPr>
            <p:cNvSpPr/>
            <p:nvPr/>
          </p:nvSpPr>
          <p:spPr>
            <a:xfrm>
              <a:off x="891540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293" name="stage-14-grid-6-1">
              <a:extLst>
                <a:ext uri="{FF2B5EF4-FFF2-40B4-BE49-F238E27FC236}">
                  <a16:creationId xmlns:a16="http://schemas.microsoft.com/office/drawing/2014/main" id="{5516E9B0-7A64-46FE-A932-83E3BA1477EB}"/>
                </a:ext>
              </a:extLst>
            </p:cNvPr>
            <p:cNvSpPr/>
            <p:nvPr/>
          </p:nvSpPr>
          <p:spPr>
            <a:xfrm>
              <a:off x="10204450" y="4508500"/>
              <a:ext cx="1289050"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294" name="stage-14-grid-7-0">
              <a:extLst>
                <a:ext uri="{FF2B5EF4-FFF2-40B4-BE49-F238E27FC236}">
                  <a16:creationId xmlns:a16="http://schemas.microsoft.com/office/drawing/2014/main" id="{8F59A58A-C062-42A9-B53B-04949904B351}"/>
                </a:ext>
              </a:extLst>
            </p:cNvPr>
            <p:cNvSpPr/>
            <p:nvPr/>
          </p:nvSpPr>
          <p:spPr>
            <a:xfrm>
              <a:off x="891540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295" name="stage-14-grid-7-1">
              <a:extLst>
                <a:ext uri="{FF2B5EF4-FFF2-40B4-BE49-F238E27FC236}">
                  <a16:creationId xmlns:a16="http://schemas.microsoft.com/office/drawing/2014/main" id="{75224209-9BE2-4303-A45F-933DF95CDF0C}"/>
                </a:ext>
              </a:extLst>
            </p:cNvPr>
            <p:cNvSpPr/>
            <p:nvPr/>
          </p:nvSpPr>
          <p:spPr>
            <a:xfrm>
              <a:off x="10204450" y="4851400"/>
              <a:ext cx="1289050"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296" name="stage-14-grid-8-0">
              <a:extLst>
                <a:ext uri="{FF2B5EF4-FFF2-40B4-BE49-F238E27FC236}">
                  <a16:creationId xmlns:a16="http://schemas.microsoft.com/office/drawing/2014/main" id="{1EC68D89-251A-4CBC-A4B8-9919457F4888}"/>
                </a:ext>
              </a:extLst>
            </p:cNvPr>
            <p:cNvSpPr/>
            <p:nvPr/>
          </p:nvSpPr>
          <p:spPr>
            <a:xfrm>
              <a:off x="8915400" y="51943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297" name="stage-14-grid-8-1">
              <a:extLst>
                <a:ext uri="{FF2B5EF4-FFF2-40B4-BE49-F238E27FC236}">
                  <a16:creationId xmlns:a16="http://schemas.microsoft.com/office/drawing/2014/main" id="{F968CEC1-08A0-48B9-913C-9A631DAB1E70}"/>
                </a:ext>
              </a:extLst>
            </p:cNvPr>
            <p:cNvSpPr/>
            <p:nvPr/>
          </p:nvSpPr>
          <p:spPr>
            <a:xfrm>
              <a:off x="10204450" y="5194300"/>
              <a:ext cx="1289050"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298" name="stage-14-tarjan-caption">
              <a:extLst>
                <a:ext uri="{FF2B5EF4-FFF2-40B4-BE49-F238E27FC236}">
                  <a16:creationId xmlns:a16="http://schemas.microsoft.com/office/drawing/2014/main" id="{B8E4AB15-9520-488C-B1D0-B65C6549D138}"/>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tin[8] = 8 · </a:t>
              </a:r>
              <a:r>
                <a:rPr lang="ru-RU" sz="2000">
                  <a:solidFill>
                    <a:srgbClr val="352379"/>
                  </a:solidFill>
                  <a:latin typeface="Montserrat"/>
                </a:rPr>
                <a:t>путь </a:t>
              </a:r>
              <a:r>
                <a:rPr lang="en-US" sz="2000">
                  <a:solidFill>
                    <a:srgbClr val="352379"/>
                  </a:solidFill>
                  <a:latin typeface="Montserrat"/>
                </a:rPr>
                <a:t>DFS: 1 → … → 8</a:t>
              </a:r>
              <a:endParaRPr lang="ru-RU" sz="2000">
                <a:solidFill>
                  <a:srgbClr val="352379"/>
                </a:solidFill>
                <a:latin typeface="Montserrat"/>
              </a:endParaRPr>
            </a:p>
          </p:txBody>
        </p:sp>
      </p:grpSp>
    </p:spTree>
    <p:extLst>
      <p:ext uri="{BB962C8B-B14F-4D97-AF65-F5344CB8AC3E}">
        <p14:creationId xmlns:p14="http://schemas.microsoft.com/office/powerpoint/2010/main" val="88299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25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fade">
                                      <p:cBhvr>
                                        <p:cTn id="12" dur="250"/>
                                        <p:tgtEl>
                                          <p:spTgt spid="113"/>
                                        </p:tgtEl>
                                      </p:cBhvr>
                                    </p:animEffect>
                                  </p:childTnLst>
                                </p:cTn>
                              </p:par>
                              <p:par>
                                <p:cTn id="13" presetID="10" presetClass="exit" presetSubtype="0" fill="hold" nodeType="withEffect">
                                  <p:stCondLst>
                                    <p:cond delay="0"/>
                                  </p:stCondLst>
                                  <p:childTnLst>
                                    <p:animEffect transition="out" filter="fade">
                                      <p:cBhvr>
                                        <p:cTn id="14" dur="150"/>
                                        <p:tgtEl>
                                          <p:spTgt spid="82"/>
                                        </p:tgtEl>
                                      </p:cBhvr>
                                    </p:animEffect>
                                    <p:set>
                                      <p:cBhvr>
                                        <p:cTn id="15" dur="1" fill="hold">
                                          <p:stCondLst>
                                            <p:cond delay="149"/>
                                          </p:stCondLst>
                                        </p:cTn>
                                        <p:tgtEl>
                                          <p:spTgt spid="8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4"/>
                                        </p:tgtEl>
                                        <p:attrNameLst>
                                          <p:attrName>style.visibility</p:attrName>
                                        </p:attrNameLst>
                                      </p:cBhvr>
                                      <p:to>
                                        <p:strVal val="visible"/>
                                      </p:to>
                                    </p:set>
                                    <p:animEffect transition="in" filter="fade">
                                      <p:cBhvr>
                                        <p:cTn id="20" dur="250"/>
                                        <p:tgtEl>
                                          <p:spTgt spid="144"/>
                                        </p:tgtEl>
                                      </p:cBhvr>
                                    </p:animEffect>
                                  </p:childTnLst>
                                </p:cTn>
                              </p:par>
                              <p:par>
                                <p:cTn id="21" presetID="10" presetClass="exit" presetSubtype="0" fill="hold" nodeType="withEffect">
                                  <p:stCondLst>
                                    <p:cond delay="0"/>
                                  </p:stCondLst>
                                  <p:childTnLst>
                                    <p:animEffect transition="out" filter="fade">
                                      <p:cBhvr>
                                        <p:cTn id="22" dur="150"/>
                                        <p:tgtEl>
                                          <p:spTgt spid="113"/>
                                        </p:tgtEl>
                                      </p:cBhvr>
                                    </p:animEffect>
                                    <p:set>
                                      <p:cBhvr>
                                        <p:cTn id="23" dur="1" fill="hold">
                                          <p:stCondLst>
                                            <p:cond delay="149"/>
                                          </p:stCondLst>
                                        </p:cTn>
                                        <p:tgtEl>
                                          <p:spTgt spid="113"/>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75"/>
                                        </p:tgtEl>
                                        <p:attrNameLst>
                                          <p:attrName>style.visibility</p:attrName>
                                        </p:attrNameLst>
                                      </p:cBhvr>
                                      <p:to>
                                        <p:strVal val="visible"/>
                                      </p:to>
                                    </p:set>
                                    <p:animEffect transition="in" filter="fade">
                                      <p:cBhvr>
                                        <p:cTn id="28" dur="250"/>
                                        <p:tgtEl>
                                          <p:spTgt spid="175"/>
                                        </p:tgtEl>
                                      </p:cBhvr>
                                    </p:animEffect>
                                  </p:childTnLst>
                                </p:cTn>
                              </p:par>
                              <p:par>
                                <p:cTn id="29" presetID="10" presetClass="exit" presetSubtype="0" fill="hold" nodeType="withEffect">
                                  <p:stCondLst>
                                    <p:cond delay="0"/>
                                  </p:stCondLst>
                                  <p:childTnLst>
                                    <p:animEffect transition="out" filter="fade">
                                      <p:cBhvr>
                                        <p:cTn id="30" dur="150"/>
                                        <p:tgtEl>
                                          <p:spTgt spid="144"/>
                                        </p:tgtEl>
                                      </p:cBhvr>
                                    </p:animEffect>
                                    <p:set>
                                      <p:cBhvr>
                                        <p:cTn id="31" dur="1" fill="hold">
                                          <p:stCondLst>
                                            <p:cond delay="149"/>
                                          </p:stCondLst>
                                        </p:cTn>
                                        <p:tgtEl>
                                          <p:spTgt spid="14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06"/>
                                        </p:tgtEl>
                                        <p:attrNameLst>
                                          <p:attrName>style.visibility</p:attrName>
                                        </p:attrNameLst>
                                      </p:cBhvr>
                                      <p:to>
                                        <p:strVal val="visible"/>
                                      </p:to>
                                    </p:set>
                                    <p:animEffect transition="in" filter="fade">
                                      <p:cBhvr>
                                        <p:cTn id="36" dur="250"/>
                                        <p:tgtEl>
                                          <p:spTgt spid="206"/>
                                        </p:tgtEl>
                                      </p:cBhvr>
                                    </p:animEffect>
                                  </p:childTnLst>
                                </p:cTn>
                              </p:par>
                              <p:par>
                                <p:cTn id="37" presetID="10" presetClass="exit" presetSubtype="0" fill="hold" nodeType="withEffect">
                                  <p:stCondLst>
                                    <p:cond delay="0"/>
                                  </p:stCondLst>
                                  <p:childTnLst>
                                    <p:animEffect transition="out" filter="fade">
                                      <p:cBhvr>
                                        <p:cTn id="38" dur="150"/>
                                        <p:tgtEl>
                                          <p:spTgt spid="175"/>
                                        </p:tgtEl>
                                      </p:cBhvr>
                                    </p:animEffect>
                                    <p:set>
                                      <p:cBhvr>
                                        <p:cTn id="39" dur="1" fill="hold">
                                          <p:stCondLst>
                                            <p:cond delay="149"/>
                                          </p:stCondLst>
                                        </p:cTn>
                                        <p:tgtEl>
                                          <p:spTgt spid="175"/>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37"/>
                                        </p:tgtEl>
                                        <p:attrNameLst>
                                          <p:attrName>style.visibility</p:attrName>
                                        </p:attrNameLst>
                                      </p:cBhvr>
                                      <p:to>
                                        <p:strVal val="visible"/>
                                      </p:to>
                                    </p:set>
                                    <p:animEffect transition="in" filter="fade">
                                      <p:cBhvr>
                                        <p:cTn id="44" dur="250"/>
                                        <p:tgtEl>
                                          <p:spTgt spid="237"/>
                                        </p:tgtEl>
                                      </p:cBhvr>
                                    </p:animEffect>
                                  </p:childTnLst>
                                </p:cTn>
                              </p:par>
                              <p:par>
                                <p:cTn id="45" presetID="10" presetClass="exit" presetSubtype="0" fill="hold" nodeType="withEffect">
                                  <p:stCondLst>
                                    <p:cond delay="0"/>
                                  </p:stCondLst>
                                  <p:childTnLst>
                                    <p:animEffect transition="out" filter="fade">
                                      <p:cBhvr>
                                        <p:cTn id="46" dur="150"/>
                                        <p:tgtEl>
                                          <p:spTgt spid="206"/>
                                        </p:tgtEl>
                                      </p:cBhvr>
                                    </p:animEffect>
                                    <p:set>
                                      <p:cBhvr>
                                        <p:cTn id="47" dur="1" fill="hold">
                                          <p:stCondLst>
                                            <p:cond delay="149"/>
                                          </p:stCondLst>
                                        </p:cTn>
                                        <p:tgtEl>
                                          <p:spTgt spid="20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8"/>
                                        </p:tgtEl>
                                        <p:attrNameLst>
                                          <p:attrName>style.visibility</p:attrName>
                                        </p:attrNameLst>
                                      </p:cBhvr>
                                      <p:to>
                                        <p:strVal val="visible"/>
                                      </p:to>
                                    </p:set>
                                    <p:animEffect transition="in" filter="fade">
                                      <p:cBhvr>
                                        <p:cTn id="52" dur="250"/>
                                        <p:tgtEl>
                                          <p:spTgt spid="268"/>
                                        </p:tgtEl>
                                      </p:cBhvr>
                                    </p:animEffect>
                                  </p:childTnLst>
                                </p:cTn>
                              </p:par>
                              <p:par>
                                <p:cTn id="53" presetID="10" presetClass="exit" presetSubtype="0" fill="hold" nodeType="withEffect">
                                  <p:stCondLst>
                                    <p:cond delay="0"/>
                                  </p:stCondLst>
                                  <p:childTnLst>
                                    <p:animEffect transition="out" filter="fade">
                                      <p:cBhvr>
                                        <p:cTn id="54" dur="150"/>
                                        <p:tgtEl>
                                          <p:spTgt spid="237"/>
                                        </p:tgtEl>
                                      </p:cBhvr>
                                    </p:animEffect>
                                    <p:set>
                                      <p:cBhvr>
                                        <p:cTn id="55" dur="1" fill="hold">
                                          <p:stCondLst>
                                            <p:cond delay="149"/>
                                          </p:stCondLst>
                                        </p:cTn>
                                        <p:tgtEl>
                                          <p:spTgt spid="237"/>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99"/>
                                        </p:tgtEl>
                                        <p:attrNameLst>
                                          <p:attrName>style.visibility</p:attrName>
                                        </p:attrNameLst>
                                      </p:cBhvr>
                                      <p:to>
                                        <p:strVal val="visible"/>
                                      </p:to>
                                    </p:set>
                                    <p:animEffect transition="in" filter="fade">
                                      <p:cBhvr>
                                        <p:cTn id="60" dur="250"/>
                                        <p:tgtEl>
                                          <p:spTgt spid="299"/>
                                        </p:tgtEl>
                                      </p:cBhvr>
                                    </p:animEffect>
                                  </p:childTnLst>
                                </p:cTn>
                              </p:par>
                              <p:par>
                                <p:cTn id="61" presetID="10" presetClass="exit" presetSubtype="0" fill="hold" nodeType="withEffect">
                                  <p:stCondLst>
                                    <p:cond delay="0"/>
                                  </p:stCondLst>
                                  <p:childTnLst>
                                    <p:animEffect transition="out" filter="fade">
                                      <p:cBhvr>
                                        <p:cTn id="62" dur="150"/>
                                        <p:tgtEl>
                                          <p:spTgt spid="268"/>
                                        </p:tgtEl>
                                      </p:cBhvr>
                                    </p:animEffect>
                                    <p:set>
                                      <p:cBhvr>
                                        <p:cTn id="63" dur="1" fill="hold">
                                          <p:stCondLst>
                                            <p:cond delay="149"/>
                                          </p:stCondLst>
                                        </p:cTn>
                                        <p:tgtEl>
                                          <p:spTgt spid="2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low[v] в алгоритме Тарьяна</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3810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3810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en-US" sz="2100">
                <a:solidFill>
                  <a:srgbClr val="FFFFFF"/>
                </a:solidFill>
                <a:latin typeface="Montserrat"/>
              </a:rPr>
              <a:t>tin / low</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34</a:t>
            </a:r>
          </a:p>
        </p:txBody>
      </p:sp>
      <p:sp>
        <p:nvSpPr>
          <p:cNvPr id="31" name="grid-0-0">
            <a:extLst>
              <a:ext uri="{FF2B5EF4-FFF2-40B4-BE49-F238E27FC236}">
                <a16:creationId xmlns:a16="http://schemas.microsoft.com/office/drawing/2014/main" id="{A59F645E-AB71-4111-AD35-9BB60CF3781D}"/>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42CC7544-2970-4AB0-8164-EC022A6689FA}"/>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0-2">
            <a:extLst>
              <a:ext uri="{FF2B5EF4-FFF2-40B4-BE49-F238E27FC236}">
                <a16:creationId xmlns:a16="http://schemas.microsoft.com/office/drawing/2014/main" id="{EFDF20A5-9606-49B2-9DDF-FA7E2FEFF36A}"/>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34" name="grid-1-0">
            <a:extLst>
              <a:ext uri="{FF2B5EF4-FFF2-40B4-BE49-F238E27FC236}">
                <a16:creationId xmlns:a16="http://schemas.microsoft.com/office/drawing/2014/main" id="{3AE2ABDD-4F74-4A8E-B4F6-4EDD8689E16C}"/>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5" name="grid-1-1">
            <a:extLst>
              <a:ext uri="{FF2B5EF4-FFF2-40B4-BE49-F238E27FC236}">
                <a16:creationId xmlns:a16="http://schemas.microsoft.com/office/drawing/2014/main" id="{2A2E5787-9495-476A-B6BE-F6EDBCCB5B68}"/>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6" name="grid-1-2">
            <a:extLst>
              <a:ext uri="{FF2B5EF4-FFF2-40B4-BE49-F238E27FC236}">
                <a16:creationId xmlns:a16="http://schemas.microsoft.com/office/drawing/2014/main" id="{4FFE185E-1BAB-4247-B6A4-D1EEDE993382}"/>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7" name="grid-2-0">
            <a:extLst>
              <a:ext uri="{FF2B5EF4-FFF2-40B4-BE49-F238E27FC236}">
                <a16:creationId xmlns:a16="http://schemas.microsoft.com/office/drawing/2014/main" id="{475C1CA7-163A-4A04-A16B-54A44C0118BB}"/>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8" name="grid-2-1">
            <a:extLst>
              <a:ext uri="{FF2B5EF4-FFF2-40B4-BE49-F238E27FC236}">
                <a16:creationId xmlns:a16="http://schemas.microsoft.com/office/drawing/2014/main" id="{E8CAF91B-8176-4E69-84C6-614AA6FAC8C5}"/>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9" name="grid-2-2">
            <a:extLst>
              <a:ext uri="{FF2B5EF4-FFF2-40B4-BE49-F238E27FC236}">
                <a16:creationId xmlns:a16="http://schemas.microsoft.com/office/drawing/2014/main" id="{20FF8DD7-E11A-4879-ADC3-3371414E2A6A}"/>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40" name="grid-3-0">
            <a:extLst>
              <a:ext uri="{FF2B5EF4-FFF2-40B4-BE49-F238E27FC236}">
                <a16:creationId xmlns:a16="http://schemas.microsoft.com/office/drawing/2014/main" id="{24DAC33C-C2AF-4494-936F-EB33F856ECDF}"/>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1" name="grid-3-1">
            <a:extLst>
              <a:ext uri="{FF2B5EF4-FFF2-40B4-BE49-F238E27FC236}">
                <a16:creationId xmlns:a16="http://schemas.microsoft.com/office/drawing/2014/main" id="{F207B14B-9452-40AF-A1AB-1958740B42A8}"/>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2" name="grid-3-2">
            <a:extLst>
              <a:ext uri="{FF2B5EF4-FFF2-40B4-BE49-F238E27FC236}">
                <a16:creationId xmlns:a16="http://schemas.microsoft.com/office/drawing/2014/main" id="{87157955-439F-455B-8C82-2BE84EE050B7}"/>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3" name="grid-4-0">
            <a:extLst>
              <a:ext uri="{FF2B5EF4-FFF2-40B4-BE49-F238E27FC236}">
                <a16:creationId xmlns:a16="http://schemas.microsoft.com/office/drawing/2014/main" id="{236F800A-3F8F-4A47-AD2D-DACAE841E1AC}"/>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4" name="grid-4-1">
            <a:extLst>
              <a:ext uri="{FF2B5EF4-FFF2-40B4-BE49-F238E27FC236}">
                <a16:creationId xmlns:a16="http://schemas.microsoft.com/office/drawing/2014/main" id="{A562E92B-7004-4184-BED6-8825686D9306}"/>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5" name="grid-4-2">
            <a:extLst>
              <a:ext uri="{FF2B5EF4-FFF2-40B4-BE49-F238E27FC236}">
                <a16:creationId xmlns:a16="http://schemas.microsoft.com/office/drawing/2014/main" id="{86B8118A-0618-4DDF-B208-B0B387AA6011}"/>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6" name="grid-5-0">
            <a:extLst>
              <a:ext uri="{FF2B5EF4-FFF2-40B4-BE49-F238E27FC236}">
                <a16:creationId xmlns:a16="http://schemas.microsoft.com/office/drawing/2014/main" id="{73DD5EC7-18F7-4BF8-A4C0-89D571FCC37B}"/>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7" name="grid-5-1">
            <a:extLst>
              <a:ext uri="{FF2B5EF4-FFF2-40B4-BE49-F238E27FC236}">
                <a16:creationId xmlns:a16="http://schemas.microsoft.com/office/drawing/2014/main" id="{DEE76577-23A3-4461-8616-3B5DAEEE9C00}"/>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8" name="grid-5-2">
            <a:extLst>
              <a:ext uri="{FF2B5EF4-FFF2-40B4-BE49-F238E27FC236}">
                <a16:creationId xmlns:a16="http://schemas.microsoft.com/office/drawing/2014/main" id="{1A1EF0F0-E1D5-403F-B11B-ABF4ADAD9742}"/>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9" name="grid-6-0">
            <a:extLst>
              <a:ext uri="{FF2B5EF4-FFF2-40B4-BE49-F238E27FC236}">
                <a16:creationId xmlns:a16="http://schemas.microsoft.com/office/drawing/2014/main" id="{325CD23E-B64E-49A7-ADFA-0CCDB6F9795F}"/>
              </a:ext>
            </a:extLst>
          </p:cNvPr>
          <p:cNvSpPr/>
          <p:nvPr/>
        </p:nvSpPr>
        <p:spPr>
          <a:xfrm>
            <a:off x="8915400"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0" name="grid-6-1">
            <a:extLst>
              <a:ext uri="{FF2B5EF4-FFF2-40B4-BE49-F238E27FC236}">
                <a16:creationId xmlns:a16="http://schemas.microsoft.com/office/drawing/2014/main" id="{38B879D5-B480-4CF7-8E03-1DA448129A05}"/>
              </a:ext>
            </a:extLst>
          </p:cNvPr>
          <p:cNvSpPr/>
          <p:nvPr/>
        </p:nvSpPr>
        <p:spPr>
          <a:xfrm>
            <a:off x="9774767"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1" name="grid-6-2">
            <a:extLst>
              <a:ext uri="{FF2B5EF4-FFF2-40B4-BE49-F238E27FC236}">
                <a16:creationId xmlns:a16="http://schemas.microsoft.com/office/drawing/2014/main" id="{C592C3AE-8837-45A1-B432-515A69A77E03}"/>
              </a:ext>
            </a:extLst>
          </p:cNvPr>
          <p:cNvSpPr/>
          <p:nvPr/>
        </p:nvSpPr>
        <p:spPr>
          <a:xfrm>
            <a:off x="10634133"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2" name="grid-7-0">
            <a:extLst>
              <a:ext uri="{FF2B5EF4-FFF2-40B4-BE49-F238E27FC236}">
                <a16:creationId xmlns:a16="http://schemas.microsoft.com/office/drawing/2014/main" id="{1D093195-F4D1-4846-8F4F-6C86A1B583B7}"/>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3" name="grid-7-1">
            <a:extLst>
              <a:ext uri="{FF2B5EF4-FFF2-40B4-BE49-F238E27FC236}">
                <a16:creationId xmlns:a16="http://schemas.microsoft.com/office/drawing/2014/main" id="{C83C1F07-3A1A-4215-BC5E-F006936740C9}"/>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4" name="grid-7-2">
            <a:extLst>
              <a:ext uri="{FF2B5EF4-FFF2-40B4-BE49-F238E27FC236}">
                <a16:creationId xmlns:a16="http://schemas.microsoft.com/office/drawing/2014/main" id="{34786C4F-EFBF-4F24-8E0E-623F4D3FC2E6}"/>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5" name="grid-8-0">
            <a:extLst>
              <a:ext uri="{FF2B5EF4-FFF2-40B4-BE49-F238E27FC236}">
                <a16:creationId xmlns:a16="http://schemas.microsoft.com/office/drawing/2014/main" id="{1FC9105F-BCD8-4F1E-9635-72BE6FC5F170}"/>
              </a:ext>
            </a:extLst>
          </p:cNvPr>
          <p:cNvSpPr/>
          <p:nvPr/>
        </p:nvSpPr>
        <p:spPr>
          <a:xfrm>
            <a:off x="8915400"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6" name="grid-8-1">
            <a:extLst>
              <a:ext uri="{FF2B5EF4-FFF2-40B4-BE49-F238E27FC236}">
                <a16:creationId xmlns:a16="http://schemas.microsoft.com/office/drawing/2014/main" id="{FEF2DA95-65B7-43C7-98E6-B63858A2A977}"/>
              </a:ext>
            </a:extLst>
          </p:cNvPr>
          <p:cNvSpPr/>
          <p:nvPr/>
        </p:nvSpPr>
        <p:spPr>
          <a:xfrm>
            <a:off x="9774767"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7" name="grid-8-2">
            <a:extLst>
              <a:ext uri="{FF2B5EF4-FFF2-40B4-BE49-F238E27FC236}">
                <a16:creationId xmlns:a16="http://schemas.microsoft.com/office/drawing/2014/main" id="{EDE26632-1D91-41BD-BFC1-9D71AF2CFD08}"/>
              </a:ext>
            </a:extLst>
          </p:cNvPr>
          <p:cNvSpPr/>
          <p:nvPr/>
        </p:nvSpPr>
        <p:spPr>
          <a:xfrm>
            <a:off x="10634133"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8" name="tarjan-stack">
            <a:extLst>
              <a:ext uri="{FF2B5EF4-FFF2-40B4-BE49-F238E27FC236}">
                <a16:creationId xmlns:a16="http://schemas.microsoft.com/office/drawing/2014/main" id="{1411117F-B7B5-4654-9972-8E1C48F99393}"/>
              </a:ext>
            </a:extLst>
          </p:cNvPr>
          <p:cNvSpPr txBox="1"/>
          <p:nvPr/>
        </p:nvSpPr>
        <p:spPr bwMode="auto">
          <a:xfrm>
            <a:off x="660400" y="1511300"/>
            <a:ext cx="7937500" cy="393700"/>
          </a:xfrm>
          <a:prstGeom prst="rect">
            <a:avLst/>
          </a:prstGeom>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59" name="tarjan-caption">
            <a:extLst>
              <a:ext uri="{FF2B5EF4-FFF2-40B4-BE49-F238E27FC236}">
                <a16:creationId xmlns:a16="http://schemas.microsoft.com/office/drawing/2014/main" id="{E614C017-2D42-4B0F-8089-BD37CB7BFC23}"/>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ru-RU" sz="2000">
                <a:solidFill>
                  <a:srgbClr val="352379"/>
                </a:solidFill>
                <a:latin typeface="Montserrat"/>
              </a:rPr>
              <a:t>Уже учтены рёбра 3 → 1 и 5 → 4: обе вершины в стеке.</a:t>
            </a:r>
          </a:p>
        </p:txBody>
      </p:sp>
      <p:sp>
        <p:nvSpPr>
          <p:cNvPr id="60" name="tarjan-band-background">
            <a:extLst>
              <a:ext uri="{FF2B5EF4-FFF2-40B4-BE49-F238E27FC236}">
                <a16:creationId xmlns:a16="http://schemas.microsoft.com/office/drawing/2014/main" id="{5C4B84D7-E66F-40A8-9ED7-EA1AC6450378}"/>
              </a:ext>
            </a:extLst>
          </p:cNvPr>
          <p:cNvSpPr/>
          <p:nvPr/>
        </p:nvSpPr>
        <p:spPr>
          <a:xfrm>
            <a:off x="482600" y="5676900"/>
            <a:ext cx="11226800" cy="8128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arjan-definition">
            <a:extLst>
              <a:ext uri="{FF2B5EF4-FFF2-40B4-BE49-F238E27FC236}">
                <a16:creationId xmlns:a16="http://schemas.microsoft.com/office/drawing/2014/main" id="{F2D3334D-BBA4-4D5D-BE13-4CE18616B4BB}"/>
              </a:ext>
            </a:extLst>
          </p:cNvPr>
          <p:cNvSpPr txBox="1"/>
          <p:nvPr/>
        </p:nvSpPr>
        <p:spPr bwMode="auto">
          <a:xfrm>
            <a:off x="660400" y="5715000"/>
            <a:ext cx="10871200" cy="736600"/>
          </a:xfrm>
          <a:prstGeom prst="rect">
            <a:avLst/>
          </a:prstGeom>
        </p:spPr>
        <p:txBody>
          <a:bodyPr vert="horz" wrap="square" lIns="38100" tIns="12700" rIns="38100" bIns="12700" rtlCol="0" anchor="ctr">
            <a:noAutofit/>
          </a:bodyPr>
          <a:lstStyle/>
          <a:p>
            <a:r>
              <a:rPr lang="ru-RU" sz="2000">
                <a:solidFill>
                  <a:srgbClr val="FFFFFF"/>
                </a:solidFill>
                <a:latin typeface="Montserrat"/>
              </a:rPr>
              <a:t>low[v] — минимальный tin вершины, до которой можно добраться из текущей DFS-ветви, учитывая вершины, которые ещё находятся в стеке.</a:t>
            </a:r>
          </a:p>
        </p:txBody>
      </p:sp>
    </p:spTree>
    <p:extLst>
      <p:ext uri="{BB962C8B-B14F-4D97-AF65-F5344CB8AC3E}">
        <p14:creationId xmlns:p14="http://schemas.microsoft.com/office/powerpoint/2010/main" val="1949289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low: обратное ребро 8 → 6</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en-US" sz="2100">
                <a:solidFill>
                  <a:srgbClr val="FFFFFF"/>
                </a:solidFill>
                <a:latin typeface="Montserrat"/>
              </a:rPr>
              <a:t>tin / low</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35</a:t>
            </a:r>
          </a:p>
        </p:txBody>
      </p:sp>
      <p:sp>
        <p:nvSpPr>
          <p:cNvPr id="31" name="grid-0-0">
            <a:extLst>
              <a:ext uri="{FF2B5EF4-FFF2-40B4-BE49-F238E27FC236}">
                <a16:creationId xmlns:a16="http://schemas.microsoft.com/office/drawing/2014/main" id="{F389119B-95D5-4443-A73D-8A5EC8B137FD}"/>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8FA782BF-BE40-42CA-8DFB-A6C3A0FBDDDB}"/>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0-2">
            <a:extLst>
              <a:ext uri="{FF2B5EF4-FFF2-40B4-BE49-F238E27FC236}">
                <a16:creationId xmlns:a16="http://schemas.microsoft.com/office/drawing/2014/main" id="{41A43F20-0554-4D25-8C10-FF51DA1DAA04}"/>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34" name="grid-1-0">
            <a:extLst>
              <a:ext uri="{FF2B5EF4-FFF2-40B4-BE49-F238E27FC236}">
                <a16:creationId xmlns:a16="http://schemas.microsoft.com/office/drawing/2014/main" id="{B2734907-E9FE-488C-BE05-172226C27F0C}"/>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5" name="grid-1-1">
            <a:extLst>
              <a:ext uri="{FF2B5EF4-FFF2-40B4-BE49-F238E27FC236}">
                <a16:creationId xmlns:a16="http://schemas.microsoft.com/office/drawing/2014/main" id="{AEDB7918-1DD1-49C4-BC03-7E6124A83B67}"/>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6" name="grid-1-2">
            <a:extLst>
              <a:ext uri="{FF2B5EF4-FFF2-40B4-BE49-F238E27FC236}">
                <a16:creationId xmlns:a16="http://schemas.microsoft.com/office/drawing/2014/main" id="{09728914-50FE-4FE7-871F-B2EF5F400ACA}"/>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7" name="grid-2-0">
            <a:extLst>
              <a:ext uri="{FF2B5EF4-FFF2-40B4-BE49-F238E27FC236}">
                <a16:creationId xmlns:a16="http://schemas.microsoft.com/office/drawing/2014/main" id="{38B9244C-C6BC-443F-A3EA-A78698445621}"/>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8" name="grid-2-1">
            <a:extLst>
              <a:ext uri="{FF2B5EF4-FFF2-40B4-BE49-F238E27FC236}">
                <a16:creationId xmlns:a16="http://schemas.microsoft.com/office/drawing/2014/main" id="{5B8A4424-A307-45B5-9BF4-470A58D88557}"/>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9" name="grid-2-2">
            <a:extLst>
              <a:ext uri="{FF2B5EF4-FFF2-40B4-BE49-F238E27FC236}">
                <a16:creationId xmlns:a16="http://schemas.microsoft.com/office/drawing/2014/main" id="{8FF08BF3-84CE-493A-BABF-B740C772DE3A}"/>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40" name="grid-3-0">
            <a:extLst>
              <a:ext uri="{FF2B5EF4-FFF2-40B4-BE49-F238E27FC236}">
                <a16:creationId xmlns:a16="http://schemas.microsoft.com/office/drawing/2014/main" id="{DACA531D-0E3D-43FD-A670-0BE678DD694D}"/>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1" name="grid-3-1">
            <a:extLst>
              <a:ext uri="{FF2B5EF4-FFF2-40B4-BE49-F238E27FC236}">
                <a16:creationId xmlns:a16="http://schemas.microsoft.com/office/drawing/2014/main" id="{767C1A56-A5A7-49EA-83D8-71EDBAE0C3FE}"/>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2" name="grid-3-2">
            <a:extLst>
              <a:ext uri="{FF2B5EF4-FFF2-40B4-BE49-F238E27FC236}">
                <a16:creationId xmlns:a16="http://schemas.microsoft.com/office/drawing/2014/main" id="{5C36D161-D7C6-4182-B9AC-F7B2027E2255}"/>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3" name="grid-4-0">
            <a:extLst>
              <a:ext uri="{FF2B5EF4-FFF2-40B4-BE49-F238E27FC236}">
                <a16:creationId xmlns:a16="http://schemas.microsoft.com/office/drawing/2014/main" id="{C88C6CF0-AB80-4DB3-847D-6F1CB7D988C2}"/>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4" name="grid-4-1">
            <a:extLst>
              <a:ext uri="{FF2B5EF4-FFF2-40B4-BE49-F238E27FC236}">
                <a16:creationId xmlns:a16="http://schemas.microsoft.com/office/drawing/2014/main" id="{AAB65084-3BC5-4926-BA05-EB06A2A2FEC4}"/>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5" name="grid-4-2">
            <a:extLst>
              <a:ext uri="{FF2B5EF4-FFF2-40B4-BE49-F238E27FC236}">
                <a16:creationId xmlns:a16="http://schemas.microsoft.com/office/drawing/2014/main" id="{EC4AEF8B-6194-4307-8C4C-433A5120AF7C}"/>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6" name="grid-5-0">
            <a:extLst>
              <a:ext uri="{FF2B5EF4-FFF2-40B4-BE49-F238E27FC236}">
                <a16:creationId xmlns:a16="http://schemas.microsoft.com/office/drawing/2014/main" id="{76C190FB-8F0F-4BF0-BD70-5B2BFB6EBE7C}"/>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7" name="grid-5-1">
            <a:extLst>
              <a:ext uri="{FF2B5EF4-FFF2-40B4-BE49-F238E27FC236}">
                <a16:creationId xmlns:a16="http://schemas.microsoft.com/office/drawing/2014/main" id="{50D2E0D7-C0B2-4258-BB0A-014A992B72D3}"/>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8" name="grid-5-2">
            <a:extLst>
              <a:ext uri="{FF2B5EF4-FFF2-40B4-BE49-F238E27FC236}">
                <a16:creationId xmlns:a16="http://schemas.microsoft.com/office/drawing/2014/main" id="{27771C15-DC07-481A-96BA-ED20898317CB}"/>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9" name="grid-6-0">
            <a:extLst>
              <a:ext uri="{FF2B5EF4-FFF2-40B4-BE49-F238E27FC236}">
                <a16:creationId xmlns:a16="http://schemas.microsoft.com/office/drawing/2014/main" id="{9A57B469-54FE-4AA5-87E5-48D0527597FB}"/>
              </a:ext>
            </a:extLst>
          </p:cNvPr>
          <p:cNvSpPr/>
          <p:nvPr/>
        </p:nvSpPr>
        <p:spPr>
          <a:xfrm>
            <a:off x="8915400"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0" name="grid-6-1">
            <a:extLst>
              <a:ext uri="{FF2B5EF4-FFF2-40B4-BE49-F238E27FC236}">
                <a16:creationId xmlns:a16="http://schemas.microsoft.com/office/drawing/2014/main" id="{B120A6CF-2835-48A0-AC06-E1856DF5A181}"/>
              </a:ext>
            </a:extLst>
          </p:cNvPr>
          <p:cNvSpPr/>
          <p:nvPr/>
        </p:nvSpPr>
        <p:spPr>
          <a:xfrm>
            <a:off x="9774767"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1" name="grid-6-2">
            <a:extLst>
              <a:ext uri="{FF2B5EF4-FFF2-40B4-BE49-F238E27FC236}">
                <a16:creationId xmlns:a16="http://schemas.microsoft.com/office/drawing/2014/main" id="{75DE2294-BA47-42BB-9FED-493510C96AFE}"/>
              </a:ext>
            </a:extLst>
          </p:cNvPr>
          <p:cNvSpPr/>
          <p:nvPr/>
        </p:nvSpPr>
        <p:spPr>
          <a:xfrm>
            <a:off x="10634133"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2" name="grid-7-0">
            <a:extLst>
              <a:ext uri="{FF2B5EF4-FFF2-40B4-BE49-F238E27FC236}">
                <a16:creationId xmlns:a16="http://schemas.microsoft.com/office/drawing/2014/main" id="{A6ACA59D-3244-4590-A55B-793AF9CEEBC8}"/>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3" name="grid-7-1">
            <a:extLst>
              <a:ext uri="{FF2B5EF4-FFF2-40B4-BE49-F238E27FC236}">
                <a16:creationId xmlns:a16="http://schemas.microsoft.com/office/drawing/2014/main" id="{E7251492-85C2-4845-84D0-D82B382DA443}"/>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4" name="grid-7-2">
            <a:extLst>
              <a:ext uri="{FF2B5EF4-FFF2-40B4-BE49-F238E27FC236}">
                <a16:creationId xmlns:a16="http://schemas.microsoft.com/office/drawing/2014/main" id="{018490EA-6D88-4653-A836-12EE5A1E0BBA}"/>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5" name="grid-8-0">
            <a:extLst>
              <a:ext uri="{FF2B5EF4-FFF2-40B4-BE49-F238E27FC236}">
                <a16:creationId xmlns:a16="http://schemas.microsoft.com/office/drawing/2014/main" id="{6D452B77-56E0-4263-BDA2-B7B7A85A9333}"/>
              </a:ext>
            </a:extLst>
          </p:cNvPr>
          <p:cNvSpPr/>
          <p:nvPr/>
        </p:nvSpPr>
        <p:spPr>
          <a:xfrm>
            <a:off x="8915400"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6" name="grid-8-1">
            <a:extLst>
              <a:ext uri="{FF2B5EF4-FFF2-40B4-BE49-F238E27FC236}">
                <a16:creationId xmlns:a16="http://schemas.microsoft.com/office/drawing/2014/main" id="{8E46C52C-5051-4FBE-AA6A-68EA217581DE}"/>
              </a:ext>
            </a:extLst>
          </p:cNvPr>
          <p:cNvSpPr/>
          <p:nvPr/>
        </p:nvSpPr>
        <p:spPr>
          <a:xfrm>
            <a:off x="9774767"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7" name="grid-8-2">
            <a:extLst>
              <a:ext uri="{FF2B5EF4-FFF2-40B4-BE49-F238E27FC236}">
                <a16:creationId xmlns:a16="http://schemas.microsoft.com/office/drawing/2014/main" id="{75ECCDAB-BB2A-4EE6-BC52-37FA58786494}"/>
              </a:ext>
            </a:extLst>
          </p:cNvPr>
          <p:cNvSpPr/>
          <p:nvPr/>
        </p:nvSpPr>
        <p:spPr>
          <a:xfrm>
            <a:off x="10634133"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8" name="tarjan-stack">
            <a:extLst>
              <a:ext uri="{FF2B5EF4-FFF2-40B4-BE49-F238E27FC236}">
                <a16:creationId xmlns:a16="http://schemas.microsoft.com/office/drawing/2014/main" id="{63BE1A82-C22E-4402-A05E-6A4351B4F1F1}"/>
              </a:ext>
            </a:extLst>
          </p:cNvPr>
          <p:cNvSpPr txBox="1"/>
          <p:nvPr/>
        </p:nvSpPr>
        <p:spPr bwMode="auto">
          <a:xfrm>
            <a:off x="660400" y="1511300"/>
            <a:ext cx="7937500" cy="393700"/>
          </a:xfrm>
          <a:prstGeom prst="rect">
            <a:avLst/>
          </a:prstGeom>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59" name="tarjan-caption">
            <a:extLst>
              <a:ext uri="{FF2B5EF4-FFF2-40B4-BE49-F238E27FC236}">
                <a16:creationId xmlns:a16="http://schemas.microsoft.com/office/drawing/2014/main" id="{C387C3F9-5492-4135-BD6A-B85566EBAF46}"/>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ru-RU" sz="2000">
                <a:solidFill>
                  <a:srgbClr val="352379"/>
                </a:solidFill>
                <a:latin typeface="Montserrat"/>
              </a:rPr>
              <a:t>Сейчас low[8] = tin[8] = 8.</a:t>
            </a:r>
          </a:p>
        </p:txBody>
      </p:sp>
      <p:sp>
        <p:nvSpPr>
          <p:cNvPr id="60" name="tarjan-band-background">
            <a:extLst>
              <a:ext uri="{FF2B5EF4-FFF2-40B4-BE49-F238E27FC236}">
                <a16:creationId xmlns:a16="http://schemas.microsoft.com/office/drawing/2014/main" id="{E53D7FD4-93EA-4B0B-8F83-0107D45923CE}"/>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arjan-definition">
            <a:extLst>
              <a:ext uri="{FF2B5EF4-FFF2-40B4-BE49-F238E27FC236}">
                <a16:creationId xmlns:a16="http://schemas.microsoft.com/office/drawing/2014/main" id="{1F79CE86-8504-4824-B031-057029C9BBDA}"/>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200">
                <a:solidFill>
                  <a:srgbClr val="FFFFFF"/>
                </a:solidFill>
                <a:latin typeface="Montserrat"/>
              </a:rPr>
              <a:t>Насколько высоко может вернуться текущая незакрытая часть DFS?</a:t>
            </a:r>
          </a:p>
        </p:txBody>
      </p:sp>
      <p:grpSp>
        <p:nvGrpSpPr>
          <p:cNvPr id="103" name="tarjan-stage-1">
            <a:extLst>
              <a:ext uri="{FF2B5EF4-FFF2-40B4-BE49-F238E27FC236}">
                <a16:creationId xmlns:a16="http://schemas.microsoft.com/office/drawing/2014/main" id="{E6FBA419-05C2-415C-850C-AD73095F6133}"/>
              </a:ext>
            </a:extLst>
          </p:cNvPr>
          <p:cNvGrpSpPr/>
          <p:nvPr/>
        </p:nvGrpSpPr>
        <p:grpSpPr>
          <a:xfrm>
            <a:off x="508000" y="1511300"/>
            <a:ext cx="11201400" cy="4152900"/>
            <a:chOff x="508000" y="1511300"/>
            <a:chExt cx="11201400" cy="4152900"/>
          </a:xfrm>
        </p:grpSpPr>
        <p:sp>
          <p:nvSpPr>
            <p:cNvPr id="62" name="stage-1-!!g-node-1">
              <a:extLst>
                <a:ext uri="{FF2B5EF4-FFF2-40B4-BE49-F238E27FC236}">
                  <a16:creationId xmlns:a16="http://schemas.microsoft.com/office/drawing/2014/main" id="{220B0588-F579-43B1-9739-72EC841B65DB}"/>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3" name="stage-1-!!g-node-2">
              <a:extLst>
                <a:ext uri="{FF2B5EF4-FFF2-40B4-BE49-F238E27FC236}">
                  <a16:creationId xmlns:a16="http://schemas.microsoft.com/office/drawing/2014/main" id="{F497B1C0-EB52-42B8-A077-AA34804AF635}"/>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4" name="stage-1-!!g-node-3">
              <a:extLst>
                <a:ext uri="{FF2B5EF4-FFF2-40B4-BE49-F238E27FC236}">
                  <a16:creationId xmlns:a16="http://schemas.microsoft.com/office/drawing/2014/main" id="{DA4175D7-54AA-4076-A869-B070E92DFA6A}"/>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5" name="stage-1-!!g-node-4">
              <a:extLst>
                <a:ext uri="{FF2B5EF4-FFF2-40B4-BE49-F238E27FC236}">
                  <a16:creationId xmlns:a16="http://schemas.microsoft.com/office/drawing/2014/main" id="{B098CFD6-7944-4EFA-B2C4-49FBEA35F195}"/>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66" name="stage-1-!!g-node-5">
              <a:extLst>
                <a:ext uri="{FF2B5EF4-FFF2-40B4-BE49-F238E27FC236}">
                  <a16:creationId xmlns:a16="http://schemas.microsoft.com/office/drawing/2014/main" id="{13D86DBC-EA7D-4313-AC8C-23D8E3E956B1}"/>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67" name="stage-1-!!g-node-6">
              <a:extLst>
                <a:ext uri="{FF2B5EF4-FFF2-40B4-BE49-F238E27FC236}">
                  <a16:creationId xmlns:a16="http://schemas.microsoft.com/office/drawing/2014/main" id="{1593F7C3-B738-4BBB-958C-C83BEF6D597C}"/>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68" name="stage-1-!!g-node-7">
              <a:extLst>
                <a:ext uri="{FF2B5EF4-FFF2-40B4-BE49-F238E27FC236}">
                  <a16:creationId xmlns:a16="http://schemas.microsoft.com/office/drawing/2014/main" id="{58C697EF-87CA-465A-85C1-F0B69F713872}"/>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69" name="stage-1-!!g-node-8">
              <a:extLst>
                <a:ext uri="{FF2B5EF4-FFF2-40B4-BE49-F238E27FC236}">
                  <a16:creationId xmlns:a16="http://schemas.microsoft.com/office/drawing/2014/main" id="{0A7124A8-D179-4478-B8CF-D0CD799E88B5}"/>
                </a:ext>
              </a:extLst>
            </p:cNvPr>
            <p:cNvSpPr/>
            <p:nvPr/>
          </p:nvSpPr>
          <p:spPr>
            <a:xfrm>
              <a:off x="7683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70" name="stage-1-box-21-697">
              <a:extLst>
                <a:ext uri="{FF2B5EF4-FFF2-40B4-BE49-F238E27FC236}">
                  <a16:creationId xmlns:a16="http://schemas.microsoft.com/office/drawing/2014/main" id="{104EADCE-ABE5-4336-8D06-101CB3B0684C}"/>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stage-1-box-22-698">
              <a:extLst>
                <a:ext uri="{FF2B5EF4-FFF2-40B4-BE49-F238E27FC236}">
                  <a16:creationId xmlns:a16="http://schemas.microsoft.com/office/drawing/2014/main" id="{6305773F-4A88-4F4A-B399-7847008B2F2F}"/>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stage-1-text-23-699">
              <a:extLst>
                <a:ext uri="{FF2B5EF4-FFF2-40B4-BE49-F238E27FC236}">
                  <a16:creationId xmlns:a16="http://schemas.microsoft.com/office/drawing/2014/main" id="{A6ECA169-4130-4A04-9590-2D22B51B8C05}"/>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Обновляем </a:t>
              </a:r>
              <a:r>
                <a:rPr lang="en-US" sz="2100">
                  <a:solidFill>
                    <a:srgbClr val="FFFFFF"/>
                  </a:solidFill>
                  <a:latin typeface="Montserrat"/>
                </a:rPr>
                <a:t>low[8]</a:t>
              </a:r>
              <a:endParaRPr lang="ru-RU" sz="2100">
                <a:solidFill>
                  <a:srgbClr val="FFFFFF"/>
                </a:solidFill>
                <a:latin typeface="Montserrat"/>
              </a:endParaRPr>
            </a:p>
          </p:txBody>
        </p:sp>
        <p:sp>
          <p:nvSpPr>
            <p:cNvPr id="73" name="stage-1-grid-0-0">
              <a:extLst>
                <a:ext uri="{FF2B5EF4-FFF2-40B4-BE49-F238E27FC236}">
                  <a16:creationId xmlns:a16="http://schemas.microsoft.com/office/drawing/2014/main" id="{2EB7341F-97DA-4CC1-B423-40CEFFF50AB7}"/>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74" name="stage-1-grid-0-1">
              <a:extLst>
                <a:ext uri="{FF2B5EF4-FFF2-40B4-BE49-F238E27FC236}">
                  <a16:creationId xmlns:a16="http://schemas.microsoft.com/office/drawing/2014/main" id="{95514CF5-78C0-4AF3-B317-9112A5A05933}"/>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75" name="stage-1-grid-0-2">
              <a:extLst>
                <a:ext uri="{FF2B5EF4-FFF2-40B4-BE49-F238E27FC236}">
                  <a16:creationId xmlns:a16="http://schemas.microsoft.com/office/drawing/2014/main" id="{A2682FEB-4DA4-417B-B962-B7223B34749F}"/>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76" name="stage-1-grid-1-0">
              <a:extLst>
                <a:ext uri="{FF2B5EF4-FFF2-40B4-BE49-F238E27FC236}">
                  <a16:creationId xmlns:a16="http://schemas.microsoft.com/office/drawing/2014/main" id="{EE230593-C454-416C-9C20-88310E0F657B}"/>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7" name="stage-1-grid-1-1">
              <a:extLst>
                <a:ext uri="{FF2B5EF4-FFF2-40B4-BE49-F238E27FC236}">
                  <a16:creationId xmlns:a16="http://schemas.microsoft.com/office/drawing/2014/main" id="{C0B10A72-B3C5-48A8-8F42-D4E3EC749631}"/>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8" name="stage-1-grid-1-2">
              <a:extLst>
                <a:ext uri="{FF2B5EF4-FFF2-40B4-BE49-F238E27FC236}">
                  <a16:creationId xmlns:a16="http://schemas.microsoft.com/office/drawing/2014/main" id="{333A7521-4272-4512-92B9-86FE38B04D9D}"/>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9" name="stage-1-grid-2-0">
              <a:extLst>
                <a:ext uri="{FF2B5EF4-FFF2-40B4-BE49-F238E27FC236}">
                  <a16:creationId xmlns:a16="http://schemas.microsoft.com/office/drawing/2014/main" id="{3B13ACA6-4079-49E6-836C-427A71358404}"/>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0" name="stage-1-grid-2-1">
              <a:extLst>
                <a:ext uri="{FF2B5EF4-FFF2-40B4-BE49-F238E27FC236}">
                  <a16:creationId xmlns:a16="http://schemas.microsoft.com/office/drawing/2014/main" id="{3D7E8EC1-7CC4-4537-837D-EBCAD7EB485F}"/>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1" name="stage-1-grid-2-2">
              <a:extLst>
                <a:ext uri="{FF2B5EF4-FFF2-40B4-BE49-F238E27FC236}">
                  <a16:creationId xmlns:a16="http://schemas.microsoft.com/office/drawing/2014/main" id="{C1232CF8-308A-42CC-88D7-EDD1A30BA001}"/>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2" name="stage-1-grid-3-0">
              <a:extLst>
                <a:ext uri="{FF2B5EF4-FFF2-40B4-BE49-F238E27FC236}">
                  <a16:creationId xmlns:a16="http://schemas.microsoft.com/office/drawing/2014/main" id="{0957D6C7-C1DE-4A53-8927-F1FBC063D5DF}"/>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3" name="stage-1-grid-3-1">
              <a:extLst>
                <a:ext uri="{FF2B5EF4-FFF2-40B4-BE49-F238E27FC236}">
                  <a16:creationId xmlns:a16="http://schemas.microsoft.com/office/drawing/2014/main" id="{31C17665-2D0C-48CD-AD50-1EA268F07663}"/>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4" name="stage-1-grid-3-2">
              <a:extLst>
                <a:ext uri="{FF2B5EF4-FFF2-40B4-BE49-F238E27FC236}">
                  <a16:creationId xmlns:a16="http://schemas.microsoft.com/office/drawing/2014/main" id="{4E728CCB-37C4-4495-81AA-CD36F5C4A7BC}"/>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85" name="stage-1-grid-4-0">
              <a:extLst>
                <a:ext uri="{FF2B5EF4-FFF2-40B4-BE49-F238E27FC236}">
                  <a16:creationId xmlns:a16="http://schemas.microsoft.com/office/drawing/2014/main" id="{19A39998-3043-479D-AFEE-A80BC0DB984F}"/>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86" name="stage-1-grid-4-1">
              <a:extLst>
                <a:ext uri="{FF2B5EF4-FFF2-40B4-BE49-F238E27FC236}">
                  <a16:creationId xmlns:a16="http://schemas.microsoft.com/office/drawing/2014/main" id="{A7E6E349-997A-4678-BD34-6F25058401BF}"/>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87" name="stage-1-grid-4-2">
              <a:extLst>
                <a:ext uri="{FF2B5EF4-FFF2-40B4-BE49-F238E27FC236}">
                  <a16:creationId xmlns:a16="http://schemas.microsoft.com/office/drawing/2014/main" id="{09BBC622-6679-434D-A702-1762824AFA15}"/>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88" name="stage-1-grid-5-0">
              <a:extLst>
                <a:ext uri="{FF2B5EF4-FFF2-40B4-BE49-F238E27FC236}">
                  <a16:creationId xmlns:a16="http://schemas.microsoft.com/office/drawing/2014/main" id="{158EBA78-B22F-4618-8F80-31CAB27C633D}"/>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89" name="stage-1-grid-5-1">
              <a:extLst>
                <a:ext uri="{FF2B5EF4-FFF2-40B4-BE49-F238E27FC236}">
                  <a16:creationId xmlns:a16="http://schemas.microsoft.com/office/drawing/2014/main" id="{4B71A490-D13E-4C28-8605-3D755B1C8532}"/>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90" name="stage-1-grid-5-2">
              <a:extLst>
                <a:ext uri="{FF2B5EF4-FFF2-40B4-BE49-F238E27FC236}">
                  <a16:creationId xmlns:a16="http://schemas.microsoft.com/office/drawing/2014/main" id="{0A8FF827-732C-4788-8869-E0D08F97ACD6}"/>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91" name="stage-1-grid-6-0">
              <a:extLst>
                <a:ext uri="{FF2B5EF4-FFF2-40B4-BE49-F238E27FC236}">
                  <a16:creationId xmlns:a16="http://schemas.microsoft.com/office/drawing/2014/main" id="{DF8A6E8D-10E7-4006-B9F5-7A43FB085C47}"/>
                </a:ext>
              </a:extLst>
            </p:cNvPr>
            <p:cNvSpPr/>
            <p:nvPr/>
          </p:nvSpPr>
          <p:spPr>
            <a:xfrm>
              <a:off x="8915400"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92" name="stage-1-grid-6-1">
              <a:extLst>
                <a:ext uri="{FF2B5EF4-FFF2-40B4-BE49-F238E27FC236}">
                  <a16:creationId xmlns:a16="http://schemas.microsoft.com/office/drawing/2014/main" id="{B8E955C8-17B2-4485-A339-CC157BA29B56}"/>
                </a:ext>
              </a:extLst>
            </p:cNvPr>
            <p:cNvSpPr/>
            <p:nvPr/>
          </p:nvSpPr>
          <p:spPr>
            <a:xfrm>
              <a:off x="9774767"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93" name="stage-1-grid-6-2">
              <a:extLst>
                <a:ext uri="{FF2B5EF4-FFF2-40B4-BE49-F238E27FC236}">
                  <a16:creationId xmlns:a16="http://schemas.microsoft.com/office/drawing/2014/main" id="{A71A09CA-0695-41F8-ACA7-872C9D09394A}"/>
                </a:ext>
              </a:extLst>
            </p:cNvPr>
            <p:cNvSpPr/>
            <p:nvPr/>
          </p:nvSpPr>
          <p:spPr>
            <a:xfrm>
              <a:off x="10634133"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94" name="stage-1-grid-7-0">
              <a:extLst>
                <a:ext uri="{FF2B5EF4-FFF2-40B4-BE49-F238E27FC236}">
                  <a16:creationId xmlns:a16="http://schemas.microsoft.com/office/drawing/2014/main" id="{63CB74B7-286D-455E-AA2B-B7C378A44A9E}"/>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95" name="stage-1-grid-7-1">
              <a:extLst>
                <a:ext uri="{FF2B5EF4-FFF2-40B4-BE49-F238E27FC236}">
                  <a16:creationId xmlns:a16="http://schemas.microsoft.com/office/drawing/2014/main" id="{189B6A0B-AB17-4A1F-B8EA-F5B6FA6173F2}"/>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96" name="stage-1-grid-7-2">
              <a:extLst>
                <a:ext uri="{FF2B5EF4-FFF2-40B4-BE49-F238E27FC236}">
                  <a16:creationId xmlns:a16="http://schemas.microsoft.com/office/drawing/2014/main" id="{AC5F8E20-482B-4B00-9C6B-6128B692915C}"/>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97" name="stage-1-grid-8-0">
              <a:extLst>
                <a:ext uri="{FF2B5EF4-FFF2-40B4-BE49-F238E27FC236}">
                  <a16:creationId xmlns:a16="http://schemas.microsoft.com/office/drawing/2014/main" id="{DB13F448-26B3-4551-A6AC-18D115D93E65}"/>
                </a:ext>
              </a:extLst>
            </p:cNvPr>
            <p:cNvSpPr/>
            <p:nvPr/>
          </p:nvSpPr>
          <p:spPr>
            <a:xfrm>
              <a:off x="8915400"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8" name="stage-1-grid-8-1">
              <a:extLst>
                <a:ext uri="{FF2B5EF4-FFF2-40B4-BE49-F238E27FC236}">
                  <a16:creationId xmlns:a16="http://schemas.microsoft.com/office/drawing/2014/main" id="{3650C5BB-DE59-4C28-8B6B-B24CF95C3F0A}"/>
                </a:ext>
              </a:extLst>
            </p:cNvPr>
            <p:cNvSpPr/>
            <p:nvPr/>
          </p:nvSpPr>
          <p:spPr>
            <a:xfrm>
              <a:off x="9774767"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9" name="stage-1-grid-8-2">
              <a:extLst>
                <a:ext uri="{FF2B5EF4-FFF2-40B4-BE49-F238E27FC236}">
                  <a16:creationId xmlns:a16="http://schemas.microsoft.com/office/drawing/2014/main" id="{0957B977-902D-4A99-BF4D-8C877C92704B}"/>
                </a:ext>
              </a:extLst>
            </p:cNvPr>
            <p:cNvSpPr/>
            <p:nvPr/>
          </p:nvSpPr>
          <p:spPr>
            <a:xfrm>
              <a:off x="10634133" y="51943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00" name="stage-1-tarjan-stack">
              <a:extLst>
                <a:ext uri="{FF2B5EF4-FFF2-40B4-BE49-F238E27FC236}">
                  <a16:creationId xmlns:a16="http://schemas.microsoft.com/office/drawing/2014/main" id="{2A209ACA-EC45-4114-8E68-C0BA689CD98F}"/>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101" name="stage-1-tarjan-caption">
              <a:extLst>
                <a:ext uri="{FF2B5EF4-FFF2-40B4-BE49-F238E27FC236}">
                  <a16:creationId xmlns:a16="http://schemas.microsoft.com/office/drawing/2014/main" id="{9F4DEED9-588B-454A-8D8C-F3E3C9D088F6}"/>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8 → 6, вершина 6 в стеке: low[8] = min(8, 6) = 6.</a:t>
              </a:r>
            </a:p>
          </p:txBody>
        </p:sp>
        <p:cxnSp>
          <p:nvCxnSpPr>
            <p:cNvPr id="102" name="stage-1-edge-highlight">
              <a:extLst>
                <a:ext uri="{FF2B5EF4-FFF2-40B4-BE49-F238E27FC236}">
                  <a16:creationId xmlns:a16="http://schemas.microsoft.com/office/drawing/2014/main" id="{2C508CA6-9147-4424-9555-10C8B04A24B8}"/>
                </a:ext>
              </a:extLst>
            </p:cNvPr>
            <p:cNvCxnSpPr/>
            <p:nvPr/>
          </p:nvCxnSpPr>
          <p:spPr>
            <a:xfrm flipH="1" flipV="1">
              <a:off x="6845569" y="2612364"/>
              <a:ext cx="977362" cy="1442772"/>
            </a:xfrm>
            <a:prstGeom prst="straightConnector1">
              <a:avLst/>
            </a:prstGeom>
            <a:ln w="3810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grpSp>
      <p:grpSp>
        <p:nvGrpSpPr>
          <p:cNvPr id="145" name="tarjan-stage-2">
            <a:extLst>
              <a:ext uri="{FF2B5EF4-FFF2-40B4-BE49-F238E27FC236}">
                <a16:creationId xmlns:a16="http://schemas.microsoft.com/office/drawing/2014/main" id="{364F9EF2-2828-44A8-AA9C-C7AD7808A576}"/>
              </a:ext>
            </a:extLst>
          </p:cNvPr>
          <p:cNvGrpSpPr/>
          <p:nvPr/>
        </p:nvGrpSpPr>
        <p:grpSpPr>
          <a:xfrm>
            <a:off x="508000" y="1511300"/>
            <a:ext cx="11201400" cy="4152900"/>
            <a:chOff x="508000" y="1511300"/>
            <a:chExt cx="11201400" cy="4152900"/>
          </a:xfrm>
        </p:grpSpPr>
        <p:sp>
          <p:nvSpPr>
            <p:cNvPr id="104" name="stage-2-!!g-node-1">
              <a:extLst>
                <a:ext uri="{FF2B5EF4-FFF2-40B4-BE49-F238E27FC236}">
                  <a16:creationId xmlns:a16="http://schemas.microsoft.com/office/drawing/2014/main" id="{7A80EAE1-19AC-4223-84CE-1A6436F42BCB}"/>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05" name="stage-2-!!g-node-2">
              <a:extLst>
                <a:ext uri="{FF2B5EF4-FFF2-40B4-BE49-F238E27FC236}">
                  <a16:creationId xmlns:a16="http://schemas.microsoft.com/office/drawing/2014/main" id="{AD206A8A-554D-499F-98E5-41EC3092E248}"/>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06" name="stage-2-!!g-node-3">
              <a:extLst>
                <a:ext uri="{FF2B5EF4-FFF2-40B4-BE49-F238E27FC236}">
                  <a16:creationId xmlns:a16="http://schemas.microsoft.com/office/drawing/2014/main" id="{34A1576A-93A6-48B9-BF24-63393A16139F}"/>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7" name="stage-2-!!g-node-4">
              <a:extLst>
                <a:ext uri="{FF2B5EF4-FFF2-40B4-BE49-F238E27FC236}">
                  <a16:creationId xmlns:a16="http://schemas.microsoft.com/office/drawing/2014/main" id="{3715A302-ADC7-4FF2-9287-DE68DBCFCFAD}"/>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08" name="stage-2-!!g-node-5">
              <a:extLst>
                <a:ext uri="{FF2B5EF4-FFF2-40B4-BE49-F238E27FC236}">
                  <a16:creationId xmlns:a16="http://schemas.microsoft.com/office/drawing/2014/main" id="{5B333977-1E81-418F-85B2-6CF2A8603FAF}"/>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09" name="stage-2-!!g-node-6">
              <a:extLst>
                <a:ext uri="{FF2B5EF4-FFF2-40B4-BE49-F238E27FC236}">
                  <a16:creationId xmlns:a16="http://schemas.microsoft.com/office/drawing/2014/main" id="{E197FE8F-CDA7-4269-B178-6126FB270354}"/>
                </a:ext>
              </a:extLst>
            </p:cNvPr>
            <p:cNvSpPr/>
            <p:nvPr/>
          </p:nvSpPr>
          <p:spPr>
            <a:xfrm>
              <a:off x="63500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10" name="stage-2-!!g-node-7">
              <a:extLst>
                <a:ext uri="{FF2B5EF4-FFF2-40B4-BE49-F238E27FC236}">
                  <a16:creationId xmlns:a16="http://schemas.microsoft.com/office/drawing/2014/main" id="{38E8C34F-7209-4FA1-9A85-1B746A9B9CD0}"/>
                </a:ext>
              </a:extLst>
            </p:cNvPr>
            <p:cNvSpPr/>
            <p:nvPr/>
          </p:nvSpPr>
          <p:spPr>
            <a:xfrm>
              <a:off x="5905500" y="4000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11" name="stage-2-!!g-node-8">
              <a:extLst>
                <a:ext uri="{FF2B5EF4-FFF2-40B4-BE49-F238E27FC236}">
                  <a16:creationId xmlns:a16="http://schemas.microsoft.com/office/drawing/2014/main" id="{D03E5673-7169-4EF0-A5E2-7CE6453A49E5}"/>
                </a:ext>
              </a:extLst>
            </p:cNvPr>
            <p:cNvSpPr/>
            <p:nvPr/>
          </p:nvSpPr>
          <p:spPr>
            <a:xfrm>
              <a:off x="7683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12" name="stage-2-box-21-697">
              <a:extLst>
                <a:ext uri="{FF2B5EF4-FFF2-40B4-BE49-F238E27FC236}">
                  <a16:creationId xmlns:a16="http://schemas.microsoft.com/office/drawing/2014/main" id="{82601EE2-3852-4151-8904-BA205E720B14}"/>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stage-2-box-22-698">
              <a:extLst>
                <a:ext uri="{FF2B5EF4-FFF2-40B4-BE49-F238E27FC236}">
                  <a16:creationId xmlns:a16="http://schemas.microsoft.com/office/drawing/2014/main" id="{8F4F04B3-9391-4AF0-9F89-0B163C8E67A0}"/>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4" name="stage-2-text-23-699">
              <a:extLst>
                <a:ext uri="{FF2B5EF4-FFF2-40B4-BE49-F238E27FC236}">
                  <a16:creationId xmlns:a16="http://schemas.microsoft.com/office/drawing/2014/main" id="{05FCEEEE-C43D-41C3-91D9-B9210DE90A1E}"/>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Обновляем </a:t>
              </a:r>
              <a:r>
                <a:rPr lang="en-US" sz="2100">
                  <a:solidFill>
                    <a:srgbClr val="FFFFFF"/>
                  </a:solidFill>
                  <a:latin typeface="Montserrat"/>
                </a:rPr>
                <a:t>low[7]</a:t>
              </a:r>
              <a:endParaRPr lang="ru-RU" sz="2100">
                <a:solidFill>
                  <a:srgbClr val="FFFFFF"/>
                </a:solidFill>
                <a:latin typeface="Montserrat"/>
              </a:endParaRPr>
            </a:p>
          </p:txBody>
        </p:sp>
        <p:sp>
          <p:nvSpPr>
            <p:cNvPr id="115" name="stage-2-grid-0-0">
              <a:extLst>
                <a:ext uri="{FF2B5EF4-FFF2-40B4-BE49-F238E27FC236}">
                  <a16:creationId xmlns:a16="http://schemas.microsoft.com/office/drawing/2014/main" id="{8D3CA00A-92D1-42C9-87B3-98265B47BE57}"/>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16" name="stage-2-grid-0-1">
              <a:extLst>
                <a:ext uri="{FF2B5EF4-FFF2-40B4-BE49-F238E27FC236}">
                  <a16:creationId xmlns:a16="http://schemas.microsoft.com/office/drawing/2014/main" id="{6D693534-373D-42E0-A7F3-CFB81D202E42}"/>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17" name="stage-2-grid-0-2">
              <a:extLst>
                <a:ext uri="{FF2B5EF4-FFF2-40B4-BE49-F238E27FC236}">
                  <a16:creationId xmlns:a16="http://schemas.microsoft.com/office/drawing/2014/main" id="{29371FE3-F390-431D-B1F5-1C903A3409B1}"/>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18" name="stage-2-grid-1-0">
              <a:extLst>
                <a:ext uri="{FF2B5EF4-FFF2-40B4-BE49-F238E27FC236}">
                  <a16:creationId xmlns:a16="http://schemas.microsoft.com/office/drawing/2014/main" id="{7C3C6335-EABB-4B4D-8855-E7AD29F947CB}"/>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19" name="stage-2-grid-1-1">
              <a:extLst>
                <a:ext uri="{FF2B5EF4-FFF2-40B4-BE49-F238E27FC236}">
                  <a16:creationId xmlns:a16="http://schemas.microsoft.com/office/drawing/2014/main" id="{2339ECD8-086A-42C1-AA18-1FA69C4BBAAD}"/>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0" name="stage-2-grid-1-2">
              <a:extLst>
                <a:ext uri="{FF2B5EF4-FFF2-40B4-BE49-F238E27FC236}">
                  <a16:creationId xmlns:a16="http://schemas.microsoft.com/office/drawing/2014/main" id="{F40ED72E-8270-4D44-9E28-54DE0851F5E1}"/>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1" name="stage-2-grid-2-0">
              <a:extLst>
                <a:ext uri="{FF2B5EF4-FFF2-40B4-BE49-F238E27FC236}">
                  <a16:creationId xmlns:a16="http://schemas.microsoft.com/office/drawing/2014/main" id="{CDAA26FE-8050-47A1-8D43-EC149C4D731D}"/>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2" name="stage-2-grid-2-1">
              <a:extLst>
                <a:ext uri="{FF2B5EF4-FFF2-40B4-BE49-F238E27FC236}">
                  <a16:creationId xmlns:a16="http://schemas.microsoft.com/office/drawing/2014/main" id="{364CE5E9-9C79-46F3-931B-EED857E5B22C}"/>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3" name="stage-2-grid-2-2">
              <a:extLst>
                <a:ext uri="{FF2B5EF4-FFF2-40B4-BE49-F238E27FC236}">
                  <a16:creationId xmlns:a16="http://schemas.microsoft.com/office/drawing/2014/main" id="{D537F3B9-FC20-49F9-AFA5-1B3992EFCB83}"/>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4" name="stage-2-grid-3-0">
              <a:extLst>
                <a:ext uri="{FF2B5EF4-FFF2-40B4-BE49-F238E27FC236}">
                  <a16:creationId xmlns:a16="http://schemas.microsoft.com/office/drawing/2014/main" id="{C7ABFC5D-3F3A-48F9-883B-D19400FE524B}"/>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5" name="stage-2-grid-3-1">
              <a:extLst>
                <a:ext uri="{FF2B5EF4-FFF2-40B4-BE49-F238E27FC236}">
                  <a16:creationId xmlns:a16="http://schemas.microsoft.com/office/drawing/2014/main" id="{2107C0D7-9E56-4725-A05F-B1E127877AA7}"/>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6" name="stage-2-grid-3-2">
              <a:extLst>
                <a:ext uri="{FF2B5EF4-FFF2-40B4-BE49-F238E27FC236}">
                  <a16:creationId xmlns:a16="http://schemas.microsoft.com/office/drawing/2014/main" id="{4C16FA0A-F4F7-4B69-A579-14C5E74004F7}"/>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7" name="stage-2-grid-4-0">
              <a:extLst>
                <a:ext uri="{FF2B5EF4-FFF2-40B4-BE49-F238E27FC236}">
                  <a16:creationId xmlns:a16="http://schemas.microsoft.com/office/drawing/2014/main" id="{30022A58-B0D2-4DCE-AC09-481B2BC4C061}"/>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28" name="stage-2-grid-4-1">
              <a:extLst>
                <a:ext uri="{FF2B5EF4-FFF2-40B4-BE49-F238E27FC236}">
                  <a16:creationId xmlns:a16="http://schemas.microsoft.com/office/drawing/2014/main" id="{EE7217FD-E962-42BA-A756-0988B65486C3}"/>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29" name="stage-2-grid-4-2">
              <a:extLst>
                <a:ext uri="{FF2B5EF4-FFF2-40B4-BE49-F238E27FC236}">
                  <a16:creationId xmlns:a16="http://schemas.microsoft.com/office/drawing/2014/main" id="{9C2888D8-8350-4B1D-B792-7003ADA21958}"/>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30" name="stage-2-grid-5-0">
              <a:extLst>
                <a:ext uri="{FF2B5EF4-FFF2-40B4-BE49-F238E27FC236}">
                  <a16:creationId xmlns:a16="http://schemas.microsoft.com/office/drawing/2014/main" id="{4FCF6B48-7180-4D77-95BD-3A0E51B76297}"/>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31" name="stage-2-grid-5-1">
              <a:extLst>
                <a:ext uri="{FF2B5EF4-FFF2-40B4-BE49-F238E27FC236}">
                  <a16:creationId xmlns:a16="http://schemas.microsoft.com/office/drawing/2014/main" id="{563B5ABD-92E4-4E3D-990B-608DBAD44AC5}"/>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32" name="stage-2-grid-5-2">
              <a:extLst>
                <a:ext uri="{FF2B5EF4-FFF2-40B4-BE49-F238E27FC236}">
                  <a16:creationId xmlns:a16="http://schemas.microsoft.com/office/drawing/2014/main" id="{3D16A72B-05B7-4F2B-A85F-B6F94C8B5C45}"/>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33" name="stage-2-grid-6-0">
              <a:extLst>
                <a:ext uri="{FF2B5EF4-FFF2-40B4-BE49-F238E27FC236}">
                  <a16:creationId xmlns:a16="http://schemas.microsoft.com/office/drawing/2014/main" id="{2E2C8B0E-06D5-42EF-9BA1-F568C7BBF2F7}"/>
                </a:ext>
              </a:extLst>
            </p:cNvPr>
            <p:cNvSpPr/>
            <p:nvPr/>
          </p:nvSpPr>
          <p:spPr>
            <a:xfrm>
              <a:off x="8915400"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34" name="stage-2-grid-6-1">
              <a:extLst>
                <a:ext uri="{FF2B5EF4-FFF2-40B4-BE49-F238E27FC236}">
                  <a16:creationId xmlns:a16="http://schemas.microsoft.com/office/drawing/2014/main" id="{6E2FAB00-0B10-4735-BAB2-D1857326C320}"/>
                </a:ext>
              </a:extLst>
            </p:cNvPr>
            <p:cNvSpPr/>
            <p:nvPr/>
          </p:nvSpPr>
          <p:spPr>
            <a:xfrm>
              <a:off x="9774767"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35" name="stage-2-grid-6-2">
              <a:extLst>
                <a:ext uri="{FF2B5EF4-FFF2-40B4-BE49-F238E27FC236}">
                  <a16:creationId xmlns:a16="http://schemas.microsoft.com/office/drawing/2014/main" id="{3DE9DECF-6902-43AD-912B-EA6ED572A842}"/>
                </a:ext>
              </a:extLst>
            </p:cNvPr>
            <p:cNvSpPr/>
            <p:nvPr/>
          </p:nvSpPr>
          <p:spPr>
            <a:xfrm>
              <a:off x="10634133" y="45085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36" name="stage-2-grid-7-0">
              <a:extLst>
                <a:ext uri="{FF2B5EF4-FFF2-40B4-BE49-F238E27FC236}">
                  <a16:creationId xmlns:a16="http://schemas.microsoft.com/office/drawing/2014/main" id="{8E123C2F-2C40-41AB-A8B2-EA7DCADE1D70}"/>
                </a:ext>
              </a:extLst>
            </p:cNvPr>
            <p:cNvSpPr/>
            <p:nvPr/>
          </p:nvSpPr>
          <p:spPr>
            <a:xfrm>
              <a:off x="8915400" y="48514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7" name="stage-2-grid-7-1">
              <a:extLst>
                <a:ext uri="{FF2B5EF4-FFF2-40B4-BE49-F238E27FC236}">
                  <a16:creationId xmlns:a16="http://schemas.microsoft.com/office/drawing/2014/main" id="{818D036B-930B-4381-819D-E8ACB5390ED5}"/>
                </a:ext>
              </a:extLst>
            </p:cNvPr>
            <p:cNvSpPr/>
            <p:nvPr/>
          </p:nvSpPr>
          <p:spPr>
            <a:xfrm>
              <a:off x="9774767" y="48514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8" name="stage-2-grid-7-2">
              <a:extLst>
                <a:ext uri="{FF2B5EF4-FFF2-40B4-BE49-F238E27FC236}">
                  <a16:creationId xmlns:a16="http://schemas.microsoft.com/office/drawing/2014/main" id="{68A5682D-0A41-454C-9D02-0577A0F4E67C}"/>
                </a:ext>
              </a:extLst>
            </p:cNvPr>
            <p:cNvSpPr/>
            <p:nvPr/>
          </p:nvSpPr>
          <p:spPr>
            <a:xfrm>
              <a:off x="10634133" y="48514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9" name="stage-2-grid-8-0">
              <a:extLst>
                <a:ext uri="{FF2B5EF4-FFF2-40B4-BE49-F238E27FC236}">
                  <a16:creationId xmlns:a16="http://schemas.microsoft.com/office/drawing/2014/main" id="{E95CFE99-2304-4F01-A5E6-096A999415A9}"/>
                </a:ext>
              </a:extLst>
            </p:cNvPr>
            <p:cNvSpPr/>
            <p:nvPr/>
          </p:nvSpPr>
          <p:spPr>
            <a:xfrm>
              <a:off x="8915400"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40" name="stage-2-grid-8-1">
              <a:extLst>
                <a:ext uri="{FF2B5EF4-FFF2-40B4-BE49-F238E27FC236}">
                  <a16:creationId xmlns:a16="http://schemas.microsoft.com/office/drawing/2014/main" id="{37922DA8-5891-4046-9EDD-F9B2548C6E4B}"/>
                </a:ext>
              </a:extLst>
            </p:cNvPr>
            <p:cNvSpPr/>
            <p:nvPr/>
          </p:nvSpPr>
          <p:spPr>
            <a:xfrm>
              <a:off x="9774767"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41" name="stage-2-grid-8-2">
              <a:extLst>
                <a:ext uri="{FF2B5EF4-FFF2-40B4-BE49-F238E27FC236}">
                  <a16:creationId xmlns:a16="http://schemas.microsoft.com/office/drawing/2014/main" id="{D479C508-B314-48C5-B461-AC2142BE90B5}"/>
                </a:ext>
              </a:extLst>
            </p:cNvPr>
            <p:cNvSpPr/>
            <p:nvPr/>
          </p:nvSpPr>
          <p:spPr>
            <a:xfrm>
              <a:off x="10634133"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42" name="stage-2-tarjan-stack">
              <a:extLst>
                <a:ext uri="{FF2B5EF4-FFF2-40B4-BE49-F238E27FC236}">
                  <a16:creationId xmlns:a16="http://schemas.microsoft.com/office/drawing/2014/main" id="{7FAC752E-C73B-4CC6-8196-260909597CF2}"/>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143" name="stage-2-tarjan-caption">
              <a:extLst>
                <a:ext uri="{FF2B5EF4-FFF2-40B4-BE49-F238E27FC236}">
                  <a16:creationId xmlns:a16="http://schemas.microsoft.com/office/drawing/2014/main" id="{2BFFF149-5F7E-4AA9-B012-5A6373122B41}"/>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Возврат из 8: low[7] = min(7, low[8]) = 6.</a:t>
              </a:r>
            </a:p>
          </p:txBody>
        </p:sp>
        <p:cxnSp>
          <p:nvCxnSpPr>
            <p:cNvPr id="144" name="stage-2-edge-highlight">
              <a:extLst>
                <a:ext uri="{FF2B5EF4-FFF2-40B4-BE49-F238E27FC236}">
                  <a16:creationId xmlns:a16="http://schemas.microsoft.com/office/drawing/2014/main" id="{48CB7A54-3DEB-4812-80BE-1691B7796C03}"/>
                </a:ext>
              </a:extLst>
            </p:cNvPr>
            <p:cNvCxnSpPr/>
            <p:nvPr/>
          </p:nvCxnSpPr>
          <p:spPr>
            <a:xfrm flipH="1" flipV="1">
              <a:off x="6845569" y="2612364"/>
              <a:ext cx="977362" cy="1442772"/>
            </a:xfrm>
            <a:prstGeom prst="straightConnector1">
              <a:avLst/>
            </a:prstGeom>
            <a:ln w="3810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grpSp>
      <p:grpSp>
        <p:nvGrpSpPr>
          <p:cNvPr id="187" name="tarjan-stage-4">
            <a:extLst>
              <a:ext uri="{FF2B5EF4-FFF2-40B4-BE49-F238E27FC236}">
                <a16:creationId xmlns:a16="http://schemas.microsoft.com/office/drawing/2014/main" id="{A0080C46-99D5-46B2-BEAF-B3F456EA01BB}"/>
              </a:ext>
            </a:extLst>
          </p:cNvPr>
          <p:cNvGrpSpPr/>
          <p:nvPr/>
        </p:nvGrpSpPr>
        <p:grpSpPr>
          <a:xfrm>
            <a:off x="508000" y="1511300"/>
            <a:ext cx="11201400" cy="4152900"/>
            <a:chOff x="508000" y="1511300"/>
            <a:chExt cx="11201400" cy="4152900"/>
          </a:xfrm>
        </p:grpSpPr>
        <p:sp>
          <p:nvSpPr>
            <p:cNvPr id="146" name="stage-4-!!g-node-1">
              <a:extLst>
                <a:ext uri="{FF2B5EF4-FFF2-40B4-BE49-F238E27FC236}">
                  <a16:creationId xmlns:a16="http://schemas.microsoft.com/office/drawing/2014/main" id="{62363625-3272-449B-8115-F895D509A382}"/>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47" name="stage-4-!!g-node-2">
              <a:extLst>
                <a:ext uri="{FF2B5EF4-FFF2-40B4-BE49-F238E27FC236}">
                  <a16:creationId xmlns:a16="http://schemas.microsoft.com/office/drawing/2014/main" id="{C367D633-7D55-4D84-829E-4D2A0A942EA2}"/>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48" name="stage-4-!!g-node-3">
              <a:extLst>
                <a:ext uri="{FF2B5EF4-FFF2-40B4-BE49-F238E27FC236}">
                  <a16:creationId xmlns:a16="http://schemas.microsoft.com/office/drawing/2014/main" id="{70583F6E-23CC-4BAA-A471-25A5420267C8}"/>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9" name="stage-4-!!g-node-4">
              <a:extLst>
                <a:ext uri="{FF2B5EF4-FFF2-40B4-BE49-F238E27FC236}">
                  <a16:creationId xmlns:a16="http://schemas.microsoft.com/office/drawing/2014/main" id="{A9670D36-5782-49C5-8A63-24AC9D61A5DD}"/>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0" name="stage-4-!!g-node-5">
              <a:extLst>
                <a:ext uri="{FF2B5EF4-FFF2-40B4-BE49-F238E27FC236}">
                  <a16:creationId xmlns:a16="http://schemas.microsoft.com/office/drawing/2014/main" id="{79BCC383-CF4E-4572-AE9C-43868FD39CBF}"/>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51" name="stage-4-!!g-node-6">
              <a:extLst>
                <a:ext uri="{FF2B5EF4-FFF2-40B4-BE49-F238E27FC236}">
                  <a16:creationId xmlns:a16="http://schemas.microsoft.com/office/drawing/2014/main" id="{0D337D30-D4F7-47EE-A28E-284E94BA8F0E}"/>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52" name="stage-4-!!g-node-7">
              <a:extLst>
                <a:ext uri="{FF2B5EF4-FFF2-40B4-BE49-F238E27FC236}">
                  <a16:creationId xmlns:a16="http://schemas.microsoft.com/office/drawing/2014/main" id="{B853BE5D-FFE5-49B2-8128-868E163B8217}"/>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153" name="stage-4-!!g-node-8">
              <a:extLst>
                <a:ext uri="{FF2B5EF4-FFF2-40B4-BE49-F238E27FC236}">
                  <a16:creationId xmlns:a16="http://schemas.microsoft.com/office/drawing/2014/main" id="{1A64884B-2D4C-417E-AD05-C58CCA5D45C0}"/>
                </a:ext>
              </a:extLst>
            </p:cNvPr>
            <p:cNvSpPr/>
            <p:nvPr/>
          </p:nvSpPr>
          <p:spPr>
            <a:xfrm>
              <a:off x="7683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154" name="stage-4-box-21-697">
              <a:extLst>
                <a:ext uri="{FF2B5EF4-FFF2-40B4-BE49-F238E27FC236}">
                  <a16:creationId xmlns:a16="http://schemas.microsoft.com/office/drawing/2014/main" id="{76FC598D-2C3A-4A76-8EBA-6232564594C8}"/>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5" name="stage-4-box-22-698">
              <a:extLst>
                <a:ext uri="{FF2B5EF4-FFF2-40B4-BE49-F238E27FC236}">
                  <a16:creationId xmlns:a16="http://schemas.microsoft.com/office/drawing/2014/main" id="{67E9E2F7-5C64-40BE-9AB0-E9068A1AA4FC}"/>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6" name="stage-4-text-23-699">
              <a:extLst>
                <a:ext uri="{FF2B5EF4-FFF2-40B4-BE49-F238E27FC236}">
                  <a16:creationId xmlns:a16="http://schemas.microsoft.com/office/drawing/2014/main" id="{80F11E4A-010F-4E30-9765-E61A5371CCB0}"/>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Обновляем </a:t>
              </a:r>
              <a:r>
                <a:rPr lang="en-US" sz="2100">
                  <a:solidFill>
                    <a:srgbClr val="FFFFFF"/>
                  </a:solidFill>
                  <a:latin typeface="Montserrat"/>
                </a:rPr>
                <a:t>low[6]</a:t>
              </a:r>
              <a:endParaRPr lang="ru-RU" sz="2100">
                <a:solidFill>
                  <a:srgbClr val="FFFFFF"/>
                </a:solidFill>
                <a:latin typeface="Montserrat"/>
              </a:endParaRPr>
            </a:p>
          </p:txBody>
        </p:sp>
        <p:sp>
          <p:nvSpPr>
            <p:cNvPr id="157" name="stage-4-grid-0-0">
              <a:extLst>
                <a:ext uri="{FF2B5EF4-FFF2-40B4-BE49-F238E27FC236}">
                  <a16:creationId xmlns:a16="http://schemas.microsoft.com/office/drawing/2014/main" id="{7789FBFD-38ED-4BBB-AB46-6FF57AB0F8F8}"/>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58" name="stage-4-grid-0-1">
              <a:extLst>
                <a:ext uri="{FF2B5EF4-FFF2-40B4-BE49-F238E27FC236}">
                  <a16:creationId xmlns:a16="http://schemas.microsoft.com/office/drawing/2014/main" id="{10EB2BA4-F7C9-409E-946C-953EE163346A}"/>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59" name="stage-4-grid-0-2">
              <a:extLst>
                <a:ext uri="{FF2B5EF4-FFF2-40B4-BE49-F238E27FC236}">
                  <a16:creationId xmlns:a16="http://schemas.microsoft.com/office/drawing/2014/main" id="{A3A7E595-B576-4955-AD4D-46A49C3951DB}"/>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60" name="stage-4-grid-1-0">
              <a:extLst>
                <a:ext uri="{FF2B5EF4-FFF2-40B4-BE49-F238E27FC236}">
                  <a16:creationId xmlns:a16="http://schemas.microsoft.com/office/drawing/2014/main" id="{0FC389D3-36E4-4BB5-9A51-705D0971F534}"/>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1" name="stage-4-grid-1-1">
              <a:extLst>
                <a:ext uri="{FF2B5EF4-FFF2-40B4-BE49-F238E27FC236}">
                  <a16:creationId xmlns:a16="http://schemas.microsoft.com/office/drawing/2014/main" id="{1E35C3F0-4B48-49E9-8B50-7D054C671618}"/>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2" name="stage-4-grid-1-2">
              <a:extLst>
                <a:ext uri="{FF2B5EF4-FFF2-40B4-BE49-F238E27FC236}">
                  <a16:creationId xmlns:a16="http://schemas.microsoft.com/office/drawing/2014/main" id="{3834486C-3CD0-438A-B3AA-2682B66DCCF5}"/>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3" name="stage-4-grid-2-0">
              <a:extLst>
                <a:ext uri="{FF2B5EF4-FFF2-40B4-BE49-F238E27FC236}">
                  <a16:creationId xmlns:a16="http://schemas.microsoft.com/office/drawing/2014/main" id="{841ABAA2-218C-41C3-99D7-9371D3D3DBDD}"/>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4" name="stage-4-grid-2-1">
              <a:extLst>
                <a:ext uri="{FF2B5EF4-FFF2-40B4-BE49-F238E27FC236}">
                  <a16:creationId xmlns:a16="http://schemas.microsoft.com/office/drawing/2014/main" id="{7C99EA85-B856-44B8-A583-45F7DE1FCF0B}"/>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5" name="stage-4-grid-2-2">
              <a:extLst>
                <a:ext uri="{FF2B5EF4-FFF2-40B4-BE49-F238E27FC236}">
                  <a16:creationId xmlns:a16="http://schemas.microsoft.com/office/drawing/2014/main" id="{01CD6EF3-CC07-4B4A-BE82-F61AF793E7EA}"/>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6" name="stage-4-grid-3-0">
              <a:extLst>
                <a:ext uri="{FF2B5EF4-FFF2-40B4-BE49-F238E27FC236}">
                  <a16:creationId xmlns:a16="http://schemas.microsoft.com/office/drawing/2014/main" id="{CC9A7F0E-71F1-480A-9E66-293818B76488}"/>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7" name="stage-4-grid-3-1">
              <a:extLst>
                <a:ext uri="{FF2B5EF4-FFF2-40B4-BE49-F238E27FC236}">
                  <a16:creationId xmlns:a16="http://schemas.microsoft.com/office/drawing/2014/main" id="{1C55CD33-5C4B-4417-B1FC-A1C4D6E63D71}"/>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8" name="stage-4-grid-3-2">
              <a:extLst>
                <a:ext uri="{FF2B5EF4-FFF2-40B4-BE49-F238E27FC236}">
                  <a16:creationId xmlns:a16="http://schemas.microsoft.com/office/drawing/2014/main" id="{9F8308B2-D4C0-4D8F-9758-F1F02B1A63DC}"/>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9" name="stage-4-grid-4-0">
              <a:extLst>
                <a:ext uri="{FF2B5EF4-FFF2-40B4-BE49-F238E27FC236}">
                  <a16:creationId xmlns:a16="http://schemas.microsoft.com/office/drawing/2014/main" id="{94C0E5E7-1828-4745-AD3E-17FA3B43B107}"/>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70" name="stage-4-grid-4-1">
              <a:extLst>
                <a:ext uri="{FF2B5EF4-FFF2-40B4-BE49-F238E27FC236}">
                  <a16:creationId xmlns:a16="http://schemas.microsoft.com/office/drawing/2014/main" id="{E4CCE499-571D-498C-962A-03233A83CA16}"/>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71" name="stage-4-grid-4-2">
              <a:extLst>
                <a:ext uri="{FF2B5EF4-FFF2-40B4-BE49-F238E27FC236}">
                  <a16:creationId xmlns:a16="http://schemas.microsoft.com/office/drawing/2014/main" id="{160F02A6-77DA-4AAE-ADDF-68A58B2FD7B7}"/>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72" name="stage-4-grid-5-0">
              <a:extLst>
                <a:ext uri="{FF2B5EF4-FFF2-40B4-BE49-F238E27FC236}">
                  <a16:creationId xmlns:a16="http://schemas.microsoft.com/office/drawing/2014/main" id="{4680907C-0739-44AB-98D8-1FBFC6EFBB39}"/>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73" name="stage-4-grid-5-1">
              <a:extLst>
                <a:ext uri="{FF2B5EF4-FFF2-40B4-BE49-F238E27FC236}">
                  <a16:creationId xmlns:a16="http://schemas.microsoft.com/office/drawing/2014/main" id="{505F8DC2-FDB1-40AF-829A-6B3191BDA209}"/>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74" name="stage-4-grid-5-2">
              <a:extLst>
                <a:ext uri="{FF2B5EF4-FFF2-40B4-BE49-F238E27FC236}">
                  <a16:creationId xmlns:a16="http://schemas.microsoft.com/office/drawing/2014/main" id="{52140B80-68CE-424A-80C6-AAB6CD09669C}"/>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75" name="stage-4-grid-6-0">
              <a:extLst>
                <a:ext uri="{FF2B5EF4-FFF2-40B4-BE49-F238E27FC236}">
                  <a16:creationId xmlns:a16="http://schemas.microsoft.com/office/drawing/2014/main" id="{C1AD23D1-5846-49EF-B5C6-E913610C7BAA}"/>
                </a:ext>
              </a:extLst>
            </p:cNvPr>
            <p:cNvSpPr/>
            <p:nvPr/>
          </p:nvSpPr>
          <p:spPr>
            <a:xfrm>
              <a:off x="8915400"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6" name="stage-4-grid-6-1">
              <a:extLst>
                <a:ext uri="{FF2B5EF4-FFF2-40B4-BE49-F238E27FC236}">
                  <a16:creationId xmlns:a16="http://schemas.microsoft.com/office/drawing/2014/main" id="{F3E4CF01-AC03-42E7-A396-D0E27AEF1EBE}"/>
                </a:ext>
              </a:extLst>
            </p:cNvPr>
            <p:cNvSpPr/>
            <p:nvPr/>
          </p:nvSpPr>
          <p:spPr>
            <a:xfrm>
              <a:off x="9774767"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7" name="stage-4-grid-6-2">
              <a:extLst>
                <a:ext uri="{FF2B5EF4-FFF2-40B4-BE49-F238E27FC236}">
                  <a16:creationId xmlns:a16="http://schemas.microsoft.com/office/drawing/2014/main" id="{70961AC6-E0E7-44A1-84FA-4352D2014D7E}"/>
                </a:ext>
              </a:extLst>
            </p:cNvPr>
            <p:cNvSpPr/>
            <p:nvPr/>
          </p:nvSpPr>
          <p:spPr>
            <a:xfrm>
              <a:off x="10634133"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8" name="stage-4-grid-7-0">
              <a:extLst>
                <a:ext uri="{FF2B5EF4-FFF2-40B4-BE49-F238E27FC236}">
                  <a16:creationId xmlns:a16="http://schemas.microsoft.com/office/drawing/2014/main" id="{382761EC-B8E7-4270-A98D-A802D512234C}"/>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179" name="stage-4-grid-7-1">
              <a:extLst>
                <a:ext uri="{FF2B5EF4-FFF2-40B4-BE49-F238E27FC236}">
                  <a16:creationId xmlns:a16="http://schemas.microsoft.com/office/drawing/2014/main" id="{A431B73C-16AE-4E0D-B712-A22D8635FFC1}"/>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180" name="stage-4-grid-7-2">
              <a:extLst>
                <a:ext uri="{FF2B5EF4-FFF2-40B4-BE49-F238E27FC236}">
                  <a16:creationId xmlns:a16="http://schemas.microsoft.com/office/drawing/2014/main" id="{9DB436CE-BF84-4D04-8529-F5B2B1CD2CBD}"/>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81" name="stage-4-grid-8-0">
              <a:extLst>
                <a:ext uri="{FF2B5EF4-FFF2-40B4-BE49-F238E27FC236}">
                  <a16:creationId xmlns:a16="http://schemas.microsoft.com/office/drawing/2014/main" id="{886E2911-527F-46FF-ADD3-8B36D215C104}"/>
                </a:ext>
              </a:extLst>
            </p:cNvPr>
            <p:cNvSpPr/>
            <p:nvPr/>
          </p:nvSpPr>
          <p:spPr>
            <a:xfrm>
              <a:off x="8915400"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82" name="stage-4-grid-8-1">
              <a:extLst>
                <a:ext uri="{FF2B5EF4-FFF2-40B4-BE49-F238E27FC236}">
                  <a16:creationId xmlns:a16="http://schemas.microsoft.com/office/drawing/2014/main" id="{74CB2EBA-0099-4E5B-BE43-15E0B214FF1F}"/>
                </a:ext>
              </a:extLst>
            </p:cNvPr>
            <p:cNvSpPr/>
            <p:nvPr/>
          </p:nvSpPr>
          <p:spPr>
            <a:xfrm>
              <a:off x="9774767"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183" name="stage-4-grid-8-2">
              <a:extLst>
                <a:ext uri="{FF2B5EF4-FFF2-40B4-BE49-F238E27FC236}">
                  <a16:creationId xmlns:a16="http://schemas.microsoft.com/office/drawing/2014/main" id="{27C7315F-82C7-4196-8775-5DD602DB26DB}"/>
                </a:ext>
              </a:extLst>
            </p:cNvPr>
            <p:cNvSpPr/>
            <p:nvPr/>
          </p:nvSpPr>
          <p:spPr>
            <a:xfrm>
              <a:off x="10634133"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184" name="stage-4-tarjan-stack">
              <a:extLst>
                <a:ext uri="{FF2B5EF4-FFF2-40B4-BE49-F238E27FC236}">
                  <a16:creationId xmlns:a16="http://schemas.microsoft.com/office/drawing/2014/main" id="{AC0F7958-9399-4AC0-BAED-AD0D48B5545E}"/>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185" name="stage-4-tarjan-caption">
              <a:extLst>
                <a:ext uri="{FF2B5EF4-FFF2-40B4-BE49-F238E27FC236}">
                  <a16:creationId xmlns:a16="http://schemas.microsoft.com/office/drawing/2014/main" id="{E297E823-1087-48D3-881A-51C1FD9D261D}"/>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Возврат из 7: low[6] = min(6, low[7]) = 6.</a:t>
              </a:r>
            </a:p>
          </p:txBody>
        </p:sp>
        <p:cxnSp>
          <p:nvCxnSpPr>
            <p:cNvPr id="186" name="stage-4-edge-highlight">
              <a:extLst>
                <a:ext uri="{FF2B5EF4-FFF2-40B4-BE49-F238E27FC236}">
                  <a16:creationId xmlns:a16="http://schemas.microsoft.com/office/drawing/2014/main" id="{41E3F482-915B-46CC-8BC8-D65244F9FC41}"/>
                </a:ext>
              </a:extLst>
            </p:cNvPr>
            <p:cNvCxnSpPr/>
            <p:nvPr/>
          </p:nvCxnSpPr>
          <p:spPr>
            <a:xfrm flipH="1" flipV="1">
              <a:off x="6845569" y="2612364"/>
              <a:ext cx="977362" cy="1442772"/>
            </a:xfrm>
            <a:prstGeom prst="straightConnector1">
              <a:avLst/>
            </a:prstGeom>
            <a:ln w="3810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7505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25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fade">
                                      <p:cBhvr>
                                        <p:cTn id="12" dur="250"/>
                                        <p:tgtEl>
                                          <p:spTgt spid="145"/>
                                        </p:tgtEl>
                                      </p:cBhvr>
                                    </p:animEffect>
                                  </p:childTnLst>
                                </p:cTn>
                              </p:par>
                              <p:par>
                                <p:cTn id="13" presetID="10" presetClass="exit" presetSubtype="0" fill="hold" nodeType="withEffect">
                                  <p:stCondLst>
                                    <p:cond delay="0"/>
                                  </p:stCondLst>
                                  <p:childTnLst>
                                    <p:animEffect transition="out" filter="fade">
                                      <p:cBhvr>
                                        <p:cTn id="14" dur="150"/>
                                        <p:tgtEl>
                                          <p:spTgt spid="103"/>
                                        </p:tgtEl>
                                      </p:cBhvr>
                                    </p:animEffect>
                                    <p:set>
                                      <p:cBhvr>
                                        <p:cTn id="15" dur="1" fill="hold">
                                          <p:stCondLst>
                                            <p:cond delay="149"/>
                                          </p:stCondLst>
                                        </p:cTn>
                                        <p:tgtEl>
                                          <p:spTgt spid="10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7"/>
                                        </p:tgtEl>
                                        <p:attrNameLst>
                                          <p:attrName>style.visibility</p:attrName>
                                        </p:attrNameLst>
                                      </p:cBhvr>
                                      <p:to>
                                        <p:strVal val="visible"/>
                                      </p:to>
                                    </p:set>
                                    <p:animEffect transition="in" filter="fade">
                                      <p:cBhvr>
                                        <p:cTn id="20" dur="250"/>
                                        <p:tgtEl>
                                          <p:spTgt spid="187"/>
                                        </p:tgtEl>
                                      </p:cBhvr>
                                    </p:animEffect>
                                  </p:childTnLst>
                                </p:cTn>
                              </p:par>
                              <p:par>
                                <p:cTn id="21" presetID="10" presetClass="exit" presetSubtype="0" fill="hold" nodeType="withEffect">
                                  <p:stCondLst>
                                    <p:cond delay="0"/>
                                  </p:stCondLst>
                                  <p:childTnLst>
                                    <p:animEffect transition="out" filter="fade">
                                      <p:cBhvr>
                                        <p:cTn id="22" dur="150"/>
                                        <p:tgtEl>
                                          <p:spTgt spid="145"/>
                                        </p:tgtEl>
                                      </p:cBhvr>
                                    </p:animEffect>
                                    <p:set>
                                      <p:cBhvr>
                                        <p:cTn id="23" dur="1" fill="hold">
                                          <p:stCondLst>
                                            <p:cond delay="149"/>
                                          </p:stCondLst>
                                        </p:cTn>
                                        <p:tgtEl>
                                          <p:spTgt spid="1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Стек Тарьяна: SCC ещё не определены</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Стек </a:t>
            </a:r>
            <a:r>
              <a:rPr lang="en-US" sz="2100">
                <a:solidFill>
                  <a:srgbClr val="FFFFFF"/>
                </a:solidFill>
                <a:latin typeface="Montserrat"/>
              </a:rPr>
              <a:t>SCC</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36</a:t>
            </a:r>
          </a:p>
        </p:txBody>
      </p:sp>
      <p:sp>
        <p:nvSpPr>
          <p:cNvPr id="31" name="grid-0-0">
            <a:extLst>
              <a:ext uri="{FF2B5EF4-FFF2-40B4-BE49-F238E27FC236}">
                <a16:creationId xmlns:a16="http://schemas.microsoft.com/office/drawing/2014/main" id="{7D75B3A0-B34B-4A06-99CA-84F251B8D47E}"/>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57F369F0-9DD1-4054-AB90-638981CD7CAF}"/>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0-2">
            <a:extLst>
              <a:ext uri="{FF2B5EF4-FFF2-40B4-BE49-F238E27FC236}">
                <a16:creationId xmlns:a16="http://schemas.microsoft.com/office/drawing/2014/main" id="{45325C7A-BAD1-463D-A717-63B3A58AC654}"/>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34" name="grid-1-0">
            <a:extLst>
              <a:ext uri="{FF2B5EF4-FFF2-40B4-BE49-F238E27FC236}">
                <a16:creationId xmlns:a16="http://schemas.microsoft.com/office/drawing/2014/main" id="{7B4391B0-D368-4FD1-94FD-63A9408FD286}"/>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5" name="grid-1-1">
            <a:extLst>
              <a:ext uri="{FF2B5EF4-FFF2-40B4-BE49-F238E27FC236}">
                <a16:creationId xmlns:a16="http://schemas.microsoft.com/office/drawing/2014/main" id="{BB517015-416E-46A4-AC7D-0ABF7C4830CE}"/>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6" name="grid-1-2">
            <a:extLst>
              <a:ext uri="{FF2B5EF4-FFF2-40B4-BE49-F238E27FC236}">
                <a16:creationId xmlns:a16="http://schemas.microsoft.com/office/drawing/2014/main" id="{D0A902E9-F645-4BC4-BF5D-46EEE55E62DA}"/>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7" name="grid-2-0">
            <a:extLst>
              <a:ext uri="{FF2B5EF4-FFF2-40B4-BE49-F238E27FC236}">
                <a16:creationId xmlns:a16="http://schemas.microsoft.com/office/drawing/2014/main" id="{832354E6-83FD-4D32-99ED-F808D740C1A5}"/>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8" name="grid-2-1">
            <a:extLst>
              <a:ext uri="{FF2B5EF4-FFF2-40B4-BE49-F238E27FC236}">
                <a16:creationId xmlns:a16="http://schemas.microsoft.com/office/drawing/2014/main" id="{DAEEE697-1A5D-4543-A04D-C3148878CD2B}"/>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9" name="grid-2-2">
            <a:extLst>
              <a:ext uri="{FF2B5EF4-FFF2-40B4-BE49-F238E27FC236}">
                <a16:creationId xmlns:a16="http://schemas.microsoft.com/office/drawing/2014/main" id="{95E8504B-1332-4338-988A-97B865508A66}"/>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40" name="grid-3-0">
            <a:extLst>
              <a:ext uri="{FF2B5EF4-FFF2-40B4-BE49-F238E27FC236}">
                <a16:creationId xmlns:a16="http://schemas.microsoft.com/office/drawing/2014/main" id="{C85BA447-2FFA-42A0-AEA2-5FB466EC77B8}"/>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1" name="grid-3-1">
            <a:extLst>
              <a:ext uri="{FF2B5EF4-FFF2-40B4-BE49-F238E27FC236}">
                <a16:creationId xmlns:a16="http://schemas.microsoft.com/office/drawing/2014/main" id="{458D8801-422B-493B-B8F8-6779B74D87B7}"/>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2" name="grid-3-2">
            <a:extLst>
              <a:ext uri="{FF2B5EF4-FFF2-40B4-BE49-F238E27FC236}">
                <a16:creationId xmlns:a16="http://schemas.microsoft.com/office/drawing/2014/main" id="{21A7FDA2-5068-4726-A405-A6B5287DDF88}"/>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3" name="grid-4-0">
            <a:extLst>
              <a:ext uri="{FF2B5EF4-FFF2-40B4-BE49-F238E27FC236}">
                <a16:creationId xmlns:a16="http://schemas.microsoft.com/office/drawing/2014/main" id="{414D2E64-E32A-4C83-A706-666D3469535B}"/>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4" name="grid-4-1">
            <a:extLst>
              <a:ext uri="{FF2B5EF4-FFF2-40B4-BE49-F238E27FC236}">
                <a16:creationId xmlns:a16="http://schemas.microsoft.com/office/drawing/2014/main" id="{BD67B071-F975-4E2D-A7B1-20FEB8A0D3C8}"/>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5" name="grid-4-2">
            <a:extLst>
              <a:ext uri="{FF2B5EF4-FFF2-40B4-BE49-F238E27FC236}">
                <a16:creationId xmlns:a16="http://schemas.microsoft.com/office/drawing/2014/main" id="{440FEB48-07B8-4153-B3FE-3D9807A1E8BC}"/>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6" name="grid-5-0">
            <a:extLst>
              <a:ext uri="{FF2B5EF4-FFF2-40B4-BE49-F238E27FC236}">
                <a16:creationId xmlns:a16="http://schemas.microsoft.com/office/drawing/2014/main" id="{88056D1F-7381-47D9-A8BB-47941B970971}"/>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7" name="grid-5-1">
            <a:extLst>
              <a:ext uri="{FF2B5EF4-FFF2-40B4-BE49-F238E27FC236}">
                <a16:creationId xmlns:a16="http://schemas.microsoft.com/office/drawing/2014/main" id="{1E098213-4F5C-414E-9CCB-B5019C3AE408}"/>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8" name="grid-5-2">
            <a:extLst>
              <a:ext uri="{FF2B5EF4-FFF2-40B4-BE49-F238E27FC236}">
                <a16:creationId xmlns:a16="http://schemas.microsoft.com/office/drawing/2014/main" id="{7589DDE1-A71D-4883-8F01-713CC3D83E63}"/>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9" name="grid-6-0">
            <a:extLst>
              <a:ext uri="{FF2B5EF4-FFF2-40B4-BE49-F238E27FC236}">
                <a16:creationId xmlns:a16="http://schemas.microsoft.com/office/drawing/2014/main" id="{9B84744C-0E74-4481-9AA2-7842BA977439}"/>
              </a:ext>
            </a:extLst>
          </p:cNvPr>
          <p:cNvSpPr/>
          <p:nvPr/>
        </p:nvSpPr>
        <p:spPr>
          <a:xfrm>
            <a:off x="8915400"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0" name="grid-6-1">
            <a:extLst>
              <a:ext uri="{FF2B5EF4-FFF2-40B4-BE49-F238E27FC236}">
                <a16:creationId xmlns:a16="http://schemas.microsoft.com/office/drawing/2014/main" id="{6C02F651-9ECA-437D-B4D9-9D1C6F066811}"/>
              </a:ext>
            </a:extLst>
          </p:cNvPr>
          <p:cNvSpPr/>
          <p:nvPr/>
        </p:nvSpPr>
        <p:spPr>
          <a:xfrm>
            <a:off x="9774767"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1" name="grid-6-2">
            <a:extLst>
              <a:ext uri="{FF2B5EF4-FFF2-40B4-BE49-F238E27FC236}">
                <a16:creationId xmlns:a16="http://schemas.microsoft.com/office/drawing/2014/main" id="{7C1AB520-0209-4A71-9FC3-033E3B95D474}"/>
              </a:ext>
            </a:extLst>
          </p:cNvPr>
          <p:cNvSpPr/>
          <p:nvPr/>
        </p:nvSpPr>
        <p:spPr>
          <a:xfrm>
            <a:off x="10634133"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2" name="grid-7-0">
            <a:extLst>
              <a:ext uri="{FF2B5EF4-FFF2-40B4-BE49-F238E27FC236}">
                <a16:creationId xmlns:a16="http://schemas.microsoft.com/office/drawing/2014/main" id="{600BD5FC-D4EF-4737-8BDD-5D9A8F6B8777}"/>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3" name="grid-7-1">
            <a:extLst>
              <a:ext uri="{FF2B5EF4-FFF2-40B4-BE49-F238E27FC236}">
                <a16:creationId xmlns:a16="http://schemas.microsoft.com/office/drawing/2014/main" id="{E83F8EBF-9FF9-45CF-8331-9BAE96C76A4D}"/>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4" name="grid-7-2">
            <a:extLst>
              <a:ext uri="{FF2B5EF4-FFF2-40B4-BE49-F238E27FC236}">
                <a16:creationId xmlns:a16="http://schemas.microsoft.com/office/drawing/2014/main" id="{3815BB7F-F335-4DCB-8E55-CD5DCCF17ABD}"/>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5" name="grid-8-0">
            <a:extLst>
              <a:ext uri="{FF2B5EF4-FFF2-40B4-BE49-F238E27FC236}">
                <a16:creationId xmlns:a16="http://schemas.microsoft.com/office/drawing/2014/main" id="{975118E9-0A37-4504-AC8B-EFACF9C7F51F}"/>
              </a:ext>
            </a:extLst>
          </p:cNvPr>
          <p:cNvSpPr/>
          <p:nvPr/>
        </p:nvSpPr>
        <p:spPr>
          <a:xfrm>
            <a:off x="8915400"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56" name="grid-8-1">
            <a:extLst>
              <a:ext uri="{FF2B5EF4-FFF2-40B4-BE49-F238E27FC236}">
                <a16:creationId xmlns:a16="http://schemas.microsoft.com/office/drawing/2014/main" id="{11CEC4BA-2E17-4150-9F71-92674E0E1BBE}"/>
              </a:ext>
            </a:extLst>
          </p:cNvPr>
          <p:cNvSpPr/>
          <p:nvPr/>
        </p:nvSpPr>
        <p:spPr>
          <a:xfrm>
            <a:off x="9774767"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57" name="grid-8-2">
            <a:extLst>
              <a:ext uri="{FF2B5EF4-FFF2-40B4-BE49-F238E27FC236}">
                <a16:creationId xmlns:a16="http://schemas.microsoft.com/office/drawing/2014/main" id="{EE2F5036-249B-4ADB-A82F-BE0C614BF250}"/>
              </a:ext>
            </a:extLst>
          </p:cNvPr>
          <p:cNvSpPr/>
          <p:nvPr/>
        </p:nvSpPr>
        <p:spPr>
          <a:xfrm>
            <a:off x="10634133"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8" name="tarjan-stack">
            <a:extLst>
              <a:ext uri="{FF2B5EF4-FFF2-40B4-BE49-F238E27FC236}">
                <a16:creationId xmlns:a16="http://schemas.microsoft.com/office/drawing/2014/main" id="{98443F7B-3721-4815-B4AB-19965B26EB67}"/>
              </a:ext>
            </a:extLst>
          </p:cNvPr>
          <p:cNvSpPr txBox="1"/>
          <p:nvPr/>
        </p:nvSpPr>
        <p:spPr bwMode="auto">
          <a:xfrm>
            <a:off x="660400" y="1511300"/>
            <a:ext cx="7937500" cy="393700"/>
          </a:xfrm>
          <a:prstGeom prst="rect">
            <a:avLst/>
          </a:prstGeom>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59" name="tarjan-caption">
            <a:extLst>
              <a:ext uri="{FF2B5EF4-FFF2-40B4-BE49-F238E27FC236}">
                <a16:creationId xmlns:a16="http://schemas.microsoft.com/office/drawing/2014/main" id="{6EF2AFD5-55F2-46F6-BFC5-9522663B2336}"/>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ru-RU" sz="2000">
                <a:solidFill>
                  <a:srgbClr val="352379"/>
                </a:solidFill>
                <a:latin typeface="Montserrat"/>
              </a:rPr>
              <a:t>DFS вернулся в 6; вершины 8 и 7 всё ещё в стеке SCC.</a:t>
            </a:r>
          </a:p>
        </p:txBody>
      </p:sp>
      <p:sp>
        <p:nvSpPr>
          <p:cNvPr id="60" name="tarjan-band-background">
            <a:extLst>
              <a:ext uri="{FF2B5EF4-FFF2-40B4-BE49-F238E27FC236}">
                <a16:creationId xmlns:a16="http://schemas.microsoft.com/office/drawing/2014/main" id="{5014C1EE-0FF4-4E9D-9A11-3FDAE74C8F21}"/>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arjan-definition">
            <a:extLst>
              <a:ext uri="{FF2B5EF4-FFF2-40B4-BE49-F238E27FC236}">
                <a16:creationId xmlns:a16="http://schemas.microsoft.com/office/drawing/2014/main" id="{FDF7C10F-043E-4699-93DB-357060D86C6B}"/>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100">
                <a:solidFill>
                  <a:srgbClr val="FFFFFF"/>
                </a:solidFill>
                <a:latin typeface="Montserrat"/>
              </a:rPr>
              <a:t>Стек содержит вершины, которые DFS уже посетил, но SCC которых ещё не определена.</a:t>
            </a:r>
          </a:p>
        </p:txBody>
      </p:sp>
    </p:spTree>
    <p:extLst>
      <p:ext uri="{BB962C8B-B14F-4D97-AF65-F5344CB8AC3E}">
        <p14:creationId xmlns:p14="http://schemas.microsoft.com/office/powerpoint/2010/main" val="291172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Тарьян: выделяем SCC {6, 7, 8}</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Корень </a:t>
            </a:r>
            <a:r>
              <a:rPr lang="en-US" sz="2100">
                <a:solidFill>
                  <a:srgbClr val="FFFFFF"/>
                </a:solidFill>
                <a:latin typeface="Montserrat"/>
              </a:rPr>
              <a:t>SCC: 6</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37</a:t>
            </a:r>
          </a:p>
        </p:txBody>
      </p:sp>
      <p:sp>
        <p:nvSpPr>
          <p:cNvPr id="31" name="grid-0-0">
            <a:extLst>
              <a:ext uri="{FF2B5EF4-FFF2-40B4-BE49-F238E27FC236}">
                <a16:creationId xmlns:a16="http://schemas.microsoft.com/office/drawing/2014/main" id="{C3299F43-7E91-43D4-9024-A902F15964DB}"/>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779C39B5-B12C-4ACB-B7E8-93CC619F3CCB}"/>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0-2">
            <a:extLst>
              <a:ext uri="{FF2B5EF4-FFF2-40B4-BE49-F238E27FC236}">
                <a16:creationId xmlns:a16="http://schemas.microsoft.com/office/drawing/2014/main" id="{DB507D4B-427B-4AB7-9148-158508428B95}"/>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34" name="grid-1-0">
            <a:extLst>
              <a:ext uri="{FF2B5EF4-FFF2-40B4-BE49-F238E27FC236}">
                <a16:creationId xmlns:a16="http://schemas.microsoft.com/office/drawing/2014/main" id="{6A9139EC-58A6-4593-9C25-6F3430D15718}"/>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5" name="grid-1-1">
            <a:extLst>
              <a:ext uri="{FF2B5EF4-FFF2-40B4-BE49-F238E27FC236}">
                <a16:creationId xmlns:a16="http://schemas.microsoft.com/office/drawing/2014/main" id="{C0EB3CB5-F609-4F36-AA36-BAD2A1BCA275}"/>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6" name="grid-1-2">
            <a:extLst>
              <a:ext uri="{FF2B5EF4-FFF2-40B4-BE49-F238E27FC236}">
                <a16:creationId xmlns:a16="http://schemas.microsoft.com/office/drawing/2014/main" id="{DD0DDC1A-10F1-4D67-B41E-2359FBFB528A}"/>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7" name="grid-2-0">
            <a:extLst>
              <a:ext uri="{FF2B5EF4-FFF2-40B4-BE49-F238E27FC236}">
                <a16:creationId xmlns:a16="http://schemas.microsoft.com/office/drawing/2014/main" id="{E5E983A3-1582-4B76-A10C-2F5537E9D70C}"/>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8" name="grid-2-1">
            <a:extLst>
              <a:ext uri="{FF2B5EF4-FFF2-40B4-BE49-F238E27FC236}">
                <a16:creationId xmlns:a16="http://schemas.microsoft.com/office/drawing/2014/main" id="{CC1D36E7-D313-41EA-947A-B931F80C10C9}"/>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9" name="grid-2-2">
            <a:extLst>
              <a:ext uri="{FF2B5EF4-FFF2-40B4-BE49-F238E27FC236}">
                <a16:creationId xmlns:a16="http://schemas.microsoft.com/office/drawing/2014/main" id="{DE3472C1-E39D-4711-A7D3-31834F757F5A}"/>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40" name="grid-3-0">
            <a:extLst>
              <a:ext uri="{FF2B5EF4-FFF2-40B4-BE49-F238E27FC236}">
                <a16:creationId xmlns:a16="http://schemas.microsoft.com/office/drawing/2014/main" id="{4BC82965-EFF1-4190-9307-3F8232332EC6}"/>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1" name="grid-3-1">
            <a:extLst>
              <a:ext uri="{FF2B5EF4-FFF2-40B4-BE49-F238E27FC236}">
                <a16:creationId xmlns:a16="http://schemas.microsoft.com/office/drawing/2014/main" id="{2C87DB07-EA78-4953-ACF8-98F4E785A648}"/>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2" name="grid-3-2">
            <a:extLst>
              <a:ext uri="{FF2B5EF4-FFF2-40B4-BE49-F238E27FC236}">
                <a16:creationId xmlns:a16="http://schemas.microsoft.com/office/drawing/2014/main" id="{A0A6DE67-9462-4AAC-B358-B41B3E67BAB8}"/>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3" name="grid-4-0">
            <a:extLst>
              <a:ext uri="{FF2B5EF4-FFF2-40B4-BE49-F238E27FC236}">
                <a16:creationId xmlns:a16="http://schemas.microsoft.com/office/drawing/2014/main" id="{BD3D6D81-357E-4E94-A036-8A46DBA104E2}"/>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4" name="grid-4-1">
            <a:extLst>
              <a:ext uri="{FF2B5EF4-FFF2-40B4-BE49-F238E27FC236}">
                <a16:creationId xmlns:a16="http://schemas.microsoft.com/office/drawing/2014/main" id="{2298910E-1769-4E13-82E9-41025217C932}"/>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5" name="grid-4-2">
            <a:extLst>
              <a:ext uri="{FF2B5EF4-FFF2-40B4-BE49-F238E27FC236}">
                <a16:creationId xmlns:a16="http://schemas.microsoft.com/office/drawing/2014/main" id="{257B88FA-A0BE-4E24-AB26-D384D8FC913C}"/>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6" name="grid-5-0">
            <a:extLst>
              <a:ext uri="{FF2B5EF4-FFF2-40B4-BE49-F238E27FC236}">
                <a16:creationId xmlns:a16="http://schemas.microsoft.com/office/drawing/2014/main" id="{127C5734-6AE3-465C-AE33-EE8A3FC9E436}"/>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7" name="grid-5-1">
            <a:extLst>
              <a:ext uri="{FF2B5EF4-FFF2-40B4-BE49-F238E27FC236}">
                <a16:creationId xmlns:a16="http://schemas.microsoft.com/office/drawing/2014/main" id="{BA943666-9DCC-4C83-B7A8-E088C2079B9A}"/>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8" name="grid-5-2">
            <a:extLst>
              <a:ext uri="{FF2B5EF4-FFF2-40B4-BE49-F238E27FC236}">
                <a16:creationId xmlns:a16="http://schemas.microsoft.com/office/drawing/2014/main" id="{699551E7-9E8E-4C18-B31D-86DDA93886D0}"/>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9" name="grid-6-0">
            <a:extLst>
              <a:ext uri="{FF2B5EF4-FFF2-40B4-BE49-F238E27FC236}">
                <a16:creationId xmlns:a16="http://schemas.microsoft.com/office/drawing/2014/main" id="{154BCDDE-B7FA-464E-A895-CA493C296621}"/>
              </a:ext>
            </a:extLst>
          </p:cNvPr>
          <p:cNvSpPr/>
          <p:nvPr/>
        </p:nvSpPr>
        <p:spPr>
          <a:xfrm>
            <a:off x="8915400"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0" name="grid-6-1">
            <a:extLst>
              <a:ext uri="{FF2B5EF4-FFF2-40B4-BE49-F238E27FC236}">
                <a16:creationId xmlns:a16="http://schemas.microsoft.com/office/drawing/2014/main" id="{C26E4AB5-7880-41A1-9475-AF50B7E27499}"/>
              </a:ext>
            </a:extLst>
          </p:cNvPr>
          <p:cNvSpPr/>
          <p:nvPr/>
        </p:nvSpPr>
        <p:spPr>
          <a:xfrm>
            <a:off x="9774767"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1" name="grid-6-2">
            <a:extLst>
              <a:ext uri="{FF2B5EF4-FFF2-40B4-BE49-F238E27FC236}">
                <a16:creationId xmlns:a16="http://schemas.microsoft.com/office/drawing/2014/main" id="{3D6EA6F0-4FA1-46CF-AC41-1B8FB763BE50}"/>
              </a:ext>
            </a:extLst>
          </p:cNvPr>
          <p:cNvSpPr/>
          <p:nvPr/>
        </p:nvSpPr>
        <p:spPr>
          <a:xfrm>
            <a:off x="10634133"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2" name="grid-7-0">
            <a:extLst>
              <a:ext uri="{FF2B5EF4-FFF2-40B4-BE49-F238E27FC236}">
                <a16:creationId xmlns:a16="http://schemas.microsoft.com/office/drawing/2014/main" id="{ECAFD089-73AA-4D41-93D1-84DACC259326}"/>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3" name="grid-7-1">
            <a:extLst>
              <a:ext uri="{FF2B5EF4-FFF2-40B4-BE49-F238E27FC236}">
                <a16:creationId xmlns:a16="http://schemas.microsoft.com/office/drawing/2014/main" id="{BF8BDDD1-72FB-4635-B04A-F23E02B4BF6A}"/>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54" name="grid-7-2">
            <a:extLst>
              <a:ext uri="{FF2B5EF4-FFF2-40B4-BE49-F238E27FC236}">
                <a16:creationId xmlns:a16="http://schemas.microsoft.com/office/drawing/2014/main" id="{E28DA799-F009-496A-A21F-62DC93DBC07B}"/>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5" name="grid-8-0">
            <a:extLst>
              <a:ext uri="{FF2B5EF4-FFF2-40B4-BE49-F238E27FC236}">
                <a16:creationId xmlns:a16="http://schemas.microsoft.com/office/drawing/2014/main" id="{0AE454D5-D09F-499D-8D19-3C87B492BF68}"/>
              </a:ext>
            </a:extLst>
          </p:cNvPr>
          <p:cNvSpPr/>
          <p:nvPr/>
        </p:nvSpPr>
        <p:spPr>
          <a:xfrm>
            <a:off x="8915400"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56" name="grid-8-1">
            <a:extLst>
              <a:ext uri="{FF2B5EF4-FFF2-40B4-BE49-F238E27FC236}">
                <a16:creationId xmlns:a16="http://schemas.microsoft.com/office/drawing/2014/main" id="{3F4186C9-9140-4288-A268-2CC42BD32296}"/>
              </a:ext>
            </a:extLst>
          </p:cNvPr>
          <p:cNvSpPr/>
          <p:nvPr/>
        </p:nvSpPr>
        <p:spPr>
          <a:xfrm>
            <a:off x="9774767"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8</a:t>
            </a:r>
          </a:p>
        </p:txBody>
      </p:sp>
      <p:sp>
        <p:nvSpPr>
          <p:cNvPr id="57" name="grid-8-2">
            <a:extLst>
              <a:ext uri="{FF2B5EF4-FFF2-40B4-BE49-F238E27FC236}">
                <a16:creationId xmlns:a16="http://schemas.microsoft.com/office/drawing/2014/main" id="{10744933-7264-43BC-924D-01C0CDCE27C1}"/>
              </a:ext>
            </a:extLst>
          </p:cNvPr>
          <p:cNvSpPr/>
          <p:nvPr/>
        </p:nvSpPr>
        <p:spPr>
          <a:xfrm>
            <a:off x="10634133" y="51943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58" name="tarjan-stack">
            <a:extLst>
              <a:ext uri="{FF2B5EF4-FFF2-40B4-BE49-F238E27FC236}">
                <a16:creationId xmlns:a16="http://schemas.microsoft.com/office/drawing/2014/main" id="{BBC6D865-30D1-4B02-9198-A097AB2CD4A5}"/>
              </a:ext>
            </a:extLst>
          </p:cNvPr>
          <p:cNvSpPr txBox="1"/>
          <p:nvPr/>
        </p:nvSpPr>
        <p:spPr bwMode="auto">
          <a:xfrm>
            <a:off x="660400" y="1511300"/>
            <a:ext cx="7937500" cy="393700"/>
          </a:xfrm>
          <a:prstGeom prst="rect">
            <a:avLst/>
          </a:prstGeom>
        </p:spPr>
        <p:txBody>
          <a:bodyPr vert="horz" wrap="square" lIns="38100" tIns="12700" rIns="38100" bIns="12700" rtlCol="0">
            <a:noAutofit/>
          </a:bodyPr>
          <a:lstStyle/>
          <a:p>
            <a:r>
              <a:rPr lang="ru-RU" sz="2100" b="1">
                <a:solidFill>
                  <a:srgbClr val="352379"/>
                </a:solidFill>
                <a:latin typeface="Montserrat"/>
              </a:rPr>
              <a:t>stack = [1, 2, 3, 4, 5, 6, 7, 8] · верхушка: 8</a:t>
            </a:r>
          </a:p>
        </p:txBody>
      </p:sp>
      <p:sp>
        <p:nvSpPr>
          <p:cNvPr id="59" name="tarjan-caption">
            <a:extLst>
              <a:ext uri="{FF2B5EF4-FFF2-40B4-BE49-F238E27FC236}">
                <a16:creationId xmlns:a16="http://schemas.microsoft.com/office/drawing/2014/main" id="{6ADBD4BE-EE83-46A7-AA25-D3E91FD2CD4F}"/>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en-US" sz="2000">
                <a:solidFill>
                  <a:srgbClr val="352379"/>
                </a:solidFill>
                <a:latin typeface="Montserrat"/>
              </a:rPr>
              <a:t>low[6] == tin[6] : 6 == 6</a:t>
            </a:r>
            <a:endParaRPr lang="ru-RU" sz="2000">
              <a:solidFill>
                <a:srgbClr val="352379"/>
              </a:solidFill>
              <a:latin typeface="Montserrat"/>
            </a:endParaRPr>
          </a:p>
        </p:txBody>
      </p:sp>
      <p:sp>
        <p:nvSpPr>
          <p:cNvPr id="60" name="tarjan-band-background">
            <a:extLst>
              <a:ext uri="{FF2B5EF4-FFF2-40B4-BE49-F238E27FC236}">
                <a16:creationId xmlns:a16="http://schemas.microsoft.com/office/drawing/2014/main" id="{B4FF3F5B-CE93-40CC-8A9B-A1DB9A342479}"/>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arjan-definition">
            <a:extLst>
              <a:ext uri="{FF2B5EF4-FFF2-40B4-BE49-F238E27FC236}">
                <a16:creationId xmlns:a16="http://schemas.microsoft.com/office/drawing/2014/main" id="{111A476A-4EA8-4E55-A646-F5F33CFE7E4E}"/>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100">
                <a:solidFill>
                  <a:srgbClr val="FFFFFF"/>
                </a:solidFill>
                <a:latin typeface="Montserrat"/>
              </a:rPr>
              <a:t>low[v] == tin[v]: v — корень текущей компоненты сильной связности.</a:t>
            </a:r>
          </a:p>
        </p:txBody>
      </p:sp>
      <p:grpSp>
        <p:nvGrpSpPr>
          <p:cNvPr id="102" name="tarjan-stage-1">
            <a:extLst>
              <a:ext uri="{FF2B5EF4-FFF2-40B4-BE49-F238E27FC236}">
                <a16:creationId xmlns:a16="http://schemas.microsoft.com/office/drawing/2014/main" id="{C5F7C8D5-C4E4-4017-9702-05F1B1B4DC5D}"/>
              </a:ext>
            </a:extLst>
          </p:cNvPr>
          <p:cNvGrpSpPr/>
          <p:nvPr/>
        </p:nvGrpSpPr>
        <p:grpSpPr>
          <a:xfrm>
            <a:off x="508000" y="1511300"/>
            <a:ext cx="11201400" cy="4152900"/>
            <a:chOff x="508000" y="1511300"/>
            <a:chExt cx="11201400" cy="4152900"/>
          </a:xfrm>
        </p:grpSpPr>
        <p:sp>
          <p:nvSpPr>
            <p:cNvPr id="62" name="stage-1-!!g-node-1">
              <a:extLst>
                <a:ext uri="{FF2B5EF4-FFF2-40B4-BE49-F238E27FC236}">
                  <a16:creationId xmlns:a16="http://schemas.microsoft.com/office/drawing/2014/main" id="{DD520217-7DB3-4A40-997F-D7EE3DF44FBB}"/>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3" name="stage-1-!!g-node-2">
              <a:extLst>
                <a:ext uri="{FF2B5EF4-FFF2-40B4-BE49-F238E27FC236}">
                  <a16:creationId xmlns:a16="http://schemas.microsoft.com/office/drawing/2014/main" id="{16EC4994-5CA6-47DF-A29A-3ED798454DBE}"/>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4" name="stage-1-!!g-node-3">
              <a:extLst>
                <a:ext uri="{FF2B5EF4-FFF2-40B4-BE49-F238E27FC236}">
                  <a16:creationId xmlns:a16="http://schemas.microsoft.com/office/drawing/2014/main" id="{D8053CC5-D12E-4D01-A8B2-E59035D7D7A2}"/>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5" name="stage-1-!!g-node-4">
              <a:extLst>
                <a:ext uri="{FF2B5EF4-FFF2-40B4-BE49-F238E27FC236}">
                  <a16:creationId xmlns:a16="http://schemas.microsoft.com/office/drawing/2014/main" id="{19A7FDA9-A0AB-4213-ACD4-9DF60C4CE4FD}"/>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66" name="stage-1-!!g-node-5">
              <a:extLst>
                <a:ext uri="{FF2B5EF4-FFF2-40B4-BE49-F238E27FC236}">
                  <a16:creationId xmlns:a16="http://schemas.microsoft.com/office/drawing/2014/main" id="{6A4D28E4-E906-45C0-9BF1-61E6F4BDDDFA}"/>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67" name="stage-1-!!g-node-6">
              <a:extLst>
                <a:ext uri="{FF2B5EF4-FFF2-40B4-BE49-F238E27FC236}">
                  <a16:creationId xmlns:a16="http://schemas.microsoft.com/office/drawing/2014/main" id="{DE088465-1681-4CFE-8EF2-D9D1BF4341E7}"/>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68" name="stage-1-!!g-node-7">
              <a:extLst>
                <a:ext uri="{FF2B5EF4-FFF2-40B4-BE49-F238E27FC236}">
                  <a16:creationId xmlns:a16="http://schemas.microsoft.com/office/drawing/2014/main" id="{7D76B64A-71C8-4F20-A49A-6D9A833A7DF9}"/>
                </a:ext>
              </a:extLst>
            </p:cNvPr>
            <p:cNvSpPr/>
            <p:nvPr/>
          </p:nvSpPr>
          <p:spPr>
            <a:xfrm>
              <a:off x="590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7</a:t>
              </a:r>
            </a:p>
          </p:txBody>
        </p:sp>
        <p:sp>
          <p:nvSpPr>
            <p:cNvPr id="69" name="stage-1-!!g-node-8">
              <a:extLst>
                <a:ext uri="{FF2B5EF4-FFF2-40B4-BE49-F238E27FC236}">
                  <a16:creationId xmlns:a16="http://schemas.microsoft.com/office/drawing/2014/main" id="{E7C9FE86-70BE-4572-80C2-FCD8C9A6F941}"/>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70" name="stage-1-box-21-697">
              <a:extLst>
                <a:ext uri="{FF2B5EF4-FFF2-40B4-BE49-F238E27FC236}">
                  <a16:creationId xmlns:a16="http://schemas.microsoft.com/office/drawing/2014/main" id="{14FB0AF8-8C06-426D-ABD3-853520F717B8}"/>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stage-1-box-22-698">
              <a:extLst>
                <a:ext uri="{FF2B5EF4-FFF2-40B4-BE49-F238E27FC236}">
                  <a16:creationId xmlns:a16="http://schemas.microsoft.com/office/drawing/2014/main" id="{DCF445F0-7ACC-4FB7-AFF6-1C6A53E5C6AC}"/>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stage-1-text-23-699">
              <a:extLst>
                <a:ext uri="{FF2B5EF4-FFF2-40B4-BE49-F238E27FC236}">
                  <a16:creationId xmlns:a16="http://schemas.microsoft.com/office/drawing/2014/main" id="{CF2C6BE5-B8ED-487A-888F-93943F0375A9}"/>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Снимаем 8</a:t>
              </a:r>
            </a:p>
          </p:txBody>
        </p:sp>
        <p:sp>
          <p:nvSpPr>
            <p:cNvPr id="73" name="stage-1-grid-0-0">
              <a:extLst>
                <a:ext uri="{FF2B5EF4-FFF2-40B4-BE49-F238E27FC236}">
                  <a16:creationId xmlns:a16="http://schemas.microsoft.com/office/drawing/2014/main" id="{16BBD307-E1F5-4E3E-B25E-B754B77618C3}"/>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74" name="stage-1-grid-0-1">
              <a:extLst>
                <a:ext uri="{FF2B5EF4-FFF2-40B4-BE49-F238E27FC236}">
                  <a16:creationId xmlns:a16="http://schemas.microsoft.com/office/drawing/2014/main" id="{D4FBD581-A3E4-4F8E-8DBD-0AF18E3D0528}"/>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75" name="stage-1-grid-0-2">
              <a:extLst>
                <a:ext uri="{FF2B5EF4-FFF2-40B4-BE49-F238E27FC236}">
                  <a16:creationId xmlns:a16="http://schemas.microsoft.com/office/drawing/2014/main" id="{17AEE26F-1095-4710-B573-3016E31E3508}"/>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76" name="stage-1-grid-1-0">
              <a:extLst>
                <a:ext uri="{FF2B5EF4-FFF2-40B4-BE49-F238E27FC236}">
                  <a16:creationId xmlns:a16="http://schemas.microsoft.com/office/drawing/2014/main" id="{B301A642-34E1-4424-A5DF-A6C63505B11C}"/>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7" name="stage-1-grid-1-1">
              <a:extLst>
                <a:ext uri="{FF2B5EF4-FFF2-40B4-BE49-F238E27FC236}">
                  <a16:creationId xmlns:a16="http://schemas.microsoft.com/office/drawing/2014/main" id="{171FB6EC-BAE5-453D-BE16-209293872783}"/>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8" name="stage-1-grid-1-2">
              <a:extLst>
                <a:ext uri="{FF2B5EF4-FFF2-40B4-BE49-F238E27FC236}">
                  <a16:creationId xmlns:a16="http://schemas.microsoft.com/office/drawing/2014/main" id="{BE80A45E-F1FA-4213-A6E1-CA1C70BD11FC}"/>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9" name="stage-1-grid-2-0">
              <a:extLst>
                <a:ext uri="{FF2B5EF4-FFF2-40B4-BE49-F238E27FC236}">
                  <a16:creationId xmlns:a16="http://schemas.microsoft.com/office/drawing/2014/main" id="{A002D100-CC21-4D48-B610-EAB16E425587}"/>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0" name="stage-1-grid-2-1">
              <a:extLst>
                <a:ext uri="{FF2B5EF4-FFF2-40B4-BE49-F238E27FC236}">
                  <a16:creationId xmlns:a16="http://schemas.microsoft.com/office/drawing/2014/main" id="{BC72B947-E7F1-4BF6-8756-0AC0AE39EB42}"/>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1" name="stage-1-grid-2-2">
              <a:extLst>
                <a:ext uri="{FF2B5EF4-FFF2-40B4-BE49-F238E27FC236}">
                  <a16:creationId xmlns:a16="http://schemas.microsoft.com/office/drawing/2014/main" id="{21E18A12-593A-4EF0-A03B-A50045942BCD}"/>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2" name="stage-1-grid-3-0">
              <a:extLst>
                <a:ext uri="{FF2B5EF4-FFF2-40B4-BE49-F238E27FC236}">
                  <a16:creationId xmlns:a16="http://schemas.microsoft.com/office/drawing/2014/main" id="{0AB16302-030F-41C8-B8C2-C8853B3B259C}"/>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3" name="stage-1-grid-3-1">
              <a:extLst>
                <a:ext uri="{FF2B5EF4-FFF2-40B4-BE49-F238E27FC236}">
                  <a16:creationId xmlns:a16="http://schemas.microsoft.com/office/drawing/2014/main" id="{2A0029AB-CC17-41BE-A4E3-6BBBC4B865F7}"/>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4" name="stage-1-grid-3-2">
              <a:extLst>
                <a:ext uri="{FF2B5EF4-FFF2-40B4-BE49-F238E27FC236}">
                  <a16:creationId xmlns:a16="http://schemas.microsoft.com/office/drawing/2014/main" id="{D1BBD99C-B926-4392-9B0F-BE3E2A6336C9}"/>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85" name="stage-1-grid-4-0">
              <a:extLst>
                <a:ext uri="{FF2B5EF4-FFF2-40B4-BE49-F238E27FC236}">
                  <a16:creationId xmlns:a16="http://schemas.microsoft.com/office/drawing/2014/main" id="{0C1E6D6D-ADC2-48F0-B42E-A21E40D8DC97}"/>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86" name="stage-1-grid-4-1">
              <a:extLst>
                <a:ext uri="{FF2B5EF4-FFF2-40B4-BE49-F238E27FC236}">
                  <a16:creationId xmlns:a16="http://schemas.microsoft.com/office/drawing/2014/main" id="{33A7623B-E3DB-43D6-8926-4BAEE53AFA9B}"/>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87" name="stage-1-grid-4-2">
              <a:extLst>
                <a:ext uri="{FF2B5EF4-FFF2-40B4-BE49-F238E27FC236}">
                  <a16:creationId xmlns:a16="http://schemas.microsoft.com/office/drawing/2014/main" id="{F0312904-01B0-4982-B4C7-6881EBABCCF6}"/>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88" name="stage-1-grid-5-0">
              <a:extLst>
                <a:ext uri="{FF2B5EF4-FFF2-40B4-BE49-F238E27FC236}">
                  <a16:creationId xmlns:a16="http://schemas.microsoft.com/office/drawing/2014/main" id="{5A55E294-D0A6-42CF-851C-CC924861AAA4}"/>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89" name="stage-1-grid-5-1">
              <a:extLst>
                <a:ext uri="{FF2B5EF4-FFF2-40B4-BE49-F238E27FC236}">
                  <a16:creationId xmlns:a16="http://schemas.microsoft.com/office/drawing/2014/main" id="{F844A8E7-1BC3-4D74-85BD-992A194F50EF}"/>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90" name="stage-1-grid-5-2">
              <a:extLst>
                <a:ext uri="{FF2B5EF4-FFF2-40B4-BE49-F238E27FC236}">
                  <a16:creationId xmlns:a16="http://schemas.microsoft.com/office/drawing/2014/main" id="{8F7B1756-B2CC-4B3C-AC17-1A80C2751DBB}"/>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91" name="stage-1-grid-6-0">
              <a:extLst>
                <a:ext uri="{FF2B5EF4-FFF2-40B4-BE49-F238E27FC236}">
                  <a16:creationId xmlns:a16="http://schemas.microsoft.com/office/drawing/2014/main" id="{8BB48F6F-781A-4B1E-8B80-B4DBF23DA3E8}"/>
                </a:ext>
              </a:extLst>
            </p:cNvPr>
            <p:cNvSpPr/>
            <p:nvPr/>
          </p:nvSpPr>
          <p:spPr>
            <a:xfrm>
              <a:off x="8915400"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2" name="stage-1-grid-6-1">
              <a:extLst>
                <a:ext uri="{FF2B5EF4-FFF2-40B4-BE49-F238E27FC236}">
                  <a16:creationId xmlns:a16="http://schemas.microsoft.com/office/drawing/2014/main" id="{5A0CB026-6CF2-4607-95D2-182D74390BE2}"/>
                </a:ext>
              </a:extLst>
            </p:cNvPr>
            <p:cNvSpPr/>
            <p:nvPr/>
          </p:nvSpPr>
          <p:spPr>
            <a:xfrm>
              <a:off x="9774767"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3" name="stage-1-grid-6-2">
              <a:extLst>
                <a:ext uri="{FF2B5EF4-FFF2-40B4-BE49-F238E27FC236}">
                  <a16:creationId xmlns:a16="http://schemas.microsoft.com/office/drawing/2014/main" id="{6A3F6AF4-BCEA-4DB1-B1F1-F96CD19E2BF0}"/>
                </a:ext>
              </a:extLst>
            </p:cNvPr>
            <p:cNvSpPr/>
            <p:nvPr/>
          </p:nvSpPr>
          <p:spPr>
            <a:xfrm>
              <a:off x="10634133"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4" name="stage-1-grid-7-0">
              <a:extLst>
                <a:ext uri="{FF2B5EF4-FFF2-40B4-BE49-F238E27FC236}">
                  <a16:creationId xmlns:a16="http://schemas.microsoft.com/office/drawing/2014/main" id="{9D3B300D-C9E1-4515-B293-352CABB8DC24}"/>
                </a:ext>
              </a:extLst>
            </p:cNvPr>
            <p:cNvSpPr/>
            <p:nvPr/>
          </p:nvSpPr>
          <p:spPr>
            <a:xfrm>
              <a:off x="8915400"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95" name="stage-1-grid-7-1">
              <a:extLst>
                <a:ext uri="{FF2B5EF4-FFF2-40B4-BE49-F238E27FC236}">
                  <a16:creationId xmlns:a16="http://schemas.microsoft.com/office/drawing/2014/main" id="{BA77A8AD-97CA-4C9F-A455-7AFFDB4CF02C}"/>
                </a:ext>
              </a:extLst>
            </p:cNvPr>
            <p:cNvSpPr/>
            <p:nvPr/>
          </p:nvSpPr>
          <p:spPr>
            <a:xfrm>
              <a:off x="9774767"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7</a:t>
              </a:r>
            </a:p>
          </p:txBody>
        </p:sp>
        <p:sp>
          <p:nvSpPr>
            <p:cNvPr id="96" name="stage-1-grid-7-2">
              <a:extLst>
                <a:ext uri="{FF2B5EF4-FFF2-40B4-BE49-F238E27FC236}">
                  <a16:creationId xmlns:a16="http://schemas.microsoft.com/office/drawing/2014/main" id="{457F87E2-920A-4153-85EB-3503EAC483C4}"/>
                </a:ext>
              </a:extLst>
            </p:cNvPr>
            <p:cNvSpPr/>
            <p:nvPr/>
          </p:nvSpPr>
          <p:spPr>
            <a:xfrm>
              <a:off x="10634133" y="48514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6</a:t>
              </a:r>
            </a:p>
          </p:txBody>
        </p:sp>
        <p:sp>
          <p:nvSpPr>
            <p:cNvPr id="97" name="stage-1-grid-8-0">
              <a:extLst>
                <a:ext uri="{FF2B5EF4-FFF2-40B4-BE49-F238E27FC236}">
                  <a16:creationId xmlns:a16="http://schemas.microsoft.com/office/drawing/2014/main" id="{19165EC5-5B1F-4602-ACCE-DF6FA402F852}"/>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8" name="stage-1-grid-8-1">
              <a:extLst>
                <a:ext uri="{FF2B5EF4-FFF2-40B4-BE49-F238E27FC236}">
                  <a16:creationId xmlns:a16="http://schemas.microsoft.com/office/drawing/2014/main" id="{8C8BB37F-97F4-4B23-B825-90D3B63F0186}"/>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9" name="stage-1-grid-8-2">
              <a:extLst>
                <a:ext uri="{FF2B5EF4-FFF2-40B4-BE49-F238E27FC236}">
                  <a16:creationId xmlns:a16="http://schemas.microsoft.com/office/drawing/2014/main" id="{2BF71126-3F02-4F52-B372-1CCD5AB4E982}"/>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00" name="stage-1-tarjan-stack">
              <a:extLst>
                <a:ext uri="{FF2B5EF4-FFF2-40B4-BE49-F238E27FC236}">
                  <a16:creationId xmlns:a16="http://schemas.microsoft.com/office/drawing/2014/main" id="{77895580-F339-46B7-9B18-364621A29B8E}"/>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5, 6, 7] · верхушка: 7</a:t>
              </a:r>
            </a:p>
          </p:txBody>
        </p:sp>
        <p:sp>
          <p:nvSpPr>
            <p:cNvPr id="101" name="stage-1-tarjan-caption">
              <a:extLst>
                <a:ext uri="{FF2B5EF4-FFF2-40B4-BE49-F238E27FC236}">
                  <a16:creationId xmlns:a16="http://schemas.microsoft.com/office/drawing/2014/main" id="{EE16765F-627C-4FA5-BAE1-43738A8393E2}"/>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Извлечено: 8 · low[6] = tin[6] = 6</a:t>
              </a:r>
            </a:p>
          </p:txBody>
        </p:sp>
      </p:grpSp>
      <p:grpSp>
        <p:nvGrpSpPr>
          <p:cNvPr id="143" name="tarjan-stage-2">
            <a:extLst>
              <a:ext uri="{FF2B5EF4-FFF2-40B4-BE49-F238E27FC236}">
                <a16:creationId xmlns:a16="http://schemas.microsoft.com/office/drawing/2014/main" id="{CB7347C4-0927-4CB8-8B91-9D668C8E4745}"/>
              </a:ext>
            </a:extLst>
          </p:cNvPr>
          <p:cNvGrpSpPr/>
          <p:nvPr/>
        </p:nvGrpSpPr>
        <p:grpSpPr>
          <a:xfrm>
            <a:off x="508000" y="1511300"/>
            <a:ext cx="11201400" cy="4152900"/>
            <a:chOff x="508000" y="1511300"/>
            <a:chExt cx="11201400" cy="4152900"/>
          </a:xfrm>
        </p:grpSpPr>
        <p:sp>
          <p:nvSpPr>
            <p:cNvPr id="103" name="stage-2-!!g-node-1">
              <a:extLst>
                <a:ext uri="{FF2B5EF4-FFF2-40B4-BE49-F238E27FC236}">
                  <a16:creationId xmlns:a16="http://schemas.microsoft.com/office/drawing/2014/main" id="{846350D5-2CEF-4BD8-BBEA-73A23FCE03DE}"/>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04" name="stage-2-!!g-node-2">
              <a:extLst>
                <a:ext uri="{FF2B5EF4-FFF2-40B4-BE49-F238E27FC236}">
                  <a16:creationId xmlns:a16="http://schemas.microsoft.com/office/drawing/2014/main" id="{DB84CFAA-0BBE-4B0A-A3AF-0C2BAA2AEE69}"/>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05" name="stage-2-!!g-node-3">
              <a:extLst>
                <a:ext uri="{FF2B5EF4-FFF2-40B4-BE49-F238E27FC236}">
                  <a16:creationId xmlns:a16="http://schemas.microsoft.com/office/drawing/2014/main" id="{2CB6ED0C-F37C-4A8C-AA4D-E96BE5913147}"/>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6" name="stage-2-!!g-node-4">
              <a:extLst>
                <a:ext uri="{FF2B5EF4-FFF2-40B4-BE49-F238E27FC236}">
                  <a16:creationId xmlns:a16="http://schemas.microsoft.com/office/drawing/2014/main" id="{0CD07F69-C173-4CC2-BC53-5243AE1B66F7}"/>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07" name="stage-2-!!g-node-5">
              <a:extLst>
                <a:ext uri="{FF2B5EF4-FFF2-40B4-BE49-F238E27FC236}">
                  <a16:creationId xmlns:a16="http://schemas.microsoft.com/office/drawing/2014/main" id="{B03AA920-C416-40C3-A5B5-6EDF3EEE14C9}"/>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08" name="stage-2-!!g-node-6">
              <a:extLst>
                <a:ext uri="{FF2B5EF4-FFF2-40B4-BE49-F238E27FC236}">
                  <a16:creationId xmlns:a16="http://schemas.microsoft.com/office/drawing/2014/main" id="{273BF16C-BAE8-4FE1-8027-665D2641AB1F}"/>
                </a:ext>
              </a:extLst>
            </p:cNvPr>
            <p:cNvSpPr/>
            <p:nvPr/>
          </p:nvSpPr>
          <p:spPr>
            <a:xfrm>
              <a:off x="63500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09" name="stage-2-!!g-node-7">
              <a:extLst>
                <a:ext uri="{FF2B5EF4-FFF2-40B4-BE49-F238E27FC236}">
                  <a16:creationId xmlns:a16="http://schemas.microsoft.com/office/drawing/2014/main" id="{8A9BD6E1-FD48-4741-8978-BC26CD5251A5}"/>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10" name="stage-2-!!g-node-8">
              <a:extLst>
                <a:ext uri="{FF2B5EF4-FFF2-40B4-BE49-F238E27FC236}">
                  <a16:creationId xmlns:a16="http://schemas.microsoft.com/office/drawing/2014/main" id="{08C7F551-0787-4B18-9C68-BD9F49A12AE2}"/>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111" name="stage-2-box-21-697">
              <a:extLst>
                <a:ext uri="{FF2B5EF4-FFF2-40B4-BE49-F238E27FC236}">
                  <a16:creationId xmlns:a16="http://schemas.microsoft.com/office/drawing/2014/main" id="{EAC073A9-CF85-4B2C-8844-E97C7CED3963}"/>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stage-2-box-22-698">
              <a:extLst>
                <a:ext uri="{FF2B5EF4-FFF2-40B4-BE49-F238E27FC236}">
                  <a16:creationId xmlns:a16="http://schemas.microsoft.com/office/drawing/2014/main" id="{3C70942C-161A-496A-8003-E5D6DDEAB5A8}"/>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stage-2-text-23-699">
              <a:extLst>
                <a:ext uri="{FF2B5EF4-FFF2-40B4-BE49-F238E27FC236}">
                  <a16:creationId xmlns:a16="http://schemas.microsoft.com/office/drawing/2014/main" id="{F0764D72-9A98-424C-9042-DF1555D76E86}"/>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Снимаем 7</a:t>
              </a:r>
            </a:p>
          </p:txBody>
        </p:sp>
        <p:sp>
          <p:nvSpPr>
            <p:cNvPr id="114" name="stage-2-grid-0-0">
              <a:extLst>
                <a:ext uri="{FF2B5EF4-FFF2-40B4-BE49-F238E27FC236}">
                  <a16:creationId xmlns:a16="http://schemas.microsoft.com/office/drawing/2014/main" id="{ABE0B99D-C45A-4B56-B573-09744E8A1D9F}"/>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15" name="stage-2-grid-0-1">
              <a:extLst>
                <a:ext uri="{FF2B5EF4-FFF2-40B4-BE49-F238E27FC236}">
                  <a16:creationId xmlns:a16="http://schemas.microsoft.com/office/drawing/2014/main" id="{52269837-70DB-4037-A72E-F1A36E923D31}"/>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16" name="stage-2-grid-0-2">
              <a:extLst>
                <a:ext uri="{FF2B5EF4-FFF2-40B4-BE49-F238E27FC236}">
                  <a16:creationId xmlns:a16="http://schemas.microsoft.com/office/drawing/2014/main" id="{39E26287-0DBA-4326-920F-4ED8852F5BC5}"/>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17" name="stage-2-grid-1-0">
              <a:extLst>
                <a:ext uri="{FF2B5EF4-FFF2-40B4-BE49-F238E27FC236}">
                  <a16:creationId xmlns:a16="http://schemas.microsoft.com/office/drawing/2014/main" id="{F7F5BF30-B04C-40C4-8482-1B4FB48985F5}"/>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18" name="stage-2-grid-1-1">
              <a:extLst>
                <a:ext uri="{FF2B5EF4-FFF2-40B4-BE49-F238E27FC236}">
                  <a16:creationId xmlns:a16="http://schemas.microsoft.com/office/drawing/2014/main" id="{15DC4112-261F-4F09-B54D-B316A86965BA}"/>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19" name="stage-2-grid-1-2">
              <a:extLst>
                <a:ext uri="{FF2B5EF4-FFF2-40B4-BE49-F238E27FC236}">
                  <a16:creationId xmlns:a16="http://schemas.microsoft.com/office/drawing/2014/main" id="{9F704125-2988-4360-A3CD-479E4B8DFFF3}"/>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0" name="stage-2-grid-2-0">
              <a:extLst>
                <a:ext uri="{FF2B5EF4-FFF2-40B4-BE49-F238E27FC236}">
                  <a16:creationId xmlns:a16="http://schemas.microsoft.com/office/drawing/2014/main" id="{35C0E940-710A-4DE0-A3A0-916D91E2199A}"/>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1" name="stage-2-grid-2-1">
              <a:extLst>
                <a:ext uri="{FF2B5EF4-FFF2-40B4-BE49-F238E27FC236}">
                  <a16:creationId xmlns:a16="http://schemas.microsoft.com/office/drawing/2014/main" id="{5F4ED652-BE67-4EE7-82F7-F1DF2A251556}"/>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2" name="stage-2-grid-2-2">
              <a:extLst>
                <a:ext uri="{FF2B5EF4-FFF2-40B4-BE49-F238E27FC236}">
                  <a16:creationId xmlns:a16="http://schemas.microsoft.com/office/drawing/2014/main" id="{5143F591-FDBA-4ADB-9BEF-48EF091B5E09}"/>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3" name="stage-2-grid-3-0">
              <a:extLst>
                <a:ext uri="{FF2B5EF4-FFF2-40B4-BE49-F238E27FC236}">
                  <a16:creationId xmlns:a16="http://schemas.microsoft.com/office/drawing/2014/main" id="{E0AF85DF-4AB7-4916-ABC7-4262D0E1F16F}"/>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4" name="stage-2-grid-3-1">
              <a:extLst>
                <a:ext uri="{FF2B5EF4-FFF2-40B4-BE49-F238E27FC236}">
                  <a16:creationId xmlns:a16="http://schemas.microsoft.com/office/drawing/2014/main" id="{73A87CB4-102A-4D21-962F-CE1C4727A4F0}"/>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5" name="stage-2-grid-3-2">
              <a:extLst>
                <a:ext uri="{FF2B5EF4-FFF2-40B4-BE49-F238E27FC236}">
                  <a16:creationId xmlns:a16="http://schemas.microsoft.com/office/drawing/2014/main" id="{6077340C-9DBB-45D4-B2AE-37A51AFBC3A4}"/>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6" name="stage-2-grid-4-0">
              <a:extLst>
                <a:ext uri="{FF2B5EF4-FFF2-40B4-BE49-F238E27FC236}">
                  <a16:creationId xmlns:a16="http://schemas.microsoft.com/office/drawing/2014/main" id="{317B0627-4241-43FD-BCE9-DDA771274585}"/>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27" name="stage-2-grid-4-1">
              <a:extLst>
                <a:ext uri="{FF2B5EF4-FFF2-40B4-BE49-F238E27FC236}">
                  <a16:creationId xmlns:a16="http://schemas.microsoft.com/office/drawing/2014/main" id="{2159F0A3-E25E-4DF5-90E0-6E3452A20966}"/>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28" name="stage-2-grid-4-2">
              <a:extLst>
                <a:ext uri="{FF2B5EF4-FFF2-40B4-BE49-F238E27FC236}">
                  <a16:creationId xmlns:a16="http://schemas.microsoft.com/office/drawing/2014/main" id="{B996F04E-5557-46FD-81AD-C1D2B71098F5}"/>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29" name="stage-2-grid-5-0">
              <a:extLst>
                <a:ext uri="{FF2B5EF4-FFF2-40B4-BE49-F238E27FC236}">
                  <a16:creationId xmlns:a16="http://schemas.microsoft.com/office/drawing/2014/main" id="{E3D2CBB9-4C08-4EA2-924B-75E1A60A64B2}"/>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30" name="stage-2-grid-5-1">
              <a:extLst>
                <a:ext uri="{FF2B5EF4-FFF2-40B4-BE49-F238E27FC236}">
                  <a16:creationId xmlns:a16="http://schemas.microsoft.com/office/drawing/2014/main" id="{79A230F3-FA1E-43C2-A512-B987B8082F80}"/>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31" name="stage-2-grid-5-2">
              <a:extLst>
                <a:ext uri="{FF2B5EF4-FFF2-40B4-BE49-F238E27FC236}">
                  <a16:creationId xmlns:a16="http://schemas.microsoft.com/office/drawing/2014/main" id="{BEFC9CA1-BAC4-4E60-B989-A6BF946B90C6}"/>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32" name="stage-2-grid-6-0">
              <a:extLst>
                <a:ext uri="{FF2B5EF4-FFF2-40B4-BE49-F238E27FC236}">
                  <a16:creationId xmlns:a16="http://schemas.microsoft.com/office/drawing/2014/main" id="{8BA6A5A4-2CF9-4733-A129-35B23A5D16BE}"/>
                </a:ext>
              </a:extLst>
            </p:cNvPr>
            <p:cNvSpPr/>
            <p:nvPr/>
          </p:nvSpPr>
          <p:spPr>
            <a:xfrm>
              <a:off x="8915400"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3" name="stage-2-grid-6-1">
              <a:extLst>
                <a:ext uri="{FF2B5EF4-FFF2-40B4-BE49-F238E27FC236}">
                  <a16:creationId xmlns:a16="http://schemas.microsoft.com/office/drawing/2014/main" id="{DA1C9EBB-D052-4F89-8B88-01E97FECA1D3}"/>
                </a:ext>
              </a:extLst>
            </p:cNvPr>
            <p:cNvSpPr/>
            <p:nvPr/>
          </p:nvSpPr>
          <p:spPr>
            <a:xfrm>
              <a:off x="9774767"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4" name="stage-2-grid-6-2">
              <a:extLst>
                <a:ext uri="{FF2B5EF4-FFF2-40B4-BE49-F238E27FC236}">
                  <a16:creationId xmlns:a16="http://schemas.microsoft.com/office/drawing/2014/main" id="{A324DF48-4616-46A8-9495-3AE7CE88925B}"/>
                </a:ext>
              </a:extLst>
            </p:cNvPr>
            <p:cNvSpPr/>
            <p:nvPr/>
          </p:nvSpPr>
          <p:spPr>
            <a:xfrm>
              <a:off x="10634133" y="45085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5" name="stage-2-grid-7-0">
              <a:extLst>
                <a:ext uri="{FF2B5EF4-FFF2-40B4-BE49-F238E27FC236}">
                  <a16:creationId xmlns:a16="http://schemas.microsoft.com/office/drawing/2014/main" id="{409432E6-A6D7-48D7-8CE9-62E30E7CAC8A}"/>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6" name="stage-2-grid-7-1">
              <a:extLst>
                <a:ext uri="{FF2B5EF4-FFF2-40B4-BE49-F238E27FC236}">
                  <a16:creationId xmlns:a16="http://schemas.microsoft.com/office/drawing/2014/main" id="{D9128443-44DE-4B91-952A-7AFF4BA8E506}"/>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7" name="stage-2-grid-7-2">
              <a:extLst>
                <a:ext uri="{FF2B5EF4-FFF2-40B4-BE49-F238E27FC236}">
                  <a16:creationId xmlns:a16="http://schemas.microsoft.com/office/drawing/2014/main" id="{BB991A30-3955-493D-BDA8-1CBA5411CDAC}"/>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8" name="stage-2-grid-8-0">
              <a:extLst>
                <a:ext uri="{FF2B5EF4-FFF2-40B4-BE49-F238E27FC236}">
                  <a16:creationId xmlns:a16="http://schemas.microsoft.com/office/drawing/2014/main" id="{5DFB4FC4-1FB4-4A6B-99C2-BF1064066D24}"/>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39" name="stage-2-grid-8-1">
              <a:extLst>
                <a:ext uri="{FF2B5EF4-FFF2-40B4-BE49-F238E27FC236}">
                  <a16:creationId xmlns:a16="http://schemas.microsoft.com/office/drawing/2014/main" id="{31F491AE-C4E5-483C-A071-0AC975B79E63}"/>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40" name="stage-2-grid-8-2">
              <a:extLst>
                <a:ext uri="{FF2B5EF4-FFF2-40B4-BE49-F238E27FC236}">
                  <a16:creationId xmlns:a16="http://schemas.microsoft.com/office/drawing/2014/main" id="{0C29A759-7102-4CAD-82A8-5C39681CD398}"/>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41" name="stage-2-tarjan-stack">
              <a:extLst>
                <a:ext uri="{FF2B5EF4-FFF2-40B4-BE49-F238E27FC236}">
                  <a16:creationId xmlns:a16="http://schemas.microsoft.com/office/drawing/2014/main" id="{818D9064-B548-4456-B5D6-034DB556BDC8}"/>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5, 6] · верхушка: 6</a:t>
              </a:r>
            </a:p>
          </p:txBody>
        </p:sp>
        <p:sp>
          <p:nvSpPr>
            <p:cNvPr id="142" name="stage-2-tarjan-caption">
              <a:extLst>
                <a:ext uri="{FF2B5EF4-FFF2-40B4-BE49-F238E27FC236}">
                  <a16:creationId xmlns:a16="http://schemas.microsoft.com/office/drawing/2014/main" id="{4EC3F77F-DDF9-42F5-BA24-EC24C129D960}"/>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Извлечено: 8, 7 · low[6] = tin[6] = 6</a:t>
              </a:r>
            </a:p>
          </p:txBody>
        </p:sp>
      </p:grpSp>
      <p:grpSp>
        <p:nvGrpSpPr>
          <p:cNvPr id="184" name="tarjan-stage-4">
            <a:extLst>
              <a:ext uri="{FF2B5EF4-FFF2-40B4-BE49-F238E27FC236}">
                <a16:creationId xmlns:a16="http://schemas.microsoft.com/office/drawing/2014/main" id="{1F39EC3E-6673-4FF8-9CC5-21527A1633D0}"/>
              </a:ext>
            </a:extLst>
          </p:cNvPr>
          <p:cNvGrpSpPr/>
          <p:nvPr/>
        </p:nvGrpSpPr>
        <p:grpSpPr>
          <a:xfrm>
            <a:off x="508000" y="1511300"/>
            <a:ext cx="11201400" cy="4152900"/>
            <a:chOff x="508000" y="1511300"/>
            <a:chExt cx="11201400" cy="4152900"/>
          </a:xfrm>
        </p:grpSpPr>
        <p:sp>
          <p:nvSpPr>
            <p:cNvPr id="144" name="stage-4-!!g-node-1">
              <a:extLst>
                <a:ext uri="{FF2B5EF4-FFF2-40B4-BE49-F238E27FC236}">
                  <a16:creationId xmlns:a16="http://schemas.microsoft.com/office/drawing/2014/main" id="{D956000F-591C-4D3B-8B20-FADACB340090}"/>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45" name="stage-4-!!g-node-2">
              <a:extLst>
                <a:ext uri="{FF2B5EF4-FFF2-40B4-BE49-F238E27FC236}">
                  <a16:creationId xmlns:a16="http://schemas.microsoft.com/office/drawing/2014/main" id="{C0A07C13-F8BD-43A6-91BB-4D019C2CF70E}"/>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46" name="stage-4-!!g-node-3">
              <a:extLst>
                <a:ext uri="{FF2B5EF4-FFF2-40B4-BE49-F238E27FC236}">
                  <a16:creationId xmlns:a16="http://schemas.microsoft.com/office/drawing/2014/main" id="{6FFED304-1EDC-4DB9-AFA2-F09884CF3DA4}"/>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7" name="stage-4-!!g-node-4">
              <a:extLst>
                <a:ext uri="{FF2B5EF4-FFF2-40B4-BE49-F238E27FC236}">
                  <a16:creationId xmlns:a16="http://schemas.microsoft.com/office/drawing/2014/main" id="{D5F57F0B-C37F-4C85-9703-B649A7FC17D0}"/>
                </a:ext>
              </a:extLst>
            </p:cNvPr>
            <p:cNvSpPr/>
            <p:nvPr/>
          </p:nvSpPr>
          <p:spPr>
            <a:xfrm>
              <a:off x="3619500" y="2286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48" name="stage-4-!!g-node-5">
              <a:extLst>
                <a:ext uri="{FF2B5EF4-FFF2-40B4-BE49-F238E27FC236}">
                  <a16:creationId xmlns:a16="http://schemas.microsoft.com/office/drawing/2014/main" id="{B1198873-B68D-47D5-B251-126706A66CF1}"/>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49" name="stage-4-!!g-node-6">
              <a:extLst>
                <a:ext uri="{FF2B5EF4-FFF2-40B4-BE49-F238E27FC236}">
                  <a16:creationId xmlns:a16="http://schemas.microsoft.com/office/drawing/2014/main" id="{FA407649-6AAE-46B7-BC08-3650FF08F1D2}"/>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50" name="stage-4-!!g-node-7">
              <a:extLst>
                <a:ext uri="{FF2B5EF4-FFF2-40B4-BE49-F238E27FC236}">
                  <a16:creationId xmlns:a16="http://schemas.microsoft.com/office/drawing/2014/main" id="{2CD4CDD3-D3C6-471F-97F4-099FB6438F4C}"/>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51" name="stage-4-!!g-node-8">
              <a:extLst>
                <a:ext uri="{FF2B5EF4-FFF2-40B4-BE49-F238E27FC236}">
                  <a16:creationId xmlns:a16="http://schemas.microsoft.com/office/drawing/2014/main" id="{1FA80AE8-E420-4D10-A313-339938400EBD}"/>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152" name="stage-4-box-21-697">
              <a:extLst>
                <a:ext uri="{FF2B5EF4-FFF2-40B4-BE49-F238E27FC236}">
                  <a16:creationId xmlns:a16="http://schemas.microsoft.com/office/drawing/2014/main" id="{64F2FF8D-A532-4C7D-AA17-41A9E6552F2B}"/>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3" name="stage-4-box-22-698">
              <a:extLst>
                <a:ext uri="{FF2B5EF4-FFF2-40B4-BE49-F238E27FC236}">
                  <a16:creationId xmlns:a16="http://schemas.microsoft.com/office/drawing/2014/main" id="{FC5510C3-81EF-4693-9BBE-6559E070BEE8}"/>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4" name="stage-4-text-23-699">
              <a:extLst>
                <a:ext uri="{FF2B5EF4-FFF2-40B4-BE49-F238E27FC236}">
                  <a16:creationId xmlns:a16="http://schemas.microsoft.com/office/drawing/2014/main" id="{0FDAB86C-1128-4AE6-9A6B-19D4D7EC0FA4}"/>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en-US" sz="2100">
                  <a:solidFill>
                    <a:srgbClr val="FFFFFF"/>
                  </a:solidFill>
                  <a:latin typeface="Montserrat"/>
                </a:rPr>
                <a:t>SCC {6, 7, 8}</a:t>
              </a:r>
              <a:endParaRPr lang="ru-RU" sz="2100">
                <a:solidFill>
                  <a:srgbClr val="FFFFFF"/>
                </a:solidFill>
                <a:latin typeface="Montserrat"/>
              </a:endParaRPr>
            </a:p>
          </p:txBody>
        </p:sp>
        <p:sp>
          <p:nvSpPr>
            <p:cNvPr id="155" name="stage-4-grid-0-0">
              <a:extLst>
                <a:ext uri="{FF2B5EF4-FFF2-40B4-BE49-F238E27FC236}">
                  <a16:creationId xmlns:a16="http://schemas.microsoft.com/office/drawing/2014/main" id="{A8B62817-1BFB-412F-B304-787097F0DA4E}"/>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56" name="stage-4-grid-0-1">
              <a:extLst>
                <a:ext uri="{FF2B5EF4-FFF2-40B4-BE49-F238E27FC236}">
                  <a16:creationId xmlns:a16="http://schemas.microsoft.com/office/drawing/2014/main" id="{99409907-CADB-4E0F-85D7-B7309DC11725}"/>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57" name="stage-4-grid-0-2">
              <a:extLst>
                <a:ext uri="{FF2B5EF4-FFF2-40B4-BE49-F238E27FC236}">
                  <a16:creationId xmlns:a16="http://schemas.microsoft.com/office/drawing/2014/main" id="{A995E2E0-293E-43F6-A9A8-BD9D6654616E}"/>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58" name="stage-4-grid-1-0">
              <a:extLst>
                <a:ext uri="{FF2B5EF4-FFF2-40B4-BE49-F238E27FC236}">
                  <a16:creationId xmlns:a16="http://schemas.microsoft.com/office/drawing/2014/main" id="{9033D50C-527A-4D59-B409-DCA8DA5AE31B}"/>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59" name="stage-4-grid-1-1">
              <a:extLst>
                <a:ext uri="{FF2B5EF4-FFF2-40B4-BE49-F238E27FC236}">
                  <a16:creationId xmlns:a16="http://schemas.microsoft.com/office/drawing/2014/main" id="{B8FD0D63-95F7-4B41-9B87-FB1CA1BF7EB7}"/>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0" name="stage-4-grid-1-2">
              <a:extLst>
                <a:ext uri="{FF2B5EF4-FFF2-40B4-BE49-F238E27FC236}">
                  <a16:creationId xmlns:a16="http://schemas.microsoft.com/office/drawing/2014/main" id="{FA1261F2-2201-4901-9780-58618B0FD53A}"/>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1" name="stage-4-grid-2-0">
              <a:extLst>
                <a:ext uri="{FF2B5EF4-FFF2-40B4-BE49-F238E27FC236}">
                  <a16:creationId xmlns:a16="http://schemas.microsoft.com/office/drawing/2014/main" id="{CA055773-FE55-4305-936D-3C345FD76942}"/>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2" name="stage-4-grid-2-1">
              <a:extLst>
                <a:ext uri="{FF2B5EF4-FFF2-40B4-BE49-F238E27FC236}">
                  <a16:creationId xmlns:a16="http://schemas.microsoft.com/office/drawing/2014/main" id="{D17D15EF-691C-4D45-9D6C-D7213B33B833}"/>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3" name="stage-4-grid-2-2">
              <a:extLst>
                <a:ext uri="{FF2B5EF4-FFF2-40B4-BE49-F238E27FC236}">
                  <a16:creationId xmlns:a16="http://schemas.microsoft.com/office/drawing/2014/main" id="{49D3BA76-85C5-4CF3-AD89-604736AF1D71}"/>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4" name="stage-4-grid-3-0">
              <a:extLst>
                <a:ext uri="{FF2B5EF4-FFF2-40B4-BE49-F238E27FC236}">
                  <a16:creationId xmlns:a16="http://schemas.microsoft.com/office/drawing/2014/main" id="{504427EA-929D-41E0-A8D4-891E53DD83BE}"/>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5" name="stage-4-grid-3-1">
              <a:extLst>
                <a:ext uri="{FF2B5EF4-FFF2-40B4-BE49-F238E27FC236}">
                  <a16:creationId xmlns:a16="http://schemas.microsoft.com/office/drawing/2014/main" id="{2CF87754-65D9-4D83-8D70-CA11B87E7027}"/>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6" name="stage-4-grid-3-2">
              <a:extLst>
                <a:ext uri="{FF2B5EF4-FFF2-40B4-BE49-F238E27FC236}">
                  <a16:creationId xmlns:a16="http://schemas.microsoft.com/office/drawing/2014/main" id="{38B1F85A-4824-403D-9CBB-3CA1F58EDC53}"/>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7" name="stage-4-grid-4-0">
              <a:extLst>
                <a:ext uri="{FF2B5EF4-FFF2-40B4-BE49-F238E27FC236}">
                  <a16:creationId xmlns:a16="http://schemas.microsoft.com/office/drawing/2014/main" id="{0E198AEF-1030-47FC-8293-2C27F146A5BA}"/>
                </a:ext>
              </a:extLst>
            </p:cNvPr>
            <p:cNvSpPr/>
            <p:nvPr/>
          </p:nvSpPr>
          <p:spPr>
            <a:xfrm>
              <a:off x="8915400"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68" name="stage-4-grid-4-1">
              <a:extLst>
                <a:ext uri="{FF2B5EF4-FFF2-40B4-BE49-F238E27FC236}">
                  <a16:creationId xmlns:a16="http://schemas.microsoft.com/office/drawing/2014/main" id="{36FF65D5-7D96-4F5C-A654-1490A68EAF38}"/>
                </a:ext>
              </a:extLst>
            </p:cNvPr>
            <p:cNvSpPr/>
            <p:nvPr/>
          </p:nvSpPr>
          <p:spPr>
            <a:xfrm>
              <a:off x="9774767"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69" name="stage-4-grid-4-2">
              <a:extLst>
                <a:ext uri="{FF2B5EF4-FFF2-40B4-BE49-F238E27FC236}">
                  <a16:creationId xmlns:a16="http://schemas.microsoft.com/office/drawing/2014/main" id="{BCCFF0E6-28BC-499F-B59F-2A5B3B122732}"/>
                </a:ext>
              </a:extLst>
            </p:cNvPr>
            <p:cNvSpPr/>
            <p:nvPr/>
          </p:nvSpPr>
          <p:spPr>
            <a:xfrm>
              <a:off x="10634133" y="38227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70" name="stage-4-grid-5-0">
              <a:extLst>
                <a:ext uri="{FF2B5EF4-FFF2-40B4-BE49-F238E27FC236}">
                  <a16:creationId xmlns:a16="http://schemas.microsoft.com/office/drawing/2014/main" id="{B4589AE2-7951-4FDD-A39A-6DAF92DFF3A5}"/>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71" name="stage-4-grid-5-1">
              <a:extLst>
                <a:ext uri="{FF2B5EF4-FFF2-40B4-BE49-F238E27FC236}">
                  <a16:creationId xmlns:a16="http://schemas.microsoft.com/office/drawing/2014/main" id="{C5A18464-6613-46D0-B8AC-E4940C3973AD}"/>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172" name="stage-4-grid-5-2">
              <a:extLst>
                <a:ext uri="{FF2B5EF4-FFF2-40B4-BE49-F238E27FC236}">
                  <a16:creationId xmlns:a16="http://schemas.microsoft.com/office/drawing/2014/main" id="{2B6500FB-8255-488C-828A-D3598890DF8B}"/>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173" name="stage-4-grid-6-0">
              <a:extLst>
                <a:ext uri="{FF2B5EF4-FFF2-40B4-BE49-F238E27FC236}">
                  <a16:creationId xmlns:a16="http://schemas.microsoft.com/office/drawing/2014/main" id="{183ED1E3-5B84-45D7-A8C3-F7E3EC48159C}"/>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4" name="stage-4-grid-6-1">
              <a:extLst>
                <a:ext uri="{FF2B5EF4-FFF2-40B4-BE49-F238E27FC236}">
                  <a16:creationId xmlns:a16="http://schemas.microsoft.com/office/drawing/2014/main" id="{906441F5-3D2F-4CCA-9DC3-1F590599A709}"/>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5" name="stage-4-grid-6-2">
              <a:extLst>
                <a:ext uri="{FF2B5EF4-FFF2-40B4-BE49-F238E27FC236}">
                  <a16:creationId xmlns:a16="http://schemas.microsoft.com/office/drawing/2014/main" id="{5044C758-15CC-42D6-8039-F625D8F87BC6}"/>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6" name="stage-4-grid-7-0">
              <a:extLst>
                <a:ext uri="{FF2B5EF4-FFF2-40B4-BE49-F238E27FC236}">
                  <a16:creationId xmlns:a16="http://schemas.microsoft.com/office/drawing/2014/main" id="{E043CE6C-2CE8-440A-BA72-286FB20F4B85}"/>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77" name="stage-4-grid-7-1">
              <a:extLst>
                <a:ext uri="{FF2B5EF4-FFF2-40B4-BE49-F238E27FC236}">
                  <a16:creationId xmlns:a16="http://schemas.microsoft.com/office/drawing/2014/main" id="{6CB346DE-808A-4011-9589-E45856A853D1}"/>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78" name="stage-4-grid-7-2">
              <a:extLst>
                <a:ext uri="{FF2B5EF4-FFF2-40B4-BE49-F238E27FC236}">
                  <a16:creationId xmlns:a16="http://schemas.microsoft.com/office/drawing/2014/main" id="{A31127F0-D97B-42C0-8563-DD5FE49BD4F1}"/>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9" name="stage-4-grid-8-0">
              <a:extLst>
                <a:ext uri="{FF2B5EF4-FFF2-40B4-BE49-F238E27FC236}">
                  <a16:creationId xmlns:a16="http://schemas.microsoft.com/office/drawing/2014/main" id="{296C6E9D-8335-4A2E-8662-890C60D4872E}"/>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80" name="stage-4-grid-8-1">
              <a:extLst>
                <a:ext uri="{FF2B5EF4-FFF2-40B4-BE49-F238E27FC236}">
                  <a16:creationId xmlns:a16="http://schemas.microsoft.com/office/drawing/2014/main" id="{34E93FEC-FF08-4B64-B65F-F9BEDE9D9DD7}"/>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81" name="stage-4-grid-8-2">
              <a:extLst>
                <a:ext uri="{FF2B5EF4-FFF2-40B4-BE49-F238E27FC236}">
                  <a16:creationId xmlns:a16="http://schemas.microsoft.com/office/drawing/2014/main" id="{D02BB1B9-7507-47B7-8201-40B9E4046CB5}"/>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82" name="stage-4-tarjan-stack">
              <a:extLst>
                <a:ext uri="{FF2B5EF4-FFF2-40B4-BE49-F238E27FC236}">
                  <a16:creationId xmlns:a16="http://schemas.microsoft.com/office/drawing/2014/main" id="{0AA9ED0B-4607-4E8B-A297-E61A304E8696}"/>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5] · верхушка: 5</a:t>
              </a:r>
            </a:p>
          </p:txBody>
        </p:sp>
        <p:sp>
          <p:nvSpPr>
            <p:cNvPr id="183" name="stage-4-tarjan-caption">
              <a:extLst>
                <a:ext uri="{FF2B5EF4-FFF2-40B4-BE49-F238E27FC236}">
                  <a16:creationId xmlns:a16="http://schemas.microsoft.com/office/drawing/2014/main" id="{2C97ACFA-5373-45D5-9FF2-D5B4168BD178}"/>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SCC = {6, 7, 8} · low[6] = tin[6] = 6</a:t>
              </a:r>
              <a:endParaRPr lang="ru-RU" sz="2000">
                <a:solidFill>
                  <a:srgbClr val="352379"/>
                </a:solidFill>
                <a:latin typeface="Montserrat"/>
              </a:endParaRPr>
            </a:p>
          </p:txBody>
        </p:sp>
      </p:grpSp>
    </p:spTree>
    <p:extLst>
      <p:ext uri="{BB962C8B-B14F-4D97-AF65-F5344CB8AC3E}">
        <p14:creationId xmlns:p14="http://schemas.microsoft.com/office/powerpoint/2010/main" val="2639658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25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Effect transition="in" filter="fade">
                                      <p:cBhvr>
                                        <p:cTn id="12" dur="250"/>
                                        <p:tgtEl>
                                          <p:spTgt spid="143"/>
                                        </p:tgtEl>
                                      </p:cBhvr>
                                    </p:animEffect>
                                  </p:childTnLst>
                                </p:cTn>
                              </p:par>
                              <p:par>
                                <p:cTn id="13" presetID="10" presetClass="exit" presetSubtype="0" fill="hold" nodeType="withEffect">
                                  <p:stCondLst>
                                    <p:cond delay="0"/>
                                  </p:stCondLst>
                                  <p:childTnLst>
                                    <p:animEffect transition="out" filter="fade">
                                      <p:cBhvr>
                                        <p:cTn id="14" dur="150"/>
                                        <p:tgtEl>
                                          <p:spTgt spid="102"/>
                                        </p:tgtEl>
                                      </p:cBhvr>
                                    </p:animEffect>
                                    <p:set>
                                      <p:cBhvr>
                                        <p:cTn id="15" dur="1" fill="hold">
                                          <p:stCondLst>
                                            <p:cond delay="149"/>
                                          </p:stCondLst>
                                        </p:cTn>
                                        <p:tgtEl>
                                          <p:spTgt spid="10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4"/>
                                        </p:tgtEl>
                                        <p:attrNameLst>
                                          <p:attrName>style.visibility</p:attrName>
                                        </p:attrNameLst>
                                      </p:cBhvr>
                                      <p:to>
                                        <p:strVal val="visible"/>
                                      </p:to>
                                    </p:set>
                                    <p:animEffect transition="in" filter="fade">
                                      <p:cBhvr>
                                        <p:cTn id="20" dur="250"/>
                                        <p:tgtEl>
                                          <p:spTgt spid="184"/>
                                        </p:tgtEl>
                                      </p:cBhvr>
                                    </p:animEffect>
                                  </p:childTnLst>
                                </p:cTn>
                              </p:par>
                              <p:par>
                                <p:cTn id="21" presetID="10" presetClass="exit" presetSubtype="0" fill="hold" nodeType="withEffect">
                                  <p:stCondLst>
                                    <p:cond delay="0"/>
                                  </p:stCondLst>
                                  <p:childTnLst>
                                    <p:animEffect transition="out" filter="fade">
                                      <p:cBhvr>
                                        <p:cTn id="22" dur="150"/>
                                        <p:tgtEl>
                                          <p:spTgt spid="143"/>
                                        </p:tgtEl>
                                      </p:cBhvr>
                                    </p:animEffect>
                                    <p:set>
                                      <p:cBhvr>
                                        <p:cTn id="23" dur="1" fill="hold">
                                          <p:stCondLst>
                                            <p:cond delay="149"/>
                                          </p:stCondLst>
                                        </p:cTn>
                                        <p:tgtEl>
                                          <p:spTgt spid="1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Тарьян: выделяем SCC {4, 5}</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Корень </a:t>
            </a:r>
            <a:r>
              <a:rPr lang="en-US" sz="2100">
                <a:solidFill>
                  <a:srgbClr val="FFFFFF"/>
                </a:solidFill>
                <a:latin typeface="Montserrat"/>
              </a:rPr>
              <a:t>SCC: 4</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38</a:t>
            </a:r>
          </a:p>
        </p:txBody>
      </p:sp>
      <p:sp>
        <p:nvSpPr>
          <p:cNvPr id="31" name="grid-0-0">
            <a:extLst>
              <a:ext uri="{FF2B5EF4-FFF2-40B4-BE49-F238E27FC236}">
                <a16:creationId xmlns:a16="http://schemas.microsoft.com/office/drawing/2014/main" id="{75DD2A98-691F-4E9A-B23F-35BDA5E52F7C}"/>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35E5E5F5-104A-4FE8-AC1D-57267BDDA237}"/>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0-2">
            <a:extLst>
              <a:ext uri="{FF2B5EF4-FFF2-40B4-BE49-F238E27FC236}">
                <a16:creationId xmlns:a16="http://schemas.microsoft.com/office/drawing/2014/main" id="{93EF236D-2F31-4878-939A-40D980AB6113}"/>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34" name="grid-1-0">
            <a:extLst>
              <a:ext uri="{FF2B5EF4-FFF2-40B4-BE49-F238E27FC236}">
                <a16:creationId xmlns:a16="http://schemas.microsoft.com/office/drawing/2014/main" id="{95679917-A701-4F5C-8C13-205F734BFBF2}"/>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5" name="grid-1-1">
            <a:extLst>
              <a:ext uri="{FF2B5EF4-FFF2-40B4-BE49-F238E27FC236}">
                <a16:creationId xmlns:a16="http://schemas.microsoft.com/office/drawing/2014/main" id="{D137AE8C-3E9B-4331-962F-39AFE7486CAF}"/>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6" name="grid-1-2">
            <a:extLst>
              <a:ext uri="{FF2B5EF4-FFF2-40B4-BE49-F238E27FC236}">
                <a16:creationId xmlns:a16="http://schemas.microsoft.com/office/drawing/2014/main" id="{4547219C-CE30-49B2-B2C2-BCAA2897F5B1}"/>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37" name="grid-2-0">
            <a:extLst>
              <a:ext uri="{FF2B5EF4-FFF2-40B4-BE49-F238E27FC236}">
                <a16:creationId xmlns:a16="http://schemas.microsoft.com/office/drawing/2014/main" id="{E75A6B34-B0F9-4CE0-B034-CC443C97CBB6}"/>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8" name="grid-2-1">
            <a:extLst>
              <a:ext uri="{FF2B5EF4-FFF2-40B4-BE49-F238E27FC236}">
                <a16:creationId xmlns:a16="http://schemas.microsoft.com/office/drawing/2014/main" id="{DDC7E678-E61F-4587-AE78-8E07A76CB46C}"/>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9" name="grid-2-2">
            <a:extLst>
              <a:ext uri="{FF2B5EF4-FFF2-40B4-BE49-F238E27FC236}">
                <a16:creationId xmlns:a16="http://schemas.microsoft.com/office/drawing/2014/main" id="{D76FFCE8-FCB6-4384-B3BB-E011D5DBBFA4}"/>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40" name="grid-3-0">
            <a:extLst>
              <a:ext uri="{FF2B5EF4-FFF2-40B4-BE49-F238E27FC236}">
                <a16:creationId xmlns:a16="http://schemas.microsoft.com/office/drawing/2014/main" id="{B6F965DF-54CB-43DD-868B-F8BB053E20DD}"/>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1" name="grid-3-1">
            <a:extLst>
              <a:ext uri="{FF2B5EF4-FFF2-40B4-BE49-F238E27FC236}">
                <a16:creationId xmlns:a16="http://schemas.microsoft.com/office/drawing/2014/main" id="{90A89C67-C43D-4E7A-B625-81977B35754B}"/>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2" name="grid-3-2">
            <a:extLst>
              <a:ext uri="{FF2B5EF4-FFF2-40B4-BE49-F238E27FC236}">
                <a16:creationId xmlns:a16="http://schemas.microsoft.com/office/drawing/2014/main" id="{470C071A-55AF-42AB-93C4-0EBCA6FC9A51}"/>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3" name="grid-4-0">
            <a:extLst>
              <a:ext uri="{FF2B5EF4-FFF2-40B4-BE49-F238E27FC236}">
                <a16:creationId xmlns:a16="http://schemas.microsoft.com/office/drawing/2014/main" id="{499744D3-E17E-4B95-80D1-7C269232E775}"/>
              </a:ext>
            </a:extLst>
          </p:cNvPr>
          <p:cNvSpPr/>
          <p:nvPr/>
        </p:nvSpPr>
        <p:spPr>
          <a:xfrm>
            <a:off x="8915400" y="38227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4" name="grid-4-1">
            <a:extLst>
              <a:ext uri="{FF2B5EF4-FFF2-40B4-BE49-F238E27FC236}">
                <a16:creationId xmlns:a16="http://schemas.microsoft.com/office/drawing/2014/main" id="{2D4DDA3D-DFD6-432B-9247-12BD6EDAD745}"/>
              </a:ext>
            </a:extLst>
          </p:cNvPr>
          <p:cNvSpPr/>
          <p:nvPr/>
        </p:nvSpPr>
        <p:spPr>
          <a:xfrm>
            <a:off x="9774767" y="38227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5" name="grid-4-2">
            <a:extLst>
              <a:ext uri="{FF2B5EF4-FFF2-40B4-BE49-F238E27FC236}">
                <a16:creationId xmlns:a16="http://schemas.microsoft.com/office/drawing/2014/main" id="{AC131E98-5B5B-4B66-BD42-CFE330429617}"/>
              </a:ext>
            </a:extLst>
          </p:cNvPr>
          <p:cNvSpPr/>
          <p:nvPr/>
        </p:nvSpPr>
        <p:spPr>
          <a:xfrm>
            <a:off x="10634133" y="38227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6" name="grid-5-0">
            <a:extLst>
              <a:ext uri="{FF2B5EF4-FFF2-40B4-BE49-F238E27FC236}">
                <a16:creationId xmlns:a16="http://schemas.microsoft.com/office/drawing/2014/main" id="{3977EA9A-65E9-43D2-8F97-89B105962659}"/>
              </a:ext>
            </a:extLst>
          </p:cNvPr>
          <p:cNvSpPr/>
          <p:nvPr/>
        </p:nvSpPr>
        <p:spPr>
          <a:xfrm>
            <a:off x="8915400"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7" name="grid-5-1">
            <a:extLst>
              <a:ext uri="{FF2B5EF4-FFF2-40B4-BE49-F238E27FC236}">
                <a16:creationId xmlns:a16="http://schemas.microsoft.com/office/drawing/2014/main" id="{213076BC-F539-4A37-937E-88506D9AE972}"/>
              </a:ext>
            </a:extLst>
          </p:cNvPr>
          <p:cNvSpPr/>
          <p:nvPr/>
        </p:nvSpPr>
        <p:spPr>
          <a:xfrm>
            <a:off x="9774767"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5</a:t>
            </a:r>
          </a:p>
        </p:txBody>
      </p:sp>
      <p:sp>
        <p:nvSpPr>
          <p:cNvPr id="48" name="grid-5-2">
            <a:extLst>
              <a:ext uri="{FF2B5EF4-FFF2-40B4-BE49-F238E27FC236}">
                <a16:creationId xmlns:a16="http://schemas.microsoft.com/office/drawing/2014/main" id="{2D5DE1B8-845D-4364-8036-AF5FE15CF474}"/>
              </a:ext>
            </a:extLst>
          </p:cNvPr>
          <p:cNvSpPr/>
          <p:nvPr/>
        </p:nvSpPr>
        <p:spPr>
          <a:xfrm>
            <a:off x="10634133" y="41656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4</a:t>
            </a:r>
          </a:p>
        </p:txBody>
      </p:sp>
      <p:sp>
        <p:nvSpPr>
          <p:cNvPr id="49" name="grid-6-0">
            <a:extLst>
              <a:ext uri="{FF2B5EF4-FFF2-40B4-BE49-F238E27FC236}">
                <a16:creationId xmlns:a16="http://schemas.microsoft.com/office/drawing/2014/main" id="{130B4B9C-A04A-4DE7-8CA8-54D5923D18B1}"/>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0" name="grid-6-1">
            <a:extLst>
              <a:ext uri="{FF2B5EF4-FFF2-40B4-BE49-F238E27FC236}">
                <a16:creationId xmlns:a16="http://schemas.microsoft.com/office/drawing/2014/main" id="{B46BB35E-1571-420F-A323-B93F5E4E4FD2}"/>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1" name="grid-6-2">
            <a:extLst>
              <a:ext uri="{FF2B5EF4-FFF2-40B4-BE49-F238E27FC236}">
                <a16:creationId xmlns:a16="http://schemas.microsoft.com/office/drawing/2014/main" id="{4FE8FD3F-7196-4D94-9862-A849C78A1665}"/>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2" name="grid-7-0">
            <a:extLst>
              <a:ext uri="{FF2B5EF4-FFF2-40B4-BE49-F238E27FC236}">
                <a16:creationId xmlns:a16="http://schemas.microsoft.com/office/drawing/2014/main" id="{9D55C483-0259-4ED7-B172-562B26B9A8FC}"/>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53" name="grid-7-1">
            <a:extLst>
              <a:ext uri="{FF2B5EF4-FFF2-40B4-BE49-F238E27FC236}">
                <a16:creationId xmlns:a16="http://schemas.microsoft.com/office/drawing/2014/main" id="{82CFF192-D446-47E8-B134-0D6144CAF7C3}"/>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54" name="grid-7-2">
            <a:extLst>
              <a:ext uri="{FF2B5EF4-FFF2-40B4-BE49-F238E27FC236}">
                <a16:creationId xmlns:a16="http://schemas.microsoft.com/office/drawing/2014/main" id="{5FB02B05-74B7-487A-972B-02C3191EAA65}"/>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5" name="grid-8-0">
            <a:extLst>
              <a:ext uri="{FF2B5EF4-FFF2-40B4-BE49-F238E27FC236}">
                <a16:creationId xmlns:a16="http://schemas.microsoft.com/office/drawing/2014/main" id="{67D15C91-A8BB-48CC-BCA2-4ED5DCF61895}"/>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6" name="grid-8-1">
            <a:extLst>
              <a:ext uri="{FF2B5EF4-FFF2-40B4-BE49-F238E27FC236}">
                <a16:creationId xmlns:a16="http://schemas.microsoft.com/office/drawing/2014/main" id="{CA47859C-11AF-4376-9C5E-337539827434}"/>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7" name="grid-8-2">
            <a:extLst>
              <a:ext uri="{FF2B5EF4-FFF2-40B4-BE49-F238E27FC236}">
                <a16:creationId xmlns:a16="http://schemas.microsoft.com/office/drawing/2014/main" id="{A5C4DC68-7E43-49F0-97B0-01FD495464E6}"/>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8" name="tarjan-stack">
            <a:extLst>
              <a:ext uri="{FF2B5EF4-FFF2-40B4-BE49-F238E27FC236}">
                <a16:creationId xmlns:a16="http://schemas.microsoft.com/office/drawing/2014/main" id="{578D6E4D-0A8E-4EA9-8739-74D260CEB177}"/>
              </a:ext>
            </a:extLst>
          </p:cNvPr>
          <p:cNvSpPr txBox="1"/>
          <p:nvPr/>
        </p:nvSpPr>
        <p:spPr bwMode="auto">
          <a:xfrm>
            <a:off x="660400" y="1511300"/>
            <a:ext cx="7937500" cy="393700"/>
          </a:xfrm>
          <a:prstGeom prst="rect">
            <a:avLst/>
          </a:prstGeom>
        </p:spPr>
        <p:txBody>
          <a:bodyPr vert="horz" wrap="square" lIns="38100" tIns="12700" rIns="38100" bIns="12700" rtlCol="0">
            <a:noAutofit/>
          </a:bodyPr>
          <a:lstStyle/>
          <a:p>
            <a:r>
              <a:rPr lang="ru-RU" sz="2100" b="1">
                <a:solidFill>
                  <a:srgbClr val="352379"/>
                </a:solidFill>
                <a:latin typeface="Montserrat"/>
              </a:rPr>
              <a:t>stack = [1, 2, 3, 4, 5] · верхушка: 5</a:t>
            </a:r>
          </a:p>
        </p:txBody>
      </p:sp>
      <p:sp>
        <p:nvSpPr>
          <p:cNvPr id="59" name="tarjan-caption">
            <a:extLst>
              <a:ext uri="{FF2B5EF4-FFF2-40B4-BE49-F238E27FC236}">
                <a16:creationId xmlns:a16="http://schemas.microsoft.com/office/drawing/2014/main" id="{A18C3871-5279-4CEA-AAC5-2A240946E969}"/>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en-US" sz="2000">
                <a:solidFill>
                  <a:srgbClr val="352379"/>
                </a:solidFill>
                <a:latin typeface="Montserrat"/>
              </a:rPr>
              <a:t>low[4] == tin[4] : 4 == 4</a:t>
            </a:r>
            <a:endParaRPr lang="ru-RU" sz="2000">
              <a:solidFill>
                <a:srgbClr val="352379"/>
              </a:solidFill>
              <a:latin typeface="Montserrat"/>
            </a:endParaRPr>
          </a:p>
        </p:txBody>
      </p:sp>
      <p:sp>
        <p:nvSpPr>
          <p:cNvPr id="60" name="tarjan-band-background">
            <a:extLst>
              <a:ext uri="{FF2B5EF4-FFF2-40B4-BE49-F238E27FC236}">
                <a16:creationId xmlns:a16="http://schemas.microsoft.com/office/drawing/2014/main" id="{4DA640B1-EDBF-4E01-853F-E50BABBAED6F}"/>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arjan-definition">
            <a:extLst>
              <a:ext uri="{FF2B5EF4-FFF2-40B4-BE49-F238E27FC236}">
                <a16:creationId xmlns:a16="http://schemas.microsoft.com/office/drawing/2014/main" id="{EF7F3850-0491-4E13-92ED-F0B6AF647E00}"/>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100">
                <a:solidFill>
                  <a:srgbClr val="FFFFFF"/>
                </a:solidFill>
                <a:latin typeface="Montserrat"/>
              </a:rPr>
              <a:t>low[v] == tin[v]: v — корень текущей компоненты сильной связности.</a:t>
            </a:r>
          </a:p>
        </p:txBody>
      </p:sp>
      <p:grpSp>
        <p:nvGrpSpPr>
          <p:cNvPr id="102" name="tarjan-stage-1">
            <a:extLst>
              <a:ext uri="{FF2B5EF4-FFF2-40B4-BE49-F238E27FC236}">
                <a16:creationId xmlns:a16="http://schemas.microsoft.com/office/drawing/2014/main" id="{78103E61-7412-4FEC-B9A2-7D316726FEC7}"/>
              </a:ext>
            </a:extLst>
          </p:cNvPr>
          <p:cNvGrpSpPr/>
          <p:nvPr/>
        </p:nvGrpSpPr>
        <p:grpSpPr>
          <a:xfrm>
            <a:off x="508000" y="1511300"/>
            <a:ext cx="11201400" cy="4152900"/>
            <a:chOff x="508000" y="1511300"/>
            <a:chExt cx="11201400" cy="4152900"/>
          </a:xfrm>
        </p:grpSpPr>
        <p:sp>
          <p:nvSpPr>
            <p:cNvPr id="62" name="stage-1-!!g-node-1">
              <a:extLst>
                <a:ext uri="{FF2B5EF4-FFF2-40B4-BE49-F238E27FC236}">
                  <a16:creationId xmlns:a16="http://schemas.microsoft.com/office/drawing/2014/main" id="{60ED125A-F0D4-4D29-BE46-30600E96E16B}"/>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3" name="stage-1-!!g-node-2">
              <a:extLst>
                <a:ext uri="{FF2B5EF4-FFF2-40B4-BE49-F238E27FC236}">
                  <a16:creationId xmlns:a16="http://schemas.microsoft.com/office/drawing/2014/main" id="{D9CB287B-E137-4C5A-8AAC-473943B10A1D}"/>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4" name="stage-1-!!g-node-3">
              <a:extLst>
                <a:ext uri="{FF2B5EF4-FFF2-40B4-BE49-F238E27FC236}">
                  <a16:creationId xmlns:a16="http://schemas.microsoft.com/office/drawing/2014/main" id="{877C0322-6AB0-41A6-96E0-3A38B9ACF48E}"/>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5" name="stage-1-!!g-node-4">
              <a:extLst>
                <a:ext uri="{FF2B5EF4-FFF2-40B4-BE49-F238E27FC236}">
                  <a16:creationId xmlns:a16="http://schemas.microsoft.com/office/drawing/2014/main" id="{EBD6235C-82EF-45E8-8375-003934B96BC6}"/>
                </a:ext>
              </a:extLst>
            </p:cNvPr>
            <p:cNvSpPr/>
            <p:nvPr/>
          </p:nvSpPr>
          <p:spPr>
            <a:xfrm>
              <a:off x="3619500" y="2286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66" name="stage-1-!!g-node-5">
              <a:extLst>
                <a:ext uri="{FF2B5EF4-FFF2-40B4-BE49-F238E27FC236}">
                  <a16:creationId xmlns:a16="http://schemas.microsoft.com/office/drawing/2014/main" id="{D1E132D0-90F5-4ACF-99F2-CA71DEAB7B14}"/>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67" name="stage-1-!!g-node-6">
              <a:extLst>
                <a:ext uri="{FF2B5EF4-FFF2-40B4-BE49-F238E27FC236}">
                  <a16:creationId xmlns:a16="http://schemas.microsoft.com/office/drawing/2014/main" id="{6000E72E-08E5-4BF4-A943-C92F0E6B6A53}"/>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68" name="stage-1-!!g-node-7">
              <a:extLst>
                <a:ext uri="{FF2B5EF4-FFF2-40B4-BE49-F238E27FC236}">
                  <a16:creationId xmlns:a16="http://schemas.microsoft.com/office/drawing/2014/main" id="{D5994270-E70B-4F2D-8150-122A7F168373}"/>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69" name="stage-1-!!g-node-8">
              <a:extLst>
                <a:ext uri="{FF2B5EF4-FFF2-40B4-BE49-F238E27FC236}">
                  <a16:creationId xmlns:a16="http://schemas.microsoft.com/office/drawing/2014/main" id="{BEF4A0D0-E656-433A-8B62-C87DAC8847E3}"/>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70" name="stage-1-box-21-697">
              <a:extLst>
                <a:ext uri="{FF2B5EF4-FFF2-40B4-BE49-F238E27FC236}">
                  <a16:creationId xmlns:a16="http://schemas.microsoft.com/office/drawing/2014/main" id="{A0DCE13D-2594-4B6D-B615-6A8A13F72AA5}"/>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stage-1-box-22-698">
              <a:extLst>
                <a:ext uri="{FF2B5EF4-FFF2-40B4-BE49-F238E27FC236}">
                  <a16:creationId xmlns:a16="http://schemas.microsoft.com/office/drawing/2014/main" id="{6DA047F8-3FFD-45A8-AFAA-C8863520B54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stage-1-text-23-699">
              <a:extLst>
                <a:ext uri="{FF2B5EF4-FFF2-40B4-BE49-F238E27FC236}">
                  <a16:creationId xmlns:a16="http://schemas.microsoft.com/office/drawing/2014/main" id="{0464B1B2-7FE5-4D6E-8068-D0C4267E7852}"/>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Снимаем 5</a:t>
              </a:r>
            </a:p>
          </p:txBody>
        </p:sp>
        <p:sp>
          <p:nvSpPr>
            <p:cNvPr id="73" name="stage-1-grid-0-0">
              <a:extLst>
                <a:ext uri="{FF2B5EF4-FFF2-40B4-BE49-F238E27FC236}">
                  <a16:creationId xmlns:a16="http://schemas.microsoft.com/office/drawing/2014/main" id="{DFE2B95F-DDC1-4B28-ABF2-50A36CBAE502}"/>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74" name="stage-1-grid-0-1">
              <a:extLst>
                <a:ext uri="{FF2B5EF4-FFF2-40B4-BE49-F238E27FC236}">
                  <a16:creationId xmlns:a16="http://schemas.microsoft.com/office/drawing/2014/main" id="{7F5379F4-6EF3-46A6-B78A-FE7B2DFFFE14}"/>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75" name="stage-1-grid-0-2">
              <a:extLst>
                <a:ext uri="{FF2B5EF4-FFF2-40B4-BE49-F238E27FC236}">
                  <a16:creationId xmlns:a16="http://schemas.microsoft.com/office/drawing/2014/main" id="{A6A3A138-4121-4A0A-ADB4-7FFD2B2C47AA}"/>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76" name="stage-1-grid-1-0">
              <a:extLst>
                <a:ext uri="{FF2B5EF4-FFF2-40B4-BE49-F238E27FC236}">
                  <a16:creationId xmlns:a16="http://schemas.microsoft.com/office/drawing/2014/main" id="{83FCEA68-1CA8-4314-B319-1A40B0589839}"/>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7" name="stage-1-grid-1-1">
              <a:extLst>
                <a:ext uri="{FF2B5EF4-FFF2-40B4-BE49-F238E27FC236}">
                  <a16:creationId xmlns:a16="http://schemas.microsoft.com/office/drawing/2014/main" id="{B2DBC015-8D64-4991-BC64-71D49F3A7BE7}"/>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8" name="stage-1-grid-1-2">
              <a:extLst>
                <a:ext uri="{FF2B5EF4-FFF2-40B4-BE49-F238E27FC236}">
                  <a16:creationId xmlns:a16="http://schemas.microsoft.com/office/drawing/2014/main" id="{4414BD2B-B0BE-450E-AC2B-49A7B5764CB1}"/>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79" name="stage-1-grid-2-0">
              <a:extLst>
                <a:ext uri="{FF2B5EF4-FFF2-40B4-BE49-F238E27FC236}">
                  <a16:creationId xmlns:a16="http://schemas.microsoft.com/office/drawing/2014/main" id="{64D8FB10-C392-4A83-9033-10B0FCD64AF4}"/>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0" name="stage-1-grid-2-1">
              <a:extLst>
                <a:ext uri="{FF2B5EF4-FFF2-40B4-BE49-F238E27FC236}">
                  <a16:creationId xmlns:a16="http://schemas.microsoft.com/office/drawing/2014/main" id="{BE70D561-8D25-4BEB-9720-FF8F8002E82A}"/>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1" name="stage-1-grid-2-2">
              <a:extLst>
                <a:ext uri="{FF2B5EF4-FFF2-40B4-BE49-F238E27FC236}">
                  <a16:creationId xmlns:a16="http://schemas.microsoft.com/office/drawing/2014/main" id="{5DFAAC6E-6546-44F9-B062-DC2D469A0222}"/>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2" name="stage-1-grid-3-0">
              <a:extLst>
                <a:ext uri="{FF2B5EF4-FFF2-40B4-BE49-F238E27FC236}">
                  <a16:creationId xmlns:a16="http://schemas.microsoft.com/office/drawing/2014/main" id="{39216308-448C-4784-BF95-F54977899261}"/>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3" name="stage-1-grid-3-1">
              <a:extLst>
                <a:ext uri="{FF2B5EF4-FFF2-40B4-BE49-F238E27FC236}">
                  <a16:creationId xmlns:a16="http://schemas.microsoft.com/office/drawing/2014/main" id="{2E04ED0C-EFBD-4A7E-B131-36FE5E6A17B2}"/>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4" name="stage-1-grid-3-2">
              <a:extLst>
                <a:ext uri="{FF2B5EF4-FFF2-40B4-BE49-F238E27FC236}">
                  <a16:creationId xmlns:a16="http://schemas.microsoft.com/office/drawing/2014/main" id="{1743EA68-9959-4DC5-A9EC-0E7DF96AA4A2}"/>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85" name="stage-1-grid-4-0">
              <a:extLst>
                <a:ext uri="{FF2B5EF4-FFF2-40B4-BE49-F238E27FC236}">
                  <a16:creationId xmlns:a16="http://schemas.microsoft.com/office/drawing/2014/main" id="{F41FB165-1B6A-4E12-A3FA-DDA2479F86B4}"/>
                </a:ext>
              </a:extLst>
            </p:cNvPr>
            <p:cNvSpPr/>
            <p:nvPr/>
          </p:nvSpPr>
          <p:spPr>
            <a:xfrm>
              <a:off x="8915400" y="38227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86" name="stage-1-grid-4-1">
              <a:extLst>
                <a:ext uri="{FF2B5EF4-FFF2-40B4-BE49-F238E27FC236}">
                  <a16:creationId xmlns:a16="http://schemas.microsoft.com/office/drawing/2014/main" id="{8A929CB1-9E69-4086-A316-F3453414FE34}"/>
                </a:ext>
              </a:extLst>
            </p:cNvPr>
            <p:cNvSpPr/>
            <p:nvPr/>
          </p:nvSpPr>
          <p:spPr>
            <a:xfrm>
              <a:off x="9774767" y="38227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87" name="stage-1-grid-4-2">
              <a:extLst>
                <a:ext uri="{FF2B5EF4-FFF2-40B4-BE49-F238E27FC236}">
                  <a16:creationId xmlns:a16="http://schemas.microsoft.com/office/drawing/2014/main" id="{1B47DFF2-196F-4D65-9D09-4F13EEB44321}"/>
                </a:ext>
              </a:extLst>
            </p:cNvPr>
            <p:cNvSpPr/>
            <p:nvPr/>
          </p:nvSpPr>
          <p:spPr>
            <a:xfrm>
              <a:off x="10634133" y="38227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88" name="stage-1-grid-5-0">
              <a:extLst>
                <a:ext uri="{FF2B5EF4-FFF2-40B4-BE49-F238E27FC236}">
                  <a16:creationId xmlns:a16="http://schemas.microsoft.com/office/drawing/2014/main" id="{4F792BB0-C1DD-4A07-B29C-7A41E7C9D016}"/>
                </a:ext>
              </a:extLst>
            </p:cNvPr>
            <p:cNvSpPr/>
            <p:nvPr/>
          </p:nvSpPr>
          <p:spPr>
            <a:xfrm>
              <a:off x="8915400"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89" name="stage-1-grid-5-1">
              <a:extLst>
                <a:ext uri="{FF2B5EF4-FFF2-40B4-BE49-F238E27FC236}">
                  <a16:creationId xmlns:a16="http://schemas.microsoft.com/office/drawing/2014/main" id="{8AB3E2D6-FD0B-4C36-9E7B-410AA7A179F0}"/>
                </a:ext>
              </a:extLst>
            </p:cNvPr>
            <p:cNvSpPr/>
            <p:nvPr/>
          </p:nvSpPr>
          <p:spPr>
            <a:xfrm>
              <a:off x="9774767"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90" name="stage-1-grid-5-2">
              <a:extLst>
                <a:ext uri="{FF2B5EF4-FFF2-40B4-BE49-F238E27FC236}">
                  <a16:creationId xmlns:a16="http://schemas.microsoft.com/office/drawing/2014/main" id="{4F354B62-3A6F-430F-AD13-CF0599D352F4}"/>
                </a:ext>
              </a:extLst>
            </p:cNvPr>
            <p:cNvSpPr/>
            <p:nvPr/>
          </p:nvSpPr>
          <p:spPr>
            <a:xfrm>
              <a:off x="10634133"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91" name="stage-1-grid-6-0">
              <a:extLst>
                <a:ext uri="{FF2B5EF4-FFF2-40B4-BE49-F238E27FC236}">
                  <a16:creationId xmlns:a16="http://schemas.microsoft.com/office/drawing/2014/main" id="{AB9BA64E-9043-4178-9ADD-5956C4F07B44}"/>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2" name="stage-1-grid-6-1">
              <a:extLst>
                <a:ext uri="{FF2B5EF4-FFF2-40B4-BE49-F238E27FC236}">
                  <a16:creationId xmlns:a16="http://schemas.microsoft.com/office/drawing/2014/main" id="{AC420219-F9A5-4912-A96A-DF4136A25E0D}"/>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3" name="stage-1-grid-6-2">
              <a:extLst>
                <a:ext uri="{FF2B5EF4-FFF2-40B4-BE49-F238E27FC236}">
                  <a16:creationId xmlns:a16="http://schemas.microsoft.com/office/drawing/2014/main" id="{85C61ECF-B1CB-43A9-8F54-5294C3B28E62}"/>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4" name="stage-1-grid-7-0">
              <a:extLst>
                <a:ext uri="{FF2B5EF4-FFF2-40B4-BE49-F238E27FC236}">
                  <a16:creationId xmlns:a16="http://schemas.microsoft.com/office/drawing/2014/main" id="{F443DC96-7918-442F-BECF-A82EE711D2D9}"/>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95" name="stage-1-grid-7-1">
              <a:extLst>
                <a:ext uri="{FF2B5EF4-FFF2-40B4-BE49-F238E27FC236}">
                  <a16:creationId xmlns:a16="http://schemas.microsoft.com/office/drawing/2014/main" id="{FC146EDC-531D-4A5A-BE8C-8F72AA22B8F2}"/>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96" name="stage-1-grid-7-2">
              <a:extLst>
                <a:ext uri="{FF2B5EF4-FFF2-40B4-BE49-F238E27FC236}">
                  <a16:creationId xmlns:a16="http://schemas.microsoft.com/office/drawing/2014/main" id="{89C75B27-672A-4631-AC0C-6C72D270DC87}"/>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7" name="stage-1-grid-8-0">
              <a:extLst>
                <a:ext uri="{FF2B5EF4-FFF2-40B4-BE49-F238E27FC236}">
                  <a16:creationId xmlns:a16="http://schemas.microsoft.com/office/drawing/2014/main" id="{42440D71-ED72-4E73-9395-577E12F710BB}"/>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8" name="stage-1-grid-8-1">
              <a:extLst>
                <a:ext uri="{FF2B5EF4-FFF2-40B4-BE49-F238E27FC236}">
                  <a16:creationId xmlns:a16="http://schemas.microsoft.com/office/drawing/2014/main" id="{699F4CF5-EC08-421E-8EE4-741D4F2D7A51}"/>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9" name="stage-1-grid-8-2">
              <a:extLst>
                <a:ext uri="{FF2B5EF4-FFF2-40B4-BE49-F238E27FC236}">
                  <a16:creationId xmlns:a16="http://schemas.microsoft.com/office/drawing/2014/main" id="{27F1C191-6D22-47E3-AAEC-F36366FE5B68}"/>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00" name="stage-1-tarjan-stack">
              <a:extLst>
                <a:ext uri="{FF2B5EF4-FFF2-40B4-BE49-F238E27FC236}">
                  <a16:creationId xmlns:a16="http://schemas.microsoft.com/office/drawing/2014/main" id="{5CAE13C5-F78A-4A3E-A125-9784D5BF4D02}"/>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4] · верхушка: 4</a:t>
              </a:r>
            </a:p>
          </p:txBody>
        </p:sp>
        <p:sp>
          <p:nvSpPr>
            <p:cNvPr id="101" name="stage-1-tarjan-caption">
              <a:extLst>
                <a:ext uri="{FF2B5EF4-FFF2-40B4-BE49-F238E27FC236}">
                  <a16:creationId xmlns:a16="http://schemas.microsoft.com/office/drawing/2014/main" id="{52F69F15-484E-435F-8A66-B95E7537DBAA}"/>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Извлечено: 5 · low[4] = tin[4] = 4</a:t>
              </a:r>
            </a:p>
          </p:txBody>
        </p:sp>
      </p:grpSp>
      <p:grpSp>
        <p:nvGrpSpPr>
          <p:cNvPr id="143" name="tarjan-stage-2">
            <a:extLst>
              <a:ext uri="{FF2B5EF4-FFF2-40B4-BE49-F238E27FC236}">
                <a16:creationId xmlns:a16="http://schemas.microsoft.com/office/drawing/2014/main" id="{D76FC0C5-4BB3-4DC4-A0EA-BFAD88BCA249}"/>
              </a:ext>
            </a:extLst>
          </p:cNvPr>
          <p:cNvGrpSpPr/>
          <p:nvPr/>
        </p:nvGrpSpPr>
        <p:grpSpPr>
          <a:xfrm>
            <a:off x="508000" y="1511300"/>
            <a:ext cx="11201400" cy="4152900"/>
            <a:chOff x="508000" y="1511300"/>
            <a:chExt cx="11201400" cy="4152900"/>
          </a:xfrm>
        </p:grpSpPr>
        <p:sp>
          <p:nvSpPr>
            <p:cNvPr id="103" name="stage-2-!!g-node-1">
              <a:extLst>
                <a:ext uri="{FF2B5EF4-FFF2-40B4-BE49-F238E27FC236}">
                  <a16:creationId xmlns:a16="http://schemas.microsoft.com/office/drawing/2014/main" id="{59361FD4-A15F-4A35-87FA-42827F878478}"/>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04" name="stage-2-!!g-node-2">
              <a:extLst>
                <a:ext uri="{FF2B5EF4-FFF2-40B4-BE49-F238E27FC236}">
                  <a16:creationId xmlns:a16="http://schemas.microsoft.com/office/drawing/2014/main" id="{06C35830-175E-413F-A4D7-6B7CE7FF124D}"/>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05" name="stage-2-!!g-node-3">
              <a:extLst>
                <a:ext uri="{FF2B5EF4-FFF2-40B4-BE49-F238E27FC236}">
                  <a16:creationId xmlns:a16="http://schemas.microsoft.com/office/drawing/2014/main" id="{732AC67F-499E-4460-932F-51984E8A52CA}"/>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6" name="stage-2-!!g-node-4">
              <a:extLst>
                <a:ext uri="{FF2B5EF4-FFF2-40B4-BE49-F238E27FC236}">
                  <a16:creationId xmlns:a16="http://schemas.microsoft.com/office/drawing/2014/main" id="{4B492CAC-EFA0-4F28-A93C-5AFC4EE3A6B2}"/>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07" name="stage-2-!!g-node-5">
              <a:extLst>
                <a:ext uri="{FF2B5EF4-FFF2-40B4-BE49-F238E27FC236}">
                  <a16:creationId xmlns:a16="http://schemas.microsoft.com/office/drawing/2014/main" id="{CB400BA6-08D9-4A1C-87B5-8BAD79DB51B4}"/>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08" name="stage-2-!!g-node-6">
              <a:extLst>
                <a:ext uri="{FF2B5EF4-FFF2-40B4-BE49-F238E27FC236}">
                  <a16:creationId xmlns:a16="http://schemas.microsoft.com/office/drawing/2014/main" id="{A60BA840-8745-4D99-B4CE-D619BF1822B0}"/>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09" name="stage-2-!!g-node-7">
              <a:extLst>
                <a:ext uri="{FF2B5EF4-FFF2-40B4-BE49-F238E27FC236}">
                  <a16:creationId xmlns:a16="http://schemas.microsoft.com/office/drawing/2014/main" id="{972AA765-933D-46BE-9A6C-56FE442606E3}"/>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10" name="stage-2-!!g-node-8">
              <a:extLst>
                <a:ext uri="{FF2B5EF4-FFF2-40B4-BE49-F238E27FC236}">
                  <a16:creationId xmlns:a16="http://schemas.microsoft.com/office/drawing/2014/main" id="{D13EE438-3780-4068-B06C-69BED7449115}"/>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111" name="stage-2-box-21-697">
              <a:extLst>
                <a:ext uri="{FF2B5EF4-FFF2-40B4-BE49-F238E27FC236}">
                  <a16:creationId xmlns:a16="http://schemas.microsoft.com/office/drawing/2014/main" id="{59664CAD-A3E9-4C6D-85F3-11341B4C3488}"/>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stage-2-box-22-698">
              <a:extLst>
                <a:ext uri="{FF2B5EF4-FFF2-40B4-BE49-F238E27FC236}">
                  <a16:creationId xmlns:a16="http://schemas.microsoft.com/office/drawing/2014/main" id="{D881C50C-E8A6-4835-B1AD-6A9F453B6F0E}"/>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stage-2-text-23-699">
              <a:extLst>
                <a:ext uri="{FF2B5EF4-FFF2-40B4-BE49-F238E27FC236}">
                  <a16:creationId xmlns:a16="http://schemas.microsoft.com/office/drawing/2014/main" id="{9AC5CEC6-564B-4717-9EEB-B5E457AF4636}"/>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en-US" sz="2100">
                  <a:solidFill>
                    <a:srgbClr val="FFFFFF"/>
                  </a:solidFill>
                  <a:latin typeface="Montserrat"/>
                </a:rPr>
                <a:t>SCC {4, 5}</a:t>
              </a:r>
              <a:endParaRPr lang="ru-RU" sz="2100">
                <a:solidFill>
                  <a:srgbClr val="FFFFFF"/>
                </a:solidFill>
                <a:latin typeface="Montserrat"/>
              </a:endParaRPr>
            </a:p>
          </p:txBody>
        </p:sp>
        <p:sp>
          <p:nvSpPr>
            <p:cNvPr id="114" name="stage-2-grid-0-0">
              <a:extLst>
                <a:ext uri="{FF2B5EF4-FFF2-40B4-BE49-F238E27FC236}">
                  <a16:creationId xmlns:a16="http://schemas.microsoft.com/office/drawing/2014/main" id="{A12A81C7-C9FB-4A02-A3A4-310673E26FD0}"/>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15" name="stage-2-grid-0-1">
              <a:extLst>
                <a:ext uri="{FF2B5EF4-FFF2-40B4-BE49-F238E27FC236}">
                  <a16:creationId xmlns:a16="http://schemas.microsoft.com/office/drawing/2014/main" id="{9A428B38-97E9-4882-A373-DE275A96F5A5}"/>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16" name="stage-2-grid-0-2">
              <a:extLst>
                <a:ext uri="{FF2B5EF4-FFF2-40B4-BE49-F238E27FC236}">
                  <a16:creationId xmlns:a16="http://schemas.microsoft.com/office/drawing/2014/main" id="{EAF6D88B-2DCD-4DA2-990E-B54C13C3695A}"/>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17" name="stage-2-grid-1-0">
              <a:extLst>
                <a:ext uri="{FF2B5EF4-FFF2-40B4-BE49-F238E27FC236}">
                  <a16:creationId xmlns:a16="http://schemas.microsoft.com/office/drawing/2014/main" id="{F42453D1-3682-4151-8408-4AF077E40C25}"/>
                </a:ext>
              </a:extLst>
            </p:cNvPr>
            <p:cNvSpPr/>
            <p:nvPr/>
          </p:nvSpPr>
          <p:spPr>
            <a:xfrm>
              <a:off x="8915400"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18" name="stage-2-grid-1-1">
              <a:extLst>
                <a:ext uri="{FF2B5EF4-FFF2-40B4-BE49-F238E27FC236}">
                  <a16:creationId xmlns:a16="http://schemas.microsoft.com/office/drawing/2014/main" id="{F9422B5D-9ECF-4301-8C95-1978601E3BEF}"/>
                </a:ext>
              </a:extLst>
            </p:cNvPr>
            <p:cNvSpPr/>
            <p:nvPr/>
          </p:nvSpPr>
          <p:spPr>
            <a:xfrm>
              <a:off x="9774767"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19" name="stage-2-grid-1-2">
              <a:extLst>
                <a:ext uri="{FF2B5EF4-FFF2-40B4-BE49-F238E27FC236}">
                  <a16:creationId xmlns:a16="http://schemas.microsoft.com/office/drawing/2014/main" id="{29EBC085-5927-44F8-BDB3-380B1F0B5CE6}"/>
                </a:ext>
              </a:extLst>
            </p:cNvPr>
            <p:cNvSpPr/>
            <p:nvPr/>
          </p:nvSpPr>
          <p:spPr>
            <a:xfrm>
              <a:off x="10634133" y="27940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0" name="stage-2-grid-2-0">
              <a:extLst>
                <a:ext uri="{FF2B5EF4-FFF2-40B4-BE49-F238E27FC236}">
                  <a16:creationId xmlns:a16="http://schemas.microsoft.com/office/drawing/2014/main" id="{0507B549-17F8-4207-946F-35F68B8FFAB3}"/>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1" name="stage-2-grid-2-1">
              <a:extLst>
                <a:ext uri="{FF2B5EF4-FFF2-40B4-BE49-F238E27FC236}">
                  <a16:creationId xmlns:a16="http://schemas.microsoft.com/office/drawing/2014/main" id="{B5DA0579-7507-425B-B392-3F5EAB2EE1DF}"/>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2" name="stage-2-grid-2-2">
              <a:extLst>
                <a:ext uri="{FF2B5EF4-FFF2-40B4-BE49-F238E27FC236}">
                  <a16:creationId xmlns:a16="http://schemas.microsoft.com/office/drawing/2014/main" id="{00CC416E-8568-48C9-A2EF-1A72797AAA98}"/>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3" name="stage-2-grid-3-0">
              <a:extLst>
                <a:ext uri="{FF2B5EF4-FFF2-40B4-BE49-F238E27FC236}">
                  <a16:creationId xmlns:a16="http://schemas.microsoft.com/office/drawing/2014/main" id="{36EE392D-D604-4EE2-901C-866779AD72EF}"/>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4" name="stage-2-grid-3-1">
              <a:extLst>
                <a:ext uri="{FF2B5EF4-FFF2-40B4-BE49-F238E27FC236}">
                  <a16:creationId xmlns:a16="http://schemas.microsoft.com/office/drawing/2014/main" id="{1755A985-7EAB-4310-8273-FA2E3E760B5F}"/>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5" name="stage-2-grid-3-2">
              <a:extLst>
                <a:ext uri="{FF2B5EF4-FFF2-40B4-BE49-F238E27FC236}">
                  <a16:creationId xmlns:a16="http://schemas.microsoft.com/office/drawing/2014/main" id="{7465A841-B941-4792-8E2C-8CD46BF82EBF}"/>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6" name="stage-2-grid-4-0">
              <a:extLst>
                <a:ext uri="{FF2B5EF4-FFF2-40B4-BE49-F238E27FC236}">
                  <a16:creationId xmlns:a16="http://schemas.microsoft.com/office/drawing/2014/main" id="{CCA578F5-26AC-42E3-96CE-983122F97FCB}"/>
                </a:ext>
              </a:extLst>
            </p:cNvPr>
            <p:cNvSpPr/>
            <p:nvPr/>
          </p:nvSpPr>
          <p:spPr>
            <a:xfrm>
              <a:off x="8915400"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27" name="stage-2-grid-4-1">
              <a:extLst>
                <a:ext uri="{FF2B5EF4-FFF2-40B4-BE49-F238E27FC236}">
                  <a16:creationId xmlns:a16="http://schemas.microsoft.com/office/drawing/2014/main" id="{E4DCACD4-A06E-4810-8E00-EE88B2205753}"/>
                </a:ext>
              </a:extLst>
            </p:cNvPr>
            <p:cNvSpPr/>
            <p:nvPr/>
          </p:nvSpPr>
          <p:spPr>
            <a:xfrm>
              <a:off x="9774767"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28" name="stage-2-grid-4-2">
              <a:extLst>
                <a:ext uri="{FF2B5EF4-FFF2-40B4-BE49-F238E27FC236}">
                  <a16:creationId xmlns:a16="http://schemas.microsoft.com/office/drawing/2014/main" id="{5CA072DA-2284-4654-9146-1BA7833A9EA9}"/>
                </a:ext>
              </a:extLst>
            </p:cNvPr>
            <p:cNvSpPr/>
            <p:nvPr/>
          </p:nvSpPr>
          <p:spPr>
            <a:xfrm>
              <a:off x="10634133"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29" name="stage-2-grid-5-0">
              <a:extLst>
                <a:ext uri="{FF2B5EF4-FFF2-40B4-BE49-F238E27FC236}">
                  <a16:creationId xmlns:a16="http://schemas.microsoft.com/office/drawing/2014/main" id="{96EC3645-7F45-44E5-8BD7-40A82E1F5069}"/>
                </a:ext>
              </a:extLst>
            </p:cNvPr>
            <p:cNvSpPr/>
            <p:nvPr/>
          </p:nvSpPr>
          <p:spPr>
            <a:xfrm>
              <a:off x="8915400"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30" name="stage-2-grid-5-1">
              <a:extLst>
                <a:ext uri="{FF2B5EF4-FFF2-40B4-BE49-F238E27FC236}">
                  <a16:creationId xmlns:a16="http://schemas.microsoft.com/office/drawing/2014/main" id="{1C305A6D-FB21-4025-93F5-69F0434995B3}"/>
                </a:ext>
              </a:extLst>
            </p:cNvPr>
            <p:cNvSpPr/>
            <p:nvPr/>
          </p:nvSpPr>
          <p:spPr>
            <a:xfrm>
              <a:off x="9774767"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31" name="stage-2-grid-5-2">
              <a:extLst>
                <a:ext uri="{FF2B5EF4-FFF2-40B4-BE49-F238E27FC236}">
                  <a16:creationId xmlns:a16="http://schemas.microsoft.com/office/drawing/2014/main" id="{F0651594-F630-44C8-BD5A-352BADEF0840}"/>
                </a:ext>
              </a:extLst>
            </p:cNvPr>
            <p:cNvSpPr/>
            <p:nvPr/>
          </p:nvSpPr>
          <p:spPr>
            <a:xfrm>
              <a:off x="10634133"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32" name="stage-2-grid-6-0">
              <a:extLst>
                <a:ext uri="{FF2B5EF4-FFF2-40B4-BE49-F238E27FC236}">
                  <a16:creationId xmlns:a16="http://schemas.microsoft.com/office/drawing/2014/main" id="{72AD3BFC-C383-44AF-93EE-15DE8CFA7A1D}"/>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3" name="stage-2-grid-6-1">
              <a:extLst>
                <a:ext uri="{FF2B5EF4-FFF2-40B4-BE49-F238E27FC236}">
                  <a16:creationId xmlns:a16="http://schemas.microsoft.com/office/drawing/2014/main" id="{5F46B5E5-E256-4D1E-840D-AC599F2BEDCF}"/>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4" name="stage-2-grid-6-2">
              <a:extLst>
                <a:ext uri="{FF2B5EF4-FFF2-40B4-BE49-F238E27FC236}">
                  <a16:creationId xmlns:a16="http://schemas.microsoft.com/office/drawing/2014/main" id="{72A77188-DC11-4C86-8B58-9E910691D6C9}"/>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5" name="stage-2-grid-7-0">
              <a:extLst>
                <a:ext uri="{FF2B5EF4-FFF2-40B4-BE49-F238E27FC236}">
                  <a16:creationId xmlns:a16="http://schemas.microsoft.com/office/drawing/2014/main" id="{2FC24E36-9E20-4BDE-8B34-C99571EA3950}"/>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6" name="stage-2-grid-7-1">
              <a:extLst>
                <a:ext uri="{FF2B5EF4-FFF2-40B4-BE49-F238E27FC236}">
                  <a16:creationId xmlns:a16="http://schemas.microsoft.com/office/drawing/2014/main" id="{B6760161-31BB-4C7A-AF38-44D9D7826529}"/>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7" name="stage-2-grid-7-2">
              <a:extLst>
                <a:ext uri="{FF2B5EF4-FFF2-40B4-BE49-F238E27FC236}">
                  <a16:creationId xmlns:a16="http://schemas.microsoft.com/office/drawing/2014/main" id="{292C391A-36EF-4A84-8BDE-0A9A9E842B0F}"/>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8" name="stage-2-grid-8-0">
              <a:extLst>
                <a:ext uri="{FF2B5EF4-FFF2-40B4-BE49-F238E27FC236}">
                  <a16:creationId xmlns:a16="http://schemas.microsoft.com/office/drawing/2014/main" id="{AF2B43E4-A82E-47A1-9282-634CD810407E}"/>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39" name="stage-2-grid-8-1">
              <a:extLst>
                <a:ext uri="{FF2B5EF4-FFF2-40B4-BE49-F238E27FC236}">
                  <a16:creationId xmlns:a16="http://schemas.microsoft.com/office/drawing/2014/main" id="{BE2D724F-CE1B-4142-A181-C23C32F6F721}"/>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40" name="stage-2-grid-8-2">
              <a:extLst>
                <a:ext uri="{FF2B5EF4-FFF2-40B4-BE49-F238E27FC236}">
                  <a16:creationId xmlns:a16="http://schemas.microsoft.com/office/drawing/2014/main" id="{9834C555-0300-49C8-80E3-4013AEA3F445}"/>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41" name="stage-2-tarjan-stack">
              <a:extLst>
                <a:ext uri="{FF2B5EF4-FFF2-40B4-BE49-F238E27FC236}">
                  <a16:creationId xmlns:a16="http://schemas.microsoft.com/office/drawing/2014/main" id="{BCE325EB-811C-4373-A5EF-32FA54302210}"/>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3] · верхушка: 3</a:t>
              </a:r>
            </a:p>
          </p:txBody>
        </p:sp>
        <p:sp>
          <p:nvSpPr>
            <p:cNvPr id="142" name="stage-2-tarjan-caption">
              <a:extLst>
                <a:ext uri="{FF2B5EF4-FFF2-40B4-BE49-F238E27FC236}">
                  <a16:creationId xmlns:a16="http://schemas.microsoft.com/office/drawing/2014/main" id="{431FD345-06A8-4FF0-A586-B593D8265717}"/>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SCC = {4, 5} · low[4] = tin[4] = 4</a:t>
              </a:r>
              <a:endParaRPr lang="ru-RU" sz="2000">
                <a:solidFill>
                  <a:srgbClr val="352379"/>
                </a:solidFill>
                <a:latin typeface="Montserrat"/>
              </a:endParaRPr>
            </a:p>
          </p:txBody>
        </p:sp>
      </p:grpSp>
    </p:spTree>
    <p:extLst>
      <p:ext uri="{BB962C8B-B14F-4D97-AF65-F5344CB8AC3E}">
        <p14:creationId xmlns:p14="http://schemas.microsoft.com/office/powerpoint/2010/main" val="2170181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25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Effect transition="in" filter="fade">
                                      <p:cBhvr>
                                        <p:cTn id="12" dur="250"/>
                                        <p:tgtEl>
                                          <p:spTgt spid="143"/>
                                        </p:tgtEl>
                                      </p:cBhvr>
                                    </p:animEffect>
                                  </p:childTnLst>
                                </p:cTn>
                              </p:par>
                              <p:par>
                                <p:cTn id="13" presetID="10" presetClass="exit" presetSubtype="0" fill="hold" nodeType="withEffect">
                                  <p:stCondLst>
                                    <p:cond delay="0"/>
                                  </p:stCondLst>
                                  <p:childTnLst>
                                    <p:animEffect transition="out" filter="fade">
                                      <p:cBhvr>
                                        <p:cTn id="14" dur="150"/>
                                        <p:tgtEl>
                                          <p:spTgt spid="102"/>
                                        </p:tgtEl>
                                      </p:cBhvr>
                                    </p:animEffect>
                                    <p:set>
                                      <p:cBhvr>
                                        <p:cTn id="15" dur="1" fill="hold">
                                          <p:stCondLst>
                                            <p:cond delay="149"/>
                                          </p:stCondLst>
                                        </p:cTn>
                                        <p:tgtEl>
                                          <p:spTgt spid="1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Тарьян: выделяем SCC {1, 2, 3}</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60662E3-112A-43C4-97AB-D8D2D8C18279}"/>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B42213CA-D0BA-4C5A-892D-15F7CFC0D49A}"/>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3B6DA37E-4BC6-4213-BA26-3429CF2A5F28}"/>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E35FDFAA-F78C-4AD2-9B87-0B32F438950B}"/>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EAA2A898-3210-40B7-8A73-6E5AA94CDEC1}"/>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A07D8DE-94FB-4752-9902-6A19BC7C4E86}"/>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70305D5E-AD62-4404-A4A2-AA11B998CBB8}"/>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8A6E1928-E55E-4D1F-AD53-B06C9817093B}"/>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B3E2E362-4CAC-4C61-B18F-9758161F07D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2CF51D74-4166-486B-A477-84762FBBCA20}"/>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C96D7C84-502C-447B-9BA5-DC7F5BF95F74}"/>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C6A12FCB-BDB1-42F0-A9E9-39F11B6400E5}"/>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B925B355-4246-419C-98EC-6686B8B49CD0}"/>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F03E1E0A-A17D-49A8-810E-A44AE6DE6B07}"/>
              </a:ext>
            </a:extLst>
          </p:cNvPr>
          <p:cNvSpPr/>
          <p:nvPr/>
        </p:nvSpPr>
        <p:spPr>
          <a:xfrm>
            <a:off x="8255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18" name="!!g-node-2">
            <a:extLst>
              <a:ext uri="{FF2B5EF4-FFF2-40B4-BE49-F238E27FC236}">
                <a16:creationId xmlns:a16="http://schemas.microsoft.com/office/drawing/2014/main" id="{5C913CCD-9E19-4970-944E-0170051410EA}"/>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3893E9AC-4A3F-4BF4-B307-FF352E9ACE49}"/>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40C5E522-C9F8-4F82-855A-77C6C3D642D8}"/>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1" name="!!g-node-5">
            <a:extLst>
              <a:ext uri="{FF2B5EF4-FFF2-40B4-BE49-F238E27FC236}">
                <a16:creationId xmlns:a16="http://schemas.microsoft.com/office/drawing/2014/main" id="{3821AAFE-479C-46FB-AAA9-D8EAB55C5702}"/>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22" name="!!g-node-6">
            <a:extLst>
              <a:ext uri="{FF2B5EF4-FFF2-40B4-BE49-F238E27FC236}">
                <a16:creationId xmlns:a16="http://schemas.microsoft.com/office/drawing/2014/main" id="{E2D540F8-6160-4907-81EE-DABD222BB138}"/>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g-node-7">
            <a:extLst>
              <a:ext uri="{FF2B5EF4-FFF2-40B4-BE49-F238E27FC236}">
                <a16:creationId xmlns:a16="http://schemas.microsoft.com/office/drawing/2014/main" id="{CA092B66-2B56-414A-B5D0-53CCC8F444CE}"/>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 name="!!g-node-8">
            <a:extLst>
              <a:ext uri="{FF2B5EF4-FFF2-40B4-BE49-F238E27FC236}">
                <a16:creationId xmlns:a16="http://schemas.microsoft.com/office/drawing/2014/main" id="{86B3250B-F3ED-4FCD-B687-88CBCE61DE76}"/>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697">
            <a:extLst>
              <a:ext uri="{FF2B5EF4-FFF2-40B4-BE49-F238E27FC236}">
                <a16:creationId xmlns:a16="http://schemas.microsoft.com/office/drawing/2014/main" id="{C8458302-1647-4C92-BB75-77349214E872}"/>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698">
            <a:extLst>
              <a:ext uri="{FF2B5EF4-FFF2-40B4-BE49-F238E27FC236}">
                <a16:creationId xmlns:a16="http://schemas.microsoft.com/office/drawing/2014/main" id="{4D28F8A2-ED21-427F-815C-7BE074F33E3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699">
            <a:extLst>
              <a:ext uri="{FF2B5EF4-FFF2-40B4-BE49-F238E27FC236}">
                <a16:creationId xmlns:a16="http://schemas.microsoft.com/office/drawing/2014/main" id="{6589D296-7AC9-46F8-A1D9-F71A26ADAB2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Корень </a:t>
            </a:r>
            <a:r>
              <a:rPr lang="en-US" sz="2100">
                <a:solidFill>
                  <a:srgbClr val="FFFFFF"/>
                </a:solidFill>
                <a:latin typeface="Montserrat"/>
              </a:rPr>
              <a:t>SCC: 1</a:t>
            </a:r>
            <a:endParaRPr lang="ru-RU" sz="2100">
              <a:solidFill>
                <a:srgbClr val="FFFFFF"/>
              </a:solidFill>
              <a:latin typeface="Montserrat"/>
            </a:endParaRPr>
          </a:p>
        </p:txBody>
      </p:sp>
      <p:sp>
        <p:nvSpPr>
          <p:cNvPr id="29" name="lecture-footer">
            <a:extLst>
              <a:ext uri="{FF2B5EF4-FFF2-40B4-BE49-F238E27FC236}">
                <a16:creationId xmlns:a16="http://schemas.microsoft.com/office/drawing/2014/main" id="{785B32BE-8507-433A-BB45-C94E86409EC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E9A9766C-0218-47B5-A3F3-88DBF19A54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39</a:t>
            </a:r>
          </a:p>
        </p:txBody>
      </p:sp>
      <p:sp>
        <p:nvSpPr>
          <p:cNvPr id="31" name="grid-0-0">
            <a:extLst>
              <a:ext uri="{FF2B5EF4-FFF2-40B4-BE49-F238E27FC236}">
                <a16:creationId xmlns:a16="http://schemas.microsoft.com/office/drawing/2014/main" id="{FE401A4B-DCB5-495F-AE4B-8DECADB1277C}"/>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32" name="grid-0-1">
            <a:extLst>
              <a:ext uri="{FF2B5EF4-FFF2-40B4-BE49-F238E27FC236}">
                <a16:creationId xmlns:a16="http://schemas.microsoft.com/office/drawing/2014/main" id="{01C9E305-A53B-44B9-B71C-74C1D98B7A89}"/>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33" name="grid-0-2">
            <a:extLst>
              <a:ext uri="{FF2B5EF4-FFF2-40B4-BE49-F238E27FC236}">
                <a16:creationId xmlns:a16="http://schemas.microsoft.com/office/drawing/2014/main" id="{6C1E49B4-F5F6-4CF4-9F9F-B8331270F5DB}"/>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34" name="grid-1-0">
            <a:extLst>
              <a:ext uri="{FF2B5EF4-FFF2-40B4-BE49-F238E27FC236}">
                <a16:creationId xmlns:a16="http://schemas.microsoft.com/office/drawing/2014/main" id="{7441FB9E-32EF-44EE-A0D5-5504EEB1A06C}"/>
              </a:ext>
            </a:extLst>
          </p:cNvPr>
          <p:cNvSpPr/>
          <p:nvPr/>
        </p:nvSpPr>
        <p:spPr>
          <a:xfrm>
            <a:off x="8915400"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35" name="grid-1-1">
            <a:extLst>
              <a:ext uri="{FF2B5EF4-FFF2-40B4-BE49-F238E27FC236}">
                <a16:creationId xmlns:a16="http://schemas.microsoft.com/office/drawing/2014/main" id="{83623A69-C166-442E-ADE5-386D1A48A152}"/>
              </a:ext>
            </a:extLst>
          </p:cNvPr>
          <p:cNvSpPr/>
          <p:nvPr/>
        </p:nvSpPr>
        <p:spPr>
          <a:xfrm>
            <a:off x="9774767"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36" name="grid-1-2">
            <a:extLst>
              <a:ext uri="{FF2B5EF4-FFF2-40B4-BE49-F238E27FC236}">
                <a16:creationId xmlns:a16="http://schemas.microsoft.com/office/drawing/2014/main" id="{1C1B568E-8ACE-4E08-965F-AF44DA8493B8}"/>
              </a:ext>
            </a:extLst>
          </p:cNvPr>
          <p:cNvSpPr/>
          <p:nvPr/>
        </p:nvSpPr>
        <p:spPr>
          <a:xfrm>
            <a:off x="10634133"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37" name="grid-2-0">
            <a:extLst>
              <a:ext uri="{FF2B5EF4-FFF2-40B4-BE49-F238E27FC236}">
                <a16:creationId xmlns:a16="http://schemas.microsoft.com/office/drawing/2014/main" id="{5E988815-913A-46E2-A3E3-4FF6F033BDE4}"/>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8" name="grid-2-1">
            <a:extLst>
              <a:ext uri="{FF2B5EF4-FFF2-40B4-BE49-F238E27FC236}">
                <a16:creationId xmlns:a16="http://schemas.microsoft.com/office/drawing/2014/main" id="{9F96AA08-B567-4B49-92E2-2A82CF889668}"/>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39" name="grid-2-2">
            <a:extLst>
              <a:ext uri="{FF2B5EF4-FFF2-40B4-BE49-F238E27FC236}">
                <a16:creationId xmlns:a16="http://schemas.microsoft.com/office/drawing/2014/main" id="{F3162D87-1CCA-45ED-89A2-C491C47C1617}"/>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0" name="grid-3-0">
            <a:extLst>
              <a:ext uri="{FF2B5EF4-FFF2-40B4-BE49-F238E27FC236}">
                <a16:creationId xmlns:a16="http://schemas.microsoft.com/office/drawing/2014/main" id="{D6364B5F-2BA6-4867-9DBB-7E770A254EC0}"/>
              </a:ext>
            </a:extLst>
          </p:cNvPr>
          <p:cNvSpPr/>
          <p:nvPr/>
        </p:nvSpPr>
        <p:spPr>
          <a:xfrm>
            <a:off x="8915400"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1" name="grid-3-1">
            <a:extLst>
              <a:ext uri="{FF2B5EF4-FFF2-40B4-BE49-F238E27FC236}">
                <a16:creationId xmlns:a16="http://schemas.microsoft.com/office/drawing/2014/main" id="{E0472E9A-28CB-430A-98B5-A3EC2B45C29B}"/>
              </a:ext>
            </a:extLst>
          </p:cNvPr>
          <p:cNvSpPr/>
          <p:nvPr/>
        </p:nvSpPr>
        <p:spPr>
          <a:xfrm>
            <a:off x="9774767"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42" name="grid-3-2">
            <a:extLst>
              <a:ext uri="{FF2B5EF4-FFF2-40B4-BE49-F238E27FC236}">
                <a16:creationId xmlns:a16="http://schemas.microsoft.com/office/drawing/2014/main" id="{959857C9-787A-4967-8E1D-0470E61F5A8E}"/>
              </a:ext>
            </a:extLst>
          </p:cNvPr>
          <p:cNvSpPr/>
          <p:nvPr/>
        </p:nvSpPr>
        <p:spPr>
          <a:xfrm>
            <a:off x="10634133" y="3479800"/>
            <a:ext cx="859367" cy="342900"/>
          </a:xfrm>
          <a:prstGeom prst="roundRect">
            <a:avLst>
              <a:gd name="adj" fmla="val 12000"/>
            </a:avLst>
          </a:prstGeom>
          <a:solidFill>
            <a:srgbClr val="FFFFFF"/>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43" name="grid-4-0">
            <a:extLst>
              <a:ext uri="{FF2B5EF4-FFF2-40B4-BE49-F238E27FC236}">
                <a16:creationId xmlns:a16="http://schemas.microsoft.com/office/drawing/2014/main" id="{70744105-5393-4211-90FD-941C0A39F0C2}"/>
              </a:ext>
            </a:extLst>
          </p:cNvPr>
          <p:cNvSpPr/>
          <p:nvPr/>
        </p:nvSpPr>
        <p:spPr>
          <a:xfrm>
            <a:off x="8915400"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4" name="grid-4-1">
            <a:extLst>
              <a:ext uri="{FF2B5EF4-FFF2-40B4-BE49-F238E27FC236}">
                <a16:creationId xmlns:a16="http://schemas.microsoft.com/office/drawing/2014/main" id="{224AC25A-B43B-45FC-AF99-9AAD6DF74C2B}"/>
              </a:ext>
            </a:extLst>
          </p:cNvPr>
          <p:cNvSpPr/>
          <p:nvPr/>
        </p:nvSpPr>
        <p:spPr>
          <a:xfrm>
            <a:off x="9774767"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5" name="grid-4-2">
            <a:extLst>
              <a:ext uri="{FF2B5EF4-FFF2-40B4-BE49-F238E27FC236}">
                <a16:creationId xmlns:a16="http://schemas.microsoft.com/office/drawing/2014/main" id="{FDAF97EB-B023-4F44-A35F-B0500C479DBC}"/>
              </a:ext>
            </a:extLst>
          </p:cNvPr>
          <p:cNvSpPr/>
          <p:nvPr/>
        </p:nvSpPr>
        <p:spPr>
          <a:xfrm>
            <a:off x="10634133"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6" name="grid-5-0">
            <a:extLst>
              <a:ext uri="{FF2B5EF4-FFF2-40B4-BE49-F238E27FC236}">
                <a16:creationId xmlns:a16="http://schemas.microsoft.com/office/drawing/2014/main" id="{F8869CE9-8AF6-452D-A1FF-85EC33D0B735}"/>
              </a:ext>
            </a:extLst>
          </p:cNvPr>
          <p:cNvSpPr/>
          <p:nvPr/>
        </p:nvSpPr>
        <p:spPr>
          <a:xfrm>
            <a:off x="8915400"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47" name="grid-5-1">
            <a:extLst>
              <a:ext uri="{FF2B5EF4-FFF2-40B4-BE49-F238E27FC236}">
                <a16:creationId xmlns:a16="http://schemas.microsoft.com/office/drawing/2014/main" id="{4ECA67B7-51E0-4325-874A-5F0CCD946B03}"/>
              </a:ext>
            </a:extLst>
          </p:cNvPr>
          <p:cNvSpPr/>
          <p:nvPr/>
        </p:nvSpPr>
        <p:spPr>
          <a:xfrm>
            <a:off x="9774767"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48" name="grid-5-2">
            <a:extLst>
              <a:ext uri="{FF2B5EF4-FFF2-40B4-BE49-F238E27FC236}">
                <a16:creationId xmlns:a16="http://schemas.microsoft.com/office/drawing/2014/main" id="{A818CCED-D6CB-45DC-B9D4-CF386EA8A7B8}"/>
              </a:ext>
            </a:extLst>
          </p:cNvPr>
          <p:cNvSpPr/>
          <p:nvPr/>
        </p:nvSpPr>
        <p:spPr>
          <a:xfrm>
            <a:off x="10634133"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49" name="grid-6-0">
            <a:extLst>
              <a:ext uri="{FF2B5EF4-FFF2-40B4-BE49-F238E27FC236}">
                <a16:creationId xmlns:a16="http://schemas.microsoft.com/office/drawing/2014/main" id="{4EA93B93-9A66-494E-B511-AB51063B2924}"/>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0" name="grid-6-1">
            <a:extLst>
              <a:ext uri="{FF2B5EF4-FFF2-40B4-BE49-F238E27FC236}">
                <a16:creationId xmlns:a16="http://schemas.microsoft.com/office/drawing/2014/main" id="{45770565-24EA-48A0-83AB-8EA24E03600C}"/>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1" name="grid-6-2">
            <a:extLst>
              <a:ext uri="{FF2B5EF4-FFF2-40B4-BE49-F238E27FC236}">
                <a16:creationId xmlns:a16="http://schemas.microsoft.com/office/drawing/2014/main" id="{B77A4CBE-90FA-446A-889D-196D5217DA77}"/>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2" name="grid-7-0">
            <a:extLst>
              <a:ext uri="{FF2B5EF4-FFF2-40B4-BE49-F238E27FC236}">
                <a16:creationId xmlns:a16="http://schemas.microsoft.com/office/drawing/2014/main" id="{3951070C-568C-48F7-BE12-AA9D253D7C11}"/>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53" name="grid-7-1">
            <a:extLst>
              <a:ext uri="{FF2B5EF4-FFF2-40B4-BE49-F238E27FC236}">
                <a16:creationId xmlns:a16="http://schemas.microsoft.com/office/drawing/2014/main" id="{FCD0293D-DAB4-4238-8530-28F01E61348F}"/>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54" name="grid-7-2">
            <a:extLst>
              <a:ext uri="{FF2B5EF4-FFF2-40B4-BE49-F238E27FC236}">
                <a16:creationId xmlns:a16="http://schemas.microsoft.com/office/drawing/2014/main" id="{EBBD391B-A60D-47F4-8553-338F50822060}"/>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5" name="grid-8-0">
            <a:extLst>
              <a:ext uri="{FF2B5EF4-FFF2-40B4-BE49-F238E27FC236}">
                <a16:creationId xmlns:a16="http://schemas.microsoft.com/office/drawing/2014/main" id="{C6E3D6E6-6626-4758-BE92-FF4FE1A38F1B}"/>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6" name="grid-8-1">
            <a:extLst>
              <a:ext uri="{FF2B5EF4-FFF2-40B4-BE49-F238E27FC236}">
                <a16:creationId xmlns:a16="http://schemas.microsoft.com/office/drawing/2014/main" id="{CBB32E6B-D662-45D0-BE5D-0F7ADE3EBC03}"/>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57" name="grid-8-2">
            <a:extLst>
              <a:ext uri="{FF2B5EF4-FFF2-40B4-BE49-F238E27FC236}">
                <a16:creationId xmlns:a16="http://schemas.microsoft.com/office/drawing/2014/main" id="{FE401437-1484-4A2A-BE56-8DF6AF7B07F6}"/>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58" name="tarjan-stack">
            <a:extLst>
              <a:ext uri="{FF2B5EF4-FFF2-40B4-BE49-F238E27FC236}">
                <a16:creationId xmlns:a16="http://schemas.microsoft.com/office/drawing/2014/main" id="{2337E3DF-378B-4DB5-AD30-B488D2E14375}"/>
              </a:ext>
            </a:extLst>
          </p:cNvPr>
          <p:cNvSpPr txBox="1"/>
          <p:nvPr/>
        </p:nvSpPr>
        <p:spPr bwMode="auto">
          <a:xfrm>
            <a:off x="660400" y="1511300"/>
            <a:ext cx="7937500" cy="393700"/>
          </a:xfrm>
          <a:prstGeom prst="rect">
            <a:avLst/>
          </a:prstGeom>
        </p:spPr>
        <p:txBody>
          <a:bodyPr vert="horz" wrap="square" lIns="38100" tIns="12700" rIns="38100" bIns="12700" rtlCol="0">
            <a:noAutofit/>
          </a:bodyPr>
          <a:lstStyle/>
          <a:p>
            <a:r>
              <a:rPr lang="ru-RU" sz="2100" b="1">
                <a:solidFill>
                  <a:srgbClr val="352379"/>
                </a:solidFill>
                <a:latin typeface="Montserrat"/>
              </a:rPr>
              <a:t>stack = [1, 2, 3] · верхушка: 3</a:t>
            </a:r>
          </a:p>
        </p:txBody>
      </p:sp>
      <p:sp>
        <p:nvSpPr>
          <p:cNvPr id="59" name="tarjan-caption">
            <a:extLst>
              <a:ext uri="{FF2B5EF4-FFF2-40B4-BE49-F238E27FC236}">
                <a16:creationId xmlns:a16="http://schemas.microsoft.com/office/drawing/2014/main" id="{4BC08C73-B0AC-4C4D-8839-147A22AAAFA8}"/>
              </a:ext>
            </a:extLst>
          </p:cNvPr>
          <p:cNvSpPr txBox="1"/>
          <p:nvPr/>
        </p:nvSpPr>
        <p:spPr bwMode="auto">
          <a:xfrm>
            <a:off x="660400" y="5257800"/>
            <a:ext cx="7937500" cy="406400"/>
          </a:xfrm>
          <a:prstGeom prst="rect">
            <a:avLst/>
          </a:prstGeom>
        </p:spPr>
        <p:txBody>
          <a:bodyPr vert="horz" wrap="square" lIns="38100" tIns="12700" rIns="38100" bIns="12700" rtlCol="0">
            <a:noAutofit/>
          </a:bodyPr>
          <a:lstStyle/>
          <a:p>
            <a:r>
              <a:rPr lang="en-US" sz="2000">
                <a:solidFill>
                  <a:srgbClr val="352379"/>
                </a:solidFill>
                <a:latin typeface="Montserrat"/>
              </a:rPr>
              <a:t>low[1] == tin[1] : 1 == 1</a:t>
            </a:r>
            <a:endParaRPr lang="ru-RU" sz="2000">
              <a:solidFill>
                <a:srgbClr val="352379"/>
              </a:solidFill>
              <a:latin typeface="Montserrat"/>
            </a:endParaRPr>
          </a:p>
        </p:txBody>
      </p:sp>
      <p:sp>
        <p:nvSpPr>
          <p:cNvPr id="60" name="tarjan-band-background">
            <a:extLst>
              <a:ext uri="{FF2B5EF4-FFF2-40B4-BE49-F238E27FC236}">
                <a16:creationId xmlns:a16="http://schemas.microsoft.com/office/drawing/2014/main" id="{396B7C27-DD06-4BD2-A509-39084DAE05A1}"/>
              </a:ext>
            </a:extLst>
          </p:cNvPr>
          <p:cNvSpPr/>
          <p:nvPr/>
        </p:nvSpPr>
        <p:spPr>
          <a:xfrm>
            <a:off x="482600" y="5905500"/>
            <a:ext cx="11226800" cy="5842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arjan-definition">
            <a:extLst>
              <a:ext uri="{FF2B5EF4-FFF2-40B4-BE49-F238E27FC236}">
                <a16:creationId xmlns:a16="http://schemas.microsoft.com/office/drawing/2014/main" id="{165706C6-E663-4B2E-8C1A-858E2FCE7EB0}"/>
              </a:ext>
            </a:extLst>
          </p:cNvPr>
          <p:cNvSpPr txBox="1"/>
          <p:nvPr/>
        </p:nvSpPr>
        <p:spPr bwMode="auto">
          <a:xfrm>
            <a:off x="660400" y="5943600"/>
            <a:ext cx="10871200" cy="508000"/>
          </a:xfrm>
          <a:prstGeom prst="rect">
            <a:avLst/>
          </a:prstGeom>
        </p:spPr>
        <p:txBody>
          <a:bodyPr vert="horz" wrap="square" lIns="38100" tIns="12700" rIns="38100" bIns="12700" rtlCol="0" anchor="ctr">
            <a:noAutofit/>
          </a:bodyPr>
          <a:lstStyle/>
          <a:p>
            <a:r>
              <a:rPr lang="ru-RU" sz="2100">
                <a:solidFill>
                  <a:srgbClr val="FFFFFF"/>
                </a:solidFill>
                <a:latin typeface="Montserrat"/>
              </a:rPr>
              <a:t>low[v] == tin[v]: v — корень текущей компоненты сильной связности.</a:t>
            </a:r>
          </a:p>
        </p:txBody>
      </p:sp>
      <p:grpSp>
        <p:nvGrpSpPr>
          <p:cNvPr id="102" name="tarjan-stage-1">
            <a:extLst>
              <a:ext uri="{FF2B5EF4-FFF2-40B4-BE49-F238E27FC236}">
                <a16:creationId xmlns:a16="http://schemas.microsoft.com/office/drawing/2014/main" id="{28D67C10-3E39-40CF-A5FD-954E247A1DDF}"/>
              </a:ext>
            </a:extLst>
          </p:cNvPr>
          <p:cNvGrpSpPr/>
          <p:nvPr/>
        </p:nvGrpSpPr>
        <p:grpSpPr>
          <a:xfrm>
            <a:off x="508000" y="1511300"/>
            <a:ext cx="11201400" cy="4152900"/>
            <a:chOff x="508000" y="1511300"/>
            <a:chExt cx="11201400" cy="4152900"/>
          </a:xfrm>
        </p:grpSpPr>
        <p:sp>
          <p:nvSpPr>
            <p:cNvPr id="62" name="stage-1-!!g-node-1">
              <a:extLst>
                <a:ext uri="{FF2B5EF4-FFF2-40B4-BE49-F238E27FC236}">
                  <a16:creationId xmlns:a16="http://schemas.microsoft.com/office/drawing/2014/main" id="{D4878037-8F1D-4CFE-8083-24870DDE2B6B}"/>
                </a:ext>
              </a:extLst>
            </p:cNvPr>
            <p:cNvSpPr/>
            <p:nvPr/>
          </p:nvSpPr>
          <p:spPr>
            <a:xfrm>
              <a:off x="8255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63" name="stage-1-!!g-node-2">
              <a:extLst>
                <a:ext uri="{FF2B5EF4-FFF2-40B4-BE49-F238E27FC236}">
                  <a16:creationId xmlns:a16="http://schemas.microsoft.com/office/drawing/2014/main" id="{F5E6C603-7BB0-45DF-AE86-6962FBAE9F01}"/>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4" name="stage-1-!!g-node-3">
              <a:extLst>
                <a:ext uri="{FF2B5EF4-FFF2-40B4-BE49-F238E27FC236}">
                  <a16:creationId xmlns:a16="http://schemas.microsoft.com/office/drawing/2014/main" id="{B3688DB8-B5BC-4A60-91C4-365AF9705707}"/>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5" name="stage-1-!!g-node-4">
              <a:extLst>
                <a:ext uri="{FF2B5EF4-FFF2-40B4-BE49-F238E27FC236}">
                  <a16:creationId xmlns:a16="http://schemas.microsoft.com/office/drawing/2014/main" id="{2D843220-0D07-4AC6-AB4E-EA3BFCD1E76F}"/>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66" name="stage-1-!!g-node-5">
              <a:extLst>
                <a:ext uri="{FF2B5EF4-FFF2-40B4-BE49-F238E27FC236}">
                  <a16:creationId xmlns:a16="http://schemas.microsoft.com/office/drawing/2014/main" id="{EE6D7472-F03A-423D-B48E-A18ACADCF329}"/>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67" name="stage-1-!!g-node-6">
              <a:extLst>
                <a:ext uri="{FF2B5EF4-FFF2-40B4-BE49-F238E27FC236}">
                  <a16:creationId xmlns:a16="http://schemas.microsoft.com/office/drawing/2014/main" id="{E9A48C0E-A63C-4E0A-B673-3D85FC6D695D}"/>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68" name="stage-1-!!g-node-7">
              <a:extLst>
                <a:ext uri="{FF2B5EF4-FFF2-40B4-BE49-F238E27FC236}">
                  <a16:creationId xmlns:a16="http://schemas.microsoft.com/office/drawing/2014/main" id="{BAAF39B4-5E1C-4C00-974F-738300F7BFD0}"/>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69" name="stage-1-!!g-node-8">
              <a:extLst>
                <a:ext uri="{FF2B5EF4-FFF2-40B4-BE49-F238E27FC236}">
                  <a16:creationId xmlns:a16="http://schemas.microsoft.com/office/drawing/2014/main" id="{A068580C-530B-4A36-B3E9-EEA91AF45EC4}"/>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70" name="stage-1-box-21-697">
              <a:extLst>
                <a:ext uri="{FF2B5EF4-FFF2-40B4-BE49-F238E27FC236}">
                  <a16:creationId xmlns:a16="http://schemas.microsoft.com/office/drawing/2014/main" id="{6454AB50-1D74-4D3F-8B76-FEE7BD041D7A}"/>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stage-1-box-22-698">
              <a:extLst>
                <a:ext uri="{FF2B5EF4-FFF2-40B4-BE49-F238E27FC236}">
                  <a16:creationId xmlns:a16="http://schemas.microsoft.com/office/drawing/2014/main" id="{3E7CEAE3-2F21-481C-AFA9-16D483338B64}"/>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stage-1-text-23-699">
              <a:extLst>
                <a:ext uri="{FF2B5EF4-FFF2-40B4-BE49-F238E27FC236}">
                  <a16:creationId xmlns:a16="http://schemas.microsoft.com/office/drawing/2014/main" id="{8AEB0E04-D337-4535-A429-FF2E224DBE42}"/>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Снимаем 3</a:t>
              </a:r>
            </a:p>
          </p:txBody>
        </p:sp>
        <p:sp>
          <p:nvSpPr>
            <p:cNvPr id="73" name="stage-1-grid-0-0">
              <a:extLst>
                <a:ext uri="{FF2B5EF4-FFF2-40B4-BE49-F238E27FC236}">
                  <a16:creationId xmlns:a16="http://schemas.microsoft.com/office/drawing/2014/main" id="{5B0B4F36-C52C-4C82-AF1E-B5112B566523}"/>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74" name="stage-1-grid-0-1">
              <a:extLst>
                <a:ext uri="{FF2B5EF4-FFF2-40B4-BE49-F238E27FC236}">
                  <a16:creationId xmlns:a16="http://schemas.microsoft.com/office/drawing/2014/main" id="{3AE7D130-E59A-4258-8C87-B5F4EABAF32F}"/>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75" name="stage-1-grid-0-2">
              <a:extLst>
                <a:ext uri="{FF2B5EF4-FFF2-40B4-BE49-F238E27FC236}">
                  <a16:creationId xmlns:a16="http://schemas.microsoft.com/office/drawing/2014/main" id="{6D9D42B0-3D88-4672-8BC7-498B1D07999A}"/>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76" name="stage-1-grid-1-0">
              <a:extLst>
                <a:ext uri="{FF2B5EF4-FFF2-40B4-BE49-F238E27FC236}">
                  <a16:creationId xmlns:a16="http://schemas.microsoft.com/office/drawing/2014/main" id="{DA8092E4-3614-427A-A001-BDEA57DBE15A}"/>
                </a:ext>
              </a:extLst>
            </p:cNvPr>
            <p:cNvSpPr/>
            <p:nvPr/>
          </p:nvSpPr>
          <p:spPr>
            <a:xfrm>
              <a:off x="8915400"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77" name="stage-1-grid-1-1">
              <a:extLst>
                <a:ext uri="{FF2B5EF4-FFF2-40B4-BE49-F238E27FC236}">
                  <a16:creationId xmlns:a16="http://schemas.microsoft.com/office/drawing/2014/main" id="{92377BBF-62D4-4628-85A1-FEB070C080E8}"/>
                </a:ext>
              </a:extLst>
            </p:cNvPr>
            <p:cNvSpPr/>
            <p:nvPr/>
          </p:nvSpPr>
          <p:spPr>
            <a:xfrm>
              <a:off x="9774767"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78" name="stage-1-grid-1-2">
              <a:extLst>
                <a:ext uri="{FF2B5EF4-FFF2-40B4-BE49-F238E27FC236}">
                  <a16:creationId xmlns:a16="http://schemas.microsoft.com/office/drawing/2014/main" id="{ADAE7B09-BCE8-427D-8112-03BA1CD9F7B0}"/>
                </a:ext>
              </a:extLst>
            </p:cNvPr>
            <p:cNvSpPr/>
            <p:nvPr/>
          </p:nvSpPr>
          <p:spPr>
            <a:xfrm>
              <a:off x="10634133"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79" name="stage-1-grid-2-0">
              <a:extLst>
                <a:ext uri="{FF2B5EF4-FFF2-40B4-BE49-F238E27FC236}">
                  <a16:creationId xmlns:a16="http://schemas.microsoft.com/office/drawing/2014/main" id="{9B6FAD59-67ED-4676-A757-45EF41FF4152}"/>
                </a:ext>
              </a:extLst>
            </p:cNvPr>
            <p:cNvSpPr/>
            <p:nvPr/>
          </p:nvSpPr>
          <p:spPr>
            <a:xfrm>
              <a:off x="8915400"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0" name="stage-1-grid-2-1">
              <a:extLst>
                <a:ext uri="{FF2B5EF4-FFF2-40B4-BE49-F238E27FC236}">
                  <a16:creationId xmlns:a16="http://schemas.microsoft.com/office/drawing/2014/main" id="{DFDF5D0C-68FF-46AB-9E46-D7FE7F1B1CC2}"/>
                </a:ext>
              </a:extLst>
            </p:cNvPr>
            <p:cNvSpPr/>
            <p:nvPr/>
          </p:nvSpPr>
          <p:spPr>
            <a:xfrm>
              <a:off x="9774767"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81" name="stage-1-grid-2-2">
              <a:extLst>
                <a:ext uri="{FF2B5EF4-FFF2-40B4-BE49-F238E27FC236}">
                  <a16:creationId xmlns:a16="http://schemas.microsoft.com/office/drawing/2014/main" id="{F27EE0AB-0532-4D14-A09C-B7759DB1AF32}"/>
                </a:ext>
              </a:extLst>
            </p:cNvPr>
            <p:cNvSpPr/>
            <p:nvPr/>
          </p:nvSpPr>
          <p:spPr>
            <a:xfrm>
              <a:off x="10634133" y="3136900"/>
              <a:ext cx="859367" cy="342900"/>
            </a:xfrm>
            <a:prstGeom prst="roundRect">
              <a:avLst>
                <a:gd name="adj" fmla="val 12000"/>
              </a:avLst>
            </a:prstGeom>
            <a:solidFill>
              <a:srgbClr val="E3D6F5"/>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82" name="stage-1-grid-3-0">
              <a:extLst>
                <a:ext uri="{FF2B5EF4-FFF2-40B4-BE49-F238E27FC236}">
                  <a16:creationId xmlns:a16="http://schemas.microsoft.com/office/drawing/2014/main" id="{290E095A-C29E-4ADF-8F36-4240F94109D1}"/>
                </a:ext>
              </a:extLst>
            </p:cNvPr>
            <p:cNvSpPr/>
            <p:nvPr/>
          </p:nvSpPr>
          <p:spPr>
            <a:xfrm>
              <a:off x="8915400"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3" name="stage-1-grid-3-1">
              <a:extLst>
                <a:ext uri="{FF2B5EF4-FFF2-40B4-BE49-F238E27FC236}">
                  <a16:creationId xmlns:a16="http://schemas.microsoft.com/office/drawing/2014/main" id="{7333BB59-F677-40D0-9B77-20FF25D9692C}"/>
                </a:ext>
              </a:extLst>
            </p:cNvPr>
            <p:cNvSpPr/>
            <p:nvPr/>
          </p:nvSpPr>
          <p:spPr>
            <a:xfrm>
              <a:off x="9774767"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84" name="stage-1-grid-3-2">
              <a:extLst>
                <a:ext uri="{FF2B5EF4-FFF2-40B4-BE49-F238E27FC236}">
                  <a16:creationId xmlns:a16="http://schemas.microsoft.com/office/drawing/2014/main" id="{9121200D-F6DB-47C5-A468-160DEA8E8BCA}"/>
                </a:ext>
              </a:extLst>
            </p:cNvPr>
            <p:cNvSpPr/>
            <p:nvPr/>
          </p:nvSpPr>
          <p:spPr>
            <a:xfrm>
              <a:off x="10634133"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85" name="stage-1-grid-4-0">
              <a:extLst>
                <a:ext uri="{FF2B5EF4-FFF2-40B4-BE49-F238E27FC236}">
                  <a16:creationId xmlns:a16="http://schemas.microsoft.com/office/drawing/2014/main" id="{FCACA6FC-7D18-4F13-BE75-C650F362BEE2}"/>
                </a:ext>
              </a:extLst>
            </p:cNvPr>
            <p:cNvSpPr/>
            <p:nvPr/>
          </p:nvSpPr>
          <p:spPr>
            <a:xfrm>
              <a:off x="8915400"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86" name="stage-1-grid-4-1">
              <a:extLst>
                <a:ext uri="{FF2B5EF4-FFF2-40B4-BE49-F238E27FC236}">
                  <a16:creationId xmlns:a16="http://schemas.microsoft.com/office/drawing/2014/main" id="{52A6DA8E-61E6-482E-885F-1CA3807C8AD9}"/>
                </a:ext>
              </a:extLst>
            </p:cNvPr>
            <p:cNvSpPr/>
            <p:nvPr/>
          </p:nvSpPr>
          <p:spPr>
            <a:xfrm>
              <a:off x="9774767"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87" name="stage-1-grid-4-2">
              <a:extLst>
                <a:ext uri="{FF2B5EF4-FFF2-40B4-BE49-F238E27FC236}">
                  <a16:creationId xmlns:a16="http://schemas.microsoft.com/office/drawing/2014/main" id="{D1A04271-F0ED-46D7-9169-2BA2821C442A}"/>
                </a:ext>
              </a:extLst>
            </p:cNvPr>
            <p:cNvSpPr/>
            <p:nvPr/>
          </p:nvSpPr>
          <p:spPr>
            <a:xfrm>
              <a:off x="10634133"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88" name="stage-1-grid-5-0">
              <a:extLst>
                <a:ext uri="{FF2B5EF4-FFF2-40B4-BE49-F238E27FC236}">
                  <a16:creationId xmlns:a16="http://schemas.microsoft.com/office/drawing/2014/main" id="{E4137768-A62D-4C30-ABF4-2C805996422D}"/>
                </a:ext>
              </a:extLst>
            </p:cNvPr>
            <p:cNvSpPr/>
            <p:nvPr/>
          </p:nvSpPr>
          <p:spPr>
            <a:xfrm>
              <a:off x="8915400"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89" name="stage-1-grid-5-1">
              <a:extLst>
                <a:ext uri="{FF2B5EF4-FFF2-40B4-BE49-F238E27FC236}">
                  <a16:creationId xmlns:a16="http://schemas.microsoft.com/office/drawing/2014/main" id="{CFE521D7-AA88-44EE-8F72-42DF428780D7}"/>
                </a:ext>
              </a:extLst>
            </p:cNvPr>
            <p:cNvSpPr/>
            <p:nvPr/>
          </p:nvSpPr>
          <p:spPr>
            <a:xfrm>
              <a:off x="9774767"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90" name="stage-1-grid-5-2">
              <a:extLst>
                <a:ext uri="{FF2B5EF4-FFF2-40B4-BE49-F238E27FC236}">
                  <a16:creationId xmlns:a16="http://schemas.microsoft.com/office/drawing/2014/main" id="{0DD8A79E-D66A-4967-903E-157D67C76F79}"/>
                </a:ext>
              </a:extLst>
            </p:cNvPr>
            <p:cNvSpPr/>
            <p:nvPr/>
          </p:nvSpPr>
          <p:spPr>
            <a:xfrm>
              <a:off x="10634133"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91" name="stage-1-grid-6-0">
              <a:extLst>
                <a:ext uri="{FF2B5EF4-FFF2-40B4-BE49-F238E27FC236}">
                  <a16:creationId xmlns:a16="http://schemas.microsoft.com/office/drawing/2014/main" id="{58DB6763-7303-4103-9D07-062ACF208A14}"/>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2" name="stage-1-grid-6-1">
              <a:extLst>
                <a:ext uri="{FF2B5EF4-FFF2-40B4-BE49-F238E27FC236}">
                  <a16:creationId xmlns:a16="http://schemas.microsoft.com/office/drawing/2014/main" id="{258C91F5-E552-45FF-8A31-CEB740AEC1F3}"/>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3" name="stage-1-grid-6-2">
              <a:extLst>
                <a:ext uri="{FF2B5EF4-FFF2-40B4-BE49-F238E27FC236}">
                  <a16:creationId xmlns:a16="http://schemas.microsoft.com/office/drawing/2014/main" id="{FA16CC88-CAF2-4AA4-93E2-4C35C7F0A4AD}"/>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4" name="stage-1-grid-7-0">
              <a:extLst>
                <a:ext uri="{FF2B5EF4-FFF2-40B4-BE49-F238E27FC236}">
                  <a16:creationId xmlns:a16="http://schemas.microsoft.com/office/drawing/2014/main" id="{7166DCB4-9A56-48C7-9036-CC00CCA1F09D}"/>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95" name="stage-1-grid-7-1">
              <a:extLst>
                <a:ext uri="{FF2B5EF4-FFF2-40B4-BE49-F238E27FC236}">
                  <a16:creationId xmlns:a16="http://schemas.microsoft.com/office/drawing/2014/main" id="{F7AAE1C1-B570-42D0-883F-38AAED942738}"/>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96" name="stage-1-grid-7-2">
              <a:extLst>
                <a:ext uri="{FF2B5EF4-FFF2-40B4-BE49-F238E27FC236}">
                  <a16:creationId xmlns:a16="http://schemas.microsoft.com/office/drawing/2014/main" id="{EB368934-886E-414B-B194-D8860111FF4D}"/>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97" name="stage-1-grid-8-0">
              <a:extLst>
                <a:ext uri="{FF2B5EF4-FFF2-40B4-BE49-F238E27FC236}">
                  <a16:creationId xmlns:a16="http://schemas.microsoft.com/office/drawing/2014/main" id="{24D8407D-75C2-4268-9739-4680391C8ECE}"/>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8" name="stage-1-grid-8-1">
              <a:extLst>
                <a:ext uri="{FF2B5EF4-FFF2-40B4-BE49-F238E27FC236}">
                  <a16:creationId xmlns:a16="http://schemas.microsoft.com/office/drawing/2014/main" id="{680089A8-889B-4C53-971F-7A273AA019CB}"/>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99" name="stage-1-grid-8-2">
              <a:extLst>
                <a:ext uri="{FF2B5EF4-FFF2-40B4-BE49-F238E27FC236}">
                  <a16:creationId xmlns:a16="http://schemas.microsoft.com/office/drawing/2014/main" id="{A11EA20F-67B9-435E-810C-4F2DD087CDC4}"/>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00" name="stage-1-tarjan-stack">
              <a:extLst>
                <a:ext uri="{FF2B5EF4-FFF2-40B4-BE49-F238E27FC236}">
                  <a16:creationId xmlns:a16="http://schemas.microsoft.com/office/drawing/2014/main" id="{118EE372-7AA0-448A-988A-D23A09735143}"/>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ru-RU" sz="2100" b="1">
                  <a:solidFill>
                    <a:srgbClr val="352379"/>
                  </a:solidFill>
                  <a:latin typeface="Montserrat"/>
                </a:rPr>
                <a:t>stack = [1, 2] · верхушка: 2</a:t>
              </a:r>
            </a:p>
          </p:txBody>
        </p:sp>
        <p:sp>
          <p:nvSpPr>
            <p:cNvPr id="101" name="stage-1-tarjan-caption">
              <a:extLst>
                <a:ext uri="{FF2B5EF4-FFF2-40B4-BE49-F238E27FC236}">
                  <a16:creationId xmlns:a16="http://schemas.microsoft.com/office/drawing/2014/main" id="{F52AF612-81F5-4855-A964-3B33ED383E1B}"/>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Извлечено: 3 · low[1] = tin[1] = 1</a:t>
              </a:r>
            </a:p>
          </p:txBody>
        </p:sp>
      </p:grpSp>
      <p:grpSp>
        <p:nvGrpSpPr>
          <p:cNvPr id="143" name="tarjan-stage-2">
            <a:extLst>
              <a:ext uri="{FF2B5EF4-FFF2-40B4-BE49-F238E27FC236}">
                <a16:creationId xmlns:a16="http://schemas.microsoft.com/office/drawing/2014/main" id="{44BB7C28-20C8-4ECA-BF61-12735692F248}"/>
              </a:ext>
            </a:extLst>
          </p:cNvPr>
          <p:cNvGrpSpPr/>
          <p:nvPr/>
        </p:nvGrpSpPr>
        <p:grpSpPr>
          <a:xfrm>
            <a:off x="508000" y="1511300"/>
            <a:ext cx="11201400" cy="4152900"/>
            <a:chOff x="508000" y="1511300"/>
            <a:chExt cx="11201400" cy="4152900"/>
          </a:xfrm>
        </p:grpSpPr>
        <p:sp>
          <p:nvSpPr>
            <p:cNvPr id="103" name="stage-2-!!g-node-1">
              <a:extLst>
                <a:ext uri="{FF2B5EF4-FFF2-40B4-BE49-F238E27FC236}">
                  <a16:creationId xmlns:a16="http://schemas.microsoft.com/office/drawing/2014/main" id="{7A3C1B78-FC23-4908-88A1-3D7E7C2DDB0B}"/>
                </a:ext>
              </a:extLst>
            </p:cNvPr>
            <p:cNvSpPr/>
            <p:nvPr/>
          </p:nvSpPr>
          <p:spPr>
            <a:xfrm>
              <a:off x="825500" y="2032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104" name="stage-2-!!g-node-2">
              <a:extLst>
                <a:ext uri="{FF2B5EF4-FFF2-40B4-BE49-F238E27FC236}">
                  <a16:creationId xmlns:a16="http://schemas.microsoft.com/office/drawing/2014/main" id="{FFB903C0-2007-4D52-85C8-40A99A0471B7}"/>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05" name="stage-2-!!g-node-3">
              <a:extLst>
                <a:ext uri="{FF2B5EF4-FFF2-40B4-BE49-F238E27FC236}">
                  <a16:creationId xmlns:a16="http://schemas.microsoft.com/office/drawing/2014/main" id="{F488EC4A-66F3-479C-A701-C11A3EAA1542}"/>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6" name="stage-2-!!g-node-4">
              <a:extLst>
                <a:ext uri="{FF2B5EF4-FFF2-40B4-BE49-F238E27FC236}">
                  <a16:creationId xmlns:a16="http://schemas.microsoft.com/office/drawing/2014/main" id="{707B1414-BB7C-4EFE-ADBB-EFA0D069580B}"/>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07" name="stage-2-!!g-node-5">
              <a:extLst>
                <a:ext uri="{FF2B5EF4-FFF2-40B4-BE49-F238E27FC236}">
                  <a16:creationId xmlns:a16="http://schemas.microsoft.com/office/drawing/2014/main" id="{9022E9B1-B16E-4407-AD0A-FD875277C358}"/>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08" name="stage-2-!!g-node-6">
              <a:extLst>
                <a:ext uri="{FF2B5EF4-FFF2-40B4-BE49-F238E27FC236}">
                  <a16:creationId xmlns:a16="http://schemas.microsoft.com/office/drawing/2014/main" id="{A9834C42-1E2F-4DB3-898C-C05009541C1F}"/>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09" name="stage-2-!!g-node-7">
              <a:extLst>
                <a:ext uri="{FF2B5EF4-FFF2-40B4-BE49-F238E27FC236}">
                  <a16:creationId xmlns:a16="http://schemas.microsoft.com/office/drawing/2014/main" id="{049C83B1-5873-4806-AC6F-5D0B7D7658FE}"/>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10" name="stage-2-!!g-node-8">
              <a:extLst>
                <a:ext uri="{FF2B5EF4-FFF2-40B4-BE49-F238E27FC236}">
                  <a16:creationId xmlns:a16="http://schemas.microsoft.com/office/drawing/2014/main" id="{9952E7D9-2B8C-4DAC-8698-511452539867}"/>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111" name="stage-2-box-21-697">
              <a:extLst>
                <a:ext uri="{FF2B5EF4-FFF2-40B4-BE49-F238E27FC236}">
                  <a16:creationId xmlns:a16="http://schemas.microsoft.com/office/drawing/2014/main" id="{D47E5B14-2588-4EF8-977E-C826AFC86185}"/>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stage-2-box-22-698">
              <a:extLst>
                <a:ext uri="{FF2B5EF4-FFF2-40B4-BE49-F238E27FC236}">
                  <a16:creationId xmlns:a16="http://schemas.microsoft.com/office/drawing/2014/main" id="{29B167F1-BDC7-4CB7-A517-B075162B432B}"/>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stage-2-text-23-699">
              <a:extLst>
                <a:ext uri="{FF2B5EF4-FFF2-40B4-BE49-F238E27FC236}">
                  <a16:creationId xmlns:a16="http://schemas.microsoft.com/office/drawing/2014/main" id="{7B3612E3-2F8B-4897-ADC4-57EA8F79D137}"/>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Снимаем 2</a:t>
              </a:r>
            </a:p>
          </p:txBody>
        </p:sp>
        <p:sp>
          <p:nvSpPr>
            <p:cNvPr id="114" name="stage-2-grid-0-0">
              <a:extLst>
                <a:ext uri="{FF2B5EF4-FFF2-40B4-BE49-F238E27FC236}">
                  <a16:creationId xmlns:a16="http://schemas.microsoft.com/office/drawing/2014/main" id="{CDF18BB0-EDE5-4462-8E56-58780130E8C6}"/>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15" name="stage-2-grid-0-1">
              <a:extLst>
                <a:ext uri="{FF2B5EF4-FFF2-40B4-BE49-F238E27FC236}">
                  <a16:creationId xmlns:a16="http://schemas.microsoft.com/office/drawing/2014/main" id="{AE5E4D7D-9468-4A28-B966-947F67A2EC84}"/>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16" name="stage-2-grid-0-2">
              <a:extLst>
                <a:ext uri="{FF2B5EF4-FFF2-40B4-BE49-F238E27FC236}">
                  <a16:creationId xmlns:a16="http://schemas.microsoft.com/office/drawing/2014/main" id="{29711018-2B7D-4BCB-A53A-3DAB6998E36D}"/>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17" name="stage-2-grid-1-0">
              <a:extLst>
                <a:ext uri="{FF2B5EF4-FFF2-40B4-BE49-F238E27FC236}">
                  <a16:creationId xmlns:a16="http://schemas.microsoft.com/office/drawing/2014/main" id="{687C7879-C125-4FE7-92B0-BA7FEFD30A35}"/>
                </a:ext>
              </a:extLst>
            </p:cNvPr>
            <p:cNvSpPr/>
            <p:nvPr/>
          </p:nvSpPr>
          <p:spPr>
            <a:xfrm>
              <a:off x="8915400"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118" name="stage-2-grid-1-1">
              <a:extLst>
                <a:ext uri="{FF2B5EF4-FFF2-40B4-BE49-F238E27FC236}">
                  <a16:creationId xmlns:a16="http://schemas.microsoft.com/office/drawing/2014/main" id="{EB2F9EFA-D8A3-4B5D-86D1-E437CD938184}"/>
                </a:ext>
              </a:extLst>
            </p:cNvPr>
            <p:cNvSpPr/>
            <p:nvPr/>
          </p:nvSpPr>
          <p:spPr>
            <a:xfrm>
              <a:off x="9774767"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119" name="stage-2-grid-1-2">
              <a:extLst>
                <a:ext uri="{FF2B5EF4-FFF2-40B4-BE49-F238E27FC236}">
                  <a16:creationId xmlns:a16="http://schemas.microsoft.com/office/drawing/2014/main" id="{5CD3FFD3-512D-421D-900C-C5E3C19EBEE1}"/>
                </a:ext>
              </a:extLst>
            </p:cNvPr>
            <p:cNvSpPr/>
            <p:nvPr/>
          </p:nvSpPr>
          <p:spPr>
            <a:xfrm>
              <a:off x="10634133" y="27940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1</a:t>
              </a:r>
            </a:p>
          </p:txBody>
        </p:sp>
        <p:sp>
          <p:nvSpPr>
            <p:cNvPr id="120" name="stage-2-grid-2-0">
              <a:extLst>
                <a:ext uri="{FF2B5EF4-FFF2-40B4-BE49-F238E27FC236}">
                  <a16:creationId xmlns:a16="http://schemas.microsoft.com/office/drawing/2014/main" id="{D2F5E2AF-006E-4A50-A3CF-653AD4DB5FE8}"/>
                </a:ext>
              </a:extLst>
            </p:cNvPr>
            <p:cNvSpPr/>
            <p:nvPr/>
          </p:nvSpPr>
          <p:spPr>
            <a:xfrm>
              <a:off x="8915400" y="31369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1" name="stage-2-grid-2-1">
              <a:extLst>
                <a:ext uri="{FF2B5EF4-FFF2-40B4-BE49-F238E27FC236}">
                  <a16:creationId xmlns:a16="http://schemas.microsoft.com/office/drawing/2014/main" id="{81A88829-60D2-4D87-BBF5-AA33691AF6D7}"/>
                </a:ext>
              </a:extLst>
            </p:cNvPr>
            <p:cNvSpPr/>
            <p:nvPr/>
          </p:nvSpPr>
          <p:spPr>
            <a:xfrm>
              <a:off x="9774767" y="31369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22" name="stage-2-grid-2-2">
              <a:extLst>
                <a:ext uri="{FF2B5EF4-FFF2-40B4-BE49-F238E27FC236}">
                  <a16:creationId xmlns:a16="http://schemas.microsoft.com/office/drawing/2014/main" id="{63289957-69FE-43F6-8F50-05730A7F8E9C}"/>
                </a:ext>
              </a:extLst>
            </p:cNvPr>
            <p:cNvSpPr/>
            <p:nvPr/>
          </p:nvSpPr>
          <p:spPr>
            <a:xfrm>
              <a:off x="10634133" y="31369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3" name="stage-2-grid-3-0">
              <a:extLst>
                <a:ext uri="{FF2B5EF4-FFF2-40B4-BE49-F238E27FC236}">
                  <a16:creationId xmlns:a16="http://schemas.microsoft.com/office/drawing/2014/main" id="{94803CC2-761C-4B0A-87EF-3248791F5820}"/>
                </a:ext>
              </a:extLst>
            </p:cNvPr>
            <p:cNvSpPr/>
            <p:nvPr/>
          </p:nvSpPr>
          <p:spPr>
            <a:xfrm>
              <a:off x="8915400"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4" name="stage-2-grid-3-1">
              <a:extLst>
                <a:ext uri="{FF2B5EF4-FFF2-40B4-BE49-F238E27FC236}">
                  <a16:creationId xmlns:a16="http://schemas.microsoft.com/office/drawing/2014/main" id="{95CE8025-0103-4D18-8A69-1299CF86112C}"/>
                </a:ext>
              </a:extLst>
            </p:cNvPr>
            <p:cNvSpPr/>
            <p:nvPr/>
          </p:nvSpPr>
          <p:spPr>
            <a:xfrm>
              <a:off x="9774767"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25" name="stage-2-grid-3-2">
              <a:extLst>
                <a:ext uri="{FF2B5EF4-FFF2-40B4-BE49-F238E27FC236}">
                  <a16:creationId xmlns:a16="http://schemas.microsoft.com/office/drawing/2014/main" id="{4EE562E4-EEA7-4110-96B6-CA0E5B655081}"/>
                </a:ext>
              </a:extLst>
            </p:cNvPr>
            <p:cNvSpPr/>
            <p:nvPr/>
          </p:nvSpPr>
          <p:spPr>
            <a:xfrm>
              <a:off x="10634133"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26" name="stage-2-grid-4-0">
              <a:extLst>
                <a:ext uri="{FF2B5EF4-FFF2-40B4-BE49-F238E27FC236}">
                  <a16:creationId xmlns:a16="http://schemas.microsoft.com/office/drawing/2014/main" id="{4E886483-0327-40BE-B146-5E75CF82E9E4}"/>
                </a:ext>
              </a:extLst>
            </p:cNvPr>
            <p:cNvSpPr/>
            <p:nvPr/>
          </p:nvSpPr>
          <p:spPr>
            <a:xfrm>
              <a:off x="8915400"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27" name="stage-2-grid-4-1">
              <a:extLst>
                <a:ext uri="{FF2B5EF4-FFF2-40B4-BE49-F238E27FC236}">
                  <a16:creationId xmlns:a16="http://schemas.microsoft.com/office/drawing/2014/main" id="{8B468A7E-4B26-4232-94AA-B66596A3B18B}"/>
                </a:ext>
              </a:extLst>
            </p:cNvPr>
            <p:cNvSpPr/>
            <p:nvPr/>
          </p:nvSpPr>
          <p:spPr>
            <a:xfrm>
              <a:off x="9774767"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28" name="stage-2-grid-4-2">
              <a:extLst>
                <a:ext uri="{FF2B5EF4-FFF2-40B4-BE49-F238E27FC236}">
                  <a16:creationId xmlns:a16="http://schemas.microsoft.com/office/drawing/2014/main" id="{3925D08B-C026-45AF-9B1C-36489F020F3A}"/>
                </a:ext>
              </a:extLst>
            </p:cNvPr>
            <p:cNvSpPr/>
            <p:nvPr/>
          </p:nvSpPr>
          <p:spPr>
            <a:xfrm>
              <a:off x="10634133"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29" name="stage-2-grid-5-0">
              <a:extLst>
                <a:ext uri="{FF2B5EF4-FFF2-40B4-BE49-F238E27FC236}">
                  <a16:creationId xmlns:a16="http://schemas.microsoft.com/office/drawing/2014/main" id="{FF5706F2-C686-4116-B448-4E892FB8C823}"/>
                </a:ext>
              </a:extLst>
            </p:cNvPr>
            <p:cNvSpPr/>
            <p:nvPr/>
          </p:nvSpPr>
          <p:spPr>
            <a:xfrm>
              <a:off x="8915400"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30" name="stage-2-grid-5-1">
              <a:extLst>
                <a:ext uri="{FF2B5EF4-FFF2-40B4-BE49-F238E27FC236}">
                  <a16:creationId xmlns:a16="http://schemas.microsoft.com/office/drawing/2014/main" id="{D395888C-C86F-435A-B83E-F3B80694E784}"/>
                </a:ext>
              </a:extLst>
            </p:cNvPr>
            <p:cNvSpPr/>
            <p:nvPr/>
          </p:nvSpPr>
          <p:spPr>
            <a:xfrm>
              <a:off x="9774767"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31" name="stage-2-grid-5-2">
              <a:extLst>
                <a:ext uri="{FF2B5EF4-FFF2-40B4-BE49-F238E27FC236}">
                  <a16:creationId xmlns:a16="http://schemas.microsoft.com/office/drawing/2014/main" id="{4530BDAD-D29F-4A8C-B320-32AC18970F88}"/>
                </a:ext>
              </a:extLst>
            </p:cNvPr>
            <p:cNvSpPr/>
            <p:nvPr/>
          </p:nvSpPr>
          <p:spPr>
            <a:xfrm>
              <a:off x="10634133"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32" name="stage-2-grid-6-0">
              <a:extLst>
                <a:ext uri="{FF2B5EF4-FFF2-40B4-BE49-F238E27FC236}">
                  <a16:creationId xmlns:a16="http://schemas.microsoft.com/office/drawing/2014/main" id="{405AC876-AAC3-4559-99E2-466392B7255B}"/>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3" name="stage-2-grid-6-1">
              <a:extLst>
                <a:ext uri="{FF2B5EF4-FFF2-40B4-BE49-F238E27FC236}">
                  <a16:creationId xmlns:a16="http://schemas.microsoft.com/office/drawing/2014/main" id="{D4E13578-4D7A-476A-BBAB-B73868E86CFA}"/>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4" name="stage-2-grid-6-2">
              <a:extLst>
                <a:ext uri="{FF2B5EF4-FFF2-40B4-BE49-F238E27FC236}">
                  <a16:creationId xmlns:a16="http://schemas.microsoft.com/office/drawing/2014/main" id="{D1C12DCD-421D-4174-BC42-F9C3B8ADF2D6}"/>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5" name="stage-2-grid-7-0">
              <a:extLst>
                <a:ext uri="{FF2B5EF4-FFF2-40B4-BE49-F238E27FC236}">
                  <a16:creationId xmlns:a16="http://schemas.microsoft.com/office/drawing/2014/main" id="{EAF60584-2EC9-4F88-8793-B9AE72819DD5}"/>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6" name="stage-2-grid-7-1">
              <a:extLst>
                <a:ext uri="{FF2B5EF4-FFF2-40B4-BE49-F238E27FC236}">
                  <a16:creationId xmlns:a16="http://schemas.microsoft.com/office/drawing/2014/main" id="{6FBBA8A5-FCD7-45F8-9E32-BFD376FD66CF}"/>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37" name="stage-2-grid-7-2">
              <a:extLst>
                <a:ext uri="{FF2B5EF4-FFF2-40B4-BE49-F238E27FC236}">
                  <a16:creationId xmlns:a16="http://schemas.microsoft.com/office/drawing/2014/main" id="{86182AA9-7A70-4E7E-8DE0-3702CCF0A52B}"/>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38" name="stage-2-grid-8-0">
              <a:extLst>
                <a:ext uri="{FF2B5EF4-FFF2-40B4-BE49-F238E27FC236}">
                  <a16:creationId xmlns:a16="http://schemas.microsoft.com/office/drawing/2014/main" id="{428802F1-F2F6-4F91-B7D6-4680870BBE9C}"/>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39" name="stage-2-grid-8-1">
              <a:extLst>
                <a:ext uri="{FF2B5EF4-FFF2-40B4-BE49-F238E27FC236}">
                  <a16:creationId xmlns:a16="http://schemas.microsoft.com/office/drawing/2014/main" id="{A1D52B4A-3213-4A6F-A255-C3A154FB1557}"/>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40" name="stage-2-grid-8-2">
              <a:extLst>
                <a:ext uri="{FF2B5EF4-FFF2-40B4-BE49-F238E27FC236}">
                  <a16:creationId xmlns:a16="http://schemas.microsoft.com/office/drawing/2014/main" id="{1602C265-C754-4EED-A2EE-E10B7D31A878}"/>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41" name="stage-2-tarjan-stack">
              <a:extLst>
                <a:ext uri="{FF2B5EF4-FFF2-40B4-BE49-F238E27FC236}">
                  <a16:creationId xmlns:a16="http://schemas.microsoft.com/office/drawing/2014/main" id="{85F6189F-93EA-49B8-9891-B684B46C63E8}"/>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en-US" sz="2100" b="1">
                  <a:solidFill>
                    <a:srgbClr val="352379"/>
                  </a:solidFill>
                  <a:latin typeface="Montserrat"/>
                </a:rPr>
                <a:t>stack = [1] · </a:t>
              </a:r>
              <a:r>
                <a:rPr lang="ru-RU" sz="2100" b="1">
                  <a:solidFill>
                    <a:srgbClr val="352379"/>
                  </a:solidFill>
                  <a:latin typeface="Montserrat"/>
                </a:rPr>
                <a:t>верхушка: 1</a:t>
              </a:r>
            </a:p>
          </p:txBody>
        </p:sp>
        <p:sp>
          <p:nvSpPr>
            <p:cNvPr id="142" name="stage-2-tarjan-caption">
              <a:extLst>
                <a:ext uri="{FF2B5EF4-FFF2-40B4-BE49-F238E27FC236}">
                  <a16:creationId xmlns:a16="http://schemas.microsoft.com/office/drawing/2014/main" id="{C7C2873B-052A-439C-960B-D18E5F6B48E8}"/>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ru-RU" sz="2000">
                  <a:solidFill>
                    <a:srgbClr val="352379"/>
                  </a:solidFill>
                  <a:latin typeface="Montserrat"/>
                </a:rPr>
                <a:t>Извлечено: 3, 2 · low[1] = tin[1] = 1</a:t>
              </a:r>
            </a:p>
          </p:txBody>
        </p:sp>
      </p:grpSp>
      <p:grpSp>
        <p:nvGrpSpPr>
          <p:cNvPr id="184" name="tarjan-stage-4">
            <a:extLst>
              <a:ext uri="{FF2B5EF4-FFF2-40B4-BE49-F238E27FC236}">
                <a16:creationId xmlns:a16="http://schemas.microsoft.com/office/drawing/2014/main" id="{07D02EE5-67CA-4D3D-8FDC-A0DFC5BC6B01}"/>
              </a:ext>
            </a:extLst>
          </p:cNvPr>
          <p:cNvGrpSpPr/>
          <p:nvPr/>
        </p:nvGrpSpPr>
        <p:grpSpPr>
          <a:xfrm>
            <a:off x="508000" y="1511300"/>
            <a:ext cx="11201400" cy="4152900"/>
            <a:chOff x="508000" y="1511300"/>
            <a:chExt cx="11201400" cy="4152900"/>
          </a:xfrm>
        </p:grpSpPr>
        <p:sp>
          <p:nvSpPr>
            <p:cNvPr id="144" name="stage-4-!!g-node-1">
              <a:extLst>
                <a:ext uri="{FF2B5EF4-FFF2-40B4-BE49-F238E27FC236}">
                  <a16:creationId xmlns:a16="http://schemas.microsoft.com/office/drawing/2014/main" id="{1FB42512-4B5E-4190-BB66-2E0FB1A2A2B4}"/>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45" name="stage-4-!!g-node-2">
              <a:extLst>
                <a:ext uri="{FF2B5EF4-FFF2-40B4-BE49-F238E27FC236}">
                  <a16:creationId xmlns:a16="http://schemas.microsoft.com/office/drawing/2014/main" id="{2D0E7474-149B-4547-87FE-9002611CB468}"/>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46" name="stage-4-!!g-node-3">
              <a:extLst>
                <a:ext uri="{FF2B5EF4-FFF2-40B4-BE49-F238E27FC236}">
                  <a16:creationId xmlns:a16="http://schemas.microsoft.com/office/drawing/2014/main" id="{74E521BF-EEAA-4004-8CC6-3F67ADF14865}"/>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7" name="stage-4-!!g-node-4">
              <a:extLst>
                <a:ext uri="{FF2B5EF4-FFF2-40B4-BE49-F238E27FC236}">
                  <a16:creationId xmlns:a16="http://schemas.microsoft.com/office/drawing/2014/main" id="{87FA65A5-ECD1-4A97-9665-1D768D12D93B}"/>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48" name="stage-4-!!g-node-5">
              <a:extLst>
                <a:ext uri="{FF2B5EF4-FFF2-40B4-BE49-F238E27FC236}">
                  <a16:creationId xmlns:a16="http://schemas.microsoft.com/office/drawing/2014/main" id="{030303CD-0ADD-40D5-BA98-DCC34874D38B}"/>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49" name="stage-4-!!g-node-6">
              <a:extLst>
                <a:ext uri="{FF2B5EF4-FFF2-40B4-BE49-F238E27FC236}">
                  <a16:creationId xmlns:a16="http://schemas.microsoft.com/office/drawing/2014/main" id="{D1D3EEE8-15D4-4020-B7BC-C446689DC0E8}"/>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50" name="stage-4-!!g-node-7">
              <a:extLst>
                <a:ext uri="{FF2B5EF4-FFF2-40B4-BE49-F238E27FC236}">
                  <a16:creationId xmlns:a16="http://schemas.microsoft.com/office/drawing/2014/main" id="{7292F7CC-339F-494D-95A2-88154FF61CD5}"/>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151" name="stage-4-!!g-node-8">
              <a:extLst>
                <a:ext uri="{FF2B5EF4-FFF2-40B4-BE49-F238E27FC236}">
                  <a16:creationId xmlns:a16="http://schemas.microsoft.com/office/drawing/2014/main" id="{4EABB883-0D5B-466E-A4DF-50E19956DB52}"/>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152" name="stage-4-box-21-697">
              <a:extLst>
                <a:ext uri="{FF2B5EF4-FFF2-40B4-BE49-F238E27FC236}">
                  <a16:creationId xmlns:a16="http://schemas.microsoft.com/office/drawing/2014/main" id="{B7573E70-4121-4E40-8D70-B48A4A923555}"/>
                </a:ext>
              </a:extLst>
            </p:cNvPr>
            <p:cNvSpPr/>
            <p:nvPr/>
          </p:nvSpPr>
          <p:spPr>
            <a:xfrm>
              <a:off x="8699500" y="1816100"/>
              <a:ext cx="3009900" cy="38354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3" name="stage-4-box-22-698">
              <a:extLst>
                <a:ext uri="{FF2B5EF4-FFF2-40B4-BE49-F238E27FC236}">
                  <a16:creationId xmlns:a16="http://schemas.microsoft.com/office/drawing/2014/main" id="{394B5B6B-8B60-461C-951A-FACFE0D752F5}"/>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4" name="stage-4-text-23-699">
              <a:extLst>
                <a:ext uri="{FF2B5EF4-FFF2-40B4-BE49-F238E27FC236}">
                  <a16:creationId xmlns:a16="http://schemas.microsoft.com/office/drawing/2014/main" id="{1C9C8737-FEBE-4A51-9E55-FADDB7F6BC0B}"/>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en-US" sz="2100">
                  <a:solidFill>
                    <a:srgbClr val="FFFFFF"/>
                  </a:solidFill>
                  <a:latin typeface="Montserrat"/>
                </a:rPr>
                <a:t>SCC {1, 2, 3}</a:t>
              </a:r>
              <a:endParaRPr lang="ru-RU" sz="2100">
                <a:solidFill>
                  <a:srgbClr val="FFFFFF"/>
                </a:solidFill>
                <a:latin typeface="Montserrat"/>
              </a:endParaRPr>
            </a:p>
          </p:txBody>
        </p:sp>
        <p:sp>
          <p:nvSpPr>
            <p:cNvPr id="155" name="stage-4-grid-0-0">
              <a:extLst>
                <a:ext uri="{FF2B5EF4-FFF2-40B4-BE49-F238E27FC236}">
                  <a16:creationId xmlns:a16="http://schemas.microsoft.com/office/drawing/2014/main" id="{03CAF985-DE6D-4B96-948B-D3DB2019AC77}"/>
                </a:ext>
              </a:extLst>
            </p:cNvPr>
            <p:cNvSpPr/>
            <p:nvPr/>
          </p:nvSpPr>
          <p:spPr>
            <a:xfrm>
              <a:off x="8915400"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56" name="stage-4-grid-0-1">
              <a:extLst>
                <a:ext uri="{FF2B5EF4-FFF2-40B4-BE49-F238E27FC236}">
                  <a16:creationId xmlns:a16="http://schemas.microsoft.com/office/drawing/2014/main" id="{42DC4819-301E-4E4B-A525-4CCB45B10B9E}"/>
                </a:ext>
              </a:extLst>
            </p:cNvPr>
            <p:cNvSpPr/>
            <p:nvPr/>
          </p:nvSpPr>
          <p:spPr>
            <a:xfrm>
              <a:off x="9774767"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tin</a:t>
              </a:r>
              <a:endParaRPr lang="ru-RU" sz="2000" b="1">
                <a:solidFill>
                  <a:srgbClr val="FFFFFF"/>
                </a:solidFill>
                <a:latin typeface="Montserrat"/>
              </a:endParaRPr>
            </a:p>
          </p:txBody>
        </p:sp>
        <p:sp>
          <p:nvSpPr>
            <p:cNvPr id="157" name="stage-4-grid-0-2">
              <a:extLst>
                <a:ext uri="{FF2B5EF4-FFF2-40B4-BE49-F238E27FC236}">
                  <a16:creationId xmlns:a16="http://schemas.microsoft.com/office/drawing/2014/main" id="{5074D9C2-83EA-41ED-AD67-E885313420CF}"/>
                </a:ext>
              </a:extLst>
            </p:cNvPr>
            <p:cNvSpPr/>
            <p:nvPr/>
          </p:nvSpPr>
          <p:spPr>
            <a:xfrm>
              <a:off x="10634133" y="2451100"/>
              <a:ext cx="859367" cy="342900"/>
            </a:xfrm>
            <a:prstGeom prst="roundRect">
              <a:avLst>
                <a:gd name="adj" fmla="val 12000"/>
              </a:avLst>
            </a:prstGeom>
            <a:solidFill>
              <a:srgbClr val="352379"/>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en-US" sz="2000" b="1">
                  <a:solidFill>
                    <a:srgbClr val="FFFFFF"/>
                  </a:solidFill>
                  <a:latin typeface="Montserrat"/>
                </a:rPr>
                <a:t>low</a:t>
              </a:r>
              <a:endParaRPr lang="ru-RU" sz="2000" b="1">
                <a:solidFill>
                  <a:srgbClr val="FFFFFF"/>
                </a:solidFill>
                <a:latin typeface="Montserrat"/>
              </a:endParaRPr>
            </a:p>
          </p:txBody>
        </p:sp>
        <p:sp>
          <p:nvSpPr>
            <p:cNvPr id="158" name="stage-4-grid-1-0">
              <a:extLst>
                <a:ext uri="{FF2B5EF4-FFF2-40B4-BE49-F238E27FC236}">
                  <a16:creationId xmlns:a16="http://schemas.microsoft.com/office/drawing/2014/main" id="{AA9214F1-9C90-46CF-809C-8A199D44BCCE}"/>
                </a:ext>
              </a:extLst>
            </p:cNvPr>
            <p:cNvSpPr/>
            <p:nvPr/>
          </p:nvSpPr>
          <p:spPr>
            <a:xfrm>
              <a:off x="8915400" y="27940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59" name="stage-4-grid-1-1">
              <a:extLst>
                <a:ext uri="{FF2B5EF4-FFF2-40B4-BE49-F238E27FC236}">
                  <a16:creationId xmlns:a16="http://schemas.microsoft.com/office/drawing/2014/main" id="{0C8E3804-D3A6-41FB-9D4C-FC28CB496E55}"/>
                </a:ext>
              </a:extLst>
            </p:cNvPr>
            <p:cNvSpPr/>
            <p:nvPr/>
          </p:nvSpPr>
          <p:spPr>
            <a:xfrm>
              <a:off x="9774767" y="27940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0" name="stage-4-grid-1-2">
              <a:extLst>
                <a:ext uri="{FF2B5EF4-FFF2-40B4-BE49-F238E27FC236}">
                  <a16:creationId xmlns:a16="http://schemas.microsoft.com/office/drawing/2014/main" id="{76C36C2B-87D7-4712-A9D3-9D7AE0687C45}"/>
                </a:ext>
              </a:extLst>
            </p:cNvPr>
            <p:cNvSpPr/>
            <p:nvPr/>
          </p:nvSpPr>
          <p:spPr>
            <a:xfrm>
              <a:off x="10634133" y="27940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1" name="stage-4-grid-2-0">
              <a:extLst>
                <a:ext uri="{FF2B5EF4-FFF2-40B4-BE49-F238E27FC236}">
                  <a16:creationId xmlns:a16="http://schemas.microsoft.com/office/drawing/2014/main" id="{B93ED89C-A89B-4BF8-B3CD-AAEE336852FD}"/>
                </a:ext>
              </a:extLst>
            </p:cNvPr>
            <p:cNvSpPr/>
            <p:nvPr/>
          </p:nvSpPr>
          <p:spPr>
            <a:xfrm>
              <a:off x="8915400" y="31369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2" name="stage-4-grid-2-1">
              <a:extLst>
                <a:ext uri="{FF2B5EF4-FFF2-40B4-BE49-F238E27FC236}">
                  <a16:creationId xmlns:a16="http://schemas.microsoft.com/office/drawing/2014/main" id="{BF02FD49-9C86-4ACC-B28E-B297F1C1EA1E}"/>
                </a:ext>
              </a:extLst>
            </p:cNvPr>
            <p:cNvSpPr/>
            <p:nvPr/>
          </p:nvSpPr>
          <p:spPr>
            <a:xfrm>
              <a:off x="9774767" y="31369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2</a:t>
              </a:r>
            </a:p>
          </p:txBody>
        </p:sp>
        <p:sp>
          <p:nvSpPr>
            <p:cNvPr id="163" name="stage-4-grid-2-2">
              <a:extLst>
                <a:ext uri="{FF2B5EF4-FFF2-40B4-BE49-F238E27FC236}">
                  <a16:creationId xmlns:a16="http://schemas.microsoft.com/office/drawing/2014/main" id="{EEB4CC82-6975-4934-92A6-C1CCE8CD9999}"/>
                </a:ext>
              </a:extLst>
            </p:cNvPr>
            <p:cNvSpPr/>
            <p:nvPr/>
          </p:nvSpPr>
          <p:spPr>
            <a:xfrm>
              <a:off x="10634133" y="31369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4" name="stage-4-grid-3-0">
              <a:extLst>
                <a:ext uri="{FF2B5EF4-FFF2-40B4-BE49-F238E27FC236}">
                  <a16:creationId xmlns:a16="http://schemas.microsoft.com/office/drawing/2014/main" id="{49967997-3853-4C2B-BF49-CC531926DCD0}"/>
                </a:ext>
              </a:extLst>
            </p:cNvPr>
            <p:cNvSpPr/>
            <p:nvPr/>
          </p:nvSpPr>
          <p:spPr>
            <a:xfrm>
              <a:off x="8915400"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5" name="stage-4-grid-3-1">
              <a:extLst>
                <a:ext uri="{FF2B5EF4-FFF2-40B4-BE49-F238E27FC236}">
                  <a16:creationId xmlns:a16="http://schemas.microsoft.com/office/drawing/2014/main" id="{366D9354-D1FC-4383-9B95-E9BA6BE6908D}"/>
                </a:ext>
              </a:extLst>
            </p:cNvPr>
            <p:cNvSpPr/>
            <p:nvPr/>
          </p:nvSpPr>
          <p:spPr>
            <a:xfrm>
              <a:off x="9774767"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3</a:t>
              </a:r>
            </a:p>
          </p:txBody>
        </p:sp>
        <p:sp>
          <p:nvSpPr>
            <p:cNvPr id="166" name="stage-4-grid-3-2">
              <a:extLst>
                <a:ext uri="{FF2B5EF4-FFF2-40B4-BE49-F238E27FC236}">
                  <a16:creationId xmlns:a16="http://schemas.microsoft.com/office/drawing/2014/main" id="{45219BAA-2953-4DE5-994D-468FA56BDC9A}"/>
                </a:ext>
              </a:extLst>
            </p:cNvPr>
            <p:cNvSpPr/>
            <p:nvPr/>
          </p:nvSpPr>
          <p:spPr>
            <a:xfrm>
              <a:off x="10634133" y="3479800"/>
              <a:ext cx="859367" cy="342900"/>
            </a:xfrm>
            <a:prstGeom prst="roundRect">
              <a:avLst>
                <a:gd name="adj" fmla="val 12000"/>
              </a:avLst>
            </a:prstGeom>
            <a:solidFill>
              <a:srgbClr val="C7ADEB"/>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352379"/>
                  </a:solidFill>
                  <a:latin typeface="Montserrat"/>
                </a:rPr>
                <a:t>1</a:t>
              </a:r>
            </a:p>
          </p:txBody>
        </p:sp>
        <p:sp>
          <p:nvSpPr>
            <p:cNvPr id="167" name="stage-4-grid-4-0">
              <a:extLst>
                <a:ext uri="{FF2B5EF4-FFF2-40B4-BE49-F238E27FC236}">
                  <a16:creationId xmlns:a16="http://schemas.microsoft.com/office/drawing/2014/main" id="{0A5D08D1-6C1D-40E3-8425-E79ABF4865B3}"/>
                </a:ext>
              </a:extLst>
            </p:cNvPr>
            <p:cNvSpPr/>
            <p:nvPr/>
          </p:nvSpPr>
          <p:spPr>
            <a:xfrm>
              <a:off x="8915400"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68" name="stage-4-grid-4-1">
              <a:extLst>
                <a:ext uri="{FF2B5EF4-FFF2-40B4-BE49-F238E27FC236}">
                  <a16:creationId xmlns:a16="http://schemas.microsoft.com/office/drawing/2014/main" id="{6B33BB9A-EC7C-4BD2-9160-4840B1B1D1C5}"/>
                </a:ext>
              </a:extLst>
            </p:cNvPr>
            <p:cNvSpPr/>
            <p:nvPr/>
          </p:nvSpPr>
          <p:spPr>
            <a:xfrm>
              <a:off x="9774767"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69" name="stage-4-grid-4-2">
              <a:extLst>
                <a:ext uri="{FF2B5EF4-FFF2-40B4-BE49-F238E27FC236}">
                  <a16:creationId xmlns:a16="http://schemas.microsoft.com/office/drawing/2014/main" id="{48BBDD39-C985-4B98-97B9-83EF74FE258C}"/>
                </a:ext>
              </a:extLst>
            </p:cNvPr>
            <p:cNvSpPr/>
            <p:nvPr/>
          </p:nvSpPr>
          <p:spPr>
            <a:xfrm>
              <a:off x="10634133" y="38227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70" name="stage-4-grid-5-0">
              <a:extLst>
                <a:ext uri="{FF2B5EF4-FFF2-40B4-BE49-F238E27FC236}">
                  <a16:creationId xmlns:a16="http://schemas.microsoft.com/office/drawing/2014/main" id="{7F825A18-0C8F-458C-86C8-04C0B7EDA431}"/>
                </a:ext>
              </a:extLst>
            </p:cNvPr>
            <p:cNvSpPr/>
            <p:nvPr/>
          </p:nvSpPr>
          <p:spPr>
            <a:xfrm>
              <a:off x="8915400"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71" name="stage-4-grid-5-1">
              <a:extLst>
                <a:ext uri="{FF2B5EF4-FFF2-40B4-BE49-F238E27FC236}">
                  <a16:creationId xmlns:a16="http://schemas.microsoft.com/office/drawing/2014/main" id="{A8F51C4B-1B42-4E12-A293-97F31AA78D72}"/>
                </a:ext>
              </a:extLst>
            </p:cNvPr>
            <p:cNvSpPr/>
            <p:nvPr/>
          </p:nvSpPr>
          <p:spPr>
            <a:xfrm>
              <a:off x="9774767"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5</a:t>
              </a:r>
            </a:p>
          </p:txBody>
        </p:sp>
        <p:sp>
          <p:nvSpPr>
            <p:cNvPr id="172" name="stage-4-grid-5-2">
              <a:extLst>
                <a:ext uri="{FF2B5EF4-FFF2-40B4-BE49-F238E27FC236}">
                  <a16:creationId xmlns:a16="http://schemas.microsoft.com/office/drawing/2014/main" id="{37478D20-E53D-4855-A5F9-E65C2D7D7879}"/>
                </a:ext>
              </a:extLst>
            </p:cNvPr>
            <p:cNvSpPr/>
            <p:nvPr/>
          </p:nvSpPr>
          <p:spPr>
            <a:xfrm>
              <a:off x="10634133" y="4165600"/>
              <a:ext cx="859367" cy="342900"/>
            </a:xfrm>
            <a:prstGeom prst="roundRect">
              <a:avLst>
                <a:gd name="adj" fmla="val 12000"/>
              </a:avLst>
            </a:prstGeom>
            <a:solidFill>
              <a:srgbClr val="8C64D8"/>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4</a:t>
              </a:r>
            </a:p>
          </p:txBody>
        </p:sp>
        <p:sp>
          <p:nvSpPr>
            <p:cNvPr id="173" name="stage-4-grid-6-0">
              <a:extLst>
                <a:ext uri="{FF2B5EF4-FFF2-40B4-BE49-F238E27FC236}">
                  <a16:creationId xmlns:a16="http://schemas.microsoft.com/office/drawing/2014/main" id="{70D592A4-F46A-463D-B17A-B3EF94DAAD58}"/>
                </a:ext>
              </a:extLst>
            </p:cNvPr>
            <p:cNvSpPr/>
            <p:nvPr/>
          </p:nvSpPr>
          <p:spPr>
            <a:xfrm>
              <a:off x="8915400"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4" name="stage-4-grid-6-1">
              <a:extLst>
                <a:ext uri="{FF2B5EF4-FFF2-40B4-BE49-F238E27FC236}">
                  <a16:creationId xmlns:a16="http://schemas.microsoft.com/office/drawing/2014/main" id="{CB559B4E-5956-433B-893E-16B6C21F61E6}"/>
                </a:ext>
              </a:extLst>
            </p:cNvPr>
            <p:cNvSpPr/>
            <p:nvPr/>
          </p:nvSpPr>
          <p:spPr>
            <a:xfrm>
              <a:off x="9774767"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5" name="stage-4-grid-6-2">
              <a:extLst>
                <a:ext uri="{FF2B5EF4-FFF2-40B4-BE49-F238E27FC236}">
                  <a16:creationId xmlns:a16="http://schemas.microsoft.com/office/drawing/2014/main" id="{FA68D7A9-03E8-4C6C-A790-C8798A027590}"/>
                </a:ext>
              </a:extLst>
            </p:cNvPr>
            <p:cNvSpPr/>
            <p:nvPr/>
          </p:nvSpPr>
          <p:spPr>
            <a:xfrm>
              <a:off x="10634133" y="45085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6" name="stage-4-grid-7-0">
              <a:extLst>
                <a:ext uri="{FF2B5EF4-FFF2-40B4-BE49-F238E27FC236}">
                  <a16:creationId xmlns:a16="http://schemas.microsoft.com/office/drawing/2014/main" id="{9AF86823-269E-4640-9A1E-62752583C44D}"/>
                </a:ext>
              </a:extLst>
            </p:cNvPr>
            <p:cNvSpPr/>
            <p:nvPr/>
          </p:nvSpPr>
          <p:spPr>
            <a:xfrm>
              <a:off x="8915400"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77" name="stage-4-grid-7-1">
              <a:extLst>
                <a:ext uri="{FF2B5EF4-FFF2-40B4-BE49-F238E27FC236}">
                  <a16:creationId xmlns:a16="http://schemas.microsoft.com/office/drawing/2014/main" id="{960233B5-5F3D-470A-9783-3AA1B9CD29E9}"/>
                </a:ext>
              </a:extLst>
            </p:cNvPr>
            <p:cNvSpPr/>
            <p:nvPr/>
          </p:nvSpPr>
          <p:spPr>
            <a:xfrm>
              <a:off x="9774767"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7</a:t>
              </a:r>
            </a:p>
          </p:txBody>
        </p:sp>
        <p:sp>
          <p:nvSpPr>
            <p:cNvPr id="178" name="stage-4-grid-7-2">
              <a:extLst>
                <a:ext uri="{FF2B5EF4-FFF2-40B4-BE49-F238E27FC236}">
                  <a16:creationId xmlns:a16="http://schemas.microsoft.com/office/drawing/2014/main" id="{D209FB75-40CF-40DB-A1F0-55B2B1ACEC6F}"/>
                </a:ext>
              </a:extLst>
            </p:cNvPr>
            <p:cNvSpPr/>
            <p:nvPr/>
          </p:nvSpPr>
          <p:spPr>
            <a:xfrm>
              <a:off x="10634133" y="48514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79" name="stage-4-grid-8-0">
              <a:extLst>
                <a:ext uri="{FF2B5EF4-FFF2-40B4-BE49-F238E27FC236}">
                  <a16:creationId xmlns:a16="http://schemas.microsoft.com/office/drawing/2014/main" id="{1714001F-2672-4791-BECD-48BE8AC16AF6}"/>
                </a:ext>
              </a:extLst>
            </p:cNvPr>
            <p:cNvSpPr/>
            <p:nvPr/>
          </p:nvSpPr>
          <p:spPr>
            <a:xfrm>
              <a:off x="8915400"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80" name="stage-4-grid-8-1">
              <a:extLst>
                <a:ext uri="{FF2B5EF4-FFF2-40B4-BE49-F238E27FC236}">
                  <a16:creationId xmlns:a16="http://schemas.microsoft.com/office/drawing/2014/main" id="{EF7E204C-67DD-4766-962F-54C7641255D4}"/>
                </a:ext>
              </a:extLst>
            </p:cNvPr>
            <p:cNvSpPr/>
            <p:nvPr/>
          </p:nvSpPr>
          <p:spPr>
            <a:xfrm>
              <a:off x="9774767"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8</a:t>
              </a:r>
            </a:p>
          </p:txBody>
        </p:sp>
        <p:sp>
          <p:nvSpPr>
            <p:cNvPr id="181" name="stage-4-grid-8-2">
              <a:extLst>
                <a:ext uri="{FF2B5EF4-FFF2-40B4-BE49-F238E27FC236}">
                  <a16:creationId xmlns:a16="http://schemas.microsoft.com/office/drawing/2014/main" id="{4A119B5A-6E0F-4BA4-9CC2-1575B8DA7F05}"/>
                </a:ext>
              </a:extLst>
            </p:cNvPr>
            <p:cNvSpPr/>
            <p:nvPr/>
          </p:nvSpPr>
          <p:spPr>
            <a:xfrm>
              <a:off x="10634133" y="5194300"/>
              <a:ext cx="859367" cy="342900"/>
            </a:xfrm>
            <a:prstGeom prst="roundRect">
              <a:avLst>
                <a:gd name="adj" fmla="val 12000"/>
              </a:avLst>
            </a:prstGeom>
            <a:solidFill>
              <a:srgbClr val="762181"/>
            </a:solidFill>
            <a:ln w="571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wrap="square" lIns="12700" tIns="0" rIns="12700" bIns="0" rtlCol="0" anchor="ctr">
              <a:noAutofit/>
            </a:bodyPr>
            <a:lstStyle/>
            <a:p>
              <a:pPr algn="ctr"/>
              <a:r>
                <a:rPr lang="ru-RU" sz="2000">
                  <a:solidFill>
                    <a:srgbClr val="FFFFFF"/>
                  </a:solidFill>
                  <a:latin typeface="Montserrat"/>
                </a:rPr>
                <a:t>6</a:t>
              </a:r>
            </a:p>
          </p:txBody>
        </p:sp>
        <p:sp>
          <p:nvSpPr>
            <p:cNvPr id="182" name="stage-4-tarjan-stack">
              <a:extLst>
                <a:ext uri="{FF2B5EF4-FFF2-40B4-BE49-F238E27FC236}">
                  <a16:creationId xmlns:a16="http://schemas.microsoft.com/office/drawing/2014/main" id="{2407E082-523E-4980-AFDE-5EB0843F770A}"/>
                </a:ext>
              </a:extLst>
            </p:cNvPr>
            <p:cNvSpPr txBox="1"/>
            <p:nvPr/>
          </p:nvSpPr>
          <p:spPr bwMode="auto">
            <a:xfrm>
              <a:off x="660400" y="1511300"/>
              <a:ext cx="7937500" cy="393700"/>
            </a:xfrm>
            <a:prstGeom prst="rect">
              <a:avLst/>
            </a:prstGeom>
            <a:solidFill>
              <a:srgbClr val="FFFFFF"/>
            </a:solidFill>
          </p:spPr>
          <p:txBody>
            <a:bodyPr vert="horz" wrap="square" lIns="38100" tIns="12700" rIns="38100" bIns="12700" rtlCol="0">
              <a:noAutofit/>
            </a:bodyPr>
            <a:lstStyle/>
            <a:p>
              <a:r>
                <a:rPr lang="en-US" sz="2100" b="1">
                  <a:solidFill>
                    <a:srgbClr val="352379"/>
                  </a:solidFill>
                  <a:latin typeface="Montserrat"/>
                </a:rPr>
                <a:t>stack = [] · </a:t>
              </a:r>
              <a:r>
                <a:rPr lang="ru-RU" sz="2100" b="1">
                  <a:solidFill>
                    <a:srgbClr val="352379"/>
                  </a:solidFill>
                  <a:latin typeface="Montserrat"/>
                </a:rPr>
                <a:t>стек пуст</a:t>
              </a:r>
            </a:p>
          </p:txBody>
        </p:sp>
        <p:sp>
          <p:nvSpPr>
            <p:cNvPr id="183" name="stage-4-tarjan-caption">
              <a:extLst>
                <a:ext uri="{FF2B5EF4-FFF2-40B4-BE49-F238E27FC236}">
                  <a16:creationId xmlns:a16="http://schemas.microsoft.com/office/drawing/2014/main" id="{80D00E03-C35B-49C3-90CF-3A1BE8AEF2BB}"/>
                </a:ext>
              </a:extLst>
            </p:cNvPr>
            <p:cNvSpPr txBox="1"/>
            <p:nvPr/>
          </p:nvSpPr>
          <p:spPr bwMode="auto">
            <a:xfrm>
              <a:off x="660400" y="5257800"/>
              <a:ext cx="7937500" cy="406400"/>
            </a:xfrm>
            <a:prstGeom prst="rect">
              <a:avLst/>
            </a:prstGeom>
            <a:solidFill>
              <a:srgbClr val="FFFFFF"/>
            </a:solidFill>
          </p:spPr>
          <p:txBody>
            <a:bodyPr vert="horz" wrap="square" lIns="38100" tIns="12700" rIns="38100" bIns="12700" rtlCol="0">
              <a:noAutofit/>
            </a:bodyPr>
            <a:lstStyle/>
            <a:p>
              <a:r>
                <a:rPr lang="en-US" sz="2000">
                  <a:solidFill>
                    <a:srgbClr val="352379"/>
                  </a:solidFill>
                  <a:latin typeface="Montserrat"/>
                </a:rPr>
                <a:t>SCC = {1, 2, 3} · low[1] = tin[1] = 1</a:t>
              </a:r>
              <a:endParaRPr lang="ru-RU" sz="2000">
                <a:solidFill>
                  <a:srgbClr val="352379"/>
                </a:solidFill>
                <a:latin typeface="Montserrat"/>
              </a:endParaRPr>
            </a:p>
          </p:txBody>
        </p:sp>
      </p:grpSp>
    </p:spTree>
    <p:extLst>
      <p:ext uri="{BB962C8B-B14F-4D97-AF65-F5344CB8AC3E}">
        <p14:creationId xmlns:p14="http://schemas.microsoft.com/office/powerpoint/2010/main" val="1843272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25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Effect transition="in" filter="fade">
                                      <p:cBhvr>
                                        <p:cTn id="12" dur="250"/>
                                        <p:tgtEl>
                                          <p:spTgt spid="143"/>
                                        </p:tgtEl>
                                      </p:cBhvr>
                                    </p:animEffect>
                                  </p:childTnLst>
                                </p:cTn>
                              </p:par>
                              <p:par>
                                <p:cTn id="13" presetID="10" presetClass="exit" presetSubtype="0" fill="hold" nodeType="withEffect">
                                  <p:stCondLst>
                                    <p:cond delay="0"/>
                                  </p:stCondLst>
                                  <p:childTnLst>
                                    <p:animEffect transition="out" filter="fade">
                                      <p:cBhvr>
                                        <p:cTn id="14" dur="150"/>
                                        <p:tgtEl>
                                          <p:spTgt spid="102"/>
                                        </p:tgtEl>
                                      </p:cBhvr>
                                    </p:animEffect>
                                    <p:set>
                                      <p:cBhvr>
                                        <p:cTn id="15" dur="1" fill="hold">
                                          <p:stCondLst>
                                            <p:cond delay="149"/>
                                          </p:stCondLst>
                                        </p:cTn>
                                        <p:tgtEl>
                                          <p:spTgt spid="10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4"/>
                                        </p:tgtEl>
                                        <p:attrNameLst>
                                          <p:attrName>style.visibility</p:attrName>
                                        </p:attrNameLst>
                                      </p:cBhvr>
                                      <p:to>
                                        <p:strVal val="visible"/>
                                      </p:to>
                                    </p:set>
                                    <p:animEffect transition="in" filter="fade">
                                      <p:cBhvr>
                                        <p:cTn id="20" dur="250"/>
                                        <p:tgtEl>
                                          <p:spTgt spid="184"/>
                                        </p:tgtEl>
                                      </p:cBhvr>
                                    </p:animEffect>
                                  </p:childTnLst>
                                </p:cTn>
                              </p:par>
                              <p:par>
                                <p:cTn id="21" presetID="10" presetClass="exit" presetSubtype="0" fill="hold" nodeType="withEffect">
                                  <p:stCondLst>
                                    <p:cond delay="0"/>
                                  </p:stCondLst>
                                  <p:childTnLst>
                                    <p:animEffect transition="out" filter="fade">
                                      <p:cBhvr>
                                        <p:cTn id="22" dur="150"/>
                                        <p:tgtEl>
                                          <p:spTgt spid="143"/>
                                        </p:tgtEl>
                                      </p:cBhvr>
                                    </p:animEffect>
                                    <p:set>
                                      <p:cBhvr>
                                        <p:cTn id="23" dur="1" fill="hold">
                                          <p:stCondLst>
                                            <p:cond delay="149"/>
                                          </p:stCondLst>
                                        </p:cTn>
                                        <p:tgtEl>
                                          <p:spTgt spid="1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Тарьян: получены те же SCC</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4FCEA58A-AB2D-4D10-811C-F4935C2632BB}"/>
              </a:ext>
            </a:extLst>
          </p:cNvPr>
          <p:cNvCxnSpPr/>
          <p:nvPr/>
        </p:nvCxnSpPr>
        <p:spPr>
          <a:xfrm flipH="1">
            <a:off x="876056" y="2662949"/>
            <a:ext cx="216388" cy="134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4D895D50-7F2C-40E0-B63E-3C400BFC5872}"/>
              </a:ext>
            </a:extLst>
          </p:cNvPr>
          <p:cNvCxnSpPr/>
          <p:nvPr/>
        </p:nvCxnSpPr>
        <p:spPr>
          <a:xfrm>
            <a:off x="11430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227556E5-C5BC-402A-AC42-DE358A6775A1}"/>
              </a:ext>
            </a:extLst>
          </p:cNvPr>
          <p:cNvCxnSpPr/>
          <p:nvPr/>
        </p:nvCxnSpPr>
        <p:spPr>
          <a:xfrm flipH="1" flipV="1">
            <a:off x="1332181" y="2604484"/>
            <a:ext cx="1082138" cy="145853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BD8EBE3D-1C4F-473D-A452-EB2E7069DF34}"/>
              </a:ext>
            </a:extLst>
          </p:cNvPr>
          <p:cNvCxnSpPr/>
          <p:nvPr/>
        </p:nvCxnSpPr>
        <p:spPr>
          <a:xfrm flipV="1">
            <a:off x="2798426" y="2854119"/>
            <a:ext cx="943648" cy="121326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F7AFFA72-A0A4-4F17-B2D8-DAAC67DB0BA4}"/>
              </a:ext>
            </a:extLst>
          </p:cNvPr>
          <p:cNvCxnSpPr/>
          <p:nvPr/>
        </p:nvCxnSpPr>
        <p:spPr>
          <a:xfrm>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g-edge-5-4">
            <a:extLst>
              <a:ext uri="{FF2B5EF4-FFF2-40B4-BE49-F238E27FC236}">
                <a16:creationId xmlns:a16="http://schemas.microsoft.com/office/drawing/2014/main" id="{4B07ABF5-7164-4125-8821-161B0AB2ADD5}"/>
              </a:ext>
            </a:extLst>
          </p:cNvPr>
          <p:cNvCxnSpPr/>
          <p:nvPr/>
        </p:nvCxnSpPr>
        <p:spPr>
          <a:xfrm flipH="1" flipV="1">
            <a:off x="4098862" y="2876643"/>
            <a:ext cx="692276" cy="116821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0" name="!!g-edge-5-6">
            <a:extLst>
              <a:ext uri="{FF2B5EF4-FFF2-40B4-BE49-F238E27FC236}">
                <a16:creationId xmlns:a16="http://schemas.microsoft.com/office/drawing/2014/main" id="{0987724C-39EE-4BDB-BAE3-A6F1BC241A64}"/>
              </a:ext>
            </a:extLst>
          </p:cNvPr>
          <p:cNvCxnSpPr/>
          <p:nvPr/>
        </p:nvCxnSpPr>
        <p:spPr>
          <a:xfrm flipV="1">
            <a:off x="5161528" y="2588921"/>
            <a:ext cx="1297444" cy="148965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1" name="!!g-edge-6-7">
            <a:extLst>
              <a:ext uri="{FF2B5EF4-FFF2-40B4-BE49-F238E27FC236}">
                <a16:creationId xmlns:a16="http://schemas.microsoft.com/office/drawing/2014/main" id="{32076F88-92DE-4A93-B468-9E2E9DDD2EF5}"/>
              </a:ext>
            </a:extLst>
          </p:cNvPr>
          <p:cNvCxnSpPr/>
          <p:nvPr/>
        </p:nvCxnSpPr>
        <p:spPr>
          <a:xfrm flipH="1">
            <a:off x="6292933" y="2659203"/>
            <a:ext cx="304634" cy="1349095"/>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2" name="!!g-edge-7-8">
            <a:extLst>
              <a:ext uri="{FF2B5EF4-FFF2-40B4-BE49-F238E27FC236}">
                <a16:creationId xmlns:a16="http://schemas.microsoft.com/office/drawing/2014/main" id="{5B7EA294-299E-495E-B24F-C3F1659470B5}"/>
              </a:ext>
            </a:extLst>
          </p:cNvPr>
          <p:cNvCxnSpPr/>
          <p:nvPr/>
        </p:nvCxnSpPr>
        <p:spPr>
          <a:xfrm>
            <a:off x="6540500" y="4318000"/>
            <a:ext cx="11430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3" name="!!g-edge-8-6">
            <a:extLst>
              <a:ext uri="{FF2B5EF4-FFF2-40B4-BE49-F238E27FC236}">
                <a16:creationId xmlns:a16="http://schemas.microsoft.com/office/drawing/2014/main" id="{0A40DB8E-EC79-4815-8102-D14339A73232}"/>
              </a:ext>
            </a:extLst>
          </p:cNvPr>
          <p:cNvCxnSpPr/>
          <p:nvPr/>
        </p:nvCxnSpPr>
        <p:spPr>
          <a:xfrm flipH="1" flipV="1">
            <a:off x="6845569" y="2612364"/>
            <a:ext cx="977362" cy="144277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dge-2-7-part-0">
            <a:extLst>
              <a:ext uri="{FF2B5EF4-FFF2-40B4-BE49-F238E27FC236}">
                <a16:creationId xmlns:a16="http://schemas.microsoft.com/office/drawing/2014/main" id="{BAB2275B-7B86-48BE-BD84-AA4947D3DCD9}"/>
              </a:ext>
            </a:extLst>
          </p:cNvPr>
          <p:cNvCxnSpPr/>
          <p:nvPr/>
        </p:nvCxnSpPr>
        <p:spPr>
          <a:xfrm>
            <a:off x="825500" y="4635500"/>
            <a:ext cx="0" cy="4445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g-edge-2-7-part-1">
            <a:extLst>
              <a:ext uri="{FF2B5EF4-FFF2-40B4-BE49-F238E27FC236}">
                <a16:creationId xmlns:a16="http://schemas.microsoft.com/office/drawing/2014/main" id="{501903F9-BB3B-4534-869B-D537E5A4C3E9}"/>
              </a:ext>
            </a:extLst>
          </p:cNvPr>
          <p:cNvCxnSpPr/>
          <p:nvPr/>
        </p:nvCxnSpPr>
        <p:spPr>
          <a:xfrm>
            <a:off x="825500" y="5080000"/>
            <a:ext cx="5397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6" name="!!g-edge-2-7-part-2">
            <a:extLst>
              <a:ext uri="{FF2B5EF4-FFF2-40B4-BE49-F238E27FC236}">
                <a16:creationId xmlns:a16="http://schemas.microsoft.com/office/drawing/2014/main" id="{09432D46-CF35-49CB-AC52-3CF6B66F7416}"/>
              </a:ext>
            </a:extLst>
          </p:cNvPr>
          <p:cNvCxnSpPr/>
          <p:nvPr/>
        </p:nvCxnSpPr>
        <p:spPr>
          <a:xfrm flipV="1">
            <a:off x="6223000" y="4635500"/>
            <a:ext cx="0" cy="4445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g-node-1">
            <a:extLst>
              <a:ext uri="{FF2B5EF4-FFF2-40B4-BE49-F238E27FC236}">
                <a16:creationId xmlns:a16="http://schemas.microsoft.com/office/drawing/2014/main" id="{DB3A1129-C5FD-47F2-9208-1374CA6EC29B}"/>
              </a:ext>
            </a:extLst>
          </p:cNvPr>
          <p:cNvSpPr/>
          <p:nvPr/>
        </p:nvSpPr>
        <p:spPr>
          <a:xfrm>
            <a:off x="825500" y="2032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8" name="!!g-node-2">
            <a:extLst>
              <a:ext uri="{FF2B5EF4-FFF2-40B4-BE49-F238E27FC236}">
                <a16:creationId xmlns:a16="http://schemas.microsoft.com/office/drawing/2014/main" id="{45EF0B23-6544-44EE-90C6-7F35C1BCC3B1}"/>
              </a:ext>
            </a:extLst>
          </p:cNvPr>
          <p:cNvSpPr/>
          <p:nvPr/>
        </p:nvSpPr>
        <p:spPr>
          <a:xfrm>
            <a:off x="508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9" name="!!g-node-3">
            <a:extLst>
              <a:ext uri="{FF2B5EF4-FFF2-40B4-BE49-F238E27FC236}">
                <a16:creationId xmlns:a16="http://schemas.microsoft.com/office/drawing/2014/main" id="{5DB6735C-9089-4093-889A-EB42BB56DE32}"/>
              </a:ext>
            </a:extLst>
          </p:cNvPr>
          <p:cNvSpPr/>
          <p:nvPr/>
        </p:nvSpPr>
        <p:spPr>
          <a:xfrm>
            <a:off x="2286000" y="4000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0" name="!!g-node-4">
            <a:extLst>
              <a:ext uri="{FF2B5EF4-FFF2-40B4-BE49-F238E27FC236}">
                <a16:creationId xmlns:a16="http://schemas.microsoft.com/office/drawing/2014/main" id="{52DD4CE6-EE6C-4CDB-9150-DDE9CE37CD1A}"/>
              </a:ext>
            </a:extLst>
          </p:cNvPr>
          <p:cNvSpPr/>
          <p:nvPr/>
        </p:nvSpPr>
        <p:spPr>
          <a:xfrm>
            <a:off x="3619500" y="2286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1" name="!!g-node-5">
            <a:extLst>
              <a:ext uri="{FF2B5EF4-FFF2-40B4-BE49-F238E27FC236}">
                <a16:creationId xmlns:a16="http://schemas.microsoft.com/office/drawing/2014/main" id="{D2AE5E6B-654C-40F5-83ED-8975D5C7D3B8}"/>
              </a:ext>
            </a:extLst>
          </p:cNvPr>
          <p:cNvSpPr/>
          <p:nvPr/>
        </p:nvSpPr>
        <p:spPr>
          <a:xfrm>
            <a:off x="4635500" y="4000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22" name="!!g-node-6">
            <a:extLst>
              <a:ext uri="{FF2B5EF4-FFF2-40B4-BE49-F238E27FC236}">
                <a16:creationId xmlns:a16="http://schemas.microsoft.com/office/drawing/2014/main" id="{0B6A8861-E97F-4312-81F1-298EE92985FC}"/>
              </a:ext>
            </a:extLst>
          </p:cNvPr>
          <p:cNvSpPr/>
          <p:nvPr/>
        </p:nvSpPr>
        <p:spPr>
          <a:xfrm>
            <a:off x="6350000" y="20320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23" name="!!g-node-7">
            <a:extLst>
              <a:ext uri="{FF2B5EF4-FFF2-40B4-BE49-F238E27FC236}">
                <a16:creationId xmlns:a16="http://schemas.microsoft.com/office/drawing/2014/main" id="{D6D1E97C-8157-486C-B0B5-EE961992A56A}"/>
              </a:ext>
            </a:extLst>
          </p:cNvPr>
          <p:cNvSpPr/>
          <p:nvPr/>
        </p:nvSpPr>
        <p:spPr>
          <a:xfrm>
            <a:off x="5905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7</a:t>
            </a:r>
          </a:p>
        </p:txBody>
      </p:sp>
      <p:sp>
        <p:nvSpPr>
          <p:cNvPr id="24" name="!!g-node-8">
            <a:extLst>
              <a:ext uri="{FF2B5EF4-FFF2-40B4-BE49-F238E27FC236}">
                <a16:creationId xmlns:a16="http://schemas.microsoft.com/office/drawing/2014/main" id="{A08D25F4-7A5B-4AB3-B43E-677D2F7FA3EE}"/>
              </a:ext>
            </a:extLst>
          </p:cNvPr>
          <p:cNvSpPr/>
          <p:nvPr/>
        </p:nvSpPr>
        <p:spPr>
          <a:xfrm>
            <a:off x="7683500" y="4000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8</a:t>
            </a:r>
          </a:p>
        </p:txBody>
      </p:sp>
      <p:sp>
        <p:nvSpPr>
          <p:cNvPr id="25" name="box-21-1171">
            <a:extLst>
              <a:ext uri="{FF2B5EF4-FFF2-40B4-BE49-F238E27FC236}">
                <a16:creationId xmlns:a16="http://schemas.microsoft.com/office/drawing/2014/main" id="{D4A68743-7107-405F-BBB0-29634B16E50E}"/>
              </a:ext>
            </a:extLst>
          </p:cNvPr>
          <p:cNvSpPr/>
          <p:nvPr/>
        </p:nvSpPr>
        <p:spPr>
          <a:xfrm>
            <a:off x="8699500" y="1816100"/>
            <a:ext cx="3009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ox-22-1172">
            <a:extLst>
              <a:ext uri="{FF2B5EF4-FFF2-40B4-BE49-F238E27FC236}">
                <a16:creationId xmlns:a16="http://schemas.microsoft.com/office/drawing/2014/main" id="{D8D0512B-E4B9-4CCF-812B-6486890455FE}"/>
              </a:ext>
            </a:extLst>
          </p:cNvPr>
          <p:cNvSpPr/>
          <p:nvPr/>
        </p:nvSpPr>
        <p:spPr>
          <a:xfrm>
            <a:off x="8699500" y="1816100"/>
            <a:ext cx="3009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23-1173">
            <a:extLst>
              <a:ext uri="{FF2B5EF4-FFF2-40B4-BE49-F238E27FC236}">
                <a16:creationId xmlns:a16="http://schemas.microsoft.com/office/drawing/2014/main" id="{2DE15480-C11D-42A0-A7BC-093195E9BB1C}"/>
              </a:ext>
            </a:extLst>
          </p:cNvPr>
          <p:cNvSpPr txBox="1"/>
          <p:nvPr/>
        </p:nvSpPr>
        <p:spPr bwMode="auto">
          <a:xfrm>
            <a:off x="8890000" y="1869217"/>
            <a:ext cx="2628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Два алгоритма</a:t>
            </a:r>
          </a:p>
        </p:txBody>
      </p:sp>
      <p:sp>
        <p:nvSpPr>
          <p:cNvPr id="28" name="text-24-1174">
            <a:extLst>
              <a:ext uri="{FF2B5EF4-FFF2-40B4-BE49-F238E27FC236}">
                <a16:creationId xmlns:a16="http://schemas.microsoft.com/office/drawing/2014/main" id="{19B43C6D-BAC5-40FB-B196-8A6658EF5C6B}"/>
              </a:ext>
            </a:extLst>
          </p:cNvPr>
          <p:cNvSpPr txBox="1"/>
          <p:nvPr/>
        </p:nvSpPr>
        <p:spPr bwMode="auto">
          <a:xfrm>
            <a:off x="8915400" y="2578099"/>
            <a:ext cx="2578100" cy="2781300"/>
          </a:xfrm>
          <a:prstGeom prst="rect">
            <a:avLst/>
          </a:prstGeom>
        </p:spPr>
        <p:txBody>
          <a:bodyPr vert="horz" wrap="square" lIns="38100" tIns="25400" rIns="38100" bIns="25400" rtlCol="0" anchor="ctr">
            <a:noAutofit/>
          </a:bodyPr>
          <a:lstStyle/>
          <a:p>
            <a:r>
              <a:rPr lang="ru-RU" sz="2100">
                <a:solidFill>
                  <a:srgbClr val="352379"/>
                </a:solidFill>
                <a:latin typeface="Montserrat"/>
              </a:rPr>
              <a:t>Косарайю</a:t>
            </a:r>
          </a:p>
          <a:p>
            <a:r>
              <a:rPr lang="pt-BR" sz="2100">
                <a:solidFill>
                  <a:srgbClr val="352379"/>
                </a:solidFill>
                <a:latin typeface="Montserrat"/>
              </a:rPr>
              <a:t>DFS → </a:t>
            </a:r>
            <a:r>
              <a:rPr lang="ru-RU" sz="2100">
                <a:solidFill>
                  <a:srgbClr val="352379"/>
                </a:solidFill>
                <a:latin typeface="Montserrat"/>
              </a:rPr>
              <a:t>выход</a:t>
            </a:r>
          </a:p>
          <a:p>
            <a:r>
              <a:rPr lang="pt-BR" sz="2100">
                <a:solidFill>
                  <a:srgbClr val="352379"/>
                </a:solidFill>
                <a:latin typeface="Montserrat"/>
              </a:rPr>
              <a:t>Gᵀ → DFS</a:t>
            </a:r>
          </a:p>
          <a:p>
            <a:endParaRPr lang="pt-BR" sz="2100">
              <a:solidFill>
                <a:srgbClr val="352379"/>
              </a:solidFill>
              <a:latin typeface="Montserrat"/>
            </a:endParaRPr>
          </a:p>
          <a:p>
            <a:r>
              <a:rPr lang="ru-RU" sz="2100">
                <a:solidFill>
                  <a:srgbClr val="352379"/>
                </a:solidFill>
                <a:latin typeface="Montserrat"/>
              </a:rPr>
              <a:t>Тарьян</a:t>
            </a:r>
          </a:p>
          <a:p>
            <a:r>
              <a:rPr lang="ru-RU" sz="2100">
                <a:solidFill>
                  <a:srgbClr val="352379"/>
                </a:solidFill>
                <a:latin typeface="Montserrat"/>
              </a:rPr>
              <a:t>Один </a:t>
            </a:r>
            <a:r>
              <a:rPr lang="pt-BR" sz="2100">
                <a:solidFill>
                  <a:srgbClr val="352379"/>
                </a:solidFill>
                <a:latin typeface="Montserrat"/>
              </a:rPr>
              <a:t>DFS</a:t>
            </a:r>
          </a:p>
          <a:p>
            <a:r>
              <a:rPr lang="pt-BR" sz="2100">
                <a:solidFill>
                  <a:srgbClr val="352379"/>
                </a:solidFill>
                <a:latin typeface="Montserrat"/>
              </a:rPr>
              <a:t>tin + low + stack</a:t>
            </a:r>
            <a:endParaRPr lang="ru-RU" sz="2100">
              <a:solidFill>
                <a:srgbClr val="352379"/>
              </a:solidFill>
              <a:latin typeface="Montserrat"/>
            </a:endParaRPr>
          </a:p>
        </p:txBody>
      </p:sp>
      <p:sp>
        <p:nvSpPr>
          <p:cNvPr id="29" name="lecture-footer">
            <a:extLst>
              <a:ext uri="{FF2B5EF4-FFF2-40B4-BE49-F238E27FC236}">
                <a16:creationId xmlns:a16="http://schemas.microsoft.com/office/drawing/2014/main" id="{D73F66BE-D3AB-4605-917D-CCC05A3536B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0" name="slide-number">
            <a:extLst>
              <a:ext uri="{FF2B5EF4-FFF2-40B4-BE49-F238E27FC236}">
                <a16:creationId xmlns:a16="http://schemas.microsoft.com/office/drawing/2014/main" id="{59A01802-5F8F-4376-9C31-26357238D468}"/>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40</a:t>
            </a:r>
          </a:p>
        </p:txBody>
      </p:sp>
      <p:sp>
        <p:nvSpPr>
          <p:cNvPr id="31" name="result-SCC1">
            <a:extLst>
              <a:ext uri="{FF2B5EF4-FFF2-40B4-BE49-F238E27FC236}">
                <a16:creationId xmlns:a16="http://schemas.microsoft.com/office/drawing/2014/main" id="{4D55ED52-4EDD-4B9C-A278-F4495A58BE70}"/>
              </a:ext>
            </a:extLst>
          </p:cNvPr>
          <p:cNvSpPr txBox="1"/>
          <p:nvPr/>
        </p:nvSpPr>
        <p:spPr bwMode="auto">
          <a:xfrm>
            <a:off x="660400" y="1524000"/>
            <a:ext cx="2667000" cy="381000"/>
          </a:xfrm>
          <a:prstGeom prst="rect">
            <a:avLst/>
          </a:prstGeom>
        </p:spPr>
        <p:txBody>
          <a:bodyPr vert="horz" wrap="square" lIns="38100" tIns="12700" rIns="38100" bIns="12700" rtlCol="0">
            <a:noAutofit/>
          </a:bodyPr>
          <a:lstStyle/>
          <a:p>
            <a:r>
              <a:rPr lang="ru-RU" sz="2200" b="1">
                <a:solidFill>
                  <a:srgbClr val="352379"/>
                </a:solidFill>
                <a:latin typeface="Montserrat"/>
              </a:rPr>
              <a:t>{1, 2, 3}</a:t>
            </a:r>
          </a:p>
        </p:txBody>
      </p:sp>
      <p:sp>
        <p:nvSpPr>
          <p:cNvPr id="32" name="result-SCC2">
            <a:extLst>
              <a:ext uri="{FF2B5EF4-FFF2-40B4-BE49-F238E27FC236}">
                <a16:creationId xmlns:a16="http://schemas.microsoft.com/office/drawing/2014/main" id="{1AB30A2E-6A97-4570-8093-BBE4416A0416}"/>
              </a:ext>
            </a:extLst>
          </p:cNvPr>
          <p:cNvSpPr txBox="1"/>
          <p:nvPr/>
        </p:nvSpPr>
        <p:spPr bwMode="auto">
          <a:xfrm>
            <a:off x="3429000" y="1524000"/>
            <a:ext cx="2349500" cy="381000"/>
          </a:xfrm>
          <a:prstGeom prst="rect">
            <a:avLst/>
          </a:prstGeom>
        </p:spPr>
        <p:txBody>
          <a:bodyPr vert="horz" wrap="square" lIns="38100" tIns="12700" rIns="38100" bIns="12700" rtlCol="0">
            <a:noAutofit/>
          </a:bodyPr>
          <a:lstStyle/>
          <a:p>
            <a:r>
              <a:rPr lang="ru-RU" sz="2200" b="1">
                <a:solidFill>
                  <a:srgbClr val="8C64D8"/>
                </a:solidFill>
                <a:latin typeface="Montserrat"/>
              </a:rPr>
              <a:t>{4, 5}</a:t>
            </a:r>
          </a:p>
        </p:txBody>
      </p:sp>
      <p:sp>
        <p:nvSpPr>
          <p:cNvPr id="33" name="result-SCC3">
            <a:extLst>
              <a:ext uri="{FF2B5EF4-FFF2-40B4-BE49-F238E27FC236}">
                <a16:creationId xmlns:a16="http://schemas.microsoft.com/office/drawing/2014/main" id="{71F31B29-47BF-4BC4-8056-FC0C726E05C5}"/>
              </a:ext>
            </a:extLst>
          </p:cNvPr>
          <p:cNvSpPr txBox="1"/>
          <p:nvPr/>
        </p:nvSpPr>
        <p:spPr bwMode="auto">
          <a:xfrm>
            <a:off x="5905500" y="1524000"/>
            <a:ext cx="2413000" cy="381000"/>
          </a:xfrm>
          <a:prstGeom prst="rect">
            <a:avLst/>
          </a:prstGeom>
        </p:spPr>
        <p:txBody>
          <a:bodyPr vert="horz" wrap="square" lIns="38100" tIns="12700" rIns="38100" bIns="12700" rtlCol="0">
            <a:noAutofit/>
          </a:bodyPr>
          <a:lstStyle/>
          <a:p>
            <a:r>
              <a:rPr lang="ru-RU" sz="2200" b="1">
                <a:solidFill>
                  <a:srgbClr val="762181"/>
                </a:solidFill>
                <a:latin typeface="Montserrat"/>
              </a:rPr>
              <a:t>{6, 7, 8}</a:t>
            </a:r>
          </a:p>
        </p:txBody>
      </p:sp>
      <p:sp>
        <p:nvSpPr>
          <p:cNvPr id="34" name="tarjan-band-background">
            <a:extLst>
              <a:ext uri="{FF2B5EF4-FFF2-40B4-BE49-F238E27FC236}">
                <a16:creationId xmlns:a16="http://schemas.microsoft.com/office/drawing/2014/main" id="{590A7C4B-686A-438D-AED1-5E971E5D5477}"/>
              </a:ext>
            </a:extLst>
          </p:cNvPr>
          <p:cNvSpPr/>
          <p:nvPr/>
        </p:nvSpPr>
        <p:spPr>
          <a:xfrm>
            <a:off x="482600" y="5676900"/>
            <a:ext cx="11226800" cy="812800"/>
          </a:xfrm>
          <a:prstGeom prst="roundRect">
            <a:avLst>
              <a:gd name="adj" fmla="val 12000"/>
            </a:avLst>
          </a:prstGeom>
          <a:solidFill>
            <a:srgbClr val="3523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arjan-definition">
            <a:extLst>
              <a:ext uri="{FF2B5EF4-FFF2-40B4-BE49-F238E27FC236}">
                <a16:creationId xmlns:a16="http://schemas.microsoft.com/office/drawing/2014/main" id="{1BF58D5B-B9CC-4992-887E-5F9BE071B178}"/>
              </a:ext>
            </a:extLst>
          </p:cNvPr>
          <p:cNvSpPr txBox="1"/>
          <p:nvPr/>
        </p:nvSpPr>
        <p:spPr bwMode="auto">
          <a:xfrm>
            <a:off x="660400" y="5715000"/>
            <a:ext cx="10871200" cy="736600"/>
          </a:xfrm>
          <a:prstGeom prst="rect">
            <a:avLst/>
          </a:prstGeom>
        </p:spPr>
        <p:txBody>
          <a:bodyPr vert="horz" wrap="square" lIns="38100" tIns="12700" rIns="38100" bIns="12700" rtlCol="0" anchor="ctr">
            <a:noAutofit/>
          </a:bodyPr>
          <a:lstStyle/>
          <a:p>
            <a:r>
              <a:rPr lang="ru-RU" sz="2100">
                <a:solidFill>
                  <a:srgbClr val="FFFFFF"/>
                </a:solidFill>
                <a:latin typeface="Montserrat"/>
              </a:rPr>
              <a:t>Тарьян определяет границы SCC прямо во время одного DFS.</a:t>
            </a:r>
          </a:p>
          <a:p>
            <a:r>
              <a:rPr lang="ru-RU" sz="2100">
                <a:solidFill>
                  <a:srgbClr val="FFFFFF"/>
                </a:solidFill>
                <a:latin typeface="Montserrat"/>
              </a:rPr>
              <a:t>Оба алгоритма: O(V + E).</a:t>
            </a:r>
          </a:p>
        </p:txBody>
      </p:sp>
    </p:spTree>
    <p:extLst>
      <p:ext uri="{BB962C8B-B14F-4D97-AF65-F5344CB8AC3E}">
        <p14:creationId xmlns:p14="http://schemas.microsoft.com/office/powerpoint/2010/main" val="3039508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Критические элементы графа</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grpSp>
        <p:nvGrpSpPr>
          <p:cNvPr id="26" name="critical-before">
            <a:extLst>
              <a:ext uri="{FF2B5EF4-FFF2-40B4-BE49-F238E27FC236}">
                <a16:creationId xmlns:a16="http://schemas.microsoft.com/office/drawing/2014/main" id="{B12E1654-6430-4DDF-9566-214BBB4E325E}"/>
              </a:ext>
            </a:extLst>
          </p:cNvPr>
          <p:cNvGrpSpPr>
            <a:grpSpLocks noChangeAspect="1"/>
          </p:cNvGrpSpPr>
          <p:nvPr/>
        </p:nvGrpSpPr>
        <p:grpSpPr>
          <a:xfrm>
            <a:off x="698500" y="2540000"/>
            <a:ext cx="4699000" cy="1939954"/>
            <a:chOff x="698500" y="2095500"/>
            <a:chExt cx="6921500" cy="2857500"/>
          </a:xfrm>
        </p:grpSpPr>
        <p:cxnSp>
          <p:nvCxnSpPr>
            <p:cNvPr id="3" name="!!g-edge-1-2">
              <a:extLst>
                <a:ext uri="{FF2B5EF4-FFF2-40B4-BE49-F238E27FC236}">
                  <a16:creationId xmlns:a16="http://schemas.microsoft.com/office/drawing/2014/main" id="{0F88A1CF-06C0-4467-BA71-478356A43C7D}"/>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5E78BBA5-AEDD-49FA-93D6-3FA8797BF48A}"/>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C1C30E7D-E1FA-4530-9CE4-1EFD3700C7E6}"/>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A1C0576F-D30A-4940-86F3-92FF7450791D}"/>
                </a:ext>
              </a:extLst>
            </p:cNvPr>
            <p:cNvCxnSpPr/>
            <p:nvPr/>
          </p:nvCxnSpPr>
          <p:spPr>
            <a:xfrm>
              <a:off x="3556000" y="3556000"/>
              <a:ext cx="1460500" cy="0"/>
            </a:xfrm>
            <a:prstGeom prst="straightConnector1">
              <a:avLst/>
            </a:prstGeom>
            <a:ln w="34290">
              <a:solidFill>
                <a:srgbClr val="762181"/>
              </a:solidFill>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8F5B8F54-B549-43D4-8731-038E18ABE2B7}"/>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5-6">
              <a:extLst>
                <a:ext uri="{FF2B5EF4-FFF2-40B4-BE49-F238E27FC236}">
                  <a16:creationId xmlns:a16="http://schemas.microsoft.com/office/drawing/2014/main" id="{36DCB409-2852-41EA-8F68-8E144B6AAAEE}"/>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6-4">
              <a:extLst>
                <a:ext uri="{FF2B5EF4-FFF2-40B4-BE49-F238E27FC236}">
                  <a16:creationId xmlns:a16="http://schemas.microsoft.com/office/drawing/2014/main" id="{8A7B3C3D-2B72-4DD8-8A88-C6F1DC9438BC}"/>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0B60F662-D3B6-420C-AC0D-B1B211FFC372}"/>
                </a:ext>
              </a:extLst>
            </p:cNvPr>
            <p:cNvSpPr/>
            <p:nvPr/>
          </p:nvSpPr>
          <p:spPr>
            <a:xfrm>
              <a:off x="8001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1</a:t>
              </a:r>
            </a:p>
          </p:txBody>
        </p:sp>
        <p:sp>
          <p:nvSpPr>
            <p:cNvPr id="12" name="!!g-node-2">
              <a:extLst>
                <a:ext uri="{FF2B5EF4-FFF2-40B4-BE49-F238E27FC236}">
                  <a16:creationId xmlns:a16="http://schemas.microsoft.com/office/drawing/2014/main" id="{01291BFF-C767-4FB9-91E2-E4FFF7D372CB}"/>
                </a:ext>
              </a:extLst>
            </p:cNvPr>
            <p:cNvSpPr/>
            <p:nvPr/>
          </p:nvSpPr>
          <p:spPr>
            <a:xfrm>
              <a:off x="698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2</a:t>
              </a:r>
            </a:p>
          </p:txBody>
        </p:sp>
        <p:sp>
          <p:nvSpPr>
            <p:cNvPr id="13" name="!!g-node-3">
              <a:extLst>
                <a:ext uri="{FF2B5EF4-FFF2-40B4-BE49-F238E27FC236}">
                  <a16:creationId xmlns:a16="http://schemas.microsoft.com/office/drawing/2014/main" id="{FAB42EFF-15A9-401F-801F-5CC9D00F5BFA}"/>
                </a:ext>
              </a:extLst>
            </p:cNvPr>
            <p:cNvSpPr/>
            <p:nvPr/>
          </p:nvSpPr>
          <p:spPr>
            <a:xfrm>
              <a:off x="29210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3</a:t>
              </a:r>
            </a:p>
          </p:txBody>
        </p:sp>
        <p:sp>
          <p:nvSpPr>
            <p:cNvPr id="14" name="!!g-node-4">
              <a:extLst>
                <a:ext uri="{FF2B5EF4-FFF2-40B4-BE49-F238E27FC236}">
                  <a16:creationId xmlns:a16="http://schemas.microsoft.com/office/drawing/2014/main" id="{BADCD277-9B5C-4040-8F5A-3DF4C87E9615}"/>
                </a:ext>
              </a:extLst>
            </p:cNvPr>
            <p:cNvSpPr/>
            <p:nvPr/>
          </p:nvSpPr>
          <p:spPr>
            <a:xfrm>
              <a:off x="50165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4</a:t>
              </a:r>
            </a:p>
          </p:txBody>
        </p:sp>
        <p:sp>
          <p:nvSpPr>
            <p:cNvPr id="15" name="!!g-node-5">
              <a:extLst>
                <a:ext uri="{FF2B5EF4-FFF2-40B4-BE49-F238E27FC236}">
                  <a16:creationId xmlns:a16="http://schemas.microsoft.com/office/drawing/2014/main" id="{276E60C9-818B-4366-9E86-DC4EDC60E30A}"/>
                </a:ext>
              </a:extLst>
            </p:cNvPr>
            <p:cNvSpPr/>
            <p:nvPr/>
          </p:nvSpPr>
          <p:spPr>
            <a:xfrm>
              <a:off x="68580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5</a:t>
              </a:r>
            </a:p>
          </p:txBody>
        </p:sp>
        <p:sp>
          <p:nvSpPr>
            <p:cNvPr id="16" name="!!g-node-6">
              <a:extLst>
                <a:ext uri="{FF2B5EF4-FFF2-40B4-BE49-F238E27FC236}">
                  <a16:creationId xmlns:a16="http://schemas.microsoft.com/office/drawing/2014/main" id="{4FC53FFE-C9B2-4669-AFA0-C90E0F7EE996}"/>
                </a:ext>
              </a:extLst>
            </p:cNvPr>
            <p:cNvSpPr/>
            <p:nvPr/>
          </p:nvSpPr>
          <p:spPr>
            <a:xfrm>
              <a:off x="69850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6</a:t>
              </a:r>
            </a:p>
          </p:txBody>
        </p:sp>
        <p:sp>
          <p:nvSpPr>
            <p:cNvPr id="17" name="text-13-1460">
              <a:extLst>
                <a:ext uri="{FF2B5EF4-FFF2-40B4-BE49-F238E27FC236}">
                  <a16:creationId xmlns:a16="http://schemas.microsoft.com/office/drawing/2014/main" id="{94F06DA5-A5B4-4E60-B2C5-6F370C18A72E}"/>
                </a:ext>
              </a:extLst>
            </p:cNvPr>
            <p:cNvSpPr txBox="1"/>
            <p:nvPr/>
          </p:nvSpPr>
          <p:spPr bwMode="auto">
            <a:xfrm>
              <a:off x="3619500" y="2820696"/>
              <a:ext cx="1270000" cy="528905"/>
            </a:xfrm>
            <a:prstGeom prst="rect">
              <a:avLst/>
            </a:prstGeom>
          </p:spPr>
          <p:txBody>
            <a:bodyPr vert="horz" wrap="square" lIns="38100" tIns="25400" rIns="38100" bIns="25400" rtlCol="0" anchor="ctr">
              <a:spAutoFit/>
            </a:bodyPr>
            <a:lstStyle/>
            <a:p>
              <a:r>
                <a:rPr lang="ru-RU" sz="2000" b="1">
                  <a:solidFill>
                    <a:srgbClr val="762181"/>
                  </a:solidFill>
                  <a:latin typeface="Montserrat"/>
                </a:rPr>
                <a:t>3–4</a:t>
              </a:r>
            </a:p>
          </p:txBody>
        </p:sp>
      </p:grpSp>
      <p:sp>
        <p:nvSpPr>
          <p:cNvPr id="22" name="box-18-1465">
            <a:extLst>
              <a:ext uri="{FF2B5EF4-FFF2-40B4-BE49-F238E27FC236}">
                <a16:creationId xmlns:a16="http://schemas.microsoft.com/office/drawing/2014/main" id="{4D7D82CC-0885-4348-9095-8EDE6B38E589}"/>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text-19-1466">
            <a:extLst>
              <a:ext uri="{FF2B5EF4-FFF2-40B4-BE49-F238E27FC236}">
                <a16:creationId xmlns:a16="http://schemas.microsoft.com/office/drawing/2014/main" id="{83CC739C-DCB9-42BF-A56E-0D10647C792A}"/>
              </a:ext>
            </a:extLst>
          </p:cNvPr>
          <p:cNvSpPr txBox="1"/>
          <p:nvPr/>
        </p:nvSpPr>
        <p:spPr bwMode="auto">
          <a:xfrm>
            <a:off x="660400" y="5969000"/>
            <a:ext cx="10871200" cy="457200"/>
          </a:xfrm>
          <a:prstGeom prst="rect">
            <a:avLst/>
          </a:prstGeom>
        </p:spPr>
        <p:txBody>
          <a:bodyPr vert="horz" wrap="square" lIns="38100" tIns="25400" rIns="38100" bIns="25400" rtlCol="0" anchor="ctr">
            <a:noAutofit/>
          </a:bodyPr>
          <a:lstStyle/>
          <a:p>
            <a:r>
              <a:rPr lang="ru-RU" sz="2100">
                <a:solidFill>
                  <a:srgbClr val="FFFFFF"/>
                </a:solidFill>
                <a:latin typeface="Montserrat"/>
              </a:rPr>
              <a:t>Критическое ребро — ребро, удаление которого увеличивает число компонент связности.</a:t>
            </a:r>
          </a:p>
        </p:txBody>
      </p:sp>
      <p:sp>
        <p:nvSpPr>
          <p:cNvPr id="24" name="lecture-footer">
            <a:extLst>
              <a:ext uri="{FF2B5EF4-FFF2-40B4-BE49-F238E27FC236}">
                <a16:creationId xmlns:a16="http://schemas.microsoft.com/office/drawing/2014/main" id="{1D59DE65-B8A7-43E6-B94E-2C08F57B3B8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5" name="slide-number">
            <a:extLst>
              <a:ext uri="{FF2B5EF4-FFF2-40B4-BE49-F238E27FC236}">
                <a16:creationId xmlns:a16="http://schemas.microsoft.com/office/drawing/2014/main" id="{9074EF01-7DC0-4950-ACFC-A5E6D4F12CE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41</a:t>
            </a:r>
          </a:p>
        </p:txBody>
      </p:sp>
      <p:grpSp>
        <p:nvGrpSpPr>
          <p:cNvPr id="27" name="critical-after">
            <a:extLst>
              <a:ext uri="{FF2B5EF4-FFF2-40B4-BE49-F238E27FC236}">
                <a16:creationId xmlns:a16="http://schemas.microsoft.com/office/drawing/2014/main" id="{2F170DC6-B053-414E-BDF7-6367160D5B31}"/>
              </a:ext>
            </a:extLst>
          </p:cNvPr>
          <p:cNvGrpSpPr>
            <a:grpSpLocks noChangeAspect="1"/>
          </p:cNvGrpSpPr>
          <p:nvPr/>
        </p:nvGrpSpPr>
        <p:grpSpPr>
          <a:xfrm>
            <a:off x="6604000" y="2540000"/>
            <a:ext cx="4699000" cy="1939954"/>
            <a:chOff x="698500" y="2095500"/>
            <a:chExt cx="6921500" cy="2857500"/>
          </a:xfrm>
        </p:grpSpPr>
        <p:cxnSp>
          <p:nvCxnSpPr>
            <p:cNvPr id="28" name="!!g-edge-1-2">
              <a:extLst>
                <a:ext uri="{FF2B5EF4-FFF2-40B4-BE49-F238E27FC236}">
                  <a16:creationId xmlns:a16="http://schemas.microsoft.com/office/drawing/2014/main" id="{482A19BF-545F-4BBE-9C38-ED86614EB2A4}"/>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9" name="!!g-edge-2-3">
              <a:extLst>
                <a:ext uri="{FF2B5EF4-FFF2-40B4-BE49-F238E27FC236}">
                  <a16:creationId xmlns:a16="http://schemas.microsoft.com/office/drawing/2014/main" id="{5D044946-6B71-43A7-9CEC-EC296D807D13}"/>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0" name="!!g-edge-3-1">
              <a:extLst>
                <a:ext uri="{FF2B5EF4-FFF2-40B4-BE49-F238E27FC236}">
                  <a16:creationId xmlns:a16="http://schemas.microsoft.com/office/drawing/2014/main" id="{C979AE19-FD31-4C57-AF34-46BD0859D3EE}"/>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2" name="!!g-edge-4-5">
              <a:extLst>
                <a:ext uri="{FF2B5EF4-FFF2-40B4-BE49-F238E27FC236}">
                  <a16:creationId xmlns:a16="http://schemas.microsoft.com/office/drawing/2014/main" id="{3832EEF4-78D0-4A23-BA41-8619E2DF6875}"/>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3" name="!!g-edge-5-6">
              <a:extLst>
                <a:ext uri="{FF2B5EF4-FFF2-40B4-BE49-F238E27FC236}">
                  <a16:creationId xmlns:a16="http://schemas.microsoft.com/office/drawing/2014/main" id="{8A1598F9-A0C5-4CBF-A1DA-88C95EFBD766}"/>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34" name="!!g-edge-6-4">
              <a:extLst>
                <a:ext uri="{FF2B5EF4-FFF2-40B4-BE49-F238E27FC236}">
                  <a16:creationId xmlns:a16="http://schemas.microsoft.com/office/drawing/2014/main" id="{A19C7D92-B2A7-4F48-968B-AD3907821543}"/>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35" name="!!g-node-1">
              <a:extLst>
                <a:ext uri="{FF2B5EF4-FFF2-40B4-BE49-F238E27FC236}">
                  <a16:creationId xmlns:a16="http://schemas.microsoft.com/office/drawing/2014/main" id="{5BAABDD0-FCC1-47E5-8EB7-CA217423172A}"/>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1</a:t>
              </a:r>
            </a:p>
          </p:txBody>
        </p:sp>
        <p:sp>
          <p:nvSpPr>
            <p:cNvPr id="36" name="!!g-node-2">
              <a:extLst>
                <a:ext uri="{FF2B5EF4-FFF2-40B4-BE49-F238E27FC236}">
                  <a16:creationId xmlns:a16="http://schemas.microsoft.com/office/drawing/2014/main" id="{B1BC19B1-C357-4F82-825F-DEFC4398F877}"/>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2</a:t>
              </a:r>
            </a:p>
          </p:txBody>
        </p:sp>
        <p:sp>
          <p:nvSpPr>
            <p:cNvPr id="37" name="!!g-node-3">
              <a:extLst>
                <a:ext uri="{FF2B5EF4-FFF2-40B4-BE49-F238E27FC236}">
                  <a16:creationId xmlns:a16="http://schemas.microsoft.com/office/drawing/2014/main" id="{E4234D73-C02B-45C2-86C9-BA89D0FF9C00}"/>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352379"/>
                  </a:solidFill>
                  <a:latin typeface="Montserrat"/>
                </a:rPr>
                <a:t>3</a:t>
              </a:r>
            </a:p>
          </p:txBody>
        </p:sp>
        <p:sp>
          <p:nvSpPr>
            <p:cNvPr id="38" name="!!g-node-4">
              <a:extLst>
                <a:ext uri="{FF2B5EF4-FFF2-40B4-BE49-F238E27FC236}">
                  <a16:creationId xmlns:a16="http://schemas.microsoft.com/office/drawing/2014/main" id="{5AD4D73A-7BB0-4A6F-9D3F-32835327E90E}"/>
                </a:ext>
              </a:extLst>
            </p:cNvPr>
            <p:cNvSpPr/>
            <p:nvPr/>
          </p:nvSpPr>
          <p:spPr>
            <a:xfrm>
              <a:off x="5016500" y="3238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FFFFFF"/>
                  </a:solidFill>
                  <a:latin typeface="Montserrat"/>
                </a:rPr>
                <a:t>4</a:t>
              </a:r>
            </a:p>
          </p:txBody>
        </p:sp>
        <p:sp>
          <p:nvSpPr>
            <p:cNvPr id="39" name="!!g-node-5">
              <a:extLst>
                <a:ext uri="{FF2B5EF4-FFF2-40B4-BE49-F238E27FC236}">
                  <a16:creationId xmlns:a16="http://schemas.microsoft.com/office/drawing/2014/main" id="{40216E16-E983-4217-8DFE-5E6C23DBEEED}"/>
                </a:ext>
              </a:extLst>
            </p:cNvPr>
            <p:cNvSpPr/>
            <p:nvPr/>
          </p:nvSpPr>
          <p:spPr>
            <a:xfrm>
              <a:off x="6858000" y="2095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FFFFFF"/>
                  </a:solidFill>
                  <a:latin typeface="Montserrat"/>
                </a:rPr>
                <a:t>5</a:t>
              </a:r>
            </a:p>
          </p:txBody>
        </p:sp>
        <p:sp>
          <p:nvSpPr>
            <p:cNvPr id="40" name="!!g-node-6">
              <a:extLst>
                <a:ext uri="{FF2B5EF4-FFF2-40B4-BE49-F238E27FC236}">
                  <a16:creationId xmlns:a16="http://schemas.microsoft.com/office/drawing/2014/main" id="{C26DA78D-4742-4243-8585-503F7B0D5BB6}"/>
                </a:ext>
              </a:extLst>
            </p:cNvPr>
            <p:cNvSpPr/>
            <p:nvPr/>
          </p:nvSpPr>
          <p:spPr>
            <a:xfrm>
              <a:off x="6985000" y="4318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000">
                  <a:solidFill>
                    <a:srgbClr val="FFFFFF"/>
                  </a:solidFill>
                  <a:latin typeface="Montserrat"/>
                </a:rPr>
                <a:t>6</a:t>
              </a:r>
            </a:p>
          </p:txBody>
        </p:sp>
      </p:grpSp>
      <p:sp>
        <p:nvSpPr>
          <p:cNvPr id="42" name="critical-question">
            <a:extLst>
              <a:ext uri="{FF2B5EF4-FFF2-40B4-BE49-F238E27FC236}">
                <a16:creationId xmlns:a16="http://schemas.microsoft.com/office/drawing/2014/main" id="{5F906672-5784-48F6-B16E-AACF0E48D973}"/>
              </a:ext>
            </a:extLst>
          </p:cNvPr>
          <p:cNvSpPr txBox="1"/>
          <p:nvPr/>
        </p:nvSpPr>
        <p:spPr bwMode="auto">
          <a:xfrm>
            <a:off x="660400" y="1524000"/>
            <a:ext cx="10871200" cy="381000"/>
          </a:xfrm>
          <a:prstGeom prst="rect">
            <a:avLst/>
          </a:prstGeom>
        </p:spPr>
        <p:txBody>
          <a:bodyPr vert="horz" wrap="square" lIns="38100" tIns="12700" rIns="38100" bIns="12700" rtlCol="0">
            <a:noAutofit/>
          </a:bodyPr>
          <a:lstStyle/>
          <a:p>
            <a:r>
              <a:rPr lang="ru-RU" sz="2100">
                <a:solidFill>
                  <a:srgbClr val="352379"/>
                </a:solidFill>
                <a:latin typeface="Montserrat"/>
              </a:rPr>
              <a:t>Что произойдёт, если удалить одно ребро неориентированного графа?</a:t>
            </a:r>
          </a:p>
        </p:txBody>
      </p:sp>
      <p:sp>
        <p:nvSpPr>
          <p:cNvPr id="43" name="critical-before-caption">
            <a:extLst>
              <a:ext uri="{FF2B5EF4-FFF2-40B4-BE49-F238E27FC236}">
                <a16:creationId xmlns:a16="http://schemas.microsoft.com/office/drawing/2014/main" id="{478166D9-CCD8-4F18-8A1D-DD1D16909132}"/>
              </a:ext>
            </a:extLst>
          </p:cNvPr>
          <p:cNvSpPr txBox="1"/>
          <p:nvPr/>
        </p:nvSpPr>
        <p:spPr bwMode="auto">
          <a:xfrm>
            <a:off x="698500" y="2070100"/>
            <a:ext cx="4699000" cy="381000"/>
          </a:xfrm>
          <a:prstGeom prst="rect">
            <a:avLst/>
          </a:prstGeom>
        </p:spPr>
        <p:txBody>
          <a:bodyPr vert="horz" wrap="square" lIns="38100" tIns="12700" rIns="38100" bIns="12700" rtlCol="0">
            <a:noAutofit/>
          </a:bodyPr>
          <a:lstStyle/>
          <a:p>
            <a:r>
              <a:rPr lang="ru-RU" sz="2300" b="1">
                <a:solidFill>
                  <a:srgbClr val="352379"/>
                </a:solidFill>
                <a:latin typeface="Montserrat"/>
              </a:rPr>
              <a:t>Исходный граф</a:t>
            </a:r>
          </a:p>
        </p:txBody>
      </p:sp>
      <p:sp>
        <p:nvSpPr>
          <p:cNvPr id="44" name="critical-after-caption">
            <a:extLst>
              <a:ext uri="{FF2B5EF4-FFF2-40B4-BE49-F238E27FC236}">
                <a16:creationId xmlns:a16="http://schemas.microsoft.com/office/drawing/2014/main" id="{65B45B94-5BBE-408C-9D81-B5726230F96D}"/>
              </a:ext>
            </a:extLst>
          </p:cNvPr>
          <p:cNvSpPr txBox="1"/>
          <p:nvPr/>
        </p:nvSpPr>
        <p:spPr bwMode="auto">
          <a:xfrm>
            <a:off x="6604000" y="2070100"/>
            <a:ext cx="4699000" cy="381000"/>
          </a:xfrm>
          <a:prstGeom prst="rect">
            <a:avLst/>
          </a:prstGeom>
        </p:spPr>
        <p:txBody>
          <a:bodyPr vert="horz" wrap="square" lIns="38100" tIns="12700" rIns="38100" bIns="12700" rtlCol="0">
            <a:noAutofit/>
          </a:bodyPr>
          <a:lstStyle/>
          <a:p>
            <a:r>
              <a:rPr lang="ru-RU" sz="2300" b="1">
                <a:solidFill>
                  <a:srgbClr val="352379"/>
                </a:solidFill>
                <a:latin typeface="Montserrat"/>
              </a:rPr>
              <a:t>Удалили ребро 3–4</a:t>
            </a:r>
          </a:p>
        </p:txBody>
      </p:sp>
      <p:sp>
        <p:nvSpPr>
          <p:cNvPr id="45" name="critical-before-count">
            <a:extLst>
              <a:ext uri="{FF2B5EF4-FFF2-40B4-BE49-F238E27FC236}">
                <a16:creationId xmlns:a16="http://schemas.microsoft.com/office/drawing/2014/main" id="{6EF7C19D-66BF-4A8C-8B2E-A532204E5CD9}"/>
              </a:ext>
            </a:extLst>
          </p:cNvPr>
          <p:cNvSpPr txBox="1"/>
          <p:nvPr/>
        </p:nvSpPr>
        <p:spPr bwMode="auto">
          <a:xfrm>
            <a:off x="698500" y="4648200"/>
            <a:ext cx="4699000" cy="381000"/>
          </a:xfrm>
          <a:prstGeom prst="rect">
            <a:avLst/>
          </a:prstGeom>
        </p:spPr>
        <p:txBody>
          <a:bodyPr vert="horz" wrap="square" lIns="38100" tIns="12700" rIns="38100" bIns="12700" rtlCol="0">
            <a:noAutofit/>
          </a:bodyPr>
          <a:lstStyle/>
          <a:p>
            <a:r>
              <a:rPr lang="ru-RU" sz="2200">
                <a:solidFill>
                  <a:srgbClr val="352379"/>
                </a:solidFill>
                <a:latin typeface="Montserrat"/>
              </a:rPr>
              <a:t>1 компонента связности</a:t>
            </a:r>
          </a:p>
        </p:txBody>
      </p:sp>
      <p:sp>
        <p:nvSpPr>
          <p:cNvPr id="46" name="critical-after-count">
            <a:extLst>
              <a:ext uri="{FF2B5EF4-FFF2-40B4-BE49-F238E27FC236}">
                <a16:creationId xmlns:a16="http://schemas.microsoft.com/office/drawing/2014/main" id="{BC95ACA8-AE74-4B28-B774-C8DD531F7E57}"/>
              </a:ext>
            </a:extLst>
          </p:cNvPr>
          <p:cNvSpPr txBox="1"/>
          <p:nvPr/>
        </p:nvSpPr>
        <p:spPr bwMode="auto">
          <a:xfrm>
            <a:off x="6604000" y="4648200"/>
            <a:ext cx="4699000" cy="381000"/>
          </a:xfrm>
          <a:prstGeom prst="rect">
            <a:avLst/>
          </a:prstGeom>
        </p:spPr>
        <p:txBody>
          <a:bodyPr vert="horz" wrap="square" lIns="38100" tIns="12700" rIns="38100" bIns="12700" rtlCol="0">
            <a:noAutofit/>
          </a:bodyPr>
          <a:lstStyle/>
          <a:p>
            <a:r>
              <a:rPr lang="ru-RU" sz="2200">
                <a:solidFill>
                  <a:srgbClr val="352379"/>
                </a:solidFill>
                <a:latin typeface="Montserrat"/>
              </a:rPr>
              <a:t>2 компоненты связности</a:t>
            </a:r>
          </a:p>
        </p:txBody>
      </p:sp>
      <p:sp>
        <p:nvSpPr>
          <p:cNvPr id="47" name="critical-search-question">
            <a:extLst>
              <a:ext uri="{FF2B5EF4-FFF2-40B4-BE49-F238E27FC236}">
                <a16:creationId xmlns:a16="http://schemas.microsoft.com/office/drawing/2014/main" id="{0E9A0D73-BF3B-4E6B-9097-3B36CCA77CA5}"/>
              </a:ext>
            </a:extLst>
          </p:cNvPr>
          <p:cNvSpPr txBox="1"/>
          <p:nvPr/>
        </p:nvSpPr>
        <p:spPr bwMode="auto">
          <a:xfrm>
            <a:off x="660400" y="5257800"/>
            <a:ext cx="10871200" cy="406400"/>
          </a:xfrm>
          <a:prstGeom prst="rect">
            <a:avLst/>
          </a:prstGeom>
        </p:spPr>
        <p:txBody>
          <a:bodyPr vert="horz" wrap="square" lIns="38100" tIns="12700" rIns="38100" bIns="12700" rtlCol="0">
            <a:noAutofit/>
          </a:bodyPr>
          <a:lstStyle/>
          <a:p>
            <a:r>
              <a:rPr lang="ru-RU" sz="2100">
                <a:solidFill>
                  <a:srgbClr val="352379"/>
                </a:solidFill>
                <a:latin typeface="Montserrat"/>
              </a:rPr>
              <a:t>Как найти такие рёбра, не удаляя по очереди каждое ребро графа?</a:t>
            </a:r>
          </a:p>
        </p:txBody>
      </p:sp>
    </p:spTree>
    <p:extLst>
      <p:ext uri="{BB962C8B-B14F-4D97-AF65-F5344CB8AC3E}">
        <p14:creationId xmlns:p14="http://schemas.microsoft.com/office/powerpoint/2010/main" val="1661435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wrap="square">
            <a:noAutofit/>
          </a:bodyPr>
          <a:lstStyle/>
          <a:p>
            <a:r>
              <a:rPr lang="ru-RU">
                <a:latin typeface="Montserrat SemiBold"/>
              </a:rPr>
              <a:t>Мост — критическое ребро</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0F88A1CF-06C0-4467-BA71-478356A43C7D}"/>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5E78BBA5-AEDD-49FA-93D6-3FA8797BF48A}"/>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C1C30E7D-E1FA-4530-9CE4-1EFD3700C7E6}"/>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A1C0576F-D30A-4940-86F3-92FF7450791D}"/>
              </a:ext>
            </a:extLst>
          </p:cNvPr>
          <p:cNvCxnSpPr/>
          <p:nvPr/>
        </p:nvCxnSpPr>
        <p:spPr>
          <a:xfrm>
            <a:off x="3556000" y="3556000"/>
            <a:ext cx="1460500" cy="0"/>
          </a:xfrm>
          <a:prstGeom prst="straightConnector1">
            <a:avLst/>
          </a:prstGeom>
          <a:ln w="34290">
            <a:solidFill>
              <a:srgbClr val="762181"/>
            </a:solidFill>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8F5B8F54-B549-43D4-8731-038E18ABE2B7}"/>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5-6">
            <a:extLst>
              <a:ext uri="{FF2B5EF4-FFF2-40B4-BE49-F238E27FC236}">
                <a16:creationId xmlns:a16="http://schemas.microsoft.com/office/drawing/2014/main" id="{36DCB409-2852-41EA-8F68-8E144B6AAAEE}"/>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6-4">
            <a:extLst>
              <a:ext uri="{FF2B5EF4-FFF2-40B4-BE49-F238E27FC236}">
                <a16:creationId xmlns:a16="http://schemas.microsoft.com/office/drawing/2014/main" id="{8A7B3C3D-2B72-4DD8-8A88-C6F1DC9438BC}"/>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0B60F662-D3B6-420C-AC0D-B1B211FFC372}"/>
              </a:ext>
            </a:extLst>
          </p:cNvPr>
          <p:cNvSpPr/>
          <p:nvPr/>
        </p:nvSpPr>
        <p:spPr>
          <a:xfrm>
            <a:off x="8001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01291BFF-C767-4FB9-91E2-E4FFF7D372CB}"/>
              </a:ext>
            </a:extLst>
          </p:cNvPr>
          <p:cNvSpPr/>
          <p:nvPr/>
        </p:nvSpPr>
        <p:spPr>
          <a:xfrm>
            <a:off x="698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FAB42EFF-15A9-401F-801F-5CC9D00F5BFA}"/>
              </a:ext>
            </a:extLst>
          </p:cNvPr>
          <p:cNvSpPr/>
          <p:nvPr/>
        </p:nvSpPr>
        <p:spPr>
          <a:xfrm>
            <a:off x="29210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BADCD277-9B5C-4040-8F5A-3DF4C87E9615}"/>
              </a:ext>
            </a:extLst>
          </p:cNvPr>
          <p:cNvSpPr/>
          <p:nvPr/>
        </p:nvSpPr>
        <p:spPr>
          <a:xfrm>
            <a:off x="50165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276E60C9-818B-4366-9E86-DC4EDC60E30A}"/>
              </a:ext>
            </a:extLst>
          </p:cNvPr>
          <p:cNvSpPr/>
          <p:nvPr/>
        </p:nvSpPr>
        <p:spPr>
          <a:xfrm>
            <a:off x="68580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4FC53FFE-C9B2-4669-AFA0-C90E0F7EE996}"/>
              </a:ext>
            </a:extLst>
          </p:cNvPr>
          <p:cNvSpPr/>
          <p:nvPr/>
        </p:nvSpPr>
        <p:spPr>
          <a:xfrm>
            <a:off x="69850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text-13-1460">
            <a:extLst>
              <a:ext uri="{FF2B5EF4-FFF2-40B4-BE49-F238E27FC236}">
                <a16:creationId xmlns:a16="http://schemas.microsoft.com/office/drawing/2014/main" id="{94F06DA5-A5B4-4E60-B2C5-6F370C18A72E}"/>
              </a:ext>
            </a:extLst>
          </p:cNvPr>
          <p:cNvSpPr txBox="1"/>
          <p:nvPr/>
        </p:nvSpPr>
        <p:spPr bwMode="auto">
          <a:xfrm>
            <a:off x="3619500" y="2867139"/>
            <a:ext cx="1270000" cy="436017"/>
          </a:xfrm>
          <a:prstGeom prst="rect">
            <a:avLst/>
          </a:prstGeom>
        </p:spPr>
        <p:txBody>
          <a:bodyPr vert="horz" wrap="square" lIns="38100" tIns="25400" rIns="38100" bIns="25400" rtlCol="0" anchor="ctr">
            <a:spAutoFit/>
          </a:bodyPr>
          <a:lstStyle/>
          <a:p>
            <a:r>
              <a:rPr lang="ru-RU" sz="2500" b="1">
                <a:solidFill>
                  <a:srgbClr val="762181"/>
                </a:solidFill>
                <a:latin typeface="Montserrat"/>
              </a:rPr>
              <a:t>3–4</a:t>
            </a:r>
          </a:p>
        </p:txBody>
      </p:sp>
      <p:sp>
        <p:nvSpPr>
          <p:cNvPr id="18" name="box-14-1461">
            <a:extLst>
              <a:ext uri="{FF2B5EF4-FFF2-40B4-BE49-F238E27FC236}">
                <a16:creationId xmlns:a16="http://schemas.microsoft.com/office/drawing/2014/main" id="{D8CDFE08-02CA-4CD6-B9A1-50D5B062AD0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box-15-1462">
            <a:extLst>
              <a:ext uri="{FF2B5EF4-FFF2-40B4-BE49-F238E27FC236}">
                <a16:creationId xmlns:a16="http://schemas.microsoft.com/office/drawing/2014/main" id="{24B81035-0535-405B-890D-641C0643FFCC}"/>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text-16-1463">
            <a:extLst>
              <a:ext uri="{FF2B5EF4-FFF2-40B4-BE49-F238E27FC236}">
                <a16:creationId xmlns:a16="http://schemas.microsoft.com/office/drawing/2014/main" id="{28A8D8F2-FB2F-46C4-A370-37F1AD71B71B}"/>
              </a:ext>
            </a:extLst>
          </p:cNvPr>
          <p:cNvSpPr txBox="1"/>
          <p:nvPr/>
        </p:nvSpPr>
        <p:spPr bwMode="auto">
          <a:xfrm>
            <a:off x="8128000" y="1869217"/>
            <a:ext cx="3390900" cy="374461"/>
          </a:xfrm>
          <a:prstGeom prst="rect">
            <a:avLst/>
          </a:prstGeom>
        </p:spPr>
        <p:txBody>
          <a:bodyPr vert="horz" wrap="square" lIns="38100" tIns="25400" rIns="38100" bIns="25400" rtlCol="0" anchor="ctr">
            <a:noAutofit/>
          </a:bodyPr>
          <a:lstStyle/>
          <a:p>
            <a:r>
              <a:rPr lang="ru-RU" sz="2100">
                <a:solidFill>
                  <a:srgbClr val="FFFFFF"/>
                </a:solidFill>
                <a:latin typeface="Montserrat"/>
              </a:rPr>
              <a:t>Мост</a:t>
            </a:r>
          </a:p>
        </p:txBody>
      </p:sp>
      <p:sp>
        <p:nvSpPr>
          <p:cNvPr id="21" name="text-17-1464">
            <a:extLst>
              <a:ext uri="{FF2B5EF4-FFF2-40B4-BE49-F238E27FC236}">
                <a16:creationId xmlns:a16="http://schemas.microsoft.com/office/drawing/2014/main" id="{89487694-9CF4-4141-8269-DB2D19840774}"/>
              </a:ext>
            </a:extLst>
          </p:cNvPr>
          <p:cNvSpPr txBox="1"/>
          <p:nvPr/>
        </p:nvSpPr>
        <p:spPr bwMode="auto">
          <a:xfrm>
            <a:off x="8153400" y="2578099"/>
            <a:ext cx="3340100" cy="2781300"/>
          </a:xfrm>
          <a:prstGeom prst="rect">
            <a:avLst/>
          </a:prstGeom>
        </p:spPr>
        <p:txBody>
          <a:bodyPr vert="horz" wrap="square" lIns="38100" tIns="25400" rIns="38100" bIns="25400" rtlCol="0" anchor="ctr">
            <a:noAutofit/>
          </a:bodyPr>
          <a:lstStyle/>
          <a:p>
            <a:r>
              <a:rPr lang="ru-RU" sz="2200">
                <a:solidFill>
                  <a:srgbClr val="352379"/>
                </a:solidFill>
                <a:latin typeface="Montserrat"/>
              </a:rPr>
              <a:t>Мост — ребро неориентированного графа, удаление которого увеличивает количество компонент связности.</a:t>
            </a:r>
          </a:p>
        </p:txBody>
      </p:sp>
      <p:sp>
        <p:nvSpPr>
          <p:cNvPr id="22" name="box-18-1465">
            <a:extLst>
              <a:ext uri="{FF2B5EF4-FFF2-40B4-BE49-F238E27FC236}">
                <a16:creationId xmlns:a16="http://schemas.microsoft.com/office/drawing/2014/main" id="{4D7D82CC-0885-4348-9095-8EDE6B38E589}"/>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text-19-1466">
            <a:extLst>
              <a:ext uri="{FF2B5EF4-FFF2-40B4-BE49-F238E27FC236}">
                <a16:creationId xmlns:a16="http://schemas.microsoft.com/office/drawing/2014/main" id="{83CC739C-DCB9-42BF-A56E-0D10647C792A}"/>
              </a:ext>
            </a:extLst>
          </p:cNvPr>
          <p:cNvSpPr txBox="1"/>
          <p:nvPr/>
        </p:nvSpPr>
        <p:spPr bwMode="auto">
          <a:xfrm>
            <a:off x="660400" y="5938223"/>
            <a:ext cx="10871200" cy="389850"/>
          </a:xfrm>
          <a:prstGeom prst="rect">
            <a:avLst/>
          </a:prstGeom>
        </p:spPr>
        <p:txBody>
          <a:bodyPr vert="horz" wrap="square" lIns="38100" tIns="25400" rIns="38100" bIns="25400" rtlCol="0" anchor="ctr">
            <a:noAutofit/>
          </a:bodyPr>
          <a:lstStyle/>
          <a:p>
            <a:r>
              <a:rPr lang="ru-RU" sz="2200">
                <a:solidFill>
                  <a:srgbClr val="FFFFFF"/>
                </a:solidFill>
                <a:latin typeface="Montserrat"/>
              </a:rPr>
              <a:t>То есть мост — критическое ребро графа.</a:t>
            </a:r>
          </a:p>
        </p:txBody>
      </p:sp>
      <p:sp>
        <p:nvSpPr>
          <p:cNvPr id="24" name="lecture-footer">
            <a:extLst>
              <a:ext uri="{FF2B5EF4-FFF2-40B4-BE49-F238E27FC236}">
                <a16:creationId xmlns:a16="http://schemas.microsoft.com/office/drawing/2014/main" id="{1D59DE65-B8A7-43E6-B94E-2C08F57B3B8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5" name="slide-number">
            <a:extLst>
              <a:ext uri="{FF2B5EF4-FFF2-40B4-BE49-F238E27FC236}">
                <a16:creationId xmlns:a16="http://schemas.microsoft.com/office/drawing/2014/main" id="{9074EF01-7DC0-4950-ACFC-A5E6D4F12CE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42</a:t>
            </a:r>
          </a:p>
        </p:txBody>
      </p:sp>
    </p:spTree>
    <p:extLst>
      <p:ext uri="{BB962C8B-B14F-4D97-AF65-F5344CB8AC3E}">
        <p14:creationId xmlns:p14="http://schemas.microsoft.com/office/powerpoint/2010/main" val="273501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Удалили ребро: появился разрыв</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1DA13E53-33FB-416F-8C26-096CCE3FF28D}"/>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7990FEC5-2F0B-48CB-968F-60A7144371CD}"/>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AABA6B71-431E-4A25-BF6F-BD31091AAA2C}"/>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4-5">
            <a:extLst>
              <a:ext uri="{FF2B5EF4-FFF2-40B4-BE49-F238E27FC236}">
                <a16:creationId xmlns:a16="http://schemas.microsoft.com/office/drawing/2014/main" id="{AE7812C1-AAAA-4839-986C-353636CCE838}"/>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5-6">
            <a:extLst>
              <a:ext uri="{FF2B5EF4-FFF2-40B4-BE49-F238E27FC236}">
                <a16:creationId xmlns:a16="http://schemas.microsoft.com/office/drawing/2014/main" id="{59CF21AA-7EE2-47D8-A440-1C532B4463D7}"/>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6-4">
            <a:extLst>
              <a:ext uri="{FF2B5EF4-FFF2-40B4-BE49-F238E27FC236}">
                <a16:creationId xmlns:a16="http://schemas.microsoft.com/office/drawing/2014/main" id="{34CD9ED6-0D8B-4201-BB53-2AE372ADF985}"/>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0" name="!!g-node-1">
            <a:extLst>
              <a:ext uri="{FF2B5EF4-FFF2-40B4-BE49-F238E27FC236}">
                <a16:creationId xmlns:a16="http://schemas.microsoft.com/office/drawing/2014/main" id="{4ABFE7B9-9635-4535-9E59-593E2F65D850}"/>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1" name="!!g-node-2">
            <a:extLst>
              <a:ext uri="{FF2B5EF4-FFF2-40B4-BE49-F238E27FC236}">
                <a16:creationId xmlns:a16="http://schemas.microsoft.com/office/drawing/2014/main" id="{CAB2E026-5013-4FDB-8090-9798130FA148}"/>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2" name="!!g-node-3">
            <a:extLst>
              <a:ext uri="{FF2B5EF4-FFF2-40B4-BE49-F238E27FC236}">
                <a16:creationId xmlns:a16="http://schemas.microsoft.com/office/drawing/2014/main" id="{F5FE101E-4F8B-4BB1-819B-423754C3F94C}"/>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3" name="!!g-node-4">
            <a:extLst>
              <a:ext uri="{FF2B5EF4-FFF2-40B4-BE49-F238E27FC236}">
                <a16:creationId xmlns:a16="http://schemas.microsoft.com/office/drawing/2014/main" id="{E165289D-E8C7-4BC3-99DC-E548DFFD9A4E}"/>
              </a:ext>
            </a:extLst>
          </p:cNvPr>
          <p:cNvSpPr/>
          <p:nvPr/>
        </p:nvSpPr>
        <p:spPr>
          <a:xfrm>
            <a:off x="5016500" y="3238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4" name="!!g-node-5">
            <a:extLst>
              <a:ext uri="{FF2B5EF4-FFF2-40B4-BE49-F238E27FC236}">
                <a16:creationId xmlns:a16="http://schemas.microsoft.com/office/drawing/2014/main" id="{4C46921E-840A-4590-A744-BAB275CF359B}"/>
              </a:ext>
            </a:extLst>
          </p:cNvPr>
          <p:cNvSpPr/>
          <p:nvPr/>
        </p:nvSpPr>
        <p:spPr>
          <a:xfrm>
            <a:off x="6858000" y="2095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5" name="!!g-node-6">
            <a:extLst>
              <a:ext uri="{FF2B5EF4-FFF2-40B4-BE49-F238E27FC236}">
                <a16:creationId xmlns:a16="http://schemas.microsoft.com/office/drawing/2014/main" id="{B2E26615-8C40-4C4F-A9CE-CB7B40AACA64}"/>
              </a:ext>
            </a:extLst>
          </p:cNvPr>
          <p:cNvSpPr/>
          <p:nvPr/>
        </p:nvSpPr>
        <p:spPr>
          <a:xfrm>
            <a:off x="6985000" y="4318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6" name="box-12-1479">
            <a:extLst>
              <a:ext uri="{FF2B5EF4-FFF2-40B4-BE49-F238E27FC236}">
                <a16:creationId xmlns:a16="http://schemas.microsoft.com/office/drawing/2014/main" id="{B3D86ADA-3C5B-4AA1-8FD4-EE5F305A593D}"/>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box-13-1480">
            <a:extLst>
              <a:ext uri="{FF2B5EF4-FFF2-40B4-BE49-F238E27FC236}">
                <a16:creationId xmlns:a16="http://schemas.microsoft.com/office/drawing/2014/main" id="{F724216F-BFE3-495D-BE88-E76F1AB9A9D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14-1481">
            <a:extLst>
              <a:ext uri="{FF2B5EF4-FFF2-40B4-BE49-F238E27FC236}">
                <a16:creationId xmlns:a16="http://schemas.microsoft.com/office/drawing/2014/main" id="{E9FD85D3-FB63-44D1-83FE-EC7464185F5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Мост</a:t>
            </a:r>
          </a:p>
        </p:txBody>
      </p:sp>
      <p:sp>
        <p:nvSpPr>
          <p:cNvPr id="19" name="text-15-1482">
            <a:extLst>
              <a:ext uri="{FF2B5EF4-FFF2-40B4-BE49-F238E27FC236}">
                <a16:creationId xmlns:a16="http://schemas.microsoft.com/office/drawing/2014/main" id="{545D6A53-7B34-47D6-90BA-57D1DC4CE08A}"/>
              </a:ext>
            </a:extLst>
          </p:cNvPr>
          <p:cNvSpPr txBox="1"/>
          <p:nvPr/>
        </p:nvSpPr>
        <p:spPr bwMode="auto">
          <a:xfrm>
            <a:off x="8153400" y="2578099"/>
            <a:ext cx="3340100" cy="2781300"/>
          </a:xfrm>
          <a:prstGeom prst="rect">
            <a:avLst/>
          </a:prstGeom>
        </p:spPr>
        <p:txBody>
          <a:bodyPr vert="horz" wrap="square" lIns="38100" tIns="25400" rIns="38100" bIns="25400" rtlCol="0" anchor="t">
            <a:noAutofit/>
          </a:bodyPr>
          <a:lstStyle/>
          <a:p>
            <a:r>
              <a:rPr lang="ru-RU" sz="2200">
                <a:solidFill>
                  <a:srgbClr val="352379"/>
                </a:solidFill>
                <a:latin typeface="Montserrat"/>
              </a:rPr>
              <a:t>Мост — ребро неориентированного графа, удаление которого увеличивает число компонент связности.</a:t>
            </a:r>
          </a:p>
        </p:txBody>
      </p:sp>
      <p:sp>
        <p:nvSpPr>
          <p:cNvPr id="20" name="box-16-1483">
            <a:extLst>
              <a:ext uri="{FF2B5EF4-FFF2-40B4-BE49-F238E27FC236}">
                <a16:creationId xmlns:a16="http://schemas.microsoft.com/office/drawing/2014/main" id="{0B5733C0-50FF-478A-8A3A-EC340D31B081}"/>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17-1484">
            <a:extLst>
              <a:ext uri="{FF2B5EF4-FFF2-40B4-BE49-F238E27FC236}">
                <a16:creationId xmlns:a16="http://schemas.microsoft.com/office/drawing/2014/main" id="{16C01923-6EDD-45A6-A876-9A4F81F03CED}"/>
              </a:ext>
            </a:extLst>
          </p:cNvPr>
          <p:cNvSpPr txBox="1"/>
          <p:nvPr/>
        </p:nvSpPr>
        <p:spPr bwMode="auto">
          <a:xfrm>
            <a:off x="660400" y="5938223"/>
            <a:ext cx="10871200" cy="389850"/>
          </a:xfrm>
          <a:prstGeom prst="rect">
            <a:avLst/>
          </a:prstGeom>
        </p:spPr>
        <p:txBody>
          <a:bodyPr vert="horz" wrap="square" lIns="38100" tIns="25400" rIns="38100" bIns="25400" rtlCol="0" anchor="ctr">
            <a:noAutofit/>
          </a:bodyPr>
          <a:lstStyle/>
          <a:p>
            <a:r>
              <a:rPr lang="ru-RU" sz="2200">
                <a:solidFill>
                  <a:srgbClr val="FFFFFF"/>
                </a:solidFill>
                <a:latin typeface="Montserrat"/>
              </a:rPr>
              <a:t>3–4 — мост: число компонент выросло с 1 до 2.</a:t>
            </a:r>
          </a:p>
        </p:txBody>
      </p:sp>
      <p:sp>
        <p:nvSpPr>
          <p:cNvPr id="22" name="lecture-footer">
            <a:extLst>
              <a:ext uri="{FF2B5EF4-FFF2-40B4-BE49-F238E27FC236}">
                <a16:creationId xmlns:a16="http://schemas.microsoft.com/office/drawing/2014/main" id="{14E748F6-A892-4ACE-AC68-62CD4A712651}"/>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3" name="slide-number">
            <a:extLst>
              <a:ext uri="{FF2B5EF4-FFF2-40B4-BE49-F238E27FC236}">
                <a16:creationId xmlns:a16="http://schemas.microsoft.com/office/drawing/2014/main" id="{708D6BD9-F6E6-4FCC-A175-4F32719991A2}"/>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43</a:t>
            </a:r>
          </a:p>
        </p:txBody>
      </p:sp>
    </p:spTree>
    <p:extLst>
      <p:ext uri="{BB962C8B-B14F-4D97-AF65-F5344CB8AC3E}">
        <p14:creationId xmlns:p14="http://schemas.microsoft.com/office/powerpoint/2010/main" val="3781269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Почему ребро в цикле не является мостом</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61B5E6C7-2C49-434D-AAE0-36C21E314CBA}"/>
              </a:ext>
            </a:extLst>
          </p:cNvPr>
          <p:cNvCxnSpPr/>
          <p:nvPr/>
        </p:nvCxnSpPr>
        <p:spPr>
          <a:xfrm>
            <a:off x="2253322" y="2894646"/>
            <a:ext cx="1779855" cy="183070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47E9B46C-7656-4CE9-A62F-FA2E489A3F3F}"/>
              </a:ext>
            </a:extLst>
          </p:cNvPr>
          <p:cNvCxnSpPr/>
          <p:nvPr/>
        </p:nvCxnSpPr>
        <p:spPr>
          <a:xfrm flipV="1">
            <a:off x="4472503" y="2897827"/>
            <a:ext cx="1722994" cy="182434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793173F1-6736-4175-BBBD-1491B55CA2D5}"/>
              </a:ext>
            </a:extLst>
          </p:cNvPr>
          <p:cNvCxnSpPr/>
          <p:nvPr/>
        </p:nvCxnSpPr>
        <p:spPr>
          <a:xfrm flipH="1">
            <a:off x="2349500" y="2667000"/>
            <a:ext cx="3746500" cy="0"/>
          </a:xfrm>
          <a:prstGeom prst="straightConnector1">
            <a:avLst/>
          </a:prstGeom>
          <a:ln w="34290">
            <a:solidFill>
              <a:srgbClr val="762181"/>
            </a:solidFill>
          </a:ln>
        </p:spPr>
        <p:style>
          <a:lnRef idx="1">
            <a:schemeClr val="accent1"/>
          </a:lnRef>
          <a:fillRef idx="0">
            <a:schemeClr val="accent1"/>
          </a:fillRef>
          <a:effectRef idx="0">
            <a:schemeClr val="accent1"/>
          </a:effectRef>
          <a:fontRef idx="minor">
            <a:schemeClr val="tx1"/>
          </a:fontRef>
        </p:style>
      </p:cxnSp>
      <p:sp>
        <p:nvSpPr>
          <p:cNvPr id="6" name="!!g-node-1">
            <a:extLst>
              <a:ext uri="{FF2B5EF4-FFF2-40B4-BE49-F238E27FC236}">
                <a16:creationId xmlns:a16="http://schemas.microsoft.com/office/drawing/2014/main" id="{163922F8-9EF8-444F-9876-808A1250F615}"/>
              </a:ext>
            </a:extLst>
          </p:cNvPr>
          <p:cNvSpPr/>
          <p:nvPr/>
        </p:nvSpPr>
        <p:spPr>
          <a:xfrm>
            <a:off x="1714500" y="2349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8" name="!!g-node-2">
            <a:extLst>
              <a:ext uri="{FF2B5EF4-FFF2-40B4-BE49-F238E27FC236}">
                <a16:creationId xmlns:a16="http://schemas.microsoft.com/office/drawing/2014/main" id="{F5FB9B00-E8DE-4944-99C7-0100952B9299}"/>
              </a:ext>
            </a:extLst>
          </p:cNvPr>
          <p:cNvSpPr/>
          <p:nvPr/>
        </p:nvSpPr>
        <p:spPr>
          <a:xfrm>
            <a:off x="3937000" y="463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9" name="!!g-node-3">
            <a:extLst>
              <a:ext uri="{FF2B5EF4-FFF2-40B4-BE49-F238E27FC236}">
                <a16:creationId xmlns:a16="http://schemas.microsoft.com/office/drawing/2014/main" id="{047B3AEA-9661-4916-AAB1-F95FEF1F283F}"/>
              </a:ext>
            </a:extLst>
          </p:cNvPr>
          <p:cNvSpPr/>
          <p:nvPr/>
        </p:nvSpPr>
        <p:spPr>
          <a:xfrm>
            <a:off x="6096000" y="2349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 name="box-6-1491">
            <a:extLst>
              <a:ext uri="{FF2B5EF4-FFF2-40B4-BE49-F238E27FC236}">
                <a16:creationId xmlns:a16="http://schemas.microsoft.com/office/drawing/2014/main" id="{03BE6A53-F996-4E9C-9958-E721B3821B7D}"/>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x-7-1492">
            <a:extLst>
              <a:ext uri="{FF2B5EF4-FFF2-40B4-BE49-F238E27FC236}">
                <a16:creationId xmlns:a16="http://schemas.microsoft.com/office/drawing/2014/main" id="{0572ED6F-6142-4FE2-9354-E625A6722FF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8-1493">
            <a:extLst>
              <a:ext uri="{FF2B5EF4-FFF2-40B4-BE49-F238E27FC236}">
                <a16:creationId xmlns:a16="http://schemas.microsoft.com/office/drawing/2014/main" id="{73DA0C02-63AF-482A-BBD0-B58E0E0E01F8}"/>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Ребро в цикле</a:t>
            </a:r>
          </a:p>
        </p:txBody>
      </p:sp>
      <p:sp>
        <p:nvSpPr>
          <p:cNvPr id="13" name="text-9-1494">
            <a:extLst>
              <a:ext uri="{FF2B5EF4-FFF2-40B4-BE49-F238E27FC236}">
                <a16:creationId xmlns:a16="http://schemas.microsoft.com/office/drawing/2014/main" id="{1989DD90-0CA6-42C3-84BD-55C2306F205E}"/>
              </a:ext>
            </a:extLst>
          </p:cNvPr>
          <p:cNvSpPr txBox="1"/>
          <p:nvPr/>
        </p:nvSpPr>
        <p:spPr bwMode="auto">
          <a:xfrm>
            <a:off x="8153400" y="2538884"/>
            <a:ext cx="3340100" cy="1113125"/>
          </a:xfrm>
          <a:prstGeom prst="rect">
            <a:avLst/>
          </a:prstGeom>
        </p:spPr>
        <p:txBody>
          <a:bodyPr vert="horz" wrap="square" lIns="38100" tIns="25400" rIns="38100" bIns="25400" rtlCol="0" anchor="ctr">
            <a:spAutoFit/>
          </a:bodyPr>
          <a:lstStyle/>
          <a:p>
            <a:r>
              <a:rPr lang="ru-RU" sz="2300">
                <a:solidFill>
                  <a:srgbClr val="352379"/>
                </a:solidFill>
                <a:latin typeface="Montserrat"/>
              </a:rPr>
              <a:t>Удаляем 1–3</a:t>
            </a:r>
          </a:p>
          <a:p>
            <a:endParaRPr lang="ru-RU" sz="2300">
              <a:solidFill>
                <a:srgbClr val="352379"/>
              </a:solidFill>
              <a:latin typeface="Montserrat"/>
            </a:endParaRPr>
          </a:p>
          <a:p>
            <a:r>
              <a:rPr lang="ru-RU" sz="2300">
                <a:solidFill>
                  <a:srgbClr val="352379"/>
                </a:solidFill>
                <a:latin typeface="Montserrat"/>
              </a:rPr>
              <a:t>Есть ли другой путь?</a:t>
            </a:r>
          </a:p>
        </p:txBody>
      </p:sp>
      <p:sp>
        <p:nvSpPr>
          <p:cNvPr id="14" name="box-10-1495">
            <a:extLst>
              <a:ext uri="{FF2B5EF4-FFF2-40B4-BE49-F238E27FC236}">
                <a16:creationId xmlns:a16="http://schemas.microsoft.com/office/drawing/2014/main" id="{BA02F41A-093E-4A27-BAD1-B7996C8A7D8B}"/>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11-1496">
            <a:extLst>
              <a:ext uri="{FF2B5EF4-FFF2-40B4-BE49-F238E27FC236}">
                <a16:creationId xmlns:a16="http://schemas.microsoft.com/office/drawing/2014/main" id="{C62F4A2D-8FAF-4D5A-B015-A95571DB3381}"/>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Любое ребро цикла можно обойти по остальной части цикла.</a:t>
            </a:r>
          </a:p>
        </p:txBody>
      </p:sp>
      <p:grpSp>
        <p:nvGrpSpPr>
          <p:cNvPr id="31" name="animation-stage-1">
            <a:extLst>
              <a:ext uri="{FF2B5EF4-FFF2-40B4-BE49-F238E27FC236}">
                <a16:creationId xmlns:a16="http://schemas.microsoft.com/office/drawing/2014/main" id="{BCC770F1-E80C-4C64-AF1F-DEE3672E466B}"/>
              </a:ext>
            </a:extLst>
          </p:cNvPr>
          <p:cNvGrpSpPr/>
          <p:nvPr/>
        </p:nvGrpSpPr>
        <p:grpSpPr>
          <a:xfrm>
            <a:off x="1714500" y="1816100"/>
            <a:ext cx="9994900" cy="3657600"/>
            <a:chOff x="1714500" y="1816100"/>
            <a:chExt cx="9994900" cy="3657600"/>
          </a:xfrm>
        </p:grpSpPr>
        <p:cxnSp>
          <p:nvCxnSpPr>
            <p:cNvPr id="16" name="!!triangle-edge-1-2">
              <a:extLst>
                <a:ext uri="{FF2B5EF4-FFF2-40B4-BE49-F238E27FC236}">
                  <a16:creationId xmlns:a16="http://schemas.microsoft.com/office/drawing/2014/main" id="{F7C8E8AB-283E-4309-866C-E01CB1EDA517}"/>
                </a:ext>
              </a:extLst>
            </p:cNvPr>
            <p:cNvCxnSpPr/>
            <p:nvPr/>
          </p:nvCxnSpPr>
          <p:spPr>
            <a:xfrm>
              <a:off x="2253322" y="2894646"/>
              <a:ext cx="1779855" cy="183070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7" name="!!triangle-edge-2-3">
              <a:extLst>
                <a:ext uri="{FF2B5EF4-FFF2-40B4-BE49-F238E27FC236}">
                  <a16:creationId xmlns:a16="http://schemas.microsoft.com/office/drawing/2014/main" id="{2BFF17C2-184C-4FA0-BD78-EC6972D61CEB}"/>
                </a:ext>
              </a:extLst>
            </p:cNvPr>
            <p:cNvCxnSpPr/>
            <p:nvPr/>
          </p:nvCxnSpPr>
          <p:spPr>
            <a:xfrm flipV="1">
              <a:off x="4472503" y="2897827"/>
              <a:ext cx="1722994" cy="182434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8" name="!!triangle-node-1">
              <a:extLst>
                <a:ext uri="{FF2B5EF4-FFF2-40B4-BE49-F238E27FC236}">
                  <a16:creationId xmlns:a16="http://schemas.microsoft.com/office/drawing/2014/main" id="{4B02EAF3-02E0-432F-90C2-A0BE4E3D7AA7}"/>
                </a:ext>
              </a:extLst>
            </p:cNvPr>
            <p:cNvSpPr/>
            <p:nvPr/>
          </p:nvSpPr>
          <p:spPr>
            <a:xfrm>
              <a:off x="1714500" y="2349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9" name="!!triangle-node-2">
              <a:extLst>
                <a:ext uri="{FF2B5EF4-FFF2-40B4-BE49-F238E27FC236}">
                  <a16:creationId xmlns:a16="http://schemas.microsoft.com/office/drawing/2014/main" id="{87609719-6EEA-49C9-B0B5-10F86366E25F}"/>
                </a:ext>
              </a:extLst>
            </p:cNvPr>
            <p:cNvSpPr/>
            <p:nvPr/>
          </p:nvSpPr>
          <p:spPr>
            <a:xfrm>
              <a:off x="3937000" y="463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0" name="!!triangle-node-3">
              <a:extLst>
                <a:ext uri="{FF2B5EF4-FFF2-40B4-BE49-F238E27FC236}">
                  <a16:creationId xmlns:a16="http://schemas.microsoft.com/office/drawing/2014/main" id="{FF0F7A52-0AF6-48B2-AC83-268989E76DE5}"/>
                </a:ext>
              </a:extLst>
            </p:cNvPr>
            <p:cNvSpPr/>
            <p:nvPr/>
          </p:nvSpPr>
          <p:spPr>
            <a:xfrm>
              <a:off x="6096000" y="2349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1" name="box-5-1502">
              <a:extLst>
                <a:ext uri="{FF2B5EF4-FFF2-40B4-BE49-F238E27FC236}">
                  <a16:creationId xmlns:a16="http://schemas.microsoft.com/office/drawing/2014/main" id="{B610881F-2860-420A-B7AC-D135C20CEC30}"/>
                </a:ext>
              </a:extLst>
            </p:cNvPr>
            <p:cNvSpPr/>
            <p:nvPr/>
          </p:nvSpPr>
          <p:spPr>
            <a:xfrm>
              <a:off x="1714500" y="2247900"/>
              <a:ext cx="5016500" cy="787400"/>
            </a:xfrm>
            <a:prstGeom prst="roundRect">
              <a:avLst>
                <a:gd name="adj" fmla="val 12000"/>
              </a:avLst>
            </a:prstGeom>
            <a:solidFill>
              <a:srgbClr val="FFFFFF"/>
            </a:solid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2" name="!!triangle-after-edge-1-2">
              <a:extLst>
                <a:ext uri="{FF2B5EF4-FFF2-40B4-BE49-F238E27FC236}">
                  <a16:creationId xmlns:a16="http://schemas.microsoft.com/office/drawing/2014/main" id="{0F3A5535-52ED-4ECF-AD8A-691D513A69EE}"/>
                </a:ext>
              </a:extLst>
            </p:cNvPr>
            <p:cNvCxnSpPr/>
            <p:nvPr/>
          </p:nvCxnSpPr>
          <p:spPr>
            <a:xfrm>
              <a:off x="2253322" y="2894646"/>
              <a:ext cx="1779855" cy="183070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3" name="!!triangle-after-edge-2-3">
              <a:extLst>
                <a:ext uri="{FF2B5EF4-FFF2-40B4-BE49-F238E27FC236}">
                  <a16:creationId xmlns:a16="http://schemas.microsoft.com/office/drawing/2014/main" id="{574267E1-7ADC-4B46-9383-635021875F86}"/>
                </a:ext>
              </a:extLst>
            </p:cNvPr>
            <p:cNvCxnSpPr/>
            <p:nvPr/>
          </p:nvCxnSpPr>
          <p:spPr>
            <a:xfrm flipV="1">
              <a:off x="4472503" y="2897827"/>
              <a:ext cx="1722994" cy="182434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24" name="!!triangle-after-node-1">
              <a:extLst>
                <a:ext uri="{FF2B5EF4-FFF2-40B4-BE49-F238E27FC236}">
                  <a16:creationId xmlns:a16="http://schemas.microsoft.com/office/drawing/2014/main" id="{1735B803-1DAA-4600-B889-A61A71A727ED}"/>
                </a:ext>
              </a:extLst>
            </p:cNvPr>
            <p:cNvSpPr/>
            <p:nvPr/>
          </p:nvSpPr>
          <p:spPr>
            <a:xfrm>
              <a:off x="1714500" y="2349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25" name="!!triangle-after-node-2">
              <a:extLst>
                <a:ext uri="{FF2B5EF4-FFF2-40B4-BE49-F238E27FC236}">
                  <a16:creationId xmlns:a16="http://schemas.microsoft.com/office/drawing/2014/main" id="{CC6C76D9-0307-46D5-80C5-6C4A7D189D95}"/>
                </a:ext>
              </a:extLst>
            </p:cNvPr>
            <p:cNvSpPr/>
            <p:nvPr/>
          </p:nvSpPr>
          <p:spPr>
            <a:xfrm>
              <a:off x="3937000" y="463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26" name="!!triangle-after-node-3">
              <a:extLst>
                <a:ext uri="{FF2B5EF4-FFF2-40B4-BE49-F238E27FC236}">
                  <a16:creationId xmlns:a16="http://schemas.microsoft.com/office/drawing/2014/main" id="{6BAF11AF-ABF1-4136-B08F-A196EBCABCCE}"/>
                </a:ext>
              </a:extLst>
            </p:cNvPr>
            <p:cNvSpPr/>
            <p:nvPr/>
          </p:nvSpPr>
          <p:spPr>
            <a:xfrm>
              <a:off x="6096000" y="2349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27" name="box-11-1508">
              <a:extLst>
                <a:ext uri="{FF2B5EF4-FFF2-40B4-BE49-F238E27FC236}">
                  <a16:creationId xmlns:a16="http://schemas.microsoft.com/office/drawing/2014/main" id="{895C7C27-19F1-4D7F-A531-1C2B90F93F0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box-12-1509">
              <a:extLst>
                <a:ext uri="{FF2B5EF4-FFF2-40B4-BE49-F238E27FC236}">
                  <a16:creationId xmlns:a16="http://schemas.microsoft.com/office/drawing/2014/main" id="{AC42AE19-7C76-4C77-92BD-FB5275E75D85}"/>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text-13-1510">
              <a:extLst>
                <a:ext uri="{FF2B5EF4-FFF2-40B4-BE49-F238E27FC236}">
                  <a16:creationId xmlns:a16="http://schemas.microsoft.com/office/drawing/2014/main" id="{00A5FDA3-5920-4B46-8A2D-ED461F695355}"/>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Есть обходной путь</a:t>
              </a:r>
            </a:p>
          </p:txBody>
        </p:sp>
        <p:sp>
          <p:nvSpPr>
            <p:cNvPr id="30" name="text-14-1511">
              <a:extLst>
                <a:ext uri="{FF2B5EF4-FFF2-40B4-BE49-F238E27FC236}">
                  <a16:creationId xmlns:a16="http://schemas.microsoft.com/office/drawing/2014/main" id="{CCCCFBEB-7099-42AB-85A9-5F51C976D7FA}"/>
                </a:ext>
              </a:extLst>
            </p:cNvPr>
            <p:cNvSpPr txBox="1"/>
            <p:nvPr/>
          </p:nvSpPr>
          <p:spPr bwMode="auto">
            <a:xfrm>
              <a:off x="8153400" y="2538884"/>
              <a:ext cx="3340100" cy="1113125"/>
            </a:xfrm>
            <a:prstGeom prst="rect">
              <a:avLst/>
            </a:prstGeom>
          </p:spPr>
          <p:txBody>
            <a:bodyPr vert="horz" wrap="square" lIns="38100" tIns="25400" rIns="38100" bIns="25400" rtlCol="0" anchor="ctr">
              <a:spAutoFit/>
            </a:bodyPr>
            <a:lstStyle/>
            <a:p>
              <a:r>
                <a:rPr lang="ru-RU" sz="2300">
                  <a:solidFill>
                    <a:srgbClr val="352379"/>
                  </a:solidFill>
                  <a:latin typeface="Montserrat"/>
                </a:rPr>
                <a:t>1 → 2 → 3</a:t>
              </a:r>
            </a:p>
            <a:p>
              <a:endParaRPr lang="ru-RU" sz="2300">
                <a:solidFill>
                  <a:srgbClr val="352379"/>
                </a:solidFill>
                <a:latin typeface="Montserrat"/>
              </a:endParaRPr>
            </a:p>
            <a:p>
              <a:r>
                <a:rPr lang="ru-RU" sz="2300">
                  <a:solidFill>
                    <a:srgbClr val="352379"/>
                  </a:solidFill>
                  <a:latin typeface="Montserrat"/>
                </a:rPr>
                <a:t>Связность сохранилась</a:t>
              </a:r>
            </a:p>
          </p:txBody>
        </p:sp>
      </p:grpSp>
      <p:sp>
        <p:nvSpPr>
          <p:cNvPr id="32" name="lecture-footer">
            <a:extLst>
              <a:ext uri="{FF2B5EF4-FFF2-40B4-BE49-F238E27FC236}">
                <a16:creationId xmlns:a16="http://schemas.microsoft.com/office/drawing/2014/main" id="{B5E17549-8A26-4284-A447-5DB68FA99577}"/>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3" name="slide-number">
            <a:extLst>
              <a:ext uri="{FF2B5EF4-FFF2-40B4-BE49-F238E27FC236}">
                <a16:creationId xmlns:a16="http://schemas.microsoft.com/office/drawing/2014/main" id="{8F14310C-F047-41D4-B7A9-2A390F3FD3A9}"/>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44</a:t>
            </a:r>
          </a:p>
        </p:txBody>
      </p:sp>
    </p:spTree>
    <p:extLst>
      <p:ext uri="{BB962C8B-B14F-4D97-AF65-F5344CB8AC3E}">
        <p14:creationId xmlns:p14="http://schemas.microsoft.com/office/powerpoint/2010/main" val="367504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Мост: условие через </a:t>
            </a:r>
            <a:r>
              <a:rPr lang="en-US">
                <a:latin typeface="Montserrat SemiBold"/>
              </a:rPr>
              <a:t>low</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B9196894-923A-429B-B53F-D1DD8D10FC6D}"/>
              </a:ext>
            </a:extLst>
          </p:cNvPr>
          <p:cNvCxnSpPr/>
          <p:nvPr/>
        </p:nvCxnSpPr>
        <p:spPr>
          <a:xfrm flipH="1">
            <a:off x="1030499" y="2730169"/>
            <a:ext cx="72602" cy="1588162"/>
          </a:xfrm>
          <a:prstGeom prst="straightConnector1">
            <a:avLst/>
          </a:prstGeom>
          <a:ln w="3429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0AA46BA9-FAA8-44D4-BF38-C16E6D2396B0}"/>
              </a:ext>
            </a:extLst>
          </p:cNvPr>
          <p:cNvCxnSpPr/>
          <p:nvPr/>
        </p:nvCxnSpPr>
        <p:spPr>
          <a:xfrm flipV="1">
            <a:off x="1301594" y="3694717"/>
            <a:ext cx="1651312" cy="802066"/>
          </a:xfrm>
          <a:prstGeom prst="straightConnector1">
            <a:avLst/>
          </a:prstGeom>
          <a:ln w="3429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251E91E2-4673-4353-ABAE-CDE2A5CF7653}"/>
              </a:ext>
            </a:extLst>
          </p:cNvPr>
          <p:cNvCxnSpPr/>
          <p:nvPr/>
        </p:nvCxnSpPr>
        <p:spPr>
          <a:xfrm flipH="1" flipV="1">
            <a:off x="1397096" y="2563626"/>
            <a:ext cx="1561908" cy="841748"/>
          </a:xfrm>
          <a:prstGeom prst="straightConnector1">
            <a:avLst/>
          </a:prstGeom>
          <a:ln w="34290">
            <a:solidFill>
              <a:srgbClr val="C7ADEB"/>
            </a:solidFill>
            <a:prstDash val="dash"/>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5EC9CF3E-37DD-4FA0-8BD2-0ED4671692D8}"/>
              </a:ext>
            </a:extLst>
          </p:cNvPr>
          <p:cNvCxnSpPr/>
          <p:nvPr/>
        </p:nvCxnSpPr>
        <p:spPr>
          <a:xfrm>
            <a:off x="3556000" y="3556000"/>
            <a:ext cx="1460500" cy="0"/>
          </a:xfrm>
          <a:prstGeom prst="straightConnector1">
            <a:avLst/>
          </a:prstGeom>
          <a:ln w="34290">
            <a:solidFill>
              <a:srgbClr val="762181"/>
            </a:solidFill>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088619FA-3CB7-484E-AB36-833CB05F8B68}"/>
              </a:ext>
            </a:extLst>
          </p:cNvPr>
          <p:cNvCxnSpPr/>
          <p:nvPr/>
        </p:nvCxnSpPr>
        <p:spPr>
          <a:xfrm flipV="1">
            <a:off x="5603761" y="2580438"/>
            <a:ext cx="1301978" cy="808124"/>
          </a:xfrm>
          <a:prstGeom prst="straightConnector1">
            <a:avLst/>
          </a:prstGeom>
          <a:ln w="3429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5-6">
            <a:extLst>
              <a:ext uri="{FF2B5EF4-FFF2-40B4-BE49-F238E27FC236}">
                <a16:creationId xmlns:a16="http://schemas.microsoft.com/office/drawing/2014/main" id="{B2D4C059-7757-46E1-A1FE-8DB5625E652C}"/>
              </a:ext>
            </a:extLst>
          </p:cNvPr>
          <p:cNvCxnSpPr/>
          <p:nvPr/>
        </p:nvCxnSpPr>
        <p:spPr>
          <a:xfrm>
            <a:off x="7193614" y="2729983"/>
            <a:ext cx="90772" cy="1588534"/>
          </a:xfrm>
          <a:prstGeom prst="straightConnector1">
            <a:avLst/>
          </a:prstGeom>
          <a:ln w="3429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6-4">
            <a:extLst>
              <a:ext uri="{FF2B5EF4-FFF2-40B4-BE49-F238E27FC236}">
                <a16:creationId xmlns:a16="http://schemas.microsoft.com/office/drawing/2014/main" id="{C3624268-2C88-4C5C-A6B6-DB94A1231050}"/>
              </a:ext>
            </a:extLst>
          </p:cNvPr>
          <p:cNvCxnSpPr/>
          <p:nvPr/>
        </p:nvCxnSpPr>
        <p:spPr>
          <a:xfrm flipH="1" flipV="1">
            <a:off x="5612388" y="3708664"/>
            <a:ext cx="1411724" cy="774172"/>
          </a:xfrm>
          <a:prstGeom prst="straightConnector1">
            <a:avLst/>
          </a:prstGeom>
          <a:ln w="34290">
            <a:solidFill>
              <a:srgbClr val="C7ADEB"/>
            </a:solidFill>
            <a:prstDash val="dash"/>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EFA02452-046D-4939-ABBB-AECF9152469E}"/>
              </a:ext>
            </a:extLst>
          </p:cNvPr>
          <p:cNvSpPr/>
          <p:nvPr/>
        </p:nvSpPr>
        <p:spPr>
          <a:xfrm>
            <a:off x="8001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444C8F12-E56E-4295-87F7-899573195034}"/>
              </a:ext>
            </a:extLst>
          </p:cNvPr>
          <p:cNvSpPr/>
          <p:nvPr/>
        </p:nvSpPr>
        <p:spPr>
          <a:xfrm>
            <a:off x="698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10DE78FB-BD0C-4737-87EE-014ABCF97996}"/>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4A47B4B7-D2C9-4F4F-894E-9BE8D2DE4919}"/>
              </a:ext>
            </a:extLst>
          </p:cNvPr>
          <p:cNvSpPr/>
          <p:nvPr/>
        </p:nvSpPr>
        <p:spPr>
          <a:xfrm>
            <a:off x="5016500" y="3238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15" name="!!g-node-5">
            <a:extLst>
              <a:ext uri="{FF2B5EF4-FFF2-40B4-BE49-F238E27FC236}">
                <a16:creationId xmlns:a16="http://schemas.microsoft.com/office/drawing/2014/main" id="{65C35193-3FDC-4A30-B6A4-42C5D4935412}"/>
              </a:ext>
            </a:extLst>
          </p:cNvPr>
          <p:cNvSpPr/>
          <p:nvPr/>
        </p:nvSpPr>
        <p:spPr>
          <a:xfrm>
            <a:off x="6858000" y="2095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16" name="!!g-node-6">
            <a:extLst>
              <a:ext uri="{FF2B5EF4-FFF2-40B4-BE49-F238E27FC236}">
                <a16:creationId xmlns:a16="http://schemas.microsoft.com/office/drawing/2014/main" id="{475CD7A0-FEC4-4349-9081-C83E0903FDC4}"/>
              </a:ext>
            </a:extLst>
          </p:cNvPr>
          <p:cNvSpPr/>
          <p:nvPr/>
        </p:nvSpPr>
        <p:spPr>
          <a:xfrm>
            <a:off x="6985000" y="43180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17" name="text-13-1525">
            <a:extLst>
              <a:ext uri="{FF2B5EF4-FFF2-40B4-BE49-F238E27FC236}">
                <a16:creationId xmlns:a16="http://schemas.microsoft.com/office/drawing/2014/main" id="{3F98C71C-BB2D-446B-8CBA-0A47346D3200}"/>
              </a:ext>
            </a:extLst>
          </p:cNvPr>
          <p:cNvSpPr txBox="1"/>
          <p:nvPr/>
        </p:nvSpPr>
        <p:spPr bwMode="auto">
          <a:xfrm>
            <a:off x="698500" y="1546711"/>
            <a:ext cx="6985000" cy="359073"/>
          </a:xfrm>
          <a:prstGeom prst="rect">
            <a:avLst/>
          </a:prstGeom>
        </p:spPr>
        <p:txBody>
          <a:bodyPr vert="horz" wrap="square" lIns="38100" tIns="25400" rIns="38100" bIns="25400" rtlCol="0" anchor="ctr">
            <a:noAutofit/>
          </a:bodyPr>
          <a:lstStyle/>
          <a:p>
            <a:r>
              <a:rPr lang="ru-RU" sz="2000">
                <a:solidFill>
                  <a:srgbClr val="352379"/>
                </a:solidFill>
                <a:latin typeface="Montserrat"/>
              </a:rPr>
              <a:t>Для ребра дерева DFS (v, to), здесь — 3–4.</a:t>
            </a:r>
          </a:p>
        </p:txBody>
      </p:sp>
      <p:sp>
        <p:nvSpPr>
          <p:cNvPr id="18" name="box-14-1526">
            <a:extLst>
              <a:ext uri="{FF2B5EF4-FFF2-40B4-BE49-F238E27FC236}">
                <a16:creationId xmlns:a16="http://schemas.microsoft.com/office/drawing/2014/main" id="{D9A57972-A197-464D-9504-6BB217E7135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box-15-1527">
            <a:extLst>
              <a:ext uri="{FF2B5EF4-FFF2-40B4-BE49-F238E27FC236}">
                <a16:creationId xmlns:a16="http://schemas.microsoft.com/office/drawing/2014/main" id="{7ADB90D8-28B0-4756-A3B9-CBED10676806}"/>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text-16-1528">
            <a:extLst>
              <a:ext uri="{FF2B5EF4-FFF2-40B4-BE49-F238E27FC236}">
                <a16:creationId xmlns:a16="http://schemas.microsoft.com/office/drawing/2014/main" id="{B7B51BF5-1502-4BB9-BF6F-852FD0C0A686}"/>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Проверяем 3–4</a:t>
            </a:r>
          </a:p>
        </p:txBody>
      </p:sp>
      <p:sp>
        <p:nvSpPr>
          <p:cNvPr id="21" name="text-17-1529">
            <a:extLst>
              <a:ext uri="{FF2B5EF4-FFF2-40B4-BE49-F238E27FC236}">
                <a16:creationId xmlns:a16="http://schemas.microsoft.com/office/drawing/2014/main" id="{77F745B2-24C3-49F4-9176-1A7713572E97}"/>
              </a:ext>
            </a:extLst>
          </p:cNvPr>
          <p:cNvSpPr txBox="1"/>
          <p:nvPr/>
        </p:nvSpPr>
        <p:spPr bwMode="auto">
          <a:xfrm>
            <a:off x="8153400" y="2351653"/>
            <a:ext cx="3340100" cy="2359620"/>
          </a:xfrm>
          <a:prstGeom prst="rect">
            <a:avLst/>
          </a:prstGeom>
        </p:spPr>
        <p:txBody>
          <a:bodyPr vert="horz" wrap="square" lIns="38100" tIns="25400" rIns="38100" bIns="25400" rtlCol="0" anchor="ctr">
            <a:spAutoFit/>
          </a:bodyPr>
          <a:lstStyle/>
          <a:p>
            <a:r>
              <a:rPr lang="en-US" sz="2500">
                <a:solidFill>
                  <a:srgbClr val="352379"/>
                </a:solidFill>
                <a:latin typeface="Montserrat"/>
              </a:rPr>
              <a:t>v = 3, to = 4</a:t>
            </a:r>
          </a:p>
          <a:p>
            <a:endParaRPr lang="en-US" sz="2500">
              <a:solidFill>
                <a:srgbClr val="352379"/>
              </a:solidFill>
              <a:latin typeface="Montserrat"/>
            </a:endParaRPr>
          </a:p>
          <a:p>
            <a:r>
              <a:rPr lang="en-US" sz="2500">
                <a:solidFill>
                  <a:srgbClr val="352379"/>
                </a:solidFill>
                <a:latin typeface="Montserrat"/>
              </a:rPr>
              <a:t>tin[3] = 2</a:t>
            </a:r>
          </a:p>
          <a:p>
            <a:r>
              <a:rPr lang="en-US" sz="2500">
                <a:solidFill>
                  <a:srgbClr val="352379"/>
                </a:solidFill>
                <a:latin typeface="Montserrat"/>
              </a:rPr>
              <a:t>low[4] = 3</a:t>
            </a:r>
          </a:p>
          <a:p>
            <a:endParaRPr lang="en-US" sz="2500">
              <a:solidFill>
                <a:srgbClr val="352379"/>
              </a:solidFill>
              <a:latin typeface="Montserrat"/>
            </a:endParaRPr>
          </a:p>
          <a:p>
            <a:r>
              <a:rPr lang="en-US" sz="2500">
                <a:solidFill>
                  <a:srgbClr val="352379"/>
                </a:solidFill>
                <a:latin typeface="Montserrat"/>
              </a:rPr>
              <a:t>3 &gt; 2</a:t>
            </a:r>
            <a:endParaRPr lang="ru-RU" sz="2500">
              <a:solidFill>
                <a:srgbClr val="352379"/>
              </a:solidFill>
              <a:latin typeface="Montserrat"/>
            </a:endParaRPr>
          </a:p>
        </p:txBody>
      </p:sp>
      <p:sp>
        <p:nvSpPr>
          <p:cNvPr id="22" name="box-18-1530">
            <a:extLst>
              <a:ext uri="{FF2B5EF4-FFF2-40B4-BE49-F238E27FC236}">
                <a16:creationId xmlns:a16="http://schemas.microsoft.com/office/drawing/2014/main" id="{F72AC894-C60B-42B7-8C82-94DF9D9871FC}"/>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text-19-1531">
            <a:extLst>
              <a:ext uri="{FF2B5EF4-FFF2-40B4-BE49-F238E27FC236}">
                <a16:creationId xmlns:a16="http://schemas.microsoft.com/office/drawing/2014/main" id="{274C7680-4FB6-4E97-B3F4-DCC344DF56F7}"/>
              </a:ext>
            </a:extLst>
          </p:cNvPr>
          <p:cNvSpPr txBox="1"/>
          <p:nvPr/>
        </p:nvSpPr>
        <p:spPr bwMode="auto">
          <a:xfrm>
            <a:off x="660400" y="5922834"/>
            <a:ext cx="10871200" cy="420628"/>
          </a:xfrm>
          <a:prstGeom prst="rect">
            <a:avLst/>
          </a:prstGeom>
        </p:spPr>
        <p:txBody>
          <a:bodyPr vert="horz" wrap="square" lIns="38100" tIns="25400" rIns="38100" bIns="25400" rtlCol="0" anchor="ctr">
            <a:spAutoFit/>
          </a:bodyPr>
          <a:lstStyle/>
          <a:p>
            <a:r>
              <a:rPr lang="en-US" sz="2400">
                <a:solidFill>
                  <a:srgbClr val="FFFFFF"/>
                </a:solidFill>
                <a:latin typeface="Montserrat"/>
              </a:rPr>
              <a:t>low[to] &gt; tin[v]  ⇒  ребро v–to — мост.</a:t>
            </a:r>
            <a:endParaRPr lang="ru-RU" sz="2400">
              <a:solidFill>
                <a:srgbClr val="FFFFFF"/>
              </a:solidFill>
              <a:latin typeface="Montserrat"/>
            </a:endParaRPr>
          </a:p>
        </p:txBody>
      </p:sp>
      <p:sp>
        <p:nvSpPr>
          <p:cNvPr id="24" name="lecture-footer">
            <a:extLst>
              <a:ext uri="{FF2B5EF4-FFF2-40B4-BE49-F238E27FC236}">
                <a16:creationId xmlns:a16="http://schemas.microsoft.com/office/drawing/2014/main" id="{E6128706-6D01-4AA4-ACC6-8FAE0EE2193B}"/>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5" name="slide-number">
            <a:extLst>
              <a:ext uri="{FF2B5EF4-FFF2-40B4-BE49-F238E27FC236}">
                <a16:creationId xmlns:a16="http://schemas.microsoft.com/office/drawing/2014/main" id="{AE01E682-D0B2-4A64-8C89-034D830BCF96}"/>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45</a:t>
            </a:r>
          </a:p>
        </p:txBody>
      </p:sp>
    </p:spTree>
    <p:extLst>
      <p:ext uri="{BB962C8B-B14F-4D97-AF65-F5344CB8AC3E}">
        <p14:creationId xmlns:p14="http://schemas.microsoft.com/office/powerpoint/2010/main" val="762716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Поиск моста: номера входа</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9DF03C46-3EFC-4235-A268-F3E6449FE382}"/>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0FFDC491-1F95-4618-AE2B-D23D9B5B87E3}"/>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259B9D8B-E3E6-49CE-B3A8-A3BEAF905978}"/>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80BD5768-874C-43CD-A2A5-06E95333A66D}"/>
              </a:ext>
            </a:extLst>
          </p:cNvPr>
          <p:cNvCxnSpPr/>
          <p:nvPr/>
        </p:nvCxnSpPr>
        <p:spPr>
          <a:xfrm>
            <a:off x="3556000" y="3556000"/>
            <a:ext cx="1460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1719727B-438D-44AF-8E1A-D278769C07B3}"/>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5-6">
            <a:extLst>
              <a:ext uri="{FF2B5EF4-FFF2-40B4-BE49-F238E27FC236}">
                <a16:creationId xmlns:a16="http://schemas.microsoft.com/office/drawing/2014/main" id="{3BC1E4C5-79EF-4AC9-B775-7D10215088CF}"/>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6-4">
            <a:extLst>
              <a:ext uri="{FF2B5EF4-FFF2-40B4-BE49-F238E27FC236}">
                <a16:creationId xmlns:a16="http://schemas.microsoft.com/office/drawing/2014/main" id="{6EE02D83-4FCB-4FA7-8464-5D02887E90C4}"/>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9B03C162-610F-4CC2-8134-ED4026F81BBF}"/>
              </a:ext>
            </a:extLst>
          </p:cNvPr>
          <p:cNvSpPr/>
          <p:nvPr/>
        </p:nvSpPr>
        <p:spPr>
          <a:xfrm>
            <a:off x="8001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C59F4CDA-0719-4CF2-BF29-DE0E75B0D7DC}"/>
              </a:ext>
            </a:extLst>
          </p:cNvPr>
          <p:cNvSpPr/>
          <p:nvPr/>
        </p:nvSpPr>
        <p:spPr>
          <a:xfrm>
            <a:off x="698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16B044F6-120D-40B1-891B-E8D7A3918DE1}"/>
              </a:ext>
            </a:extLst>
          </p:cNvPr>
          <p:cNvSpPr/>
          <p:nvPr/>
        </p:nvSpPr>
        <p:spPr>
          <a:xfrm>
            <a:off x="29210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80D3B1F0-2FB4-43C1-93D1-E4DDF47A3E03}"/>
              </a:ext>
            </a:extLst>
          </p:cNvPr>
          <p:cNvSpPr/>
          <p:nvPr/>
        </p:nvSpPr>
        <p:spPr>
          <a:xfrm>
            <a:off x="5016500" y="323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7FDBEDE8-28ED-4037-982B-61D7AE811542}"/>
              </a:ext>
            </a:extLst>
          </p:cNvPr>
          <p:cNvSpPr/>
          <p:nvPr/>
        </p:nvSpPr>
        <p:spPr>
          <a:xfrm>
            <a:off x="6858000" y="209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F5522B73-BC0C-46FF-A403-8A75DD1659A7}"/>
              </a:ext>
            </a:extLst>
          </p:cNvPr>
          <p:cNvSpPr/>
          <p:nvPr/>
        </p:nvSpPr>
        <p:spPr>
          <a:xfrm>
            <a:off x="69850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box-13-1545">
            <a:extLst>
              <a:ext uri="{FF2B5EF4-FFF2-40B4-BE49-F238E27FC236}">
                <a16:creationId xmlns:a16="http://schemas.microsoft.com/office/drawing/2014/main" id="{D67B4E2E-435B-4F93-B999-69B8E8AE4ED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box-14-1546">
            <a:extLst>
              <a:ext uri="{FF2B5EF4-FFF2-40B4-BE49-F238E27FC236}">
                <a16:creationId xmlns:a16="http://schemas.microsoft.com/office/drawing/2014/main" id="{35AA284E-0F28-41C3-B9E1-C24D00AB3911}"/>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15-1547">
            <a:extLst>
              <a:ext uri="{FF2B5EF4-FFF2-40B4-BE49-F238E27FC236}">
                <a16:creationId xmlns:a16="http://schemas.microsoft.com/office/drawing/2014/main" id="{17E0021E-9802-44C1-B24B-4FA9799967F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Начинаем </a:t>
            </a:r>
            <a:r>
              <a:rPr lang="en-US" sz="2100">
                <a:solidFill>
                  <a:srgbClr val="FFFFFF"/>
                </a:solidFill>
                <a:latin typeface="Montserrat"/>
              </a:rPr>
              <a:t>DFS(1)</a:t>
            </a:r>
            <a:endParaRPr lang="ru-RU" sz="2100">
              <a:solidFill>
                <a:srgbClr val="FFFFFF"/>
              </a:solidFill>
              <a:latin typeface="Montserrat"/>
            </a:endParaRPr>
          </a:p>
        </p:txBody>
      </p:sp>
      <p:sp>
        <p:nvSpPr>
          <p:cNvPr id="20" name="text-16-1548">
            <a:extLst>
              <a:ext uri="{FF2B5EF4-FFF2-40B4-BE49-F238E27FC236}">
                <a16:creationId xmlns:a16="http://schemas.microsoft.com/office/drawing/2014/main" id="{DD2BE849-6CD5-4DBB-ADD8-17515BC2D596}"/>
              </a:ext>
            </a:extLst>
          </p:cNvPr>
          <p:cNvSpPr txBox="1"/>
          <p:nvPr/>
        </p:nvSpPr>
        <p:spPr bwMode="auto">
          <a:xfrm>
            <a:off x="8153400" y="2608134"/>
            <a:ext cx="3340100" cy="420628"/>
          </a:xfrm>
          <a:prstGeom prst="rect">
            <a:avLst/>
          </a:prstGeom>
        </p:spPr>
        <p:txBody>
          <a:bodyPr vert="horz" wrap="square" lIns="38100" tIns="25400" rIns="38100" bIns="25400" rtlCol="0" anchor="ctr">
            <a:spAutoFit/>
          </a:bodyPr>
          <a:lstStyle/>
          <a:p>
            <a:r>
              <a:rPr lang="en-US" sz="2400">
                <a:solidFill>
                  <a:srgbClr val="352379"/>
                </a:solidFill>
                <a:latin typeface="Montserrat"/>
              </a:rPr>
              <a:t>tin </a:t>
            </a:r>
            <a:r>
              <a:rPr lang="ru-RU" sz="2400">
                <a:solidFill>
                  <a:srgbClr val="352379"/>
                </a:solidFill>
                <a:latin typeface="Montserrat"/>
              </a:rPr>
              <a:t>пока не задан</a:t>
            </a:r>
          </a:p>
        </p:txBody>
      </p:sp>
      <p:sp>
        <p:nvSpPr>
          <p:cNvPr id="21" name="box-17-1549">
            <a:extLst>
              <a:ext uri="{FF2B5EF4-FFF2-40B4-BE49-F238E27FC236}">
                <a16:creationId xmlns:a16="http://schemas.microsoft.com/office/drawing/2014/main" id="{C0F9A8DF-7966-42D3-A59B-C4773C122AEE}"/>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18-1550">
            <a:extLst>
              <a:ext uri="{FF2B5EF4-FFF2-40B4-BE49-F238E27FC236}">
                <a16:creationId xmlns:a16="http://schemas.microsoft.com/office/drawing/2014/main" id="{32D8B70E-0AA0-41FC-8789-675CECC7740E}"/>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Сначала low[v] = tin[v].</a:t>
            </a:r>
          </a:p>
        </p:txBody>
      </p:sp>
      <p:grpSp>
        <p:nvGrpSpPr>
          <p:cNvPr id="28" name="animation-stage-1">
            <a:extLst>
              <a:ext uri="{FF2B5EF4-FFF2-40B4-BE49-F238E27FC236}">
                <a16:creationId xmlns:a16="http://schemas.microsoft.com/office/drawing/2014/main" id="{DD6B97D5-3B2D-4480-9888-EDD32EDB5749}"/>
              </a:ext>
            </a:extLst>
          </p:cNvPr>
          <p:cNvGrpSpPr/>
          <p:nvPr/>
        </p:nvGrpSpPr>
        <p:grpSpPr>
          <a:xfrm>
            <a:off x="800100" y="1816100"/>
            <a:ext cx="10909300" cy="3657600"/>
            <a:chOff x="800100" y="1816100"/>
            <a:chExt cx="10909300" cy="3657600"/>
          </a:xfrm>
        </p:grpSpPr>
        <p:sp>
          <p:nvSpPr>
            <p:cNvPr id="23" name="active-node-1-1551">
              <a:extLst>
                <a:ext uri="{FF2B5EF4-FFF2-40B4-BE49-F238E27FC236}">
                  <a16:creationId xmlns:a16="http://schemas.microsoft.com/office/drawing/2014/main" id="{B6E8D745-B7A2-482C-B6B6-2A6C99F0C596}"/>
                </a:ext>
              </a:extLst>
            </p:cNvPr>
            <p:cNvSpPr/>
            <p:nvPr/>
          </p:nvSpPr>
          <p:spPr>
            <a:xfrm>
              <a:off x="800100" y="2095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1</a:t>
              </a:r>
            </a:p>
          </p:txBody>
        </p:sp>
        <p:sp>
          <p:nvSpPr>
            <p:cNvPr id="24" name="box-1-1552">
              <a:extLst>
                <a:ext uri="{FF2B5EF4-FFF2-40B4-BE49-F238E27FC236}">
                  <a16:creationId xmlns:a16="http://schemas.microsoft.com/office/drawing/2014/main" id="{611C24B8-D122-4E3C-90EE-5A3CAD3CF46E}"/>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box-2-1553">
              <a:extLst>
                <a:ext uri="{FF2B5EF4-FFF2-40B4-BE49-F238E27FC236}">
                  <a16:creationId xmlns:a16="http://schemas.microsoft.com/office/drawing/2014/main" id="{E596E3EA-23BA-42F9-B97C-9B83526EC221}"/>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3-1554">
              <a:extLst>
                <a:ext uri="{FF2B5EF4-FFF2-40B4-BE49-F238E27FC236}">
                  <a16:creationId xmlns:a16="http://schemas.microsoft.com/office/drawing/2014/main" id="{F09B574B-A85E-4F29-8B73-7CFE307579A1}"/>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1</a:t>
              </a:r>
            </a:p>
          </p:txBody>
        </p:sp>
        <p:sp>
          <p:nvSpPr>
            <p:cNvPr id="27" name="text-4-1555">
              <a:extLst>
                <a:ext uri="{FF2B5EF4-FFF2-40B4-BE49-F238E27FC236}">
                  <a16:creationId xmlns:a16="http://schemas.microsoft.com/office/drawing/2014/main" id="{FFB9326B-7269-4BE1-8AC1-83745750FE9E}"/>
                </a:ext>
              </a:extLst>
            </p:cNvPr>
            <p:cNvSpPr txBox="1"/>
            <p:nvPr/>
          </p:nvSpPr>
          <p:spPr bwMode="auto">
            <a:xfrm>
              <a:off x="8153400" y="2631217"/>
              <a:ext cx="3340100" cy="374461"/>
            </a:xfrm>
            <a:prstGeom prst="rect">
              <a:avLst/>
            </a:prstGeom>
          </p:spPr>
          <p:txBody>
            <a:bodyPr vert="horz" wrap="square" lIns="38100" tIns="25400" rIns="38100" bIns="25400" rtlCol="0" anchor="ctr">
              <a:spAutoFit/>
            </a:bodyPr>
            <a:lstStyle/>
            <a:p>
              <a:r>
                <a:rPr lang="en-US" sz="2100">
                  <a:solidFill>
                    <a:srgbClr val="352379"/>
                  </a:solidFill>
                  <a:latin typeface="Montserrat"/>
                </a:rPr>
                <a:t>tin[1] = 0</a:t>
              </a:r>
              <a:endParaRPr lang="ru-RU" sz="2100">
                <a:solidFill>
                  <a:srgbClr val="352379"/>
                </a:solidFill>
                <a:latin typeface="Montserrat"/>
              </a:endParaRPr>
            </a:p>
          </p:txBody>
        </p:sp>
      </p:grpSp>
      <p:grpSp>
        <p:nvGrpSpPr>
          <p:cNvPr id="35" name="animation-stage-2">
            <a:extLst>
              <a:ext uri="{FF2B5EF4-FFF2-40B4-BE49-F238E27FC236}">
                <a16:creationId xmlns:a16="http://schemas.microsoft.com/office/drawing/2014/main" id="{1247346C-4A92-4231-BAFB-13392BDF300C}"/>
              </a:ext>
            </a:extLst>
          </p:cNvPr>
          <p:cNvGrpSpPr/>
          <p:nvPr/>
        </p:nvGrpSpPr>
        <p:grpSpPr>
          <a:xfrm>
            <a:off x="698500" y="1816100"/>
            <a:ext cx="11010900" cy="3657600"/>
            <a:chOff x="698500" y="1816100"/>
            <a:chExt cx="11010900" cy="3657600"/>
          </a:xfrm>
        </p:grpSpPr>
        <p:sp>
          <p:nvSpPr>
            <p:cNvPr id="29" name="active-node-1-1556">
              <a:extLst>
                <a:ext uri="{FF2B5EF4-FFF2-40B4-BE49-F238E27FC236}">
                  <a16:creationId xmlns:a16="http://schemas.microsoft.com/office/drawing/2014/main" id="{7B03E8D6-8EAC-4010-A96B-8EF62452316C}"/>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0" name="active-node-2-1557">
              <a:extLst>
                <a:ext uri="{FF2B5EF4-FFF2-40B4-BE49-F238E27FC236}">
                  <a16:creationId xmlns:a16="http://schemas.microsoft.com/office/drawing/2014/main" id="{873AB5A3-1FE2-4F8B-B535-21D316800245}"/>
                </a:ext>
              </a:extLst>
            </p:cNvPr>
            <p:cNvSpPr/>
            <p:nvPr/>
          </p:nvSpPr>
          <p:spPr>
            <a:xfrm>
              <a:off x="698500" y="431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2</a:t>
              </a:r>
            </a:p>
          </p:txBody>
        </p:sp>
        <p:sp>
          <p:nvSpPr>
            <p:cNvPr id="31" name="box-2-1558">
              <a:extLst>
                <a:ext uri="{FF2B5EF4-FFF2-40B4-BE49-F238E27FC236}">
                  <a16:creationId xmlns:a16="http://schemas.microsoft.com/office/drawing/2014/main" id="{8EED3D42-E86A-46C5-8F9C-91B5E12DEBF2}"/>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box-3-1559">
              <a:extLst>
                <a:ext uri="{FF2B5EF4-FFF2-40B4-BE49-F238E27FC236}">
                  <a16:creationId xmlns:a16="http://schemas.microsoft.com/office/drawing/2014/main" id="{457306D5-B49A-4A6F-B7BC-F6A3B9DC6B7C}"/>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text-4-1560">
              <a:extLst>
                <a:ext uri="{FF2B5EF4-FFF2-40B4-BE49-F238E27FC236}">
                  <a16:creationId xmlns:a16="http://schemas.microsoft.com/office/drawing/2014/main" id="{626EB4C5-7D07-4F13-BD1D-7385FF125EE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2</a:t>
              </a:r>
            </a:p>
          </p:txBody>
        </p:sp>
        <p:sp>
          <p:nvSpPr>
            <p:cNvPr id="34" name="text-5-1561">
              <a:extLst>
                <a:ext uri="{FF2B5EF4-FFF2-40B4-BE49-F238E27FC236}">
                  <a16:creationId xmlns:a16="http://schemas.microsoft.com/office/drawing/2014/main" id="{D3A00600-5BF2-45F8-B830-BA36BEAEB2E6}"/>
                </a:ext>
              </a:extLst>
            </p:cNvPr>
            <p:cNvSpPr txBox="1"/>
            <p:nvPr/>
          </p:nvSpPr>
          <p:spPr bwMode="auto">
            <a:xfrm>
              <a:off x="8153400" y="2608134"/>
              <a:ext cx="3340100" cy="697627"/>
            </a:xfrm>
            <a:prstGeom prst="rect">
              <a:avLst/>
            </a:prstGeom>
          </p:spPr>
          <p:txBody>
            <a:bodyPr vert="horz" wrap="square" lIns="38100" tIns="25400" rIns="38100" bIns="25400" rtlCol="0" anchor="ctr">
              <a:spAutoFit/>
            </a:bodyPr>
            <a:lstStyle/>
            <a:p>
              <a:r>
                <a:rPr lang="fi-FI" sz="2100">
                  <a:solidFill>
                    <a:srgbClr val="352379"/>
                  </a:solidFill>
                  <a:latin typeface="Montserrat"/>
                </a:rPr>
                <a:t>tin[1] = 0</a:t>
              </a:r>
            </a:p>
            <a:p>
              <a:r>
                <a:rPr lang="fi-FI" sz="2100">
                  <a:solidFill>
                    <a:srgbClr val="352379"/>
                  </a:solidFill>
                  <a:latin typeface="Montserrat"/>
                </a:rPr>
                <a:t>tin[2] = 1</a:t>
              </a:r>
              <a:endParaRPr lang="ru-RU" sz="2100">
                <a:solidFill>
                  <a:srgbClr val="352379"/>
                </a:solidFill>
                <a:latin typeface="Montserrat"/>
              </a:endParaRPr>
            </a:p>
          </p:txBody>
        </p:sp>
      </p:grpSp>
      <p:grpSp>
        <p:nvGrpSpPr>
          <p:cNvPr id="43" name="animation-stage-3">
            <a:extLst>
              <a:ext uri="{FF2B5EF4-FFF2-40B4-BE49-F238E27FC236}">
                <a16:creationId xmlns:a16="http://schemas.microsoft.com/office/drawing/2014/main" id="{69E1D118-978E-4F48-9BC5-31784A66A16B}"/>
              </a:ext>
            </a:extLst>
          </p:cNvPr>
          <p:cNvGrpSpPr/>
          <p:nvPr/>
        </p:nvGrpSpPr>
        <p:grpSpPr>
          <a:xfrm>
            <a:off x="698500" y="1816100"/>
            <a:ext cx="11010900" cy="3657600"/>
            <a:chOff x="698500" y="1816100"/>
            <a:chExt cx="11010900" cy="3657600"/>
          </a:xfrm>
        </p:grpSpPr>
        <p:sp>
          <p:nvSpPr>
            <p:cNvPr id="36" name="active-node-1-1562">
              <a:extLst>
                <a:ext uri="{FF2B5EF4-FFF2-40B4-BE49-F238E27FC236}">
                  <a16:creationId xmlns:a16="http://schemas.microsoft.com/office/drawing/2014/main" id="{76CFF2EF-1F98-42C6-AE11-CC4A4FD89E9C}"/>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37" name="active-node-2-1563">
              <a:extLst>
                <a:ext uri="{FF2B5EF4-FFF2-40B4-BE49-F238E27FC236}">
                  <a16:creationId xmlns:a16="http://schemas.microsoft.com/office/drawing/2014/main" id="{BF23A8EE-FAF2-4A03-99D5-0AAF3BCB09BF}"/>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38" name="active-node-3-1564">
              <a:extLst>
                <a:ext uri="{FF2B5EF4-FFF2-40B4-BE49-F238E27FC236}">
                  <a16:creationId xmlns:a16="http://schemas.microsoft.com/office/drawing/2014/main" id="{B7F3507D-21B3-420F-B15D-1582F9F9981A}"/>
                </a:ext>
              </a:extLst>
            </p:cNvPr>
            <p:cNvSpPr/>
            <p:nvPr/>
          </p:nvSpPr>
          <p:spPr>
            <a:xfrm>
              <a:off x="2921000" y="3238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3</a:t>
              </a:r>
            </a:p>
          </p:txBody>
        </p:sp>
        <p:sp>
          <p:nvSpPr>
            <p:cNvPr id="39" name="box-3-1565">
              <a:extLst>
                <a:ext uri="{FF2B5EF4-FFF2-40B4-BE49-F238E27FC236}">
                  <a16:creationId xmlns:a16="http://schemas.microsoft.com/office/drawing/2014/main" id="{6AC67B9D-E93D-4178-9E37-B688A148BE05}"/>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box-4-1566">
              <a:extLst>
                <a:ext uri="{FF2B5EF4-FFF2-40B4-BE49-F238E27FC236}">
                  <a16:creationId xmlns:a16="http://schemas.microsoft.com/office/drawing/2014/main" id="{7D4E1688-EDE2-4D80-B8B4-DCF5D9090F0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1" name="text-5-1567">
              <a:extLst>
                <a:ext uri="{FF2B5EF4-FFF2-40B4-BE49-F238E27FC236}">
                  <a16:creationId xmlns:a16="http://schemas.microsoft.com/office/drawing/2014/main" id="{5C008512-C29C-4C2D-911B-0EE2FC421B1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3</a:t>
              </a:r>
            </a:p>
          </p:txBody>
        </p:sp>
        <p:sp>
          <p:nvSpPr>
            <p:cNvPr id="42" name="text-6-1568">
              <a:extLst>
                <a:ext uri="{FF2B5EF4-FFF2-40B4-BE49-F238E27FC236}">
                  <a16:creationId xmlns:a16="http://schemas.microsoft.com/office/drawing/2014/main" id="{0E052A57-C35B-4015-A285-7794A510D1AF}"/>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fi-FI" sz="2100">
                  <a:solidFill>
                    <a:srgbClr val="352379"/>
                  </a:solidFill>
                  <a:latin typeface="Montserrat"/>
                </a:rPr>
                <a:t>tin[1] = 0</a:t>
              </a:r>
            </a:p>
            <a:p>
              <a:r>
                <a:rPr lang="fi-FI" sz="2100">
                  <a:solidFill>
                    <a:srgbClr val="352379"/>
                  </a:solidFill>
                  <a:latin typeface="Montserrat"/>
                </a:rPr>
                <a:t>tin[2] = 1</a:t>
              </a:r>
            </a:p>
            <a:p>
              <a:r>
                <a:rPr lang="fi-FI" sz="2100">
                  <a:solidFill>
                    <a:srgbClr val="352379"/>
                  </a:solidFill>
                  <a:latin typeface="Montserrat"/>
                </a:rPr>
                <a:t>tin[3] = 2</a:t>
              </a:r>
              <a:endParaRPr lang="ru-RU" sz="2100">
                <a:solidFill>
                  <a:srgbClr val="352379"/>
                </a:solidFill>
                <a:latin typeface="Montserrat"/>
              </a:endParaRPr>
            </a:p>
          </p:txBody>
        </p:sp>
      </p:grpSp>
      <p:grpSp>
        <p:nvGrpSpPr>
          <p:cNvPr id="52" name="animation-stage-4">
            <a:extLst>
              <a:ext uri="{FF2B5EF4-FFF2-40B4-BE49-F238E27FC236}">
                <a16:creationId xmlns:a16="http://schemas.microsoft.com/office/drawing/2014/main" id="{D0C8F6BD-AEB0-4631-A642-C50C29829939}"/>
              </a:ext>
            </a:extLst>
          </p:cNvPr>
          <p:cNvGrpSpPr/>
          <p:nvPr/>
        </p:nvGrpSpPr>
        <p:grpSpPr>
          <a:xfrm>
            <a:off x="698500" y="1816100"/>
            <a:ext cx="11010900" cy="3657600"/>
            <a:chOff x="698500" y="1816100"/>
            <a:chExt cx="11010900" cy="3657600"/>
          </a:xfrm>
        </p:grpSpPr>
        <p:sp>
          <p:nvSpPr>
            <p:cNvPr id="44" name="active-node-1-1569">
              <a:extLst>
                <a:ext uri="{FF2B5EF4-FFF2-40B4-BE49-F238E27FC236}">
                  <a16:creationId xmlns:a16="http://schemas.microsoft.com/office/drawing/2014/main" id="{4C9622C3-FF55-42A3-9230-D33D9E67F6B0}"/>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45" name="active-node-2-1570">
              <a:extLst>
                <a:ext uri="{FF2B5EF4-FFF2-40B4-BE49-F238E27FC236}">
                  <a16:creationId xmlns:a16="http://schemas.microsoft.com/office/drawing/2014/main" id="{D34885B8-01B7-4E96-BBDF-F597BE5EA193}"/>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46" name="active-node-3-1571">
              <a:extLst>
                <a:ext uri="{FF2B5EF4-FFF2-40B4-BE49-F238E27FC236}">
                  <a16:creationId xmlns:a16="http://schemas.microsoft.com/office/drawing/2014/main" id="{283ED0A1-EF39-4A58-A2D9-797926234B03}"/>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47" name="active-node-4-1572">
              <a:extLst>
                <a:ext uri="{FF2B5EF4-FFF2-40B4-BE49-F238E27FC236}">
                  <a16:creationId xmlns:a16="http://schemas.microsoft.com/office/drawing/2014/main" id="{97CE1D9E-0E18-408A-89EA-D73718766DE6}"/>
                </a:ext>
              </a:extLst>
            </p:cNvPr>
            <p:cNvSpPr/>
            <p:nvPr/>
          </p:nvSpPr>
          <p:spPr>
            <a:xfrm>
              <a:off x="5016500" y="3238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48" name="box-4-1573">
              <a:extLst>
                <a:ext uri="{FF2B5EF4-FFF2-40B4-BE49-F238E27FC236}">
                  <a16:creationId xmlns:a16="http://schemas.microsoft.com/office/drawing/2014/main" id="{B62638F9-B36F-48F1-9B0F-FC8804B080A7}"/>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box-5-1574">
              <a:extLst>
                <a:ext uri="{FF2B5EF4-FFF2-40B4-BE49-F238E27FC236}">
                  <a16:creationId xmlns:a16="http://schemas.microsoft.com/office/drawing/2014/main" id="{5761889C-0591-45A6-8F2F-E6389374B44A}"/>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text-6-1575">
              <a:extLst>
                <a:ext uri="{FF2B5EF4-FFF2-40B4-BE49-F238E27FC236}">
                  <a16:creationId xmlns:a16="http://schemas.microsoft.com/office/drawing/2014/main" id="{5C240B7A-6ED9-4FD1-BAD6-238768A404F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4</a:t>
              </a:r>
            </a:p>
          </p:txBody>
        </p:sp>
        <p:sp>
          <p:nvSpPr>
            <p:cNvPr id="51" name="text-7-1576">
              <a:extLst>
                <a:ext uri="{FF2B5EF4-FFF2-40B4-BE49-F238E27FC236}">
                  <a16:creationId xmlns:a16="http://schemas.microsoft.com/office/drawing/2014/main" id="{9D9980DD-F90C-4120-83AC-62B566D5C48C}"/>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fi-FI" sz="2100">
                  <a:solidFill>
                    <a:srgbClr val="352379"/>
                  </a:solidFill>
                  <a:latin typeface="Montserrat"/>
                </a:rPr>
                <a:t>tin[1] = 0</a:t>
              </a:r>
            </a:p>
            <a:p>
              <a:r>
                <a:rPr lang="fi-FI" sz="2100">
                  <a:solidFill>
                    <a:srgbClr val="352379"/>
                  </a:solidFill>
                  <a:latin typeface="Montserrat"/>
                </a:rPr>
                <a:t>tin[2] = 1</a:t>
              </a:r>
            </a:p>
            <a:p>
              <a:r>
                <a:rPr lang="fi-FI" sz="2100">
                  <a:solidFill>
                    <a:srgbClr val="352379"/>
                  </a:solidFill>
                  <a:latin typeface="Montserrat"/>
                </a:rPr>
                <a:t>tin[3] = 2</a:t>
              </a:r>
            </a:p>
            <a:p>
              <a:r>
                <a:rPr lang="fi-FI" sz="2100">
                  <a:solidFill>
                    <a:srgbClr val="352379"/>
                  </a:solidFill>
                  <a:latin typeface="Montserrat"/>
                </a:rPr>
                <a:t>tin[4] = 3</a:t>
              </a:r>
              <a:endParaRPr lang="ru-RU" sz="2100">
                <a:solidFill>
                  <a:srgbClr val="352379"/>
                </a:solidFill>
                <a:latin typeface="Montserrat"/>
              </a:endParaRPr>
            </a:p>
          </p:txBody>
        </p:sp>
      </p:grpSp>
      <p:grpSp>
        <p:nvGrpSpPr>
          <p:cNvPr id="62" name="animation-stage-5">
            <a:extLst>
              <a:ext uri="{FF2B5EF4-FFF2-40B4-BE49-F238E27FC236}">
                <a16:creationId xmlns:a16="http://schemas.microsoft.com/office/drawing/2014/main" id="{1F80FCD6-0A3D-4D87-8CC9-83F6BC34DD37}"/>
              </a:ext>
            </a:extLst>
          </p:cNvPr>
          <p:cNvGrpSpPr/>
          <p:nvPr/>
        </p:nvGrpSpPr>
        <p:grpSpPr>
          <a:xfrm>
            <a:off x="698500" y="1816100"/>
            <a:ext cx="11010900" cy="3657600"/>
            <a:chOff x="698500" y="1816100"/>
            <a:chExt cx="11010900" cy="3657600"/>
          </a:xfrm>
        </p:grpSpPr>
        <p:sp>
          <p:nvSpPr>
            <p:cNvPr id="53" name="active-node-1-1577">
              <a:extLst>
                <a:ext uri="{FF2B5EF4-FFF2-40B4-BE49-F238E27FC236}">
                  <a16:creationId xmlns:a16="http://schemas.microsoft.com/office/drawing/2014/main" id="{D4870DFF-B147-4CEE-82C8-5E1332113D9A}"/>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54" name="active-node-2-1578">
              <a:extLst>
                <a:ext uri="{FF2B5EF4-FFF2-40B4-BE49-F238E27FC236}">
                  <a16:creationId xmlns:a16="http://schemas.microsoft.com/office/drawing/2014/main" id="{6D9FF1CB-2E95-49A5-AD58-69A6170FB64A}"/>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55" name="active-node-3-1579">
              <a:extLst>
                <a:ext uri="{FF2B5EF4-FFF2-40B4-BE49-F238E27FC236}">
                  <a16:creationId xmlns:a16="http://schemas.microsoft.com/office/drawing/2014/main" id="{D91B9984-2342-4605-92B0-2447788DFDD0}"/>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56" name="active-node-4-1580">
              <a:extLst>
                <a:ext uri="{FF2B5EF4-FFF2-40B4-BE49-F238E27FC236}">
                  <a16:creationId xmlns:a16="http://schemas.microsoft.com/office/drawing/2014/main" id="{0F25DA45-9596-4B85-8E68-9E7C50300868}"/>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57" name="active-node-5-1581">
              <a:extLst>
                <a:ext uri="{FF2B5EF4-FFF2-40B4-BE49-F238E27FC236}">
                  <a16:creationId xmlns:a16="http://schemas.microsoft.com/office/drawing/2014/main" id="{F6703E7E-2F22-4C87-BC35-2567F3761127}"/>
                </a:ext>
              </a:extLst>
            </p:cNvPr>
            <p:cNvSpPr/>
            <p:nvPr/>
          </p:nvSpPr>
          <p:spPr>
            <a:xfrm>
              <a:off x="6858000" y="2095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5</a:t>
              </a:r>
            </a:p>
          </p:txBody>
        </p:sp>
        <p:sp>
          <p:nvSpPr>
            <p:cNvPr id="58" name="box-5-1582">
              <a:extLst>
                <a:ext uri="{FF2B5EF4-FFF2-40B4-BE49-F238E27FC236}">
                  <a16:creationId xmlns:a16="http://schemas.microsoft.com/office/drawing/2014/main" id="{A721E08A-3574-4BFA-8159-BFC6AF3CC2B2}"/>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box-6-1583">
              <a:extLst>
                <a:ext uri="{FF2B5EF4-FFF2-40B4-BE49-F238E27FC236}">
                  <a16:creationId xmlns:a16="http://schemas.microsoft.com/office/drawing/2014/main" id="{413052D9-1E73-4BF9-95AB-44A23F6E90E6}"/>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text-7-1584">
              <a:extLst>
                <a:ext uri="{FF2B5EF4-FFF2-40B4-BE49-F238E27FC236}">
                  <a16:creationId xmlns:a16="http://schemas.microsoft.com/office/drawing/2014/main" id="{D88AE547-E407-4F3C-9082-DD95E488FC8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5</a:t>
              </a:r>
            </a:p>
          </p:txBody>
        </p:sp>
        <p:sp>
          <p:nvSpPr>
            <p:cNvPr id="61" name="text-8-1585">
              <a:extLst>
                <a:ext uri="{FF2B5EF4-FFF2-40B4-BE49-F238E27FC236}">
                  <a16:creationId xmlns:a16="http://schemas.microsoft.com/office/drawing/2014/main" id="{5A6078E1-F5AC-4AA3-AD02-2DBF50E37E3D}"/>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fi-FI" sz="2100">
                  <a:solidFill>
                    <a:srgbClr val="352379"/>
                  </a:solidFill>
                  <a:latin typeface="Montserrat"/>
                </a:rPr>
                <a:t>tin[1] = 0</a:t>
              </a:r>
            </a:p>
            <a:p>
              <a:r>
                <a:rPr lang="fi-FI" sz="2100">
                  <a:solidFill>
                    <a:srgbClr val="352379"/>
                  </a:solidFill>
                  <a:latin typeface="Montserrat"/>
                </a:rPr>
                <a:t>tin[2] = 1</a:t>
              </a:r>
            </a:p>
            <a:p>
              <a:r>
                <a:rPr lang="fi-FI" sz="2100">
                  <a:solidFill>
                    <a:srgbClr val="352379"/>
                  </a:solidFill>
                  <a:latin typeface="Montserrat"/>
                </a:rPr>
                <a:t>tin[3] = 2</a:t>
              </a:r>
            </a:p>
            <a:p>
              <a:r>
                <a:rPr lang="fi-FI" sz="2100">
                  <a:solidFill>
                    <a:srgbClr val="352379"/>
                  </a:solidFill>
                  <a:latin typeface="Montserrat"/>
                </a:rPr>
                <a:t>tin[4] = 3</a:t>
              </a:r>
            </a:p>
            <a:p>
              <a:r>
                <a:rPr lang="fi-FI" sz="2100">
                  <a:solidFill>
                    <a:srgbClr val="352379"/>
                  </a:solidFill>
                  <a:latin typeface="Montserrat"/>
                </a:rPr>
                <a:t>tin[5] = 4</a:t>
              </a:r>
              <a:endParaRPr lang="ru-RU" sz="2100">
                <a:solidFill>
                  <a:srgbClr val="352379"/>
                </a:solidFill>
                <a:latin typeface="Montserrat"/>
              </a:endParaRPr>
            </a:p>
          </p:txBody>
        </p:sp>
      </p:grpSp>
      <p:grpSp>
        <p:nvGrpSpPr>
          <p:cNvPr id="73" name="animation-stage-6">
            <a:extLst>
              <a:ext uri="{FF2B5EF4-FFF2-40B4-BE49-F238E27FC236}">
                <a16:creationId xmlns:a16="http://schemas.microsoft.com/office/drawing/2014/main" id="{B182F66F-2BBD-4ED5-90E5-5E44B9522BF9}"/>
              </a:ext>
            </a:extLst>
          </p:cNvPr>
          <p:cNvGrpSpPr/>
          <p:nvPr/>
        </p:nvGrpSpPr>
        <p:grpSpPr>
          <a:xfrm>
            <a:off x="698500" y="1816100"/>
            <a:ext cx="11010900" cy="3657600"/>
            <a:chOff x="698500" y="1816100"/>
            <a:chExt cx="11010900" cy="3657600"/>
          </a:xfrm>
        </p:grpSpPr>
        <p:sp>
          <p:nvSpPr>
            <p:cNvPr id="63" name="active-node-1-1586">
              <a:extLst>
                <a:ext uri="{FF2B5EF4-FFF2-40B4-BE49-F238E27FC236}">
                  <a16:creationId xmlns:a16="http://schemas.microsoft.com/office/drawing/2014/main" id="{7CA15586-215D-4CC3-801A-B86DA91079D1}"/>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4" name="active-node-2-1587">
              <a:extLst>
                <a:ext uri="{FF2B5EF4-FFF2-40B4-BE49-F238E27FC236}">
                  <a16:creationId xmlns:a16="http://schemas.microsoft.com/office/drawing/2014/main" id="{C6E82841-ECAA-4A4E-B743-91C2C2C3905B}"/>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5" name="active-node-3-1588">
              <a:extLst>
                <a:ext uri="{FF2B5EF4-FFF2-40B4-BE49-F238E27FC236}">
                  <a16:creationId xmlns:a16="http://schemas.microsoft.com/office/drawing/2014/main" id="{9EC79E23-38D8-4337-A292-91807AE3F6A4}"/>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6" name="active-node-4-1589">
              <a:extLst>
                <a:ext uri="{FF2B5EF4-FFF2-40B4-BE49-F238E27FC236}">
                  <a16:creationId xmlns:a16="http://schemas.microsoft.com/office/drawing/2014/main" id="{D77F1BA5-2992-4379-BBBD-C983E2DCDC0F}"/>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67" name="active-node-5-1590">
              <a:extLst>
                <a:ext uri="{FF2B5EF4-FFF2-40B4-BE49-F238E27FC236}">
                  <a16:creationId xmlns:a16="http://schemas.microsoft.com/office/drawing/2014/main" id="{6E112679-C2AC-429C-8D4A-CED0D0C29BEF}"/>
                </a:ext>
              </a:extLst>
            </p:cNvPr>
            <p:cNvSpPr/>
            <p:nvPr/>
          </p:nvSpPr>
          <p:spPr>
            <a:xfrm>
              <a:off x="68580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68" name="active-node-6-1591">
              <a:extLst>
                <a:ext uri="{FF2B5EF4-FFF2-40B4-BE49-F238E27FC236}">
                  <a16:creationId xmlns:a16="http://schemas.microsoft.com/office/drawing/2014/main" id="{90BCABB8-DA9E-4425-B579-1A4D17BAE3C3}"/>
                </a:ext>
              </a:extLst>
            </p:cNvPr>
            <p:cNvSpPr/>
            <p:nvPr/>
          </p:nvSpPr>
          <p:spPr>
            <a:xfrm>
              <a:off x="6985000" y="431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6</a:t>
              </a:r>
            </a:p>
          </p:txBody>
        </p:sp>
        <p:sp>
          <p:nvSpPr>
            <p:cNvPr id="69" name="box-6-1592">
              <a:extLst>
                <a:ext uri="{FF2B5EF4-FFF2-40B4-BE49-F238E27FC236}">
                  <a16:creationId xmlns:a16="http://schemas.microsoft.com/office/drawing/2014/main" id="{F31E7346-F686-4C8A-8E50-8E88F34A781C}"/>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box-7-1593">
              <a:extLst>
                <a:ext uri="{FF2B5EF4-FFF2-40B4-BE49-F238E27FC236}">
                  <a16:creationId xmlns:a16="http://schemas.microsoft.com/office/drawing/2014/main" id="{EE2305D6-9912-4AB3-8CFF-F55448E13F3C}"/>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text-8-1594">
              <a:extLst>
                <a:ext uri="{FF2B5EF4-FFF2-40B4-BE49-F238E27FC236}">
                  <a16:creationId xmlns:a16="http://schemas.microsoft.com/office/drawing/2014/main" id="{E41570E8-BF01-468A-8B77-BEB9C392AB1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6</a:t>
              </a:r>
            </a:p>
          </p:txBody>
        </p:sp>
        <p:sp>
          <p:nvSpPr>
            <p:cNvPr id="72" name="text-9-1595">
              <a:extLst>
                <a:ext uri="{FF2B5EF4-FFF2-40B4-BE49-F238E27FC236}">
                  <a16:creationId xmlns:a16="http://schemas.microsoft.com/office/drawing/2014/main" id="{7AB55E9D-4C5C-4019-82FB-1898E6E7FDA6}"/>
                </a:ext>
              </a:extLst>
            </p:cNvPr>
            <p:cNvSpPr txBox="1"/>
            <p:nvPr/>
          </p:nvSpPr>
          <p:spPr bwMode="auto">
            <a:xfrm>
              <a:off x="8153400" y="2536319"/>
              <a:ext cx="3340100" cy="1990288"/>
            </a:xfrm>
            <a:prstGeom prst="rect">
              <a:avLst/>
            </a:prstGeom>
          </p:spPr>
          <p:txBody>
            <a:bodyPr vert="horz" wrap="square" lIns="38100" tIns="25400" rIns="38100" bIns="25400" rtlCol="0" anchor="ctr">
              <a:spAutoFit/>
            </a:bodyPr>
            <a:lstStyle/>
            <a:p>
              <a:r>
                <a:rPr lang="fi-FI" sz="2100">
                  <a:solidFill>
                    <a:srgbClr val="352379"/>
                  </a:solidFill>
                  <a:latin typeface="Montserrat"/>
                </a:rPr>
                <a:t>tin[1] = 0</a:t>
              </a:r>
            </a:p>
            <a:p>
              <a:r>
                <a:rPr lang="fi-FI" sz="2100">
                  <a:solidFill>
                    <a:srgbClr val="352379"/>
                  </a:solidFill>
                  <a:latin typeface="Montserrat"/>
                </a:rPr>
                <a:t>tin[2] = 1</a:t>
              </a:r>
            </a:p>
            <a:p>
              <a:r>
                <a:rPr lang="fi-FI" sz="2100">
                  <a:solidFill>
                    <a:srgbClr val="352379"/>
                  </a:solidFill>
                  <a:latin typeface="Montserrat"/>
                </a:rPr>
                <a:t>tin[3] = 2</a:t>
              </a:r>
            </a:p>
            <a:p>
              <a:r>
                <a:rPr lang="fi-FI" sz="2100">
                  <a:solidFill>
                    <a:srgbClr val="352379"/>
                  </a:solidFill>
                  <a:latin typeface="Montserrat"/>
                </a:rPr>
                <a:t>tin[4] = 3</a:t>
              </a:r>
            </a:p>
            <a:p>
              <a:r>
                <a:rPr lang="fi-FI" sz="2100">
                  <a:solidFill>
                    <a:srgbClr val="352379"/>
                  </a:solidFill>
                  <a:latin typeface="Montserrat"/>
                </a:rPr>
                <a:t>tin[5] = 4</a:t>
              </a:r>
            </a:p>
            <a:p>
              <a:r>
                <a:rPr lang="fi-FI" sz="2100">
                  <a:solidFill>
                    <a:srgbClr val="352379"/>
                  </a:solidFill>
                  <a:latin typeface="Montserrat"/>
                </a:rPr>
                <a:t>tin[6] = 5</a:t>
              </a:r>
              <a:endParaRPr lang="ru-RU" sz="2100">
                <a:solidFill>
                  <a:srgbClr val="352379"/>
                </a:solidFill>
                <a:latin typeface="Montserrat"/>
              </a:endParaRPr>
            </a:p>
          </p:txBody>
        </p:sp>
      </p:grpSp>
      <p:sp>
        <p:nvSpPr>
          <p:cNvPr id="74" name="lecture-footer">
            <a:extLst>
              <a:ext uri="{FF2B5EF4-FFF2-40B4-BE49-F238E27FC236}">
                <a16:creationId xmlns:a16="http://schemas.microsoft.com/office/drawing/2014/main" id="{70C76D70-CB1F-4345-B2E6-1242A85BAF2D}"/>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75" name="slide-number">
            <a:extLst>
              <a:ext uri="{FF2B5EF4-FFF2-40B4-BE49-F238E27FC236}">
                <a16:creationId xmlns:a16="http://schemas.microsoft.com/office/drawing/2014/main" id="{4F9AFA72-BDAC-4854-9473-D25A473D575E}"/>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46</a:t>
            </a:r>
          </a:p>
        </p:txBody>
      </p:sp>
    </p:spTree>
    <p:extLst>
      <p:ext uri="{BB962C8B-B14F-4D97-AF65-F5344CB8AC3E}">
        <p14:creationId xmlns:p14="http://schemas.microsoft.com/office/powerpoint/2010/main" val="170106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250"/>
                                        <p:tgtEl>
                                          <p:spTgt spid="35"/>
                                        </p:tgtEl>
                                      </p:cBhvr>
                                    </p:animEffect>
                                  </p:childTnLst>
                                </p:cTn>
                              </p:par>
                              <p:par>
                                <p:cTn id="13" presetID="10" presetClass="exit" presetSubtype="0" fill="hold" nodeType="withEffect">
                                  <p:stCondLst>
                                    <p:cond delay="0"/>
                                  </p:stCondLst>
                                  <p:childTnLst>
                                    <p:animEffect transition="out" filter="fade">
                                      <p:cBhvr>
                                        <p:cTn id="14" dur="150"/>
                                        <p:tgtEl>
                                          <p:spTgt spid="28"/>
                                        </p:tgtEl>
                                      </p:cBhvr>
                                    </p:animEffect>
                                    <p:set>
                                      <p:cBhvr>
                                        <p:cTn id="15" dur="1" fill="hold">
                                          <p:stCondLst>
                                            <p:cond delay="149"/>
                                          </p:stCondLst>
                                        </p:cTn>
                                        <p:tgtEl>
                                          <p:spTgt spid="2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fade">
                                      <p:cBhvr>
                                        <p:cTn id="20" dur="250"/>
                                        <p:tgtEl>
                                          <p:spTgt spid="43"/>
                                        </p:tgtEl>
                                      </p:cBhvr>
                                    </p:animEffect>
                                  </p:childTnLst>
                                </p:cTn>
                              </p:par>
                              <p:par>
                                <p:cTn id="21" presetID="10" presetClass="exit" presetSubtype="0" fill="hold" nodeType="withEffect">
                                  <p:stCondLst>
                                    <p:cond delay="0"/>
                                  </p:stCondLst>
                                  <p:childTnLst>
                                    <p:animEffect transition="out" filter="fade">
                                      <p:cBhvr>
                                        <p:cTn id="22" dur="150"/>
                                        <p:tgtEl>
                                          <p:spTgt spid="35"/>
                                        </p:tgtEl>
                                      </p:cBhvr>
                                    </p:animEffect>
                                    <p:set>
                                      <p:cBhvr>
                                        <p:cTn id="23" dur="1" fill="hold">
                                          <p:stCondLst>
                                            <p:cond delay="149"/>
                                          </p:stCondLst>
                                        </p:cTn>
                                        <p:tgtEl>
                                          <p:spTgt spid="3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250"/>
                                        <p:tgtEl>
                                          <p:spTgt spid="52"/>
                                        </p:tgtEl>
                                      </p:cBhvr>
                                    </p:animEffect>
                                  </p:childTnLst>
                                </p:cTn>
                              </p:par>
                              <p:par>
                                <p:cTn id="29" presetID="10" presetClass="exit" presetSubtype="0" fill="hold" nodeType="withEffect">
                                  <p:stCondLst>
                                    <p:cond delay="0"/>
                                  </p:stCondLst>
                                  <p:childTnLst>
                                    <p:animEffect transition="out" filter="fade">
                                      <p:cBhvr>
                                        <p:cTn id="30" dur="150"/>
                                        <p:tgtEl>
                                          <p:spTgt spid="43"/>
                                        </p:tgtEl>
                                      </p:cBhvr>
                                    </p:animEffect>
                                    <p:set>
                                      <p:cBhvr>
                                        <p:cTn id="31" dur="1" fill="hold">
                                          <p:stCondLst>
                                            <p:cond delay="149"/>
                                          </p:stCondLst>
                                        </p:cTn>
                                        <p:tgtEl>
                                          <p:spTgt spid="4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fade">
                                      <p:cBhvr>
                                        <p:cTn id="36" dur="250"/>
                                        <p:tgtEl>
                                          <p:spTgt spid="62"/>
                                        </p:tgtEl>
                                      </p:cBhvr>
                                    </p:animEffect>
                                  </p:childTnLst>
                                </p:cTn>
                              </p:par>
                              <p:par>
                                <p:cTn id="37" presetID="10" presetClass="exit" presetSubtype="0" fill="hold" nodeType="withEffect">
                                  <p:stCondLst>
                                    <p:cond delay="0"/>
                                  </p:stCondLst>
                                  <p:childTnLst>
                                    <p:animEffect transition="out" filter="fade">
                                      <p:cBhvr>
                                        <p:cTn id="38" dur="150"/>
                                        <p:tgtEl>
                                          <p:spTgt spid="52"/>
                                        </p:tgtEl>
                                      </p:cBhvr>
                                    </p:animEffect>
                                    <p:set>
                                      <p:cBhvr>
                                        <p:cTn id="39" dur="1" fill="hold">
                                          <p:stCondLst>
                                            <p:cond delay="149"/>
                                          </p:stCondLst>
                                        </p:cTn>
                                        <p:tgtEl>
                                          <p:spTgt spid="5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73"/>
                                        </p:tgtEl>
                                        <p:attrNameLst>
                                          <p:attrName>style.visibility</p:attrName>
                                        </p:attrNameLst>
                                      </p:cBhvr>
                                      <p:to>
                                        <p:strVal val="visible"/>
                                      </p:to>
                                    </p:set>
                                    <p:animEffect transition="in" filter="fade">
                                      <p:cBhvr>
                                        <p:cTn id="44" dur="250"/>
                                        <p:tgtEl>
                                          <p:spTgt spid="73"/>
                                        </p:tgtEl>
                                      </p:cBhvr>
                                    </p:animEffect>
                                  </p:childTnLst>
                                </p:cTn>
                              </p:par>
                              <p:par>
                                <p:cTn id="45" presetID="10" presetClass="exit" presetSubtype="0" fill="hold" nodeType="withEffect">
                                  <p:stCondLst>
                                    <p:cond delay="0"/>
                                  </p:stCondLst>
                                  <p:childTnLst>
                                    <p:animEffect transition="out" filter="fade">
                                      <p:cBhvr>
                                        <p:cTn id="46" dur="150"/>
                                        <p:tgtEl>
                                          <p:spTgt spid="62"/>
                                        </p:tgtEl>
                                      </p:cBhvr>
                                    </p:animEffect>
                                    <p:set>
                                      <p:cBhvr>
                                        <p:cTn id="47" dur="1" fill="hold">
                                          <p:stCondLst>
                                            <p:cond delay="149"/>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Поиск моста: обратные рёбра и low</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9A8EAFC7-00DC-4794-97AB-9A821238EA8F}"/>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F2AF7617-809B-45C7-84B9-361F50C4ED97}"/>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8D0375E7-769C-4D65-9A59-67605578DFD2}"/>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A1D81E0B-7F06-4D50-AEDD-452BDB714DFA}"/>
              </a:ext>
            </a:extLst>
          </p:cNvPr>
          <p:cNvCxnSpPr/>
          <p:nvPr/>
        </p:nvCxnSpPr>
        <p:spPr>
          <a:xfrm>
            <a:off x="3556000" y="3556000"/>
            <a:ext cx="1460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279A2E55-0ADF-41D9-87E6-52D90BBA5833}"/>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5-6">
            <a:extLst>
              <a:ext uri="{FF2B5EF4-FFF2-40B4-BE49-F238E27FC236}">
                <a16:creationId xmlns:a16="http://schemas.microsoft.com/office/drawing/2014/main" id="{563E5323-307A-40FF-832B-BE278F1E677E}"/>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6-4">
            <a:extLst>
              <a:ext uri="{FF2B5EF4-FFF2-40B4-BE49-F238E27FC236}">
                <a16:creationId xmlns:a16="http://schemas.microsoft.com/office/drawing/2014/main" id="{3C6E3C0D-8784-41E0-B0E1-D6DD3900A47C}"/>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06379E12-FBBE-4E12-9F24-362239A1C0FE}"/>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34C3E3A2-B85E-47D7-ADAC-E187A5AA943F}"/>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50DA868A-F6F1-4BC7-9D07-F0E948FFF16E}"/>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A0542A92-4C18-4F8D-9F4F-61E6DD9A1567}"/>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48C18B0C-8A13-4E9D-AF16-D4EEC400DB64}"/>
              </a:ext>
            </a:extLst>
          </p:cNvPr>
          <p:cNvSpPr/>
          <p:nvPr/>
        </p:nvSpPr>
        <p:spPr>
          <a:xfrm>
            <a:off x="68580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769682EA-F8A0-403A-BE99-2F207B8FB2DC}"/>
              </a:ext>
            </a:extLst>
          </p:cNvPr>
          <p:cNvSpPr/>
          <p:nvPr/>
        </p:nvSpPr>
        <p:spPr>
          <a:xfrm>
            <a:off x="69850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box-13-1609">
            <a:extLst>
              <a:ext uri="{FF2B5EF4-FFF2-40B4-BE49-F238E27FC236}">
                <a16:creationId xmlns:a16="http://schemas.microsoft.com/office/drawing/2014/main" id="{E1E4A127-AB29-4E67-8797-364D4B66EC5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box-14-1610">
            <a:extLst>
              <a:ext uri="{FF2B5EF4-FFF2-40B4-BE49-F238E27FC236}">
                <a16:creationId xmlns:a16="http://schemas.microsoft.com/office/drawing/2014/main" id="{16D688CA-6A46-43D6-95B3-4160FC38A9B0}"/>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15-1611">
            <a:extLst>
              <a:ext uri="{FF2B5EF4-FFF2-40B4-BE49-F238E27FC236}">
                <a16:creationId xmlns:a16="http://schemas.microsoft.com/office/drawing/2014/main" id="{0F38FE13-55D8-4945-B763-1EF4C83239FC}"/>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en-US" sz="2100">
                <a:solidFill>
                  <a:srgbClr val="FFFFFF"/>
                </a:solidFill>
                <a:latin typeface="Montserrat"/>
              </a:rPr>
              <a:t>tin </a:t>
            </a:r>
            <a:r>
              <a:rPr lang="ru-RU" sz="2100">
                <a:solidFill>
                  <a:srgbClr val="FFFFFF"/>
                </a:solidFill>
                <a:latin typeface="Montserrat"/>
              </a:rPr>
              <a:t>и </a:t>
            </a:r>
            <a:r>
              <a:rPr lang="en-US" sz="2100">
                <a:solidFill>
                  <a:srgbClr val="FFFFFF"/>
                </a:solidFill>
                <a:latin typeface="Montserrat"/>
              </a:rPr>
              <a:t>low</a:t>
            </a:r>
            <a:endParaRPr lang="ru-RU" sz="2100">
              <a:solidFill>
                <a:srgbClr val="FFFFFF"/>
              </a:solidFill>
              <a:latin typeface="Montserrat"/>
            </a:endParaRPr>
          </a:p>
        </p:txBody>
      </p:sp>
      <p:sp>
        <p:nvSpPr>
          <p:cNvPr id="20" name="text-16-1612">
            <a:extLst>
              <a:ext uri="{FF2B5EF4-FFF2-40B4-BE49-F238E27FC236}">
                <a16:creationId xmlns:a16="http://schemas.microsoft.com/office/drawing/2014/main" id="{350D076A-5E3C-4CB7-88BA-F77B92261195}"/>
              </a:ext>
            </a:extLst>
          </p:cNvPr>
          <p:cNvSpPr txBox="1"/>
          <p:nvPr/>
        </p:nvSpPr>
        <p:spPr bwMode="auto">
          <a:xfrm>
            <a:off x="8153400" y="2631217"/>
            <a:ext cx="3340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21" name="box-17-1613">
            <a:extLst>
              <a:ext uri="{FF2B5EF4-FFF2-40B4-BE49-F238E27FC236}">
                <a16:creationId xmlns:a16="http://schemas.microsoft.com/office/drawing/2014/main" id="{81970EDA-1F12-4EE1-A8D8-CB01309336BB}"/>
              </a:ext>
            </a:extLst>
          </p:cNvPr>
          <p:cNvSpPr/>
          <p:nvPr/>
        </p:nvSpPr>
        <p:spPr>
          <a:xfrm>
            <a:off x="8153400" y="2654300"/>
            <a:ext cx="698500"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18-1614">
            <a:extLst>
              <a:ext uri="{FF2B5EF4-FFF2-40B4-BE49-F238E27FC236}">
                <a16:creationId xmlns:a16="http://schemas.microsoft.com/office/drawing/2014/main" id="{66F173A9-2494-4983-BCBD-24305F216D71}"/>
              </a:ext>
            </a:extLst>
          </p:cNvPr>
          <p:cNvSpPr txBox="1"/>
          <p:nvPr/>
        </p:nvSpPr>
        <p:spPr bwMode="auto">
          <a:xfrm>
            <a:off x="8178800" y="2677011"/>
            <a:ext cx="647700" cy="359073"/>
          </a:xfrm>
          <a:prstGeom prst="rect">
            <a:avLst/>
          </a:prstGeom>
        </p:spPr>
        <p:txBody>
          <a:bodyPr vert="horz" wrap="square" lIns="38100" tIns="25400" rIns="38100" bIns="25400" rtlCol="0" anchor="ctr">
            <a:sp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23" name="box-19-1615">
            <a:extLst>
              <a:ext uri="{FF2B5EF4-FFF2-40B4-BE49-F238E27FC236}">
                <a16:creationId xmlns:a16="http://schemas.microsoft.com/office/drawing/2014/main" id="{1380C17A-DB56-40FE-B491-EC78F32CEF5F}"/>
              </a:ext>
            </a:extLst>
          </p:cNvPr>
          <p:cNvSpPr/>
          <p:nvPr/>
        </p:nvSpPr>
        <p:spPr>
          <a:xfrm>
            <a:off x="8851900"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20-1616">
            <a:extLst>
              <a:ext uri="{FF2B5EF4-FFF2-40B4-BE49-F238E27FC236}">
                <a16:creationId xmlns:a16="http://schemas.microsoft.com/office/drawing/2014/main" id="{B9B982AA-027A-4E2B-9F41-B12215F72439}"/>
              </a:ext>
            </a:extLst>
          </p:cNvPr>
          <p:cNvSpPr txBox="1"/>
          <p:nvPr/>
        </p:nvSpPr>
        <p:spPr bwMode="auto">
          <a:xfrm>
            <a:off x="8877300"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1</a:t>
            </a:r>
          </a:p>
        </p:txBody>
      </p:sp>
      <p:sp>
        <p:nvSpPr>
          <p:cNvPr id="25" name="box-21-1617">
            <a:extLst>
              <a:ext uri="{FF2B5EF4-FFF2-40B4-BE49-F238E27FC236}">
                <a16:creationId xmlns:a16="http://schemas.microsoft.com/office/drawing/2014/main" id="{9B9151B2-1BBE-4839-A1F5-E9ECC6E521DE}"/>
              </a:ext>
            </a:extLst>
          </p:cNvPr>
          <p:cNvSpPr/>
          <p:nvPr/>
        </p:nvSpPr>
        <p:spPr>
          <a:xfrm>
            <a:off x="9292167"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22-1618">
            <a:extLst>
              <a:ext uri="{FF2B5EF4-FFF2-40B4-BE49-F238E27FC236}">
                <a16:creationId xmlns:a16="http://schemas.microsoft.com/office/drawing/2014/main" id="{A8436226-E923-4CD0-8434-967AD57D020C}"/>
              </a:ext>
            </a:extLst>
          </p:cNvPr>
          <p:cNvSpPr txBox="1"/>
          <p:nvPr/>
        </p:nvSpPr>
        <p:spPr bwMode="auto">
          <a:xfrm>
            <a:off x="9317567"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2</a:t>
            </a:r>
          </a:p>
        </p:txBody>
      </p:sp>
      <p:sp>
        <p:nvSpPr>
          <p:cNvPr id="27" name="box-23-1619">
            <a:extLst>
              <a:ext uri="{FF2B5EF4-FFF2-40B4-BE49-F238E27FC236}">
                <a16:creationId xmlns:a16="http://schemas.microsoft.com/office/drawing/2014/main" id="{0D25018E-721C-4460-AFD8-2E9873FCA7E1}"/>
              </a:ext>
            </a:extLst>
          </p:cNvPr>
          <p:cNvSpPr/>
          <p:nvPr/>
        </p:nvSpPr>
        <p:spPr>
          <a:xfrm>
            <a:off x="9732433"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24-1620">
            <a:extLst>
              <a:ext uri="{FF2B5EF4-FFF2-40B4-BE49-F238E27FC236}">
                <a16:creationId xmlns:a16="http://schemas.microsoft.com/office/drawing/2014/main" id="{8D0487A8-31D3-4052-BADE-50E2F2F64270}"/>
              </a:ext>
            </a:extLst>
          </p:cNvPr>
          <p:cNvSpPr txBox="1"/>
          <p:nvPr/>
        </p:nvSpPr>
        <p:spPr bwMode="auto">
          <a:xfrm>
            <a:off x="9757833"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3</a:t>
            </a:r>
          </a:p>
        </p:txBody>
      </p:sp>
      <p:sp>
        <p:nvSpPr>
          <p:cNvPr id="29" name="box-25-1621">
            <a:extLst>
              <a:ext uri="{FF2B5EF4-FFF2-40B4-BE49-F238E27FC236}">
                <a16:creationId xmlns:a16="http://schemas.microsoft.com/office/drawing/2014/main" id="{F524F6A9-6411-453A-9021-D3DEF5650B28}"/>
              </a:ext>
            </a:extLst>
          </p:cNvPr>
          <p:cNvSpPr/>
          <p:nvPr/>
        </p:nvSpPr>
        <p:spPr>
          <a:xfrm>
            <a:off x="10172700"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26-1622">
            <a:extLst>
              <a:ext uri="{FF2B5EF4-FFF2-40B4-BE49-F238E27FC236}">
                <a16:creationId xmlns:a16="http://schemas.microsoft.com/office/drawing/2014/main" id="{246A425B-4A3D-452A-B427-D193813D3D01}"/>
              </a:ext>
            </a:extLst>
          </p:cNvPr>
          <p:cNvSpPr txBox="1"/>
          <p:nvPr/>
        </p:nvSpPr>
        <p:spPr bwMode="auto">
          <a:xfrm>
            <a:off x="10198100"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4</a:t>
            </a:r>
          </a:p>
        </p:txBody>
      </p:sp>
      <p:sp>
        <p:nvSpPr>
          <p:cNvPr id="31" name="box-27-1623">
            <a:extLst>
              <a:ext uri="{FF2B5EF4-FFF2-40B4-BE49-F238E27FC236}">
                <a16:creationId xmlns:a16="http://schemas.microsoft.com/office/drawing/2014/main" id="{A8DA232A-7360-468D-9B6F-B03E46874890}"/>
              </a:ext>
            </a:extLst>
          </p:cNvPr>
          <p:cNvSpPr/>
          <p:nvPr/>
        </p:nvSpPr>
        <p:spPr>
          <a:xfrm>
            <a:off x="10612967"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28-1624">
            <a:extLst>
              <a:ext uri="{FF2B5EF4-FFF2-40B4-BE49-F238E27FC236}">
                <a16:creationId xmlns:a16="http://schemas.microsoft.com/office/drawing/2014/main" id="{83E346FC-B404-4268-9CB3-124C50800521}"/>
              </a:ext>
            </a:extLst>
          </p:cNvPr>
          <p:cNvSpPr txBox="1"/>
          <p:nvPr/>
        </p:nvSpPr>
        <p:spPr bwMode="auto">
          <a:xfrm>
            <a:off x="10638367"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5</a:t>
            </a:r>
          </a:p>
        </p:txBody>
      </p:sp>
      <p:sp>
        <p:nvSpPr>
          <p:cNvPr id="33" name="box-29-1625">
            <a:extLst>
              <a:ext uri="{FF2B5EF4-FFF2-40B4-BE49-F238E27FC236}">
                <a16:creationId xmlns:a16="http://schemas.microsoft.com/office/drawing/2014/main" id="{F9C8AAEC-E83A-47ED-B8CE-416628D28F55}"/>
              </a:ext>
            </a:extLst>
          </p:cNvPr>
          <p:cNvSpPr/>
          <p:nvPr/>
        </p:nvSpPr>
        <p:spPr>
          <a:xfrm>
            <a:off x="11053233"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30-1626">
            <a:extLst>
              <a:ext uri="{FF2B5EF4-FFF2-40B4-BE49-F238E27FC236}">
                <a16:creationId xmlns:a16="http://schemas.microsoft.com/office/drawing/2014/main" id="{168B7765-5387-4AE3-976A-6ADD8B0ED93D}"/>
              </a:ext>
            </a:extLst>
          </p:cNvPr>
          <p:cNvSpPr txBox="1"/>
          <p:nvPr/>
        </p:nvSpPr>
        <p:spPr bwMode="auto">
          <a:xfrm>
            <a:off x="11078633"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6</a:t>
            </a:r>
          </a:p>
        </p:txBody>
      </p:sp>
      <p:sp>
        <p:nvSpPr>
          <p:cNvPr id="35" name="box-31-1627">
            <a:extLst>
              <a:ext uri="{FF2B5EF4-FFF2-40B4-BE49-F238E27FC236}">
                <a16:creationId xmlns:a16="http://schemas.microsoft.com/office/drawing/2014/main" id="{E69A0962-D0C7-4B87-956C-E2FEDC1B769D}"/>
              </a:ext>
            </a:extLst>
          </p:cNvPr>
          <p:cNvSpPr/>
          <p:nvPr/>
        </p:nvSpPr>
        <p:spPr>
          <a:xfrm>
            <a:off x="8153400" y="3238500"/>
            <a:ext cx="698500"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text-32-1628">
            <a:extLst>
              <a:ext uri="{FF2B5EF4-FFF2-40B4-BE49-F238E27FC236}">
                <a16:creationId xmlns:a16="http://schemas.microsoft.com/office/drawing/2014/main" id="{432D73FF-CBD2-460E-BC9A-34E441E45E94}"/>
              </a:ext>
            </a:extLst>
          </p:cNvPr>
          <p:cNvSpPr txBox="1"/>
          <p:nvPr/>
        </p:nvSpPr>
        <p:spPr bwMode="auto">
          <a:xfrm>
            <a:off x="8178800" y="3261211"/>
            <a:ext cx="647700" cy="359073"/>
          </a:xfrm>
          <a:prstGeom prst="rect">
            <a:avLst/>
          </a:prstGeom>
        </p:spPr>
        <p:txBody>
          <a:bodyPr vert="horz" wrap="square" lIns="38100" tIns="25400" rIns="38100" bIns="25400" rtlCol="0" anchor="ctr">
            <a:spAutoFit/>
          </a:bodyPr>
          <a:lstStyle/>
          <a:p>
            <a:pPr algn="ctr"/>
            <a:r>
              <a:rPr lang="en-US" sz="2000">
                <a:solidFill>
                  <a:srgbClr val="352379"/>
                </a:solidFill>
                <a:latin typeface="Montserrat"/>
              </a:rPr>
              <a:t>tin</a:t>
            </a:r>
            <a:endParaRPr lang="ru-RU" sz="2000">
              <a:solidFill>
                <a:srgbClr val="352379"/>
              </a:solidFill>
              <a:latin typeface="Montserrat"/>
            </a:endParaRPr>
          </a:p>
        </p:txBody>
      </p:sp>
      <p:sp>
        <p:nvSpPr>
          <p:cNvPr id="37" name="box-33-1629">
            <a:extLst>
              <a:ext uri="{FF2B5EF4-FFF2-40B4-BE49-F238E27FC236}">
                <a16:creationId xmlns:a16="http://schemas.microsoft.com/office/drawing/2014/main" id="{C3E360B9-4911-4ADA-819E-063CFC45201D}"/>
              </a:ext>
            </a:extLst>
          </p:cNvPr>
          <p:cNvSpPr/>
          <p:nvPr/>
        </p:nvSpPr>
        <p:spPr>
          <a:xfrm>
            <a:off x="8851900"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ext-34-1630">
            <a:extLst>
              <a:ext uri="{FF2B5EF4-FFF2-40B4-BE49-F238E27FC236}">
                <a16:creationId xmlns:a16="http://schemas.microsoft.com/office/drawing/2014/main" id="{9B021880-CB74-4029-BBB8-5EB022892995}"/>
              </a:ext>
            </a:extLst>
          </p:cNvPr>
          <p:cNvSpPr txBox="1"/>
          <p:nvPr/>
        </p:nvSpPr>
        <p:spPr bwMode="auto">
          <a:xfrm>
            <a:off x="8877300"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0</a:t>
            </a:r>
          </a:p>
        </p:txBody>
      </p:sp>
      <p:sp>
        <p:nvSpPr>
          <p:cNvPr id="39" name="box-35-1631">
            <a:extLst>
              <a:ext uri="{FF2B5EF4-FFF2-40B4-BE49-F238E27FC236}">
                <a16:creationId xmlns:a16="http://schemas.microsoft.com/office/drawing/2014/main" id="{5702F60D-8D06-47E5-A8B9-FB85C72EEA9B}"/>
              </a:ext>
            </a:extLst>
          </p:cNvPr>
          <p:cNvSpPr/>
          <p:nvPr/>
        </p:nvSpPr>
        <p:spPr>
          <a:xfrm>
            <a:off x="9292167"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36-1632">
            <a:extLst>
              <a:ext uri="{FF2B5EF4-FFF2-40B4-BE49-F238E27FC236}">
                <a16:creationId xmlns:a16="http://schemas.microsoft.com/office/drawing/2014/main" id="{990FF7A2-85D6-4611-906E-B68C80A1C9A6}"/>
              </a:ext>
            </a:extLst>
          </p:cNvPr>
          <p:cNvSpPr txBox="1"/>
          <p:nvPr/>
        </p:nvSpPr>
        <p:spPr bwMode="auto">
          <a:xfrm>
            <a:off x="9317567"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1</a:t>
            </a:r>
          </a:p>
        </p:txBody>
      </p:sp>
      <p:sp>
        <p:nvSpPr>
          <p:cNvPr id="41" name="box-37-1633">
            <a:extLst>
              <a:ext uri="{FF2B5EF4-FFF2-40B4-BE49-F238E27FC236}">
                <a16:creationId xmlns:a16="http://schemas.microsoft.com/office/drawing/2014/main" id="{F492E5B3-842E-4A74-A959-B392621FA057}"/>
              </a:ext>
            </a:extLst>
          </p:cNvPr>
          <p:cNvSpPr/>
          <p:nvPr/>
        </p:nvSpPr>
        <p:spPr>
          <a:xfrm>
            <a:off x="9732433"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text-38-1634">
            <a:extLst>
              <a:ext uri="{FF2B5EF4-FFF2-40B4-BE49-F238E27FC236}">
                <a16:creationId xmlns:a16="http://schemas.microsoft.com/office/drawing/2014/main" id="{7A2B3CBA-A9E3-40BD-BC2A-E14B8871A1BD}"/>
              </a:ext>
            </a:extLst>
          </p:cNvPr>
          <p:cNvSpPr txBox="1"/>
          <p:nvPr/>
        </p:nvSpPr>
        <p:spPr bwMode="auto">
          <a:xfrm>
            <a:off x="9757833"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2</a:t>
            </a:r>
          </a:p>
        </p:txBody>
      </p:sp>
      <p:sp>
        <p:nvSpPr>
          <p:cNvPr id="43" name="box-39-1635">
            <a:extLst>
              <a:ext uri="{FF2B5EF4-FFF2-40B4-BE49-F238E27FC236}">
                <a16:creationId xmlns:a16="http://schemas.microsoft.com/office/drawing/2014/main" id="{16F3DDFA-07D3-4941-A96E-BB2D17122D32}"/>
              </a:ext>
            </a:extLst>
          </p:cNvPr>
          <p:cNvSpPr/>
          <p:nvPr/>
        </p:nvSpPr>
        <p:spPr>
          <a:xfrm>
            <a:off x="10172700"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text-40-1636">
            <a:extLst>
              <a:ext uri="{FF2B5EF4-FFF2-40B4-BE49-F238E27FC236}">
                <a16:creationId xmlns:a16="http://schemas.microsoft.com/office/drawing/2014/main" id="{EB947EBA-79AF-43D9-B013-6B81FEF78F2E}"/>
              </a:ext>
            </a:extLst>
          </p:cNvPr>
          <p:cNvSpPr txBox="1"/>
          <p:nvPr/>
        </p:nvSpPr>
        <p:spPr bwMode="auto">
          <a:xfrm>
            <a:off x="10198100"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45" name="box-41-1637">
            <a:extLst>
              <a:ext uri="{FF2B5EF4-FFF2-40B4-BE49-F238E27FC236}">
                <a16:creationId xmlns:a16="http://schemas.microsoft.com/office/drawing/2014/main" id="{7616984D-0DE1-43AF-8222-D1A7C5AD3A47}"/>
              </a:ext>
            </a:extLst>
          </p:cNvPr>
          <p:cNvSpPr/>
          <p:nvPr/>
        </p:nvSpPr>
        <p:spPr>
          <a:xfrm>
            <a:off x="10612967"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42-1638">
            <a:extLst>
              <a:ext uri="{FF2B5EF4-FFF2-40B4-BE49-F238E27FC236}">
                <a16:creationId xmlns:a16="http://schemas.microsoft.com/office/drawing/2014/main" id="{A1897490-6BA5-4921-B073-1969B8C8DA73}"/>
              </a:ext>
            </a:extLst>
          </p:cNvPr>
          <p:cNvSpPr txBox="1"/>
          <p:nvPr/>
        </p:nvSpPr>
        <p:spPr bwMode="auto">
          <a:xfrm>
            <a:off x="10638367"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sp>
        <p:nvSpPr>
          <p:cNvPr id="47" name="box-43-1639">
            <a:extLst>
              <a:ext uri="{FF2B5EF4-FFF2-40B4-BE49-F238E27FC236}">
                <a16:creationId xmlns:a16="http://schemas.microsoft.com/office/drawing/2014/main" id="{B3D45FB6-6B63-40A5-A6AD-980733BEDCC3}"/>
              </a:ext>
            </a:extLst>
          </p:cNvPr>
          <p:cNvSpPr/>
          <p:nvPr/>
        </p:nvSpPr>
        <p:spPr>
          <a:xfrm>
            <a:off x="11053233"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text-44-1640">
            <a:extLst>
              <a:ext uri="{FF2B5EF4-FFF2-40B4-BE49-F238E27FC236}">
                <a16:creationId xmlns:a16="http://schemas.microsoft.com/office/drawing/2014/main" id="{A13F5154-6F96-403C-B40A-0FD85A2CECF7}"/>
              </a:ext>
            </a:extLst>
          </p:cNvPr>
          <p:cNvSpPr txBox="1"/>
          <p:nvPr/>
        </p:nvSpPr>
        <p:spPr bwMode="auto">
          <a:xfrm>
            <a:off x="11078633"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sp>
        <p:nvSpPr>
          <p:cNvPr id="49" name="box-45-1641">
            <a:extLst>
              <a:ext uri="{FF2B5EF4-FFF2-40B4-BE49-F238E27FC236}">
                <a16:creationId xmlns:a16="http://schemas.microsoft.com/office/drawing/2014/main" id="{C65D3BA2-3898-4E1E-B824-C464BCE45C07}"/>
              </a:ext>
            </a:extLst>
          </p:cNvPr>
          <p:cNvSpPr/>
          <p:nvPr/>
        </p:nvSpPr>
        <p:spPr>
          <a:xfrm>
            <a:off x="8153400" y="3822700"/>
            <a:ext cx="698500"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text-46-1642">
            <a:extLst>
              <a:ext uri="{FF2B5EF4-FFF2-40B4-BE49-F238E27FC236}">
                <a16:creationId xmlns:a16="http://schemas.microsoft.com/office/drawing/2014/main" id="{2D4F52A7-E039-47D7-BFE7-FC6249E8616F}"/>
              </a:ext>
            </a:extLst>
          </p:cNvPr>
          <p:cNvSpPr txBox="1"/>
          <p:nvPr/>
        </p:nvSpPr>
        <p:spPr bwMode="auto">
          <a:xfrm>
            <a:off x="8178800" y="3845411"/>
            <a:ext cx="647700" cy="359073"/>
          </a:xfrm>
          <a:prstGeom prst="rect">
            <a:avLst/>
          </a:prstGeom>
        </p:spPr>
        <p:txBody>
          <a:bodyPr vert="horz" wrap="square" lIns="38100" tIns="25400" rIns="38100" bIns="25400" rtlCol="0" anchor="ctr">
            <a:spAutoFit/>
          </a:bodyPr>
          <a:lstStyle/>
          <a:p>
            <a:pPr algn="ctr"/>
            <a:r>
              <a:rPr lang="en-US" sz="2000">
                <a:solidFill>
                  <a:srgbClr val="352379"/>
                </a:solidFill>
                <a:latin typeface="Montserrat"/>
              </a:rPr>
              <a:t>low</a:t>
            </a:r>
            <a:endParaRPr lang="ru-RU" sz="2000">
              <a:solidFill>
                <a:srgbClr val="352379"/>
              </a:solidFill>
              <a:latin typeface="Montserrat"/>
            </a:endParaRPr>
          </a:p>
        </p:txBody>
      </p:sp>
      <p:sp>
        <p:nvSpPr>
          <p:cNvPr id="51" name="box-47-1643">
            <a:extLst>
              <a:ext uri="{FF2B5EF4-FFF2-40B4-BE49-F238E27FC236}">
                <a16:creationId xmlns:a16="http://schemas.microsoft.com/office/drawing/2014/main" id="{34F2FD64-FB52-4892-9344-F5155C0D92CF}"/>
              </a:ext>
            </a:extLst>
          </p:cNvPr>
          <p:cNvSpPr/>
          <p:nvPr/>
        </p:nvSpPr>
        <p:spPr>
          <a:xfrm>
            <a:off x="8851900"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text-48-1644">
            <a:extLst>
              <a:ext uri="{FF2B5EF4-FFF2-40B4-BE49-F238E27FC236}">
                <a16:creationId xmlns:a16="http://schemas.microsoft.com/office/drawing/2014/main" id="{359A1858-04BE-4248-BB6B-F0A358CAD9E2}"/>
              </a:ext>
            </a:extLst>
          </p:cNvPr>
          <p:cNvSpPr txBox="1"/>
          <p:nvPr/>
        </p:nvSpPr>
        <p:spPr bwMode="auto">
          <a:xfrm>
            <a:off x="8877300"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0</a:t>
            </a:r>
          </a:p>
        </p:txBody>
      </p:sp>
      <p:sp>
        <p:nvSpPr>
          <p:cNvPr id="53" name="box-49-1645">
            <a:extLst>
              <a:ext uri="{FF2B5EF4-FFF2-40B4-BE49-F238E27FC236}">
                <a16:creationId xmlns:a16="http://schemas.microsoft.com/office/drawing/2014/main" id="{EA95EC6C-F31D-48A7-9101-C526D2179C0F}"/>
              </a:ext>
            </a:extLst>
          </p:cNvPr>
          <p:cNvSpPr/>
          <p:nvPr/>
        </p:nvSpPr>
        <p:spPr>
          <a:xfrm>
            <a:off x="9292167"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text-50-1646">
            <a:extLst>
              <a:ext uri="{FF2B5EF4-FFF2-40B4-BE49-F238E27FC236}">
                <a16:creationId xmlns:a16="http://schemas.microsoft.com/office/drawing/2014/main" id="{60A4E9D9-5523-4287-A9A7-FA65765001D4}"/>
              </a:ext>
            </a:extLst>
          </p:cNvPr>
          <p:cNvSpPr txBox="1"/>
          <p:nvPr/>
        </p:nvSpPr>
        <p:spPr bwMode="auto">
          <a:xfrm>
            <a:off x="9317567"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1</a:t>
            </a:r>
          </a:p>
        </p:txBody>
      </p:sp>
      <p:sp>
        <p:nvSpPr>
          <p:cNvPr id="55" name="box-51-1647">
            <a:extLst>
              <a:ext uri="{FF2B5EF4-FFF2-40B4-BE49-F238E27FC236}">
                <a16:creationId xmlns:a16="http://schemas.microsoft.com/office/drawing/2014/main" id="{ABA5AC54-7268-4E7F-99B6-E0001413BCB7}"/>
              </a:ext>
            </a:extLst>
          </p:cNvPr>
          <p:cNvSpPr/>
          <p:nvPr/>
        </p:nvSpPr>
        <p:spPr>
          <a:xfrm>
            <a:off x="9732433"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52-1648">
            <a:extLst>
              <a:ext uri="{FF2B5EF4-FFF2-40B4-BE49-F238E27FC236}">
                <a16:creationId xmlns:a16="http://schemas.microsoft.com/office/drawing/2014/main" id="{1F4DAF8C-1FFE-4CB0-8763-15C3DAE69518}"/>
              </a:ext>
            </a:extLst>
          </p:cNvPr>
          <p:cNvSpPr txBox="1"/>
          <p:nvPr/>
        </p:nvSpPr>
        <p:spPr bwMode="auto">
          <a:xfrm>
            <a:off x="9757833"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2</a:t>
            </a:r>
          </a:p>
        </p:txBody>
      </p:sp>
      <p:sp>
        <p:nvSpPr>
          <p:cNvPr id="57" name="box-53-1649">
            <a:extLst>
              <a:ext uri="{FF2B5EF4-FFF2-40B4-BE49-F238E27FC236}">
                <a16:creationId xmlns:a16="http://schemas.microsoft.com/office/drawing/2014/main" id="{A09F40A3-F43F-4E65-B121-5430229AFCB1}"/>
              </a:ext>
            </a:extLst>
          </p:cNvPr>
          <p:cNvSpPr/>
          <p:nvPr/>
        </p:nvSpPr>
        <p:spPr>
          <a:xfrm>
            <a:off x="10172700"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text-54-1650">
            <a:extLst>
              <a:ext uri="{FF2B5EF4-FFF2-40B4-BE49-F238E27FC236}">
                <a16:creationId xmlns:a16="http://schemas.microsoft.com/office/drawing/2014/main" id="{60A8EF5A-4855-4A4A-AE09-7BF2B7436FA5}"/>
              </a:ext>
            </a:extLst>
          </p:cNvPr>
          <p:cNvSpPr txBox="1"/>
          <p:nvPr/>
        </p:nvSpPr>
        <p:spPr bwMode="auto">
          <a:xfrm>
            <a:off x="10198100"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59" name="box-55-1651">
            <a:extLst>
              <a:ext uri="{FF2B5EF4-FFF2-40B4-BE49-F238E27FC236}">
                <a16:creationId xmlns:a16="http://schemas.microsoft.com/office/drawing/2014/main" id="{36495519-C3E2-43E3-8AC4-31845C158137}"/>
              </a:ext>
            </a:extLst>
          </p:cNvPr>
          <p:cNvSpPr/>
          <p:nvPr/>
        </p:nvSpPr>
        <p:spPr>
          <a:xfrm>
            <a:off x="10612967"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text-56-1652">
            <a:extLst>
              <a:ext uri="{FF2B5EF4-FFF2-40B4-BE49-F238E27FC236}">
                <a16:creationId xmlns:a16="http://schemas.microsoft.com/office/drawing/2014/main" id="{1B9ACD86-E835-4BD3-ADD2-DAF23F42180E}"/>
              </a:ext>
            </a:extLst>
          </p:cNvPr>
          <p:cNvSpPr txBox="1"/>
          <p:nvPr/>
        </p:nvSpPr>
        <p:spPr bwMode="auto">
          <a:xfrm>
            <a:off x="10638367"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sp>
        <p:nvSpPr>
          <p:cNvPr id="61" name="box-57-1653">
            <a:extLst>
              <a:ext uri="{FF2B5EF4-FFF2-40B4-BE49-F238E27FC236}">
                <a16:creationId xmlns:a16="http://schemas.microsoft.com/office/drawing/2014/main" id="{EAA337F4-A943-4E13-9E7E-B2F1FE54B4E0}"/>
              </a:ext>
            </a:extLst>
          </p:cNvPr>
          <p:cNvSpPr/>
          <p:nvPr/>
        </p:nvSpPr>
        <p:spPr>
          <a:xfrm>
            <a:off x="11053233"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text-58-1654">
            <a:extLst>
              <a:ext uri="{FF2B5EF4-FFF2-40B4-BE49-F238E27FC236}">
                <a16:creationId xmlns:a16="http://schemas.microsoft.com/office/drawing/2014/main" id="{0CA6B651-E124-4E08-8F5B-EF5DDA8E1F51}"/>
              </a:ext>
            </a:extLst>
          </p:cNvPr>
          <p:cNvSpPr txBox="1"/>
          <p:nvPr/>
        </p:nvSpPr>
        <p:spPr bwMode="auto">
          <a:xfrm>
            <a:off x="11078633"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grpSp>
        <p:nvGrpSpPr>
          <p:cNvPr id="74" name="animation-stage-1">
            <a:extLst>
              <a:ext uri="{FF2B5EF4-FFF2-40B4-BE49-F238E27FC236}">
                <a16:creationId xmlns:a16="http://schemas.microsoft.com/office/drawing/2014/main" id="{C77B12C0-E4AF-491F-8CA4-DA2F6F2AA746}"/>
              </a:ext>
            </a:extLst>
          </p:cNvPr>
          <p:cNvGrpSpPr/>
          <p:nvPr/>
        </p:nvGrpSpPr>
        <p:grpSpPr>
          <a:xfrm>
            <a:off x="698500" y="1816100"/>
            <a:ext cx="11010900" cy="3657600"/>
            <a:chOff x="698500" y="1816100"/>
            <a:chExt cx="11010900" cy="3657600"/>
          </a:xfrm>
        </p:grpSpPr>
        <p:cxnSp>
          <p:nvCxnSpPr>
            <p:cNvPr id="63" name="active-edge-3-1-1655">
              <a:extLst>
                <a:ext uri="{FF2B5EF4-FFF2-40B4-BE49-F238E27FC236}">
                  <a16:creationId xmlns:a16="http://schemas.microsoft.com/office/drawing/2014/main" id="{FB5D7CFE-4B9E-4437-89A9-7DFE21791840}"/>
                </a:ext>
              </a:extLst>
            </p:cNvPr>
            <p:cNvCxnSpPr/>
            <p:nvPr/>
          </p:nvCxnSpPr>
          <p:spPr>
            <a:xfrm flipH="1" flipV="1">
              <a:off x="1397096" y="2563626"/>
              <a:ext cx="1561908" cy="841748"/>
            </a:xfrm>
            <a:prstGeom prst="straightConnector1">
              <a:avLst/>
            </a:prstGeom>
            <a:ln w="38100">
              <a:solidFill>
                <a:srgbClr val="762181"/>
              </a:solidFill>
            </a:ln>
          </p:spPr>
          <p:style>
            <a:lnRef idx="1">
              <a:schemeClr val="accent1"/>
            </a:lnRef>
            <a:fillRef idx="0">
              <a:schemeClr val="accent1"/>
            </a:fillRef>
            <a:effectRef idx="0">
              <a:schemeClr val="accent1"/>
            </a:effectRef>
            <a:fontRef idx="minor">
              <a:schemeClr val="tx1"/>
            </a:fontRef>
          </p:style>
        </p:cxnSp>
        <p:sp>
          <p:nvSpPr>
            <p:cNvPr id="64" name="active-node-1-1656">
              <a:extLst>
                <a:ext uri="{FF2B5EF4-FFF2-40B4-BE49-F238E27FC236}">
                  <a16:creationId xmlns:a16="http://schemas.microsoft.com/office/drawing/2014/main" id="{4308207C-E5EB-4E90-9A9F-B9D122EC808D}"/>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65" name="active-node-2-1657">
              <a:extLst>
                <a:ext uri="{FF2B5EF4-FFF2-40B4-BE49-F238E27FC236}">
                  <a16:creationId xmlns:a16="http://schemas.microsoft.com/office/drawing/2014/main" id="{B2CFBE9B-20D4-42F7-AEA7-261F7BF4A209}"/>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66" name="active-node-3-1658">
              <a:extLst>
                <a:ext uri="{FF2B5EF4-FFF2-40B4-BE49-F238E27FC236}">
                  <a16:creationId xmlns:a16="http://schemas.microsoft.com/office/drawing/2014/main" id="{CFE5DC0C-19FF-4AD8-A966-D67D85F67C12}"/>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67" name="active-node-4-1659">
              <a:extLst>
                <a:ext uri="{FF2B5EF4-FFF2-40B4-BE49-F238E27FC236}">
                  <a16:creationId xmlns:a16="http://schemas.microsoft.com/office/drawing/2014/main" id="{0664B550-155E-468D-A486-2E3AFC923848}"/>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68" name="active-node-5-1660">
              <a:extLst>
                <a:ext uri="{FF2B5EF4-FFF2-40B4-BE49-F238E27FC236}">
                  <a16:creationId xmlns:a16="http://schemas.microsoft.com/office/drawing/2014/main" id="{1412665F-CC8D-46E8-8A04-B93823FF5B27}"/>
                </a:ext>
              </a:extLst>
            </p:cNvPr>
            <p:cNvSpPr/>
            <p:nvPr/>
          </p:nvSpPr>
          <p:spPr>
            <a:xfrm>
              <a:off x="68580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69" name="active-node-6-1661">
              <a:extLst>
                <a:ext uri="{FF2B5EF4-FFF2-40B4-BE49-F238E27FC236}">
                  <a16:creationId xmlns:a16="http://schemas.microsoft.com/office/drawing/2014/main" id="{062D4503-1E69-4DC2-9D3C-F779DC8968B2}"/>
                </a:ext>
              </a:extLst>
            </p:cNvPr>
            <p:cNvSpPr/>
            <p:nvPr/>
          </p:nvSpPr>
          <p:spPr>
            <a:xfrm>
              <a:off x="69850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70" name="box-7-1662">
              <a:extLst>
                <a:ext uri="{FF2B5EF4-FFF2-40B4-BE49-F238E27FC236}">
                  <a16:creationId xmlns:a16="http://schemas.microsoft.com/office/drawing/2014/main" id="{8D56C935-F27B-4A4B-A93E-BA27381900BB}"/>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1" name="box-8-1663">
              <a:extLst>
                <a:ext uri="{FF2B5EF4-FFF2-40B4-BE49-F238E27FC236}">
                  <a16:creationId xmlns:a16="http://schemas.microsoft.com/office/drawing/2014/main" id="{2550A4E9-9B8F-427E-B30A-95D590C138CD}"/>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text-9-1664">
              <a:extLst>
                <a:ext uri="{FF2B5EF4-FFF2-40B4-BE49-F238E27FC236}">
                  <a16:creationId xmlns:a16="http://schemas.microsoft.com/office/drawing/2014/main" id="{D6390ADD-8FFD-4BFB-9E25-F5A890149C7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Цикл слева</a:t>
              </a:r>
            </a:p>
          </p:txBody>
        </p:sp>
        <p:sp>
          <p:nvSpPr>
            <p:cNvPr id="73" name="text-10-1665">
              <a:extLst>
                <a:ext uri="{FF2B5EF4-FFF2-40B4-BE49-F238E27FC236}">
                  <a16:creationId xmlns:a16="http://schemas.microsoft.com/office/drawing/2014/main" id="{24916AE7-E472-4824-A232-5F8A97A24B39}"/>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Обратное: 3 → 1</a:t>
              </a:r>
            </a:p>
            <a:p>
              <a:endParaRPr lang="ru-RU" sz="2100">
                <a:solidFill>
                  <a:srgbClr val="352379"/>
                </a:solidFill>
                <a:latin typeface="Montserrat"/>
              </a:endParaRPr>
            </a:p>
            <a:p>
              <a:r>
                <a:rPr lang="en-US" sz="2100">
                  <a:solidFill>
                    <a:srgbClr val="352379"/>
                  </a:solidFill>
                  <a:latin typeface="Montserrat"/>
                </a:rPr>
                <a:t>low[3] = 0</a:t>
              </a:r>
            </a:p>
            <a:p>
              <a:r>
                <a:rPr lang="en-US" sz="2100">
                  <a:solidFill>
                    <a:srgbClr val="352379"/>
                  </a:solidFill>
                  <a:latin typeface="Montserrat"/>
                </a:rPr>
                <a:t>low[2] = 0</a:t>
              </a:r>
              <a:endParaRPr lang="ru-RU" sz="2100">
                <a:solidFill>
                  <a:srgbClr val="352379"/>
                </a:solidFill>
                <a:latin typeface="Montserrat"/>
              </a:endParaRPr>
            </a:p>
          </p:txBody>
        </p:sp>
      </p:grpSp>
      <p:grpSp>
        <p:nvGrpSpPr>
          <p:cNvPr id="87" name="animation-stage-2">
            <a:extLst>
              <a:ext uri="{FF2B5EF4-FFF2-40B4-BE49-F238E27FC236}">
                <a16:creationId xmlns:a16="http://schemas.microsoft.com/office/drawing/2014/main" id="{3CB9C5CC-738D-45FC-84FE-782EACBD89C4}"/>
              </a:ext>
            </a:extLst>
          </p:cNvPr>
          <p:cNvGrpSpPr/>
          <p:nvPr/>
        </p:nvGrpSpPr>
        <p:grpSpPr>
          <a:xfrm>
            <a:off x="698500" y="1816100"/>
            <a:ext cx="11010900" cy="3657600"/>
            <a:chOff x="698500" y="1816100"/>
            <a:chExt cx="11010900" cy="3657600"/>
          </a:xfrm>
        </p:grpSpPr>
        <p:cxnSp>
          <p:nvCxnSpPr>
            <p:cNvPr id="75" name="active-edge-3-1-1666">
              <a:extLst>
                <a:ext uri="{FF2B5EF4-FFF2-40B4-BE49-F238E27FC236}">
                  <a16:creationId xmlns:a16="http://schemas.microsoft.com/office/drawing/2014/main" id="{F4D8F993-BF05-4710-BB3B-E647E19D064F}"/>
                </a:ext>
              </a:extLst>
            </p:cNvPr>
            <p:cNvCxnSpPr/>
            <p:nvPr/>
          </p:nvCxnSpPr>
          <p:spPr>
            <a:xfrm flipH="1" flipV="1">
              <a:off x="1397096" y="2563626"/>
              <a:ext cx="1561908" cy="841748"/>
            </a:xfrm>
            <a:prstGeom prst="straightConnector1">
              <a:avLst/>
            </a:prstGeom>
            <a:ln w="38100">
              <a:solidFill>
                <a:srgbClr val="762181"/>
              </a:solidFill>
            </a:ln>
          </p:spPr>
          <p:style>
            <a:lnRef idx="1">
              <a:schemeClr val="accent1"/>
            </a:lnRef>
            <a:fillRef idx="0">
              <a:schemeClr val="accent1"/>
            </a:fillRef>
            <a:effectRef idx="0">
              <a:schemeClr val="accent1"/>
            </a:effectRef>
            <a:fontRef idx="minor">
              <a:schemeClr val="tx1"/>
            </a:fontRef>
          </p:style>
        </p:cxnSp>
        <p:cxnSp>
          <p:nvCxnSpPr>
            <p:cNvPr id="76" name="active-edge-6-4-1667">
              <a:extLst>
                <a:ext uri="{FF2B5EF4-FFF2-40B4-BE49-F238E27FC236}">
                  <a16:creationId xmlns:a16="http://schemas.microsoft.com/office/drawing/2014/main" id="{47D45EE1-0C71-4563-B0A7-FF339AECDBDC}"/>
                </a:ext>
              </a:extLst>
            </p:cNvPr>
            <p:cNvCxnSpPr/>
            <p:nvPr/>
          </p:nvCxnSpPr>
          <p:spPr>
            <a:xfrm flipH="1" flipV="1">
              <a:off x="5612388" y="3708664"/>
              <a:ext cx="1411724" cy="774172"/>
            </a:xfrm>
            <a:prstGeom prst="straightConnector1">
              <a:avLst/>
            </a:prstGeom>
            <a:ln w="38100">
              <a:solidFill>
                <a:srgbClr val="762181"/>
              </a:solidFill>
            </a:ln>
          </p:spPr>
          <p:style>
            <a:lnRef idx="1">
              <a:schemeClr val="accent1"/>
            </a:lnRef>
            <a:fillRef idx="0">
              <a:schemeClr val="accent1"/>
            </a:fillRef>
            <a:effectRef idx="0">
              <a:schemeClr val="accent1"/>
            </a:effectRef>
            <a:fontRef idx="minor">
              <a:schemeClr val="tx1"/>
            </a:fontRef>
          </p:style>
        </p:cxnSp>
        <p:sp>
          <p:nvSpPr>
            <p:cNvPr id="77" name="active-node-1-1668">
              <a:extLst>
                <a:ext uri="{FF2B5EF4-FFF2-40B4-BE49-F238E27FC236}">
                  <a16:creationId xmlns:a16="http://schemas.microsoft.com/office/drawing/2014/main" id="{56AFEE43-1575-452D-974D-9AC345CB1FF4}"/>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78" name="active-node-2-1669">
              <a:extLst>
                <a:ext uri="{FF2B5EF4-FFF2-40B4-BE49-F238E27FC236}">
                  <a16:creationId xmlns:a16="http://schemas.microsoft.com/office/drawing/2014/main" id="{0BD6EC65-E1E1-43E8-AB7C-137FFB517C8F}"/>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79" name="active-node-3-1670">
              <a:extLst>
                <a:ext uri="{FF2B5EF4-FFF2-40B4-BE49-F238E27FC236}">
                  <a16:creationId xmlns:a16="http://schemas.microsoft.com/office/drawing/2014/main" id="{738AC90E-0765-4F0E-AFB9-1A631B4411DA}"/>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80" name="active-node-4-1671">
              <a:extLst>
                <a:ext uri="{FF2B5EF4-FFF2-40B4-BE49-F238E27FC236}">
                  <a16:creationId xmlns:a16="http://schemas.microsoft.com/office/drawing/2014/main" id="{B1EEBCCC-512C-485D-992D-6A63557E315A}"/>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81" name="active-node-5-1672">
              <a:extLst>
                <a:ext uri="{FF2B5EF4-FFF2-40B4-BE49-F238E27FC236}">
                  <a16:creationId xmlns:a16="http://schemas.microsoft.com/office/drawing/2014/main" id="{2008749C-A316-4DC3-97D9-90A43FC6FDDB}"/>
                </a:ext>
              </a:extLst>
            </p:cNvPr>
            <p:cNvSpPr/>
            <p:nvPr/>
          </p:nvSpPr>
          <p:spPr>
            <a:xfrm>
              <a:off x="68580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82" name="active-node-6-1673">
              <a:extLst>
                <a:ext uri="{FF2B5EF4-FFF2-40B4-BE49-F238E27FC236}">
                  <a16:creationId xmlns:a16="http://schemas.microsoft.com/office/drawing/2014/main" id="{A5153BB7-275B-4BE2-8B2D-E2ECD32601F4}"/>
                </a:ext>
              </a:extLst>
            </p:cNvPr>
            <p:cNvSpPr/>
            <p:nvPr/>
          </p:nvSpPr>
          <p:spPr>
            <a:xfrm>
              <a:off x="69850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83" name="box-8-1674">
              <a:extLst>
                <a:ext uri="{FF2B5EF4-FFF2-40B4-BE49-F238E27FC236}">
                  <a16:creationId xmlns:a16="http://schemas.microsoft.com/office/drawing/2014/main" id="{98449956-E9CF-4717-81C3-13B36803A978}"/>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box-9-1675">
              <a:extLst>
                <a:ext uri="{FF2B5EF4-FFF2-40B4-BE49-F238E27FC236}">
                  <a16:creationId xmlns:a16="http://schemas.microsoft.com/office/drawing/2014/main" id="{1132C03A-073D-4AC0-A14A-DECBE4635F7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text-10-1676">
              <a:extLst>
                <a:ext uri="{FF2B5EF4-FFF2-40B4-BE49-F238E27FC236}">
                  <a16:creationId xmlns:a16="http://schemas.microsoft.com/office/drawing/2014/main" id="{CF50DA4C-8F8B-4000-8B05-7E64DC276A43}"/>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Цикл справа</a:t>
              </a:r>
            </a:p>
          </p:txBody>
        </p:sp>
        <p:sp>
          <p:nvSpPr>
            <p:cNvPr id="86" name="text-11-1677">
              <a:extLst>
                <a:ext uri="{FF2B5EF4-FFF2-40B4-BE49-F238E27FC236}">
                  <a16:creationId xmlns:a16="http://schemas.microsoft.com/office/drawing/2014/main" id="{D6981981-C4FF-4E43-8432-BF76745ACDBC}"/>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en-US" sz="2100">
                  <a:solidFill>
                    <a:srgbClr val="352379"/>
                  </a:solidFill>
                  <a:latin typeface="Montserrat"/>
                </a:rPr>
                <a:t>Обратное: 6 → 4</a:t>
              </a:r>
            </a:p>
            <a:p>
              <a:endParaRPr lang="en-US" sz="2100">
                <a:solidFill>
                  <a:srgbClr val="352379"/>
                </a:solidFill>
                <a:latin typeface="Montserrat"/>
              </a:endParaRPr>
            </a:p>
            <a:p>
              <a:r>
                <a:rPr lang="en-US" sz="2100">
                  <a:solidFill>
                    <a:srgbClr val="352379"/>
                  </a:solidFill>
                  <a:latin typeface="Montserrat"/>
                </a:rPr>
                <a:t>low[6] = 3</a:t>
              </a:r>
            </a:p>
            <a:p>
              <a:r>
                <a:rPr lang="en-US" sz="2100">
                  <a:solidFill>
                    <a:srgbClr val="352379"/>
                  </a:solidFill>
                  <a:latin typeface="Montserrat"/>
                </a:rPr>
                <a:t>low[5] = 3</a:t>
              </a:r>
            </a:p>
            <a:p>
              <a:r>
                <a:rPr lang="en-US" sz="2100">
                  <a:solidFill>
                    <a:srgbClr val="352379"/>
                  </a:solidFill>
                  <a:latin typeface="Montserrat"/>
                </a:rPr>
                <a:t>low[4] = 3</a:t>
              </a:r>
              <a:endParaRPr lang="ru-RU" sz="2100">
                <a:solidFill>
                  <a:srgbClr val="352379"/>
                </a:solidFill>
                <a:latin typeface="Montserrat"/>
              </a:endParaRPr>
            </a:p>
          </p:txBody>
        </p:sp>
      </p:grpSp>
      <p:grpSp>
        <p:nvGrpSpPr>
          <p:cNvPr id="140" name="animation-stage-3">
            <a:extLst>
              <a:ext uri="{FF2B5EF4-FFF2-40B4-BE49-F238E27FC236}">
                <a16:creationId xmlns:a16="http://schemas.microsoft.com/office/drawing/2014/main" id="{DD1BFC91-83AA-4C49-98DC-50FE5D89D259}"/>
              </a:ext>
            </a:extLst>
          </p:cNvPr>
          <p:cNvGrpSpPr/>
          <p:nvPr/>
        </p:nvGrpSpPr>
        <p:grpSpPr>
          <a:xfrm>
            <a:off x="698500" y="1816100"/>
            <a:ext cx="11010900" cy="3657600"/>
            <a:chOff x="698500" y="1816100"/>
            <a:chExt cx="11010900" cy="3657600"/>
          </a:xfrm>
        </p:grpSpPr>
        <p:sp>
          <p:nvSpPr>
            <p:cNvPr id="88" name="active-node-1-1678">
              <a:extLst>
                <a:ext uri="{FF2B5EF4-FFF2-40B4-BE49-F238E27FC236}">
                  <a16:creationId xmlns:a16="http://schemas.microsoft.com/office/drawing/2014/main" id="{AAE812D3-F09D-4B24-BDED-D0CB44D0E8D8}"/>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89" name="active-node-2-1679">
              <a:extLst>
                <a:ext uri="{FF2B5EF4-FFF2-40B4-BE49-F238E27FC236}">
                  <a16:creationId xmlns:a16="http://schemas.microsoft.com/office/drawing/2014/main" id="{51CBD026-9F58-47C0-BF4C-A19DBADF8A69}"/>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90" name="active-node-3-1680">
              <a:extLst>
                <a:ext uri="{FF2B5EF4-FFF2-40B4-BE49-F238E27FC236}">
                  <a16:creationId xmlns:a16="http://schemas.microsoft.com/office/drawing/2014/main" id="{0291B83B-3343-4F08-9B4A-7D7226ECBA91}"/>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91" name="active-node-4-1681">
              <a:extLst>
                <a:ext uri="{FF2B5EF4-FFF2-40B4-BE49-F238E27FC236}">
                  <a16:creationId xmlns:a16="http://schemas.microsoft.com/office/drawing/2014/main" id="{8CDDBA81-6ECD-4FB1-928E-8ADDBEB8B18F}"/>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92" name="active-node-5-1682">
              <a:extLst>
                <a:ext uri="{FF2B5EF4-FFF2-40B4-BE49-F238E27FC236}">
                  <a16:creationId xmlns:a16="http://schemas.microsoft.com/office/drawing/2014/main" id="{68DCEA68-67DC-4074-A0CC-239AEA4CB819}"/>
                </a:ext>
              </a:extLst>
            </p:cNvPr>
            <p:cNvSpPr/>
            <p:nvPr/>
          </p:nvSpPr>
          <p:spPr>
            <a:xfrm>
              <a:off x="68580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93" name="active-node-6-1683">
              <a:extLst>
                <a:ext uri="{FF2B5EF4-FFF2-40B4-BE49-F238E27FC236}">
                  <a16:creationId xmlns:a16="http://schemas.microsoft.com/office/drawing/2014/main" id="{F14C249D-2CE1-4139-B23F-9D441E21357F}"/>
                </a:ext>
              </a:extLst>
            </p:cNvPr>
            <p:cNvSpPr/>
            <p:nvPr/>
          </p:nvSpPr>
          <p:spPr>
            <a:xfrm>
              <a:off x="69850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94" name="box-6-1684">
              <a:extLst>
                <a:ext uri="{FF2B5EF4-FFF2-40B4-BE49-F238E27FC236}">
                  <a16:creationId xmlns:a16="http://schemas.microsoft.com/office/drawing/2014/main" id="{C7A1AB10-1AEA-49BA-962A-BE454BFDEA2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box-7-1685">
              <a:extLst>
                <a:ext uri="{FF2B5EF4-FFF2-40B4-BE49-F238E27FC236}">
                  <a16:creationId xmlns:a16="http://schemas.microsoft.com/office/drawing/2014/main" id="{FD077F88-B7F1-47B6-91C0-E6FB3D277E0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6" name="text-8-1686">
              <a:extLst>
                <a:ext uri="{FF2B5EF4-FFF2-40B4-BE49-F238E27FC236}">
                  <a16:creationId xmlns:a16="http://schemas.microsoft.com/office/drawing/2014/main" id="{B5166EAC-DD15-4AEF-B451-45A288950366}"/>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Итоговые </a:t>
              </a:r>
              <a:r>
                <a:rPr lang="en-US" sz="2100">
                  <a:solidFill>
                    <a:srgbClr val="FFFFFF"/>
                  </a:solidFill>
                  <a:latin typeface="Montserrat"/>
                </a:rPr>
                <a:t>low</a:t>
              </a:r>
              <a:endParaRPr lang="ru-RU" sz="2100">
                <a:solidFill>
                  <a:srgbClr val="FFFFFF"/>
                </a:solidFill>
                <a:latin typeface="Montserrat"/>
              </a:endParaRPr>
            </a:p>
          </p:txBody>
        </p:sp>
        <p:sp>
          <p:nvSpPr>
            <p:cNvPr id="97" name="text-9-1687">
              <a:extLst>
                <a:ext uri="{FF2B5EF4-FFF2-40B4-BE49-F238E27FC236}">
                  <a16:creationId xmlns:a16="http://schemas.microsoft.com/office/drawing/2014/main" id="{85A455EB-99EB-46ED-8FDF-93FB6421B1BF}"/>
                </a:ext>
              </a:extLst>
            </p:cNvPr>
            <p:cNvSpPr txBox="1"/>
            <p:nvPr/>
          </p:nvSpPr>
          <p:spPr bwMode="auto">
            <a:xfrm>
              <a:off x="8153400" y="2631217"/>
              <a:ext cx="3340100" cy="374461"/>
            </a:xfrm>
            <a:prstGeom prst="rect">
              <a:avLst/>
            </a:prstGeom>
          </p:spPr>
          <p:txBody>
            <a:bodyPr vert="horz" wrap="square" lIns="38100" tIns="25400" rIns="38100" bIns="25400" rtlCol="0" anchor="ctr">
              <a:spAutoFit/>
            </a:bodyPr>
            <a:lstStyle/>
            <a:p>
              <a:endParaRPr lang="ru-RU" sz="2100">
                <a:solidFill>
                  <a:srgbClr val="352379"/>
                </a:solidFill>
                <a:latin typeface="Montserrat"/>
              </a:endParaRPr>
            </a:p>
          </p:txBody>
        </p:sp>
        <p:sp>
          <p:nvSpPr>
            <p:cNvPr id="98" name="box-10-1688">
              <a:extLst>
                <a:ext uri="{FF2B5EF4-FFF2-40B4-BE49-F238E27FC236}">
                  <a16:creationId xmlns:a16="http://schemas.microsoft.com/office/drawing/2014/main" id="{654972ED-8F46-431A-95A0-65362C8D1602}"/>
                </a:ext>
              </a:extLst>
            </p:cNvPr>
            <p:cNvSpPr/>
            <p:nvPr/>
          </p:nvSpPr>
          <p:spPr>
            <a:xfrm>
              <a:off x="8153400" y="2654300"/>
              <a:ext cx="698500"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9" name="text-11-1689">
              <a:extLst>
                <a:ext uri="{FF2B5EF4-FFF2-40B4-BE49-F238E27FC236}">
                  <a16:creationId xmlns:a16="http://schemas.microsoft.com/office/drawing/2014/main" id="{A9A6FBC0-DFF6-4A17-BFF2-5EAD2BB7F926}"/>
                </a:ext>
              </a:extLst>
            </p:cNvPr>
            <p:cNvSpPr txBox="1"/>
            <p:nvPr/>
          </p:nvSpPr>
          <p:spPr bwMode="auto">
            <a:xfrm>
              <a:off x="8178800" y="2677011"/>
              <a:ext cx="647700" cy="359073"/>
            </a:xfrm>
            <a:prstGeom prst="rect">
              <a:avLst/>
            </a:prstGeom>
          </p:spPr>
          <p:txBody>
            <a:bodyPr vert="horz" wrap="square" lIns="38100" tIns="25400" rIns="38100" bIns="25400" rtlCol="0" anchor="ctr">
              <a:spAutoFit/>
            </a:bodyPr>
            <a:lstStyle/>
            <a:p>
              <a:pPr algn="ctr"/>
              <a:r>
                <a:rPr lang="en-US" sz="2000" b="1">
                  <a:solidFill>
                    <a:srgbClr val="FFFFFF"/>
                  </a:solidFill>
                  <a:latin typeface="Montserrat"/>
                </a:rPr>
                <a:t>v</a:t>
              </a:r>
              <a:endParaRPr lang="ru-RU" sz="2000" b="1">
                <a:solidFill>
                  <a:srgbClr val="FFFFFF"/>
                </a:solidFill>
                <a:latin typeface="Montserrat"/>
              </a:endParaRPr>
            </a:p>
          </p:txBody>
        </p:sp>
        <p:sp>
          <p:nvSpPr>
            <p:cNvPr id="100" name="box-12-1690">
              <a:extLst>
                <a:ext uri="{FF2B5EF4-FFF2-40B4-BE49-F238E27FC236}">
                  <a16:creationId xmlns:a16="http://schemas.microsoft.com/office/drawing/2014/main" id="{A7BF2052-EB93-4F39-A589-218F1E49655A}"/>
                </a:ext>
              </a:extLst>
            </p:cNvPr>
            <p:cNvSpPr/>
            <p:nvPr/>
          </p:nvSpPr>
          <p:spPr>
            <a:xfrm>
              <a:off x="8851900"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1" name="text-13-1691">
              <a:extLst>
                <a:ext uri="{FF2B5EF4-FFF2-40B4-BE49-F238E27FC236}">
                  <a16:creationId xmlns:a16="http://schemas.microsoft.com/office/drawing/2014/main" id="{3BCEF89A-F638-44B3-89CF-C4054207ECBA}"/>
                </a:ext>
              </a:extLst>
            </p:cNvPr>
            <p:cNvSpPr txBox="1"/>
            <p:nvPr/>
          </p:nvSpPr>
          <p:spPr bwMode="auto">
            <a:xfrm>
              <a:off x="8877300"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1</a:t>
              </a:r>
            </a:p>
          </p:txBody>
        </p:sp>
        <p:sp>
          <p:nvSpPr>
            <p:cNvPr id="102" name="box-14-1692">
              <a:extLst>
                <a:ext uri="{FF2B5EF4-FFF2-40B4-BE49-F238E27FC236}">
                  <a16:creationId xmlns:a16="http://schemas.microsoft.com/office/drawing/2014/main" id="{952C2931-68BC-44D5-9CE0-78C8500BC7A4}"/>
                </a:ext>
              </a:extLst>
            </p:cNvPr>
            <p:cNvSpPr/>
            <p:nvPr/>
          </p:nvSpPr>
          <p:spPr>
            <a:xfrm>
              <a:off x="9292167"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text-15-1693">
              <a:extLst>
                <a:ext uri="{FF2B5EF4-FFF2-40B4-BE49-F238E27FC236}">
                  <a16:creationId xmlns:a16="http://schemas.microsoft.com/office/drawing/2014/main" id="{0B9DCAE3-144F-4198-9875-0C1F1B5DA511}"/>
                </a:ext>
              </a:extLst>
            </p:cNvPr>
            <p:cNvSpPr txBox="1"/>
            <p:nvPr/>
          </p:nvSpPr>
          <p:spPr bwMode="auto">
            <a:xfrm>
              <a:off x="9317567"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2</a:t>
              </a:r>
            </a:p>
          </p:txBody>
        </p:sp>
        <p:sp>
          <p:nvSpPr>
            <p:cNvPr id="104" name="box-16-1694">
              <a:extLst>
                <a:ext uri="{FF2B5EF4-FFF2-40B4-BE49-F238E27FC236}">
                  <a16:creationId xmlns:a16="http://schemas.microsoft.com/office/drawing/2014/main" id="{1F215417-1E72-48B7-850A-607EE2E5D040}"/>
                </a:ext>
              </a:extLst>
            </p:cNvPr>
            <p:cNvSpPr/>
            <p:nvPr/>
          </p:nvSpPr>
          <p:spPr>
            <a:xfrm>
              <a:off x="9732433"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5" name="text-17-1695">
              <a:extLst>
                <a:ext uri="{FF2B5EF4-FFF2-40B4-BE49-F238E27FC236}">
                  <a16:creationId xmlns:a16="http://schemas.microsoft.com/office/drawing/2014/main" id="{90953405-1D58-46E7-8247-652E70B3CA73}"/>
                </a:ext>
              </a:extLst>
            </p:cNvPr>
            <p:cNvSpPr txBox="1"/>
            <p:nvPr/>
          </p:nvSpPr>
          <p:spPr bwMode="auto">
            <a:xfrm>
              <a:off x="9757833"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3</a:t>
              </a:r>
            </a:p>
          </p:txBody>
        </p:sp>
        <p:sp>
          <p:nvSpPr>
            <p:cNvPr id="106" name="box-18-1696">
              <a:extLst>
                <a:ext uri="{FF2B5EF4-FFF2-40B4-BE49-F238E27FC236}">
                  <a16:creationId xmlns:a16="http://schemas.microsoft.com/office/drawing/2014/main" id="{3DF2F155-97C1-47DA-95AB-B512C071C8D3}"/>
                </a:ext>
              </a:extLst>
            </p:cNvPr>
            <p:cNvSpPr/>
            <p:nvPr/>
          </p:nvSpPr>
          <p:spPr>
            <a:xfrm>
              <a:off x="10172700"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7" name="text-19-1697">
              <a:extLst>
                <a:ext uri="{FF2B5EF4-FFF2-40B4-BE49-F238E27FC236}">
                  <a16:creationId xmlns:a16="http://schemas.microsoft.com/office/drawing/2014/main" id="{7F9327CF-9B9C-480D-9EC7-FC158AF62B54}"/>
                </a:ext>
              </a:extLst>
            </p:cNvPr>
            <p:cNvSpPr txBox="1"/>
            <p:nvPr/>
          </p:nvSpPr>
          <p:spPr bwMode="auto">
            <a:xfrm>
              <a:off x="10198100"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4</a:t>
              </a:r>
            </a:p>
          </p:txBody>
        </p:sp>
        <p:sp>
          <p:nvSpPr>
            <p:cNvPr id="108" name="box-20-1698">
              <a:extLst>
                <a:ext uri="{FF2B5EF4-FFF2-40B4-BE49-F238E27FC236}">
                  <a16:creationId xmlns:a16="http://schemas.microsoft.com/office/drawing/2014/main" id="{EB275F46-22A6-4430-9312-AF967DC1F8FC}"/>
                </a:ext>
              </a:extLst>
            </p:cNvPr>
            <p:cNvSpPr/>
            <p:nvPr/>
          </p:nvSpPr>
          <p:spPr>
            <a:xfrm>
              <a:off x="10612967"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9" name="text-21-1699">
              <a:extLst>
                <a:ext uri="{FF2B5EF4-FFF2-40B4-BE49-F238E27FC236}">
                  <a16:creationId xmlns:a16="http://schemas.microsoft.com/office/drawing/2014/main" id="{AC335A96-4698-4747-A388-3FFBD5633711}"/>
                </a:ext>
              </a:extLst>
            </p:cNvPr>
            <p:cNvSpPr txBox="1"/>
            <p:nvPr/>
          </p:nvSpPr>
          <p:spPr bwMode="auto">
            <a:xfrm>
              <a:off x="10638367"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5</a:t>
              </a:r>
            </a:p>
          </p:txBody>
        </p:sp>
        <p:sp>
          <p:nvSpPr>
            <p:cNvPr id="110" name="box-22-1700">
              <a:extLst>
                <a:ext uri="{FF2B5EF4-FFF2-40B4-BE49-F238E27FC236}">
                  <a16:creationId xmlns:a16="http://schemas.microsoft.com/office/drawing/2014/main" id="{F10F7AEF-24E3-4D60-98EC-5F228B23F9EF}"/>
                </a:ext>
              </a:extLst>
            </p:cNvPr>
            <p:cNvSpPr/>
            <p:nvPr/>
          </p:nvSpPr>
          <p:spPr>
            <a:xfrm>
              <a:off x="11053233" y="2654300"/>
              <a:ext cx="440267" cy="584200"/>
            </a:xfrm>
            <a:prstGeom prst="roundRect">
              <a:avLst>
                <a:gd name="adj" fmla="val 12000"/>
              </a:avLst>
            </a:prstGeom>
            <a:solidFill>
              <a:srgbClr val="352379"/>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1" name="text-23-1701">
              <a:extLst>
                <a:ext uri="{FF2B5EF4-FFF2-40B4-BE49-F238E27FC236}">
                  <a16:creationId xmlns:a16="http://schemas.microsoft.com/office/drawing/2014/main" id="{698EAE1F-45FB-4779-94BE-BCC87223596B}"/>
                </a:ext>
              </a:extLst>
            </p:cNvPr>
            <p:cNvSpPr txBox="1"/>
            <p:nvPr/>
          </p:nvSpPr>
          <p:spPr bwMode="auto">
            <a:xfrm>
              <a:off x="11078633" y="2677011"/>
              <a:ext cx="389467" cy="359073"/>
            </a:xfrm>
            <a:prstGeom prst="rect">
              <a:avLst/>
            </a:prstGeom>
          </p:spPr>
          <p:txBody>
            <a:bodyPr vert="horz" wrap="square" lIns="38100" tIns="25400" rIns="38100" bIns="25400" rtlCol="0" anchor="ctr">
              <a:spAutoFit/>
            </a:bodyPr>
            <a:lstStyle/>
            <a:p>
              <a:pPr algn="ctr"/>
              <a:r>
                <a:rPr lang="ru-RU" sz="2000" b="1">
                  <a:solidFill>
                    <a:srgbClr val="FFFFFF"/>
                  </a:solidFill>
                  <a:latin typeface="Montserrat"/>
                </a:rPr>
                <a:t>6</a:t>
              </a:r>
            </a:p>
          </p:txBody>
        </p:sp>
        <p:sp>
          <p:nvSpPr>
            <p:cNvPr id="112" name="box-24-1702">
              <a:extLst>
                <a:ext uri="{FF2B5EF4-FFF2-40B4-BE49-F238E27FC236}">
                  <a16:creationId xmlns:a16="http://schemas.microsoft.com/office/drawing/2014/main" id="{BA890E1D-7BD0-4E74-B7F0-48776FFD37B1}"/>
                </a:ext>
              </a:extLst>
            </p:cNvPr>
            <p:cNvSpPr/>
            <p:nvPr/>
          </p:nvSpPr>
          <p:spPr>
            <a:xfrm>
              <a:off x="8153400" y="3238500"/>
              <a:ext cx="698500"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3" name="text-25-1703">
              <a:extLst>
                <a:ext uri="{FF2B5EF4-FFF2-40B4-BE49-F238E27FC236}">
                  <a16:creationId xmlns:a16="http://schemas.microsoft.com/office/drawing/2014/main" id="{E68642B9-2D0D-4959-9AF9-E00088A6739B}"/>
                </a:ext>
              </a:extLst>
            </p:cNvPr>
            <p:cNvSpPr txBox="1"/>
            <p:nvPr/>
          </p:nvSpPr>
          <p:spPr bwMode="auto">
            <a:xfrm>
              <a:off x="8178800" y="3261211"/>
              <a:ext cx="647700" cy="359073"/>
            </a:xfrm>
            <a:prstGeom prst="rect">
              <a:avLst/>
            </a:prstGeom>
          </p:spPr>
          <p:txBody>
            <a:bodyPr vert="horz" wrap="square" lIns="38100" tIns="25400" rIns="38100" bIns="25400" rtlCol="0" anchor="ctr">
              <a:spAutoFit/>
            </a:bodyPr>
            <a:lstStyle/>
            <a:p>
              <a:pPr algn="ctr"/>
              <a:r>
                <a:rPr lang="en-US" sz="2000">
                  <a:solidFill>
                    <a:srgbClr val="352379"/>
                  </a:solidFill>
                  <a:latin typeface="Montserrat"/>
                </a:rPr>
                <a:t>tin</a:t>
              </a:r>
              <a:endParaRPr lang="ru-RU" sz="2000">
                <a:solidFill>
                  <a:srgbClr val="352379"/>
                </a:solidFill>
                <a:latin typeface="Montserrat"/>
              </a:endParaRPr>
            </a:p>
          </p:txBody>
        </p:sp>
        <p:sp>
          <p:nvSpPr>
            <p:cNvPr id="114" name="box-26-1704">
              <a:extLst>
                <a:ext uri="{FF2B5EF4-FFF2-40B4-BE49-F238E27FC236}">
                  <a16:creationId xmlns:a16="http://schemas.microsoft.com/office/drawing/2014/main" id="{426B7254-EBA7-4532-9AFA-84FA9AF21E8C}"/>
                </a:ext>
              </a:extLst>
            </p:cNvPr>
            <p:cNvSpPr/>
            <p:nvPr/>
          </p:nvSpPr>
          <p:spPr>
            <a:xfrm>
              <a:off x="8851900"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5" name="text-27-1705">
              <a:extLst>
                <a:ext uri="{FF2B5EF4-FFF2-40B4-BE49-F238E27FC236}">
                  <a16:creationId xmlns:a16="http://schemas.microsoft.com/office/drawing/2014/main" id="{B9874040-4D7A-406C-A485-C12000EAC702}"/>
                </a:ext>
              </a:extLst>
            </p:cNvPr>
            <p:cNvSpPr txBox="1"/>
            <p:nvPr/>
          </p:nvSpPr>
          <p:spPr bwMode="auto">
            <a:xfrm>
              <a:off x="8877300"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0</a:t>
              </a:r>
            </a:p>
          </p:txBody>
        </p:sp>
        <p:sp>
          <p:nvSpPr>
            <p:cNvPr id="116" name="box-28-1706">
              <a:extLst>
                <a:ext uri="{FF2B5EF4-FFF2-40B4-BE49-F238E27FC236}">
                  <a16:creationId xmlns:a16="http://schemas.microsoft.com/office/drawing/2014/main" id="{2D5BE9A1-8FBD-4B96-AFF5-1B71F092930C}"/>
                </a:ext>
              </a:extLst>
            </p:cNvPr>
            <p:cNvSpPr/>
            <p:nvPr/>
          </p:nvSpPr>
          <p:spPr>
            <a:xfrm>
              <a:off x="9292167"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7" name="text-29-1707">
              <a:extLst>
                <a:ext uri="{FF2B5EF4-FFF2-40B4-BE49-F238E27FC236}">
                  <a16:creationId xmlns:a16="http://schemas.microsoft.com/office/drawing/2014/main" id="{115D5350-0898-4885-A99E-609473164B48}"/>
                </a:ext>
              </a:extLst>
            </p:cNvPr>
            <p:cNvSpPr txBox="1"/>
            <p:nvPr/>
          </p:nvSpPr>
          <p:spPr bwMode="auto">
            <a:xfrm>
              <a:off x="9317567"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1</a:t>
              </a:r>
            </a:p>
          </p:txBody>
        </p:sp>
        <p:sp>
          <p:nvSpPr>
            <p:cNvPr id="118" name="box-30-1708">
              <a:extLst>
                <a:ext uri="{FF2B5EF4-FFF2-40B4-BE49-F238E27FC236}">
                  <a16:creationId xmlns:a16="http://schemas.microsoft.com/office/drawing/2014/main" id="{1767886F-70FC-40C2-9619-25431CB7A9B7}"/>
                </a:ext>
              </a:extLst>
            </p:cNvPr>
            <p:cNvSpPr/>
            <p:nvPr/>
          </p:nvSpPr>
          <p:spPr>
            <a:xfrm>
              <a:off x="9732433"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9" name="text-31-1709">
              <a:extLst>
                <a:ext uri="{FF2B5EF4-FFF2-40B4-BE49-F238E27FC236}">
                  <a16:creationId xmlns:a16="http://schemas.microsoft.com/office/drawing/2014/main" id="{E2A553F3-B64B-4891-88DA-633C3DC4EB06}"/>
                </a:ext>
              </a:extLst>
            </p:cNvPr>
            <p:cNvSpPr txBox="1"/>
            <p:nvPr/>
          </p:nvSpPr>
          <p:spPr bwMode="auto">
            <a:xfrm>
              <a:off x="9757833"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2</a:t>
              </a:r>
            </a:p>
          </p:txBody>
        </p:sp>
        <p:sp>
          <p:nvSpPr>
            <p:cNvPr id="120" name="box-32-1710">
              <a:extLst>
                <a:ext uri="{FF2B5EF4-FFF2-40B4-BE49-F238E27FC236}">
                  <a16:creationId xmlns:a16="http://schemas.microsoft.com/office/drawing/2014/main" id="{7D7F6318-8C68-4E30-BCF5-F088D93323D9}"/>
                </a:ext>
              </a:extLst>
            </p:cNvPr>
            <p:cNvSpPr/>
            <p:nvPr/>
          </p:nvSpPr>
          <p:spPr>
            <a:xfrm>
              <a:off x="10172700"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1" name="text-33-1711">
              <a:extLst>
                <a:ext uri="{FF2B5EF4-FFF2-40B4-BE49-F238E27FC236}">
                  <a16:creationId xmlns:a16="http://schemas.microsoft.com/office/drawing/2014/main" id="{0181CBB5-0AF1-4E91-938D-99F71A9B4D92}"/>
                </a:ext>
              </a:extLst>
            </p:cNvPr>
            <p:cNvSpPr txBox="1"/>
            <p:nvPr/>
          </p:nvSpPr>
          <p:spPr bwMode="auto">
            <a:xfrm>
              <a:off x="10198100"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122" name="box-34-1712">
              <a:extLst>
                <a:ext uri="{FF2B5EF4-FFF2-40B4-BE49-F238E27FC236}">
                  <a16:creationId xmlns:a16="http://schemas.microsoft.com/office/drawing/2014/main" id="{4D9591D4-2F50-4E9F-8BEA-D02B0C1A6CDD}"/>
                </a:ext>
              </a:extLst>
            </p:cNvPr>
            <p:cNvSpPr/>
            <p:nvPr/>
          </p:nvSpPr>
          <p:spPr>
            <a:xfrm>
              <a:off x="10612967"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3" name="text-35-1713">
              <a:extLst>
                <a:ext uri="{FF2B5EF4-FFF2-40B4-BE49-F238E27FC236}">
                  <a16:creationId xmlns:a16="http://schemas.microsoft.com/office/drawing/2014/main" id="{3DF4DE7C-77EC-4EA3-AFD9-C6F9F8839C54}"/>
                </a:ext>
              </a:extLst>
            </p:cNvPr>
            <p:cNvSpPr txBox="1"/>
            <p:nvPr/>
          </p:nvSpPr>
          <p:spPr bwMode="auto">
            <a:xfrm>
              <a:off x="10638367"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4</a:t>
              </a:r>
            </a:p>
          </p:txBody>
        </p:sp>
        <p:sp>
          <p:nvSpPr>
            <p:cNvPr id="124" name="box-36-1714">
              <a:extLst>
                <a:ext uri="{FF2B5EF4-FFF2-40B4-BE49-F238E27FC236}">
                  <a16:creationId xmlns:a16="http://schemas.microsoft.com/office/drawing/2014/main" id="{E30B4E1A-81A3-49AE-818C-6F991ECF4F0A}"/>
                </a:ext>
              </a:extLst>
            </p:cNvPr>
            <p:cNvSpPr/>
            <p:nvPr/>
          </p:nvSpPr>
          <p:spPr>
            <a:xfrm>
              <a:off x="11053233" y="3238500"/>
              <a:ext cx="440267" cy="584200"/>
            </a:xfrm>
            <a:prstGeom prst="roundRect">
              <a:avLst>
                <a:gd name="adj" fmla="val 12000"/>
              </a:avLst>
            </a:prstGeom>
            <a:solidFill>
              <a:srgbClr val="FFFFFF"/>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5" name="text-37-1715">
              <a:extLst>
                <a:ext uri="{FF2B5EF4-FFF2-40B4-BE49-F238E27FC236}">
                  <a16:creationId xmlns:a16="http://schemas.microsoft.com/office/drawing/2014/main" id="{6D14BE50-A6A3-487F-BF78-F215CDFB5724}"/>
                </a:ext>
              </a:extLst>
            </p:cNvPr>
            <p:cNvSpPr txBox="1"/>
            <p:nvPr/>
          </p:nvSpPr>
          <p:spPr bwMode="auto">
            <a:xfrm>
              <a:off x="11078633" y="32612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5</a:t>
              </a:r>
            </a:p>
          </p:txBody>
        </p:sp>
        <p:sp>
          <p:nvSpPr>
            <p:cNvPr id="126" name="box-38-1716">
              <a:extLst>
                <a:ext uri="{FF2B5EF4-FFF2-40B4-BE49-F238E27FC236}">
                  <a16:creationId xmlns:a16="http://schemas.microsoft.com/office/drawing/2014/main" id="{32B2DF0B-D38E-4C1E-B4DD-477F4DB6ED79}"/>
                </a:ext>
              </a:extLst>
            </p:cNvPr>
            <p:cNvSpPr/>
            <p:nvPr/>
          </p:nvSpPr>
          <p:spPr>
            <a:xfrm>
              <a:off x="8153400" y="3822700"/>
              <a:ext cx="698500"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7" name="text-39-1717">
              <a:extLst>
                <a:ext uri="{FF2B5EF4-FFF2-40B4-BE49-F238E27FC236}">
                  <a16:creationId xmlns:a16="http://schemas.microsoft.com/office/drawing/2014/main" id="{3604AD08-7BD9-495B-95AB-B981ED406EE1}"/>
                </a:ext>
              </a:extLst>
            </p:cNvPr>
            <p:cNvSpPr txBox="1"/>
            <p:nvPr/>
          </p:nvSpPr>
          <p:spPr bwMode="auto">
            <a:xfrm>
              <a:off x="8178800" y="3845411"/>
              <a:ext cx="647700" cy="359073"/>
            </a:xfrm>
            <a:prstGeom prst="rect">
              <a:avLst/>
            </a:prstGeom>
          </p:spPr>
          <p:txBody>
            <a:bodyPr vert="horz" wrap="square" lIns="38100" tIns="25400" rIns="38100" bIns="25400" rtlCol="0" anchor="ctr">
              <a:spAutoFit/>
            </a:bodyPr>
            <a:lstStyle/>
            <a:p>
              <a:pPr algn="ctr"/>
              <a:r>
                <a:rPr lang="en-US" sz="2000">
                  <a:solidFill>
                    <a:srgbClr val="352379"/>
                  </a:solidFill>
                  <a:latin typeface="Montserrat"/>
                </a:rPr>
                <a:t>low</a:t>
              </a:r>
              <a:endParaRPr lang="ru-RU" sz="2000">
                <a:solidFill>
                  <a:srgbClr val="352379"/>
                </a:solidFill>
                <a:latin typeface="Montserrat"/>
              </a:endParaRPr>
            </a:p>
          </p:txBody>
        </p:sp>
        <p:sp>
          <p:nvSpPr>
            <p:cNvPr id="128" name="box-40-1718">
              <a:extLst>
                <a:ext uri="{FF2B5EF4-FFF2-40B4-BE49-F238E27FC236}">
                  <a16:creationId xmlns:a16="http://schemas.microsoft.com/office/drawing/2014/main" id="{2E6657FA-245F-47D6-BD92-F08000704554}"/>
                </a:ext>
              </a:extLst>
            </p:cNvPr>
            <p:cNvSpPr/>
            <p:nvPr/>
          </p:nvSpPr>
          <p:spPr>
            <a:xfrm>
              <a:off x="8851900"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9" name="text-41-1719">
              <a:extLst>
                <a:ext uri="{FF2B5EF4-FFF2-40B4-BE49-F238E27FC236}">
                  <a16:creationId xmlns:a16="http://schemas.microsoft.com/office/drawing/2014/main" id="{81958E29-8409-4399-86C3-EC5430050E13}"/>
                </a:ext>
              </a:extLst>
            </p:cNvPr>
            <p:cNvSpPr txBox="1"/>
            <p:nvPr/>
          </p:nvSpPr>
          <p:spPr bwMode="auto">
            <a:xfrm>
              <a:off x="8877300"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0</a:t>
              </a:r>
            </a:p>
          </p:txBody>
        </p:sp>
        <p:sp>
          <p:nvSpPr>
            <p:cNvPr id="130" name="box-42-1720">
              <a:extLst>
                <a:ext uri="{FF2B5EF4-FFF2-40B4-BE49-F238E27FC236}">
                  <a16:creationId xmlns:a16="http://schemas.microsoft.com/office/drawing/2014/main" id="{0F0286E1-827D-4234-B4F8-AA10E2198E69}"/>
                </a:ext>
              </a:extLst>
            </p:cNvPr>
            <p:cNvSpPr/>
            <p:nvPr/>
          </p:nvSpPr>
          <p:spPr>
            <a:xfrm>
              <a:off x="9292167"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1" name="text-43-1721">
              <a:extLst>
                <a:ext uri="{FF2B5EF4-FFF2-40B4-BE49-F238E27FC236}">
                  <a16:creationId xmlns:a16="http://schemas.microsoft.com/office/drawing/2014/main" id="{F7A160B1-DC6D-41D7-805A-D0900C92E7E0}"/>
                </a:ext>
              </a:extLst>
            </p:cNvPr>
            <p:cNvSpPr txBox="1"/>
            <p:nvPr/>
          </p:nvSpPr>
          <p:spPr bwMode="auto">
            <a:xfrm>
              <a:off x="9317567"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0</a:t>
              </a:r>
            </a:p>
          </p:txBody>
        </p:sp>
        <p:sp>
          <p:nvSpPr>
            <p:cNvPr id="132" name="box-44-1722">
              <a:extLst>
                <a:ext uri="{FF2B5EF4-FFF2-40B4-BE49-F238E27FC236}">
                  <a16:creationId xmlns:a16="http://schemas.microsoft.com/office/drawing/2014/main" id="{54DE498C-4615-4172-92EB-DF3BFDA9FD45}"/>
                </a:ext>
              </a:extLst>
            </p:cNvPr>
            <p:cNvSpPr/>
            <p:nvPr/>
          </p:nvSpPr>
          <p:spPr>
            <a:xfrm>
              <a:off x="9732433"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3" name="text-45-1723">
              <a:extLst>
                <a:ext uri="{FF2B5EF4-FFF2-40B4-BE49-F238E27FC236}">
                  <a16:creationId xmlns:a16="http://schemas.microsoft.com/office/drawing/2014/main" id="{5C3BD084-E085-4E47-ABD8-2944B274F625}"/>
                </a:ext>
              </a:extLst>
            </p:cNvPr>
            <p:cNvSpPr txBox="1"/>
            <p:nvPr/>
          </p:nvSpPr>
          <p:spPr bwMode="auto">
            <a:xfrm>
              <a:off x="9757833"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0</a:t>
              </a:r>
            </a:p>
          </p:txBody>
        </p:sp>
        <p:sp>
          <p:nvSpPr>
            <p:cNvPr id="134" name="box-46-1724">
              <a:extLst>
                <a:ext uri="{FF2B5EF4-FFF2-40B4-BE49-F238E27FC236}">
                  <a16:creationId xmlns:a16="http://schemas.microsoft.com/office/drawing/2014/main" id="{54D5BB4B-59C9-4D10-B76B-F145F4044A84}"/>
                </a:ext>
              </a:extLst>
            </p:cNvPr>
            <p:cNvSpPr/>
            <p:nvPr/>
          </p:nvSpPr>
          <p:spPr>
            <a:xfrm>
              <a:off x="10172700"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5" name="text-47-1725">
              <a:extLst>
                <a:ext uri="{FF2B5EF4-FFF2-40B4-BE49-F238E27FC236}">
                  <a16:creationId xmlns:a16="http://schemas.microsoft.com/office/drawing/2014/main" id="{34DAC013-C674-45CF-AA1B-699953C22C62}"/>
                </a:ext>
              </a:extLst>
            </p:cNvPr>
            <p:cNvSpPr txBox="1"/>
            <p:nvPr/>
          </p:nvSpPr>
          <p:spPr bwMode="auto">
            <a:xfrm>
              <a:off x="10198100"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136" name="box-48-1726">
              <a:extLst>
                <a:ext uri="{FF2B5EF4-FFF2-40B4-BE49-F238E27FC236}">
                  <a16:creationId xmlns:a16="http://schemas.microsoft.com/office/drawing/2014/main" id="{34F0B3AE-8632-4107-9E64-F6F6BE12469E}"/>
                </a:ext>
              </a:extLst>
            </p:cNvPr>
            <p:cNvSpPr/>
            <p:nvPr/>
          </p:nvSpPr>
          <p:spPr>
            <a:xfrm>
              <a:off x="10612967"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7" name="text-49-1727">
              <a:extLst>
                <a:ext uri="{FF2B5EF4-FFF2-40B4-BE49-F238E27FC236}">
                  <a16:creationId xmlns:a16="http://schemas.microsoft.com/office/drawing/2014/main" id="{92CB3D92-4B1D-4282-938B-CCE9953F987A}"/>
                </a:ext>
              </a:extLst>
            </p:cNvPr>
            <p:cNvSpPr txBox="1"/>
            <p:nvPr/>
          </p:nvSpPr>
          <p:spPr bwMode="auto">
            <a:xfrm>
              <a:off x="10638367"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sp>
          <p:nvSpPr>
            <p:cNvPr id="138" name="box-50-1728">
              <a:extLst>
                <a:ext uri="{FF2B5EF4-FFF2-40B4-BE49-F238E27FC236}">
                  <a16:creationId xmlns:a16="http://schemas.microsoft.com/office/drawing/2014/main" id="{571A361C-454A-4F32-8FDF-3858A2483D85}"/>
                </a:ext>
              </a:extLst>
            </p:cNvPr>
            <p:cNvSpPr/>
            <p:nvPr/>
          </p:nvSpPr>
          <p:spPr>
            <a:xfrm>
              <a:off x="11053233" y="3822700"/>
              <a:ext cx="440267" cy="584200"/>
            </a:xfrm>
            <a:prstGeom prst="roundRect">
              <a:avLst>
                <a:gd name="adj" fmla="val 12000"/>
              </a:avLst>
            </a:prstGeom>
            <a:solidFill>
              <a:srgbClr val="E3D6F5"/>
            </a:solidFill>
            <a:ln w="9525">
              <a:solidFill>
                <a:srgbClr val="C7A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9" name="text-51-1729">
              <a:extLst>
                <a:ext uri="{FF2B5EF4-FFF2-40B4-BE49-F238E27FC236}">
                  <a16:creationId xmlns:a16="http://schemas.microsoft.com/office/drawing/2014/main" id="{73E8C88D-8F15-4003-B43F-D2F7D4A77D43}"/>
                </a:ext>
              </a:extLst>
            </p:cNvPr>
            <p:cNvSpPr txBox="1"/>
            <p:nvPr/>
          </p:nvSpPr>
          <p:spPr bwMode="auto">
            <a:xfrm>
              <a:off x="11078633" y="3845411"/>
              <a:ext cx="389467" cy="359073"/>
            </a:xfrm>
            <a:prstGeom prst="rect">
              <a:avLst/>
            </a:prstGeom>
          </p:spPr>
          <p:txBody>
            <a:bodyPr vert="horz" wrap="square" lIns="38100" tIns="25400" rIns="38100" bIns="25400" rtlCol="0" anchor="ctr">
              <a:spAutoFit/>
            </a:bodyPr>
            <a:lstStyle/>
            <a:p>
              <a:pPr algn="ctr"/>
              <a:r>
                <a:rPr lang="ru-RU" sz="2000">
                  <a:solidFill>
                    <a:srgbClr val="352379"/>
                  </a:solidFill>
                  <a:latin typeface="Montserrat"/>
                </a:rPr>
                <a:t>3</a:t>
              </a:r>
            </a:p>
          </p:txBody>
        </p:sp>
      </p:grpSp>
      <p:sp>
        <p:nvSpPr>
          <p:cNvPr id="141" name="lecture-footer">
            <a:extLst>
              <a:ext uri="{FF2B5EF4-FFF2-40B4-BE49-F238E27FC236}">
                <a16:creationId xmlns:a16="http://schemas.microsoft.com/office/drawing/2014/main" id="{0EAE0E9A-B775-4539-BA02-9830964421F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42" name="slide-number">
            <a:extLst>
              <a:ext uri="{FF2B5EF4-FFF2-40B4-BE49-F238E27FC236}">
                <a16:creationId xmlns:a16="http://schemas.microsoft.com/office/drawing/2014/main" id="{338884D9-C9D1-4B60-AC07-2C040E641954}"/>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47</a:t>
            </a:r>
          </a:p>
        </p:txBody>
      </p:sp>
    </p:spTree>
    <p:extLst>
      <p:ext uri="{BB962C8B-B14F-4D97-AF65-F5344CB8AC3E}">
        <p14:creationId xmlns:p14="http://schemas.microsoft.com/office/powerpoint/2010/main" val="339178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25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250"/>
                                        <p:tgtEl>
                                          <p:spTgt spid="87"/>
                                        </p:tgtEl>
                                      </p:cBhvr>
                                    </p:animEffect>
                                  </p:childTnLst>
                                </p:cTn>
                              </p:par>
                              <p:par>
                                <p:cTn id="13" presetID="10" presetClass="exit" presetSubtype="0" fill="hold" nodeType="withEffect">
                                  <p:stCondLst>
                                    <p:cond delay="0"/>
                                  </p:stCondLst>
                                  <p:childTnLst>
                                    <p:animEffect transition="out" filter="fade">
                                      <p:cBhvr>
                                        <p:cTn id="14" dur="150"/>
                                        <p:tgtEl>
                                          <p:spTgt spid="74"/>
                                        </p:tgtEl>
                                      </p:cBhvr>
                                    </p:animEffect>
                                    <p:set>
                                      <p:cBhvr>
                                        <p:cTn id="15" dur="1" fill="hold">
                                          <p:stCondLst>
                                            <p:cond delay="149"/>
                                          </p:stCondLst>
                                        </p:cTn>
                                        <p:tgtEl>
                                          <p:spTgt spid="7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0"/>
                                        </p:tgtEl>
                                        <p:attrNameLst>
                                          <p:attrName>style.visibility</p:attrName>
                                        </p:attrNameLst>
                                      </p:cBhvr>
                                      <p:to>
                                        <p:strVal val="visible"/>
                                      </p:to>
                                    </p:set>
                                    <p:animEffect transition="in" filter="fade">
                                      <p:cBhvr>
                                        <p:cTn id="20" dur="250"/>
                                        <p:tgtEl>
                                          <p:spTgt spid="140"/>
                                        </p:tgtEl>
                                      </p:cBhvr>
                                    </p:animEffect>
                                  </p:childTnLst>
                                </p:cTn>
                              </p:par>
                              <p:par>
                                <p:cTn id="21" presetID="10" presetClass="exit" presetSubtype="0" fill="hold" nodeType="withEffect">
                                  <p:stCondLst>
                                    <p:cond delay="0"/>
                                  </p:stCondLst>
                                  <p:childTnLst>
                                    <p:animEffect transition="out" filter="fade">
                                      <p:cBhvr>
                                        <p:cTn id="22" dur="150"/>
                                        <p:tgtEl>
                                          <p:spTgt spid="87"/>
                                        </p:tgtEl>
                                      </p:cBhvr>
                                    </p:animEffect>
                                    <p:set>
                                      <p:cBhvr>
                                        <p:cTn id="23" dur="1" fill="hold">
                                          <p:stCondLst>
                                            <p:cond delay="149"/>
                                          </p:stCondLst>
                                        </p:cTn>
                                        <p:tgtEl>
                                          <p:spTgt spid="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Поиск моста: выделяем 3–4</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1-2">
            <a:extLst>
              <a:ext uri="{FF2B5EF4-FFF2-40B4-BE49-F238E27FC236}">
                <a16:creationId xmlns:a16="http://schemas.microsoft.com/office/drawing/2014/main" id="{5017A566-4E8B-4C99-A404-4EB305BA56C3}"/>
              </a:ext>
            </a:extLst>
          </p:cNvPr>
          <p:cNvCxnSpPr/>
          <p:nvPr/>
        </p:nvCxnSpPr>
        <p:spPr>
          <a:xfrm flipH="1">
            <a:off x="1030499" y="2730169"/>
            <a:ext cx="72602" cy="15881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2-3">
            <a:extLst>
              <a:ext uri="{FF2B5EF4-FFF2-40B4-BE49-F238E27FC236}">
                <a16:creationId xmlns:a16="http://schemas.microsoft.com/office/drawing/2014/main" id="{CCB5889D-FF2E-4633-A078-28CB44FA4BA8}"/>
              </a:ext>
            </a:extLst>
          </p:cNvPr>
          <p:cNvCxnSpPr/>
          <p:nvPr/>
        </p:nvCxnSpPr>
        <p:spPr>
          <a:xfrm flipV="1">
            <a:off x="1301594" y="3694717"/>
            <a:ext cx="1651312" cy="8020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3-1">
            <a:extLst>
              <a:ext uri="{FF2B5EF4-FFF2-40B4-BE49-F238E27FC236}">
                <a16:creationId xmlns:a16="http://schemas.microsoft.com/office/drawing/2014/main" id="{C52FE88F-586A-4ADF-8A7F-6CF4719116FE}"/>
              </a:ext>
            </a:extLst>
          </p:cNvPr>
          <p:cNvCxnSpPr/>
          <p:nvPr/>
        </p:nvCxnSpPr>
        <p:spPr>
          <a:xfrm flipH="1" flipV="1">
            <a:off x="1397096" y="2563626"/>
            <a:ext cx="1561908" cy="841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3-4">
            <a:extLst>
              <a:ext uri="{FF2B5EF4-FFF2-40B4-BE49-F238E27FC236}">
                <a16:creationId xmlns:a16="http://schemas.microsoft.com/office/drawing/2014/main" id="{CDE1F9E6-B59C-43D7-A832-5A8DB7C0A9AA}"/>
              </a:ext>
            </a:extLst>
          </p:cNvPr>
          <p:cNvCxnSpPr/>
          <p:nvPr/>
        </p:nvCxnSpPr>
        <p:spPr>
          <a:xfrm>
            <a:off x="3556000" y="3556000"/>
            <a:ext cx="14605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4-5">
            <a:extLst>
              <a:ext uri="{FF2B5EF4-FFF2-40B4-BE49-F238E27FC236}">
                <a16:creationId xmlns:a16="http://schemas.microsoft.com/office/drawing/2014/main" id="{34B992A2-862F-4B44-9915-ADC6B44E8066}"/>
              </a:ext>
            </a:extLst>
          </p:cNvPr>
          <p:cNvCxnSpPr/>
          <p:nvPr/>
        </p:nvCxnSpPr>
        <p:spPr>
          <a:xfrm flipV="1">
            <a:off x="5603761" y="2580438"/>
            <a:ext cx="1301978" cy="80812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5-6">
            <a:extLst>
              <a:ext uri="{FF2B5EF4-FFF2-40B4-BE49-F238E27FC236}">
                <a16:creationId xmlns:a16="http://schemas.microsoft.com/office/drawing/2014/main" id="{577B0350-67ED-45AF-9E70-BFA24B254AD6}"/>
              </a:ext>
            </a:extLst>
          </p:cNvPr>
          <p:cNvCxnSpPr/>
          <p:nvPr/>
        </p:nvCxnSpPr>
        <p:spPr>
          <a:xfrm>
            <a:off x="7193614" y="2729983"/>
            <a:ext cx="90772" cy="158853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0" name="!!g-edge-6-4">
            <a:extLst>
              <a:ext uri="{FF2B5EF4-FFF2-40B4-BE49-F238E27FC236}">
                <a16:creationId xmlns:a16="http://schemas.microsoft.com/office/drawing/2014/main" id="{FF6AC8F8-A589-4805-9B5F-47B37F5FA35A}"/>
              </a:ext>
            </a:extLst>
          </p:cNvPr>
          <p:cNvCxnSpPr/>
          <p:nvPr/>
        </p:nvCxnSpPr>
        <p:spPr>
          <a:xfrm flipH="1" flipV="1">
            <a:off x="5612388" y="3708664"/>
            <a:ext cx="1411724" cy="77417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1" name="!!g-node-1">
            <a:extLst>
              <a:ext uri="{FF2B5EF4-FFF2-40B4-BE49-F238E27FC236}">
                <a16:creationId xmlns:a16="http://schemas.microsoft.com/office/drawing/2014/main" id="{8A07E01D-3899-48A6-9AFB-5BF35FD5CF3F}"/>
              </a:ext>
            </a:extLst>
          </p:cNvPr>
          <p:cNvSpPr/>
          <p:nvPr/>
        </p:nvSpPr>
        <p:spPr>
          <a:xfrm>
            <a:off x="8001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12" name="!!g-node-2">
            <a:extLst>
              <a:ext uri="{FF2B5EF4-FFF2-40B4-BE49-F238E27FC236}">
                <a16:creationId xmlns:a16="http://schemas.microsoft.com/office/drawing/2014/main" id="{C50D8A2F-DA58-40D0-92F4-315455278993}"/>
              </a:ext>
            </a:extLst>
          </p:cNvPr>
          <p:cNvSpPr/>
          <p:nvPr/>
        </p:nvSpPr>
        <p:spPr>
          <a:xfrm>
            <a:off x="698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2</a:t>
            </a:r>
          </a:p>
        </p:txBody>
      </p:sp>
      <p:sp>
        <p:nvSpPr>
          <p:cNvPr id="13" name="!!g-node-3">
            <a:extLst>
              <a:ext uri="{FF2B5EF4-FFF2-40B4-BE49-F238E27FC236}">
                <a16:creationId xmlns:a16="http://schemas.microsoft.com/office/drawing/2014/main" id="{6B9FF01D-3F86-478E-93E7-35A66DACC9B5}"/>
              </a:ext>
            </a:extLst>
          </p:cNvPr>
          <p:cNvSpPr/>
          <p:nvPr/>
        </p:nvSpPr>
        <p:spPr>
          <a:xfrm>
            <a:off x="29210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4" name="!!g-node-4">
            <a:extLst>
              <a:ext uri="{FF2B5EF4-FFF2-40B4-BE49-F238E27FC236}">
                <a16:creationId xmlns:a16="http://schemas.microsoft.com/office/drawing/2014/main" id="{5F8AFF4F-7DE5-49C1-9718-618D4A1AC611}"/>
              </a:ext>
            </a:extLst>
          </p:cNvPr>
          <p:cNvSpPr/>
          <p:nvPr/>
        </p:nvSpPr>
        <p:spPr>
          <a:xfrm>
            <a:off x="5016500" y="323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4</a:t>
            </a:r>
          </a:p>
        </p:txBody>
      </p:sp>
      <p:sp>
        <p:nvSpPr>
          <p:cNvPr id="15" name="!!g-node-5">
            <a:extLst>
              <a:ext uri="{FF2B5EF4-FFF2-40B4-BE49-F238E27FC236}">
                <a16:creationId xmlns:a16="http://schemas.microsoft.com/office/drawing/2014/main" id="{28708026-9DD9-41DE-92B4-C08FC00C1383}"/>
              </a:ext>
            </a:extLst>
          </p:cNvPr>
          <p:cNvSpPr/>
          <p:nvPr/>
        </p:nvSpPr>
        <p:spPr>
          <a:xfrm>
            <a:off x="6858000" y="2095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5</a:t>
            </a:r>
          </a:p>
        </p:txBody>
      </p:sp>
      <p:sp>
        <p:nvSpPr>
          <p:cNvPr id="16" name="!!g-node-6">
            <a:extLst>
              <a:ext uri="{FF2B5EF4-FFF2-40B4-BE49-F238E27FC236}">
                <a16:creationId xmlns:a16="http://schemas.microsoft.com/office/drawing/2014/main" id="{50AEA8C5-D6D6-4E52-9452-648A173A41E8}"/>
              </a:ext>
            </a:extLst>
          </p:cNvPr>
          <p:cNvSpPr/>
          <p:nvPr/>
        </p:nvSpPr>
        <p:spPr>
          <a:xfrm>
            <a:off x="69850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6</a:t>
            </a:r>
          </a:p>
        </p:txBody>
      </p:sp>
      <p:sp>
        <p:nvSpPr>
          <p:cNvPr id="17" name="box-13-1743">
            <a:extLst>
              <a:ext uri="{FF2B5EF4-FFF2-40B4-BE49-F238E27FC236}">
                <a16:creationId xmlns:a16="http://schemas.microsoft.com/office/drawing/2014/main" id="{DF8F9E35-3629-42AF-98A9-39211EB5B934}"/>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box-14-1744">
            <a:extLst>
              <a:ext uri="{FF2B5EF4-FFF2-40B4-BE49-F238E27FC236}">
                <a16:creationId xmlns:a16="http://schemas.microsoft.com/office/drawing/2014/main" id="{0F95BD48-5D6D-437D-A103-1F1E05E3B6A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15-1745">
            <a:extLst>
              <a:ext uri="{FF2B5EF4-FFF2-40B4-BE49-F238E27FC236}">
                <a16:creationId xmlns:a16="http://schemas.microsoft.com/office/drawing/2014/main" id="{818E5525-2E26-4234-8085-E277A39D241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Проверка на возврате</a:t>
            </a:r>
          </a:p>
        </p:txBody>
      </p:sp>
      <p:sp>
        <p:nvSpPr>
          <p:cNvPr id="20" name="text-16-1746">
            <a:extLst>
              <a:ext uri="{FF2B5EF4-FFF2-40B4-BE49-F238E27FC236}">
                <a16:creationId xmlns:a16="http://schemas.microsoft.com/office/drawing/2014/main" id="{BBF7C77B-8F33-4C2A-BA7A-49AE28046CB0}"/>
              </a:ext>
            </a:extLst>
          </p:cNvPr>
          <p:cNvSpPr txBox="1"/>
          <p:nvPr/>
        </p:nvSpPr>
        <p:spPr bwMode="auto">
          <a:xfrm>
            <a:off x="8153400" y="2367042"/>
            <a:ext cx="3340100" cy="1774845"/>
          </a:xfrm>
          <a:prstGeom prst="rect">
            <a:avLst/>
          </a:prstGeom>
        </p:spPr>
        <p:txBody>
          <a:bodyPr vert="horz" wrap="square" lIns="38100" tIns="25400" rIns="38100" bIns="25400" rtlCol="0" anchor="ctr">
            <a:spAutoFit/>
          </a:bodyPr>
          <a:lstStyle/>
          <a:p>
            <a:r>
              <a:rPr lang="en-US" sz="2800">
                <a:solidFill>
                  <a:srgbClr val="352379"/>
                </a:solidFill>
                <a:latin typeface="Montserrat"/>
              </a:rPr>
              <a:t>low[4] = 3</a:t>
            </a:r>
          </a:p>
          <a:p>
            <a:r>
              <a:rPr lang="en-US" sz="2800">
                <a:solidFill>
                  <a:srgbClr val="352379"/>
                </a:solidFill>
                <a:latin typeface="Montserrat"/>
              </a:rPr>
              <a:t>tin[3] = 2</a:t>
            </a:r>
          </a:p>
          <a:p>
            <a:endParaRPr lang="en-US" sz="2800">
              <a:solidFill>
                <a:srgbClr val="352379"/>
              </a:solidFill>
              <a:latin typeface="Montserrat"/>
            </a:endParaRPr>
          </a:p>
          <a:p>
            <a:r>
              <a:rPr lang="en-US" sz="2800">
                <a:solidFill>
                  <a:srgbClr val="352379"/>
                </a:solidFill>
                <a:latin typeface="Montserrat"/>
              </a:rPr>
              <a:t>3 &gt; 2</a:t>
            </a:r>
            <a:endParaRPr lang="ru-RU" sz="2800">
              <a:solidFill>
                <a:srgbClr val="352379"/>
              </a:solidFill>
              <a:latin typeface="Montserrat"/>
            </a:endParaRPr>
          </a:p>
        </p:txBody>
      </p:sp>
      <p:sp>
        <p:nvSpPr>
          <p:cNvPr id="21" name="box-17-1747">
            <a:extLst>
              <a:ext uri="{FF2B5EF4-FFF2-40B4-BE49-F238E27FC236}">
                <a16:creationId xmlns:a16="http://schemas.microsoft.com/office/drawing/2014/main" id="{583F7129-6BAF-435D-B22F-A03F6361D365}"/>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18-1748">
            <a:extLst>
              <a:ext uri="{FF2B5EF4-FFF2-40B4-BE49-F238E27FC236}">
                <a16:creationId xmlns:a16="http://schemas.microsoft.com/office/drawing/2014/main" id="{55850F8A-B925-4AB0-AE9D-E633A4AA41A1}"/>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Результат: один мост, ребро 3–4.</a:t>
            </a:r>
          </a:p>
        </p:txBody>
      </p:sp>
      <p:grpSp>
        <p:nvGrpSpPr>
          <p:cNvPr id="30" name="animation-stage-1">
            <a:extLst>
              <a:ext uri="{FF2B5EF4-FFF2-40B4-BE49-F238E27FC236}">
                <a16:creationId xmlns:a16="http://schemas.microsoft.com/office/drawing/2014/main" id="{64BA4D0F-D456-4B0A-A9EE-48118F7DC4FF}"/>
              </a:ext>
            </a:extLst>
          </p:cNvPr>
          <p:cNvGrpSpPr/>
          <p:nvPr/>
        </p:nvGrpSpPr>
        <p:grpSpPr>
          <a:xfrm>
            <a:off x="2921000" y="1816100"/>
            <a:ext cx="8788400" cy="3657600"/>
            <a:chOff x="2921000" y="1816100"/>
            <a:chExt cx="8788400" cy="3657600"/>
          </a:xfrm>
        </p:grpSpPr>
        <p:cxnSp>
          <p:nvCxnSpPr>
            <p:cNvPr id="23" name="active-edge-3-4-1749">
              <a:extLst>
                <a:ext uri="{FF2B5EF4-FFF2-40B4-BE49-F238E27FC236}">
                  <a16:creationId xmlns:a16="http://schemas.microsoft.com/office/drawing/2014/main" id="{1429A716-E767-43EA-8A11-ABC5AC6C92A6}"/>
                </a:ext>
              </a:extLst>
            </p:cNvPr>
            <p:cNvCxnSpPr/>
            <p:nvPr/>
          </p:nvCxnSpPr>
          <p:spPr>
            <a:xfrm>
              <a:off x="3556000" y="3556000"/>
              <a:ext cx="1460500" cy="0"/>
            </a:xfrm>
            <a:prstGeom prst="straightConnector1">
              <a:avLst/>
            </a:prstGeom>
            <a:ln w="38100">
              <a:solidFill>
                <a:srgbClr val="762181"/>
              </a:solidFill>
            </a:ln>
          </p:spPr>
          <p:style>
            <a:lnRef idx="1">
              <a:schemeClr val="accent1"/>
            </a:lnRef>
            <a:fillRef idx="0">
              <a:schemeClr val="accent1"/>
            </a:fillRef>
            <a:effectRef idx="0">
              <a:schemeClr val="accent1"/>
            </a:effectRef>
            <a:fontRef idx="minor">
              <a:schemeClr val="tx1"/>
            </a:fontRef>
          </p:style>
        </p:cxnSp>
        <p:sp>
          <p:nvSpPr>
            <p:cNvPr id="24" name="active-node-3-1750">
              <a:extLst>
                <a:ext uri="{FF2B5EF4-FFF2-40B4-BE49-F238E27FC236}">
                  <a16:creationId xmlns:a16="http://schemas.microsoft.com/office/drawing/2014/main" id="{B3F6830C-322D-49CE-9747-A03ECB9D5E43}"/>
                </a:ext>
              </a:extLst>
            </p:cNvPr>
            <p:cNvSpPr/>
            <p:nvPr/>
          </p:nvSpPr>
          <p:spPr>
            <a:xfrm>
              <a:off x="2921000" y="3238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3</a:t>
              </a:r>
            </a:p>
          </p:txBody>
        </p:sp>
        <p:sp>
          <p:nvSpPr>
            <p:cNvPr id="25" name="active-node-4-1751">
              <a:extLst>
                <a:ext uri="{FF2B5EF4-FFF2-40B4-BE49-F238E27FC236}">
                  <a16:creationId xmlns:a16="http://schemas.microsoft.com/office/drawing/2014/main" id="{E541329B-332D-4008-B692-C95F9B00781F}"/>
                </a:ext>
              </a:extLst>
            </p:cNvPr>
            <p:cNvSpPr/>
            <p:nvPr/>
          </p:nvSpPr>
          <p:spPr>
            <a:xfrm>
              <a:off x="5016500" y="3238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4</a:t>
              </a:r>
            </a:p>
          </p:txBody>
        </p:sp>
        <p:sp>
          <p:nvSpPr>
            <p:cNvPr id="26" name="box-3-1752">
              <a:extLst>
                <a:ext uri="{FF2B5EF4-FFF2-40B4-BE49-F238E27FC236}">
                  <a16:creationId xmlns:a16="http://schemas.microsoft.com/office/drawing/2014/main" id="{F9946EF6-BF82-4213-B2A8-0371F7218F39}"/>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box-4-1753">
              <a:extLst>
                <a:ext uri="{FF2B5EF4-FFF2-40B4-BE49-F238E27FC236}">
                  <a16:creationId xmlns:a16="http://schemas.microsoft.com/office/drawing/2014/main" id="{F081F58C-65AA-47A0-A33E-E478D39D7851}"/>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5-1754">
              <a:extLst>
                <a:ext uri="{FF2B5EF4-FFF2-40B4-BE49-F238E27FC236}">
                  <a16:creationId xmlns:a16="http://schemas.microsoft.com/office/drawing/2014/main" id="{E1D5A631-6836-4F05-8CB6-17BFEF84F939}"/>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Мост найден</a:t>
              </a:r>
            </a:p>
          </p:txBody>
        </p:sp>
        <p:sp>
          <p:nvSpPr>
            <p:cNvPr id="29" name="text-6-1755">
              <a:extLst>
                <a:ext uri="{FF2B5EF4-FFF2-40B4-BE49-F238E27FC236}">
                  <a16:creationId xmlns:a16="http://schemas.microsoft.com/office/drawing/2014/main" id="{0F319373-4F4A-4519-A3CF-933E9FBA1C75}"/>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ru-RU" sz="2100">
                  <a:solidFill>
                    <a:srgbClr val="352379"/>
                  </a:solidFill>
                  <a:latin typeface="Montserrat"/>
                </a:rPr>
                <a:t>Ребро 3–4</a:t>
              </a:r>
            </a:p>
            <a:p>
              <a:endParaRPr lang="ru-RU" sz="2100">
                <a:solidFill>
                  <a:srgbClr val="352379"/>
                </a:solidFill>
                <a:latin typeface="Montserrat"/>
              </a:endParaRPr>
            </a:p>
            <a:p>
              <a:r>
                <a:rPr lang="ru-RU" sz="2100">
                  <a:solidFill>
                    <a:srgbClr val="352379"/>
                  </a:solidFill>
                  <a:latin typeface="Montserrat"/>
                </a:rPr>
                <a:t>Обхода назад нет</a:t>
              </a:r>
            </a:p>
            <a:p>
              <a:endParaRPr lang="ru-RU" sz="2100">
                <a:solidFill>
                  <a:srgbClr val="352379"/>
                </a:solidFill>
                <a:latin typeface="Montserrat"/>
              </a:endParaRPr>
            </a:p>
            <a:p>
              <a:r>
                <a:rPr lang="ru-RU" sz="2100">
                  <a:solidFill>
                    <a:srgbClr val="352379"/>
                  </a:solidFill>
                  <a:latin typeface="Montserrat"/>
                </a:rPr>
                <a:t>O(V + E)</a:t>
              </a:r>
            </a:p>
          </p:txBody>
        </p:sp>
      </p:grpSp>
      <p:sp>
        <p:nvSpPr>
          <p:cNvPr id="31" name="lecture-footer">
            <a:extLst>
              <a:ext uri="{FF2B5EF4-FFF2-40B4-BE49-F238E27FC236}">
                <a16:creationId xmlns:a16="http://schemas.microsoft.com/office/drawing/2014/main" id="{5CDECA40-0936-437D-8501-4156F7DEED4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2" name="slide-number">
            <a:extLst>
              <a:ext uri="{FF2B5EF4-FFF2-40B4-BE49-F238E27FC236}">
                <a16:creationId xmlns:a16="http://schemas.microsoft.com/office/drawing/2014/main" id="{7ADD7317-E6E4-428F-BD90-9D4686124C4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48</a:t>
            </a:r>
          </a:p>
        </p:txBody>
      </p:sp>
    </p:spTree>
    <p:extLst>
      <p:ext uri="{BB962C8B-B14F-4D97-AF65-F5344CB8AC3E}">
        <p14:creationId xmlns:p14="http://schemas.microsoft.com/office/powerpoint/2010/main" val="97238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Критическая вершина</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4AA56323-A97A-4EB6-A56F-C42D3AA2CAB7}"/>
              </a:ext>
            </a:extLst>
          </p:cNvPr>
          <p:cNvCxnSpPr/>
          <p:nvPr/>
        </p:nvCxnSpPr>
        <p:spPr>
          <a:xfrm>
            <a:off x="1305062" y="2855558"/>
            <a:ext cx="183876" cy="16548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A-X">
            <a:extLst>
              <a:ext uri="{FF2B5EF4-FFF2-40B4-BE49-F238E27FC236}">
                <a16:creationId xmlns:a16="http://schemas.microsoft.com/office/drawing/2014/main" id="{37899E26-BCE5-4DA8-AF2B-70A13A002EE6}"/>
              </a:ext>
            </a:extLst>
          </p:cNvPr>
          <p:cNvCxnSpPr/>
          <p:nvPr/>
        </p:nvCxnSpPr>
        <p:spPr>
          <a:xfrm>
            <a:off x="1565670" y="2655697"/>
            <a:ext cx="2329660" cy="91160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g-edge-B-X">
            <a:extLst>
              <a:ext uri="{FF2B5EF4-FFF2-40B4-BE49-F238E27FC236}">
                <a16:creationId xmlns:a16="http://schemas.microsoft.com/office/drawing/2014/main" id="{BA867A50-8558-4900-8DE7-646D276D803B}"/>
              </a:ext>
            </a:extLst>
          </p:cNvPr>
          <p:cNvCxnSpPr/>
          <p:nvPr/>
        </p:nvCxnSpPr>
        <p:spPr>
          <a:xfrm flipV="1">
            <a:off x="1815829" y="3808069"/>
            <a:ext cx="2083342" cy="89286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g-edge-X-C">
            <a:extLst>
              <a:ext uri="{FF2B5EF4-FFF2-40B4-BE49-F238E27FC236}">
                <a16:creationId xmlns:a16="http://schemas.microsoft.com/office/drawing/2014/main" id="{425398BF-4F4D-4215-AAB9-524EBACCAE61}"/>
              </a:ext>
            </a:extLst>
          </p:cNvPr>
          <p:cNvCxnSpPr/>
          <p:nvPr/>
        </p:nvCxnSpPr>
        <p:spPr>
          <a:xfrm flipV="1">
            <a:off x="4481717" y="2667632"/>
            <a:ext cx="2022066" cy="88773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g-edge-X-D">
            <a:extLst>
              <a:ext uri="{FF2B5EF4-FFF2-40B4-BE49-F238E27FC236}">
                <a16:creationId xmlns:a16="http://schemas.microsoft.com/office/drawing/2014/main" id="{C4648108-4237-4F47-B938-728552CEDCAE}"/>
              </a:ext>
            </a:extLst>
          </p:cNvPr>
          <p:cNvCxnSpPr/>
          <p:nvPr/>
        </p:nvCxnSpPr>
        <p:spPr>
          <a:xfrm>
            <a:off x="4484861" y="3803216"/>
            <a:ext cx="2206278" cy="90256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g-edge-C-D">
            <a:extLst>
              <a:ext uri="{FF2B5EF4-FFF2-40B4-BE49-F238E27FC236}">
                <a16:creationId xmlns:a16="http://schemas.microsoft.com/office/drawing/2014/main" id="{6CEB406C-1D5A-47E3-B9EA-082D6FC85047}"/>
              </a:ext>
            </a:extLst>
          </p:cNvPr>
          <p:cNvCxnSpPr/>
          <p:nvPr/>
        </p:nvCxnSpPr>
        <p:spPr>
          <a:xfrm>
            <a:off x="6820867" y="2856403"/>
            <a:ext cx="137766" cy="165319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0" name="!!g-node-A">
            <a:extLst>
              <a:ext uri="{FF2B5EF4-FFF2-40B4-BE49-F238E27FC236}">
                <a16:creationId xmlns:a16="http://schemas.microsoft.com/office/drawing/2014/main" id="{F0AC9D18-C55D-43E4-AFCF-94CC948AEFB1}"/>
              </a:ext>
            </a:extLst>
          </p:cNvPr>
          <p:cNvSpPr/>
          <p:nvPr/>
        </p:nvSpPr>
        <p:spPr>
          <a:xfrm>
            <a:off x="9525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1" name="!!g-node-B">
            <a:extLst>
              <a:ext uri="{FF2B5EF4-FFF2-40B4-BE49-F238E27FC236}">
                <a16:creationId xmlns:a16="http://schemas.microsoft.com/office/drawing/2014/main" id="{7BE1B67A-E5C3-4FB0-85B0-8DB17AA7F85C}"/>
              </a:ext>
            </a:extLst>
          </p:cNvPr>
          <p:cNvSpPr/>
          <p:nvPr/>
        </p:nvSpPr>
        <p:spPr>
          <a:xfrm>
            <a:off x="1206500" y="450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2" name="!!g-node-X">
            <a:extLst>
              <a:ext uri="{FF2B5EF4-FFF2-40B4-BE49-F238E27FC236}">
                <a16:creationId xmlns:a16="http://schemas.microsoft.com/office/drawing/2014/main" id="{A0D02BB9-DC59-4356-80E4-5996F9C9BB45}"/>
              </a:ext>
            </a:extLst>
          </p:cNvPr>
          <p:cNvSpPr/>
          <p:nvPr/>
        </p:nvSpPr>
        <p:spPr>
          <a:xfrm>
            <a:off x="3873500" y="33655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X</a:t>
            </a:r>
            <a:endParaRPr lang="ru-RU" sz="2200">
              <a:solidFill>
                <a:srgbClr val="FFFFFF"/>
              </a:solidFill>
              <a:latin typeface="Montserrat"/>
            </a:endParaRPr>
          </a:p>
        </p:txBody>
      </p:sp>
      <p:sp>
        <p:nvSpPr>
          <p:cNvPr id="13" name="!!g-node-C">
            <a:extLst>
              <a:ext uri="{FF2B5EF4-FFF2-40B4-BE49-F238E27FC236}">
                <a16:creationId xmlns:a16="http://schemas.microsoft.com/office/drawing/2014/main" id="{DD56E0E0-5DFA-4424-BCCB-3298B37B7264}"/>
              </a:ext>
            </a:extLst>
          </p:cNvPr>
          <p:cNvSpPr/>
          <p:nvPr/>
        </p:nvSpPr>
        <p:spPr>
          <a:xfrm>
            <a:off x="64770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4" name="!!g-node-D">
            <a:extLst>
              <a:ext uri="{FF2B5EF4-FFF2-40B4-BE49-F238E27FC236}">
                <a16:creationId xmlns:a16="http://schemas.microsoft.com/office/drawing/2014/main" id="{31185CB2-D06B-4873-92AF-284CA9A86C0D}"/>
              </a:ext>
            </a:extLst>
          </p:cNvPr>
          <p:cNvSpPr/>
          <p:nvPr/>
        </p:nvSpPr>
        <p:spPr>
          <a:xfrm>
            <a:off x="6667500" y="450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5" name="box-11-1767">
            <a:extLst>
              <a:ext uri="{FF2B5EF4-FFF2-40B4-BE49-F238E27FC236}">
                <a16:creationId xmlns:a16="http://schemas.microsoft.com/office/drawing/2014/main" id="{76CF01C8-BBB2-4363-8CF6-1DB8930D2EF0}"/>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box-12-1768">
            <a:extLst>
              <a:ext uri="{FF2B5EF4-FFF2-40B4-BE49-F238E27FC236}">
                <a16:creationId xmlns:a16="http://schemas.microsoft.com/office/drawing/2014/main" id="{6130D380-FD21-444B-954D-CC3B5C4D3C9C}"/>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1769">
            <a:extLst>
              <a:ext uri="{FF2B5EF4-FFF2-40B4-BE49-F238E27FC236}">
                <a16:creationId xmlns:a16="http://schemas.microsoft.com/office/drawing/2014/main" id="{C44EE940-A920-453A-9675-A679D8A56C3A}"/>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Общий узел</a:t>
            </a:r>
          </a:p>
        </p:txBody>
      </p:sp>
      <p:sp>
        <p:nvSpPr>
          <p:cNvPr id="18" name="text-14-1770">
            <a:extLst>
              <a:ext uri="{FF2B5EF4-FFF2-40B4-BE49-F238E27FC236}">
                <a16:creationId xmlns:a16="http://schemas.microsoft.com/office/drawing/2014/main" id="{315FE8AF-25A4-4585-8165-69D79A543F09}"/>
              </a:ext>
            </a:extLst>
          </p:cNvPr>
          <p:cNvSpPr txBox="1"/>
          <p:nvPr/>
        </p:nvSpPr>
        <p:spPr bwMode="auto">
          <a:xfrm>
            <a:off x="8153400" y="2515801"/>
            <a:ext cx="3340100" cy="1159292"/>
          </a:xfrm>
          <a:prstGeom prst="rect">
            <a:avLst/>
          </a:prstGeom>
        </p:spPr>
        <p:txBody>
          <a:bodyPr vert="horz" wrap="square" lIns="38100" tIns="25400" rIns="38100" bIns="25400" rtlCol="0" anchor="ctr">
            <a:spAutoFit/>
          </a:bodyPr>
          <a:lstStyle/>
          <a:p>
            <a:r>
              <a:rPr lang="ru-RU" sz="2400">
                <a:solidFill>
                  <a:srgbClr val="352379"/>
                </a:solidFill>
                <a:latin typeface="Montserrat"/>
              </a:rPr>
              <a:t>Все пути между</a:t>
            </a:r>
          </a:p>
          <a:p>
            <a:r>
              <a:rPr lang="ru-RU" sz="2400">
                <a:solidFill>
                  <a:srgbClr val="352379"/>
                </a:solidFill>
                <a:latin typeface="Montserrat"/>
              </a:rPr>
              <a:t>двумя частями</a:t>
            </a:r>
          </a:p>
          <a:p>
            <a:r>
              <a:rPr lang="ru-RU" sz="2400">
                <a:solidFill>
                  <a:srgbClr val="352379"/>
                </a:solidFill>
                <a:latin typeface="Montserrat"/>
              </a:rPr>
              <a:t>проходят через X</a:t>
            </a:r>
          </a:p>
        </p:txBody>
      </p:sp>
      <p:sp>
        <p:nvSpPr>
          <p:cNvPr id="19" name="box-15-1771">
            <a:extLst>
              <a:ext uri="{FF2B5EF4-FFF2-40B4-BE49-F238E27FC236}">
                <a16:creationId xmlns:a16="http://schemas.microsoft.com/office/drawing/2014/main" id="{E9D8F0F2-173B-40E2-AEE7-5AF060320E32}"/>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text-16-1772">
            <a:extLst>
              <a:ext uri="{FF2B5EF4-FFF2-40B4-BE49-F238E27FC236}">
                <a16:creationId xmlns:a16="http://schemas.microsoft.com/office/drawing/2014/main" id="{90B7457F-449F-4A17-B09D-EFBF00E3B1DA}"/>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Что произойдёт при удалении X?</a:t>
            </a:r>
          </a:p>
        </p:txBody>
      </p:sp>
      <p:sp>
        <p:nvSpPr>
          <p:cNvPr id="21" name="lecture-footer">
            <a:extLst>
              <a:ext uri="{FF2B5EF4-FFF2-40B4-BE49-F238E27FC236}">
                <a16:creationId xmlns:a16="http://schemas.microsoft.com/office/drawing/2014/main" id="{50BF6DE9-5E29-4770-BB70-4D5A136B9F37}"/>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2" name="slide-number">
            <a:extLst>
              <a:ext uri="{FF2B5EF4-FFF2-40B4-BE49-F238E27FC236}">
                <a16:creationId xmlns:a16="http://schemas.microsoft.com/office/drawing/2014/main" id="{BAEE60F9-A451-4163-AA67-E294DC7A754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49</a:t>
            </a:r>
          </a:p>
        </p:txBody>
      </p:sp>
    </p:spTree>
    <p:extLst>
      <p:ext uri="{BB962C8B-B14F-4D97-AF65-F5344CB8AC3E}">
        <p14:creationId xmlns:p14="http://schemas.microsoft.com/office/powerpoint/2010/main" val="770042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Удалили вершину: сеть распалась</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32678280-3388-472A-A0AC-D512EEF888A3}"/>
              </a:ext>
            </a:extLst>
          </p:cNvPr>
          <p:cNvCxnSpPr/>
          <p:nvPr/>
        </p:nvCxnSpPr>
        <p:spPr>
          <a:xfrm>
            <a:off x="1305062" y="2855558"/>
            <a:ext cx="183876" cy="16548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g-edge-C-D">
            <a:extLst>
              <a:ext uri="{FF2B5EF4-FFF2-40B4-BE49-F238E27FC236}">
                <a16:creationId xmlns:a16="http://schemas.microsoft.com/office/drawing/2014/main" id="{BA16A706-4D8E-40D4-8F20-8DC788793A42}"/>
              </a:ext>
            </a:extLst>
          </p:cNvPr>
          <p:cNvCxnSpPr/>
          <p:nvPr/>
        </p:nvCxnSpPr>
        <p:spPr>
          <a:xfrm>
            <a:off x="6820867" y="2856403"/>
            <a:ext cx="137766" cy="165319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5" name="!!g-node-A">
            <a:extLst>
              <a:ext uri="{FF2B5EF4-FFF2-40B4-BE49-F238E27FC236}">
                <a16:creationId xmlns:a16="http://schemas.microsoft.com/office/drawing/2014/main" id="{0D2CD074-C83E-428A-9C5A-E5AE6B259A84}"/>
              </a:ext>
            </a:extLst>
          </p:cNvPr>
          <p:cNvSpPr/>
          <p:nvPr/>
        </p:nvSpPr>
        <p:spPr>
          <a:xfrm>
            <a:off x="952500" y="2222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6" name="!!g-node-B">
            <a:extLst>
              <a:ext uri="{FF2B5EF4-FFF2-40B4-BE49-F238E27FC236}">
                <a16:creationId xmlns:a16="http://schemas.microsoft.com/office/drawing/2014/main" id="{9372BACB-3BC8-4CD5-BA5F-B4197760463B}"/>
              </a:ext>
            </a:extLst>
          </p:cNvPr>
          <p:cNvSpPr/>
          <p:nvPr/>
        </p:nvSpPr>
        <p:spPr>
          <a:xfrm>
            <a:off x="1206500" y="45085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8" name="!!g-node-C">
            <a:extLst>
              <a:ext uri="{FF2B5EF4-FFF2-40B4-BE49-F238E27FC236}">
                <a16:creationId xmlns:a16="http://schemas.microsoft.com/office/drawing/2014/main" id="{EB27EAF4-71F1-4E2B-B7C7-63DBA5759E62}"/>
              </a:ext>
            </a:extLst>
          </p:cNvPr>
          <p:cNvSpPr/>
          <p:nvPr/>
        </p:nvSpPr>
        <p:spPr>
          <a:xfrm>
            <a:off x="6477000" y="2222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9" name="!!g-node-D">
            <a:extLst>
              <a:ext uri="{FF2B5EF4-FFF2-40B4-BE49-F238E27FC236}">
                <a16:creationId xmlns:a16="http://schemas.microsoft.com/office/drawing/2014/main" id="{01BB5677-DBCC-491F-A786-976569404AA5}"/>
              </a:ext>
            </a:extLst>
          </p:cNvPr>
          <p:cNvSpPr/>
          <p:nvPr/>
        </p:nvSpPr>
        <p:spPr>
          <a:xfrm>
            <a:off x="6667500" y="4508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10" name="box-6-1779">
            <a:extLst>
              <a:ext uri="{FF2B5EF4-FFF2-40B4-BE49-F238E27FC236}">
                <a16:creationId xmlns:a16="http://schemas.microsoft.com/office/drawing/2014/main" id="{6C51E869-0806-40EB-B355-A857E197722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x-7-1780">
            <a:extLst>
              <a:ext uri="{FF2B5EF4-FFF2-40B4-BE49-F238E27FC236}">
                <a16:creationId xmlns:a16="http://schemas.microsoft.com/office/drawing/2014/main" id="{EF9C75A1-1F34-4C0E-9692-64F447AF275D}"/>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8-1781">
            <a:extLst>
              <a:ext uri="{FF2B5EF4-FFF2-40B4-BE49-F238E27FC236}">
                <a16:creationId xmlns:a16="http://schemas.microsoft.com/office/drawing/2014/main" id="{559E4F9F-41C2-4487-BE57-48B11C1EFCD0}"/>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Точка сочленения</a:t>
            </a:r>
          </a:p>
        </p:txBody>
      </p:sp>
      <p:sp>
        <p:nvSpPr>
          <p:cNvPr id="13" name="text-9-1782">
            <a:extLst>
              <a:ext uri="{FF2B5EF4-FFF2-40B4-BE49-F238E27FC236}">
                <a16:creationId xmlns:a16="http://schemas.microsoft.com/office/drawing/2014/main" id="{A7A3DA1E-1B2F-45E1-A89D-A35DD9D3695F}"/>
              </a:ext>
            </a:extLst>
          </p:cNvPr>
          <p:cNvSpPr txBox="1"/>
          <p:nvPr/>
        </p:nvSpPr>
        <p:spPr bwMode="auto">
          <a:xfrm>
            <a:off x="8153400" y="2578099"/>
            <a:ext cx="3340100" cy="2781300"/>
          </a:xfrm>
          <a:prstGeom prst="rect">
            <a:avLst/>
          </a:prstGeom>
        </p:spPr>
        <p:txBody>
          <a:bodyPr vert="horz" wrap="square" lIns="38100" tIns="25400" rIns="38100" bIns="25400" rtlCol="0" anchor="t">
            <a:noAutofit/>
          </a:bodyPr>
          <a:lstStyle/>
          <a:p>
            <a:r>
              <a:rPr lang="ru-RU" sz="2200">
                <a:solidFill>
                  <a:srgbClr val="352379"/>
                </a:solidFill>
                <a:latin typeface="Montserrat"/>
              </a:rPr>
              <a:t>Точка сочленения — вершина неориентированного графа, удаление которой вместе с её рёбрами увеличивает число компонент связности.</a:t>
            </a:r>
          </a:p>
        </p:txBody>
      </p:sp>
      <p:sp>
        <p:nvSpPr>
          <p:cNvPr id="14" name="box-10-1783">
            <a:extLst>
              <a:ext uri="{FF2B5EF4-FFF2-40B4-BE49-F238E27FC236}">
                <a16:creationId xmlns:a16="http://schemas.microsoft.com/office/drawing/2014/main" id="{6BDB7516-C675-4194-B708-646CEF0907E4}"/>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11-1784">
            <a:extLst>
              <a:ext uri="{FF2B5EF4-FFF2-40B4-BE49-F238E27FC236}">
                <a16:creationId xmlns:a16="http://schemas.microsoft.com/office/drawing/2014/main" id="{046A584E-F68A-447D-983D-54F7E7760E58}"/>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Критический узел и критическое ребро — разные свойства.</a:t>
            </a:r>
          </a:p>
        </p:txBody>
      </p:sp>
      <p:sp>
        <p:nvSpPr>
          <p:cNvPr id="16" name="lecture-footer">
            <a:extLst>
              <a:ext uri="{FF2B5EF4-FFF2-40B4-BE49-F238E27FC236}">
                <a16:creationId xmlns:a16="http://schemas.microsoft.com/office/drawing/2014/main" id="{8D30188C-4802-4AF3-B8B0-AD195075F61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7" name="slide-number">
            <a:extLst>
              <a:ext uri="{FF2B5EF4-FFF2-40B4-BE49-F238E27FC236}">
                <a16:creationId xmlns:a16="http://schemas.microsoft.com/office/drawing/2014/main" id="{0D488342-3637-4AC3-90CF-31D13AFCD5E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50</a:t>
            </a:r>
          </a:p>
        </p:txBody>
      </p:sp>
    </p:spTree>
    <p:extLst>
      <p:ext uri="{BB962C8B-B14F-4D97-AF65-F5344CB8AC3E}">
        <p14:creationId xmlns:p14="http://schemas.microsoft.com/office/powerpoint/2010/main" val="3671502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Мост и точка сочленения</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graphicFrame>
        <p:nvGraphicFramePr>
          <p:cNvPr id="3" name="table-0-1785">
            <a:extLst>
              <a:ext uri="{FF2B5EF4-FFF2-40B4-BE49-F238E27FC236}">
                <a16:creationId xmlns:a16="http://schemas.microsoft.com/office/drawing/2014/main" id="{BA63D1BF-AABE-4E1C-8D78-477BD297B591}"/>
              </a:ext>
            </a:extLst>
          </p:cNvPr>
          <p:cNvGraphicFramePr>
            <a:graphicFrameLocks noGrp="1"/>
          </p:cNvGraphicFramePr>
          <p:nvPr>
            <p:extLst>
              <p:ext uri="{D42A27DB-BD31-4B8C-83A1-F6EECF244321}">
                <p14:modId xmlns:p14="http://schemas.microsoft.com/office/powerpoint/2010/main" val="1750303533"/>
              </p:ext>
            </p:extLst>
          </p:nvPr>
        </p:nvGraphicFramePr>
        <p:xfrm>
          <a:off x="698500" y="1651000"/>
          <a:ext cx="10795000" cy="2148840"/>
        </p:xfrm>
        <a:graphic>
          <a:graphicData uri="http://schemas.openxmlformats.org/drawingml/2006/table">
            <a:tbl>
              <a:tblPr firstRow="1" bandRow="1">
                <a:tableStyleId>{0E3FDE45-AF77-4B5C-9715-49D594BDF05E}</a:tableStyleId>
              </a:tblPr>
              <a:tblGrid>
                <a:gridCol w="2984500">
                  <a:extLst>
                    <a:ext uri="{9D8B030D-6E8A-4147-A177-3AD203B41FA5}">
                      <a16:colId xmlns:a16="http://schemas.microsoft.com/office/drawing/2014/main" val="28991300"/>
                    </a:ext>
                  </a:extLst>
                </a:gridCol>
                <a:gridCol w="3048000">
                  <a:extLst>
                    <a:ext uri="{9D8B030D-6E8A-4147-A177-3AD203B41FA5}">
                      <a16:colId xmlns:a16="http://schemas.microsoft.com/office/drawing/2014/main" val="2999044460"/>
                    </a:ext>
                  </a:extLst>
                </a:gridCol>
                <a:gridCol w="4762500">
                  <a:extLst>
                    <a:ext uri="{9D8B030D-6E8A-4147-A177-3AD203B41FA5}">
                      <a16:colId xmlns:a16="http://schemas.microsoft.com/office/drawing/2014/main" val="2828280516"/>
                    </a:ext>
                  </a:extLst>
                </a:gridCol>
              </a:tblGrid>
              <a:tr h="698500">
                <a:tc>
                  <a:txBody>
                    <a:bodyPr/>
                    <a:lstStyle/>
                    <a:p>
                      <a:pPr algn="l">
                        <a:spcBef>
                          <a:spcPts val="0"/>
                        </a:spcBef>
                        <a:spcAft>
                          <a:spcPts val="0"/>
                        </a:spcAft>
                        <a:buFontTx/>
                        <a:buNone/>
                      </a:pPr>
                      <a:r>
                        <a:rPr lang="ru-RU" sz="2300" b="1">
                          <a:solidFill>
                            <a:srgbClr val="FFFFFF"/>
                          </a:solidFill>
                          <a:latin typeface="Montserrat"/>
                        </a:rPr>
                        <a:t>Объект</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2300" b="1">
                          <a:solidFill>
                            <a:srgbClr val="FFFFFF"/>
                          </a:solidFill>
                          <a:latin typeface="Montserrat"/>
                        </a:rPr>
                        <a:t>Удаляем</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2300" b="1">
                          <a:solidFill>
                            <a:srgbClr val="FFFFFF"/>
                          </a:solidFill>
                          <a:latin typeface="Montserrat"/>
                        </a:rPr>
                        <a:t>Критерий</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352379"/>
                    </a:solidFill>
                  </a:tcPr>
                </a:tc>
                <a:extLst>
                  <a:ext uri="{0D108BD9-81ED-4DB2-BD59-A6C34878D82A}">
                    <a16:rowId xmlns:a16="http://schemas.microsoft.com/office/drawing/2014/main" val="4130687466"/>
                  </a:ext>
                </a:extLst>
              </a:tr>
              <a:tr h="698500">
                <a:tc>
                  <a:txBody>
                    <a:bodyPr/>
                    <a:lstStyle/>
                    <a:p>
                      <a:pPr algn="l">
                        <a:spcBef>
                          <a:spcPts val="0"/>
                        </a:spcBef>
                        <a:spcAft>
                          <a:spcPts val="0"/>
                        </a:spcAft>
                        <a:buFontTx/>
                        <a:buNone/>
                      </a:pPr>
                      <a:r>
                        <a:rPr lang="ru-RU" sz="2300" b="0">
                          <a:solidFill>
                            <a:srgbClr val="352379"/>
                          </a:solidFill>
                          <a:latin typeface="Montserrat"/>
                        </a:rPr>
                        <a:t>Мост</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2300" b="0">
                          <a:solidFill>
                            <a:srgbClr val="352379"/>
                          </a:solidFill>
                          <a:latin typeface="Montserrat"/>
                        </a:rPr>
                        <a:t>Одно ребро</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2300" b="0">
                          <a:solidFill>
                            <a:srgbClr val="352379"/>
                          </a:solidFill>
                          <a:latin typeface="Montserrat"/>
                        </a:rPr>
                        <a:t>Число компонент растёт</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359553814"/>
                  </a:ext>
                </a:extLst>
              </a:tr>
              <a:tr h="698500">
                <a:tc>
                  <a:txBody>
                    <a:bodyPr/>
                    <a:lstStyle/>
                    <a:p>
                      <a:pPr algn="l">
                        <a:spcBef>
                          <a:spcPts val="0"/>
                        </a:spcBef>
                        <a:spcAft>
                          <a:spcPts val="0"/>
                        </a:spcAft>
                        <a:buFontTx/>
                        <a:buNone/>
                      </a:pPr>
                      <a:r>
                        <a:rPr lang="ru-RU" sz="2300" b="0">
                          <a:solidFill>
                            <a:srgbClr val="352379"/>
                          </a:solidFill>
                          <a:latin typeface="Montserrat"/>
                        </a:rPr>
                        <a:t>Точка сочленения</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Одну вершину</a:t>
                      </a:r>
                    </a:p>
                    <a:p>
                      <a:pPr algn="l">
                        <a:spcBef>
                          <a:spcPts val="0"/>
                        </a:spcBef>
                        <a:spcAft>
                          <a:spcPts val="0"/>
                        </a:spcAft>
                        <a:buFontTx/>
                        <a:buNone/>
                      </a:pPr>
                      <a:r>
                        <a:rPr lang="ru-RU" sz="2300" b="0">
                          <a:solidFill>
                            <a:srgbClr val="352379"/>
                          </a:solidFill>
                          <a:latin typeface="Montserrat"/>
                        </a:rPr>
                        <a:t>и её рёбра</a:t>
                      </a:r>
                    </a:p>
                  </a:txBody>
                  <a:tcPr marL="127000" marR="101600" marT="25400" marB="25400" anchor="ctr">
                    <a:lnL w="9525">
                      <a:solidFill>
                        <a:srgbClr val="C7ADEB"/>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Число компонент растёт</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3551212042"/>
                  </a:ext>
                </a:extLst>
              </a:tr>
            </a:tbl>
          </a:graphicData>
        </a:graphic>
      </p:graphicFrame>
      <p:cxnSp>
        <p:nvCxnSpPr>
          <p:cNvPr id="4" name="!!compare-edge-1-2">
            <a:extLst>
              <a:ext uri="{FF2B5EF4-FFF2-40B4-BE49-F238E27FC236}">
                <a16:creationId xmlns:a16="http://schemas.microsoft.com/office/drawing/2014/main" id="{B40C882A-8E4A-4C57-839F-BD5592D100F4}"/>
              </a:ext>
            </a:extLst>
          </p:cNvPr>
          <p:cNvCxnSpPr/>
          <p:nvPr/>
        </p:nvCxnSpPr>
        <p:spPr>
          <a:xfrm>
            <a:off x="2603500" y="4940300"/>
            <a:ext cx="2794000" cy="0"/>
          </a:xfrm>
          <a:prstGeom prst="straightConnector1">
            <a:avLst/>
          </a:prstGeom>
          <a:ln w="34290">
            <a:solidFill>
              <a:srgbClr val="8C64D8"/>
            </a:solidFill>
          </a:ln>
        </p:spPr>
        <p:style>
          <a:lnRef idx="1">
            <a:schemeClr val="accent1"/>
          </a:lnRef>
          <a:fillRef idx="0">
            <a:schemeClr val="accent1"/>
          </a:fillRef>
          <a:effectRef idx="0">
            <a:schemeClr val="accent1"/>
          </a:effectRef>
          <a:fontRef idx="minor">
            <a:schemeClr val="tx1"/>
          </a:fontRef>
        </p:style>
      </p:cxnSp>
      <p:cxnSp>
        <p:nvCxnSpPr>
          <p:cNvPr id="5" name="!!compare-edge-2-3">
            <a:extLst>
              <a:ext uri="{FF2B5EF4-FFF2-40B4-BE49-F238E27FC236}">
                <a16:creationId xmlns:a16="http://schemas.microsoft.com/office/drawing/2014/main" id="{798CF1B3-EEDD-4905-8442-474E76482F36}"/>
              </a:ext>
            </a:extLst>
          </p:cNvPr>
          <p:cNvCxnSpPr/>
          <p:nvPr/>
        </p:nvCxnSpPr>
        <p:spPr>
          <a:xfrm>
            <a:off x="6032500" y="4940300"/>
            <a:ext cx="2794000" cy="0"/>
          </a:xfrm>
          <a:prstGeom prst="straightConnector1">
            <a:avLst/>
          </a:prstGeom>
          <a:ln w="34290">
            <a:solidFill>
              <a:srgbClr val="8C64D8"/>
            </a:solidFill>
          </a:ln>
        </p:spPr>
        <p:style>
          <a:lnRef idx="1">
            <a:schemeClr val="accent1"/>
          </a:lnRef>
          <a:fillRef idx="0">
            <a:schemeClr val="accent1"/>
          </a:fillRef>
          <a:effectRef idx="0">
            <a:schemeClr val="accent1"/>
          </a:effectRef>
          <a:fontRef idx="minor">
            <a:schemeClr val="tx1"/>
          </a:fontRef>
        </p:style>
      </p:cxnSp>
      <p:sp>
        <p:nvSpPr>
          <p:cNvPr id="6" name="!!compare-node-1">
            <a:extLst>
              <a:ext uri="{FF2B5EF4-FFF2-40B4-BE49-F238E27FC236}">
                <a16:creationId xmlns:a16="http://schemas.microsoft.com/office/drawing/2014/main" id="{ADD16421-B394-407A-AAEE-788251F56EA7}"/>
              </a:ext>
            </a:extLst>
          </p:cNvPr>
          <p:cNvSpPr/>
          <p:nvPr/>
        </p:nvSpPr>
        <p:spPr>
          <a:xfrm>
            <a:off x="1968500" y="46228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1</a:t>
            </a:r>
          </a:p>
        </p:txBody>
      </p:sp>
      <p:sp>
        <p:nvSpPr>
          <p:cNvPr id="8" name="!!compare-node-2">
            <a:extLst>
              <a:ext uri="{FF2B5EF4-FFF2-40B4-BE49-F238E27FC236}">
                <a16:creationId xmlns:a16="http://schemas.microsoft.com/office/drawing/2014/main" id="{853ED172-F573-404F-BC82-7EC67A19B186}"/>
              </a:ext>
            </a:extLst>
          </p:cNvPr>
          <p:cNvSpPr/>
          <p:nvPr/>
        </p:nvSpPr>
        <p:spPr>
          <a:xfrm>
            <a:off x="5397500" y="4622800"/>
            <a:ext cx="635000" cy="6350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FFFFFF"/>
                </a:solidFill>
                <a:latin typeface="Montserrat"/>
              </a:rPr>
              <a:t>2</a:t>
            </a:r>
          </a:p>
        </p:txBody>
      </p:sp>
      <p:sp>
        <p:nvSpPr>
          <p:cNvPr id="9" name="!!compare-node-3">
            <a:extLst>
              <a:ext uri="{FF2B5EF4-FFF2-40B4-BE49-F238E27FC236}">
                <a16:creationId xmlns:a16="http://schemas.microsoft.com/office/drawing/2014/main" id="{30F267B9-CA78-4644-B2D5-8141045236B9}"/>
              </a:ext>
            </a:extLst>
          </p:cNvPr>
          <p:cNvSpPr/>
          <p:nvPr/>
        </p:nvSpPr>
        <p:spPr>
          <a:xfrm>
            <a:off x="8826500" y="46228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ru-RU" sz="2200">
                <a:solidFill>
                  <a:srgbClr val="352379"/>
                </a:solidFill>
                <a:latin typeface="Montserrat"/>
              </a:rPr>
              <a:t>3</a:t>
            </a:r>
          </a:p>
        </p:txBody>
      </p:sp>
      <p:sp>
        <p:nvSpPr>
          <p:cNvPr id="10" name="box-6-1791">
            <a:extLst>
              <a:ext uri="{FF2B5EF4-FFF2-40B4-BE49-F238E27FC236}">
                <a16:creationId xmlns:a16="http://schemas.microsoft.com/office/drawing/2014/main" id="{D49620D0-0BBD-440B-A47E-475203789B7C}"/>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7-1792">
            <a:extLst>
              <a:ext uri="{FF2B5EF4-FFF2-40B4-BE49-F238E27FC236}">
                <a16:creationId xmlns:a16="http://schemas.microsoft.com/office/drawing/2014/main" id="{BD19EAAC-EE65-4F47-A6D9-99B36A20907C}"/>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В пути 1–2–3: два моста, одна точка сочленения.</a:t>
            </a:r>
          </a:p>
        </p:txBody>
      </p:sp>
      <p:sp>
        <p:nvSpPr>
          <p:cNvPr id="12" name="lecture-footer">
            <a:extLst>
              <a:ext uri="{FF2B5EF4-FFF2-40B4-BE49-F238E27FC236}">
                <a16:creationId xmlns:a16="http://schemas.microsoft.com/office/drawing/2014/main" id="{D7BDD72F-1E9A-44FC-A00E-CDA4B56FDA6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3" name="slide-number">
            <a:extLst>
              <a:ext uri="{FF2B5EF4-FFF2-40B4-BE49-F238E27FC236}">
                <a16:creationId xmlns:a16="http://schemas.microsoft.com/office/drawing/2014/main" id="{EBCC7ACB-2A58-49D1-8E6E-2DB9B5C269E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51</a:t>
            </a:r>
          </a:p>
        </p:txBody>
      </p:sp>
    </p:spTree>
    <p:extLst>
      <p:ext uri="{BB962C8B-B14F-4D97-AF65-F5344CB8AC3E}">
        <p14:creationId xmlns:p14="http://schemas.microsoft.com/office/powerpoint/2010/main" val="3765258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Точка сочленения: два случая</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text-0-1793">
            <a:extLst>
              <a:ext uri="{FF2B5EF4-FFF2-40B4-BE49-F238E27FC236}">
                <a16:creationId xmlns:a16="http://schemas.microsoft.com/office/drawing/2014/main" id="{380C5842-1E15-442D-B8AF-DE7C2FE694A8}"/>
              </a:ext>
            </a:extLst>
          </p:cNvPr>
          <p:cNvSpPr txBox="1"/>
          <p:nvPr/>
        </p:nvSpPr>
        <p:spPr bwMode="auto">
          <a:xfrm>
            <a:off x="698500" y="1533639"/>
            <a:ext cx="5080000" cy="436017"/>
          </a:xfrm>
          <a:prstGeom prst="rect">
            <a:avLst/>
          </a:prstGeom>
        </p:spPr>
        <p:txBody>
          <a:bodyPr vert="horz" wrap="square" lIns="38100" tIns="25400" rIns="38100" bIns="25400" rtlCol="0" anchor="ctr">
            <a:spAutoFit/>
          </a:bodyPr>
          <a:lstStyle/>
          <a:p>
            <a:r>
              <a:rPr lang="ru-RU" sz="2500" b="1">
                <a:solidFill>
                  <a:srgbClr val="352379"/>
                </a:solidFill>
                <a:latin typeface="Montserrat"/>
              </a:rPr>
              <a:t>Не корень </a:t>
            </a:r>
            <a:r>
              <a:rPr lang="en-US" sz="2500" b="1">
                <a:solidFill>
                  <a:srgbClr val="352379"/>
                </a:solidFill>
                <a:latin typeface="Montserrat"/>
              </a:rPr>
              <a:t>DFS</a:t>
            </a:r>
            <a:endParaRPr lang="ru-RU" sz="2500" b="1">
              <a:solidFill>
                <a:srgbClr val="352379"/>
              </a:solidFill>
              <a:latin typeface="Montserrat"/>
            </a:endParaRPr>
          </a:p>
        </p:txBody>
      </p:sp>
      <p:sp>
        <p:nvSpPr>
          <p:cNvPr id="4" name="text-1-1794">
            <a:extLst>
              <a:ext uri="{FF2B5EF4-FFF2-40B4-BE49-F238E27FC236}">
                <a16:creationId xmlns:a16="http://schemas.microsoft.com/office/drawing/2014/main" id="{246744D0-89DD-493C-8B97-BF7E7E1AF6E9}"/>
              </a:ext>
            </a:extLst>
          </p:cNvPr>
          <p:cNvSpPr txBox="1"/>
          <p:nvPr/>
        </p:nvSpPr>
        <p:spPr bwMode="auto">
          <a:xfrm>
            <a:off x="6604000" y="1533639"/>
            <a:ext cx="5080000" cy="436017"/>
          </a:xfrm>
          <a:prstGeom prst="rect">
            <a:avLst/>
          </a:prstGeom>
        </p:spPr>
        <p:txBody>
          <a:bodyPr vert="horz" wrap="square" lIns="38100" tIns="25400" rIns="38100" bIns="25400" rtlCol="0" anchor="ctr">
            <a:spAutoFit/>
          </a:bodyPr>
          <a:lstStyle/>
          <a:p>
            <a:r>
              <a:rPr lang="ru-RU" sz="2500" b="1">
                <a:solidFill>
                  <a:srgbClr val="352379"/>
                </a:solidFill>
                <a:latin typeface="Montserrat"/>
              </a:rPr>
              <a:t>Корень </a:t>
            </a:r>
            <a:r>
              <a:rPr lang="en-US" sz="2500" b="1">
                <a:solidFill>
                  <a:srgbClr val="352379"/>
                </a:solidFill>
                <a:latin typeface="Montserrat"/>
              </a:rPr>
              <a:t>DFS</a:t>
            </a:r>
            <a:endParaRPr lang="ru-RU" sz="2500" b="1">
              <a:solidFill>
                <a:srgbClr val="352379"/>
              </a:solidFill>
              <a:latin typeface="Montserrat"/>
            </a:endParaRPr>
          </a:p>
        </p:txBody>
      </p:sp>
      <p:cxnSp>
        <p:nvCxnSpPr>
          <p:cNvPr id="5" name="!!nonroot-edge-p-v">
            <a:extLst>
              <a:ext uri="{FF2B5EF4-FFF2-40B4-BE49-F238E27FC236}">
                <a16:creationId xmlns:a16="http://schemas.microsoft.com/office/drawing/2014/main" id="{957399D8-EF65-4BD0-A7FD-681925669B8A}"/>
              </a:ext>
            </a:extLst>
          </p:cNvPr>
          <p:cNvCxnSpPr/>
          <p:nvPr/>
        </p:nvCxnSpPr>
        <p:spPr>
          <a:xfrm>
            <a:off x="2286000" y="2705100"/>
            <a:ext cx="0" cy="4318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nonroot-edge-v-a">
            <a:extLst>
              <a:ext uri="{FF2B5EF4-FFF2-40B4-BE49-F238E27FC236}">
                <a16:creationId xmlns:a16="http://schemas.microsoft.com/office/drawing/2014/main" id="{1F301B19-93A0-4C61-A002-F4E1620D6994}"/>
              </a:ext>
            </a:extLst>
          </p:cNvPr>
          <p:cNvCxnSpPr/>
          <p:nvPr/>
        </p:nvCxnSpPr>
        <p:spPr>
          <a:xfrm flipH="1">
            <a:off x="1432028" y="3672042"/>
            <a:ext cx="691944" cy="103791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nonroot-edge-a-b">
            <a:extLst>
              <a:ext uri="{FF2B5EF4-FFF2-40B4-BE49-F238E27FC236}">
                <a16:creationId xmlns:a16="http://schemas.microsoft.com/office/drawing/2014/main" id="{2EF405E1-AEAF-4AFA-990E-9CF4E0E50179}"/>
              </a:ext>
            </a:extLst>
          </p:cNvPr>
          <p:cNvCxnSpPr/>
          <p:nvPr/>
        </p:nvCxnSpPr>
        <p:spPr>
          <a:xfrm>
            <a:off x="1562100" y="4953000"/>
            <a:ext cx="2082800" cy="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nonroot-edge-b-v">
            <a:extLst>
              <a:ext uri="{FF2B5EF4-FFF2-40B4-BE49-F238E27FC236}">
                <a16:creationId xmlns:a16="http://schemas.microsoft.com/office/drawing/2014/main" id="{33FECDE9-94A5-4211-B8B5-FD8A32AD1128}"/>
              </a:ext>
            </a:extLst>
          </p:cNvPr>
          <p:cNvCxnSpPr/>
          <p:nvPr/>
        </p:nvCxnSpPr>
        <p:spPr>
          <a:xfrm flipH="1" flipV="1">
            <a:off x="2500636" y="3627126"/>
            <a:ext cx="1221728" cy="112774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0" name="!!nonroot-node-p">
            <a:extLst>
              <a:ext uri="{FF2B5EF4-FFF2-40B4-BE49-F238E27FC236}">
                <a16:creationId xmlns:a16="http://schemas.microsoft.com/office/drawing/2014/main" id="{1C8DEA15-1B58-4AB1-8FDD-8BC61066265F}"/>
              </a:ext>
            </a:extLst>
          </p:cNvPr>
          <p:cNvSpPr/>
          <p:nvPr/>
        </p:nvSpPr>
        <p:spPr>
          <a:xfrm>
            <a:off x="1993900" y="21209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p</a:t>
            </a:r>
            <a:endParaRPr lang="ru-RU" sz="2200">
              <a:solidFill>
                <a:srgbClr val="352379"/>
              </a:solidFill>
              <a:latin typeface="Montserrat"/>
            </a:endParaRPr>
          </a:p>
        </p:txBody>
      </p:sp>
      <p:sp>
        <p:nvSpPr>
          <p:cNvPr id="11" name="!!nonroot-node-v">
            <a:extLst>
              <a:ext uri="{FF2B5EF4-FFF2-40B4-BE49-F238E27FC236}">
                <a16:creationId xmlns:a16="http://schemas.microsoft.com/office/drawing/2014/main" id="{846C8C3F-9F2A-47A3-97CD-22B9EA47747F}"/>
              </a:ext>
            </a:extLst>
          </p:cNvPr>
          <p:cNvSpPr/>
          <p:nvPr/>
        </p:nvSpPr>
        <p:spPr>
          <a:xfrm>
            <a:off x="1993900" y="3136900"/>
            <a:ext cx="584200" cy="5842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v</a:t>
            </a:r>
            <a:endParaRPr lang="ru-RU" sz="2200">
              <a:solidFill>
                <a:srgbClr val="FFFFFF"/>
              </a:solidFill>
              <a:latin typeface="Montserrat"/>
            </a:endParaRPr>
          </a:p>
        </p:txBody>
      </p:sp>
      <p:sp>
        <p:nvSpPr>
          <p:cNvPr id="12" name="!!nonroot-node-a">
            <a:extLst>
              <a:ext uri="{FF2B5EF4-FFF2-40B4-BE49-F238E27FC236}">
                <a16:creationId xmlns:a16="http://schemas.microsoft.com/office/drawing/2014/main" id="{80B79610-50CD-4D3F-9366-66BDA68EAEA3}"/>
              </a:ext>
            </a:extLst>
          </p:cNvPr>
          <p:cNvSpPr/>
          <p:nvPr/>
        </p:nvSpPr>
        <p:spPr>
          <a:xfrm>
            <a:off x="977900" y="46609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3" name="!!nonroot-node-b">
            <a:extLst>
              <a:ext uri="{FF2B5EF4-FFF2-40B4-BE49-F238E27FC236}">
                <a16:creationId xmlns:a16="http://schemas.microsoft.com/office/drawing/2014/main" id="{8C3E8C36-7005-408A-829E-3557BBC5A53B}"/>
              </a:ext>
            </a:extLst>
          </p:cNvPr>
          <p:cNvSpPr/>
          <p:nvPr/>
        </p:nvSpPr>
        <p:spPr>
          <a:xfrm>
            <a:off x="3644900" y="46609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cxnSp>
        <p:nvCxnSpPr>
          <p:cNvPr id="14" name="!!root-edge-r-a">
            <a:extLst>
              <a:ext uri="{FF2B5EF4-FFF2-40B4-BE49-F238E27FC236}">
                <a16:creationId xmlns:a16="http://schemas.microsoft.com/office/drawing/2014/main" id="{FECDB9A6-CA6E-4C2C-ACC0-8D674C5F32C1}"/>
              </a:ext>
            </a:extLst>
          </p:cNvPr>
          <p:cNvCxnSpPr/>
          <p:nvPr/>
        </p:nvCxnSpPr>
        <p:spPr>
          <a:xfrm flipH="1">
            <a:off x="7872857" y="3064510"/>
            <a:ext cx="954786" cy="136398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root-edge-r-b">
            <a:extLst>
              <a:ext uri="{FF2B5EF4-FFF2-40B4-BE49-F238E27FC236}">
                <a16:creationId xmlns:a16="http://schemas.microsoft.com/office/drawing/2014/main" id="{F5497337-6929-4671-8D8C-ADB5E57F832B}"/>
              </a:ext>
            </a:extLst>
          </p:cNvPr>
          <p:cNvCxnSpPr/>
          <p:nvPr/>
        </p:nvCxnSpPr>
        <p:spPr>
          <a:xfrm>
            <a:off x="9223274" y="3051843"/>
            <a:ext cx="1111452" cy="138931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6" name="!!root-node-r">
            <a:extLst>
              <a:ext uri="{FF2B5EF4-FFF2-40B4-BE49-F238E27FC236}">
                <a16:creationId xmlns:a16="http://schemas.microsoft.com/office/drawing/2014/main" id="{D7D41127-0503-4FD4-999C-50BB3C46C36F}"/>
              </a:ext>
            </a:extLst>
          </p:cNvPr>
          <p:cNvSpPr/>
          <p:nvPr/>
        </p:nvSpPr>
        <p:spPr>
          <a:xfrm>
            <a:off x="8686800" y="2463800"/>
            <a:ext cx="660400" cy="6604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r</a:t>
            </a:r>
            <a:endParaRPr lang="ru-RU" sz="2200">
              <a:solidFill>
                <a:srgbClr val="FFFFFF"/>
              </a:solidFill>
              <a:latin typeface="Montserrat"/>
            </a:endParaRPr>
          </a:p>
        </p:txBody>
      </p:sp>
      <p:sp>
        <p:nvSpPr>
          <p:cNvPr id="17" name="!!root-node-a">
            <a:extLst>
              <a:ext uri="{FF2B5EF4-FFF2-40B4-BE49-F238E27FC236}">
                <a16:creationId xmlns:a16="http://schemas.microsoft.com/office/drawing/2014/main" id="{5D72E10C-58C7-43AA-9C96-B3F6FE685947}"/>
              </a:ext>
            </a:extLst>
          </p:cNvPr>
          <p:cNvSpPr/>
          <p:nvPr/>
        </p:nvSpPr>
        <p:spPr>
          <a:xfrm>
            <a:off x="7353300" y="4368800"/>
            <a:ext cx="660400" cy="6604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8" name="!!root-node-b">
            <a:extLst>
              <a:ext uri="{FF2B5EF4-FFF2-40B4-BE49-F238E27FC236}">
                <a16:creationId xmlns:a16="http://schemas.microsoft.com/office/drawing/2014/main" id="{13ED5EF8-BD8D-463D-B667-725B34D20AF9}"/>
              </a:ext>
            </a:extLst>
          </p:cNvPr>
          <p:cNvSpPr/>
          <p:nvPr/>
        </p:nvSpPr>
        <p:spPr>
          <a:xfrm>
            <a:off x="10210800" y="4368800"/>
            <a:ext cx="660400" cy="6604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9" name="text-15-1808">
            <a:extLst>
              <a:ext uri="{FF2B5EF4-FFF2-40B4-BE49-F238E27FC236}">
                <a16:creationId xmlns:a16="http://schemas.microsoft.com/office/drawing/2014/main" id="{85764714-AC4C-405A-BCE8-85F22C435963}"/>
              </a:ext>
            </a:extLst>
          </p:cNvPr>
          <p:cNvSpPr txBox="1"/>
          <p:nvPr/>
        </p:nvSpPr>
        <p:spPr bwMode="auto">
          <a:xfrm>
            <a:off x="635000" y="5318239"/>
            <a:ext cx="5207000" cy="436017"/>
          </a:xfrm>
          <a:prstGeom prst="rect">
            <a:avLst/>
          </a:prstGeom>
        </p:spPr>
        <p:txBody>
          <a:bodyPr vert="horz" wrap="square" lIns="38100" tIns="25400" rIns="38100" bIns="25400" rtlCol="0" anchor="ctr">
            <a:spAutoFit/>
          </a:bodyPr>
          <a:lstStyle/>
          <a:p>
            <a:r>
              <a:rPr lang="en-US" sz="2500" b="1">
                <a:solidFill>
                  <a:srgbClr val="352379"/>
                </a:solidFill>
                <a:latin typeface="Montserrat"/>
              </a:rPr>
              <a:t>low[to] ≥ tin[v]</a:t>
            </a:r>
            <a:endParaRPr lang="ru-RU" sz="2500" b="1">
              <a:solidFill>
                <a:srgbClr val="352379"/>
              </a:solidFill>
              <a:latin typeface="Montserrat"/>
            </a:endParaRPr>
          </a:p>
        </p:txBody>
      </p:sp>
      <p:sp>
        <p:nvSpPr>
          <p:cNvPr id="20" name="text-16-1809">
            <a:extLst>
              <a:ext uri="{FF2B5EF4-FFF2-40B4-BE49-F238E27FC236}">
                <a16:creationId xmlns:a16="http://schemas.microsoft.com/office/drawing/2014/main" id="{1997ECDD-CC63-48AB-B309-205041DBDA23}"/>
              </a:ext>
            </a:extLst>
          </p:cNvPr>
          <p:cNvSpPr txBox="1"/>
          <p:nvPr/>
        </p:nvSpPr>
        <p:spPr bwMode="auto">
          <a:xfrm>
            <a:off x="6604000" y="5333628"/>
            <a:ext cx="5080000" cy="405239"/>
          </a:xfrm>
          <a:prstGeom prst="rect">
            <a:avLst/>
          </a:prstGeom>
        </p:spPr>
        <p:txBody>
          <a:bodyPr vert="horz" wrap="square" lIns="38100" tIns="25400" rIns="38100" bIns="25400" rtlCol="0" anchor="ctr">
            <a:noAutofit/>
          </a:bodyPr>
          <a:lstStyle/>
          <a:p>
            <a:r>
              <a:rPr lang="ru-RU" sz="2300" b="1">
                <a:solidFill>
                  <a:srgbClr val="352379"/>
                </a:solidFill>
                <a:latin typeface="Montserrat"/>
              </a:rPr>
              <a:t>Число детей в дереве DFS &gt; 1</a:t>
            </a:r>
          </a:p>
        </p:txBody>
      </p:sp>
      <p:sp>
        <p:nvSpPr>
          <p:cNvPr id="21" name="box-17-1810">
            <a:extLst>
              <a:ext uri="{FF2B5EF4-FFF2-40B4-BE49-F238E27FC236}">
                <a16:creationId xmlns:a16="http://schemas.microsoft.com/office/drawing/2014/main" id="{9A328355-35FE-4FD5-8745-90A5C788B680}"/>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18-1811">
            <a:extLst>
              <a:ext uri="{FF2B5EF4-FFF2-40B4-BE49-F238E27FC236}">
                <a16:creationId xmlns:a16="http://schemas.microsoft.com/office/drawing/2014/main" id="{A2C91E6F-19E5-4D78-8920-730B632D462F}"/>
              </a:ext>
            </a:extLst>
          </p:cNvPr>
          <p:cNvSpPr txBox="1"/>
          <p:nvPr/>
        </p:nvSpPr>
        <p:spPr bwMode="auto">
          <a:xfrm>
            <a:off x="660400" y="5945917"/>
            <a:ext cx="10871200" cy="374461"/>
          </a:xfrm>
          <a:prstGeom prst="rect">
            <a:avLst/>
          </a:prstGeom>
        </p:spPr>
        <p:txBody>
          <a:bodyPr vert="horz" wrap="square" lIns="38100" tIns="25400" rIns="38100" bIns="25400" rtlCol="0" anchor="ctr">
            <a:noAutofit/>
          </a:bodyPr>
          <a:lstStyle/>
          <a:p>
            <a:r>
              <a:rPr lang="ru-RU" sz="2200" b="1">
                <a:solidFill>
                  <a:srgbClr val="FFFFFF"/>
                </a:solidFill>
                <a:latin typeface="Montserrat"/>
              </a:rPr>
              <a:t>Для моста используется &gt;, для точки сочленения — ≥.</a:t>
            </a:r>
          </a:p>
        </p:txBody>
      </p:sp>
      <p:sp>
        <p:nvSpPr>
          <p:cNvPr id="23" name="lecture-footer">
            <a:extLst>
              <a:ext uri="{FF2B5EF4-FFF2-40B4-BE49-F238E27FC236}">
                <a16:creationId xmlns:a16="http://schemas.microsoft.com/office/drawing/2014/main" id="{7495F1B3-7C54-4A8C-B0A7-166599F01920}"/>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4" name="slide-number">
            <a:extLst>
              <a:ext uri="{FF2B5EF4-FFF2-40B4-BE49-F238E27FC236}">
                <a16:creationId xmlns:a16="http://schemas.microsoft.com/office/drawing/2014/main" id="{A0EB5A47-D987-4FCA-8947-7CF0CDB34967}"/>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52</a:t>
            </a:r>
          </a:p>
        </p:txBody>
      </p:sp>
    </p:spTree>
    <p:extLst>
      <p:ext uri="{BB962C8B-B14F-4D97-AF65-F5344CB8AC3E}">
        <p14:creationId xmlns:p14="http://schemas.microsoft.com/office/powerpoint/2010/main" val="3315878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Теперь другая задача: зависимости</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box-0-1812">
            <a:extLst>
              <a:ext uri="{FF2B5EF4-FFF2-40B4-BE49-F238E27FC236}">
                <a16:creationId xmlns:a16="http://schemas.microsoft.com/office/drawing/2014/main" id="{4189DC23-D818-4882-8A45-73C3A7335AE1}"/>
              </a:ext>
            </a:extLst>
          </p:cNvPr>
          <p:cNvSpPr/>
          <p:nvPr/>
        </p:nvSpPr>
        <p:spPr>
          <a:xfrm>
            <a:off x="609600" y="2730500"/>
            <a:ext cx="2501900" cy="12700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1-1813">
            <a:extLst>
              <a:ext uri="{FF2B5EF4-FFF2-40B4-BE49-F238E27FC236}">
                <a16:creationId xmlns:a16="http://schemas.microsoft.com/office/drawing/2014/main" id="{BB76B139-9FDB-4A45-81C1-1F950A859442}"/>
              </a:ext>
            </a:extLst>
          </p:cNvPr>
          <p:cNvSpPr txBox="1"/>
          <p:nvPr/>
        </p:nvSpPr>
        <p:spPr bwMode="auto">
          <a:xfrm>
            <a:off x="711200" y="3093091"/>
            <a:ext cx="2298700" cy="405239"/>
          </a:xfrm>
          <a:prstGeom prst="rect">
            <a:avLst/>
          </a:prstGeom>
        </p:spPr>
        <p:txBody>
          <a:bodyPr vert="horz" wrap="square" lIns="38100" tIns="25400" rIns="38100" bIns="25400" rtlCol="0" anchor="ctr">
            <a:spAutoFit/>
          </a:bodyPr>
          <a:lstStyle/>
          <a:p>
            <a:pPr algn="ctr"/>
            <a:r>
              <a:rPr lang="ru-RU" sz="2300" dirty="0">
                <a:solidFill>
                  <a:srgbClr val="FFFFFF"/>
                </a:solidFill>
                <a:latin typeface="Montserrat"/>
              </a:rPr>
              <a:t>Основы</a:t>
            </a:r>
          </a:p>
        </p:txBody>
      </p:sp>
      <p:sp>
        <p:nvSpPr>
          <p:cNvPr id="5" name="text-2-1814">
            <a:extLst>
              <a:ext uri="{FF2B5EF4-FFF2-40B4-BE49-F238E27FC236}">
                <a16:creationId xmlns:a16="http://schemas.microsoft.com/office/drawing/2014/main" id="{23B4867C-F664-4616-AEC4-68646474ADE4}"/>
              </a:ext>
            </a:extLst>
          </p:cNvPr>
          <p:cNvSpPr txBox="1"/>
          <p:nvPr/>
        </p:nvSpPr>
        <p:spPr bwMode="auto">
          <a:xfrm>
            <a:off x="3035300" y="3076551"/>
            <a:ext cx="469900" cy="436017"/>
          </a:xfrm>
          <a:prstGeom prst="rect">
            <a:avLst/>
          </a:prstGeom>
        </p:spPr>
        <p:txBody>
          <a:bodyPr vert="horz" wrap="square" lIns="38100" tIns="25400" rIns="38100" bIns="25400" rtlCol="0" anchor="ctr">
            <a:spAutoFit/>
          </a:bodyPr>
          <a:lstStyle/>
          <a:p>
            <a:pPr algn="ctr"/>
            <a:r>
              <a:rPr lang="ru-RU" sz="2500" dirty="0">
                <a:solidFill>
                  <a:srgbClr val="352379"/>
                </a:solidFill>
                <a:latin typeface="Montserrat"/>
              </a:rPr>
              <a:t>→</a:t>
            </a:r>
          </a:p>
        </p:txBody>
      </p:sp>
      <p:sp>
        <p:nvSpPr>
          <p:cNvPr id="6" name="box-3-1815">
            <a:extLst>
              <a:ext uri="{FF2B5EF4-FFF2-40B4-BE49-F238E27FC236}">
                <a16:creationId xmlns:a16="http://schemas.microsoft.com/office/drawing/2014/main" id="{ACB54E0F-E4EB-41C8-9360-2DC3D4FD775C}"/>
              </a:ext>
            </a:extLst>
          </p:cNvPr>
          <p:cNvSpPr/>
          <p:nvPr/>
        </p:nvSpPr>
        <p:spPr>
          <a:xfrm>
            <a:off x="3429000" y="2730500"/>
            <a:ext cx="2501900" cy="12700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4-1816">
            <a:extLst>
              <a:ext uri="{FF2B5EF4-FFF2-40B4-BE49-F238E27FC236}">
                <a16:creationId xmlns:a16="http://schemas.microsoft.com/office/drawing/2014/main" id="{83D14D23-1EDE-4C40-99C2-B053DD4BF0D1}"/>
              </a:ext>
            </a:extLst>
          </p:cNvPr>
          <p:cNvSpPr txBox="1"/>
          <p:nvPr/>
        </p:nvSpPr>
        <p:spPr bwMode="auto">
          <a:xfrm>
            <a:off x="3530600" y="3093091"/>
            <a:ext cx="2298700" cy="405239"/>
          </a:xfrm>
          <a:prstGeom prst="rect">
            <a:avLst/>
          </a:prstGeom>
        </p:spPr>
        <p:txBody>
          <a:bodyPr vert="horz" wrap="square" lIns="38100" tIns="25400" rIns="38100" bIns="25400" rtlCol="0" anchor="ctr">
            <a:spAutoFit/>
          </a:bodyPr>
          <a:lstStyle/>
          <a:p>
            <a:pPr algn="ctr"/>
            <a:r>
              <a:rPr lang="ru-RU" sz="2300" dirty="0">
                <a:solidFill>
                  <a:srgbClr val="FFFFFF"/>
                </a:solidFill>
                <a:latin typeface="Montserrat"/>
              </a:rPr>
              <a:t>Алгоритмы</a:t>
            </a:r>
          </a:p>
        </p:txBody>
      </p:sp>
      <p:sp>
        <p:nvSpPr>
          <p:cNvPr id="9" name="text-5-1817">
            <a:extLst>
              <a:ext uri="{FF2B5EF4-FFF2-40B4-BE49-F238E27FC236}">
                <a16:creationId xmlns:a16="http://schemas.microsoft.com/office/drawing/2014/main" id="{7F42F9EC-2BD9-4AAB-BF91-9A376E8FB5C8}"/>
              </a:ext>
            </a:extLst>
          </p:cNvPr>
          <p:cNvSpPr txBox="1"/>
          <p:nvPr/>
        </p:nvSpPr>
        <p:spPr bwMode="auto">
          <a:xfrm>
            <a:off x="5842000" y="3147490"/>
            <a:ext cx="469900" cy="436017"/>
          </a:xfrm>
          <a:prstGeom prst="rect">
            <a:avLst/>
          </a:prstGeom>
        </p:spPr>
        <p:txBody>
          <a:bodyPr vert="horz" wrap="square" lIns="38100" tIns="25400" rIns="38100" bIns="25400" rtlCol="0" anchor="ctr">
            <a:spAutoFit/>
          </a:bodyPr>
          <a:lstStyle/>
          <a:p>
            <a:pPr algn="ctr"/>
            <a:r>
              <a:rPr lang="ru-RU" sz="2500" dirty="0">
                <a:solidFill>
                  <a:srgbClr val="352379"/>
                </a:solidFill>
                <a:latin typeface="Montserrat"/>
              </a:rPr>
              <a:t>→</a:t>
            </a:r>
          </a:p>
        </p:txBody>
      </p:sp>
      <p:sp>
        <p:nvSpPr>
          <p:cNvPr id="10" name="box-6-1818">
            <a:extLst>
              <a:ext uri="{FF2B5EF4-FFF2-40B4-BE49-F238E27FC236}">
                <a16:creationId xmlns:a16="http://schemas.microsoft.com/office/drawing/2014/main" id="{C581D9CE-7B1B-471C-8874-3C749C9AC46B}"/>
              </a:ext>
            </a:extLst>
          </p:cNvPr>
          <p:cNvSpPr/>
          <p:nvPr/>
        </p:nvSpPr>
        <p:spPr>
          <a:xfrm>
            <a:off x="6248400" y="2730500"/>
            <a:ext cx="2501900" cy="12700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7-1819">
            <a:extLst>
              <a:ext uri="{FF2B5EF4-FFF2-40B4-BE49-F238E27FC236}">
                <a16:creationId xmlns:a16="http://schemas.microsoft.com/office/drawing/2014/main" id="{018D169C-2C95-4D63-85B5-FF552B2630C1}"/>
              </a:ext>
            </a:extLst>
          </p:cNvPr>
          <p:cNvSpPr txBox="1"/>
          <p:nvPr/>
        </p:nvSpPr>
        <p:spPr bwMode="auto">
          <a:xfrm>
            <a:off x="6375400" y="3162880"/>
            <a:ext cx="2298700" cy="405239"/>
          </a:xfrm>
          <a:prstGeom prst="rect">
            <a:avLst/>
          </a:prstGeom>
        </p:spPr>
        <p:txBody>
          <a:bodyPr vert="horz" wrap="square" lIns="38100" tIns="25400" rIns="38100" bIns="25400" rtlCol="0" anchor="ctr">
            <a:spAutoFit/>
          </a:bodyPr>
          <a:lstStyle/>
          <a:p>
            <a:pPr algn="ctr"/>
            <a:r>
              <a:rPr lang="ru-RU" sz="2300" dirty="0">
                <a:solidFill>
                  <a:srgbClr val="FFFFFF"/>
                </a:solidFill>
                <a:latin typeface="Montserrat"/>
              </a:rPr>
              <a:t>Графы</a:t>
            </a:r>
          </a:p>
        </p:txBody>
      </p:sp>
      <p:sp>
        <p:nvSpPr>
          <p:cNvPr id="12" name="text-8-1820">
            <a:extLst>
              <a:ext uri="{FF2B5EF4-FFF2-40B4-BE49-F238E27FC236}">
                <a16:creationId xmlns:a16="http://schemas.microsoft.com/office/drawing/2014/main" id="{71C5BFF9-4FF9-4B15-9B2A-6BABD2E660CA}"/>
              </a:ext>
            </a:extLst>
          </p:cNvPr>
          <p:cNvSpPr txBox="1"/>
          <p:nvPr/>
        </p:nvSpPr>
        <p:spPr bwMode="auto">
          <a:xfrm>
            <a:off x="8686800" y="3130565"/>
            <a:ext cx="469900" cy="436017"/>
          </a:xfrm>
          <a:prstGeom prst="rect">
            <a:avLst/>
          </a:prstGeom>
        </p:spPr>
        <p:txBody>
          <a:bodyPr vert="horz" wrap="square" lIns="38100" tIns="25400" rIns="38100" bIns="25400" rtlCol="0" anchor="ctr">
            <a:spAutoFit/>
          </a:bodyPr>
          <a:lstStyle/>
          <a:p>
            <a:pPr algn="ctr"/>
            <a:r>
              <a:rPr lang="ru-RU" sz="2500" dirty="0">
                <a:solidFill>
                  <a:srgbClr val="352379"/>
                </a:solidFill>
                <a:latin typeface="Montserrat"/>
              </a:rPr>
              <a:t>→</a:t>
            </a:r>
          </a:p>
        </p:txBody>
      </p:sp>
      <p:sp>
        <p:nvSpPr>
          <p:cNvPr id="13" name="box-9-1821">
            <a:extLst>
              <a:ext uri="{FF2B5EF4-FFF2-40B4-BE49-F238E27FC236}">
                <a16:creationId xmlns:a16="http://schemas.microsoft.com/office/drawing/2014/main" id="{FE99B4CB-603D-4B51-A146-C4FEC02C8C4E}"/>
              </a:ext>
            </a:extLst>
          </p:cNvPr>
          <p:cNvSpPr/>
          <p:nvPr/>
        </p:nvSpPr>
        <p:spPr>
          <a:xfrm>
            <a:off x="9067800" y="2730500"/>
            <a:ext cx="2501900" cy="12700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822">
            <a:extLst>
              <a:ext uri="{FF2B5EF4-FFF2-40B4-BE49-F238E27FC236}">
                <a16:creationId xmlns:a16="http://schemas.microsoft.com/office/drawing/2014/main" id="{FA52475E-8203-4499-A2CF-F497712E133E}"/>
              </a:ext>
            </a:extLst>
          </p:cNvPr>
          <p:cNvSpPr txBox="1"/>
          <p:nvPr/>
        </p:nvSpPr>
        <p:spPr bwMode="auto">
          <a:xfrm>
            <a:off x="9156700" y="3012264"/>
            <a:ext cx="2298700" cy="759182"/>
          </a:xfrm>
          <a:prstGeom prst="rect">
            <a:avLst/>
          </a:prstGeom>
        </p:spPr>
        <p:txBody>
          <a:bodyPr vert="horz" wrap="square" lIns="38100" tIns="25400" rIns="38100" bIns="25400" rtlCol="0" anchor="ctr">
            <a:spAutoFit/>
          </a:bodyPr>
          <a:lstStyle/>
          <a:p>
            <a:pPr algn="ctr"/>
            <a:r>
              <a:rPr lang="ru-RU" sz="2300" dirty="0">
                <a:solidFill>
                  <a:srgbClr val="FFFFFF"/>
                </a:solidFill>
                <a:latin typeface="Montserrat"/>
              </a:rPr>
              <a:t>Продвинутые</a:t>
            </a:r>
          </a:p>
          <a:p>
            <a:pPr algn="ctr"/>
            <a:r>
              <a:rPr lang="ru-RU" sz="2300" dirty="0">
                <a:solidFill>
                  <a:srgbClr val="FFFFFF"/>
                </a:solidFill>
                <a:latin typeface="Montserrat"/>
              </a:rPr>
              <a:t>алгоритмы</a:t>
            </a:r>
          </a:p>
        </p:txBody>
      </p:sp>
      <p:sp>
        <p:nvSpPr>
          <p:cNvPr id="15" name="text-11-1823">
            <a:extLst>
              <a:ext uri="{FF2B5EF4-FFF2-40B4-BE49-F238E27FC236}">
                <a16:creationId xmlns:a16="http://schemas.microsoft.com/office/drawing/2014/main" id="{090D520E-DCBA-4B8F-A50B-7A3B30204DFC}"/>
              </a:ext>
            </a:extLst>
          </p:cNvPr>
          <p:cNvSpPr txBox="1"/>
          <p:nvPr/>
        </p:nvSpPr>
        <p:spPr bwMode="auto">
          <a:xfrm>
            <a:off x="1397000" y="4527778"/>
            <a:ext cx="9398000" cy="543739"/>
          </a:xfrm>
          <a:prstGeom prst="rect">
            <a:avLst/>
          </a:prstGeom>
        </p:spPr>
        <p:txBody>
          <a:bodyPr vert="horz" wrap="square" lIns="38100" tIns="25400" rIns="38100" bIns="25400" rtlCol="0" anchor="ctr">
            <a:spAutoFit/>
          </a:bodyPr>
          <a:lstStyle/>
          <a:p>
            <a:r>
              <a:rPr lang="ru-RU" sz="3200" b="1">
                <a:solidFill>
                  <a:srgbClr val="352379"/>
                </a:solidFill>
                <a:latin typeface="Montserrat"/>
              </a:rPr>
              <a:t>В каком порядке выполнять?</a:t>
            </a:r>
          </a:p>
        </p:txBody>
      </p:sp>
      <p:sp>
        <p:nvSpPr>
          <p:cNvPr id="16" name="box-12-1824">
            <a:extLst>
              <a:ext uri="{FF2B5EF4-FFF2-40B4-BE49-F238E27FC236}">
                <a16:creationId xmlns:a16="http://schemas.microsoft.com/office/drawing/2014/main" id="{73C11EC4-F84C-48E0-804B-2B0B8180418D}"/>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1825">
            <a:extLst>
              <a:ext uri="{FF2B5EF4-FFF2-40B4-BE49-F238E27FC236}">
                <a16:creationId xmlns:a16="http://schemas.microsoft.com/office/drawing/2014/main" id="{1E4C4D68-093B-4EE8-842E-7F84CFBBA541}"/>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Нужен порядок, согласованный со всеми стрелками.</a:t>
            </a:r>
          </a:p>
        </p:txBody>
      </p:sp>
      <p:sp>
        <p:nvSpPr>
          <p:cNvPr id="18" name="lecture-footer">
            <a:extLst>
              <a:ext uri="{FF2B5EF4-FFF2-40B4-BE49-F238E27FC236}">
                <a16:creationId xmlns:a16="http://schemas.microsoft.com/office/drawing/2014/main" id="{F8E9BA01-E051-4739-9584-1746158C8253}"/>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9" name="slide-number">
            <a:extLst>
              <a:ext uri="{FF2B5EF4-FFF2-40B4-BE49-F238E27FC236}">
                <a16:creationId xmlns:a16="http://schemas.microsoft.com/office/drawing/2014/main" id="{0079AF66-337F-432A-B641-6724ACBA18C7}"/>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53</a:t>
            </a:r>
          </a:p>
        </p:txBody>
      </p:sp>
    </p:spTree>
    <p:extLst>
      <p:ext uri="{BB962C8B-B14F-4D97-AF65-F5344CB8AC3E}">
        <p14:creationId xmlns:p14="http://schemas.microsoft.com/office/powerpoint/2010/main" val="453997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dirty="0">
                <a:latin typeface="Montserrat SemiBold"/>
              </a:rPr>
              <a:t>DAG: ориентированный граф без циклов</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text-0-1826">
            <a:extLst>
              <a:ext uri="{FF2B5EF4-FFF2-40B4-BE49-F238E27FC236}">
                <a16:creationId xmlns:a16="http://schemas.microsoft.com/office/drawing/2014/main" id="{44C6AFFC-C160-4EC6-976E-FE81030C6679}"/>
              </a:ext>
            </a:extLst>
          </p:cNvPr>
          <p:cNvSpPr txBox="1"/>
          <p:nvPr/>
        </p:nvSpPr>
        <p:spPr bwMode="auto">
          <a:xfrm>
            <a:off x="889000" y="1525945"/>
            <a:ext cx="4889500" cy="451406"/>
          </a:xfrm>
          <a:prstGeom prst="rect">
            <a:avLst/>
          </a:prstGeom>
        </p:spPr>
        <p:txBody>
          <a:bodyPr vert="horz" wrap="square" lIns="38100" tIns="25400" rIns="38100" bIns="25400" rtlCol="0" anchor="ctr">
            <a:spAutoFit/>
          </a:bodyPr>
          <a:lstStyle/>
          <a:p>
            <a:r>
              <a:rPr lang="en-US" sz="2600" b="1">
                <a:solidFill>
                  <a:srgbClr val="352379"/>
                </a:solidFill>
                <a:latin typeface="Montserrat"/>
              </a:rPr>
              <a:t>DAG</a:t>
            </a:r>
            <a:endParaRPr lang="ru-RU" sz="2600" b="1">
              <a:solidFill>
                <a:srgbClr val="352379"/>
              </a:solidFill>
              <a:latin typeface="Montserrat"/>
            </a:endParaRPr>
          </a:p>
        </p:txBody>
      </p:sp>
      <p:sp>
        <p:nvSpPr>
          <p:cNvPr id="4" name="text-1-1827">
            <a:extLst>
              <a:ext uri="{FF2B5EF4-FFF2-40B4-BE49-F238E27FC236}">
                <a16:creationId xmlns:a16="http://schemas.microsoft.com/office/drawing/2014/main" id="{EEAF8DE0-7284-473D-865A-FC53DE9A5E62}"/>
              </a:ext>
            </a:extLst>
          </p:cNvPr>
          <p:cNvSpPr txBox="1"/>
          <p:nvPr/>
        </p:nvSpPr>
        <p:spPr bwMode="auto">
          <a:xfrm>
            <a:off x="6604000" y="1525945"/>
            <a:ext cx="5016500" cy="451406"/>
          </a:xfrm>
          <a:prstGeom prst="rect">
            <a:avLst/>
          </a:prstGeom>
        </p:spPr>
        <p:txBody>
          <a:bodyPr vert="horz" wrap="square" lIns="38100" tIns="25400" rIns="38100" bIns="25400" rtlCol="0" anchor="ctr">
            <a:spAutoFit/>
          </a:bodyPr>
          <a:lstStyle/>
          <a:p>
            <a:r>
              <a:rPr lang="ru-RU" sz="2600" b="1">
                <a:solidFill>
                  <a:srgbClr val="352379"/>
                </a:solidFill>
                <a:latin typeface="Montserrat"/>
              </a:rPr>
              <a:t>Направленный цикл</a:t>
            </a:r>
          </a:p>
        </p:txBody>
      </p:sp>
      <p:cxnSp>
        <p:nvCxnSpPr>
          <p:cNvPr id="5" name="!!dag-edge-A-B">
            <a:extLst>
              <a:ext uri="{FF2B5EF4-FFF2-40B4-BE49-F238E27FC236}">
                <a16:creationId xmlns:a16="http://schemas.microsoft.com/office/drawing/2014/main" id="{D20F2D62-0675-4ED7-A43B-2AF6FE8A94AC}"/>
              </a:ext>
            </a:extLst>
          </p:cNvPr>
          <p:cNvCxnSpPr/>
          <p:nvPr/>
        </p:nvCxnSpPr>
        <p:spPr>
          <a:xfrm flipV="1">
            <a:off x="1457867" y="2548737"/>
            <a:ext cx="1133026" cy="6124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dag-edge-A-C">
            <a:extLst>
              <a:ext uri="{FF2B5EF4-FFF2-40B4-BE49-F238E27FC236}">
                <a16:creationId xmlns:a16="http://schemas.microsoft.com/office/drawing/2014/main" id="{0567E601-D631-4E7B-A207-315DC0DBBFED}"/>
              </a:ext>
            </a:extLst>
          </p:cNvPr>
          <p:cNvCxnSpPr/>
          <p:nvPr/>
        </p:nvCxnSpPr>
        <p:spPr>
          <a:xfrm>
            <a:off x="1457867" y="3463137"/>
            <a:ext cx="1133026" cy="6124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8" name="!!dag-edge-B-D">
            <a:extLst>
              <a:ext uri="{FF2B5EF4-FFF2-40B4-BE49-F238E27FC236}">
                <a16:creationId xmlns:a16="http://schemas.microsoft.com/office/drawing/2014/main" id="{CD611DEF-526B-4504-B573-90D1AF3E57B9}"/>
              </a:ext>
            </a:extLst>
          </p:cNvPr>
          <p:cNvCxnSpPr/>
          <p:nvPr/>
        </p:nvCxnSpPr>
        <p:spPr>
          <a:xfrm>
            <a:off x="3155559" y="2536959"/>
            <a:ext cx="1303802" cy="6360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9" name="!!dag-edge-C-D">
            <a:extLst>
              <a:ext uri="{FF2B5EF4-FFF2-40B4-BE49-F238E27FC236}">
                <a16:creationId xmlns:a16="http://schemas.microsoft.com/office/drawing/2014/main" id="{ADA35ADE-488E-493D-951A-A67415D94DEE}"/>
              </a:ext>
            </a:extLst>
          </p:cNvPr>
          <p:cNvCxnSpPr/>
          <p:nvPr/>
        </p:nvCxnSpPr>
        <p:spPr>
          <a:xfrm flipV="1">
            <a:off x="3155559" y="3451359"/>
            <a:ext cx="1303802" cy="6360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10" name="!!dag-node-A">
            <a:extLst>
              <a:ext uri="{FF2B5EF4-FFF2-40B4-BE49-F238E27FC236}">
                <a16:creationId xmlns:a16="http://schemas.microsoft.com/office/drawing/2014/main" id="{CE0B544D-FE83-457A-8898-F81342A8934A}"/>
              </a:ext>
            </a:extLst>
          </p:cNvPr>
          <p:cNvSpPr/>
          <p:nvPr/>
        </p:nvSpPr>
        <p:spPr>
          <a:xfrm>
            <a:off x="861060" y="299466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1" name="!!dag-node-B">
            <a:extLst>
              <a:ext uri="{FF2B5EF4-FFF2-40B4-BE49-F238E27FC236}">
                <a16:creationId xmlns:a16="http://schemas.microsoft.com/office/drawing/2014/main" id="{5A50E03E-F966-4296-A0C0-F8C82A94B7EA}"/>
              </a:ext>
            </a:extLst>
          </p:cNvPr>
          <p:cNvSpPr/>
          <p:nvPr/>
        </p:nvSpPr>
        <p:spPr>
          <a:xfrm>
            <a:off x="2552700" y="208026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2" name="!!dag-node-C">
            <a:extLst>
              <a:ext uri="{FF2B5EF4-FFF2-40B4-BE49-F238E27FC236}">
                <a16:creationId xmlns:a16="http://schemas.microsoft.com/office/drawing/2014/main" id="{8AE6CBC3-57E8-49F3-839E-FABF8743D0B4}"/>
              </a:ext>
            </a:extLst>
          </p:cNvPr>
          <p:cNvSpPr/>
          <p:nvPr/>
        </p:nvSpPr>
        <p:spPr>
          <a:xfrm>
            <a:off x="2552700" y="390906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3" name="!!dag-node-D">
            <a:extLst>
              <a:ext uri="{FF2B5EF4-FFF2-40B4-BE49-F238E27FC236}">
                <a16:creationId xmlns:a16="http://schemas.microsoft.com/office/drawing/2014/main" id="{B6D2E9DD-3C5D-4F65-9888-0F5891F08E53}"/>
              </a:ext>
            </a:extLst>
          </p:cNvPr>
          <p:cNvSpPr/>
          <p:nvPr/>
        </p:nvSpPr>
        <p:spPr>
          <a:xfrm>
            <a:off x="4427220" y="299466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cxnSp>
        <p:nvCxnSpPr>
          <p:cNvPr id="14" name="!!notdag-edge-A-B">
            <a:extLst>
              <a:ext uri="{FF2B5EF4-FFF2-40B4-BE49-F238E27FC236}">
                <a16:creationId xmlns:a16="http://schemas.microsoft.com/office/drawing/2014/main" id="{F588B57C-3243-4D74-B49F-F848EF60B3BF}"/>
              </a:ext>
            </a:extLst>
          </p:cNvPr>
          <p:cNvCxnSpPr/>
          <p:nvPr/>
        </p:nvCxnSpPr>
        <p:spPr>
          <a:xfrm flipH="1">
            <a:off x="7177449" y="2830135"/>
            <a:ext cx="758102" cy="1705730"/>
          </a:xfrm>
          <a:prstGeom prst="straightConnector1">
            <a:avLst/>
          </a:prstGeom>
          <a:ln w="3429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5" name="!!notdag-edge-B-C">
            <a:extLst>
              <a:ext uri="{FF2B5EF4-FFF2-40B4-BE49-F238E27FC236}">
                <a16:creationId xmlns:a16="http://schemas.microsoft.com/office/drawing/2014/main" id="{849A1CD5-0581-4199-816B-0163FE3741AD}"/>
              </a:ext>
            </a:extLst>
          </p:cNvPr>
          <p:cNvCxnSpPr/>
          <p:nvPr/>
        </p:nvCxnSpPr>
        <p:spPr>
          <a:xfrm>
            <a:off x="7366000" y="4826000"/>
            <a:ext cx="2730500" cy="0"/>
          </a:xfrm>
          <a:prstGeom prst="straightConnector1">
            <a:avLst/>
          </a:prstGeom>
          <a:ln w="3429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6" name="!!notdag-edge-C-A">
            <a:extLst>
              <a:ext uri="{FF2B5EF4-FFF2-40B4-BE49-F238E27FC236}">
                <a16:creationId xmlns:a16="http://schemas.microsoft.com/office/drawing/2014/main" id="{ED7BD736-85F7-4694-9D37-1FC15480B5E5}"/>
              </a:ext>
            </a:extLst>
          </p:cNvPr>
          <p:cNvCxnSpPr/>
          <p:nvPr/>
        </p:nvCxnSpPr>
        <p:spPr>
          <a:xfrm flipH="1" flipV="1">
            <a:off x="8292061" y="2761410"/>
            <a:ext cx="1894378" cy="1843180"/>
          </a:xfrm>
          <a:prstGeom prst="straightConnector1">
            <a:avLst/>
          </a:prstGeom>
          <a:ln w="3429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notdag-node-A">
            <a:extLst>
              <a:ext uri="{FF2B5EF4-FFF2-40B4-BE49-F238E27FC236}">
                <a16:creationId xmlns:a16="http://schemas.microsoft.com/office/drawing/2014/main" id="{512D6952-9306-486C-9A5B-951A1ACB0D5B}"/>
              </a:ext>
            </a:extLst>
          </p:cNvPr>
          <p:cNvSpPr/>
          <p:nvPr/>
        </p:nvSpPr>
        <p:spPr>
          <a:xfrm>
            <a:off x="77470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8" name="!!notdag-node-B">
            <a:extLst>
              <a:ext uri="{FF2B5EF4-FFF2-40B4-BE49-F238E27FC236}">
                <a16:creationId xmlns:a16="http://schemas.microsoft.com/office/drawing/2014/main" id="{E11901EA-D8F6-499F-9860-2C2C06521024}"/>
              </a:ext>
            </a:extLst>
          </p:cNvPr>
          <p:cNvSpPr/>
          <p:nvPr/>
        </p:nvSpPr>
        <p:spPr>
          <a:xfrm>
            <a:off x="6731000" y="450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9" name="!!notdag-node-C">
            <a:extLst>
              <a:ext uri="{FF2B5EF4-FFF2-40B4-BE49-F238E27FC236}">
                <a16:creationId xmlns:a16="http://schemas.microsoft.com/office/drawing/2014/main" id="{E321AECF-B00A-4F86-9805-AC9A4E497041}"/>
              </a:ext>
            </a:extLst>
          </p:cNvPr>
          <p:cNvSpPr/>
          <p:nvPr/>
        </p:nvSpPr>
        <p:spPr>
          <a:xfrm>
            <a:off x="10096500" y="450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0" name="box-16-1842">
            <a:extLst>
              <a:ext uri="{FF2B5EF4-FFF2-40B4-BE49-F238E27FC236}">
                <a16:creationId xmlns:a16="http://schemas.microsoft.com/office/drawing/2014/main" id="{DD7A7A7A-3E37-4CEB-82E2-77C5CB2C19B7}"/>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17-1843">
            <a:extLst>
              <a:ext uri="{FF2B5EF4-FFF2-40B4-BE49-F238E27FC236}">
                <a16:creationId xmlns:a16="http://schemas.microsoft.com/office/drawing/2014/main" id="{7DCA355C-0EC2-4F50-95CB-AA31A2388C21}"/>
              </a:ext>
            </a:extLst>
          </p:cNvPr>
          <p:cNvSpPr txBox="1"/>
          <p:nvPr/>
        </p:nvSpPr>
        <p:spPr bwMode="auto">
          <a:xfrm>
            <a:off x="660400" y="5968999"/>
            <a:ext cx="10871200" cy="457200"/>
          </a:xfrm>
          <a:prstGeom prst="rect">
            <a:avLst/>
          </a:prstGeom>
        </p:spPr>
        <p:txBody>
          <a:bodyPr vert="horz" wrap="square" lIns="38100" tIns="25400" rIns="38100" bIns="25400" rtlCol="0" anchor="ctr">
            <a:noAutofit/>
          </a:bodyPr>
          <a:lstStyle/>
          <a:p>
            <a:r>
              <a:rPr lang="ru-RU" sz="2200">
                <a:solidFill>
                  <a:srgbClr val="FFFFFF"/>
                </a:solidFill>
                <a:latin typeface="Montserrat"/>
              </a:rPr>
              <a:t>DAG (Directed Acyclic Graph) — ориентированный граф без направленных циклов.</a:t>
            </a:r>
          </a:p>
        </p:txBody>
      </p:sp>
      <p:sp>
        <p:nvSpPr>
          <p:cNvPr id="22" name="lecture-footer">
            <a:extLst>
              <a:ext uri="{FF2B5EF4-FFF2-40B4-BE49-F238E27FC236}">
                <a16:creationId xmlns:a16="http://schemas.microsoft.com/office/drawing/2014/main" id="{B30C5C2B-CE47-4440-B92F-54513723E27A}"/>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3" name="slide-number">
            <a:extLst>
              <a:ext uri="{FF2B5EF4-FFF2-40B4-BE49-F238E27FC236}">
                <a16:creationId xmlns:a16="http://schemas.microsoft.com/office/drawing/2014/main" id="{15EAE03B-6361-4C79-9F8F-8576DE77603E}"/>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54</a:t>
            </a:r>
          </a:p>
        </p:txBody>
      </p:sp>
    </p:spTree>
    <p:extLst>
      <p:ext uri="{BB962C8B-B14F-4D97-AF65-F5344CB8AC3E}">
        <p14:creationId xmlns:p14="http://schemas.microsoft.com/office/powerpoint/2010/main" val="215804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Топологический порядок</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0B0A6B98-C757-4774-B2CA-F12D4FC9B45B}"/>
              </a:ext>
            </a:extLst>
          </p:cNvPr>
          <p:cNvCxnSpPr/>
          <p:nvPr/>
        </p:nvCxnSpPr>
        <p:spPr>
          <a:xfrm flipV="1">
            <a:off x="1739807" y="224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8C7D6AB8-0C50-4F91-87E8-47FF7DD2023A}"/>
              </a:ext>
            </a:extLst>
          </p:cNvPr>
          <p:cNvCxnSpPr/>
          <p:nvPr/>
        </p:nvCxnSpPr>
        <p:spPr>
          <a:xfrm>
            <a:off x="1739807" y="351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1330DFEE-C457-43FB-BFD0-44C8C228491A}"/>
              </a:ext>
            </a:extLst>
          </p:cNvPr>
          <p:cNvCxnSpPr/>
          <p:nvPr/>
        </p:nvCxnSpPr>
        <p:spPr>
          <a:xfrm>
            <a:off x="4095359" y="2234699"/>
            <a:ext cx="2032782" cy="99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C-D">
            <a:extLst>
              <a:ext uri="{FF2B5EF4-FFF2-40B4-BE49-F238E27FC236}">
                <a16:creationId xmlns:a16="http://schemas.microsoft.com/office/drawing/2014/main" id="{BD13AE36-32E5-4656-9327-61923EFDE5BE}"/>
              </a:ext>
            </a:extLst>
          </p:cNvPr>
          <p:cNvCxnSpPr/>
          <p:nvPr/>
        </p:nvCxnSpPr>
        <p:spPr>
          <a:xfrm flipV="1">
            <a:off x="4095359" y="3504700"/>
            <a:ext cx="2032782" cy="9916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g-node-A">
            <a:extLst>
              <a:ext uri="{FF2B5EF4-FFF2-40B4-BE49-F238E27FC236}">
                <a16:creationId xmlns:a16="http://schemas.microsoft.com/office/drawing/2014/main" id="{08D59F1F-1914-49D5-B931-5D3D0F20D787}"/>
              </a:ext>
            </a:extLst>
          </p:cNvPr>
          <p:cNvSpPr/>
          <p:nvPr/>
        </p:nvSpPr>
        <p:spPr>
          <a:xfrm>
            <a:off x="1143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g-node-B">
            <a:extLst>
              <a:ext uri="{FF2B5EF4-FFF2-40B4-BE49-F238E27FC236}">
                <a16:creationId xmlns:a16="http://schemas.microsoft.com/office/drawing/2014/main" id="{2666B9E1-8F83-4086-AEB3-B86AA6B1E1C6}"/>
              </a:ext>
            </a:extLst>
          </p:cNvPr>
          <p:cNvSpPr/>
          <p:nvPr/>
        </p:nvSpPr>
        <p:spPr>
          <a:xfrm>
            <a:off x="3492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g-node-C">
            <a:extLst>
              <a:ext uri="{FF2B5EF4-FFF2-40B4-BE49-F238E27FC236}">
                <a16:creationId xmlns:a16="http://schemas.microsoft.com/office/drawing/2014/main" id="{3DC4362A-701B-4E19-B211-F8FA17DDA33B}"/>
              </a:ext>
            </a:extLst>
          </p:cNvPr>
          <p:cNvSpPr/>
          <p:nvPr/>
        </p:nvSpPr>
        <p:spPr>
          <a:xfrm>
            <a:off x="3492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g-node-D">
            <a:extLst>
              <a:ext uri="{FF2B5EF4-FFF2-40B4-BE49-F238E27FC236}">
                <a16:creationId xmlns:a16="http://schemas.microsoft.com/office/drawing/2014/main" id="{C72F8A08-A1D3-4DC6-ACFA-25E4BB147C9E}"/>
              </a:ext>
            </a:extLst>
          </p:cNvPr>
          <p:cNvSpPr/>
          <p:nvPr/>
        </p:nvSpPr>
        <p:spPr>
          <a:xfrm>
            <a:off x="6096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 name="box-8-1852">
            <a:extLst>
              <a:ext uri="{FF2B5EF4-FFF2-40B4-BE49-F238E27FC236}">
                <a16:creationId xmlns:a16="http://schemas.microsoft.com/office/drawing/2014/main" id="{A8270F8F-8289-49AE-B8CC-BD332E3F45E7}"/>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853">
            <a:extLst>
              <a:ext uri="{FF2B5EF4-FFF2-40B4-BE49-F238E27FC236}">
                <a16:creationId xmlns:a16="http://schemas.microsoft.com/office/drawing/2014/main" id="{099822FD-8E8D-459C-AA44-F248119828AC}"/>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854">
            <a:extLst>
              <a:ext uri="{FF2B5EF4-FFF2-40B4-BE49-F238E27FC236}">
                <a16:creationId xmlns:a16="http://schemas.microsoft.com/office/drawing/2014/main" id="{083B0A71-5357-4B5D-B6AC-09306935ED91}"/>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Условие</a:t>
            </a:r>
          </a:p>
        </p:txBody>
      </p:sp>
      <p:sp>
        <p:nvSpPr>
          <p:cNvPr id="15" name="text-11-1855">
            <a:extLst>
              <a:ext uri="{FF2B5EF4-FFF2-40B4-BE49-F238E27FC236}">
                <a16:creationId xmlns:a16="http://schemas.microsoft.com/office/drawing/2014/main" id="{A66ACBF6-567C-413A-A161-1D9FC8B0AD61}"/>
              </a:ext>
            </a:extLst>
          </p:cNvPr>
          <p:cNvSpPr txBox="1"/>
          <p:nvPr/>
        </p:nvSpPr>
        <p:spPr bwMode="auto">
          <a:xfrm>
            <a:off x="8153400" y="2397820"/>
            <a:ext cx="3340100" cy="1713290"/>
          </a:xfrm>
          <a:prstGeom prst="rect">
            <a:avLst/>
          </a:prstGeom>
        </p:spPr>
        <p:txBody>
          <a:bodyPr vert="horz" wrap="square" lIns="38100" tIns="25400" rIns="38100" bIns="25400" rtlCol="0" anchor="ctr">
            <a:spAutoFit/>
          </a:bodyPr>
          <a:lstStyle/>
          <a:p>
            <a:r>
              <a:rPr lang="ru-RU" sz="2700">
                <a:solidFill>
                  <a:srgbClr val="352379"/>
                </a:solidFill>
                <a:latin typeface="Montserrat"/>
              </a:rPr>
              <a:t>Для каждого u → v:</a:t>
            </a:r>
          </a:p>
          <a:p>
            <a:endParaRPr lang="ru-RU" sz="2700">
              <a:solidFill>
                <a:srgbClr val="352379"/>
              </a:solidFill>
              <a:latin typeface="Montserrat"/>
            </a:endParaRPr>
          </a:p>
          <a:p>
            <a:r>
              <a:rPr lang="ru-RU" sz="2700">
                <a:solidFill>
                  <a:srgbClr val="352379"/>
                </a:solidFill>
                <a:latin typeface="Montserrat"/>
              </a:rPr>
              <a:t>u находится</a:t>
            </a:r>
          </a:p>
          <a:p>
            <a:r>
              <a:rPr lang="ru-RU" sz="2700">
                <a:solidFill>
                  <a:srgbClr val="352379"/>
                </a:solidFill>
                <a:latin typeface="Montserrat"/>
              </a:rPr>
              <a:t>раньше v</a:t>
            </a:r>
          </a:p>
        </p:txBody>
      </p:sp>
      <p:sp>
        <p:nvSpPr>
          <p:cNvPr id="16" name="box-12-1856">
            <a:extLst>
              <a:ext uri="{FF2B5EF4-FFF2-40B4-BE49-F238E27FC236}">
                <a16:creationId xmlns:a16="http://schemas.microsoft.com/office/drawing/2014/main" id="{C606CD1E-7E4A-4F36-BBA7-08DB2D4DCEBE}"/>
              </a:ext>
            </a:extLst>
          </p:cNvPr>
          <p:cNvSpPr/>
          <p:nvPr/>
        </p:nvSpPr>
        <p:spPr>
          <a:xfrm>
            <a:off x="482600" y="5676900"/>
            <a:ext cx="11226800" cy="8128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1857">
            <a:extLst>
              <a:ext uri="{FF2B5EF4-FFF2-40B4-BE49-F238E27FC236}">
                <a16:creationId xmlns:a16="http://schemas.microsoft.com/office/drawing/2014/main" id="{3E3947FE-4CFC-4851-9561-0E5DDB9F94DE}"/>
              </a:ext>
            </a:extLst>
          </p:cNvPr>
          <p:cNvSpPr txBox="1"/>
          <p:nvPr/>
        </p:nvSpPr>
        <p:spPr bwMode="auto">
          <a:xfrm>
            <a:off x="660400" y="5727700"/>
            <a:ext cx="10871200" cy="711200"/>
          </a:xfrm>
          <a:prstGeom prst="rect">
            <a:avLst/>
          </a:prstGeom>
        </p:spPr>
        <p:txBody>
          <a:bodyPr vert="horz" wrap="square" lIns="38100" tIns="25400" rIns="38100" bIns="25400" rtlCol="0" anchor="ctr">
            <a:noAutofit/>
          </a:bodyPr>
          <a:lstStyle/>
          <a:p>
            <a:r>
              <a:rPr lang="ru-RU" sz="2100">
                <a:solidFill>
                  <a:srgbClr val="FFFFFF"/>
                </a:solidFill>
                <a:latin typeface="Montserrat"/>
              </a:rPr>
              <a:t>Топологическая сортировка — такой порядок вершин DAG,</a:t>
            </a:r>
          </a:p>
          <a:p>
            <a:r>
              <a:rPr lang="ru-RU" sz="2100">
                <a:solidFill>
                  <a:srgbClr val="FFFFFF"/>
                </a:solidFill>
                <a:latin typeface="Montserrat"/>
              </a:rPr>
              <a:t>при котором для каждого ребра u → v вершина u расположена раньше v.</a:t>
            </a:r>
          </a:p>
        </p:txBody>
      </p:sp>
      <p:sp>
        <p:nvSpPr>
          <p:cNvPr id="18" name="lecture-footer">
            <a:extLst>
              <a:ext uri="{FF2B5EF4-FFF2-40B4-BE49-F238E27FC236}">
                <a16:creationId xmlns:a16="http://schemas.microsoft.com/office/drawing/2014/main" id="{72682846-EEFC-49A9-A71D-D0B291F949E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9" name="slide-number">
            <a:extLst>
              <a:ext uri="{FF2B5EF4-FFF2-40B4-BE49-F238E27FC236}">
                <a16:creationId xmlns:a16="http://schemas.microsoft.com/office/drawing/2014/main" id="{2831C11E-99B9-469E-82F9-8C71D5EAEE70}"/>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55</a:t>
            </a:r>
          </a:p>
        </p:txBody>
      </p:sp>
    </p:spTree>
    <p:extLst>
      <p:ext uri="{BB962C8B-B14F-4D97-AF65-F5344CB8AC3E}">
        <p14:creationId xmlns:p14="http://schemas.microsoft.com/office/powerpoint/2010/main" val="207424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Правильный порядок может быть не один</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ED2F6D25-7D11-47A3-9557-19925A180732}"/>
              </a:ext>
            </a:extLst>
          </p:cNvPr>
          <p:cNvCxnSpPr/>
          <p:nvPr/>
        </p:nvCxnSpPr>
        <p:spPr>
          <a:xfrm flipV="1">
            <a:off x="1739807" y="224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9996D58C-5CDC-4D52-8A8B-482E7E0F48B5}"/>
              </a:ext>
            </a:extLst>
          </p:cNvPr>
          <p:cNvCxnSpPr/>
          <p:nvPr/>
        </p:nvCxnSpPr>
        <p:spPr>
          <a:xfrm>
            <a:off x="1739807" y="351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9579316C-4098-47DA-AB16-6BF19845BBD4}"/>
              </a:ext>
            </a:extLst>
          </p:cNvPr>
          <p:cNvCxnSpPr/>
          <p:nvPr/>
        </p:nvCxnSpPr>
        <p:spPr>
          <a:xfrm>
            <a:off x="4095359" y="2234699"/>
            <a:ext cx="2032782" cy="99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C-D">
            <a:extLst>
              <a:ext uri="{FF2B5EF4-FFF2-40B4-BE49-F238E27FC236}">
                <a16:creationId xmlns:a16="http://schemas.microsoft.com/office/drawing/2014/main" id="{4AACC857-C74F-42C5-9713-776F4C675AE9}"/>
              </a:ext>
            </a:extLst>
          </p:cNvPr>
          <p:cNvCxnSpPr/>
          <p:nvPr/>
        </p:nvCxnSpPr>
        <p:spPr>
          <a:xfrm flipV="1">
            <a:off x="4095359" y="3504700"/>
            <a:ext cx="2032782" cy="9916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g-node-A">
            <a:extLst>
              <a:ext uri="{FF2B5EF4-FFF2-40B4-BE49-F238E27FC236}">
                <a16:creationId xmlns:a16="http://schemas.microsoft.com/office/drawing/2014/main" id="{6DEAA3F8-2252-4DCC-B084-B661A296CBDC}"/>
              </a:ext>
            </a:extLst>
          </p:cNvPr>
          <p:cNvSpPr/>
          <p:nvPr/>
        </p:nvSpPr>
        <p:spPr>
          <a:xfrm>
            <a:off x="1143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g-node-B">
            <a:extLst>
              <a:ext uri="{FF2B5EF4-FFF2-40B4-BE49-F238E27FC236}">
                <a16:creationId xmlns:a16="http://schemas.microsoft.com/office/drawing/2014/main" id="{88C40664-717C-4908-B9C2-A7E038D7159F}"/>
              </a:ext>
            </a:extLst>
          </p:cNvPr>
          <p:cNvSpPr/>
          <p:nvPr/>
        </p:nvSpPr>
        <p:spPr>
          <a:xfrm>
            <a:off x="3492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g-node-C">
            <a:extLst>
              <a:ext uri="{FF2B5EF4-FFF2-40B4-BE49-F238E27FC236}">
                <a16:creationId xmlns:a16="http://schemas.microsoft.com/office/drawing/2014/main" id="{A8B0D79E-AFFA-4494-A410-E34FFE53CCDF}"/>
              </a:ext>
            </a:extLst>
          </p:cNvPr>
          <p:cNvSpPr/>
          <p:nvPr/>
        </p:nvSpPr>
        <p:spPr>
          <a:xfrm>
            <a:off x="3492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g-node-D">
            <a:extLst>
              <a:ext uri="{FF2B5EF4-FFF2-40B4-BE49-F238E27FC236}">
                <a16:creationId xmlns:a16="http://schemas.microsoft.com/office/drawing/2014/main" id="{D1A3A9CB-1FEB-4D3A-8744-DAEA4572DD1E}"/>
              </a:ext>
            </a:extLst>
          </p:cNvPr>
          <p:cNvSpPr/>
          <p:nvPr/>
        </p:nvSpPr>
        <p:spPr>
          <a:xfrm>
            <a:off x="6096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 name="box-8-1866">
            <a:extLst>
              <a:ext uri="{FF2B5EF4-FFF2-40B4-BE49-F238E27FC236}">
                <a16:creationId xmlns:a16="http://schemas.microsoft.com/office/drawing/2014/main" id="{8E5375E4-15C6-4B21-863E-A6149E7B5448}"/>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867">
            <a:extLst>
              <a:ext uri="{FF2B5EF4-FFF2-40B4-BE49-F238E27FC236}">
                <a16:creationId xmlns:a16="http://schemas.microsoft.com/office/drawing/2014/main" id="{A50A7439-4FC8-4108-A41A-ACCA93594B9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868">
            <a:extLst>
              <a:ext uri="{FF2B5EF4-FFF2-40B4-BE49-F238E27FC236}">
                <a16:creationId xmlns:a16="http://schemas.microsoft.com/office/drawing/2014/main" id="{6D53E882-7D41-4ED7-B99D-D378224BA54E}"/>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Два корректных порядка</a:t>
            </a:r>
          </a:p>
        </p:txBody>
      </p:sp>
      <p:sp>
        <p:nvSpPr>
          <p:cNvPr id="15" name="text-11-1869">
            <a:extLst>
              <a:ext uri="{FF2B5EF4-FFF2-40B4-BE49-F238E27FC236}">
                <a16:creationId xmlns:a16="http://schemas.microsoft.com/office/drawing/2014/main" id="{871A8C82-54B8-459B-B720-7DCE2461C7FC}"/>
              </a:ext>
            </a:extLst>
          </p:cNvPr>
          <p:cNvSpPr txBox="1"/>
          <p:nvPr/>
        </p:nvSpPr>
        <p:spPr bwMode="auto">
          <a:xfrm>
            <a:off x="8153400" y="2377301"/>
            <a:ext cx="3340100" cy="1436291"/>
          </a:xfrm>
          <a:prstGeom prst="rect">
            <a:avLst/>
          </a:prstGeom>
        </p:spPr>
        <p:txBody>
          <a:bodyPr vert="horz" wrap="square" lIns="38100" tIns="25400" rIns="38100" bIns="25400" rtlCol="0" anchor="ctr">
            <a:spAutoFit/>
          </a:bodyPr>
          <a:lstStyle/>
          <a:p>
            <a:r>
              <a:rPr lang="pt-BR" sz="3000">
                <a:solidFill>
                  <a:srgbClr val="352379"/>
                </a:solidFill>
                <a:latin typeface="Montserrat"/>
              </a:rPr>
              <a:t>A  B  C  D</a:t>
            </a:r>
          </a:p>
          <a:p>
            <a:endParaRPr lang="pt-BR" sz="3000">
              <a:solidFill>
                <a:srgbClr val="352379"/>
              </a:solidFill>
              <a:latin typeface="Montserrat"/>
            </a:endParaRPr>
          </a:p>
          <a:p>
            <a:r>
              <a:rPr lang="pt-BR" sz="3000">
                <a:solidFill>
                  <a:srgbClr val="352379"/>
                </a:solidFill>
                <a:latin typeface="Montserrat"/>
              </a:rPr>
              <a:t>A  C  B  D</a:t>
            </a:r>
            <a:endParaRPr lang="ru-RU" sz="3000">
              <a:solidFill>
                <a:srgbClr val="352379"/>
              </a:solidFill>
              <a:latin typeface="Montserrat"/>
            </a:endParaRPr>
          </a:p>
        </p:txBody>
      </p:sp>
      <p:sp>
        <p:nvSpPr>
          <p:cNvPr id="16" name="box-12-1870">
            <a:extLst>
              <a:ext uri="{FF2B5EF4-FFF2-40B4-BE49-F238E27FC236}">
                <a16:creationId xmlns:a16="http://schemas.microsoft.com/office/drawing/2014/main" id="{3EB67608-C490-4623-B12E-AC011E8B7BAB}"/>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1871">
            <a:extLst>
              <a:ext uri="{FF2B5EF4-FFF2-40B4-BE49-F238E27FC236}">
                <a16:creationId xmlns:a16="http://schemas.microsoft.com/office/drawing/2014/main" id="{E7375972-26FC-4CCF-84FD-19BFD80DA9ED}"/>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Порядок соседей DFS влияет на выбранный вариант.</a:t>
            </a:r>
          </a:p>
        </p:txBody>
      </p:sp>
      <p:sp>
        <p:nvSpPr>
          <p:cNvPr id="18" name="lecture-footer">
            <a:extLst>
              <a:ext uri="{FF2B5EF4-FFF2-40B4-BE49-F238E27FC236}">
                <a16:creationId xmlns:a16="http://schemas.microsoft.com/office/drawing/2014/main" id="{BF43908C-2E00-4E32-9047-72671CABCDC3}"/>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9" name="slide-number">
            <a:extLst>
              <a:ext uri="{FF2B5EF4-FFF2-40B4-BE49-F238E27FC236}">
                <a16:creationId xmlns:a16="http://schemas.microsoft.com/office/drawing/2014/main" id="{1AEFBDFD-9896-46E2-9A4E-FAFC11A80531}"/>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56</a:t>
            </a:r>
          </a:p>
        </p:txBody>
      </p:sp>
    </p:spTree>
    <p:extLst>
      <p:ext uri="{BB962C8B-B14F-4D97-AF65-F5344CB8AC3E}">
        <p14:creationId xmlns:p14="http://schemas.microsoft.com/office/powerpoint/2010/main" val="3587878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Топологическая сортировка: начало </a:t>
            </a:r>
            <a:r>
              <a:rPr lang="en-US">
                <a:latin typeface="Montserrat SemiBold"/>
              </a:rPr>
              <a:t>DFS</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F5DB3D45-C9E5-48A6-B6F8-3CEE8E0BA12C}"/>
              </a:ext>
            </a:extLst>
          </p:cNvPr>
          <p:cNvCxnSpPr/>
          <p:nvPr/>
        </p:nvCxnSpPr>
        <p:spPr>
          <a:xfrm flipV="1">
            <a:off x="1739807" y="224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8580F80C-60B6-4F66-A898-ACA80DC99CFA}"/>
              </a:ext>
            </a:extLst>
          </p:cNvPr>
          <p:cNvCxnSpPr/>
          <p:nvPr/>
        </p:nvCxnSpPr>
        <p:spPr>
          <a:xfrm>
            <a:off x="1739807" y="351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AA6947DA-94EF-425F-9B72-7518DCD7CB3C}"/>
              </a:ext>
            </a:extLst>
          </p:cNvPr>
          <p:cNvCxnSpPr/>
          <p:nvPr/>
        </p:nvCxnSpPr>
        <p:spPr>
          <a:xfrm>
            <a:off x="4095359" y="2234699"/>
            <a:ext cx="2032782" cy="99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C-D">
            <a:extLst>
              <a:ext uri="{FF2B5EF4-FFF2-40B4-BE49-F238E27FC236}">
                <a16:creationId xmlns:a16="http://schemas.microsoft.com/office/drawing/2014/main" id="{CFA2C537-E865-4D2C-AC95-8BED2AC8CF5A}"/>
              </a:ext>
            </a:extLst>
          </p:cNvPr>
          <p:cNvCxnSpPr/>
          <p:nvPr/>
        </p:nvCxnSpPr>
        <p:spPr>
          <a:xfrm flipV="1">
            <a:off x="4095359" y="3504700"/>
            <a:ext cx="2032782" cy="9916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g-node-A">
            <a:extLst>
              <a:ext uri="{FF2B5EF4-FFF2-40B4-BE49-F238E27FC236}">
                <a16:creationId xmlns:a16="http://schemas.microsoft.com/office/drawing/2014/main" id="{FAAA8FA2-48DD-400D-9785-4DD3A58DBD26}"/>
              </a:ext>
            </a:extLst>
          </p:cNvPr>
          <p:cNvSpPr/>
          <p:nvPr/>
        </p:nvSpPr>
        <p:spPr>
          <a:xfrm>
            <a:off x="1143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g-node-B">
            <a:extLst>
              <a:ext uri="{FF2B5EF4-FFF2-40B4-BE49-F238E27FC236}">
                <a16:creationId xmlns:a16="http://schemas.microsoft.com/office/drawing/2014/main" id="{70F7CCC3-69AA-4FA7-97E3-18E096BB0520}"/>
              </a:ext>
            </a:extLst>
          </p:cNvPr>
          <p:cNvSpPr/>
          <p:nvPr/>
        </p:nvSpPr>
        <p:spPr>
          <a:xfrm>
            <a:off x="3492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g-node-C">
            <a:extLst>
              <a:ext uri="{FF2B5EF4-FFF2-40B4-BE49-F238E27FC236}">
                <a16:creationId xmlns:a16="http://schemas.microsoft.com/office/drawing/2014/main" id="{DEDF5A89-81AC-4D5B-8A9C-6D44E36A8A7A}"/>
              </a:ext>
            </a:extLst>
          </p:cNvPr>
          <p:cNvSpPr/>
          <p:nvPr/>
        </p:nvSpPr>
        <p:spPr>
          <a:xfrm>
            <a:off x="3492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g-node-D">
            <a:extLst>
              <a:ext uri="{FF2B5EF4-FFF2-40B4-BE49-F238E27FC236}">
                <a16:creationId xmlns:a16="http://schemas.microsoft.com/office/drawing/2014/main" id="{54CA1037-FA27-42A7-AC60-74E7CCEDEEC2}"/>
              </a:ext>
            </a:extLst>
          </p:cNvPr>
          <p:cNvSpPr/>
          <p:nvPr/>
        </p:nvSpPr>
        <p:spPr>
          <a:xfrm>
            <a:off x="6096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 name="box-8-1880">
            <a:extLst>
              <a:ext uri="{FF2B5EF4-FFF2-40B4-BE49-F238E27FC236}">
                <a16:creationId xmlns:a16="http://schemas.microsoft.com/office/drawing/2014/main" id="{93EC3B1C-D9CB-42D9-917D-011F1E6E910D}"/>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881">
            <a:extLst>
              <a:ext uri="{FF2B5EF4-FFF2-40B4-BE49-F238E27FC236}">
                <a16:creationId xmlns:a16="http://schemas.microsoft.com/office/drawing/2014/main" id="{AC49F02B-25B9-44A7-AF1F-7341DFA482C3}"/>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882">
            <a:extLst>
              <a:ext uri="{FF2B5EF4-FFF2-40B4-BE49-F238E27FC236}">
                <a16:creationId xmlns:a16="http://schemas.microsoft.com/office/drawing/2014/main" id="{17AB1645-72C5-42B1-A9A1-ADE39564CBF3}"/>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en-US" sz="2100">
                <a:solidFill>
                  <a:srgbClr val="FFFFFF"/>
                </a:solidFill>
                <a:latin typeface="Montserrat"/>
              </a:rPr>
              <a:t>DFS </a:t>
            </a:r>
            <a:r>
              <a:rPr lang="ru-RU" sz="2100">
                <a:solidFill>
                  <a:srgbClr val="FFFFFF"/>
                </a:solidFill>
                <a:latin typeface="Montserrat"/>
              </a:rPr>
              <a:t>и </a:t>
            </a:r>
            <a:r>
              <a:rPr lang="en-US" sz="2100">
                <a:solidFill>
                  <a:srgbClr val="FFFFFF"/>
                </a:solidFill>
                <a:latin typeface="Montserrat"/>
              </a:rPr>
              <a:t>result</a:t>
            </a:r>
            <a:endParaRPr lang="ru-RU" sz="2100">
              <a:solidFill>
                <a:srgbClr val="FFFFFF"/>
              </a:solidFill>
              <a:latin typeface="Montserrat"/>
            </a:endParaRPr>
          </a:p>
        </p:txBody>
      </p:sp>
      <p:sp>
        <p:nvSpPr>
          <p:cNvPr id="15" name="text-11-1883">
            <a:extLst>
              <a:ext uri="{FF2B5EF4-FFF2-40B4-BE49-F238E27FC236}">
                <a16:creationId xmlns:a16="http://schemas.microsoft.com/office/drawing/2014/main" id="{1459F379-DA61-4867-90EA-6FA23E575DEA}"/>
              </a:ext>
            </a:extLst>
          </p:cNvPr>
          <p:cNvSpPr txBox="1"/>
          <p:nvPr/>
        </p:nvSpPr>
        <p:spPr bwMode="auto">
          <a:xfrm>
            <a:off x="8153400" y="2515801"/>
            <a:ext cx="3340100" cy="1159292"/>
          </a:xfrm>
          <a:prstGeom prst="rect">
            <a:avLst/>
          </a:prstGeom>
        </p:spPr>
        <p:txBody>
          <a:bodyPr vert="horz" wrap="square" lIns="38100" tIns="25400" rIns="38100" bIns="25400" rtlCol="0" anchor="ctr">
            <a:spAutoFit/>
          </a:bodyPr>
          <a:lstStyle/>
          <a:p>
            <a:r>
              <a:rPr lang="ru-RU" sz="2400">
                <a:solidFill>
                  <a:srgbClr val="352379"/>
                </a:solidFill>
                <a:latin typeface="Montserrat"/>
              </a:rPr>
              <a:t>Стек: []</a:t>
            </a:r>
          </a:p>
          <a:p>
            <a:endParaRPr lang="ru-RU" sz="2400">
              <a:solidFill>
                <a:srgbClr val="352379"/>
              </a:solidFill>
              <a:latin typeface="Montserrat"/>
            </a:endParaRPr>
          </a:p>
          <a:p>
            <a:r>
              <a:rPr lang="en-US" sz="2400">
                <a:solidFill>
                  <a:srgbClr val="352379"/>
                </a:solidFill>
                <a:latin typeface="Montserrat"/>
              </a:rPr>
              <a:t>result = []</a:t>
            </a:r>
            <a:endParaRPr lang="ru-RU" sz="2400">
              <a:solidFill>
                <a:srgbClr val="352379"/>
              </a:solidFill>
              <a:latin typeface="Montserrat"/>
            </a:endParaRPr>
          </a:p>
        </p:txBody>
      </p:sp>
      <p:grpSp>
        <p:nvGrpSpPr>
          <p:cNvPr id="21" name="animation-stage-1">
            <a:extLst>
              <a:ext uri="{FF2B5EF4-FFF2-40B4-BE49-F238E27FC236}">
                <a16:creationId xmlns:a16="http://schemas.microsoft.com/office/drawing/2014/main" id="{045661B1-A89C-40C1-81B8-2C872D24A677}"/>
              </a:ext>
            </a:extLst>
          </p:cNvPr>
          <p:cNvGrpSpPr/>
          <p:nvPr/>
        </p:nvGrpSpPr>
        <p:grpSpPr>
          <a:xfrm>
            <a:off x="1143000" y="1816100"/>
            <a:ext cx="10566400" cy="3657600"/>
            <a:chOff x="1143000" y="1816100"/>
            <a:chExt cx="10566400" cy="3657600"/>
          </a:xfrm>
        </p:grpSpPr>
        <p:sp>
          <p:nvSpPr>
            <p:cNvPr id="16" name="active-node-A-1884">
              <a:extLst>
                <a:ext uri="{FF2B5EF4-FFF2-40B4-BE49-F238E27FC236}">
                  <a16:creationId xmlns:a16="http://schemas.microsoft.com/office/drawing/2014/main" id="{2F7FF527-C9BE-48B6-94A2-C42F2EEC11C4}"/>
                </a:ext>
              </a:extLst>
            </p:cNvPr>
            <p:cNvSpPr/>
            <p:nvPr/>
          </p:nvSpPr>
          <p:spPr>
            <a:xfrm>
              <a:off x="11430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17" name="box-1-1885">
              <a:extLst>
                <a:ext uri="{FF2B5EF4-FFF2-40B4-BE49-F238E27FC236}">
                  <a16:creationId xmlns:a16="http://schemas.microsoft.com/office/drawing/2014/main" id="{ABD65078-2B0F-462F-B11D-98A67FB8F9A4}"/>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box-2-1886">
              <a:extLst>
                <a:ext uri="{FF2B5EF4-FFF2-40B4-BE49-F238E27FC236}">
                  <a16:creationId xmlns:a16="http://schemas.microsoft.com/office/drawing/2014/main" id="{206D43AB-BFEF-4BD7-A0CC-635783E3034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3-1887">
              <a:extLst>
                <a:ext uri="{FF2B5EF4-FFF2-40B4-BE49-F238E27FC236}">
                  <a16:creationId xmlns:a16="http://schemas.microsoft.com/office/drawing/2014/main" id="{1500858E-D63E-4157-B898-3D5B6CF278DB}"/>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a:t>
              </a:r>
              <a:r>
                <a:rPr lang="en-US" sz="2100">
                  <a:solidFill>
                    <a:srgbClr val="FFFFFF"/>
                  </a:solidFill>
                  <a:latin typeface="Montserrat"/>
                </a:rPr>
                <a:t>A</a:t>
              </a:r>
              <a:endParaRPr lang="ru-RU" sz="2100">
                <a:solidFill>
                  <a:srgbClr val="FFFFFF"/>
                </a:solidFill>
                <a:latin typeface="Montserrat"/>
              </a:endParaRPr>
            </a:p>
          </p:txBody>
        </p:sp>
        <p:sp>
          <p:nvSpPr>
            <p:cNvPr id="20" name="text-4-1888">
              <a:extLst>
                <a:ext uri="{FF2B5EF4-FFF2-40B4-BE49-F238E27FC236}">
                  <a16:creationId xmlns:a16="http://schemas.microsoft.com/office/drawing/2014/main" id="{607CDB17-DDA3-4E1D-85F7-1A817DB857D6}"/>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 [</a:t>
              </a:r>
              <a:r>
                <a:rPr lang="en-US" sz="2100">
                  <a:solidFill>
                    <a:srgbClr val="352379"/>
                  </a:solidFill>
                  <a:latin typeface="Montserrat"/>
                </a:rPr>
                <a:t>A]</a:t>
              </a:r>
            </a:p>
            <a:p>
              <a:endParaRPr lang="en-US" sz="2100">
                <a:solidFill>
                  <a:srgbClr val="352379"/>
                </a:solidFill>
                <a:latin typeface="Montserrat"/>
              </a:endParaRPr>
            </a:p>
            <a:p>
              <a:r>
                <a:rPr lang="en-US" sz="2100">
                  <a:solidFill>
                    <a:srgbClr val="352379"/>
                  </a:solidFill>
                  <a:latin typeface="Montserrat"/>
                </a:rPr>
                <a:t>result = []</a:t>
              </a:r>
              <a:endParaRPr lang="ru-RU" sz="2100">
                <a:solidFill>
                  <a:srgbClr val="352379"/>
                </a:solidFill>
                <a:latin typeface="Montserrat"/>
              </a:endParaRPr>
            </a:p>
          </p:txBody>
        </p:sp>
      </p:grpSp>
      <p:sp>
        <p:nvSpPr>
          <p:cNvPr id="22" name="lecture-footer">
            <a:extLst>
              <a:ext uri="{FF2B5EF4-FFF2-40B4-BE49-F238E27FC236}">
                <a16:creationId xmlns:a16="http://schemas.microsoft.com/office/drawing/2014/main" id="{4CFA045C-03D2-4458-8211-5D2299A948FE}"/>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3" name="slide-number">
            <a:extLst>
              <a:ext uri="{FF2B5EF4-FFF2-40B4-BE49-F238E27FC236}">
                <a16:creationId xmlns:a16="http://schemas.microsoft.com/office/drawing/2014/main" id="{BCDFD1BF-2565-409A-B10B-ABE7DA40D1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57</a:t>
            </a:r>
          </a:p>
        </p:txBody>
      </p:sp>
    </p:spTree>
    <p:extLst>
      <p:ext uri="{BB962C8B-B14F-4D97-AF65-F5344CB8AC3E}">
        <p14:creationId xmlns:p14="http://schemas.microsoft.com/office/powerpoint/2010/main" val="288778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Топологическая сортировка: углубление</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F93257B6-6F86-4AAA-A1DF-784EC03D0C7E}"/>
              </a:ext>
            </a:extLst>
          </p:cNvPr>
          <p:cNvCxnSpPr/>
          <p:nvPr/>
        </p:nvCxnSpPr>
        <p:spPr>
          <a:xfrm flipV="1">
            <a:off x="1739807" y="224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D0D8CAF5-6A88-4049-8FDA-621BCC3C8B0C}"/>
              </a:ext>
            </a:extLst>
          </p:cNvPr>
          <p:cNvCxnSpPr/>
          <p:nvPr/>
        </p:nvCxnSpPr>
        <p:spPr>
          <a:xfrm>
            <a:off x="1739807" y="351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49199C74-5539-40FB-A5B6-1E3412719B02}"/>
              </a:ext>
            </a:extLst>
          </p:cNvPr>
          <p:cNvCxnSpPr/>
          <p:nvPr/>
        </p:nvCxnSpPr>
        <p:spPr>
          <a:xfrm>
            <a:off x="4095359" y="2234699"/>
            <a:ext cx="2032782" cy="99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C-D">
            <a:extLst>
              <a:ext uri="{FF2B5EF4-FFF2-40B4-BE49-F238E27FC236}">
                <a16:creationId xmlns:a16="http://schemas.microsoft.com/office/drawing/2014/main" id="{0420A32C-D422-4DF6-B18A-5CCB126DFEC2}"/>
              </a:ext>
            </a:extLst>
          </p:cNvPr>
          <p:cNvCxnSpPr/>
          <p:nvPr/>
        </p:nvCxnSpPr>
        <p:spPr>
          <a:xfrm flipV="1">
            <a:off x="4095359" y="3504700"/>
            <a:ext cx="2032782" cy="9916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g-node-A">
            <a:extLst>
              <a:ext uri="{FF2B5EF4-FFF2-40B4-BE49-F238E27FC236}">
                <a16:creationId xmlns:a16="http://schemas.microsoft.com/office/drawing/2014/main" id="{413DE8BA-ED54-4F57-A050-1B8ECD09F21C}"/>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g-node-B">
            <a:extLst>
              <a:ext uri="{FF2B5EF4-FFF2-40B4-BE49-F238E27FC236}">
                <a16:creationId xmlns:a16="http://schemas.microsoft.com/office/drawing/2014/main" id="{384A7194-BCBD-40DA-914E-98A1D209FFF9}"/>
              </a:ext>
            </a:extLst>
          </p:cNvPr>
          <p:cNvSpPr/>
          <p:nvPr/>
        </p:nvSpPr>
        <p:spPr>
          <a:xfrm>
            <a:off x="3492500" y="177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g-node-C">
            <a:extLst>
              <a:ext uri="{FF2B5EF4-FFF2-40B4-BE49-F238E27FC236}">
                <a16:creationId xmlns:a16="http://schemas.microsoft.com/office/drawing/2014/main" id="{F729AA57-A56E-4C68-8549-D05194C226D3}"/>
              </a:ext>
            </a:extLst>
          </p:cNvPr>
          <p:cNvSpPr/>
          <p:nvPr/>
        </p:nvSpPr>
        <p:spPr>
          <a:xfrm>
            <a:off x="3492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g-node-D">
            <a:extLst>
              <a:ext uri="{FF2B5EF4-FFF2-40B4-BE49-F238E27FC236}">
                <a16:creationId xmlns:a16="http://schemas.microsoft.com/office/drawing/2014/main" id="{5824DBF9-511C-459D-A48C-4E131C18E5D8}"/>
              </a:ext>
            </a:extLst>
          </p:cNvPr>
          <p:cNvSpPr/>
          <p:nvPr/>
        </p:nvSpPr>
        <p:spPr>
          <a:xfrm>
            <a:off x="6096000" y="304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 name="box-8-1897">
            <a:extLst>
              <a:ext uri="{FF2B5EF4-FFF2-40B4-BE49-F238E27FC236}">
                <a16:creationId xmlns:a16="http://schemas.microsoft.com/office/drawing/2014/main" id="{FB0B8029-30D2-47A0-BB64-FD6BD1443DC2}"/>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898">
            <a:extLst>
              <a:ext uri="{FF2B5EF4-FFF2-40B4-BE49-F238E27FC236}">
                <a16:creationId xmlns:a16="http://schemas.microsoft.com/office/drawing/2014/main" id="{EEBA473D-3A97-43C8-9B8D-79BA5B01FE0E}"/>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899">
            <a:extLst>
              <a:ext uri="{FF2B5EF4-FFF2-40B4-BE49-F238E27FC236}">
                <a16:creationId xmlns:a16="http://schemas.microsoft.com/office/drawing/2014/main" id="{885677FE-D2C0-4A9E-BC0C-3A7BA4442598}"/>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Углубляемся</a:t>
            </a:r>
          </a:p>
        </p:txBody>
      </p:sp>
      <p:sp>
        <p:nvSpPr>
          <p:cNvPr id="15" name="text-11-1900">
            <a:extLst>
              <a:ext uri="{FF2B5EF4-FFF2-40B4-BE49-F238E27FC236}">
                <a16:creationId xmlns:a16="http://schemas.microsoft.com/office/drawing/2014/main" id="{13519146-AEE6-44D4-954A-F8121562DB2B}"/>
              </a:ext>
            </a:extLst>
          </p:cNvPr>
          <p:cNvSpPr txBox="1"/>
          <p:nvPr/>
        </p:nvSpPr>
        <p:spPr bwMode="auto">
          <a:xfrm>
            <a:off x="8153400" y="2515801"/>
            <a:ext cx="3340100" cy="1159292"/>
          </a:xfrm>
          <a:prstGeom prst="rect">
            <a:avLst/>
          </a:prstGeom>
        </p:spPr>
        <p:txBody>
          <a:bodyPr vert="horz" wrap="square" lIns="38100" tIns="25400" rIns="38100" bIns="25400" rtlCol="0" anchor="ctr">
            <a:spAutoFit/>
          </a:bodyPr>
          <a:lstStyle/>
          <a:p>
            <a:r>
              <a:rPr lang="ru-RU" sz="2400">
                <a:solidFill>
                  <a:srgbClr val="352379"/>
                </a:solidFill>
                <a:latin typeface="Montserrat"/>
              </a:rPr>
              <a:t>Стек: [</a:t>
            </a:r>
            <a:r>
              <a:rPr lang="en-US" sz="2400">
                <a:solidFill>
                  <a:srgbClr val="352379"/>
                </a:solidFill>
                <a:latin typeface="Montserrat"/>
              </a:rPr>
              <a:t>A]</a:t>
            </a:r>
          </a:p>
          <a:p>
            <a:endParaRPr lang="en-US" sz="2400">
              <a:solidFill>
                <a:srgbClr val="352379"/>
              </a:solidFill>
              <a:latin typeface="Montserrat"/>
            </a:endParaRPr>
          </a:p>
          <a:p>
            <a:r>
              <a:rPr lang="en-US" sz="2400">
                <a:solidFill>
                  <a:srgbClr val="352379"/>
                </a:solidFill>
                <a:latin typeface="Montserrat"/>
              </a:rPr>
              <a:t>result = []</a:t>
            </a:r>
            <a:endParaRPr lang="ru-RU" sz="2400">
              <a:solidFill>
                <a:srgbClr val="352379"/>
              </a:solidFill>
              <a:latin typeface="Montserrat"/>
            </a:endParaRPr>
          </a:p>
        </p:txBody>
      </p:sp>
      <p:grpSp>
        <p:nvGrpSpPr>
          <p:cNvPr id="23" name="animation-stage-1">
            <a:extLst>
              <a:ext uri="{FF2B5EF4-FFF2-40B4-BE49-F238E27FC236}">
                <a16:creationId xmlns:a16="http://schemas.microsoft.com/office/drawing/2014/main" id="{41295BEF-C2AA-40C7-B789-714E76FAF0A5}"/>
              </a:ext>
            </a:extLst>
          </p:cNvPr>
          <p:cNvGrpSpPr/>
          <p:nvPr/>
        </p:nvGrpSpPr>
        <p:grpSpPr>
          <a:xfrm>
            <a:off x="1143000" y="1778000"/>
            <a:ext cx="10566400" cy="3695700"/>
            <a:chOff x="1143000" y="1778000"/>
            <a:chExt cx="10566400" cy="3695700"/>
          </a:xfrm>
        </p:grpSpPr>
        <p:cxnSp>
          <p:nvCxnSpPr>
            <p:cNvPr id="16" name="active-edge-A-B-1901">
              <a:extLst>
                <a:ext uri="{FF2B5EF4-FFF2-40B4-BE49-F238E27FC236}">
                  <a16:creationId xmlns:a16="http://schemas.microsoft.com/office/drawing/2014/main" id="{0545B5DC-47BC-48D6-9571-614F8B14252B}"/>
                </a:ext>
              </a:extLst>
            </p:cNvPr>
            <p:cNvCxnSpPr/>
            <p:nvPr/>
          </p:nvCxnSpPr>
          <p:spPr>
            <a:xfrm flipV="1">
              <a:off x="1739807" y="2246477"/>
              <a:ext cx="1790886" cy="968046"/>
            </a:xfrm>
            <a:prstGeom prst="straightConnector1">
              <a:avLst/>
            </a:prstGeom>
            <a:ln w="38100">
              <a:solidFill>
                <a:srgbClr val="8C64D8"/>
              </a:solidFill>
              <a:tailEnd type="arrow" w="med" len="med"/>
            </a:ln>
          </p:spPr>
          <p:style>
            <a:lnRef idx="1">
              <a:schemeClr val="accent1"/>
            </a:lnRef>
            <a:fillRef idx="0">
              <a:schemeClr val="accent1"/>
            </a:fillRef>
            <a:effectRef idx="0">
              <a:schemeClr val="accent1"/>
            </a:effectRef>
            <a:fontRef idx="minor">
              <a:schemeClr val="tx1"/>
            </a:fontRef>
          </p:style>
        </p:cxnSp>
        <p:sp>
          <p:nvSpPr>
            <p:cNvPr id="17" name="active-node-A-1902">
              <a:extLst>
                <a:ext uri="{FF2B5EF4-FFF2-40B4-BE49-F238E27FC236}">
                  <a16:creationId xmlns:a16="http://schemas.microsoft.com/office/drawing/2014/main" id="{11B69D62-69E2-4DBF-91C2-D1A5E53ED92E}"/>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8" name="active-node-B-1903">
              <a:extLst>
                <a:ext uri="{FF2B5EF4-FFF2-40B4-BE49-F238E27FC236}">
                  <a16:creationId xmlns:a16="http://schemas.microsoft.com/office/drawing/2014/main" id="{8E312D3E-E3AC-4650-9E4F-06A6D97E80FF}"/>
                </a:ext>
              </a:extLst>
            </p:cNvPr>
            <p:cNvSpPr/>
            <p:nvPr/>
          </p:nvSpPr>
          <p:spPr>
            <a:xfrm>
              <a:off x="3492500" y="177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19" name="box-3-1904">
              <a:extLst>
                <a:ext uri="{FF2B5EF4-FFF2-40B4-BE49-F238E27FC236}">
                  <a16:creationId xmlns:a16="http://schemas.microsoft.com/office/drawing/2014/main" id="{71A67508-3810-4296-974F-98CF34BEF35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box-4-1905">
              <a:extLst>
                <a:ext uri="{FF2B5EF4-FFF2-40B4-BE49-F238E27FC236}">
                  <a16:creationId xmlns:a16="http://schemas.microsoft.com/office/drawing/2014/main" id="{495B803A-DD24-4E56-8B13-1673E2FAE876}"/>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5-1906">
              <a:extLst>
                <a:ext uri="{FF2B5EF4-FFF2-40B4-BE49-F238E27FC236}">
                  <a16:creationId xmlns:a16="http://schemas.microsoft.com/office/drawing/2014/main" id="{2F265FE4-D7C9-4D86-AACF-F792C2A5C818}"/>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a:t>
              </a:r>
              <a:r>
                <a:rPr lang="en-US" sz="2100">
                  <a:solidFill>
                    <a:srgbClr val="FFFFFF"/>
                  </a:solidFill>
                  <a:latin typeface="Montserrat"/>
                </a:rPr>
                <a:t>B</a:t>
              </a:r>
              <a:endParaRPr lang="ru-RU" sz="2100">
                <a:solidFill>
                  <a:srgbClr val="FFFFFF"/>
                </a:solidFill>
                <a:latin typeface="Montserrat"/>
              </a:endParaRPr>
            </a:p>
          </p:txBody>
        </p:sp>
        <p:sp>
          <p:nvSpPr>
            <p:cNvPr id="22" name="text-6-1907">
              <a:extLst>
                <a:ext uri="{FF2B5EF4-FFF2-40B4-BE49-F238E27FC236}">
                  <a16:creationId xmlns:a16="http://schemas.microsoft.com/office/drawing/2014/main" id="{F302141F-C0BE-4B9D-9525-0B3012098F0D}"/>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 [</a:t>
              </a:r>
              <a:r>
                <a:rPr lang="en-US" sz="2100">
                  <a:solidFill>
                    <a:srgbClr val="352379"/>
                  </a:solidFill>
                  <a:latin typeface="Montserrat"/>
                </a:rPr>
                <a:t>A, B]</a:t>
              </a:r>
            </a:p>
            <a:p>
              <a:endParaRPr lang="en-US" sz="2100">
                <a:solidFill>
                  <a:srgbClr val="352379"/>
                </a:solidFill>
                <a:latin typeface="Montserrat"/>
              </a:endParaRPr>
            </a:p>
            <a:p>
              <a:r>
                <a:rPr lang="en-US" sz="2100">
                  <a:solidFill>
                    <a:srgbClr val="352379"/>
                  </a:solidFill>
                  <a:latin typeface="Montserrat"/>
                </a:rPr>
                <a:t>result = []</a:t>
              </a:r>
              <a:endParaRPr lang="ru-RU" sz="2100">
                <a:solidFill>
                  <a:srgbClr val="352379"/>
                </a:solidFill>
                <a:latin typeface="Montserrat"/>
              </a:endParaRPr>
            </a:p>
          </p:txBody>
        </p:sp>
      </p:grpSp>
      <p:grpSp>
        <p:nvGrpSpPr>
          <p:cNvPr id="33" name="animation-stage-2">
            <a:extLst>
              <a:ext uri="{FF2B5EF4-FFF2-40B4-BE49-F238E27FC236}">
                <a16:creationId xmlns:a16="http://schemas.microsoft.com/office/drawing/2014/main" id="{F19D0794-D6A9-43E2-8AD8-4AF077793971}"/>
              </a:ext>
            </a:extLst>
          </p:cNvPr>
          <p:cNvGrpSpPr/>
          <p:nvPr/>
        </p:nvGrpSpPr>
        <p:grpSpPr>
          <a:xfrm>
            <a:off x="1143000" y="1778000"/>
            <a:ext cx="10566400" cy="3695700"/>
            <a:chOff x="1143000" y="1778000"/>
            <a:chExt cx="10566400" cy="3695700"/>
          </a:xfrm>
        </p:grpSpPr>
        <p:cxnSp>
          <p:nvCxnSpPr>
            <p:cNvPr id="24" name="active-edge-A-B-1908">
              <a:extLst>
                <a:ext uri="{FF2B5EF4-FFF2-40B4-BE49-F238E27FC236}">
                  <a16:creationId xmlns:a16="http://schemas.microsoft.com/office/drawing/2014/main" id="{CD9373E3-2165-4F80-8F92-1D7D9195DF5D}"/>
                </a:ext>
              </a:extLst>
            </p:cNvPr>
            <p:cNvCxnSpPr/>
            <p:nvPr/>
          </p:nvCxnSpPr>
          <p:spPr>
            <a:xfrm flipV="1">
              <a:off x="1739807" y="2246477"/>
              <a:ext cx="1790886" cy="968046"/>
            </a:xfrm>
            <a:prstGeom prst="straightConnector1">
              <a:avLst/>
            </a:prstGeom>
            <a:ln w="38100">
              <a:solidFill>
                <a:srgbClr val="8C64D8"/>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5" name="active-edge-B-D-1909">
              <a:extLst>
                <a:ext uri="{FF2B5EF4-FFF2-40B4-BE49-F238E27FC236}">
                  <a16:creationId xmlns:a16="http://schemas.microsoft.com/office/drawing/2014/main" id="{FB3AD903-7DB9-443D-9CC2-099B72839477}"/>
                </a:ext>
              </a:extLst>
            </p:cNvPr>
            <p:cNvCxnSpPr/>
            <p:nvPr/>
          </p:nvCxnSpPr>
          <p:spPr>
            <a:xfrm>
              <a:off x="4095359" y="2234699"/>
              <a:ext cx="2032782" cy="991602"/>
            </a:xfrm>
            <a:prstGeom prst="straightConnector1">
              <a:avLst/>
            </a:prstGeom>
            <a:ln w="38100">
              <a:solidFill>
                <a:srgbClr val="8C64D8"/>
              </a:solidFill>
              <a:tailEnd type="arrow" w="med" len="med"/>
            </a:ln>
          </p:spPr>
          <p:style>
            <a:lnRef idx="1">
              <a:schemeClr val="accent1"/>
            </a:lnRef>
            <a:fillRef idx="0">
              <a:schemeClr val="accent1"/>
            </a:fillRef>
            <a:effectRef idx="0">
              <a:schemeClr val="accent1"/>
            </a:effectRef>
            <a:fontRef idx="minor">
              <a:schemeClr val="tx1"/>
            </a:fontRef>
          </p:style>
        </p:cxnSp>
        <p:sp>
          <p:nvSpPr>
            <p:cNvPr id="26" name="active-node-A-1910">
              <a:extLst>
                <a:ext uri="{FF2B5EF4-FFF2-40B4-BE49-F238E27FC236}">
                  <a16:creationId xmlns:a16="http://schemas.microsoft.com/office/drawing/2014/main" id="{CCD51C5A-4337-47C1-824B-47A27DA7E98C}"/>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7" name="active-node-B-1911">
              <a:extLst>
                <a:ext uri="{FF2B5EF4-FFF2-40B4-BE49-F238E27FC236}">
                  <a16:creationId xmlns:a16="http://schemas.microsoft.com/office/drawing/2014/main" id="{7F4A552B-9BD7-4136-899E-8ECB439882B5}"/>
                </a:ext>
              </a:extLst>
            </p:cNvPr>
            <p:cNvSpPr/>
            <p:nvPr/>
          </p:nvSpPr>
          <p:spPr>
            <a:xfrm>
              <a:off x="3492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8" name="active-node-D-1912">
              <a:extLst>
                <a:ext uri="{FF2B5EF4-FFF2-40B4-BE49-F238E27FC236}">
                  <a16:creationId xmlns:a16="http://schemas.microsoft.com/office/drawing/2014/main" id="{20FF7FCB-C896-4354-AACC-428CFE2E131A}"/>
                </a:ext>
              </a:extLst>
            </p:cNvPr>
            <p:cNvSpPr/>
            <p:nvPr/>
          </p:nvSpPr>
          <p:spPr>
            <a:xfrm>
              <a:off x="6096000" y="3048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29" name="box-5-1913">
              <a:extLst>
                <a:ext uri="{FF2B5EF4-FFF2-40B4-BE49-F238E27FC236}">
                  <a16:creationId xmlns:a16="http://schemas.microsoft.com/office/drawing/2014/main" id="{F931EE30-F663-4714-9AF4-E8656EB6604A}"/>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box-6-1914">
              <a:extLst>
                <a:ext uri="{FF2B5EF4-FFF2-40B4-BE49-F238E27FC236}">
                  <a16:creationId xmlns:a16="http://schemas.microsoft.com/office/drawing/2014/main" id="{913E00CF-D76D-4ACD-A794-243F6630872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7-1915">
              <a:extLst>
                <a:ext uri="{FF2B5EF4-FFF2-40B4-BE49-F238E27FC236}">
                  <a16:creationId xmlns:a16="http://schemas.microsoft.com/office/drawing/2014/main" id="{DC14C7F6-5F18-4CF4-80B9-F42D8AF0A0F9}"/>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Вход в </a:t>
              </a:r>
              <a:r>
                <a:rPr lang="en-US" sz="2100">
                  <a:solidFill>
                    <a:srgbClr val="FFFFFF"/>
                  </a:solidFill>
                  <a:latin typeface="Montserrat"/>
                </a:rPr>
                <a:t>D</a:t>
              </a:r>
              <a:endParaRPr lang="ru-RU" sz="2100">
                <a:solidFill>
                  <a:srgbClr val="FFFFFF"/>
                </a:solidFill>
                <a:latin typeface="Montserrat"/>
              </a:endParaRPr>
            </a:p>
          </p:txBody>
        </p:sp>
        <p:sp>
          <p:nvSpPr>
            <p:cNvPr id="32" name="text-8-1916">
              <a:extLst>
                <a:ext uri="{FF2B5EF4-FFF2-40B4-BE49-F238E27FC236}">
                  <a16:creationId xmlns:a16="http://schemas.microsoft.com/office/drawing/2014/main" id="{7BA29E15-2EA7-4C13-B823-AB9D34AD3F35}"/>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ru-RU" sz="2100">
                  <a:solidFill>
                    <a:srgbClr val="352379"/>
                  </a:solidFill>
                  <a:latin typeface="Montserrat"/>
                </a:rPr>
                <a:t>Стек: [</a:t>
              </a:r>
              <a:r>
                <a:rPr lang="en-US" sz="2100">
                  <a:solidFill>
                    <a:srgbClr val="352379"/>
                  </a:solidFill>
                  <a:latin typeface="Montserrat"/>
                </a:rPr>
                <a:t>A, B, D]</a:t>
              </a:r>
            </a:p>
            <a:p>
              <a:endParaRPr lang="en-US" sz="2100">
                <a:solidFill>
                  <a:srgbClr val="352379"/>
                </a:solidFill>
                <a:latin typeface="Montserrat"/>
              </a:endParaRPr>
            </a:p>
            <a:p>
              <a:r>
                <a:rPr lang="en-US" sz="2100">
                  <a:solidFill>
                    <a:srgbClr val="352379"/>
                  </a:solidFill>
                  <a:latin typeface="Montserrat"/>
                </a:rPr>
                <a:t>result = []</a:t>
              </a:r>
              <a:endParaRPr lang="ru-RU" sz="2100">
                <a:solidFill>
                  <a:srgbClr val="352379"/>
                </a:solidFill>
                <a:latin typeface="Montserrat"/>
              </a:endParaRPr>
            </a:p>
          </p:txBody>
        </p:sp>
      </p:grpSp>
      <p:sp>
        <p:nvSpPr>
          <p:cNvPr id="34" name="lecture-footer">
            <a:extLst>
              <a:ext uri="{FF2B5EF4-FFF2-40B4-BE49-F238E27FC236}">
                <a16:creationId xmlns:a16="http://schemas.microsoft.com/office/drawing/2014/main" id="{7A273B7B-3E17-42A0-A90D-40C9FA8041C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5" name="slide-number">
            <a:extLst>
              <a:ext uri="{FF2B5EF4-FFF2-40B4-BE49-F238E27FC236}">
                <a16:creationId xmlns:a16="http://schemas.microsoft.com/office/drawing/2014/main" id="{3F154A74-60BE-4363-AB29-7BC7F585BE81}"/>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58</a:t>
            </a:r>
          </a:p>
        </p:txBody>
      </p:sp>
    </p:spTree>
    <p:extLst>
      <p:ext uri="{BB962C8B-B14F-4D97-AF65-F5344CB8AC3E}">
        <p14:creationId xmlns:p14="http://schemas.microsoft.com/office/powerpoint/2010/main" val="186022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250"/>
                                        <p:tgtEl>
                                          <p:spTgt spid="33"/>
                                        </p:tgtEl>
                                      </p:cBhvr>
                                    </p:animEffect>
                                  </p:childTnLst>
                                </p:cTn>
                              </p:par>
                              <p:par>
                                <p:cTn id="13" presetID="10" presetClass="exit" presetSubtype="0" fill="hold" nodeType="withEffect">
                                  <p:stCondLst>
                                    <p:cond delay="0"/>
                                  </p:stCondLst>
                                  <p:childTnLst>
                                    <p:animEffect transition="out" filter="fade">
                                      <p:cBhvr>
                                        <p:cTn id="14" dur="150"/>
                                        <p:tgtEl>
                                          <p:spTgt spid="23"/>
                                        </p:tgtEl>
                                      </p:cBhvr>
                                    </p:animEffect>
                                    <p:set>
                                      <p:cBhvr>
                                        <p:cTn id="15" dur="1" fill="hold">
                                          <p:stCondLst>
                                            <p:cond delay="14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Топологическая сортировка: добавляем на выходе</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3DDEC6EF-FD18-4D4F-A3D0-6FC3D30DC625}"/>
              </a:ext>
            </a:extLst>
          </p:cNvPr>
          <p:cNvCxnSpPr/>
          <p:nvPr/>
        </p:nvCxnSpPr>
        <p:spPr>
          <a:xfrm flipV="1">
            <a:off x="1739807" y="224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8915E90E-7E76-44A8-B496-EE579873FEE2}"/>
              </a:ext>
            </a:extLst>
          </p:cNvPr>
          <p:cNvCxnSpPr/>
          <p:nvPr/>
        </p:nvCxnSpPr>
        <p:spPr>
          <a:xfrm>
            <a:off x="1739807" y="351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9EA1505E-6626-4CFB-AB00-F1976DA6847A}"/>
              </a:ext>
            </a:extLst>
          </p:cNvPr>
          <p:cNvCxnSpPr/>
          <p:nvPr/>
        </p:nvCxnSpPr>
        <p:spPr>
          <a:xfrm>
            <a:off x="4095359" y="2234699"/>
            <a:ext cx="2032782" cy="99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C-D">
            <a:extLst>
              <a:ext uri="{FF2B5EF4-FFF2-40B4-BE49-F238E27FC236}">
                <a16:creationId xmlns:a16="http://schemas.microsoft.com/office/drawing/2014/main" id="{C9CB7ECD-FDB9-43A8-BCA9-E5CE3F70626D}"/>
              </a:ext>
            </a:extLst>
          </p:cNvPr>
          <p:cNvCxnSpPr/>
          <p:nvPr/>
        </p:nvCxnSpPr>
        <p:spPr>
          <a:xfrm flipV="1">
            <a:off x="4095359" y="3504700"/>
            <a:ext cx="2032782" cy="9916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g-node-A">
            <a:extLst>
              <a:ext uri="{FF2B5EF4-FFF2-40B4-BE49-F238E27FC236}">
                <a16:creationId xmlns:a16="http://schemas.microsoft.com/office/drawing/2014/main" id="{A36675E8-673A-410F-A4E1-09FA89EBA370}"/>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g-node-B">
            <a:extLst>
              <a:ext uri="{FF2B5EF4-FFF2-40B4-BE49-F238E27FC236}">
                <a16:creationId xmlns:a16="http://schemas.microsoft.com/office/drawing/2014/main" id="{9C86D30E-4D6E-414B-937A-1B80AB6C3428}"/>
              </a:ext>
            </a:extLst>
          </p:cNvPr>
          <p:cNvSpPr/>
          <p:nvPr/>
        </p:nvSpPr>
        <p:spPr>
          <a:xfrm>
            <a:off x="3492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g-node-C">
            <a:extLst>
              <a:ext uri="{FF2B5EF4-FFF2-40B4-BE49-F238E27FC236}">
                <a16:creationId xmlns:a16="http://schemas.microsoft.com/office/drawing/2014/main" id="{6EC6A8A5-4AF7-4844-9F71-AA5B8E2B2F60}"/>
              </a:ext>
            </a:extLst>
          </p:cNvPr>
          <p:cNvSpPr/>
          <p:nvPr/>
        </p:nvSpPr>
        <p:spPr>
          <a:xfrm>
            <a:off x="3492500" y="4318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g-node-D">
            <a:extLst>
              <a:ext uri="{FF2B5EF4-FFF2-40B4-BE49-F238E27FC236}">
                <a16:creationId xmlns:a16="http://schemas.microsoft.com/office/drawing/2014/main" id="{C85B71CC-41DB-47D5-B4D1-D0B208702EB2}"/>
              </a:ext>
            </a:extLst>
          </p:cNvPr>
          <p:cNvSpPr/>
          <p:nvPr/>
        </p:nvSpPr>
        <p:spPr>
          <a:xfrm>
            <a:off x="6096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 name="box-8-1925">
            <a:extLst>
              <a:ext uri="{FF2B5EF4-FFF2-40B4-BE49-F238E27FC236}">
                <a16:creationId xmlns:a16="http://schemas.microsoft.com/office/drawing/2014/main" id="{947E429C-2286-4F51-AAF0-A2513CBC119C}"/>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926">
            <a:extLst>
              <a:ext uri="{FF2B5EF4-FFF2-40B4-BE49-F238E27FC236}">
                <a16:creationId xmlns:a16="http://schemas.microsoft.com/office/drawing/2014/main" id="{59AB656C-AC40-4F2D-99F9-C865D8905A0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927">
            <a:extLst>
              <a:ext uri="{FF2B5EF4-FFF2-40B4-BE49-F238E27FC236}">
                <a16:creationId xmlns:a16="http://schemas.microsoft.com/office/drawing/2014/main" id="{3342C518-05C1-4722-8151-5D4256B80935}"/>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Порядок выхода</a:t>
            </a:r>
          </a:p>
        </p:txBody>
      </p:sp>
      <p:sp>
        <p:nvSpPr>
          <p:cNvPr id="15" name="text-11-1928">
            <a:extLst>
              <a:ext uri="{FF2B5EF4-FFF2-40B4-BE49-F238E27FC236}">
                <a16:creationId xmlns:a16="http://schemas.microsoft.com/office/drawing/2014/main" id="{BD523969-9B3A-4316-91E6-30D59183269C}"/>
              </a:ext>
            </a:extLst>
          </p:cNvPr>
          <p:cNvSpPr txBox="1"/>
          <p:nvPr/>
        </p:nvSpPr>
        <p:spPr bwMode="auto">
          <a:xfrm>
            <a:off x="8153400" y="2538884"/>
            <a:ext cx="3340100" cy="1113125"/>
          </a:xfrm>
          <a:prstGeom prst="rect">
            <a:avLst/>
          </a:prstGeom>
        </p:spPr>
        <p:txBody>
          <a:bodyPr vert="horz" wrap="square" lIns="38100" tIns="25400" rIns="38100" bIns="25400" rtlCol="0" anchor="ctr">
            <a:spAutoFit/>
          </a:bodyPr>
          <a:lstStyle/>
          <a:p>
            <a:r>
              <a:rPr lang="ru-RU" sz="2300">
                <a:solidFill>
                  <a:srgbClr val="352379"/>
                </a:solidFill>
                <a:latin typeface="Montserrat"/>
              </a:rPr>
              <a:t>Стек: [</a:t>
            </a:r>
            <a:r>
              <a:rPr lang="en-US" sz="2300">
                <a:solidFill>
                  <a:srgbClr val="352379"/>
                </a:solidFill>
                <a:latin typeface="Montserrat"/>
              </a:rPr>
              <a:t>A, B, D]</a:t>
            </a:r>
          </a:p>
          <a:p>
            <a:endParaRPr lang="en-US" sz="2300">
              <a:solidFill>
                <a:srgbClr val="352379"/>
              </a:solidFill>
              <a:latin typeface="Montserrat"/>
            </a:endParaRPr>
          </a:p>
          <a:p>
            <a:r>
              <a:rPr lang="en-US" sz="2300">
                <a:solidFill>
                  <a:srgbClr val="352379"/>
                </a:solidFill>
                <a:latin typeface="Montserrat"/>
              </a:rPr>
              <a:t>result = []</a:t>
            </a:r>
            <a:endParaRPr lang="ru-RU" sz="2300">
              <a:solidFill>
                <a:srgbClr val="352379"/>
              </a:solidFill>
              <a:latin typeface="Montserrat"/>
            </a:endParaRPr>
          </a:p>
        </p:txBody>
      </p:sp>
      <p:grpSp>
        <p:nvGrpSpPr>
          <p:cNvPr id="24" name="animation-stage-1">
            <a:extLst>
              <a:ext uri="{FF2B5EF4-FFF2-40B4-BE49-F238E27FC236}">
                <a16:creationId xmlns:a16="http://schemas.microsoft.com/office/drawing/2014/main" id="{0DCF341C-09D9-411C-A9AD-EDDE95C4E526}"/>
              </a:ext>
            </a:extLst>
          </p:cNvPr>
          <p:cNvGrpSpPr/>
          <p:nvPr/>
        </p:nvGrpSpPr>
        <p:grpSpPr>
          <a:xfrm>
            <a:off x="1143000" y="1778000"/>
            <a:ext cx="10566400" cy="3695700"/>
            <a:chOff x="1143000" y="1778000"/>
            <a:chExt cx="10566400" cy="3695700"/>
          </a:xfrm>
        </p:grpSpPr>
        <p:sp>
          <p:nvSpPr>
            <p:cNvPr id="16" name="active-node-A-1929">
              <a:extLst>
                <a:ext uri="{FF2B5EF4-FFF2-40B4-BE49-F238E27FC236}">
                  <a16:creationId xmlns:a16="http://schemas.microsoft.com/office/drawing/2014/main" id="{6A35DAEB-126D-4755-8CDB-D9B2C858EA40}"/>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7" name="active-node-B-1930">
              <a:extLst>
                <a:ext uri="{FF2B5EF4-FFF2-40B4-BE49-F238E27FC236}">
                  <a16:creationId xmlns:a16="http://schemas.microsoft.com/office/drawing/2014/main" id="{C1292E87-DB4F-4FAF-B9A4-E5AB17A19B8B}"/>
                </a:ext>
              </a:extLst>
            </p:cNvPr>
            <p:cNvSpPr/>
            <p:nvPr/>
          </p:nvSpPr>
          <p:spPr>
            <a:xfrm>
              <a:off x="3492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8" name="active-node-C-1931">
              <a:extLst>
                <a:ext uri="{FF2B5EF4-FFF2-40B4-BE49-F238E27FC236}">
                  <a16:creationId xmlns:a16="http://schemas.microsoft.com/office/drawing/2014/main" id="{81723C8F-CFDE-4D07-A4A4-B9DD048089E9}"/>
                </a:ext>
              </a:extLst>
            </p:cNvPr>
            <p:cNvSpPr/>
            <p:nvPr/>
          </p:nvSpPr>
          <p:spPr>
            <a:xfrm>
              <a:off x="3492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9" name="active-node-D-1932">
              <a:extLst>
                <a:ext uri="{FF2B5EF4-FFF2-40B4-BE49-F238E27FC236}">
                  <a16:creationId xmlns:a16="http://schemas.microsoft.com/office/drawing/2014/main" id="{D02CA2AF-5446-40C6-8370-AA4042E0B775}"/>
                </a:ext>
              </a:extLst>
            </p:cNvPr>
            <p:cNvSpPr/>
            <p:nvPr/>
          </p:nvSpPr>
          <p:spPr>
            <a:xfrm>
              <a:off x="6096000" y="304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0" name="box-4-1933">
              <a:extLst>
                <a:ext uri="{FF2B5EF4-FFF2-40B4-BE49-F238E27FC236}">
                  <a16:creationId xmlns:a16="http://schemas.microsoft.com/office/drawing/2014/main" id="{E9F8B8D7-BE13-4DF8-85BE-FB768EC91126}"/>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box-5-1934">
              <a:extLst>
                <a:ext uri="{FF2B5EF4-FFF2-40B4-BE49-F238E27FC236}">
                  <a16:creationId xmlns:a16="http://schemas.microsoft.com/office/drawing/2014/main" id="{F26B7E39-B5B1-42FC-AE62-862AE527AC21}"/>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6-1935">
              <a:extLst>
                <a:ext uri="{FF2B5EF4-FFF2-40B4-BE49-F238E27FC236}">
                  <a16:creationId xmlns:a16="http://schemas.microsoft.com/office/drawing/2014/main" id="{E9E4BB47-114B-4F74-BCF2-56BCCFF80618}"/>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a:t>
              </a:r>
              <a:r>
                <a:rPr lang="en-US" sz="2100">
                  <a:solidFill>
                    <a:srgbClr val="FFFFFF"/>
                  </a:solidFill>
                  <a:latin typeface="Montserrat"/>
                </a:rPr>
                <a:t>D</a:t>
              </a:r>
              <a:endParaRPr lang="ru-RU" sz="2100">
                <a:solidFill>
                  <a:srgbClr val="FFFFFF"/>
                </a:solidFill>
                <a:latin typeface="Montserrat"/>
              </a:endParaRPr>
            </a:p>
          </p:txBody>
        </p:sp>
        <p:sp>
          <p:nvSpPr>
            <p:cNvPr id="23" name="text-7-1936">
              <a:extLst>
                <a:ext uri="{FF2B5EF4-FFF2-40B4-BE49-F238E27FC236}">
                  <a16:creationId xmlns:a16="http://schemas.microsoft.com/office/drawing/2014/main" id="{4829AC3E-8299-41D4-B035-937D017829F7}"/>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result =</a:t>
              </a:r>
            </a:p>
            <a:p>
              <a:r>
                <a:rPr lang="en-US" sz="2100">
                  <a:solidFill>
                    <a:srgbClr val="352379"/>
                  </a:solidFill>
                  <a:latin typeface="Montserrat"/>
                </a:rPr>
                <a:t>[D]</a:t>
              </a:r>
            </a:p>
            <a:p>
              <a:endParaRPr lang="en-US" sz="2100">
                <a:solidFill>
                  <a:srgbClr val="352379"/>
                </a:solidFill>
                <a:latin typeface="Montserrat"/>
              </a:endParaRPr>
            </a:p>
            <a:p>
              <a:r>
                <a:rPr lang="ru-RU" sz="2100">
                  <a:solidFill>
                    <a:srgbClr val="352379"/>
                  </a:solidFill>
                  <a:latin typeface="Montserrat"/>
                </a:rPr>
                <a:t>Стек: [</a:t>
              </a:r>
              <a:r>
                <a:rPr lang="en-US" sz="2100">
                  <a:solidFill>
                    <a:srgbClr val="352379"/>
                  </a:solidFill>
                  <a:latin typeface="Montserrat"/>
                </a:rPr>
                <a:t>A, B]</a:t>
              </a:r>
              <a:endParaRPr lang="ru-RU" sz="2100">
                <a:solidFill>
                  <a:srgbClr val="352379"/>
                </a:solidFill>
                <a:latin typeface="Montserrat"/>
              </a:endParaRPr>
            </a:p>
          </p:txBody>
        </p:sp>
      </p:grpSp>
      <p:grpSp>
        <p:nvGrpSpPr>
          <p:cNvPr id="33" name="animation-stage-2">
            <a:extLst>
              <a:ext uri="{FF2B5EF4-FFF2-40B4-BE49-F238E27FC236}">
                <a16:creationId xmlns:a16="http://schemas.microsoft.com/office/drawing/2014/main" id="{AF22D7FC-139C-4E40-992E-85736D1EB7EB}"/>
              </a:ext>
            </a:extLst>
          </p:cNvPr>
          <p:cNvGrpSpPr/>
          <p:nvPr/>
        </p:nvGrpSpPr>
        <p:grpSpPr>
          <a:xfrm>
            <a:off x="1143000" y="1778000"/>
            <a:ext cx="10566400" cy="3695700"/>
            <a:chOff x="1143000" y="1778000"/>
            <a:chExt cx="10566400" cy="3695700"/>
          </a:xfrm>
        </p:grpSpPr>
        <p:sp>
          <p:nvSpPr>
            <p:cNvPr id="25" name="active-node-A-1937">
              <a:extLst>
                <a:ext uri="{FF2B5EF4-FFF2-40B4-BE49-F238E27FC236}">
                  <a16:creationId xmlns:a16="http://schemas.microsoft.com/office/drawing/2014/main" id="{58111623-6B6F-4618-AD15-D8EC92AA2565}"/>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6" name="active-node-B-1938">
              <a:extLst>
                <a:ext uri="{FF2B5EF4-FFF2-40B4-BE49-F238E27FC236}">
                  <a16:creationId xmlns:a16="http://schemas.microsoft.com/office/drawing/2014/main" id="{1FF322EA-831A-4394-A376-7AFEFAFAFBE5}"/>
                </a:ext>
              </a:extLst>
            </p:cNvPr>
            <p:cNvSpPr/>
            <p:nvPr/>
          </p:nvSpPr>
          <p:spPr>
            <a:xfrm>
              <a:off x="3492500" y="177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7" name="active-node-C-1939">
              <a:extLst>
                <a:ext uri="{FF2B5EF4-FFF2-40B4-BE49-F238E27FC236}">
                  <a16:creationId xmlns:a16="http://schemas.microsoft.com/office/drawing/2014/main" id="{29167B20-8BBE-4849-956C-42CE20B07F89}"/>
                </a:ext>
              </a:extLst>
            </p:cNvPr>
            <p:cNvSpPr/>
            <p:nvPr/>
          </p:nvSpPr>
          <p:spPr>
            <a:xfrm>
              <a:off x="3492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8" name="active-node-D-1940">
              <a:extLst>
                <a:ext uri="{FF2B5EF4-FFF2-40B4-BE49-F238E27FC236}">
                  <a16:creationId xmlns:a16="http://schemas.microsoft.com/office/drawing/2014/main" id="{F9793CC0-651F-4EAD-AF8D-A38B90513151}"/>
                </a:ext>
              </a:extLst>
            </p:cNvPr>
            <p:cNvSpPr/>
            <p:nvPr/>
          </p:nvSpPr>
          <p:spPr>
            <a:xfrm>
              <a:off x="6096000" y="304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9" name="box-4-1941">
              <a:extLst>
                <a:ext uri="{FF2B5EF4-FFF2-40B4-BE49-F238E27FC236}">
                  <a16:creationId xmlns:a16="http://schemas.microsoft.com/office/drawing/2014/main" id="{15349BCA-1629-46FD-A799-2F96B8FAF77D}"/>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box-5-1942">
              <a:extLst>
                <a:ext uri="{FF2B5EF4-FFF2-40B4-BE49-F238E27FC236}">
                  <a16:creationId xmlns:a16="http://schemas.microsoft.com/office/drawing/2014/main" id="{68DB9A6B-55AE-4539-901D-6AD15C8023FE}"/>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6-1943">
              <a:extLst>
                <a:ext uri="{FF2B5EF4-FFF2-40B4-BE49-F238E27FC236}">
                  <a16:creationId xmlns:a16="http://schemas.microsoft.com/office/drawing/2014/main" id="{4D5DA1F4-61FD-4407-BF0B-3EE53CC0F1A9}"/>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a:t>
              </a:r>
              <a:r>
                <a:rPr lang="en-US" sz="2100">
                  <a:solidFill>
                    <a:srgbClr val="FFFFFF"/>
                  </a:solidFill>
                  <a:latin typeface="Montserrat"/>
                </a:rPr>
                <a:t>B</a:t>
              </a:r>
              <a:endParaRPr lang="ru-RU" sz="2100">
                <a:solidFill>
                  <a:srgbClr val="FFFFFF"/>
                </a:solidFill>
                <a:latin typeface="Montserrat"/>
              </a:endParaRPr>
            </a:p>
          </p:txBody>
        </p:sp>
        <p:sp>
          <p:nvSpPr>
            <p:cNvPr id="32" name="text-7-1944">
              <a:extLst>
                <a:ext uri="{FF2B5EF4-FFF2-40B4-BE49-F238E27FC236}">
                  <a16:creationId xmlns:a16="http://schemas.microsoft.com/office/drawing/2014/main" id="{D5CFA12C-55CE-4351-B2D0-D704A0FF3D22}"/>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result =</a:t>
              </a:r>
            </a:p>
            <a:p>
              <a:r>
                <a:rPr lang="en-US" sz="2100">
                  <a:solidFill>
                    <a:srgbClr val="352379"/>
                  </a:solidFill>
                  <a:latin typeface="Montserrat"/>
                </a:rPr>
                <a:t>[D, B]</a:t>
              </a:r>
            </a:p>
            <a:p>
              <a:endParaRPr lang="en-US" sz="2100">
                <a:solidFill>
                  <a:srgbClr val="352379"/>
                </a:solidFill>
                <a:latin typeface="Montserrat"/>
              </a:endParaRPr>
            </a:p>
            <a:p>
              <a:r>
                <a:rPr lang="ru-RU" sz="2100">
                  <a:solidFill>
                    <a:srgbClr val="352379"/>
                  </a:solidFill>
                  <a:latin typeface="Montserrat"/>
                </a:rPr>
                <a:t>Стек: [</a:t>
              </a:r>
              <a:r>
                <a:rPr lang="en-US" sz="2100">
                  <a:solidFill>
                    <a:srgbClr val="352379"/>
                  </a:solidFill>
                  <a:latin typeface="Montserrat"/>
                </a:rPr>
                <a:t>A]</a:t>
              </a:r>
              <a:endParaRPr lang="ru-RU" sz="2100">
                <a:solidFill>
                  <a:srgbClr val="352379"/>
                </a:solidFill>
                <a:latin typeface="Montserrat"/>
              </a:endParaRPr>
            </a:p>
          </p:txBody>
        </p:sp>
      </p:grpSp>
      <p:grpSp>
        <p:nvGrpSpPr>
          <p:cNvPr id="42" name="animation-stage-3">
            <a:extLst>
              <a:ext uri="{FF2B5EF4-FFF2-40B4-BE49-F238E27FC236}">
                <a16:creationId xmlns:a16="http://schemas.microsoft.com/office/drawing/2014/main" id="{045DCA16-3033-4E9E-959C-DD56991D37E0}"/>
              </a:ext>
            </a:extLst>
          </p:cNvPr>
          <p:cNvGrpSpPr/>
          <p:nvPr/>
        </p:nvGrpSpPr>
        <p:grpSpPr>
          <a:xfrm>
            <a:off x="1143000" y="1778000"/>
            <a:ext cx="10566400" cy="3695700"/>
            <a:chOff x="1143000" y="1778000"/>
            <a:chExt cx="10566400" cy="3695700"/>
          </a:xfrm>
        </p:grpSpPr>
        <p:sp>
          <p:nvSpPr>
            <p:cNvPr id="34" name="active-node-A-1945">
              <a:extLst>
                <a:ext uri="{FF2B5EF4-FFF2-40B4-BE49-F238E27FC236}">
                  <a16:creationId xmlns:a16="http://schemas.microsoft.com/office/drawing/2014/main" id="{DECBA8C3-E28B-4C28-B4B0-41ED422D932C}"/>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5" name="active-node-B-1946">
              <a:extLst>
                <a:ext uri="{FF2B5EF4-FFF2-40B4-BE49-F238E27FC236}">
                  <a16:creationId xmlns:a16="http://schemas.microsoft.com/office/drawing/2014/main" id="{00750992-EBE4-450F-9264-0DC109B3524E}"/>
                </a:ext>
              </a:extLst>
            </p:cNvPr>
            <p:cNvSpPr/>
            <p:nvPr/>
          </p:nvSpPr>
          <p:spPr>
            <a:xfrm>
              <a:off x="3492500" y="177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6" name="active-node-C-1947">
              <a:extLst>
                <a:ext uri="{FF2B5EF4-FFF2-40B4-BE49-F238E27FC236}">
                  <a16:creationId xmlns:a16="http://schemas.microsoft.com/office/drawing/2014/main" id="{A77ACAAD-9FA8-44EC-9D63-203E4ADCC64E}"/>
                </a:ext>
              </a:extLst>
            </p:cNvPr>
            <p:cNvSpPr/>
            <p:nvPr/>
          </p:nvSpPr>
          <p:spPr>
            <a:xfrm>
              <a:off x="3492500" y="431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7" name="active-node-D-1948">
              <a:extLst>
                <a:ext uri="{FF2B5EF4-FFF2-40B4-BE49-F238E27FC236}">
                  <a16:creationId xmlns:a16="http://schemas.microsoft.com/office/drawing/2014/main" id="{51220E61-FE62-4EEA-B3D0-56D289FF6BE1}"/>
                </a:ext>
              </a:extLst>
            </p:cNvPr>
            <p:cNvSpPr/>
            <p:nvPr/>
          </p:nvSpPr>
          <p:spPr>
            <a:xfrm>
              <a:off x="6096000" y="304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8" name="box-4-1949">
              <a:extLst>
                <a:ext uri="{FF2B5EF4-FFF2-40B4-BE49-F238E27FC236}">
                  <a16:creationId xmlns:a16="http://schemas.microsoft.com/office/drawing/2014/main" id="{7D42D934-2715-4604-AFA0-2FA918A9EF10}"/>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box-5-1950">
              <a:extLst>
                <a:ext uri="{FF2B5EF4-FFF2-40B4-BE49-F238E27FC236}">
                  <a16:creationId xmlns:a16="http://schemas.microsoft.com/office/drawing/2014/main" id="{78C72715-395C-4518-92E7-5B8D137B3BEB}"/>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6-1951">
              <a:extLst>
                <a:ext uri="{FF2B5EF4-FFF2-40B4-BE49-F238E27FC236}">
                  <a16:creationId xmlns:a16="http://schemas.microsoft.com/office/drawing/2014/main" id="{430E50D8-6455-4C2B-8E1F-1AFFF8EFAB1D}"/>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a:t>
              </a:r>
              <a:r>
                <a:rPr lang="en-US" sz="2100">
                  <a:solidFill>
                    <a:srgbClr val="FFFFFF"/>
                  </a:solidFill>
                  <a:latin typeface="Montserrat"/>
                </a:rPr>
                <a:t>C</a:t>
              </a:r>
              <a:endParaRPr lang="ru-RU" sz="2100">
                <a:solidFill>
                  <a:srgbClr val="FFFFFF"/>
                </a:solidFill>
                <a:latin typeface="Montserrat"/>
              </a:endParaRPr>
            </a:p>
          </p:txBody>
        </p:sp>
        <p:sp>
          <p:nvSpPr>
            <p:cNvPr id="41" name="text-7-1952">
              <a:extLst>
                <a:ext uri="{FF2B5EF4-FFF2-40B4-BE49-F238E27FC236}">
                  <a16:creationId xmlns:a16="http://schemas.microsoft.com/office/drawing/2014/main" id="{0C888958-934F-445A-B603-EE0DE9EAE94B}"/>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result =</a:t>
              </a:r>
            </a:p>
            <a:p>
              <a:r>
                <a:rPr lang="en-US" sz="2100">
                  <a:solidFill>
                    <a:srgbClr val="352379"/>
                  </a:solidFill>
                  <a:latin typeface="Montserrat"/>
                </a:rPr>
                <a:t>[D, B, C]</a:t>
              </a:r>
            </a:p>
            <a:p>
              <a:endParaRPr lang="en-US" sz="2100">
                <a:solidFill>
                  <a:srgbClr val="352379"/>
                </a:solidFill>
                <a:latin typeface="Montserrat"/>
              </a:endParaRPr>
            </a:p>
            <a:p>
              <a:r>
                <a:rPr lang="ru-RU" sz="2100">
                  <a:solidFill>
                    <a:srgbClr val="352379"/>
                  </a:solidFill>
                  <a:latin typeface="Montserrat"/>
                </a:rPr>
                <a:t>Стек: [</a:t>
              </a:r>
              <a:r>
                <a:rPr lang="en-US" sz="2100">
                  <a:solidFill>
                    <a:srgbClr val="352379"/>
                  </a:solidFill>
                  <a:latin typeface="Montserrat"/>
                </a:rPr>
                <a:t>A]</a:t>
              </a:r>
              <a:endParaRPr lang="ru-RU" sz="2100">
                <a:solidFill>
                  <a:srgbClr val="352379"/>
                </a:solidFill>
                <a:latin typeface="Montserrat"/>
              </a:endParaRPr>
            </a:p>
          </p:txBody>
        </p:sp>
      </p:grpSp>
      <p:grpSp>
        <p:nvGrpSpPr>
          <p:cNvPr id="51" name="animation-stage-4">
            <a:extLst>
              <a:ext uri="{FF2B5EF4-FFF2-40B4-BE49-F238E27FC236}">
                <a16:creationId xmlns:a16="http://schemas.microsoft.com/office/drawing/2014/main" id="{6F45DE0C-91B3-45F2-AF4B-4768126D4183}"/>
              </a:ext>
            </a:extLst>
          </p:cNvPr>
          <p:cNvGrpSpPr/>
          <p:nvPr/>
        </p:nvGrpSpPr>
        <p:grpSpPr>
          <a:xfrm>
            <a:off x="1143000" y="1778000"/>
            <a:ext cx="10566400" cy="3695700"/>
            <a:chOff x="1143000" y="1778000"/>
            <a:chExt cx="10566400" cy="3695700"/>
          </a:xfrm>
        </p:grpSpPr>
        <p:sp>
          <p:nvSpPr>
            <p:cNvPr id="43" name="active-node-A-1953">
              <a:extLst>
                <a:ext uri="{FF2B5EF4-FFF2-40B4-BE49-F238E27FC236}">
                  <a16:creationId xmlns:a16="http://schemas.microsoft.com/office/drawing/2014/main" id="{CF8CFE66-61F6-44F6-8058-2ABFD7997C1A}"/>
                </a:ext>
              </a:extLst>
            </p:cNvPr>
            <p:cNvSpPr/>
            <p:nvPr/>
          </p:nvSpPr>
          <p:spPr>
            <a:xfrm>
              <a:off x="1143000" y="304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44" name="active-node-B-1954">
              <a:extLst>
                <a:ext uri="{FF2B5EF4-FFF2-40B4-BE49-F238E27FC236}">
                  <a16:creationId xmlns:a16="http://schemas.microsoft.com/office/drawing/2014/main" id="{7CCBC857-99E8-4731-B915-23FF73A60755}"/>
                </a:ext>
              </a:extLst>
            </p:cNvPr>
            <p:cNvSpPr/>
            <p:nvPr/>
          </p:nvSpPr>
          <p:spPr>
            <a:xfrm>
              <a:off x="3492500" y="177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45" name="active-node-C-1955">
              <a:extLst>
                <a:ext uri="{FF2B5EF4-FFF2-40B4-BE49-F238E27FC236}">
                  <a16:creationId xmlns:a16="http://schemas.microsoft.com/office/drawing/2014/main" id="{9F995766-C4FB-4EF5-AFB2-14BCECC8FBF9}"/>
                </a:ext>
              </a:extLst>
            </p:cNvPr>
            <p:cNvSpPr/>
            <p:nvPr/>
          </p:nvSpPr>
          <p:spPr>
            <a:xfrm>
              <a:off x="3492500" y="431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46" name="active-node-D-1956">
              <a:extLst>
                <a:ext uri="{FF2B5EF4-FFF2-40B4-BE49-F238E27FC236}">
                  <a16:creationId xmlns:a16="http://schemas.microsoft.com/office/drawing/2014/main" id="{DF112C7A-0BC1-4537-910D-69F9392D4D28}"/>
                </a:ext>
              </a:extLst>
            </p:cNvPr>
            <p:cNvSpPr/>
            <p:nvPr/>
          </p:nvSpPr>
          <p:spPr>
            <a:xfrm>
              <a:off x="6096000" y="3048000"/>
              <a:ext cx="635000" cy="635000"/>
            </a:xfrm>
            <a:prstGeom prst="ellipse">
              <a:avLst/>
            </a:prstGeom>
            <a:solidFill>
              <a:srgbClr val="E3D6F5"/>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47" name="box-4-1957">
              <a:extLst>
                <a:ext uri="{FF2B5EF4-FFF2-40B4-BE49-F238E27FC236}">
                  <a16:creationId xmlns:a16="http://schemas.microsoft.com/office/drawing/2014/main" id="{604A2D51-8705-4D07-B882-C6F343907961}"/>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box-5-1958">
              <a:extLst>
                <a:ext uri="{FF2B5EF4-FFF2-40B4-BE49-F238E27FC236}">
                  <a16:creationId xmlns:a16="http://schemas.microsoft.com/office/drawing/2014/main" id="{7587C1A9-FCA4-4ED8-9B19-79FE5FF9B7D9}"/>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text-6-1959">
              <a:extLst>
                <a:ext uri="{FF2B5EF4-FFF2-40B4-BE49-F238E27FC236}">
                  <a16:creationId xmlns:a16="http://schemas.microsoft.com/office/drawing/2014/main" id="{64EC6645-C044-422B-AFF4-E7962A3F025A}"/>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Выход из </a:t>
              </a:r>
              <a:r>
                <a:rPr lang="en-US" sz="2100">
                  <a:solidFill>
                    <a:srgbClr val="FFFFFF"/>
                  </a:solidFill>
                  <a:latin typeface="Montserrat"/>
                </a:rPr>
                <a:t>A</a:t>
              </a:r>
              <a:endParaRPr lang="ru-RU" sz="2100">
                <a:solidFill>
                  <a:srgbClr val="FFFFFF"/>
                </a:solidFill>
                <a:latin typeface="Montserrat"/>
              </a:endParaRPr>
            </a:p>
          </p:txBody>
        </p:sp>
        <p:sp>
          <p:nvSpPr>
            <p:cNvPr id="50" name="text-7-1960">
              <a:extLst>
                <a:ext uri="{FF2B5EF4-FFF2-40B4-BE49-F238E27FC236}">
                  <a16:creationId xmlns:a16="http://schemas.microsoft.com/office/drawing/2014/main" id="{ACBB335E-377B-4820-A879-1D0E44E9CDC4}"/>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result =</a:t>
              </a:r>
            </a:p>
            <a:p>
              <a:r>
                <a:rPr lang="en-US" sz="2100">
                  <a:solidFill>
                    <a:srgbClr val="352379"/>
                  </a:solidFill>
                  <a:latin typeface="Montserrat"/>
                </a:rPr>
                <a:t>[D, B, C, A]</a:t>
              </a:r>
            </a:p>
            <a:p>
              <a:endParaRPr lang="en-US" sz="2100">
                <a:solidFill>
                  <a:srgbClr val="352379"/>
                </a:solidFill>
                <a:latin typeface="Montserrat"/>
              </a:endParaRPr>
            </a:p>
            <a:p>
              <a:r>
                <a:rPr lang="ru-RU" sz="2100">
                  <a:solidFill>
                    <a:srgbClr val="352379"/>
                  </a:solidFill>
                  <a:latin typeface="Montserrat"/>
                </a:rPr>
                <a:t>Стек: []</a:t>
              </a:r>
            </a:p>
          </p:txBody>
        </p:sp>
      </p:grpSp>
      <p:sp>
        <p:nvSpPr>
          <p:cNvPr id="52" name="lecture-footer">
            <a:extLst>
              <a:ext uri="{FF2B5EF4-FFF2-40B4-BE49-F238E27FC236}">
                <a16:creationId xmlns:a16="http://schemas.microsoft.com/office/drawing/2014/main" id="{F4528BCC-2269-49BA-AF41-2DA00D4A0F0A}"/>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53" name="slide-number">
            <a:extLst>
              <a:ext uri="{FF2B5EF4-FFF2-40B4-BE49-F238E27FC236}">
                <a16:creationId xmlns:a16="http://schemas.microsoft.com/office/drawing/2014/main" id="{22CCFDD7-B0F3-4390-B8BE-52CC5F1D616A}"/>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59</a:t>
            </a:r>
          </a:p>
        </p:txBody>
      </p:sp>
    </p:spTree>
    <p:extLst>
      <p:ext uri="{BB962C8B-B14F-4D97-AF65-F5344CB8AC3E}">
        <p14:creationId xmlns:p14="http://schemas.microsoft.com/office/powerpoint/2010/main" val="1295680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250"/>
                                        <p:tgtEl>
                                          <p:spTgt spid="33"/>
                                        </p:tgtEl>
                                      </p:cBhvr>
                                    </p:animEffect>
                                  </p:childTnLst>
                                </p:cTn>
                              </p:par>
                              <p:par>
                                <p:cTn id="13" presetID="10" presetClass="exit" presetSubtype="0" fill="hold" nodeType="withEffect">
                                  <p:stCondLst>
                                    <p:cond delay="0"/>
                                  </p:stCondLst>
                                  <p:childTnLst>
                                    <p:animEffect transition="out" filter="fade">
                                      <p:cBhvr>
                                        <p:cTn id="14" dur="150"/>
                                        <p:tgtEl>
                                          <p:spTgt spid="24"/>
                                        </p:tgtEl>
                                      </p:cBhvr>
                                    </p:animEffect>
                                    <p:set>
                                      <p:cBhvr>
                                        <p:cTn id="15" dur="1" fill="hold">
                                          <p:stCondLst>
                                            <p:cond delay="149"/>
                                          </p:stCondLst>
                                        </p:cTn>
                                        <p:tgtEl>
                                          <p:spTgt spid="2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250"/>
                                        <p:tgtEl>
                                          <p:spTgt spid="42"/>
                                        </p:tgtEl>
                                      </p:cBhvr>
                                    </p:animEffect>
                                  </p:childTnLst>
                                </p:cTn>
                              </p:par>
                              <p:par>
                                <p:cTn id="21" presetID="10" presetClass="exit" presetSubtype="0" fill="hold" nodeType="withEffect">
                                  <p:stCondLst>
                                    <p:cond delay="0"/>
                                  </p:stCondLst>
                                  <p:childTnLst>
                                    <p:animEffect transition="out" filter="fade">
                                      <p:cBhvr>
                                        <p:cTn id="22" dur="150"/>
                                        <p:tgtEl>
                                          <p:spTgt spid="33"/>
                                        </p:tgtEl>
                                      </p:cBhvr>
                                    </p:animEffect>
                                    <p:set>
                                      <p:cBhvr>
                                        <p:cTn id="23" dur="1" fill="hold">
                                          <p:stCondLst>
                                            <p:cond delay="149"/>
                                          </p:stCondLst>
                                        </p:cTn>
                                        <p:tgtEl>
                                          <p:spTgt spid="33"/>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250"/>
                                        <p:tgtEl>
                                          <p:spTgt spid="51"/>
                                        </p:tgtEl>
                                      </p:cBhvr>
                                    </p:animEffect>
                                  </p:childTnLst>
                                </p:cTn>
                              </p:par>
                              <p:par>
                                <p:cTn id="29" presetID="10" presetClass="exit" presetSubtype="0" fill="hold" nodeType="withEffect">
                                  <p:stCondLst>
                                    <p:cond delay="0"/>
                                  </p:stCondLst>
                                  <p:childTnLst>
                                    <p:animEffect transition="out" filter="fade">
                                      <p:cBhvr>
                                        <p:cTn id="30" dur="150"/>
                                        <p:tgtEl>
                                          <p:spTgt spid="42"/>
                                        </p:tgtEl>
                                      </p:cBhvr>
                                    </p:animEffect>
                                    <p:set>
                                      <p:cBhvr>
                                        <p:cTn id="31" dur="1" fill="hold">
                                          <p:stCondLst>
                                            <p:cond delay="14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Топологическая сортировка: разворот</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F58A7DA5-D5D0-4976-987C-F0A21890A757}"/>
              </a:ext>
            </a:extLst>
          </p:cNvPr>
          <p:cNvCxnSpPr/>
          <p:nvPr/>
        </p:nvCxnSpPr>
        <p:spPr>
          <a:xfrm flipV="1">
            <a:off x="1739807" y="224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A-C">
            <a:extLst>
              <a:ext uri="{FF2B5EF4-FFF2-40B4-BE49-F238E27FC236}">
                <a16:creationId xmlns:a16="http://schemas.microsoft.com/office/drawing/2014/main" id="{85A8BBDD-7A42-4B49-80C1-4BB31D3DA10A}"/>
              </a:ext>
            </a:extLst>
          </p:cNvPr>
          <p:cNvCxnSpPr/>
          <p:nvPr/>
        </p:nvCxnSpPr>
        <p:spPr>
          <a:xfrm>
            <a:off x="1739807" y="3516477"/>
            <a:ext cx="1790886" cy="968046"/>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B-D">
            <a:extLst>
              <a:ext uri="{FF2B5EF4-FFF2-40B4-BE49-F238E27FC236}">
                <a16:creationId xmlns:a16="http://schemas.microsoft.com/office/drawing/2014/main" id="{0EDCF9AD-85FC-46F5-ADC0-C11080021B9B}"/>
              </a:ext>
            </a:extLst>
          </p:cNvPr>
          <p:cNvCxnSpPr/>
          <p:nvPr/>
        </p:nvCxnSpPr>
        <p:spPr>
          <a:xfrm>
            <a:off x="4095359" y="2234699"/>
            <a:ext cx="2032782" cy="99160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g-edge-C-D">
            <a:extLst>
              <a:ext uri="{FF2B5EF4-FFF2-40B4-BE49-F238E27FC236}">
                <a16:creationId xmlns:a16="http://schemas.microsoft.com/office/drawing/2014/main" id="{B2E52962-ADCE-47AF-86BB-286340919130}"/>
              </a:ext>
            </a:extLst>
          </p:cNvPr>
          <p:cNvCxnSpPr/>
          <p:nvPr/>
        </p:nvCxnSpPr>
        <p:spPr>
          <a:xfrm flipV="1">
            <a:off x="4095359" y="3504700"/>
            <a:ext cx="2032782" cy="99160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g-node-A">
            <a:extLst>
              <a:ext uri="{FF2B5EF4-FFF2-40B4-BE49-F238E27FC236}">
                <a16:creationId xmlns:a16="http://schemas.microsoft.com/office/drawing/2014/main" id="{8A91B9E1-1D2E-48E8-9525-DB5BA56C0D6E}"/>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g-node-B">
            <a:extLst>
              <a:ext uri="{FF2B5EF4-FFF2-40B4-BE49-F238E27FC236}">
                <a16:creationId xmlns:a16="http://schemas.microsoft.com/office/drawing/2014/main" id="{673C09B2-E61D-48D8-8D25-25A4FB02A812}"/>
              </a:ext>
            </a:extLst>
          </p:cNvPr>
          <p:cNvSpPr/>
          <p:nvPr/>
        </p:nvSpPr>
        <p:spPr>
          <a:xfrm>
            <a:off x="3492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g-node-C">
            <a:extLst>
              <a:ext uri="{FF2B5EF4-FFF2-40B4-BE49-F238E27FC236}">
                <a16:creationId xmlns:a16="http://schemas.microsoft.com/office/drawing/2014/main" id="{4A49A23F-65A3-4A5B-99C9-495F37065DB8}"/>
              </a:ext>
            </a:extLst>
          </p:cNvPr>
          <p:cNvSpPr/>
          <p:nvPr/>
        </p:nvSpPr>
        <p:spPr>
          <a:xfrm>
            <a:off x="3492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g-node-D">
            <a:extLst>
              <a:ext uri="{FF2B5EF4-FFF2-40B4-BE49-F238E27FC236}">
                <a16:creationId xmlns:a16="http://schemas.microsoft.com/office/drawing/2014/main" id="{048FC1A0-E7F3-457D-B335-495090B2FADB}"/>
              </a:ext>
            </a:extLst>
          </p:cNvPr>
          <p:cNvSpPr/>
          <p:nvPr/>
        </p:nvSpPr>
        <p:spPr>
          <a:xfrm>
            <a:off x="6096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12" name="box-8-1969">
            <a:extLst>
              <a:ext uri="{FF2B5EF4-FFF2-40B4-BE49-F238E27FC236}">
                <a16:creationId xmlns:a16="http://schemas.microsoft.com/office/drawing/2014/main" id="{2B64A92A-EA49-4AE4-9422-CF943EB5A343}"/>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box-9-1970">
            <a:extLst>
              <a:ext uri="{FF2B5EF4-FFF2-40B4-BE49-F238E27FC236}">
                <a16:creationId xmlns:a16="http://schemas.microsoft.com/office/drawing/2014/main" id="{5CFDA68D-BBC2-4D1B-9A0D-95E7BD6C2708}"/>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10-1971">
            <a:extLst>
              <a:ext uri="{FF2B5EF4-FFF2-40B4-BE49-F238E27FC236}">
                <a16:creationId xmlns:a16="http://schemas.microsoft.com/office/drawing/2014/main" id="{C82BD174-46E6-4C62-B17B-ED49ABF864BA}"/>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Порядок выхода</a:t>
            </a:r>
          </a:p>
        </p:txBody>
      </p:sp>
      <p:sp>
        <p:nvSpPr>
          <p:cNvPr id="15" name="text-11-1972">
            <a:extLst>
              <a:ext uri="{FF2B5EF4-FFF2-40B4-BE49-F238E27FC236}">
                <a16:creationId xmlns:a16="http://schemas.microsoft.com/office/drawing/2014/main" id="{DD47E249-E394-4E88-8E7D-48FE88B3979F}"/>
              </a:ext>
            </a:extLst>
          </p:cNvPr>
          <p:cNvSpPr txBox="1"/>
          <p:nvPr/>
        </p:nvSpPr>
        <p:spPr bwMode="auto">
          <a:xfrm>
            <a:off x="8153400" y="2546578"/>
            <a:ext cx="3340100" cy="543739"/>
          </a:xfrm>
          <a:prstGeom prst="rect">
            <a:avLst/>
          </a:prstGeom>
        </p:spPr>
        <p:txBody>
          <a:bodyPr vert="horz" wrap="square" lIns="38100" tIns="25400" rIns="38100" bIns="25400" rtlCol="0" anchor="ctr">
            <a:spAutoFit/>
          </a:bodyPr>
          <a:lstStyle/>
          <a:p>
            <a:r>
              <a:rPr lang="en-US" sz="3200">
                <a:solidFill>
                  <a:srgbClr val="352379"/>
                </a:solidFill>
                <a:latin typeface="Montserrat"/>
              </a:rPr>
              <a:t>D  B  C  A</a:t>
            </a:r>
            <a:endParaRPr lang="ru-RU" sz="3200">
              <a:solidFill>
                <a:srgbClr val="352379"/>
              </a:solidFill>
              <a:latin typeface="Montserrat"/>
            </a:endParaRPr>
          </a:p>
        </p:txBody>
      </p:sp>
      <p:sp>
        <p:nvSpPr>
          <p:cNvPr id="16" name="box-12-1973">
            <a:extLst>
              <a:ext uri="{FF2B5EF4-FFF2-40B4-BE49-F238E27FC236}">
                <a16:creationId xmlns:a16="http://schemas.microsoft.com/office/drawing/2014/main" id="{153BFE4D-B86E-4885-99ED-368A179417E2}"/>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1974">
            <a:extLst>
              <a:ext uri="{FF2B5EF4-FFF2-40B4-BE49-F238E27FC236}">
                <a16:creationId xmlns:a16="http://schemas.microsoft.com/office/drawing/2014/main" id="{26E512C9-CE68-4DCE-9A51-0BA0AC04685A}"/>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Вершина-источник должна оказаться раньше её соседей.</a:t>
            </a:r>
          </a:p>
        </p:txBody>
      </p:sp>
      <p:grpSp>
        <p:nvGrpSpPr>
          <p:cNvPr id="26" name="animation-stage-1">
            <a:extLst>
              <a:ext uri="{FF2B5EF4-FFF2-40B4-BE49-F238E27FC236}">
                <a16:creationId xmlns:a16="http://schemas.microsoft.com/office/drawing/2014/main" id="{39DA0BAB-B5F8-41AD-9B7A-65696A8CD0AB}"/>
              </a:ext>
            </a:extLst>
          </p:cNvPr>
          <p:cNvGrpSpPr/>
          <p:nvPr/>
        </p:nvGrpSpPr>
        <p:grpSpPr>
          <a:xfrm>
            <a:off x="1143000" y="1778000"/>
            <a:ext cx="10566400" cy="3695700"/>
            <a:chOff x="1143000" y="1778000"/>
            <a:chExt cx="10566400" cy="3695700"/>
          </a:xfrm>
        </p:grpSpPr>
        <p:sp>
          <p:nvSpPr>
            <p:cNvPr id="18" name="active-node-A-1975">
              <a:extLst>
                <a:ext uri="{FF2B5EF4-FFF2-40B4-BE49-F238E27FC236}">
                  <a16:creationId xmlns:a16="http://schemas.microsoft.com/office/drawing/2014/main" id="{61A32E8B-87F3-4D26-A9D5-3980B8D77BB3}"/>
                </a:ext>
              </a:extLst>
            </p:cNvPr>
            <p:cNvSpPr/>
            <p:nvPr/>
          </p:nvSpPr>
          <p:spPr>
            <a:xfrm>
              <a:off x="1143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active-node-B-1976">
              <a:extLst>
                <a:ext uri="{FF2B5EF4-FFF2-40B4-BE49-F238E27FC236}">
                  <a16:creationId xmlns:a16="http://schemas.microsoft.com/office/drawing/2014/main" id="{0A82DA51-8EC3-4832-8961-E51650C81553}"/>
                </a:ext>
              </a:extLst>
            </p:cNvPr>
            <p:cNvSpPr/>
            <p:nvPr/>
          </p:nvSpPr>
          <p:spPr>
            <a:xfrm>
              <a:off x="3492500" y="177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active-node-C-1977">
              <a:extLst>
                <a:ext uri="{FF2B5EF4-FFF2-40B4-BE49-F238E27FC236}">
                  <a16:creationId xmlns:a16="http://schemas.microsoft.com/office/drawing/2014/main" id="{3DB0FC3B-5035-43D8-815F-A8D999A64F7A}"/>
                </a:ext>
              </a:extLst>
            </p:cNvPr>
            <p:cNvSpPr/>
            <p:nvPr/>
          </p:nvSpPr>
          <p:spPr>
            <a:xfrm>
              <a:off x="3492500" y="431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active-node-D-1978">
              <a:extLst>
                <a:ext uri="{FF2B5EF4-FFF2-40B4-BE49-F238E27FC236}">
                  <a16:creationId xmlns:a16="http://schemas.microsoft.com/office/drawing/2014/main" id="{DCD9708B-0D2E-4A0A-902A-4DEB11077AAE}"/>
                </a:ext>
              </a:extLst>
            </p:cNvPr>
            <p:cNvSpPr/>
            <p:nvPr/>
          </p:nvSpPr>
          <p:spPr>
            <a:xfrm>
              <a:off x="6096000" y="3048000"/>
              <a:ext cx="635000" cy="635000"/>
            </a:xfrm>
            <a:prstGeom prst="ellipse">
              <a:avLst/>
            </a:prstGeom>
            <a:solidFill>
              <a:srgbClr val="C7ADEB"/>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2" name="box-4-1979">
              <a:extLst>
                <a:ext uri="{FF2B5EF4-FFF2-40B4-BE49-F238E27FC236}">
                  <a16:creationId xmlns:a16="http://schemas.microsoft.com/office/drawing/2014/main" id="{FB4A6BFC-4BCB-4922-8485-270DBAFA45B0}"/>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box-5-1980">
              <a:extLst>
                <a:ext uri="{FF2B5EF4-FFF2-40B4-BE49-F238E27FC236}">
                  <a16:creationId xmlns:a16="http://schemas.microsoft.com/office/drawing/2014/main" id="{1A15D5DB-ADF6-4F3A-B706-700E7E051EA2}"/>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6-1981">
              <a:extLst>
                <a:ext uri="{FF2B5EF4-FFF2-40B4-BE49-F238E27FC236}">
                  <a16:creationId xmlns:a16="http://schemas.microsoft.com/office/drawing/2014/main" id="{C864F870-2246-4232-9F97-77370B82EEC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Разворачиваем</a:t>
              </a:r>
            </a:p>
          </p:txBody>
        </p:sp>
        <p:sp>
          <p:nvSpPr>
            <p:cNvPr id="25" name="text-7-1982">
              <a:extLst>
                <a:ext uri="{FF2B5EF4-FFF2-40B4-BE49-F238E27FC236}">
                  <a16:creationId xmlns:a16="http://schemas.microsoft.com/office/drawing/2014/main" id="{4E763355-816A-4E74-B117-1211C55C30DE}"/>
                </a:ext>
              </a:extLst>
            </p:cNvPr>
            <p:cNvSpPr txBox="1"/>
            <p:nvPr/>
          </p:nvSpPr>
          <p:spPr bwMode="auto">
            <a:xfrm>
              <a:off x="8153400" y="2559403"/>
              <a:ext cx="3340100" cy="1667123"/>
            </a:xfrm>
            <a:prstGeom prst="rect">
              <a:avLst/>
            </a:prstGeom>
          </p:spPr>
          <p:txBody>
            <a:bodyPr vert="horz" wrap="square" lIns="38100" tIns="25400" rIns="38100" bIns="25400" rtlCol="0" anchor="ctr">
              <a:spAutoFit/>
            </a:bodyPr>
            <a:lstStyle/>
            <a:p>
              <a:r>
                <a:rPr lang="pt-BR" sz="2100">
                  <a:solidFill>
                    <a:srgbClr val="352379"/>
                  </a:solidFill>
                  <a:latin typeface="Montserrat"/>
                </a:rPr>
                <a:t>D  B  C  A</a:t>
              </a:r>
            </a:p>
            <a:p>
              <a:endParaRPr lang="pt-BR" sz="2100">
                <a:solidFill>
                  <a:srgbClr val="352379"/>
                </a:solidFill>
                <a:latin typeface="Montserrat"/>
              </a:endParaRPr>
            </a:p>
            <a:p>
              <a:r>
                <a:rPr lang="pt-BR" sz="2100">
                  <a:solidFill>
                    <a:srgbClr val="352379"/>
                  </a:solidFill>
                  <a:latin typeface="Montserrat"/>
                </a:rPr>
                <a:t>↓</a:t>
              </a:r>
            </a:p>
            <a:p>
              <a:endParaRPr lang="pt-BR" sz="2100">
                <a:solidFill>
                  <a:srgbClr val="352379"/>
                </a:solidFill>
                <a:latin typeface="Montserrat"/>
              </a:endParaRPr>
            </a:p>
            <a:p>
              <a:r>
                <a:rPr lang="pt-BR" sz="2100">
                  <a:solidFill>
                    <a:srgbClr val="352379"/>
                  </a:solidFill>
                  <a:latin typeface="Montserrat"/>
                </a:rPr>
                <a:t>A  C  B  D</a:t>
              </a:r>
              <a:endParaRPr lang="ru-RU" sz="2100">
                <a:solidFill>
                  <a:srgbClr val="352379"/>
                </a:solidFill>
                <a:latin typeface="Montserrat"/>
              </a:endParaRPr>
            </a:p>
          </p:txBody>
        </p:sp>
      </p:grpSp>
      <p:sp>
        <p:nvSpPr>
          <p:cNvPr id="27" name="lecture-footer">
            <a:extLst>
              <a:ext uri="{FF2B5EF4-FFF2-40B4-BE49-F238E27FC236}">
                <a16:creationId xmlns:a16="http://schemas.microsoft.com/office/drawing/2014/main" id="{5D6CC59A-8E51-48B5-84ED-024E497386EE}"/>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8" name="slide-number">
            <a:extLst>
              <a:ext uri="{FF2B5EF4-FFF2-40B4-BE49-F238E27FC236}">
                <a16:creationId xmlns:a16="http://schemas.microsoft.com/office/drawing/2014/main" id="{A9EC3FB4-0F2C-4096-9E02-43A9C16945B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60</a:t>
            </a:r>
          </a:p>
        </p:txBody>
      </p:sp>
    </p:spTree>
    <p:extLst>
      <p:ext uri="{BB962C8B-B14F-4D97-AF65-F5344CB8AC3E}">
        <p14:creationId xmlns:p14="http://schemas.microsoft.com/office/powerpoint/2010/main" val="244967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Топологическая сортировка: </a:t>
            </a:r>
            <a:r>
              <a:rPr lang="en-US">
                <a:latin typeface="Montserrat SemiBold"/>
              </a:rPr>
              <a:t>Python</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box-0-1983">
            <a:extLst>
              <a:ext uri="{FF2B5EF4-FFF2-40B4-BE49-F238E27FC236}">
                <a16:creationId xmlns:a16="http://schemas.microsoft.com/office/drawing/2014/main" id="{64595B61-AD8F-41FD-AFE1-76E8EBCC5B52}"/>
              </a:ext>
            </a:extLst>
          </p:cNvPr>
          <p:cNvSpPr/>
          <p:nvPr/>
        </p:nvSpPr>
        <p:spPr>
          <a:xfrm>
            <a:off x="571500" y="1587500"/>
            <a:ext cx="6667500" cy="38735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box-1-1984">
            <a:extLst>
              <a:ext uri="{FF2B5EF4-FFF2-40B4-BE49-F238E27FC236}">
                <a16:creationId xmlns:a16="http://schemas.microsoft.com/office/drawing/2014/main" id="{B3038D10-8A4F-4880-AF28-7DE5BE84C9C0}"/>
              </a:ext>
            </a:extLst>
          </p:cNvPr>
          <p:cNvSpPr/>
          <p:nvPr/>
        </p:nvSpPr>
        <p:spPr>
          <a:xfrm>
            <a:off x="571500" y="1587500"/>
            <a:ext cx="66675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2-1985">
            <a:extLst>
              <a:ext uri="{FF2B5EF4-FFF2-40B4-BE49-F238E27FC236}">
                <a16:creationId xmlns:a16="http://schemas.microsoft.com/office/drawing/2014/main" id="{6B50EE7C-C581-46B7-8E69-A4350D71A367}"/>
              </a:ext>
            </a:extLst>
          </p:cNvPr>
          <p:cNvSpPr txBox="1"/>
          <p:nvPr/>
        </p:nvSpPr>
        <p:spPr bwMode="auto">
          <a:xfrm>
            <a:off x="762000" y="1640617"/>
            <a:ext cx="62865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Добавляем на выходе</a:t>
            </a:r>
          </a:p>
        </p:txBody>
      </p:sp>
      <p:sp>
        <p:nvSpPr>
          <p:cNvPr id="6" name="text-3-1986">
            <a:extLst>
              <a:ext uri="{FF2B5EF4-FFF2-40B4-BE49-F238E27FC236}">
                <a16:creationId xmlns:a16="http://schemas.microsoft.com/office/drawing/2014/main" id="{BCE7A53A-218D-421A-B9BC-D6DFF2827718}"/>
              </a:ext>
            </a:extLst>
          </p:cNvPr>
          <p:cNvSpPr txBox="1"/>
          <p:nvPr/>
        </p:nvSpPr>
        <p:spPr bwMode="auto">
          <a:xfrm>
            <a:off x="787400" y="2261553"/>
            <a:ext cx="6235700" cy="2082621"/>
          </a:xfrm>
          <a:prstGeom prst="rect">
            <a:avLst/>
          </a:prstGeom>
        </p:spPr>
        <p:txBody>
          <a:bodyPr vert="horz" wrap="square" lIns="38100" tIns="25400" rIns="38100" bIns="25400" rtlCol="0" anchor="ctr">
            <a:spAutoFit/>
          </a:bodyPr>
          <a:lstStyle/>
          <a:p>
            <a:r>
              <a:rPr lang="en-US" sz="2200" b="1">
                <a:solidFill>
                  <a:srgbClr val="352379"/>
                </a:solidFill>
                <a:latin typeface="Montserrat"/>
              </a:rPr>
              <a:t>def dfs(v):</a:t>
            </a:r>
          </a:p>
          <a:p>
            <a:r>
              <a:rPr lang="en-US" sz="2200" b="1">
                <a:solidFill>
                  <a:srgbClr val="352379"/>
                </a:solidFill>
                <a:latin typeface="Montserrat"/>
              </a:rPr>
              <a:t>    visited[v] = True</a:t>
            </a:r>
          </a:p>
          <a:p>
            <a:r>
              <a:rPr lang="en-US" sz="2200" b="1">
                <a:solidFill>
                  <a:srgbClr val="352379"/>
                </a:solidFill>
                <a:latin typeface="Montserrat"/>
              </a:rPr>
              <a:t>    for to in graph[v]:</a:t>
            </a:r>
          </a:p>
          <a:p>
            <a:r>
              <a:rPr lang="en-US" sz="2200" b="1">
                <a:solidFill>
                  <a:srgbClr val="352379"/>
                </a:solidFill>
                <a:latin typeface="Montserrat"/>
              </a:rPr>
              <a:t>        if not visited[to]:</a:t>
            </a:r>
          </a:p>
          <a:p>
            <a:r>
              <a:rPr lang="en-US" sz="2200" b="1">
                <a:solidFill>
                  <a:srgbClr val="352379"/>
                </a:solidFill>
                <a:latin typeface="Montserrat"/>
              </a:rPr>
              <a:t>            dfs(to)</a:t>
            </a:r>
          </a:p>
          <a:p>
            <a:r>
              <a:rPr lang="en-US" sz="2200" b="1">
                <a:solidFill>
                  <a:srgbClr val="352379"/>
                </a:solidFill>
                <a:latin typeface="Montserrat"/>
              </a:rPr>
              <a:t>    result.append(v)</a:t>
            </a:r>
            <a:endParaRPr lang="ru-RU" sz="2200" b="1">
              <a:solidFill>
                <a:srgbClr val="352379"/>
              </a:solidFill>
              <a:latin typeface="Montserrat"/>
            </a:endParaRPr>
          </a:p>
        </p:txBody>
      </p:sp>
      <p:sp>
        <p:nvSpPr>
          <p:cNvPr id="8" name="box-4-1987">
            <a:extLst>
              <a:ext uri="{FF2B5EF4-FFF2-40B4-BE49-F238E27FC236}">
                <a16:creationId xmlns:a16="http://schemas.microsoft.com/office/drawing/2014/main" id="{BD1010C7-1274-4C01-900F-F8B9970508D0}"/>
              </a:ext>
            </a:extLst>
          </p:cNvPr>
          <p:cNvSpPr/>
          <p:nvPr/>
        </p:nvSpPr>
        <p:spPr>
          <a:xfrm>
            <a:off x="7620000" y="1587500"/>
            <a:ext cx="4089400" cy="38735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box-5-1988">
            <a:extLst>
              <a:ext uri="{FF2B5EF4-FFF2-40B4-BE49-F238E27FC236}">
                <a16:creationId xmlns:a16="http://schemas.microsoft.com/office/drawing/2014/main" id="{DF6C115C-AD61-4A6B-B04B-4A6E51569169}"/>
              </a:ext>
            </a:extLst>
          </p:cNvPr>
          <p:cNvSpPr/>
          <p:nvPr/>
        </p:nvSpPr>
        <p:spPr>
          <a:xfrm>
            <a:off x="7620000" y="1587500"/>
            <a:ext cx="40894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6-1989">
            <a:extLst>
              <a:ext uri="{FF2B5EF4-FFF2-40B4-BE49-F238E27FC236}">
                <a16:creationId xmlns:a16="http://schemas.microsoft.com/office/drawing/2014/main" id="{3FBBA36D-04F8-44C1-BB5A-CEF76B2B66FC}"/>
              </a:ext>
            </a:extLst>
          </p:cNvPr>
          <p:cNvSpPr txBox="1"/>
          <p:nvPr/>
        </p:nvSpPr>
        <p:spPr bwMode="auto">
          <a:xfrm>
            <a:off x="7810500" y="1640617"/>
            <a:ext cx="37084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После всех запусков</a:t>
            </a:r>
          </a:p>
        </p:txBody>
      </p:sp>
      <p:sp>
        <p:nvSpPr>
          <p:cNvPr id="11" name="text-7-1990">
            <a:extLst>
              <a:ext uri="{FF2B5EF4-FFF2-40B4-BE49-F238E27FC236}">
                <a16:creationId xmlns:a16="http://schemas.microsoft.com/office/drawing/2014/main" id="{DCC5865C-F914-434C-93A5-AE2F83C9A56F}"/>
              </a:ext>
            </a:extLst>
          </p:cNvPr>
          <p:cNvSpPr txBox="1"/>
          <p:nvPr/>
        </p:nvSpPr>
        <p:spPr bwMode="auto">
          <a:xfrm>
            <a:off x="7835900" y="2284636"/>
            <a:ext cx="3657600" cy="2313454"/>
          </a:xfrm>
          <a:prstGeom prst="rect">
            <a:avLst/>
          </a:prstGeom>
        </p:spPr>
        <p:txBody>
          <a:bodyPr vert="horz" wrap="square" lIns="38100" tIns="25400" rIns="38100" bIns="25400" rtlCol="0" anchor="ctr">
            <a:spAutoFit/>
          </a:bodyPr>
          <a:lstStyle/>
          <a:p>
            <a:r>
              <a:rPr lang="en-US" sz="2100" b="1">
                <a:solidFill>
                  <a:srgbClr val="352379"/>
                </a:solidFill>
                <a:latin typeface="Montserrat"/>
              </a:rPr>
              <a:t>for v in graph:</a:t>
            </a:r>
          </a:p>
          <a:p>
            <a:r>
              <a:rPr lang="en-US" sz="2100" b="1">
                <a:solidFill>
                  <a:srgbClr val="352379"/>
                </a:solidFill>
                <a:latin typeface="Montserrat"/>
              </a:rPr>
              <a:t>    if not visited[v]:</a:t>
            </a:r>
          </a:p>
          <a:p>
            <a:r>
              <a:rPr lang="en-US" sz="2100" b="1">
                <a:solidFill>
                  <a:srgbClr val="352379"/>
                </a:solidFill>
                <a:latin typeface="Montserrat"/>
              </a:rPr>
              <a:t>        dfs(v)</a:t>
            </a:r>
          </a:p>
          <a:p>
            <a:endParaRPr lang="en-US" sz="2100" b="1">
              <a:solidFill>
                <a:srgbClr val="352379"/>
              </a:solidFill>
              <a:latin typeface="Montserrat"/>
            </a:endParaRPr>
          </a:p>
          <a:p>
            <a:r>
              <a:rPr lang="en-US" sz="2100" b="1">
                <a:solidFill>
                  <a:srgbClr val="352379"/>
                </a:solidFill>
                <a:latin typeface="Montserrat"/>
              </a:rPr>
              <a:t>result.reverse()</a:t>
            </a:r>
          </a:p>
          <a:p>
            <a:endParaRPr lang="en-US" sz="2100" b="1">
              <a:solidFill>
                <a:srgbClr val="352379"/>
              </a:solidFill>
              <a:latin typeface="Montserrat"/>
            </a:endParaRPr>
          </a:p>
          <a:p>
            <a:r>
              <a:rPr lang="en-US" sz="2100" b="1">
                <a:solidFill>
                  <a:srgbClr val="352379"/>
                </a:solidFill>
                <a:latin typeface="Montserrat"/>
              </a:rPr>
              <a:t>O(V + E)</a:t>
            </a:r>
            <a:endParaRPr lang="ru-RU" sz="2100" b="1">
              <a:solidFill>
                <a:srgbClr val="352379"/>
              </a:solidFill>
              <a:latin typeface="Montserrat"/>
            </a:endParaRPr>
          </a:p>
        </p:txBody>
      </p:sp>
      <p:sp>
        <p:nvSpPr>
          <p:cNvPr id="12" name="box-8-1991">
            <a:extLst>
              <a:ext uri="{FF2B5EF4-FFF2-40B4-BE49-F238E27FC236}">
                <a16:creationId xmlns:a16="http://schemas.microsoft.com/office/drawing/2014/main" id="{D78F1F77-E4DE-4722-9223-98CF610BFB40}"/>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9-1992">
            <a:extLst>
              <a:ext uri="{FF2B5EF4-FFF2-40B4-BE49-F238E27FC236}">
                <a16:creationId xmlns:a16="http://schemas.microsoft.com/office/drawing/2014/main" id="{67ABB035-77A7-4BE5-95E1-CBDA8B4F0773}"/>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Этот вариант предполагает, что граф — DAG.</a:t>
            </a:r>
          </a:p>
        </p:txBody>
      </p:sp>
      <p:sp>
        <p:nvSpPr>
          <p:cNvPr id="14" name="lecture-footer">
            <a:extLst>
              <a:ext uri="{FF2B5EF4-FFF2-40B4-BE49-F238E27FC236}">
                <a16:creationId xmlns:a16="http://schemas.microsoft.com/office/drawing/2014/main" id="{49B088AD-8DAF-4114-B0E9-9413D34EF5E1}"/>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5" name="slide-number">
            <a:extLst>
              <a:ext uri="{FF2B5EF4-FFF2-40B4-BE49-F238E27FC236}">
                <a16:creationId xmlns:a16="http://schemas.microsoft.com/office/drawing/2014/main" id="{C51E8391-F45B-4576-ACA0-13022542ED1C}"/>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61</a:t>
            </a:r>
          </a:p>
        </p:txBody>
      </p:sp>
    </p:spTree>
    <p:extLst>
      <p:ext uri="{BB962C8B-B14F-4D97-AF65-F5344CB8AC3E}">
        <p14:creationId xmlns:p14="http://schemas.microsoft.com/office/powerpoint/2010/main" val="3839143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Почему цикл ломает порядок</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69139319-F0E5-42B4-9728-451E411BE637}"/>
              </a:ext>
            </a:extLst>
          </p:cNvPr>
          <p:cNvCxnSpPr/>
          <p:nvPr/>
        </p:nvCxnSpPr>
        <p:spPr>
          <a:xfrm flipH="1">
            <a:off x="1234233" y="2844110"/>
            <a:ext cx="579534" cy="1931780"/>
          </a:xfrm>
          <a:prstGeom prst="straightConnector1">
            <a:avLst/>
          </a:prstGeom>
          <a:ln w="3429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B-C">
            <a:extLst>
              <a:ext uri="{FF2B5EF4-FFF2-40B4-BE49-F238E27FC236}">
                <a16:creationId xmlns:a16="http://schemas.microsoft.com/office/drawing/2014/main" id="{7FAA87E2-5A0F-406E-A98C-52AB1E137B4F}"/>
              </a:ext>
            </a:extLst>
          </p:cNvPr>
          <p:cNvCxnSpPr/>
          <p:nvPr/>
        </p:nvCxnSpPr>
        <p:spPr>
          <a:xfrm>
            <a:off x="1460500" y="5080000"/>
            <a:ext cx="3619500" cy="0"/>
          </a:xfrm>
          <a:prstGeom prst="straightConnector1">
            <a:avLst/>
          </a:prstGeom>
          <a:ln w="3429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C-A">
            <a:extLst>
              <a:ext uri="{FF2B5EF4-FFF2-40B4-BE49-F238E27FC236}">
                <a16:creationId xmlns:a16="http://schemas.microsoft.com/office/drawing/2014/main" id="{234D07D8-FF6B-44FD-A962-B9FDB079987F}"/>
              </a:ext>
            </a:extLst>
          </p:cNvPr>
          <p:cNvCxnSpPr/>
          <p:nvPr/>
        </p:nvCxnSpPr>
        <p:spPr>
          <a:xfrm flipH="1" flipV="1">
            <a:off x="2161774" y="2726745"/>
            <a:ext cx="2978952" cy="2166511"/>
          </a:xfrm>
          <a:prstGeom prst="straightConnector1">
            <a:avLst/>
          </a:prstGeom>
          <a:ln w="3429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sp>
        <p:nvSpPr>
          <p:cNvPr id="6" name="!!g-node-A">
            <a:extLst>
              <a:ext uri="{FF2B5EF4-FFF2-40B4-BE49-F238E27FC236}">
                <a16:creationId xmlns:a16="http://schemas.microsoft.com/office/drawing/2014/main" id="{993BB074-AC08-46EA-A1B0-DCC6C140D4C2}"/>
              </a:ext>
            </a:extLst>
          </p:cNvPr>
          <p:cNvSpPr/>
          <p:nvPr/>
        </p:nvSpPr>
        <p:spPr>
          <a:xfrm>
            <a:off x="15875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8" name="!!g-node-B">
            <a:extLst>
              <a:ext uri="{FF2B5EF4-FFF2-40B4-BE49-F238E27FC236}">
                <a16:creationId xmlns:a16="http://schemas.microsoft.com/office/drawing/2014/main" id="{E191D75C-3B50-483C-A59D-17749EEA97BB}"/>
              </a:ext>
            </a:extLst>
          </p:cNvPr>
          <p:cNvSpPr/>
          <p:nvPr/>
        </p:nvSpPr>
        <p:spPr>
          <a:xfrm>
            <a:off x="825500" y="476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9" name="!!g-node-C">
            <a:extLst>
              <a:ext uri="{FF2B5EF4-FFF2-40B4-BE49-F238E27FC236}">
                <a16:creationId xmlns:a16="http://schemas.microsoft.com/office/drawing/2014/main" id="{32A40ECD-48BA-4099-9DFF-DB1D74E4333B}"/>
              </a:ext>
            </a:extLst>
          </p:cNvPr>
          <p:cNvSpPr/>
          <p:nvPr/>
        </p:nvSpPr>
        <p:spPr>
          <a:xfrm>
            <a:off x="5080000" y="476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0" name="box-6-1999">
            <a:extLst>
              <a:ext uri="{FF2B5EF4-FFF2-40B4-BE49-F238E27FC236}">
                <a16:creationId xmlns:a16="http://schemas.microsoft.com/office/drawing/2014/main" id="{EBAB0ACD-08E1-4AB4-9652-36C5D60C9354}"/>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x-7-2000">
            <a:extLst>
              <a:ext uri="{FF2B5EF4-FFF2-40B4-BE49-F238E27FC236}">
                <a16:creationId xmlns:a16="http://schemas.microsoft.com/office/drawing/2014/main" id="{67175483-CEF8-496A-9EC8-46FAE8A7C911}"/>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8-2001">
            <a:extLst>
              <a:ext uri="{FF2B5EF4-FFF2-40B4-BE49-F238E27FC236}">
                <a16:creationId xmlns:a16="http://schemas.microsoft.com/office/drawing/2014/main" id="{52D20DC1-CA4D-4275-8E24-1741370874D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Противоречие</a:t>
            </a:r>
          </a:p>
        </p:txBody>
      </p:sp>
      <p:sp>
        <p:nvSpPr>
          <p:cNvPr id="13" name="text-9-2002">
            <a:extLst>
              <a:ext uri="{FF2B5EF4-FFF2-40B4-BE49-F238E27FC236}">
                <a16:creationId xmlns:a16="http://schemas.microsoft.com/office/drawing/2014/main" id="{A7282C35-51F8-45B2-ADFB-D8330DFCDDEB}"/>
              </a:ext>
            </a:extLst>
          </p:cNvPr>
          <p:cNvSpPr txBox="1"/>
          <p:nvPr/>
        </p:nvSpPr>
        <p:spPr bwMode="auto">
          <a:xfrm>
            <a:off x="8153400" y="2367042"/>
            <a:ext cx="3340100" cy="2051844"/>
          </a:xfrm>
          <a:prstGeom prst="rect">
            <a:avLst/>
          </a:prstGeom>
        </p:spPr>
        <p:txBody>
          <a:bodyPr vert="horz" wrap="square" lIns="38100" tIns="25400" rIns="38100" bIns="25400" rtlCol="0" anchor="ctr">
            <a:spAutoFit/>
          </a:bodyPr>
          <a:lstStyle/>
          <a:p>
            <a:r>
              <a:rPr lang="ru-RU" sz="2600">
                <a:solidFill>
                  <a:srgbClr val="352379"/>
                </a:solidFill>
                <a:latin typeface="Montserrat"/>
              </a:rPr>
              <a:t>A раньше B</a:t>
            </a:r>
          </a:p>
          <a:p>
            <a:endParaRPr lang="ru-RU" sz="2600">
              <a:solidFill>
                <a:srgbClr val="352379"/>
              </a:solidFill>
              <a:latin typeface="Montserrat"/>
            </a:endParaRPr>
          </a:p>
          <a:p>
            <a:r>
              <a:rPr lang="ru-RU" sz="2600">
                <a:solidFill>
                  <a:srgbClr val="352379"/>
                </a:solidFill>
                <a:latin typeface="Montserrat"/>
              </a:rPr>
              <a:t>B раньше C</a:t>
            </a:r>
          </a:p>
          <a:p>
            <a:endParaRPr lang="ru-RU" sz="2600">
              <a:solidFill>
                <a:srgbClr val="352379"/>
              </a:solidFill>
              <a:latin typeface="Montserrat"/>
            </a:endParaRPr>
          </a:p>
          <a:p>
            <a:r>
              <a:rPr lang="ru-RU" sz="2600">
                <a:solidFill>
                  <a:srgbClr val="352379"/>
                </a:solidFill>
                <a:latin typeface="Montserrat"/>
              </a:rPr>
              <a:t>C раньше A</a:t>
            </a:r>
          </a:p>
        </p:txBody>
      </p:sp>
      <p:sp>
        <p:nvSpPr>
          <p:cNvPr id="14" name="box-10-2003">
            <a:extLst>
              <a:ext uri="{FF2B5EF4-FFF2-40B4-BE49-F238E27FC236}">
                <a16:creationId xmlns:a16="http://schemas.microsoft.com/office/drawing/2014/main" id="{137DCA2A-89E3-40EC-B1D3-AABFECFC5C45}"/>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11-2004">
            <a:extLst>
              <a:ext uri="{FF2B5EF4-FFF2-40B4-BE49-F238E27FC236}">
                <a16:creationId xmlns:a16="http://schemas.microsoft.com/office/drawing/2014/main" id="{E0AEE500-A6AE-4690-B400-D066B6C144F2}"/>
              </a:ext>
            </a:extLst>
          </p:cNvPr>
          <p:cNvSpPr txBox="1"/>
          <p:nvPr/>
        </p:nvSpPr>
        <p:spPr bwMode="auto">
          <a:xfrm>
            <a:off x="660400" y="5938223"/>
            <a:ext cx="10871200" cy="389850"/>
          </a:xfrm>
          <a:prstGeom prst="rect">
            <a:avLst/>
          </a:prstGeom>
        </p:spPr>
        <p:txBody>
          <a:bodyPr vert="horz" wrap="square" lIns="38100" tIns="25400" rIns="38100" bIns="25400" rtlCol="0" anchor="ctr">
            <a:spAutoFit/>
          </a:bodyPr>
          <a:lstStyle/>
          <a:p>
            <a:r>
              <a:rPr lang="ru-RU" sz="2200">
                <a:solidFill>
                  <a:srgbClr val="FFFFFF"/>
                </a:solidFill>
                <a:latin typeface="Montserrat"/>
              </a:rPr>
              <a:t>При направленном цикле топологического порядка нет.</a:t>
            </a:r>
          </a:p>
        </p:txBody>
      </p:sp>
      <p:sp>
        <p:nvSpPr>
          <p:cNvPr id="16" name="lecture-footer">
            <a:extLst>
              <a:ext uri="{FF2B5EF4-FFF2-40B4-BE49-F238E27FC236}">
                <a16:creationId xmlns:a16="http://schemas.microsoft.com/office/drawing/2014/main" id="{AA75A5FF-333D-4F9C-8968-E2A3BBD8380D}"/>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17" name="slide-number">
            <a:extLst>
              <a:ext uri="{FF2B5EF4-FFF2-40B4-BE49-F238E27FC236}">
                <a16:creationId xmlns:a16="http://schemas.microsoft.com/office/drawing/2014/main" id="{48871340-849C-4B3F-84FE-4736C113DCE8}"/>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62</a:t>
            </a:r>
          </a:p>
        </p:txBody>
      </p:sp>
    </p:spTree>
    <p:extLst>
      <p:ext uri="{BB962C8B-B14F-4D97-AF65-F5344CB8AC3E}">
        <p14:creationId xmlns:p14="http://schemas.microsoft.com/office/powerpoint/2010/main" val="27982650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Поиск цикла: три состояния DFS</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g-edge-A-B">
            <a:extLst>
              <a:ext uri="{FF2B5EF4-FFF2-40B4-BE49-F238E27FC236}">
                <a16:creationId xmlns:a16="http://schemas.microsoft.com/office/drawing/2014/main" id="{AF42FBDE-4EFA-4C32-B131-07BD0B301444}"/>
              </a:ext>
            </a:extLst>
          </p:cNvPr>
          <p:cNvCxnSpPr/>
          <p:nvPr/>
        </p:nvCxnSpPr>
        <p:spPr>
          <a:xfrm flipH="1">
            <a:off x="1234233" y="2844110"/>
            <a:ext cx="579534" cy="193178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4" name="!!g-edge-B-C">
            <a:extLst>
              <a:ext uri="{FF2B5EF4-FFF2-40B4-BE49-F238E27FC236}">
                <a16:creationId xmlns:a16="http://schemas.microsoft.com/office/drawing/2014/main" id="{346BDD23-41E8-4E11-A3FC-B97FB2D8DE47}"/>
              </a:ext>
            </a:extLst>
          </p:cNvPr>
          <p:cNvCxnSpPr/>
          <p:nvPr/>
        </p:nvCxnSpPr>
        <p:spPr>
          <a:xfrm>
            <a:off x="1460500" y="5080000"/>
            <a:ext cx="36195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g-edge-C-A">
            <a:extLst>
              <a:ext uri="{FF2B5EF4-FFF2-40B4-BE49-F238E27FC236}">
                <a16:creationId xmlns:a16="http://schemas.microsoft.com/office/drawing/2014/main" id="{027BEF8B-4171-45D9-9BAE-F2305921B99C}"/>
              </a:ext>
            </a:extLst>
          </p:cNvPr>
          <p:cNvCxnSpPr/>
          <p:nvPr/>
        </p:nvCxnSpPr>
        <p:spPr>
          <a:xfrm flipH="1" flipV="1">
            <a:off x="2161774" y="2726745"/>
            <a:ext cx="2978952" cy="2166511"/>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6" name="!!g-node-A">
            <a:extLst>
              <a:ext uri="{FF2B5EF4-FFF2-40B4-BE49-F238E27FC236}">
                <a16:creationId xmlns:a16="http://schemas.microsoft.com/office/drawing/2014/main" id="{7A517800-10B7-42C3-9A9E-AFF66BE2012F}"/>
              </a:ext>
            </a:extLst>
          </p:cNvPr>
          <p:cNvSpPr/>
          <p:nvPr/>
        </p:nvSpPr>
        <p:spPr>
          <a:xfrm>
            <a:off x="15875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8" name="!!g-node-B">
            <a:extLst>
              <a:ext uri="{FF2B5EF4-FFF2-40B4-BE49-F238E27FC236}">
                <a16:creationId xmlns:a16="http://schemas.microsoft.com/office/drawing/2014/main" id="{AC4EBFC7-482B-454F-8A40-ECA2C5F800F5}"/>
              </a:ext>
            </a:extLst>
          </p:cNvPr>
          <p:cNvSpPr/>
          <p:nvPr/>
        </p:nvSpPr>
        <p:spPr>
          <a:xfrm>
            <a:off x="825500" y="476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9" name="!!g-node-C">
            <a:extLst>
              <a:ext uri="{FF2B5EF4-FFF2-40B4-BE49-F238E27FC236}">
                <a16:creationId xmlns:a16="http://schemas.microsoft.com/office/drawing/2014/main" id="{105838BF-3B58-46C4-843F-8D34DFE0AA5B}"/>
              </a:ext>
            </a:extLst>
          </p:cNvPr>
          <p:cNvSpPr/>
          <p:nvPr/>
        </p:nvSpPr>
        <p:spPr>
          <a:xfrm>
            <a:off x="5080000" y="476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0" name="box-6-2011">
            <a:extLst>
              <a:ext uri="{FF2B5EF4-FFF2-40B4-BE49-F238E27FC236}">
                <a16:creationId xmlns:a16="http://schemas.microsoft.com/office/drawing/2014/main" id="{9EB9C7E9-22DE-416F-B924-914C94924E8B}"/>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x-7-2012">
            <a:extLst>
              <a:ext uri="{FF2B5EF4-FFF2-40B4-BE49-F238E27FC236}">
                <a16:creationId xmlns:a16="http://schemas.microsoft.com/office/drawing/2014/main" id="{A5EDFEB0-ACF4-4CFC-9779-4FF713D0B74A}"/>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8-2013">
            <a:extLst>
              <a:ext uri="{FF2B5EF4-FFF2-40B4-BE49-F238E27FC236}">
                <a16:creationId xmlns:a16="http://schemas.microsoft.com/office/drawing/2014/main" id="{501A6C5B-A742-4806-9EA0-B223C5B8FE74}"/>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Состояния</a:t>
            </a:r>
          </a:p>
        </p:txBody>
      </p:sp>
      <p:sp>
        <p:nvSpPr>
          <p:cNvPr id="13" name="text-9-2014">
            <a:extLst>
              <a:ext uri="{FF2B5EF4-FFF2-40B4-BE49-F238E27FC236}">
                <a16:creationId xmlns:a16="http://schemas.microsoft.com/office/drawing/2014/main" id="{4FDC30F9-67D9-4468-AEAC-AC21B6F60AB4}"/>
              </a:ext>
            </a:extLst>
          </p:cNvPr>
          <p:cNvSpPr txBox="1"/>
          <p:nvPr/>
        </p:nvSpPr>
        <p:spPr bwMode="auto">
          <a:xfrm>
            <a:off x="8153400" y="2443987"/>
            <a:ext cx="3340100" cy="1897955"/>
          </a:xfrm>
          <a:prstGeom prst="rect">
            <a:avLst/>
          </a:prstGeom>
        </p:spPr>
        <p:txBody>
          <a:bodyPr vert="horz" wrap="square" lIns="38100" tIns="25400" rIns="38100" bIns="25400" rtlCol="0" anchor="ctr">
            <a:spAutoFit/>
          </a:bodyPr>
          <a:lstStyle/>
          <a:p>
            <a:r>
              <a:rPr lang="ru-RU" sz="2400">
                <a:solidFill>
                  <a:srgbClr val="352379"/>
                </a:solidFill>
                <a:latin typeface="Montserrat"/>
              </a:rPr>
              <a:t>0 — не посещена</a:t>
            </a:r>
          </a:p>
          <a:p>
            <a:endParaRPr lang="ru-RU" sz="2400">
              <a:solidFill>
                <a:srgbClr val="352379"/>
              </a:solidFill>
              <a:latin typeface="Montserrat"/>
            </a:endParaRPr>
          </a:p>
          <a:p>
            <a:r>
              <a:rPr lang="ru-RU" sz="2400">
                <a:solidFill>
                  <a:srgbClr val="352379"/>
                </a:solidFill>
                <a:latin typeface="Montserrat"/>
              </a:rPr>
              <a:t>1 — сейчас в DFS</a:t>
            </a:r>
          </a:p>
          <a:p>
            <a:endParaRPr lang="ru-RU" sz="2400">
              <a:solidFill>
                <a:srgbClr val="352379"/>
              </a:solidFill>
              <a:latin typeface="Montserrat"/>
            </a:endParaRPr>
          </a:p>
          <a:p>
            <a:r>
              <a:rPr lang="ru-RU" sz="2400">
                <a:solidFill>
                  <a:srgbClr val="352379"/>
                </a:solidFill>
                <a:latin typeface="Montserrat"/>
              </a:rPr>
              <a:t>2 — завершена</a:t>
            </a:r>
          </a:p>
        </p:txBody>
      </p:sp>
      <p:sp>
        <p:nvSpPr>
          <p:cNvPr id="14" name="box-10-2015">
            <a:extLst>
              <a:ext uri="{FF2B5EF4-FFF2-40B4-BE49-F238E27FC236}">
                <a16:creationId xmlns:a16="http://schemas.microsoft.com/office/drawing/2014/main" id="{532ACC68-2CA6-469B-B676-8FC7A76CDF7A}"/>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11-2016">
            <a:extLst>
              <a:ext uri="{FF2B5EF4-FFF2-40B4-BE49-F238E27FC236}">
                <a16:creationId xmlns:a16="http://schemas.microsoft.com/office/drawing/2014/main" id="{02FDF484-38B6-4119-87D2-80AE8E539D90}"/>
              </a:ext>
            </a:extLst>
          </p:cNvPr>
          <p:cNvSpPr txBox="1"/>
          <p:nvPr/>
        </p:nvSpPr>
        <p:spPr bwMode="auto">
          <a:xfrm>
            <a:off x="660400" y="5945917"/>
            <a:ext cx="108712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Ребро из активной вершины в активную вершину: цикл.</a:t>
            </a:r>
          </a:p>
        </p:txBody>
      </p:sp>
      <p:grpSp>
        <p:nvGrpSpPr>
          <p:cNvPr id="21" name="animation-stage-1">
            <a:extLst>
              <a:ext uri="{FF2B5EF4-FFF2-40B4-BE49-F238E27FC236}">
                <a16:creationId xmlns:a16="http://schemas.microsoft.com/office/drawing/2014/main" id="{80519D7B-6509-4ECE-87A7-CFECBC150DED}"/>
              </a:ext>
            </a:extLst>
          </p:cNvPr>
          <p:cNvGrpSpPr/>
          <p:nvPr/>
        </p:nvGrpSpPr>
        <p:grpSpPr>
          <a:xfrm>
            <a:off x="1587500" y="1816100"/>
            <a:ext cx="10121900" cy="3657600"/>
            <a:chOff x="1587500" y="1816100"/>
            <a:chExt cx="10121900" cy="3657600"/>
          </a:xfrm>
        </p:grpSpPr>
        <p:sp>
          <p:nvSpPr>
            <p:cNvPr id="16" name="active-node-A-2017">
              <a:extLst>
                <a:ext uri="{FF2B5EF4-FFF2-40B4-BE49-F238E27FC236}">
                  <a16:creationId xmlns:a16="http://schemas.microsoft.com/office/drawing/2014/main" id="{47B7F322-0E02-4241-8710-012124B638E6}"/>
                </a:ext>
              </a:extLst>
            </p:cNvPr>
            <p:cNvSpPr/>
            <p:nvPr/>
          </p:nvSpPr>
          <p:spPr>
            <a:xfrm>
              <a:off x="1587500" y="2222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17" name="box-1-2018">
              <a:extLst>
                <a:ext uri="{FF2B5EF4-FFF2-40B4-BE49-F238E27FC236}">
                  <a16:creationId xmlns:a16="http://schemas.microsoft.com/office/drawing/2014/main" id="{27EF94DC-66DA-4325-B119-56027D9741BB}"/>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box-2-2019">
              <a:extLst>
                <a:ext uri="{FF2B5EF4-FFF2-40B4-BE49-F238E27FC236}">
                  <a16:creationId xmlns:a16="http://schemas.microsoft.com/office/drawing/2014/main" id="{C2A8E12C-9E99-4EEB-9061-EC6D9A499378}"/>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3-2020">
              <a:extLst>
                <a:ext uri="{FF2B5EF4-FFF2-40B4-BE49-F238E27FC236}">
                  <a16:creationId xmlns:a16="http://schemas.microsoft.com/office/drawing/2014/main" id="{4D42C3AF-4492-43F2-A5E5-9F987DAE54DE}"/>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Активная </a:t>
              </a:r>
              <a:r>
                <a:rPr lang="en-US" sz="2100">
                  <a:solidFill>
                    <a:srgbClr val="FFFFFF"/>
                  </a:solidFill>
                  <a:latin typeface="Montserrat"/>
                </a:rPr>
                <a:t>A</a:t>
              </a:r>
              <a:endParaRPr lang="ru-RU" sz="2100">
                <a:solidFill>
                  <a:srgbClr val="FFFFFF"/>
                </a:solidFill>
                <a:latin typeface="Montserrat"/>
              </a:endParaRPr>
            </a:p>
          </p:txBody>
        </p:sp>
        <p:sp>
          <p:nvSpPr>
            <p:cNvPr id="20" name="text-4-2021">
              <a:extLst>
                <a:ext uri="{FF2B5EF4-FFF2-40B4-BE49-F238E27FC236}">
                  <a16:creationId xmlns:a16="http://schemas.microsoft.com/office/drawing/2014/main" id="{CD515F2D-6692-426A-AACF-DAAECCA25223}"/>
                </a:ext>
              </a:extLst>
            </p:cNvPr>
            <p:cNvSpPr txBox="1"/>
            <p:nvPr/>
          </p:nvSpPr>
          <p:spPr bwMode="auto">
            <a:xfrm>
              <a:off x="8153400" y="2585051"/>
              <a:ext cx="3340100" cy="1020792"/>
            </a:xfrm>
            <a:prstGeom prst="rect">
              <a:avLst/>
            </a:prstGeom>
          </p:spPr>
          <p:txBody>
            <a:bodyPr vert="horz" wrap="square" lIns="38100" tIns="25400" rIns="38100" bIns="25400" rtlCol="0" anchor="ctr">
              <a:spAutoFit/>
            </a:bodyPr>
            <a:lstStyle/>
            <a:p>
              <a:r>
                <a:rPr lang="en-US" sz="2100">
                  <a:solidFill>
                    <a:srgbClr val="352379"/>
                  </a:solidFill>
                  <a:latin typeface="Montserrat"/>
                </a:rPr>
                <a:t>color[A] = 1</a:t>
              </a:r>
            </a:p>
            <a:p>
              <a:endParaRPr lang="en-US" sz="2100">
                <a:solidFill>
                  <a:srgbClr val="352379"/>
                </a:solidFill>
                <a:latin typeface="Montserrat"/>
              </a:endParaRPr>
            </a:p>
            <a:p>
              <a:r>
                <a:rPr lang="ru-RU" sz="2100">
                  <a:solidFill>
                    <a:srgbClr val="352379"/>
                  </a:solidFill>
                  <a:latin typeface="Montserrat"/>
                </a:rPr>
                <a:t>Стек: [</a:t>
              </a:r>
              <a:r>
                <a:rPr lang="en-US" sz="2100">
                  <a:solidFill>
                    <a:srgbClr val="352379"/>
                  </a:solidFill>
                  <a:latin typeface="Montserrat"/>
                </a:rPr>
                <a:t>A]</a:t>
              </a:r>
              <a:endParaRPr lang="ru-RU" sz="2100">
                <a:solidFill>
                  <a:srgbClr val="352379"/>
                </a:solidFill>
                <a:latin typeface="Montserrat"/>
              </a:endParaRPr>
            </a:p>
          </p:txBody>
        </p:sp>
      </p:grpSp>
      <p:grpSp>
        <p:nvGrpSpPr>
          <p:cNvPr id="28" name="animation-stage-2">
            <a:extLst>
              <a:ext uri="{FF2B5EF4-FFF2-40B4-BE49-F238E27FC236}">
                <a16:creationId xmlns:a16="http://schemas.microsoft.com/office/drawing/2014/main" id="{AE822B24-5C8A-464D-8F1D-98177A11178F}"/>
              </a:ext>
            </a:extLst>
          </p:cNvPr>
          <p:cNvGrpSpPr/>
          <p:nvPr/>
        </p:nvGrpSpPr>
        <p:grpSpPr>
          <a:xfrm>
            <a:off x="825500" y="1816100"/>
            <a:ext cx="10883900" cy="3657600"/>
            <a:chOff x="825500" y="1816100"/>
            <a:chExt cx="10883900" cy="3657600"/>
          </a:xfrm>
        </p:grpSpPr>
        <p:sp>
          <p:nvSpPr>
            <p:cNvPr id="22" name="active-node-A-2022">
              <a:extLst>
                <a:ext uri="{FF2B5EF4-FFF2-40B4-BE49-F238E27FC236}">
                  <a16:creationId xmlns:a16="http://schemas.microsoft.com/office/drawing/2014/main" id="{8799DDA6-82D7-4603-AAD6-178F5A58FB2B}"/>
                </a:ext>
              </a:extLst>
            </p:cNvPr>
            <p:cNvSpPr/>
            <p:nvPr/>
          </p:nvSpPr>
          <p:spPr>
            <a:xfrm>
              <a:off x="1587500" y="2222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23" name="active-node-B-2023">
              <a:extLst>
                <a:ext uri="{FF2B5EF4-FFF2-40B4-BE49-F238E27FC236}">
                  <a16:creationId xmlns:a16="http://schemas.microsoft.com/office/drawing/2014/main" id="{7DF94A3E-D1BF-4A48-92D8-3C108C27F776}"/>
                </a:ext>
              </a:extLst>
            </p:cNvPr>
            <p:cNvSpPr/>
            <p:nvPr/>
          </p:nvSpPr>
          <p:spPr>
            <a:xfrm>
              <a:off x="825500" y="4762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24" name="box-2-2024">
              <a:extLst>
                <a:ext uri="{FF2B5EF4-FFF2-40B4-BE49-F238E27FC236}">
                  <a16:creationId xmlns:a16="http://schemas.microsoft.com/office/drawing/2014/main" id="{65110B68-BAF2-4B68-9238-93AD5168DF4F}"/>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box-3-2025">
              <a:extLst>
                <a:ext uri="{FF2B5EF4-FFF2-40B4-BE49-F238E27FC236}">
                  <a16:creationId xmlns:a16="http://schemas.microsoft.com/office/drawing/2014/main" id="{C0460937-672D-4AB5-9833-6BF11295A254}"/>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4-2026">
              <a:extLst>
                <a:ext uri="{FF2B5EF4-FFF2-40B4-BE49-F238E27FC236}">
                  <a16:creationId xmlns:a16="http://schemas.microsoft.com/office/drawing/2014/main" id="{D1274D2F-6434-4D52-A3D2-0993580A6CD1}"/>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Активная </a:t>
              </a:r>
              <a:r>
                <a:rPr lang="en-US" sz="2100">
                  <a:solidFill>
                    <a:srgbClr val="FFFFFF"/>
                  </a:solidFill>
                  <a:latin typeface="Montserrat"/>
                </a:rPr>
                <a:t>B</a:t>
              </a:r>
              <a:endParaRPr lang="ru-RU" sz="2100">
                <a:solidFill>
                  <a:srgbClr val="FFFFFF"/>
                </a:solidFill>
                <a:latin typeface="Montserrat"/>
              </a:endParaRPr>
            </a:p>
          </p:txBody>
        </p:sp>
        <p:sp>
          <p:nvSpPr>
            <p:cNvPr id="27" name="text-5-2027">
              <a:extLst>
                <a:ext uri="{FF2B5EF4-FFF2-40B4-BE49-F238E27FC236}">
                  <a16:creationId xmlns:a16="http://schemas.microsoft.com/office/drawing/2014/main" id="{F933F3A1-0ED3-404B-BE6C-499D04598186}"/>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en-US" sz="2100">
                  <a:solidFill>
                    <a:srgbClr val="352379"/>
                  </a:solidFill>
                  <a:latin typeface="Montserrat"/>
                </a:rPr>
                <a:t>color[A] = 1</a:t>
              </a:r>
            </a:p>
            <a:p>
              <a:r>
                <a:rPr lang="en-US" sz="2100">
                  <a:solidFill>
                    <a:srgbClr val="352379"/>
                  </a:solidFill>
                  <a:latin typeface="Montserrat"/>
                </a:rPr>
                <a:t>color[B] = 1</a:t>
              </a:r>
            </a:p>
            <a:p>
              <a:endParaRPr lang="en-US" sz="2100">
                <a:solidFill>
                  <a:srgbClr val="352379"/>
                </a:solidFill>
                <a:latin typeface="Montserrat"/>
              </a:endParaRPr>
            </a:p>
            <a:p>
              <a:r>
                <a:rPr lang="ru-RU" sz="2100">
                  <a:solidFill>
                    <a:srgbClr val="352379"/>
                  </a:solidFill>
                  <a:latin typeface="Montserrat"/>
                </a:rPr>
                <a:t>Стек: [</a:t>
              </a:r>
              <a:r>
                <a:rPr lang="en-US" sz="2100">
                  <a:solidFill>
                    <a:srgbClr val="352379"/>
                  </a:solidFill>
                  <a:latin typeface="Montserrat"/>
                </a:rPr>
                <a:t>A, B]</a:t>
              </a:r>
              <a:endParaRPr lang="ru-RU" sz="2100">
                <a:solidFill>
                  <a:srgbClr val="352379"/>
                </a:solidFill>
                <a:latin typeface="Montserrat"/>
              </a:endParaRPr>
            </a:p>
          </p:txBody>
        </p:sp>
      </p:grpSp>
      <p:grpSp>
        <p:nvGrpSpPr>
          <p:cNvPr id="37" name="animation-stage-3">
            <a:extLst>
              <a:ext uri="{FF2B5EF4-FFF2-40B4-BE49-F238E27FC236}">
                <a16:creationId xmlns:a16="http://schemas.microsoft.com/office/drawing/2014/main" id="{A9CD3CB3-8AF6-453B-BD05-9C9F2C72D119}"/>
              </a:ext>
            </a:extLst>
          </p:cNvPr>
          <p:cNvGrpSpPr/>
          <p:nvPr/>
        </p:nvGrpSpPr>
        <p:grpSpPr>
          <a:xfrm>
            <a:off x="825500" y="1816100"/>
            <a:ext cx="10883900" cy="3657600"/>
            <a:chOff x="825500" y="1816100"/>
            <a:chExt cx="10883900" cy="3657600"/>
          </a:xfrm>
        </p:grpSpPr>
        <p:cxnSp>
          <p:nvCxnSpPr>
            <p:cNvPr id="29" name="active-edge-C-A-2028">
              <a:extLst>
                <a:ext uri="{FF2B5EF4-FFF2-40B4-BE49-F238E27FC236}">
                  <a16:creationId xmlns:a16="http://schemas.microsoft.com/office/drawing/2014/main" id="{1355298A-9511-4DE3-B13E-C550E064B551}"/>
                </a:ext>
              </a:extLst>
            </p:cNvPr>
            <p:cNvCxnSpPr/>
            <p:nvPr/>
          </p:nvCxnSpPr>
          <p:spPr>
            <a:xfrm flipH="1" flipV="1">
              <a:off x="2161774" y="2726745"/>
              <a:ext cx="2978952" cy="2166511"/>
            </a:xfrm>
            <a:prstGeom prst="straightConnector1">
              <a:avLst/>
            </a:prstGeom>
            <a:ln w="38100">
              <a:solidFill>
                <a:srgbClr val="762181"/>
              </a:solidFill>
              <a:tailEnd type="arrow" w="med" len="med"/>
            </a:ln>
          </p:spPr>
          <p:style>
            <a:lnRef idx="1">
              <a:schemeClr val="accent1"/>
            </a:lnRef>
            <a:fillRef idx="0">
              <a:schemeClr val="accent1"/>
            </a:fillRef>
            <a:effectRef idx="0">
              <a:schemeClr val="accent1"/>
            </a:effectRef>
            <a:fontRef idx="minor">
              <a:schemeClr val="tx1"/>
            </a:fontRef>
          </p:style>
        </p:cxnSp>
        <p:sp>
          <p:nvSpPr>
            <p:cNvPr id="30" name="active-node-A-2029">
              <a:extLst>
                <a:ext uri="{FF2B5EF4-FFF2-40B4-BE49-F238E27FC236}">
                  <a16:creationId xmlns:a16="http://schemas.microsoft.com/office/drawing/2014/main" id="{125A209B-7884-4076-AC62-4A7CC966C99E}"/>
                </a:ext>
              </a:extLst>
            </p:cNvPr>
            <p:cNvSpPr/>
            <p:nvPr/>
          </p:nvSpPr>
          <p:spPr>
            <a:xfrm>
              <a:off x="1587500" y="2222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active-node-B-2030">
              <a:extLst>
                <a:ext uri="{FF2B5EF4-FFF2-40B4-BE49-F238E27FC236}">
                  <a16:creationId xmlns:a16="http://schemas.microsoft.com/office/drawing/2014/main" id="{9B179D1F-2746-4C07-BB2F-AAB710FF27D1}"/>
                </a:ext>
              </a:extLst>
            </p:cNvPr>
            <p:cNvSpPr/>
            <p:nvPr/>
          </p:nvSpPr>
          <p:spPr>
            <a:xfrm>
              <a:off x="825500" y="4762500"/>
              <a:ext cx="635000" cy="635000"/>
            </a:xfrm>
            <a:prstGeom prst="ellipse">
              <a:avLst/>
            </a:prstGeom>
            <a:solidFill>
              <a:srgbClr val="8C64D8"/>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2" name="active-node-C-2031">
              <a:extLst>
                <a:ext uri="{FF2B5EF4-FFF2-40B4-BE49-F238E27FC236}">
                  <a16:creationId xmlns:a16="http://schemas.microsoft.com/office/drawing/2014/main" id="{2793517F-4EB3-4FB7-ABDB-1B199D55DDE5}"/>
                </a:ext>
              </a:extLst>
            </p:cNvPr>
            <p:cNvSpPr/>
            <p:nvPr/>
          </p:nvSpPr>
          <p:spPr>
            <a:xfrm>
              <a:off x="5080000" y="47625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box-4-2032">
              <a:extLst>
                <a:ext uri="{FF2B5EF4-FFF2-40B4-BE49-F238E27FC236}">
                  <a16:creationId xmlns:a16="http://schemas.microsoft.com/office/drawing/2014/main" id="{23DDB267-921F-4F6B-95C7-209CB38C3D90}"/>
                </a:ext>
              </a:extLst>
            </p:cNvPr>
            <p:cNvSpPr/>
            <p:nvPr/>
          </p:nvSpPr>
          <p:spPr>
            <a:xfrm>
              <a:off x="7937500" y="1816100"/>
              <a:ext cx="3771900" cy="3657600"/>
            </a:xfrm>
            <a:prstGeom prst="roundRect">
              <a:avLst>
                <a:gd name="adj" fmla="val 12000"/>
              </a:avLst>
            </a:prstGeom>
            <a:solidFill>
              <a:srgbClr val="FFFFFF"/>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box-5-2033">
              <a:extLst>
                <a:ext uri="{FF2B5EF4-FFF2-40B4-BE49-F238E27FC236}">
                  <a16:creationId xmlns:a16="http://schemas.microsoft.com/office/drawing/2014/main" id="{E4ADC369-A928-4165-B208-910085FA85CA}"/>
                </a:ext>
              </a:extLst>
            </p:cNvPr>
            <p:cNvSpPr/>
            <p:nvPr/>
          </p:nvSpPr>
          <p:spPr>
            <a:xfrm>
              <a:off x="7937500" y="1816100"/>
              <a:ext cx="3771900" cy="6096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ext-6-2034">
              <a:extLst>
                <a:ext uri="{FF2B5EF4-FFF2-40B4-BE49-F238E27FC236}">
                  <a16:creationId xmlns:a16="http://schemas.microsoft.com/office/drawing/2014/main" id="{FC7EBED3-9A60-467F-86BE-335F463ADA22}"/>
                </a:ext>
              </a:extLst>
            </p:cNvPr>
            <p:cNvSpPr txBox="1"/>
            <p:nvPr/>
          </p:nvSpPr>
          <p:spPr bwMode="auto">
            <a:xfrm>
              <a:off x="8128000" y="1869217"/>
              <a:ext cx="3390900" cy="374461"/>
            </a:xfrm>
            <a:prstGeom prst="rect">
              <a:avLst/>
            </a:prstGeom>
          </p:spPr>
          <p:txBody>
            <a:bodyPr vert="horz" wrap="square" lIns="38100" tIns="25400" rIns="38100" bIns="25400" rtlCol="0" anchor="ctr">
              <a:spAutoFit/>
            </a:bodyPr>
            <a:lstStyle/>
            <a:p>
              <a:r>
                <a:rPr lang="ru-RU" sz="2100">
                  <a:solidFill>
                    <a:srgbClr val="FFFFFF"/>
                  </a:solidFill>
                  <a:latin typeface="Montserrat"/>
                </a:rPr>
                <a:t>Активная </a:t>
              </a:r>
              <a:r>
                <a:rPr lang="en-US" sz="2100">
                  <a:solidFill>
                    <a:srgbClr val="FFFFFF"/>
                  </a:solidFill>
                  <a:latin typeface="Montserrat"/>
                </a:rPr>
                <a:t>C</a:t>
              </a:r>
              <a:endParaRPr lang="ru-RU" sz="2100">
                <a:solidFill>
                  <a:srgbClr val="FFFFFF"/>
                </a:solidFill>
                <a:latin typeface="Montserrat"/>
              </a:endParaRPr>
            </a:p>
          </p:txBody>
        </p:sp>
        <p:sp>
          <p:nvSpPr>
            <p:cNvPr id="36" name="text-7-2035">
              <a:extLst>
                <a:ext uri="{FF2B5EF4-FFF2-40B4-BE49-F238E27FC236}">
                  <a16:creationId xmlns:a16="http://schemas.microsoft.com/office/drawing/2014/main" id="{A048633D-C186-4C3C-98D0-2B9FA8DA1C82}"/>
                </a:ext>
              </a:extLst>
            </p:cNvPr>
            <p:cNvSpPr txBox="1"/>
            <p:nvPr/>
          </p:nvSpPr>
          <p:spPr bwMode="auto">
            <a:xfrm>
              <a:off x="8153400" y="2582486"/>
              <a:ext cx="3340100" cy="1343958"/>
            </a:xfrm>
            <a:prstGeom prst="rect">
              <a:avLst/>
            </a:prstGeom>
          </p:spPr>
          <p:txBody>
            <a:bodyPr vert="horz" wrap="square" lIns="38100" tIns="25400" rIns="38100" bIns="25400" rtlCol="0" anchor="ctr">
              <a:spAutoFit/>
            </a:bodyPr>
            <a:lstStyle/>
            <a:p>
              <a:r>
                <a:rPr lang="ru-RU" sz="2100">
                  <a:solidFill>
                    <a:srgbClr val="352379"/>
                  </a:solidFill>
                  <a:latin typeface="Montserrat"/>
                </a:rPr>
                <a:t>Все три в состоянии 1</a:t>
              </a:r>
            </a:p>
            <a:p>
              <a:endParaRPr lang="ru-RU" sz="2100">
                <a:solidFill>
                  <a:srgbClr val="352379"/>
                </a:solidFill>
                <a:latin typeface="Montserrat"/>
              </a:endParaRPr>
            </a:p>
            <a:p>
              <a:r>
                <a:rPr lang="ru-RU" sz="2100">
                  <a:solidFill>
                    <a:srgbClr val="352379"/>
                  </a:solidFill>
                  <a:latin typeface="Montserrat"/>
                </a:rPr>
                <a:t>Ребро C → A</a:t>
              </a:r>
            </a:p>
            <a:p>
              <a:r>
                <a:rPr lang="ru-RU" sz="2100">
                  <a:solidFill>
                    <a:srgbClr val="352379"/>
                  </a:solidFill>
                  <a:latin typeface="Montserrat"/>
                </a:rPr>
                <a:t>ведёт в активную A</a:t>
              </a:r>
            </a:p>
          </p:txBody>
        </p:sp>
      </p:grpSp>
      <p:sp>
        <p:nvSpPr>
          <p:cNvPr id="38" name="lecture-footer">
            <a:extLst>
              <a:ext uri="{FF2B5EF4-FFF2-40B4-BE49-F238E27FC236}">
                <a16:creationId xmlns:a16="http://schemas.microsoft.com/office/drawing/2014/main" id="{B0E1AFD5-CDDC-4B1A-A5C2-465A346F215F}"/>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9" name="slide-number">
            <a:extLst>
              <a:ext uri="{FF2B5EF4-FFF2-40B4-BE49-F238E27FC236}">
                <a16:creationId xmlns:a16="http://schemas.microsoft.com/office/drawing/2014/main" id="{AD229645-5BAA-4162-B47A-8E9705A3D338}"/>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63</a:t>
            </a:r>
          </a:p>
        </p:txBody>
      </p:sp>
    </p:spTree>
    <p:extLst>
      <p:ext uri="{BB962C8B-B14F-4D97-AF65-F5344CB8AC3E}">
        <p14:creationId xmlns:p14="http://schemas.microsoft.com/office/powerpoint/2010/main" val="392487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50"/>
                                        <p:tgtEl>
                                          <p:spTgt spid="28"/>
                                        </p:tgtEl>
                                      </p:cBhvr>
                                    </p:animEffect>
                                  </p:childTnLst>
                                </p:cTn>
                              </p:par>
                              <p:par>
                                <p:cTn id="13" presetID="10" presetClass="exit" presetSubtype="0" fill="hold" nodeType="withEffect">
                                  <p:stCondLst>
                                    <p:cond delay="0"/>
                                  </p:stCondLst>
                                  <p:childTnLst>
                                    <p:animEffect transition="out" filter="fade">
                                      <p:cBhvr>
                                        <p:cTn id="14" dur="150"/>
                                        <p:tgtEl>
                                          <p:spTgt spid="21"/>
                                        </p:tgtEl>
                                      </p:cBhvr>
                                    </p:animEffect>
                                    <p:set>
                                      <p:cBhvr>
                                        <p:cTn id="15" dur="1" fill="hold">
                                          <p:stCondLst>
                                            <p:cond delay="149"/>
                                          </p:stCondLst>
                                        </p:cTn>
                                        <p:tgtEl>
                                          <p:spTgt spid="2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250"/>
                                        <p:tgtEl>
                                          <p:spTgt spid="37"/>
                                        </p:tgtEl>
                                      </p:cBhvr>
                                    </p:animEffect>
                                  </p:childTnLst>
                                </p:cTn>
                              </p:par>
                              <p:par>
                                <p:cTn id="21" presetID="10" presetClass="exit" presetSubtype="0" fill="hold" nodeType="withEffect">
                                  <p:stCondLst>
                                    <p:cond delay="0"/>
                                  </p:stCondLst>
                                  <p:childTnLst>
                                    <p:animEffect transition="out" filter="fade">
                                      <p:cBhvr>
                                        <p:cTn id="22" dur="150"/>
                                        <p:tgtEl>
                                          <p:spTgt spid="28"/>
                                        </p:tgtEl>
                                      </p:cBhvr>
                                    </p:animEffect>
                                    <p:set>
                                      <p:cBhvr>
                                        <p:cTn id="23" dur="1" fill="hold">
                                          <p:stCondLst>
                                            <p:cond delay="14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Один </a:t>
            </a:r>
            <a:r>
              <a:rPr lang="en-US">
                <a:latin typeface="Montserrat SemiBold"/>
              </a:rPr>
              <a:t>DFS — </a:t>
            </a:r>
            <a:r>
              <a:rPr lang="ru-RU">
                <a:latin typeface="Montserrat SemiBold"/>
              </a:rPr>
              <a:t>много алгоритмов</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cxnSp>
        <p:nvCxnSpPr>
          <p:cNvPr id="3" name="!!summary-edge-DFS-Компоненты">
            <a:extLst>
              <a:ext uri="{FF2B5EF4-FFF2-40B4-BE49-F238E27FC236}">
                <a16:creationId xmlns:a16="http://schemas.microsoft.com/office/drawing/2014/main" id="{F81DAB9E-F23F-408C-8D4E-91F31A5C4F29}"/>
              </a:ext>
            </a:extLst>
          </p:cNvPr>
          <p:cNvCxnSpPr/>
          <p:nvPr/>
        </p:nvCxnSpPr>
        <p:spPr>
          <a:xfrm flipH="1" flipV="1">
            <a:off x="2567112" y="2296167"/>
            <a:ext cx="2993776" cy="112266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4" name="!!summary-edge-DFS-SCC">
            <a:extLst>
              <a:ext uri="{FF2B5EF4-FFF2-40B4-BE49-F238E27FC236}">
                <a16:creationId xmlns:a16="http://schemas.microsoft.com/office/drawing/2014/main" id="{D9646F67-040B-4D03-912B-CD8D05A177FE}"/>
              </a:ext>
            </a:extLst>
          </p:cNvPr>
          <p:cNvCxnSpPr/>
          <p:nvPr/>
        </p:nvCxnSpPr>
        <p:spPr>
          <a:xfrm flipV="1">
            <a:off x="6096000" y="2184400"/>
            <a:ext cx="0" cy="8636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5" name="!!summary-edge-DFS-Мосты">
            <a:extLst>
              <a:ext uri="{FF2B5EF4-FFF2-40B4-BE49-F238E27FC236}">
                <a16:creationId xmlns:a16="http://schemas.microsoft.com/office/drawing/2014/main" id="{989D9AAB-A253-493F-87BF-CB660BD7C4E0}"/>
              </a:ext>
            </a:extLst>
          </p:cNvPr>
          <p:cNvCxnSpPr/>
          <p:nvPr/>
        </p:nvCxnSpPr>
        <p:spPr>
          <a:xfrm flipV="1">
            <a:off x="6628963" y="2301808"/>
            <a:ext cx="2871074" cy="111138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6" name="!!summary-edge-DFS-Точки&#10;сочленения">
            <a:extLst>
              <a:ext uri="{FF2B5EF4-FFF2-40B4-BE49-F238E27FC236}">
                <a16:creationId xmlns:a16="http://schemas.microsoft.com/office/drawing/2014/main" id="{83F9923D-1348-49CA-A76A-022566DF230E}"/>
              </a:ext>
            </a:extLst>
          </p:cNvPr>
          <p:cNvCxnSpPr/>
          <p:nvPr/>
        </p:nvCxnSpPr>
        <p:spPr>
          <a:xfrm flipH="1">
            <a:off x="2569824" y="3812780"/>
            <a:ext cx="2988352" cy="107394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8" name="!!summary-edge-DFS-Топологическая&#10;сортировка">
            <a:extLst>
              <a:ext uri="{FF2B5EF4-FFF2-40B4-BE49-F238E27FC236}">
                <a16:creationId xmlns:a16="http://schemas.microsoft.com/office/drawing/2014/main" id="{1274B7E8-F05E-46E6-BB5D-27EC4B6B5472}"/>
              </a:ext>
            </a:extLst>
          </p:cNvPr>
          <p:cNvCxnSpPr/>
          <p:nvPr/>
        </p:nvCxnSpPr>
        <p:spPr>
          <a:xfrm>
            <a:off x="6096000" y="4191000"/>
            <a:ext cx="0" cy="990600"/>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9" name="!!summary-edge-DFS-Поиск&#10;циклов">
            <a:extLst>
              <a:ext uri="{FF2B5EF4-FFF2-40B4-BE49-F238E27FC236}">
                <a16:creationId xmlns:a16="http://schemas.microsoft.com/office/drawing/2014/main" id="{59982E3A-2296-4FA8-9B68-53352958C583}"/>
              </a:ext>
            </a:extLst>
          </p:cNvPr>
          <p:cNvCxnSpPr/>
          <p:nvPr/>
        </p:nvCxnSpPr>
        <p:spPr>
          <a:xfrm>
            <a:off x="6631819" y="3818272"/>
            <a:ext cx="2865362" cy="1062956"/>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10" name="!!summary-node-DFS">
            <a:extLst>
              <a:ext uri="{FF2B5EF4-FFF2-40B4-BE49-F238E27FC236}">
                <a16:creationId xmlns:a16="http://schemas.microsoft.com/office/drawing/2014/main" id="{7CBD71C7-A368-45B8-860A-A874F803B0E6}"/>
              </a:ext>
            </a:extLst>
          </p:cNvPr>
          <p:cNvSpPr/>
          <p:nvPr/>
        </p:nvSpPr>
        <p:spPr>
          <a:xfrm>
            <a:off x="5524500" y="3048000"/>
            <a:ext cx="1143000" cy="1143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DFS</a:t>
            </a:r>
            <a:endParaRPr lang="ru-RU" sz="2200">
              <a:solidFill>
                <a:srgbClr val="FFFFFF"/>
              </a:solidFill>
              <a:latin typeface="Montserrat"/>
            </a:endParaRPr>
          </a:p>
        </p:txBody>
      </p:sp>
      <p:sp>
        <p:nvSpPr>
          <p:cNvPr id="11" name="!!summary-node-Компоненты">
            <a:extLst>
              <a:ext uri="{FF2B5EF4-FFF2-40B4-BE49-F238E27FC236}">
                <a16:creationId xmlns:a16="http://schemas.microsoft.com/office/drawing/2014/main" id="{F36CF735-9858-45D8-A926-F0E3E8D239D5}"/>
              </a:ext>
            </a:extLst>
          </p:cNvPr>
          <p:cNvSpPr/>
          <p:nvPr/>
        </p:nvSpPr>
        <p:spPr>
          <a:xfrm>
            <a:off x="647700" y="1625600"/>
            <a:ext cx="2768600" cy="939800"/>
          </a:xfrm>
          <a:prstGeom prst="roundRect">
            <a:avLst>
              <a:gd name="adj" fmla="val 12000"/>
            </a:avLst>
          </a:prstGeom>
          <a:solidFill>
            <a:srgbClr val="E3D6F5"/>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summary-node-SCC">
            <a:extLst>
              <a:ext uri="{FF2B5EF4-FFF2-40B4-BE49-F238E27FC236}">
                <a16:creationId xmlns:a16="http://schemas.microsoft.com/office/drawing/2014/main" id="{719CE477-4E44-464A-8E5A-F8F270057858}"/>
              </a:ext>
            </a:extLst>
          </p:cNvPr>
          <p:cNvSpPr/>
          <p:nvPr/>
        </p:nvSpPr>
        <p:spPr>
          <a:xfrm>
            <a:off x="4711700" y="1244600"/>
            <a:ext cx="2768600" cy="939800"/>
          </a:xfrm>
          <a:prstGeom prst="roundRect">
            <a:avLst>
              <a:gd name="adj" fmla="val 12000"/>
            </a:avLst>
          </a:prstGeom>
          <a:solidFill>
            <a:srgbClr val="E3D6F5"/>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summary-node-Мосты">
            <a:extLst>
              <a:ext uri="{FF2B5EF4-FFF2-40B4-BE49-F238E27FC236}">
                <a16:creationId xmlns:a16="http://schemas.microsoft.com/office/drawing/2014/main" id="{ACF858F1-A1E2-484A-9995-34333FE6E9E1}"/>
              </a:ext>
            </a:extLst>
          </p:cNvPr>
          <p:cNvSpPr/>
          <p:nvPr/>
        </p:nvSpPr>
        <p:spPr>
          <a:xfrm>
            <a:off x="8648700" y="1625600"/>
            <a:ext cx="2768600" cy="939800"/>
          </a:xfrm>
          <a:prstGeom prst="roundRect">
            <a:avLst>
              <a:gd name="adj" fmla="val 12000"/>
            </a:avLst>
          </a:prstGeom>
          <a:solidFill>
            <a:srgbClr val="E3D6F5"/>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summary-node-Точки&#10;сочленения">
            <a:extLst>
              <a:ext uri="{FF2B5EF4-FFF2-40B4-BE49-F238E27FC236}">
                <a16:creationId xmlns:a16="http://schemas.microsoft.com/office/drawing/2014/main" id="{4D8E138A-CE5E-4562-9465-48A8330B6681}"/>
              </a:ext>
            </a:extLst>
          </p:cNvPr>
          <p:cNvSpPr/>
          <p:nvPr/>
        </p:nvSpPr>
        <p:spPr>
          <a:xfrm>
            <a:off x="647700" y="4610100"/>
            <a:ext cx="2768600" cy="939800"/>
          </a:xfrm>
          <a:prstGeom prst="roundRect">
            <a:avLst>
              <a:gd name="adj" fmla="val 12000"/>
            </a:avLst>
          </a:prstGeom>
          <a:solidFill>
            <a:srgbClr val="E3D6F5"/>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summary-node-Топологическая&#10;сортировка">
            <a:extLst>
              <a:ext uri="{FF2B5EF4-FFF2-40B4-BE49-F238E27FC236}">
                <a16:creationId xmlns:a16="http://schemas.microsoft.com/office/drawing/2014/main" id="{99DBBCD2-9355-40E1-9747-0FF9A624A6A7}"/>
              </a:ext>
            </a:extLst>
          </p:cNvPr>
          <p:cNvSpPr/>
          <p:nvPr/>
        </p:nvSpPr>
        <p:spPr>
          <a:xfrm>
            <a:off x="4711700" y="5181600"/>
            <a:ext cx="2768600" cy="939800"/>
          </a:xfrm>
          <a:prstGeom prst="roundRect">
            <a:avLst>
              <a:gd name="adj" fmla="val 12000"/>
            </a:avLst>
          </a:prstGeom>
          <a:solidFill>
            <a:srgbClr val="E3D6F5"/>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summary-node-Поиск&#10;циклов">
            <a:extLst>
              <a:ext uri="{FF2B5EF4-FFF2-40B4-BE49-F238E27FC236}">
                <a16:creationId xmlns:a16="http://schemas.microsoft.com/office/drawing/2014/main" id="{230D98A0-D3F0-486B-BBCC-252C9584EE60}"/>
              </a:ext>
            </a:extLst>
          </p:cNvPr>
          <p:cNvSpPr/>
          <p:nvPr/>
        </p:nvSpPr>
        <p:spPr>
          <a:xfrm>
            <a:off x="8648700" y="4610100"/>
            <a:ext cx="2768600" cy="939800"/>
          </a:xfrm>
          <a:prstGeom prst="roundRect">
            <a:avLst>
              <a:gd name="adj" fmla="val 12000"/>
            </a:avLst>
          </a:prstGeom>
          <a:solidFill>
            <a:srgbClr val="E3D6F5"/>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13-2049">
            <a:extLst>
              <a:ext uri="{FF2B5EF4-FFF2-40B4-BE49-F238E27FC236}">
                <a16:creationId xmlns:a16="http://schemas.microsoft.com/office/drawing/2014/main" id="{21538C80-6852-4F49-9C85-3B9A166C0430}"/>
              </a:ext>
            </a:extLst>
          </p:cNvPr>
          <p:cNvSpPr txBox="1"/>
          <p:nvPr/>
        </p:nvSpPr>
        <p:spPr bwMode="auto">
          <a:xfrm>
            <a:off x="723900" y="1676028"/>
            <a:ext cx="2616200" cy="405239"/>
          </a:xfrm>
          <a:prstGeom prst="rect">
            <a:avLst/>
          </a:prstGeom>
        </p:spPr>
        <p:txBody>
          <a:bodyPr vert="horz" wrap="square" lIns="38100" tIns="25400" rIns="38100" bIns="25400" rtlCol="0" anchor="ctr">
            <a:spAutoFit/>
          </a:bodyPr>
          <a:lstStyle/>
          <a:p>
            <a:pPr algn="ctr"/>
            <a:r>
              <a:rPr lang="ru-RU" sz="2300">
                <a:solidFill>
                  <a:srgbClr val="352379"/>
                </a:solidFill>
                <a:latin typeface="Montserrat"/>
              </a:rPr>
              <a:t>Компоненты</a:t>
            </a:r>
          </a:p>
        </p:txBody>
      </p:sp>
      <p:sp>
        <p:nvSpPr>
          <p:cNvPr id="18" name="text-14-2050">
            <a:extLst>
              <a:ext uri="{FF2B5EF4-FFF2-40B4-BE49-F238E27FC236}">
                <a16:creationId xmlns:a16="http://schemas.microsoft.com/office/drawing/2014/main" id="{2F9D09EC-B9D1-4F8E-8D0B-AE7FC6071B0C}"/>
              </a:ext>
            </a:extLst>
          </p:cNvPr>
          <p:cNvSpPr txBox="1"/>
          <p:nvPr/>
        </p:nvSpPr>
        <p:spPr bwMode="auto">
          <a:xfrm>
            <a:off x="4787900" y="1295028"/>
            <a:ext cx="2616200" cy="405239"/>
          </a:xfrm>
          <a:prstGeom prst="rect">
            <a:avLst/>
          </a:prstGeom>
        </p:spPr>
        <p:txBody>
          <a:bodyPr vert="horz" wrap="square" lIns="38100" tIns="25400" rIns="38100" bIns="25400" rtlCol="0" anchor="ctr">
            <a:spAutoFit/>
          </a:bodyPr>
          <a:lstStyle/>
          <a:p>
            <a:pPr algn="ctr"/>
            <a:r>
              <a:rPr lang="en-US" sz="2300">
                <a:solidFill>
                  <a:srgbClr val="352379"/>
                </a:solidFill>
                <a:latin typeface="Montserrat"/>
              </a:rPr>
              <a:t>SCC</a:t>
            </a:r>
            <a:endParaRPr lang="ru-RU" sz="2300">
              <a:solidFill>
                <a:srgbClr val="352379"/>
              </a:solidFill>
              <a:latin typeface="Montserrat"/>
            </a:endParaRPr>
          </a:p>
        </p:txBody>
      </p:sp>
      <p:sp>
        <p:nvSpPr>
          <p:cNvPr id="19" name="text-15-2051">
            <a:extLst>
              <a:ext uri="{FF2B5EF4-FFF2-40B4-BE49-F238E27FC236}">
                <a16:creationId xmlns:a16="http://schemas.microsoft.com/office/drawing/2014/main" id="{8E6E5331-0E34-4EAE-85E5-3B4B05763F79}"/>
              </a:ext>
            </a:extLst>
          </p:cNvPr>
          <p:cNvSpPr txBox="1"/>
          <p:nvPr/>
        </p:nvSpPr>
        <p:spPr bwMode="auto">
          <a:xfrm>
            <a:off x="8724900" y="1676028"/>
            <a:ext cx="2616200" cy="405239"/>
          </a:xfrm>
          <a:prstGeom prst="rect">
            <a:avLst/>
          </a:prstGeom>
        </p:spPr>
        <p:txBody>
          <a:bodyPr vert="horz" wrap="square" lIns="38100" tIns="25400" rIns="38100" bIns="25400" rtlCol="0" anchor="ctr">
            <a:spAutoFit/>
          </a:bodyPr>
          <a:lstStyle/>
          <a:p>
            <a:pPr algn="ctr"/>
            <a:r>
              <a:rPr lang="ru-RU" sz="2300">
                <a:solidFill>
                  <a:srgbClr val="352379"/>
                </a:solidFill>
                <a:latin typeface="Montserrat"/>
              </a:rPr>
              <a:t>Мосты</a:t>
            </a:r>
          </a:p>
        </p:txBody>
      </p:sp>
      <p:sp>
        <p:nvSpPr>
          <p:cNvPr id="20" name="text-16-2052">
            <a:extLst>
              <a:ext uri="{FF2B5EF4-FFF2-40B4-BE49-F238E27FC236}">
                <a16:creationId xmlns:a16="http://schemas.microsoft.com/office/drawing/2014/main" id="{98DE737A-8E72-4021-8D8E-3C73222FF1CF}"/>
              </a:ext>
            </a:extLst>
          </p:cNvPr>
          <p:cNvSpPr txBox="1"/>
          <p:nvPr/>
        </p:nvSpPr>
        <p:spPr bwMode="auto">
          <a:xfrm>
            <a:off x="723900" y="4622056"/>
            <a:ext cx="2616200" cy="759182"/>
          </a:xfrm>
          <a:prstGeom prst="rect">
            <a:avLst/>
          </a:prstGeom>
        </p:spPr>
        <p:txBody>
          <a:bodyPr vert="horz" wrap="square" lIns="38100" tIns="25400" rIns="38100" bIns="25400" rtlCol="0" anchor="ctr">
            <a:spAutoFit/>
          </a:bodyPr>
          <a:lstStyle/>
          <a:p>
            <a:pPr algn="ctr"/>
            <a:r>
              <a:rPr lang="ru-RU" sz="2300">
                <a:solidFill>
                  <a:srgbClr val="352379"/>
                </a:solidFill>
                <a:latin typeface="Montserrat"/>
              </a:rPr>
              <a:t>Точки</a:t>
            </a:r>
          </a:p>
          <a:p>
            <a:pPr algn="ctr"/>
            <a:r>
              <a:rPr lang="ru-RU" sz="2300">
                <a:solidFill>
                  <a:srgbClr val="352379"/>
                </a:solidFill>
                <a:latin typeface="Montserrat"/>
              </a:rPr>
              <a:t>сочленения</a:t>
            </a:r>
          </a:p>
        </p:txBody>
      </p:sp>
      <p:sp>
        <p:nvSpPr>
          <p:cNvPr id="21" name="text-17-2053">
            <a:extLst>
              <a:ext uri="{FF2B5EF4-FFF2-40B4-BE49-F238E27FC236}">
                <a16:creationId xmlns:a16="http://schemas.microsoft.com/office/drawing/2014/main" id="{40F85181-4891-41FC-BDF2-A36BFD5FA5AF}"/>
              </a:ext>
            </a:extLst>
          </p:cNvPr>
          <p:cNvSpPr txBox="1"/>
          <p:nvPr/>
        </p:nvSpPr>
        <p:spPr bwMode="auto">
          <a:xfrm>
            <a:off x="4787900" y="5193556"/>
            <a:ext cx="2616200" cy="759182"/>
          </a:xfrm>
          <a:prstGeom prst="rect">
            <a:avLst/>
          </a:prstGeom>
        </p:spPr>
        <p:txBody>
          <a:bodyPr vert="horz" wrap="square" lIns="38100" tIns="25400" rIns="38100" bIns="25400" rtlCol="0" anchor="ctr">
            <a:spAutoFit/>
          </a:bodyPr>
          <a:lstStyle/>
          <a:p>
            <a:pPr algn="ctr"/>
            <a:r>
              <a:rPr lang="ru-RU" sz="2300">
                <a:solidFill>
                  <a:srgbClr val="352379"/>
                </a:solidFill>
                <a:latin typeface="Montserrat"/>
              </a:rPr>
              <a:t>Топологическая</a:t>
            </a:r>
          </a:p>
          <a:p>
            <a:pPr algn="ctr"/>
            <a:r>
              <a:rPr lang="ru-RU" sz="2300">
                <a:solidFill>
                  <a:srgbClr val="352379"/>
                </a:solidFill>
                <a:latin typeface="Montserrat"/>
              </a:rPr>
              <a:t>сортировка</a:t>
            </a:r>
          </a:p>
        </p:txBody>
      </p:sp>
      <p:sp>
        <p:nvSpPr>
          <p:cNvPr id="22" name="text-18-2054">
            <a:extLst>
              <a:ext uri="{FF2B5EF4-FFF2-40B4-BE49-F238E27FC236}">
                <a16:creationId xmlns:a16="http://schemas.microsoft.com/office/drawing/2014/main" id="{FD5DB3CE-446C-452C-8257-C6D22A1E5DC9}"/>
              </a:ext>
            </a:extLst>
          </p:cNvPr>
          <p:cNvSpPr txBox="1"/>
          <p:nvPr/>
        </p:nvSpPr>
        <p:spPr bwMode="auto">
          <a:xfrm>
            <a:off x="8724900" y="4622056"/>
            <a:ext cx="2616200" cy="759182"/>
          </a:xfrm>
          <a:prstGeom prst="rect">
            <a:avLst/>
          </a:prstGeom>
        </p:spPr>
        <p:txBody>
          <a:bodyPr vert="horz" wrap="square" lIns="38100" tIns="25400" rIns="38100" bIns="25400" rtlCol="0" anchor="ctr">
            <a:spAutoFit/>
          </a:bodyPr>
          <a:lstStyle/>
          <a:p>
            <a:pPr algn="ctr"/>
            <a:r>
              <a:rPr lang="ru-RU" sz="2300">
                <a:solidFill>
                  <a:srgbClr val="352379"/>
                </a:solidFill>
                <a:latin typeface="Montserrat"/>
              </a:rPr>
              <a:t>Поиск</a:t>
            </a:r>
          </a:p>
          <a:p>
            <a:pPr algn="ctr"/>
            <a:r>
              <a:rPr lang="ru-RU" sz="2300">
                <a:solidFill>
                  <a:srgbClr val="352379"/>
                </a:solidFill>
                <a:latin typeface="Montserrat"/>
              </a:rPr>
              <a:t>циклов</a:t>
            </a:r>
          </a:p>
        </p:txBody>
      </p:sp>
      <p:sp>
        <p:nvSpPr>
          <p:cNvPr id="23" name="lecture-footer">
            <a:extLst>
              <a:ext uri="{FF2B5EF4-FFF2-40B4-BE49-F238E27FC236}">
                <a16:creationId xmlns:a16="http://schemas.microsoft.com/office/drawing/2014/main" id="{97DA6BBA-915F-476B-90C8-580C26030078}"/>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24" name="slide-number">
            <a:extLst>
              <a:ext uri="{FF2B5EF4-FFF2-40B4-BE49-F238E27FC236}">
                <a16:creationId xmlns:a16="http://schemas.microsoft.com/office/drawing/2014/main" id="{812395C5-AE1F-47D7-B806-CFC75C302F4F}"/>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64</a:t>
            </a:r>
          </a:p>
        </p:txBody>
      </p:sp>
    </p:spTree>
    <p:extLst>
      <p:ext uri="{BB962C8B-B14F-4D97-AF65-F5344CB8AC3E}">
        <p14:creationId xmlns:p14="http://schemas.microsoft.com/office/powerpoint/2010/main" val="8245625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Сводная таблица задач</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graphicFrame>
        <p:nvGraphicFramePr>
          <p:cNvPr id="3" name="table-0-2055">
            <a:extLst>
              <a:ext uri="{FF2B5EF4-FFF2-40B4-BE49-F238E27FC236}">
                <a16:creationId xmlns:a16="http://schemas.microsoft.com/office/drawing/2014/main" id="{2EE11DE5-2AF3-4319-8427-E93FEFA6AEBA}"/>
              </a:ext>
            </a:extLst>
          </p:cNvPr>
          <p:cNvGraphicFramePr>
            <a:graphicFrameLocks noGrp="1"/>
          </p:cNvGraphicFramePr>
          <p:nvPr>
            <p:extLst>
              <p:ext uri="{D42A27DB-BD31-4B8C-83A1-F6EECF244321}">
                <p14:modId xmlns:p14="http://schemas.microsoft.com/office/powerpoint/2010/main" val="438271373"/>
              </p:ext>
            </p:extLst>
          </p:nvPr>
        </p:nvGraphicFramePr>
        <p:xfrm>
          <a:off x="635000" y="1574800"/>
          <a:ext cx="10922000" cy="4660901"/>
        </p:xfrm>
        <a:graphic>
          <a:graphicData uri="http://schemas.openxmlformats.org/drawingml/2006/table">
            <a:tbl>
              <a:tblPr firstRow="1" bandRow="1">
                <a:tableStyleId>{0E3FDE45-AF77-4B5C-9715-49D594BDF05E}</a:tableStyleId>
              </a:tblPr>
              <a:tblGrid>
                <a:gridCol w="4508500">
                  <a:extLst>
                    <a:ext uri="{9D8B030D-6E8A-4147-A177-3AD203B41FA5}">
                      <a16:colId xmlns:a16="http://schemas.microsoft.com/office/drawing/2014/main" val="1022198306"/>
                    </a:ext>
                  </a:extLst>
                </a:gridCol>
                <a:gridCol w="6413500">
                  <a:extLst>
                    <a:ext uri="{9D8B030D-6E8A-4147-A177-3AD203B41FA5}">
                      <a16:colId xmlns:a16="http://schemas.microsoft.com/office/drawing/2014/main" val="312651484"/>
                    </a:ext>
                  </a:extLst>
                </a:gridCol>
              </a:tblGrid>
              <a:tr h="665843">
                <a:tc>
                  <a:txBody>
                    <a:bodyPr/>
                    <a:lstStyle/>
                    <a:p>
                      <a:pPr algn="l">
                        <a:spcBef>
                          <a:spcPts val="0"/>
                        </a:spcBef>
                        <a:spcAft>
                          <a:spcPts val="0"/>
                        </a:spcAft>
                        <a:buFontTx/>
                        <a:buNone/>
                      </a:pPr>
                      <a:r>
                        <a:rPr lang="ru-RU" sz="2300" b="1">
                          <a:solidFill>
                            <a:srgbClr val="FFFFFF"/>
                          </a:solidFill>
                          <a:latin typeface="Montserrat"/>
                        </a:rPr>
                        <a:t>Задача</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2300" b="1">
                          <a:solidFill>
                            <a:srgbClr val="FFFFFF"/>
                          </a:solidFill>
                          <a:latin typeface="Montserrat"/>
                        </a:rPr>
                        <a:t>Алгоритм / инструмент</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352379"/>
                    </a:solidFill>
                  </a:tcPr>
                </a:tc>
                <a:extLst>
                  <a:ext uri="{0D108BD9-81ED-4DB2-BD59-A6C34878D82A}">
                    <a16:rowId xmlns:a16="http://schemas.microsoft.com/office/drawing/2014/main" val="1199471543"/>
                  </a:ext>
                </a:extLst>
              </a:tr>
              <a:tr h="665843">
                <a:tc>
                  <a:txBody>
                    <a:bodyPr/>
                    <a:lstStyle/>
                    <a:p>
                      <a:pPr algn="l">
                        <a:spcBef>
                          <a:spcPts val="0"/>
                        </a:spcBef>
                        <a:spcAft>
                          <a:spcPts val="0"/>
                        </a:spcAft>
                        <a:buFontTx/>
                        <a:buNone/>
                      </a:pPr>
                      <a:r>
                        <a:rPr lang="ru-RU" sz="2300" b="0">
                          <a:solidFill>
                            <a:srgbClr val="352379"/>
                          </a:solidFill>
                          <a:latin typeface="Montserrat"/>
                        </a:rPr>
                        <a:t>Компоненты связности</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en-US" sz="2300" b="0">
                          <a:solidFill>
                            <a:srgbClr val="352379"/>
                          </a:solidFill>
                          <a:latin typeface="Montserrat"/>
                        </a:rPr>
                        <a:t>BFS / DFS</a:t>
                      </a:r>
                      <a:endParaRPr lang="ru-RU" sz="23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3294321060"/>
                  </a:ext>
                </a:extLst>
              </a:tr>
              <a:tr h="665843">
                <a:tc>
                  <a:txBody>
                    <a:bodyPr/>
                    <a:lstStyle/>
                    <a:p>
                      <a:pPr algn="l">
                        <a:spcBef>
                          <a:spcPts val="0"/>
                        </a:spcBef>
                        <a:spcAft>
                          <a:spcPts val="0"/>
                        </a:spcAft>
                        <a:buFontTx/>
                        <a:buNone/>
                      </a:pPr>
                      <a:r>
                        <a:rPr lang="en-US" sz="2300" b="0">
                          <a:solidFill>
                            <a:srgbClr val="352379"/>
                          </a:solidFill>
                          <a:latin typeface="Montserrat"/>
                        </a:rPr>
                        <a:t>SCC</a:t>
                      </a:r>
                      <a:endParaRPr lang="ru-RU" sz="2300" b="0">
                        <a:solidFill>
                          <a:srgbClr val="352379"/>
                        </a:solidFill>
                        <a:latin typeface="Montserrat"/>
                      </a:endParaRP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Косарайю / Тарьян</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792517472"/>
                  </a:ext>
                </a:extLst>
              </a:tr>
              <a:tr h="665843">
                <a:tc>
                  <a:txBody>
                    <a:bodyPr/>
                    <a:lstStyle/>
                    <a:p>
                      <a:pPr algn="l">
                        <a:spcBef>
                          <a:spcPts val="0"/>
                        </a:spcBef>
                        <a:spcAft>
                          <a:spcPts val="0"/>
                        </a:spcAft>
                        <a:buFontTx/>
                        <a:buNone/>
                      </a:pPr>
                      <a:r>
                        <a:rPr lang="ru-RU" sz="2300" b="0">
                          <a:solidFill>
                            <a:srgbClr val="352379"/>
                          </a:solidFill>
                          <a:latin typeface="Montserrat"/>
                        </a:rPr>
                        <a:t>Критическое ребро</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en-US" sz="2300" b="0">
                          <a:solidFill>
                            <a:srgbClr val="352379"/>
                          </a:solidFill>
                          <a:latin typeface="Montserrat"/>
                        </a:rPr>
                        <a:t>DFS + tin/low: </a:t>
                      </a:r>
                      <a:r>
                        <a:rPr lang="ru-RU" sz="2300" b="0">
                          <a:solidFill>
                            <a:srgbClr val="352379"/>
                          </a:solidFill>
                          <a:latin typeface="Montserrat"/>
                        </a:rPr>
                        <a:t>мосты</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2650222406"/>
                  </a:ext>
                </a:extLst>
              </a:tr>
              <a:tr h="665843">
                <a:tc>
                  <a:txBody>
                    <a:bodyPr/>
                    <a:lstStyle/>
                    <a:p>
                      <a:pPr algn="l">
                        <a:spcBef>
                          <a:spcPts val="0"/>
                        </a:spcBef>
                        <a:spcAft>
                          <a:spcPts val="0"/>
                        </a:spcAft>
                        <a:buFontTx/>
                        <a:buNone/>
                      </a:pPr>
                      <a:r>
                        <a:rPr lang="ru-RU" sz="2300" b="0">
                          <a:solidFill>
                            <a:srgbClr val="352379"/>
                          </a:solidFill>
                          <a:latin typeface="Montserrat"/>
                        </a:rPr>
                        <a:t>Критическая вершина</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DFS + tin/low: точки сочленения</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756262029"/>
                  </a:ext>
                </a:extLst>
              </a:tr>
              <a:tr h="665843">
                <a:tc>
                  <a:txBody>
                    <a:bodyPr/>
                    <a:lstStyle/>
                    <a:p>
                      <a:pPr algn="l">
                        <a:spcBef>
                          <a:spcPts val="0"/>
                        </a:spcBef>
                        <a:spcAft>
                          <a:spcPts val="0"/>
                        </a:spcAft>
                        <a:buFontTx/>
                        <a:buNone/>
                      </a:pPr>
                      <a:r>
                        <a:rPr lang="ru-RU" sz="2300" b="0">
                          <a:solidFill>
                            <a:srgbClr val="352379"/>
                          </a:solidFill>
                          <a:latin typeface="Montserrat"/>
                        </a:rPr>
                        <a:t>Зависимости</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2300" b="0">
                          <a:solidFill>
                            <a:srgbClr val="352379"/>
                          </a:solidFill>
                          <a:latin typeface="Montserrat"/>
                        </a:rPr>
                        <a:t>Топологическая сортировка </a:t>
                      </a:r>
                      <a:r>
                        <a:rPr lang="en-US" sz="2300" b="0">
                          <a:solidFill>
                            <a:srgbClr val="352379"/>
                          </a:solidFill>
                          <a:latin typeface="Montserrat"/>
                        </a:rPr>
                        <a:t>DAG</a:t>
                      </a:r>
                      <a:endParaRPr lang="ru-RU" sz="23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1581221413"/>
                  </a:ext>
                </a:extLst>
              </a:tr>
              <a:tr h="665843">
                <a:tc>
                  <a:txBody>
                    <a:bodyPr/>
                    <a:lstStyle/>
                    <a:p>
                      <a:pPr algn="l">
                        <a:spcBef>
                          <a:spcPts val="0"/>
                        </a:spcBef>
                        <a:spcAft>
                          <a:spcPts val="0"/>
                        </a:spcAft>
                        <a:buFontTx/>
                        <a:buNone/>
                      </a:pPr>
                      <a:r>
                        <a:rPr lang="ru-RU" sz="2300" b="0">
                          <a:solidFill>
                            <a:srgbClr val="352379"/>
                          </a:solidFill>
                          <a:latin typeface="Montserrat"/>
                        </a:rPr>
                        <a:t>Направленный цикл</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en-US" sz="2300" b="0">
                          <a:solidFill>
                            <a:srgbClr val="352379"/>
                          </a:solidFill>
                          <a:latin typeface="Montserrat"/>
                        </a:rPr>
                        <a:t>DFS </a:t>
                      </a:r>
                      <a:r>
                        <a:rPr lang="ru-RU" sz="2300" b="0">
                          <a:solidFill>
                            <a:srgbClr val="352379"/>
                          </a:solidFill>
                          <a:latin typeface="Montserrat"/>
                        </a:rPr>
                        <a:t>с тремя состояниями</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3659653833"/>
                  </a:ext>
                </a:extLst>
              </a:tr>
            </a:tbl>
          </a:graphicData>
        </a:graphic>
      </p:graphicFrame>
      <p:sp>
        <p:nvSpPr>
          <p:cNvPr id="4" name="lecture-footer">
            <a:extLst>
              <a:ext uri="{FF2B5EF4-FFF2-40B4-BE49-F238E27FC236}">
                <a16:creationId xmlns:a16="http://schemas.microsoft.com/office/drawing/2014/main" id="{815AF7D5-2B07-4E88-9F82-C17283CBB93C}"/>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5" name="slide-number">
            <a:extLst>
              <a:ext uri="{FF2B5EF4-FFF2-40B4-BE49-F238E27FC236}">
                <a16:creationId xmlns:a16="http://schemas.microsoft.com/office/drawing/2014/main" id="{8B77F538-F1AC-4BF1-901B-F5F98FC457D4}"/>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65</a:t>
            </a:r>
          </a:p>
        </p:txBody>
      </p:sp>
    </p:spTree>
    <p:extLst>
      <p:ext uri="{BB962C8B-B14F-4D97-AF65-F5344CB8AC3E}">
        <p14:creationId xmlns:p14="http://schemas.microsoft.com/office/powerpoint/2010/main" val="13043071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Сложности: линейный анализ структуры</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graphicFrame>
        <p:nvGraphicFramePr>
          <p:cNvPr id="3" name="table-0-2056">
            <a:extLst>
              <a:ext uri="{FF2B5EF4-FFF2-40B4-BE49-F238E27FC236}">
                <a16:creationId xmlns:a16="http://schemas.microsoft.com/office/drawing/2014/main" id="{A70FCF91-DDB3-4962-9A85-98F5CE5E57A7}"/>
              </a:ext>
            </a:extLst>
          </p:cNvPr>
          <p:cNvGraphicFramePr>
            <a:graphicFrameLocks noGrp="1"/>
          </p:cNvGraphicFramePr>
          <p:nvPr>
            <p:extLst>
              <p:ext uri="{D42A27DB-BD31-4B8C-83A1-F6EECF244321}">
                <p14:modId xmlns:p14="http://schemas.microsoft.com/office/powerpoint/2010/main" val="4038883542"/>
              </p:ext>
            </p:extLst>
          </p:nvPr>
        </p:nvGraphicFramePr>
        <p:xfrm>
          <a:off x="635000" y="1612900"/>
          <a:ext cx="10922000" cy="3810000"/>
        </p:xfrm>
        <a:graphic>
          <a:graphicData uri="http://schemas.openxmlformats.org/drawingml/2006/table">
            <a:tbl>
              <a:tblPr firstRow="1" bandRow="1">
                <a:tableStyleId>{0E3FDE45-AF77-4B5C-9715-49D594BDF05E}</a:tableStyleId>
              </a:tblPr>
              <a:tblGrid>
                <a:gridCol w="7874000">
                  <a:extLst>
                    <a:ext uri="{9D8B030D-6E8A-4147-A177-3AD203B41FA5}">
                      <a16:colId xmlns:a16="http://schemas.microsoft.com/office/drawing/2014/main" val="4113381881"/>
                    </a:ext>
                  </a:extLst>
                </a:gridCol>
                <a:gridCol w="3048000">
                  <a:extLst>
                    <a:ext uri="{9D8B030D-6E8A-4147-A177-3AD203B41FA5}">
                      <a16:colId xmlns:a16="http://schemas.microsoft.com/office/drawing/2014/main" val="1685312229"/>
                    </a:ext>
                  </a:extLst>
                </a:gridCol>
              </a:tblGrid>
              <a:tr h="635000">
                <a:tc>
                  <a:txBody>
                    <a:bodyPr/>
                    <a:lstStyle/>
                    <a:p>
                      <a:pPr algn="l">
                        <a:spcBef>
                          <a:spcPts val="0"/>
                        </a:spcBef>
                        <a:spcAft>
                          <a:spcPts val="0"/>
                        </a:spcAft>
                        <a:buFontTx/>
                        <a:buNone/>
                      </a:pPr>
                      <a:r>
                        <a:rPr lang="ru-RU" sz="2400" b="1">
                          <a:solidFill>
                            <a:srgbClr val="FFFFFF"/>
                          </a:solidFill>
                          <a:latin typeface="Montserrat"/>
                        </a:rPr>
                        <a:t>Алгоритм</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2400" b="1">
                          <a:solidFill>
                            <a:srgbClr val="FFFFFF"/>
                          </a:solidFill>
                          <a:latin typeface="Montserrat"/>
                        </a:rPr>
                        <a:t>Время</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352379"/>
                    </a:solidFill>
                  </a:tcPr>
                </a:tc>
                <a:extLst>
                  <a:ext uri="{0D108BD9-81ED-4DB2-BD59-A6C34878D82A}">
                    <a16:rowId xmlns:a16="http://schemas.microsoft.com/office/drawing/2014/main" val="4080015129"/>
                  </a:ext>
                </a:extLst>
              </a:tr>
              <a:tr h="635000">
                <a:tc>
                  <a:txBody>
                    <a:bodyPr/>
                    <a:lstStyle/>
                    <a:p>
                      <a:pPr algn="l">
                        <a:spcBef>
                          <a:spcPts val="0"/>
                        </a:spcBef>
                        <a:spcAft>
                          <a:spcPts val="0"/>
                        </a:spcAft>
                        <a:buFontTx/>
                        <a:buNone/>
                      </a:pPr>
                      <a:r>
                        <a:rPr lang="en-US" sz="2400" b="0">
                          <a:solidFill>
                            <a:srgbClr val="352379"/>
                          </a:solidFill>
                          <a:latin typeface="Montserrat"/>
                        </a:rPr>
                        <a:t>BFS / DFS</a:t>
                      </a:r>
                      <a:endParaRPr lang="ru-RU" sz="2400" b="0">
                        <a:solidFill>
                          <a:srgbClr val="352379"/>
                        </a:solidFill>
                        <a:latin typeface="Montserrat"/>
                      </a:endParaRP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en-US" sz="2400" b="0">
                          <a:solidFill>
                            <a:srgbClr val="352379"/>
                          </a:solidFill>
                          <a:latin typeface="Montserrat"/>
                        </a:rPr>
                        <a:t>O(V + E)</a:t>
                      </a:r>
                      <a:endParaRPr lang="ru-RU" sz="24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3538397570"/>
                  </a:ext>
                </a:extLst>
              </a:tr>
              <a:tr h="635000">
                <a:tc>
                  <a:txBody>
                    <a:bodyPr/>
                    <a:lstStyle/>
                    <a:p>
                      <a:pPr algn="l">
                        <a:spcBef>
                          <a:spcPts val="0"/>
                        </a:spcBef>
                        <a:spcAft>
                          <a:spcPts val="0"/>
                        </a:spcAft>
                        <a:buFontTx/>
                        <a:buNone/>
                      </a:pPr>
                      <a:r>
                        <a:rPr lang="ru-RU" sz="2400" b="0">
                          <a:solidFill>
                            <a:srgbClr val="352379"/>
                          </a:solidFill>
                          <a:latin typeface="Montserrat"/>
                        </a:rPr>
                        <a:t>Компоненты связности</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en-US" sz="2400" b="0">
                          <a:solidFill>
                            <a:srgbClr val="352379"/>
                          </a:solidFill>
                          <a:latin typeface="Montserrat"/>
                        </a:rPr>
                        <a:t>O(V + E)</a:t>
                      </a:r>
                      <a:endParaRPr lang="ru-RU" sz="24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1101403330"/>
                  </a:ext>
                </a:extLst>
              </a:tr>
              <a:tr h="635000">
                <a:tc>
                  <a:txBody>
                    <a:bodyPr/>
                    <a:lstStyle/>
                    <a:p>
                      <a:pPr algn="l">
                        <a:spcBef>
                          <a:spcPts val="0"/>
                        </a:spcBef>
                        <a:spcAft>
                          <a:spcPts val="0"/>
                        </a:spcAft>
                        <a:buFontTx/>
                        <a:buNone/>
                      </a:pPr>
                      <a:r>
                        <a:rPr lang="ru-RU" sz="2400" b="0">
                          <a:solidFill>
                            <a:srgbClr val="352379"/>
                          </a:solidFill>
                          <a:latin typeface="Montserrat"/>
                        </a:rPr>
                        <a:t>Косарайю / Тарьян</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en-US" sz="2400" b="0">
                          <a:solidFill>
                            <a:srgbClr val="352379"/>
                          </a:solidFill>
                          <a:latin typeface="Montserrat"/>
                        </a:rPr>
                        <a:t>O(V + E)</a:t>
                      </a:r>
                      <a:endParaRPr lang="ru-RU" sz="24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1411438728"/>
                  </a:ext>
                </a:extLst>
              </a:tr>
              <a:tr h="635000">
                <a:tc>
                  <a:txBody>
                    <a:bodyPr/>
                    <a:lstStyle/>
                    <a:p>
                      <a:pPr algn="l">
                        <a:spcBef>
                          <a:spcPts val="0"/>
                        </a:spcBef>
                        <a:spcAft>
                          <a:spcPts val="0"/>
                        </a:spcAft>
                        <a:buFontTx/>
                        <a:buNone/>
                      </a:pPr>
                      <a:r>
                        <a:rPr lang="ru-RU" sz="2400" b="0">
                          <a:solidFill>
                            <a:srgbClr val="352379"/>
                          </a:solidFill>
                          <a:latin typeface="Montserrat"/>
                        </a:rPr>
                        <a:t>Мосты / точки сочленения</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en-US" sz="2400" b="0">
                          <a:solidFill>
                            <a:srgbClr val="352379"/>
                          </a:solidFill>
                          <a:latin typeface="Montserrat"/>
                        </a:rPr>
                        <a:t>O(V + E)</a:t>
                      </a:r>
                      <a:endParaRPr lang="ru-RU" sz="24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2201965401"/>
                  </a:ext>
                </a:extLst>
              </a:tr>
              <a:tr h="635000">
                <a:tc>
                  <a:txBody>
                    <a:bodyPr/>
                    <a:lstStyle/>
                    <a:p>
                      <a:pPr algn="l">
                        <a:spcBef>
                          <a:spcPts val="0"/>
                        </a:spcBef>
                        <a:spcAft>
                          <a:spcPts val="0"/>
                        </a:spcAft>
                        <a:buFontTx/>
                        <a:buNone/>
                      </a:pPr>
                      <a:r>
                        <a:rPr lang="ru-RU" sz="2400" b="0">
                          <a:solidFill>
                            <a:srgbClr val="352379"/>
                          </a:solidFill>
                          <a:latin typeface="Montserrat"/>
                        </a:rPr>
                        <a:t>Топологическая сортировка</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en-US" sz="2400" b="0">
                          <a:solidFill>
                            <a:srgbClr val="352379"/>
                          </a:solidFill>
                          <a:latin typeface="Montserrat"/>
                        </a:rPr>
                        <a:t>O(V + E)</a:t>
                      </a:r>
                      <a:endParaRPr lang="ru-RU" sz="24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1933711514"/>
                  </a:ext>
                </a:extLst>
              </a:tr>
            </a:tbl>
          </a:graphicData>
        </a:graphic>
      </p:graphicFrame>
      <p:sp>
        <p:nvSpPr>
          <p:cNvPr id="4" name="box-1-2057">
            <a:extLst>
              <a:ext uri="{FF2B5EF4-FFF2-40B4-BE49-F238E27FC236}">
                <a16:creationId xmlns:a16="http://schemas.microsoft.com/office/drawing/2014/main" id="{09C21BCF-8C7D-4567-832D-EC42566E60DB}"/>
              </a:ext>
            </a:extLst>
          </p:cNvPr>
          <p:cNvSpPr/>
          <p:nvPr/>
        </p:nvSpPr>
        <p:spPr>
          <a:xfrm>
            <a:off x="482600" y="5905500"/>
            <a:ext cx="11226800" cy="584200"/>
          </a:xfrm>
          <a:prstGeom prst="roundRect">
            <a:avLst>
              <a:gd name="adj" fmla="val 12000"/>
            </a:avLst>
          </a:prstGeom>
          <a:solidFill>
            <a:srgbClr val="352379"/>
          </a:solidFill>
          <a:ln w="9525">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2-2058">
            <a:extLst>
              <a:ext uri="{FF2B5EF4-FFF2-40B4-BE49-F238E27FC236}">
                <a16:creationId xmlns:a16="http://schemas.microsoft.com/office/drawing/2014/main" id="{CB02198B-3869-42B3-9CED-40B6CC262CA2}"/>
              </a:ext>
            </a:extLst>
          </p:cNvPr>
          <p:cNvSpPr txBox="1"/>
          <p:nvPr/>
        </p:nvSpPr>
        <p:spPr bwMode="auto">
          <a:xfrm>
            <a:off x="660400" y="5953611"/>
            <a:ext cx="10871200" cy="359073"/>
          </a:xfrm>
          <a:prstGeom prst="rect">
            <a:avLst/>
          </a:prstGeom>
        </p:spPr>
        <p:txBody>
          <a:bodyPr vert="horz" wrap="square" lIns="38100" tIns="25400" rIns="38100" bIns="25400" rtlCol="0" anchor="ctr">
            <a:spAutoFit/>
          </a:bodyPr>
          <a:lstStyle/>
          <a:p>
            <a:r>
              <a:rPr lang="ru-RU" sz="2000">
                <a:solidFill>
                  <a:srgbClr val="FFFFFF"/>
                </a:solidFill>
                <a:latin typeface="Montserrat"/>
              </a:rPr>
              <a:t>При списке смежности структуру часто анализируем за O(V + E).</a:t>
            </a:r>
          </a:p>
        </p:txBody>
      </p:sp>
      <p:sp>
        <p:nvSpPr>
          <p:cNvPr id="6" name="lecture-footer">
            <a:extLst>
              <a:ext uri="{FF2B5EF4-FFF2-40B4-BE49-F238E27FC236}">
                <a16:creationId xmlns:a16="http://schemas.microsoft.com/office/drawing/2014/main" id="{4C689B7A-2DDD-4BB0-924C-F3281CEE268E}"/>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8" name="slide-number">
            <a:extLst>
              <a:ext uri="{FF2B5EF4-FFF2-40B4-BE49-F238E27FC236}">
                <a16:creationId xmlns:a16="http://schemas.microsoft.com/office/drawing/2014/main" id="{C1366087-3DC8-4490-BA97-9BC27CCE614E}"/>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66</a:t>
            </a:r>
          </a:p>
        </p:txBody>
      </p:sp>
    </p:spTree>
    <p:extLst>
      <p:ext uri="{BB962C8B-B14F-4D97-AF65-F5344CB8AC3E}">
        <p14:creationId xmlns:p14="http://schemas.microsoft.com/office/powerpoint/2010/main" val="34669029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Практические применения</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sp>
        <p:nvSpPr>
          <p:cNvPr id="3" name="text-0-2059">
            <a:extLst>
              <a:ext uri="{FF2B5EF4-FFF2-40B4-BE49-F238E27FC236}">
                <a16:creationId xmlns:a16="http://schemas.microsoft.com/office/drawing/2014/main" id="{9CE6F759-2E2D-4ABD-A03E-307F41374FBC}"/>
              </a:ext>
            </a:extLst>
          </p:cNvPr>
          <p:cNvSpPr txBox="1"/>
          <p:nvPr/>
        </p:nvSpPr>
        <p:spPr bwMode="auto">
          <a:xfrm>
            <a:off x="698500" y="1579434"/>
            <a:ext cx="5334000" cy="420628"/>
          </a:xfrm>
          <a:prstGeom prst="rect">
            <a:avLst/>
          </a:prstGeom>
        </p:spPr>
        <p:txBody>
          <a:bodyPr vert="horz" wrap="square" lIns="38100" tIns="25400" rIns="38100" bIns="25400" rtlCol="0" anchor="ctr">
            <a:spAutoFit/>
          </a:bodyPr>
          <a:lstStyle/>
          <a:p>
            <a:r>
              <a:rPr lang="en-US" sz="2400" b="1">
                <a:solidFill>
                  <a:srgbClr val="352379"/>
                </a:solidFill>
                <a:latin typeface="Montserrat"/>
              </a:rPr>
              <a:t>SCC</a:t>
            </a:r>
            <a:endParaRPr lang="ru-RU" sz="2400" b="1">
              <a:solidFill>
                <a:srgbClr val="352379"/>
              </a:solidFill>
              <a:latin typeface="Montserrat"/>
            </a:endParaRPr>
          </a:p>
        </p:txBody>
      </p:sp>
      <p:cxnSp>
        <p:nvCxnSpPr>
          <p:cNvPr id="4" name="!!application0-edge-a-b">
            <a:extLst>
              <a:ext uri="{FF2B5EF4-FFF2-40B4-BE49-F238E27FC236}">
                <a16:creationId xmlns:a16="http://schemas.microsoft.com/office/drawing/2014/main" id="{CAF01A1A-673D-4875-9AD4-E1EE1BB672BB}"/>
              </a:ext>
            </a:extLst>
          </p:cNvPr>
          <p:cNvCxnSpPr/>
          <p:nvPr/>
        </p:nvCxnSpPr>
        <p:spPr>
          <a:xfrm flipV="1">
            <a:off x="1593652" y="2576103"/>
            <a:ext cx="1079896" cy="232594"/>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5" name="!!application0-edge-b-c">
            <a:extLst>
              <a:ext uri="{FF2B5EF4-FFF2-40B4-BE49-F238E27FC236}">
                <a16:creationId xmlns:a16="http://schemas.microsoft.com/office/drawing/2014/main" id="{D8BE096A-2351-46AB-9A7F-34D5FED94FD3}"/>
              </a:ext>
            </a:extLst>
          </p:cNvPr>
          <p:cNvCxnSpPr/>
          <p:nvPr/>
        </p:nvCxnSpPr>
        <p:spPr>
          <a:xfrm>
            <a:off x="3246041" y="2569255"/>
            <a:ext cx="1293018" cy="24629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6" name="!!application0-edge-c-a">
            <a:extLst>
              <a:ext uri="{FF2B5EF4-FFF2-40B4-BE49-F238E27FC236}">
                <a16:creationId xmlns:a16="http://schemas.microsoft.com/office/drawing/2014/main" id="{1E3CA3B3-77D3-4048-A95B-96F5A359F83E}"/>
              </a:ext>
            </a:extLst>
          </p:cNvPr>
          <p:cNvCxnSpPr/>
          <p:nvPr/>
        </p:nvCxnSpPr>
        <p:spPr>
          <a:xfrm flipH="1">
            <a:off x="1600200" y="2870200"/>
            <a:ext cx="2933700" cy="0"/>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8" name="!!application0-node-a">
            <a:extLst>
              <a:ext uri="{FF2B5EF4-FFF2-40B4-BE49-F238E27FC236}">
                <a16:creationId xmlns:a16="http://schemas.microsoft.com/office/drawing/2014/main" id="{EE56AF25-0959-4E39-A744-E1485952927D}"/>
              </a:ext>
            </a:extLst>
          </p:cNvPr>
          <p:cNvSpPr/>
          <p:nvPr/>
        </p:nvSpPr>
        <p:spPr>
          <a:xfrm>
            <a:off x="1016000" y="25781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9" name="!!application0-node-b">
            <a:extLst>
              <a:ext uri="{FF2B5EF4-FFF2-40B4-BE49-F238E27FC236}">
                <a16:creationId xmlns:a16="http://schemas.microsoft.com/office/drawing/2014/main" id="{0833DAEE-E480-40C2-A22E-28E36AFCFF9B}"/>
              </a:ext>
            </a:extLst>
          </p:cNvPr>
          <p:cNvSpPr/>
          <p:nvPr/>
        </p:nvSpPr>
        <p:spPr>
          <a:xfrm>
            <a:off x="2667000" y="22225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0" name="!!application0-node-c">
            <a:extLst>
              <a:ext uri="{FF2B5EF4-FFF2-40B4-BE49-F238E27FC236}">
                <a16:creationId xmlns:a16="http://schemas.microsoft.com/office/drawing/2014/main" id="{EED1A2EB-4241-4A98-B06E-8E124BE400D0}"/>
              </a:ext>
            </a:extLst>
          </p:cNvPr>
          <p:cNvSpPr/>
          <p:nvPr/>
        </p:nvSpPr>
        <p:spPr>
          <a:xfrm>
            <a:off x="4533900" y="25781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1" name="text-7-2066">
            <a:extLst>
              <a:ext uri="{FF2B5EF4-FFF2-40B4-BE49-F238E27FC236}">
                <a16:creationId xmlns:a16="http://schemas.microsoft.com/office/drawing/2014/main" id="{D906A156-0FE3-461C-9E78-A8F91CA6380B}"/>
              </a:ext>
            </a:extLst>
          </p:cNvPr>
          <p:cNvSpPr txBox="1"/>
          <p:nvPr/>
        </p:nvSpPr>
        <p:spPr bwMode="auto">
          <a:xfrm>
            <a:off x="698500" y="3263528"/>
            <a:ext cx="5334000" cy="405239"/>
          </a:xfrm>
          <a:prstGeom prst="rect">
            <a:avLst/>
          </a:prstGeom>
        </p:spPr>
        <p:txBody>
          <a:bodyPr vert="horz" wrap="square" lIns="38100" tIns="25400" rIns="38100" bIns="25400" rtlCol="0" anchor="ctr">
            <a:spAutoFit/>
          </a:bodyPr>
          <a:lstStyle/>
          <a:p>
            <a:r>
              <a:rPr lang="ru-RU" sz="2300">
                <a:solidFill>
                  <a:srgbClr val="352379"/>
                </a:solidFill>
                <a:latin typeface="Montserrat"/>
              </a:rPr>
              <a:t>Взаимная достижимость</a:t>
            </a:r>
          </a:p>
        </p:txBody>
      </p:sp>
      <p:sp>
        <p:nvSpPr>
          <p:cNvPr id="12" name="text-8-2067">
            <a:extLst>
              <a:ext uri="{FF2B5EF4-FFF2-40B4-BE49-F238E27FC236}">
                <a16:creationId xmlns:a16="http://schemas.microsoft.com/office/drawing/2014/main" id="{1D221E61-7195-4DAB-9CF3-2E784B21A9E6}"/>
              </a:ext>
            </a:extLst>
          </p:cNvPr>
          <p:cNvSpPr txBox="1"/>
          <p:nvPr/>
        </p:nvSpPr>
        <p:spPr bwMode="auto">
          <a:xfrm>
            <a:off x="6477000" y="1579434"/>
            <a:ext cx="5334000" cy="420628"/>
          </a:xfrm>
          <a:prstGeom prst="rect">
            <a:avLst/>
          </a:prstGeom>
        </p:spPr>
        <p:txBody>
          <a:bodyPr vert="horz" wrap="square" lIns="38100" tIns="25400" rIns="38100" bIns="25400" rtlCol="0" anchor="ctr">
            <a:spAutoFit/>
          </a:bodyPr>
          <a:lstStyle/>
          <a:p>
            <a:r>
              <a:rPr lang="ru-RU" sz="2400" b="1">
                <a:solidFill>
                  <a:srgbClr val="352379"/>
                </a:solidFill>
                <a:latin typeface="Montserrat"/>
              </a:rPr>
              <a:t>Мосты</a:t>
            </a:r>
          </a:p>
        </p:txBody>
      </p:sp>
      <p:cxnSp>
        <p:nvCxnSpPr>
          <p:cNvPr id="13" name="!!application1-edge-a-b">
            <a:extLst>
              <a:ext uri="{FF2B5EF4-FFF2-40B4-BE49-F238E27FC236}">
                <a16:creationId xmlns:a16="http://schemas.microsoft.com/office/drawing/2014/main" id="{B3E521D2-55E7-484B-9A9D-74CC48D1B5A3}"/>
              </a:ext>
            </a:extLst>
          </p:cNvPr>
          <p:cNvCxnSpPr/>
          <p:nvPr/>
        </p:nvCxnSpPr>
        <p:spPr>
          <a:xfrm flipV="1">
            <a:off x="7372152" y="2576103"/>
            <a:ext cx="1079896" cy="232594"/>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4" name="!!application1-edge-b-c">
            <a:extLst>
              <a:ext uri="{FF2B5EF4-FFF2-40B4-BE49-F238E27FC236}">
                <a16:creationId xmlns:a16="http://schemas.microsoft.com/office/drawing/2014/main" id="{535DAB27-FF71-4F46-9433-6CD8CF26C8FD}"/>
              </a:ext>
            </a:extLst>
          </p:cNvPr>
          <p:cNvCxnSpPr/>
          <p:nvPr/>
        </p:nvCxnSpPr>
        <p:spPr>
          <a:xfrm>
            <a:off x="9024541" y="2569255"/>
            <a:ext cx="1293018" cy="246290"/>
          </a:xfrm>
          <a:prstGeom prst="straightConnector1">
            <a:avLst/>
          </a:prstGeom>
          <a:ln w="34290">
            <a:solidFill>
              <a:srgbClr val="762181"/>
            </a:solidFill>
          </a:ln>
        </p:spPr>
        <p:style>
          <a:lnRef idx="1">
            <a:schemeClr val="accent1"/>
          </a:lnRef>
          <a:fillRef idx="0">
            <a:schemeClr val="accent1"/>
          </a:fillRef>
          <a:effectRef idx="0">
            <a:schemeClr val="accent1"/>
          </a:effectRef>
          <a:fontRef idx="minor">
            <a:schemeClr val="tx1"/>
          </a:fontRef>
        </p:style>
      </p:cxnSp>
      <p:sp>
        <p:nvSpPr>
          <p:cNvPr id="15" name="!!application1-node-a">
            <a:extLst>
              <a:ext uri="{FF2B5EF4-FFF2-40B4-BE49-F238E27FC236}">
                <a16:creationId xmlns:a16="http://schemas.microsoft.com/office/drawing/2014/main" id="{00D6B5A1-F307-478A-86EC-C65EB8932493}"/>
              </a:ext>
            </a:extLst>
          </p:cNvPr>
          <p:cNvSpPr/>
          <p:nvPr/>
        </p:nvSpPr>
        <p:spPr>
          <a:xfrm>
            <a:off x="6794500" y="25781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6" name="!!application1-node-b">
            <a:extLst>
              <a:ext uri="{FF2B5EF4-FFF2-40B4-BE49-F238E27FC236}">
                <a16:creationId xmlns:a16="http://schemas.microsoft.com/office/drawing/2014/main" id="{C0683DC6-18FF-4623-B7EA-A9F7CD24AD5A}"/>
              </a:ext>
            </a:extLst>
          </p:cNvPr>
          <p:cNvSpPr/>
          <p:nvPr/>
        </p:nvSpPr>
        <p:spPr>
          <a:xfrm>
            <a:off x="8445500" y="22225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7" name="!!application1-node-c">
            <a:extLst>
              <a:ext uri="{FF2B5EF4-FFF2-40B4-BE49-F238E27FC236}">
                <a16:creationId xmlns:a16="http://schemas.microsoft.com/office/drawing/2014/main" id="{3C2FC079-1B41-44ED-BBE4-1D4C648D8960}"/>
              </a:ext>
            </a:extLst>
          </p:cNvPr>
          <p:cNvSpPr/>
          <p:nvPr/>
        </p:nvSpPr>
        <p:spPr>
          <a:xfrm>
            <a:off x="10312400" y="25781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8" name="text-14-2073">
            <a:extLst>
              <a:ext uri="{FF2B5EF4-FFF2-40B4-BE49-F238E27FC236}">
                <a16:creationId xmlns:a16="http://schemas.microsoft.com/office/drawing/2014/main" id="{4973CACA-99A5-4142-9546-38A426EB4508}"/>
              </a:ext>
            </a:extLst>
          </p:cNvPr>
          <p:cNvSpPr txBox="1"/>
          <p:nvPr/>
        </p:nvSpPr>
        <p:spPr bwMode="auto">
          <a:xfrm>
            <a:off x="6477000" y="3263528"/>
            <a:ext cx="5334000" cy="405239"/>
          </a:xfrm>
          <a:prstGeom prst="rect">
            <a:avLst/>
          </a:prstGeom>
        </p:spPr>
        <p:txBody>
          <a:bodyPr vert="horz" wrap="square" lIns="38100" tIns="25400" rIns="38100" bIns="25400" rtlCol="0" anchor="ctr">
            <a:spAutoFit/>
          </a:bodyPr>
          <a:lstStyle/>
          <a:p>
            <a:r>
              <a:rPr lang="ru-RU" sz="2300">
                <a:solidFill>
                  <a:srgbClr val="352379"/>
                </a:solidFill>
                <a:latin typeface="Montserrat"/>
              </a:rPr>
              <a:t>Критические соединения</a:t>
            </a:r>
          </a:p>
        </p:txBody>
      </p:sp>
      <p:sp>
        <p:nvSpPr>
          <p:cNvPr id="19" name="text-15-2074">
            <a:extLst>
              <a:ext uri="{FF2B5EF4-FFF2-40B4-BE49-F238E27FC236}">
                <a16:creationId xmlns:a16="http://schemas.microsoft.com/office/drawing/2014/main" id="{00CFA6D1-61DC-4467-9A47-40596EE8DE8A}"/>
              </a:ext>
            </a:extLst>
          </p:cNvPr>
          <p:cNvSpPr txBox="1"/>
          <p:nvPr/>
        </p:nvSpPr>
        <p:spPr bwMode="auto">
          <a:xfrm>
            <a:off x="698500" y="3941634"/>
            <a:ext cx="5334000" cy="420628"/>
          </a:xfrm>
          <a:prstGeom prst="rect">
            <a:avLst/>
          </a:prstGeom>
        </p:spPr>
        <p:txBody>
          <a:bodyPr vert="horz" wrap="square" lIns="38100" tIns="25400" rIns="38100" bIns="25400" rtlCol="0" anchor="ctr">
            <a:spAutoFit/>
          </a:bodyPr>
          <a:lstStyle/>
          <a:p>
            <a:r>
              <a:rPr lang="ru-RU" sz="2400" b="1">
                <a:solidFill>
                  <a:srgbClr val="352379"/>
                </a:solidFill>
                <a:latin typeface="Montserrat"/>
              </a:rPr>
              <a:t>Точки сочленения</a:t>
            </a:r>
          </a:p>
        </p:txBody>
      </p:sp>
      <p:cxnSp>
        <p:nvCxnSpPr>
          <p:cNvPr id="20" name="!!application2-edge-a-b">
            <a:extLst>
              <a:ext uri="{FF2B5EF4-FFF2-40B4-BE49-F238E27FC236}">
                <a16:creationId xmlns:a16="http://schemas.microsoft.com/office/drawing/2014/main" id="{C3903F29-4180-4D55-A3A2-0AE2CC2AC4D0}"/>
              </a:ext>
            </a:extLst>
          </p:cNvPr>
          <p:cNvCxnSpPr/>
          <p:nvPr/>
        </p:nvCxnSpPr>
        <p:spPr>
          <a:xfrm flipV="1">
            <a:off x="1593652" y="4938304"/>
            <a:ext cx="1079896" cy="232592"/>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1" name="!!application2-edge-b-c">
            <a:extLst>
              <a:ext uri="{FF2B5EF4-FFF2-40B4-BE49-F238E27FC236}">
                <a16:creationId xmlns:a16="http://schemas.microsoft.com/office/drawing/2014/main" id="{F9016D9D-283C-4A2C-BA65-276139BEBC5A}"/>
              </a:ext>
            </a:extLst>
          </p:cNvPr>
          <p:cNvCxnSpPr/>
          <p:nvPr/>
        </p:nvCxnSpPr>
        <p:spPr>
          <a:xfrm>
            <a:off x="3246041" y="4931456"/>
            <a:ext cx="1293018" cy="246288"/>
          </a:xfrm>
          <a:prstGeom prst="straightConnector1">
            <a:avLst/>
          </a:prstGeom>
          <a:ln w="19050">
            <a:solidFill>
              <a:srgbClr val="352379"/>
            </a:solidFill>
          </a:ln>
        </p:spPr>
        <p:style>
          <a:lnRef idx="1">
            <a:schemeClr val="accent1"/>
          </a:lnRef>
          <a:fillRef idx="0">
            <a:schemeClr val="accent1"/>
          </a:fillRef>
          <a:effectRef idx="0">
            <a:schemeClr val="accent1"/>
          </a:effectRef>
          <a:fontRef idx="minor">
            <a:schemeClr val="tx1"/>
          </a:fontRef>
        </p:style>
      </p:cxnSp>
      <p:sp>
        <p:nvSpPr>
          <p:cNvPr id="22" name="!!application2-node-a">
            <a:extLst>
              <a:ext uri="{FF2B5EF4-FFF2-40B4-BE49-F238E27FC236}">
                <a16:creationId xmlns:a16="http://schemas.microsoft.com/office/drawing/2014/main" id="{A297B977-723B-4052-838B-89BF2B8E80E3}"/>
              </a:ext>
            </a:extLst>
          </p:cNvPr>
          <p:cNvSpPr/>
          <p:nvPr/>
        </p:nvSpPr>
        <p:spPr>
          <a:xfrm>
            <a:off x="1016000" y="49403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3" name="!!application2-node-b">
            <a:extLst>
              <a:ext uri="{FF2B5EF4-FFF2-40B4-BE49-F238E27FC236}">
                <a16:creationId xmlns:a16="http://schemas.microsoft.com/office/drawing/2014/main" id="{9E8E44D0-7066-460D-8BE0-46B312C87DE4}"/>
              </a:ext>
            </a:extLst>
          </p:cNvPr>
          <p:cNvSpPr/>
          <p:nvPr/>
        </p:nvSpPr>
        <p:spPr>
          <a:xfrm>
            <a:off x="2667000" y="4584700"/>
            <a:ext cx="584200" cy="584200"/>
          </a:xfrm>
          <a:prstGeom prst="ellipse">
            <a:avLst/>
          </a:prstGeom>
          <a:solidFill>
            <a:srgbClr val="762181"/>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24" name="!!application2-node-c">
            <a:extLst>
              <a:ext uri="{FF2B5EF4-FFF2-40B4-BE49-F238E27FC236}">
                <a16:creationId xmlns:a16="http://schemas.microsoft.com/office/drawing/2014/main" id="{8A64FE2E-2264-4A2C-A02F-16199C22ED01}"/>
              </a:ext>
            </a:extLst>
          </p:cNvPr>
          <p:cNvSpPr/>
          <p:nvPr/>
        </p:nvSpPr>
        <p:spPr>
          <a:xfrm>
            <a:off x="4533900" y="49403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5" name="text-21-2080">
            <a:extLst>
              <a:ext uri="{FF2B5EF4-FFF2-40B4-BE49-F238E27FC236}">
                <a16:creationId xmlns:a16="http://schemas.microsoft.com/office/drawing/2014/main" id="{CCEA9332-F44D-4D9C-ACE1-189093E2E898}"/>
              </a:ext>
            </a:extLst>
          </p:cNvPr>
          <p:cNvSpPr txBox="1"/>
          <p:nvPr/>
        </p:nvSpPr>
        <p:spPr bwMode="auto">
          <a:xfrm>
            <a:off x="698500" y="5625728"/>
            <a:ext cx="5334000" cy="405239"/>
          </a:xfrm>
          <a:prstGeom prst="rect">
            <a:avLst/>
          </a:prstGeom>
        </p:spPr>
        <p:txBody>
          <a:bodyPr vert="horz" wrap="square" lIns="38100" tIns="25400" rIns="38100" bIns="25400" rtlCol="0" anchor="ctr">
            <a:spAutoFit/>
          </a:bodyPr>
          <a:lstStyle/>
          <a:p>
            <a:r>
              <a:rPr lang="ru-RU" sz="2300">
                <a:solidFill>
                  <a:srgbClr val="352379"/>
                </a:solidFill>
                <a:latin typeface="Montserrat"/>
              </a:rPr>
              <a:t>Критические узлы</a:t>
            </a:r>
          </a:p>
        </p:txBody>
      </p:sp>
      <p:sp>
        <p:nvSpPr>
          <p:cNvPr id="26" name="text-22-2081">
            <a:extLst>
              <a:ext uri="{FF2B5EF4-FFF2-40B4-BE49-F238E27FC236}">
                <a16:creationId xmlns:a16="http://schemas.microsoft.com/office/drawing/2014/main" id="{33DAA3D3-94B7-4AA6-AAD5-D7F08EEDCBEC}"/>
              </a:ext>
            </a:extLst>
          </p:cNvPr>
          <p:cNvSpPr txBox="1"/>
          <p:nvPr/>
        </p:nvSpPr>
        <p:spPr bwMode="auto">
          <a:xfrm>
            <a:off x="6477000" y="3941634"/>
            <a:ext cx="5334000" cy="420628"/>
          </a:xfrm>
          <a:prstGeom prst="rect">
            <a:avLst/>
          </a:prstGeom>
        </p:spPr>
        <p:txBody>
          <a:bodyPr vert="horz" wrap="square" lIns="38100" tIns="25400" rIns="38100" bIns="25400" rtlCol="0" anchor="ctr">
            <a:spAutoFit/>
          </a:bodyPr>
          <a:lstStyle/>
          <a:p>
            <a:r>
              <a:rPr lang="ru-RU" sz="2400" b="1">
                <a:solidFill>
                  <a:srgbClr val="352379"/>
                </a:solidFill>
                <a:latin typeface="Montserrat"/>
              </a:rPr>
              <a:t>Топологический порядок</a:t>
            </a:r>
          </a:p>
        </p:txBody>
      </p:sp>
      <p:cxnSp>
        <p:nvCxnSpPr>
          <p:cNvPr id="27" name="!!application3-edge-a-b">
            <a:extLst>
              <a:ext uri="{FF2B5EF4-FFF2-40B4-BE49-F238E27FC236}">
                <a16:creationId xmlns:a16="http://schemas.microsoft.com/office/drawing/2014/main" id="{C556C35B-8282-417E-8350-12E2DD10A918}"/>
              </a:ext>
            </a:extLst>
          </p:cNvPr>
          <p:cNvCxnSpPr/>
          <p:nvPr/>
        </p:nvCxnSpPr>
        <p:spPr>
          <a:xfrm flipV="1">
            <a:off x="7372152" y="4938304"/>
            <a:ext cx="1079896" cy="232592"/>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8" name="!!application3-edge-b-c">
            <a:extLst>
              <a:ext uri="{FF2B5EF4-FFF2-40B4-BE49-F238E27FC236}">
                <a16:creationId xmlns:a16="http://schemas.microsoft.com/office/drawing/2014/main" id="{8084F754-DAE4-4F60-BA62-09751D1FBB75}"/>
              </a:ext>
            </a:extLst>
          </p:cNvPr>
          <p:cNvCxnSpPr/>
          <p:nvPr/>
        </p:nvCxnSpPr>
        <p:spPr>
          <a:xfrm>
            <a:off x="9024541" y="4931456"/>
            <a:ext cx="1293018" cy="246288"/>
          </a:xfrm>
          <a:prstGeom prst="straightConnector1">
            <a:avLst/>
          </a:prstGeom>
          <a:ln w="19050">
            <a:solidFill>
              <a:srgbClr val="352379"/>
            </a:solidFill>
            <a:tailEnd type="arrow" w="med" len="med"/>
          </a:ln>
        </p:spPr>
        <p:style>
          <a:lnRef idx="1">
            <a:schemeClr val="accent1"/>
          </a:lnRef>
          <a:fillRef idx="0">
            <a:schemeClr val="accent1"/>
          </a:fillRef>
          <a:effectRef idx="0">
            <a:schemeClr val="accent1"/>
          </a:effectRef>
          <a:fontRef idx="minor">
            <a:schemeClr val="tx1"/>
          </a:fontRef>
        </p:style>
      </p:cxnSp>
      <p:sp>
        <p:nvSpPr>
          <p:cNvPr id="29" name="!!application3-node-a">
            <a:extLst>
              <a:ext uri="{FF2B5EF4-FFF2-40B4-BE49-F238E27FC236}">
                <a16:creationId xmlns:a16="http://schemas.microsoft.com/office/drawing/2014/main" id="{DB3861E9-71C1-4F8B-896B-62F3D577B81C}"/>
              </a:ext>
            </a:extLst>
          </p:cNvPr>
          <p:cNvSpPr/>
          <p:nvPr/>
        </p:nvSpPr>
        <p:spPr>
          <a:xfrm>
            <a:off x="6794500" y="49403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0" name="!!application3-node-b">
            <a:extLst>
              <a:ext uri="{FF2B5EF4-FFF2-40B4-BE49-F238E27FC236}">
                <a16:creationId xmlns:a16="http://schemas.microsoft.com/office/drawing/2014/main" id="{C4E23254-7A50-488C-BF54-191E4E8795F0}"/>
              </a:ext>
            </a:extLst>
          </p:cNvPr>
          <p:cNvSpPr/>
          <p:nvPr/>
        </p:nvSpPr>
        <p:spPr>
          <a:xfrm>
            <a:off x="8445500" y="45847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1" name="!!application3-node-c">
            <a:extLst>
              <a:ext uri="{FF2B5EF4-FFF2-40B4-BE49-F238E27FC236}">
                <a16:creationId xmlns:a16="http://schemas.microsoft.com/office/drawing/2014/main" id="{07F8A895-3B89-4441-9227-8B63063D0107}"/>
              </a:ext>
            </a:extLst>
          </p:cNvPr>
          <p:cNvSpPr/>
          <p:nvPr/>
        </p:nvSpPr>
        <p:spPr>
          <a:xfrm>
            <a:off x="10312400" y="4940300"/>
            <a:ext cx="584200" cy="5842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wrap="square" lIns="38100" tIns="25400" rIns="38100" bIns="2540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2" name="text-28-2087">
            <a:extLst>
              <a:ext uri="{FF2B5EF4-FFF2-40B4-BE49-F238E27FC236}">
                <a16:creationId xmlns:a16="http://schemas.microsoft.com/office/drawing/2014/main" id="{410E256C-BDA5-412F-8AE8-0DA576CD0F5B}"/>
              </a:ext>
            </a:extLst>
          </p:cNvPr>
          <p:cNvSpPr txBox="1"/>
          <p:nvPr/>
        </p:nvSpPr>
        <p:spPr bwMode="auto">
          <a:xfrm>
            <a:off x="6477000" y="5625728"/>
            <a:ext cx="5334000" cy="405239"/>
          </a:xfrm>
          <a:prstGeom prst="rect">
            <a:avLst/>
          </a:prstGeom>
        </p:spPr>
        <p:txBody>
          <a:bodyPr vert="horz" wrap="square" lIns="38100" tIns="25400" rIns="38100" bIns="25400" rtlCol="0" anchor="ctr">
            <a:spAutoFit/>
          </a:bodyPr>
          <a:lstStyle/>
          <a:p>
            <a:r>
              <a:rPr lang="ru-RU" sz="2300">
                <a:solidFill>
                  <a:srgbClr val="352379"/>
                </a:solidFill>
                <a:latin typeface="Montserrat"/>
              </a:rPr>
              <a:t>Зависимости задач</a:t>
            </a:r>
          </a:p>
        </p:txBody>
      </p:sp>
      <p:sp>
        <p:nvSpPr>
          <p:cNvPr id="33" name="lecture-footer">
            <a:extLst>
              <a:ext uri="{FF2B5EF4-FFF2-40B4-BE49-F238E27FC236}">
                <a16:creationId xmlns:a16="http://schemas.microsoft.com/office/drawing/2014/main" id="{70AA61A8-B686-40EE-ACCB-960FB69204C4}"/>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34" name="slide-number">
            <a:extLst>
              <a:ext uri="{FF2B5EF4-FFF2-40B4-BE49-F238E27FC236}">
                <a16:creationId xmlns:a16="http://schemas.microsoft.com/office/drawing/2014/main" id="{F3D8B15E-FB59-4005-95FC-36581B080173}"/>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67</a:t>
            </a:r>
          </a:p>
        </p:txBody>
      </p:sp>
    </p:spTree>
    <p:extLst>
      <p:ext uri="{BB962C8B-B14F-4D97-AF65-F5344CB8AC3E}">
        <p14:creationId xmlns:p14="http://schemas.microsoft.com/office/powerpoint/2010/main" val="30861198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Что нужно запомнить</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wrap="square" lIns="38100" tIns="25400" rIns="38100" bIns="25400" anchor="ctr"/>
          <a:lstStyle/>
          <a:p>
            <a:pPr>
              <a:spcBef>
                <a:spcPts val="0"/>
              </a:spcBef>
            </a:pPr>
            <a:r>
              <a:rPr lang="ru-RU" sz="1200">
                <a:solidFill>
                  <a:srgbClr val="FFFFFF"/>
                </a:solidFill>
                <a:latin typeface="Montserrat"/>
              </a:rPr>
              <a:t>Лекция 4. Графы</a:t>
            </a:r>
          </a:p>
        </p:txBody>
      </p:sp>
      <p:graphicFrame>
        <p:nvGraphicFramePr>
          <p:cNvPr id="3" name="table-0-2088">
            <a:extLst>
              <a:ext uri="{FF2B5EF4-FFF2-40B4-BE49-F238E27FC236}">
                <a16:creationId xmlns:a16="http://schemas.microsoft.com/office/drawing/2014/main" id="{3C476C58-081C-480E-A951-D13E15020F26}"/>
              </a:ext>
            </a:extLst>
          </p:cNvPr>
          <p:cNvGraphicFramePr>
            <a:graphicFrameLocks noGrp="1"/>
          </p:cNvGraphicFramePr>
          <p:nvPr>
            <p:extLst>
              <p:ext uri="{D42A27DB-BD31-4B8C-83A1-F6EECF244321}">
                <p14:modId xmlns:p14="http://schemas.microsoft.com/office/powerpoint/2010/main" val="4172277646"/>
              </p:ext>
            </p:extLst>
          </p:nvPr>
        </p:nvGraphicFramePr>
        <p:xfrm>
          <a:off x="635000" y="1651000"/>
          <a:ext cx="10922000" cy="4533900"/>
        </p:xfrm>
        <a:graphic>
          <a:graphicData uri="http://schemas.openxmlformats.org/drawingml/2006/table">
            <a:tbl>
              <a:tblPr firstRow="1" bandRow="1">
                <a:tableStyleId>{0E3FDE45-AF77-4B5C-9715-49D594BDF05E}</a:tableStyleId>
              </a:tblPr>
              <a:tblGrid>
                <a:gridCol w="4254500">
                  <a:extLst>
                    <a:ext uri="{9D8B030D-6E8A-4147-A177-3AD203B41FA5}">
                      <a16:colId xmlns:a16="http://schemas.microsoft.com/office/drawing/2014/main" val="1605507267"/>
                    </a:ext>
                  </a:extLst>
                </a:gridCol>
                <a:gridCol w="6667500">
                  <a:extLst>
                    <a:ext uri="{9D8B030D-6E8A-4147-A177-3AD203B41FA5}">
                      <a16:colId xmlns:a16="http://schemas.microsoft.com/office/drawing/2014/main" val="1478013688"/>
                    </a:ext>
                  </a:extLst>
                </a:gridCol>
              </a:tblGrid>
              <a:tr h="647700">
                <a:tc>
                  <a:txBody>
                    <a:bodyPr/>
                    <a:lstStyle/>
                    <a:p>
                      <a:pPr algn="l">
                        <a:spcBef>
                          <a:spcPts val="0"/>
                        </a:spcBef>
                        <a:spcAft>
                          <a:spcPts val="0"/>
                        </a:spcAft>
                        <a:buFontTx/>
                        <a:buNone/>
                      </a:pPr>
                      <a:r>
                        <a:rPr lang="ru-RU" sz="2300" b="1">
                          <a:solidFill>
                            <a:srgbClr val="FFFFFF"/>
                          </a:solidFill>
                          <a:latin typeface="Montserrat"/>
                        </a:rPr>
                        <a:t>Идея</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352379"/>
                    </a:solidFill>
                  </a:tcPr>
                </a:tc>
                <a:tc>
                  <a:txBody>
                    <a:bodyPr/>
                    <a:lstStyle/>
                    <a:p>
                      <a:pPr algn="l">
                        <a:spcBef>
                          <a:spcPts val="0"/>
                        </a:spcBef>
                        <a:spcAft>
                          <a:spcPts val="0"/>
                        </a:spcAft>
                        <a:buFontTx/>
                        <a:buNone/>
                      </a:pPr>
                      <a:r>
                        <a:rPr lang="ru-RU" sz="2300" b="1">
                          <a:solidFill>
                            <a:srgbClr val="FFFFFF"/>
                          </a:solidFill>
                          <a:latin typeface="Montserrat"/>
                        </a:rPr>
                        <a:t>Что помнить</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352379"/>
                    </a:solidFill>
                  </a:tcPr>
                </a:tc>
                <a:extLst>
                  <a:ext uri="{0D108BD9-81ED-4DB2-BD59-A6C34878D82A}">
                    <a16:rowId xmlns:a16="http://schemas.microsoft.com/office/drawing/2014/main" val="3375124794"/>
                  </a:ext>
                </a:extLst>
              </a:tr>
              <a:tr h="647700">
                <a:tc>
                  <a:txBody>
                    <a:bodyPr/>
                    <a:lstStyle/>
                    <a:p>
                      <a:pPr algn="l">
                        <a:spcBef>
                          <a:spcPts val="0"/>
                        </a:spcBef>
                        <a:spcAft>
                          <a:spcPts val="0"/>
                        </a:spcAft>
                        <a:buFontTx/>
                        <a:buNone/>
                      </a:pPr>
                      <a:r>
                        <a:rPr lang="en-US" sz="2300" b="0">
                          <a:solidFill>
                            <a:srgbClr val="352379"/>
                          </a:solidFill>
                          <a:latin typeface="Montserrat"/>
                        </a:rPr>
                        <a:t>DFS</a:t>
                      </a:r>
                      <a:endParaRPr lang="ru-RU" sz="2300" b="0">
                        <a:solidFill>
                          <a:srgbClr val="352379"/>
                        </a:solidFill>
                        <a:latin typeface="Montserrat"/>
                      </a:endParaRP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2300" b="0">
                          <a:solidFill>
                            <a:srgbClr val="352379"/>
                          </a:solidFill>
                          <a:latin typeface="Montserrat"/>
                        </a:rPr>
                        <a:t>Основа анализа структуры</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4163361044"/>
                  </a:ext>
                </a:extLst>
              </a:tr>
              <a:tr h="647700">
                <a:tc>
                  <a:txBody>
                    <a:bodyPr/>
                    <a:lstStyle/>
                    <a:p>
                      <a:pPr algn="l">
                        <a:spcBef>
                          <a:spcPts val="0"/>
                        </a:spcBef>
                        <a:spcAft>
                          <a:spcPts val="0"/>
                        </a:spcAft>
                        <a:buFontTx/>
                        <a:buNone/>
                      </a:pPr>
                      <a:r>
                        <a:rPr lang="en-US" sz="2300" b="0">
                          <a:solidFill>
                            <a:srgbClr val="352379"/>
                          </a:solidFill>
                          <a:latin typeface="Montserrat"/>
                        </a:rPr>
                        <a:t>SCC</a:t>
                      </a:r>
                      <a:endParaRPr lang="ru-RU" sz="2300" b="0">
                        <a:solidFill>
                          <a:srgbClr val="352379"/>
                        </a:solidFill>
                        <a:latin typeface="Montserrat"/>
                      </a:endParaRP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Взаимная достижимость</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2371328521"/>
                  </a:ext>
                </a:extLst>
              </a:tr>
              <a:tr h="647700">
                <a:tc>
                  <a:txBody>
                    <a:bodyPr/>
                    <a:lstStyle/>
                    <a:p>
                      <a:pPr algn="l">
                        <a:spcBef>
                          <a:spcPts val="0"/>
                        </a:spcBef>
                        <a:spcAft>
                          <a:spcPts val="0"/>
                        </a:spcAft>
                        <a:buFontTx/>
                        <a:buNone/>
                      </a:pPr>
                      <a:r>
                        <a:rPr lang="ru-RU" sz="2300" b="0">
                          <a:solidFill>
                            <a:srgbClr val="352379"/>
                          </a:solidFill>
                          <a:latin typeface="Montserrat"/>
                        </a:rPr>
                        <a:t>Косарайю</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2300" b="0">
                          <a:solidFill>
                            <a:srgbClr val="352379"/>
                          </a:solidFill>
                          <a:latin typeface="Montserrat"/>
                        </a:rPr>
                        <a:t>Два </a:t>
                      </a:r>
                      <a:r>
                        <a:rPr lang="en-US" sz="2300" b="0">
                          <a:solidFill>
                            <a:srgbClr val="352379"/>
                          </a:solidFill>
                          <a:latin typeface="Montserrat"/>
                        </a:rPr>
                        <a:t>DFS </a:t>
                      </a:r>
                      <a:r>
                        <a:rPr lang="ru-RU" sz="2300" b="0">
                          <a:solidFill>
                            <a:srgbClr val="352379"/>
                          </a:solidFill>
                          <a:latin typeface="Montserrat"/>
                        </a:rPr>
                        <a:t>и транспонирование</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1972255797"/>
                  </a:ext>
                </a:extLst>
              </a:tr>
              <a:tr h="647700">
                <a:tc>
                  <a:txBody>
                    <a:bodyPr/>
                    <a:lstStyle/>
                    <a:p>
                      <a:pPr algn="l">
                        <a:spcBef>
                          <a:spcPts val="0"/>
                        </a:spcBef>
                        <a:spcAft>
                          <a:spcPts val="0"/>
                        </a:spcAft>
                        <a:buFontTx/>
                        <a:buNone/>
                      </a:pPr>
                      <a:r>
                        <a:rPr lang="en-US" sz="2300" b="0">
                          <a:solidFill>
                            <a:srgbClr val="352379"/>
                          </a:solidFill>
                          <a:latin typeface="Montserrat"/>
                        </a:rPr>
                        <a:t>tin / low</a:t>
                      </a:r>
                      <a:endParaRPr lang="ru-RU" sz="2300" b="0">
                        <a:solidFill>
                          <a:srgbClr val="352379"/>
                        </a:solidFill>
                        <a:latin typeface="Montserrat"/>
                      </a:endParaRP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Вход и возможность вернуться</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1449991632"/>
                  </a:ext>
                </a:extLst>
              </a:tr>
              <a:tr h="647700">
                <a:tc>
                  <a:txBody>
                    <a:bodyPr/>
                    <a:lstStyle/>
                    <a:p>
                      <a:pPr algn="l">
                        <a:spcBef>
                          <a:spcPts val="0"/>
                        </a:spcBef>
                        <a:spcAft>
                          <a:spcPts val="0"/>
                        </a:spcAft>
                        <a:buFontTx/>
                        <a:buNone/>
                      </a:pPr>
                      <a:r>
                        <a:rPr lang="ru-RU" sz="2300" b="0">
                          <a:solidFill>
                            <a:srgbClr val="352379"/>
                          </a:solidFill>
                          <a:latin typeface="Montserrat"/>
                        </a:rPr>
                        <a:t>Мост / точка сочленения</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FFFFFF">
                        <a:alpha val="20000"/>
                      </a:srgbClr>
                    </a:solidFill>
                  </a:tcPr>
                </a:tc>
                <a:tc>
                  <a:txBody>
                    <a:bodyPr/>
                    <a:lstStyle/>
                    <a:p>
                      <a:pPr algn="l">
                        <a:spcBef>
                          <a:spcPts val="0"/>
                        </a:spcBef>
                        <a:spcAft>
                          <a:spcPts val="0"/>
                        </a:spcAft>
                        <a:buFontTx/>
                        <a:buNone/>
                      </a:pPr>
                      <a:r>
                        <a:rPr lang="ru-RU" sz="2300" b="0">
                          <a:solidFill>
                            <a:srgbClr val="352379"/>
                          </a:solidFill>
                          <a:latin typeface="Montserrat"/>
                        </a:rPr>
                        <a:t>Критическое ребро / вершина</a:t>
                      </a: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FFFFFF">
                        <a:alpha val="20000"/>
                      </a:srgbClr>
                    </a:solidFill>
                  </a:tcPr>
                </a:tc>
                <a:extLst>
                  <a:ext uri="{0D108BD9-81ED-4DB2-BD59-A6C34878D82A}">
                    <a16:rowId xmlns:a16="http://schemas.microsoft.com/office/drawing/2014/main" val="3009877124"/>
                  </a:ext>
                </a:extLst>
              </a:tr>
              <a:tr h="647700">
                <a:tc>
                  <a:txBody>
                    <a:bodyPr/>
                    <a:lstStyle/>
                    <a:p>
                      <a:pPr algn="l">
                        <a:spcBef>
                          <a:spcPts val="0"/>
                        </a:spcBef>
                        <a:spcAft>
                          <a:spcPts val="0"/>
                        </a:spcAft>
                        <a:buFontTx/>
                        <a:buNone/>
                      </a:pPr>
                      <a:r>
                        <a:rPr lang="ru-RU" sz="2300" b="0">
                          <a:solidFill>
                            <a:srgbClr val="352379"/>
                          </a:solidFill>
                          <a:latin typeface="Montserrat"/>
                        </a:rPr>
                        <a:t>Топологическая сортировка</a:t>
                      </a:r>
                    </a:p>
                  </a:txBody>
                  <a:tcPr marL="127000" marR="101600" marT="25400" marB="25400" anchor="ctr">
                    <a:lnL w="9525">
                      <a:solidFill>
                        <a:schemeClr val="tx1"/>
                      </a:solidFill>
                    </a:lnL>
                    <a:lnR w="9525">
                      <a:solidFill>
                        <a:srgbClr val="C7ADEB"/>
                      </a:solidFill>
                    </a:lnR>
                    <a:lnT w="9525">
                      <a:solidFill>
                        <a:srgbClr val="C7ADEB"/>
                      </a:solidFill>
                    </a:lnT>
                    <a:lnB w="9525">
                      <a:solidFill>
                        <a:srgbClr val="C7ADEB"/>
                      </a:solidFill>
                    </a:lnB>
                    <a:solidFill>
                      <a:srgbClr val="E3D6F5"/>
                    </a:solidFill>
                  </a:tcPr>
                </a:tc>
                <a:tc>
                  <a:txBody>
                    <a:bodyPr/>
                    <a:lstStyle/>
                    <a:p>
                      <a:pPr algn="l">
                        <a:spcBef>
                          <a:spcPts val="0"/>
                        </a:spcBef>
                        <a:spcAft>
                          <a:spcPts val="0"/>
                        </a:spcAft>
                        <a:buFontTx/>
                        <a:buNone/>
                      </a:pPr>
                      <a:r>
                        <a:rPr lang="ru-RU" sz="2300" b="0">
                          <a:solidFill>
                            <a:srgbClr val="352379"/>
                          </a:solidFill>
                          <a:latin typeface="Montserrat"/>
                        </a:rPr>
                        <a:t>Только </a:t>
                      </a:r>
                      <a:r>
                        <a:rPr lang="en-US" sz="2300" b="0">
                          <a:solidFill>
                            <a:srgbClr val="352379"/>
                          </a:solidFill>
                          <a:latin typeface="Montserrat"/>
                        </a:rPr>
                        <a:t>DAG</a:t>
                      </a:r>
                      <a:endParaRPr lang="ru-RU" sz="2300" b="0">
                        <a:solidFill>
                          <a:srgbClr val="352379"/>
                        </a:solidFill>
                        <a:latin typeface="Montserrat"/>
                      </a:endParaRPr>
                    </a:p>
                  </a:txBody>
                  <a:tcPr marL="127000" marR="101600" marT="25400" marB="25400" anchor="ctr">
                    <a:lnL w="9525">
                      <a:solidFill>
                        <a:srgbClr val="C7ADEB"/>
                      </a:solidFill>
                    </a:lnL>
                    <a:lnR w="9525">
                      <a:solidFill>
                        <a:schemeClr val="tx1"/>
                      </a:solidFill>
                    </a:lnR>
                    <a:lnT w="9525">
                      <a:solidFill>
                        <a:srgbClr val="C7ADEB"/>
                      </a:solidFill>
                    </a:lnT>
                    <a:lnB w="9525">
                      <a:solidFill>
                        <a:srgbClr val="C7ADEB"/>
                      </a:solidFill>
                    </a:lnB>
                    <a:solidFill>
                      <a:srgbClr val="E3D6F5"/>
                    </a:solidFill>
                  </a:tcPr>
                </a:tc>
                <a:extLst>
                  <a:ext uri="{0D108BD9-81ED-4DB2-BD59-A6C34878D82A}">
                    <a16:rowId xmlns:a16="http://schemas.microsoft.com/office/drawing/2014/main" val="100863050"/>
                  </a:ext>
                </a:extLst>
              </a:tr>
            </a:tbl>
          </a:graphicData>
        </a:graphic>
      </p:graphicFrame>
      <p:sp>
        <p:nvSpPr>
          <p:cNvPr id="4" name="lecture-footer">
            <a:extLst>
              <a:ext uri="{FF2B5EF4-FFF2-40B4-BE49-F238E27FC236}">
                <a16:creationId xmlns:a16="http://schemas.microsoft.com/office/drawing/2014/main" id="{F4321964-64B3-4698-ADDE-F636A7CEA6F1}"/>
              </a:ext>
            </a:extLst>
          </p:cNvPr>
          <p:cNvSpPr txBox="1"/>
          <p:nvPr/>
        </p:nvSpPr>
        <p:spPr bwMode="auto">
          <a:xfrm>
            <a:off x="482600" y="6599366"/>
            <a:ext cx="9525000" cy="235962"/>
          </a:xfrm>
          <a:prstGeom prst="rect">
            <a:avLst/>
          </a:prstGeom>
        </p:spPr>
        <p:txBody>
          <a:bodyPr vert="horz" wrap="square" lIns="38100" tIns="25400" rIns="38100" bIns="25400" rtlCol="0" anchor="ctr">
            <a:spAutoFit/>
          </a:bodyPr>
          <a:lstStyle/>
          <a:p>
            <a:r>
              <a:rPr lang="ru-RU" sz="1200">
                <a:solidFill>
                  <a:srgbClr val="352379"/>
                </a:solidFill>
                <a:latin typeface="Montserrat"/>
              </a:rPr>
              <a:t>Структуры и алгоритмы обработки данных · Лекция 4</a:t>
            </a:r>
          </a:p>
        </p:txBody>
      </p:sp>
      <p:sp>
        <p:nvSpPr>
          <p:cNvPr id="5" name="slide-number">
            <a:extLst>
              <a:ext uri="{FF2B5EF4-FFF2-40B4-BE49-F238E27FC236}">
                <a16:creationId xmlns:a16="http://schemas.microsoft.com/office/drawing/2014/main" id="{37A440F9-5492-47C1-97C9-6F80AA62CAE4}"/>
              </a:ext>
            </a:extLst>
          </p:cNvPr>
          <p:cNvSpPr txBox="1"/>
          <p:nvPr/>
        </p:nvSpPr>
        <p:spPr bwMode="auto">
          <a:xfrm>
            <a:off x="11023600" y="6573966"/>
            <a:ext cx="685800" cy="235962"/>
          </a:xfrm>
          <a:prstGeom prst="rect">
            <a:avLst/>
          </a:prstGeom>
        </p:spPr>
        <p:txBody>
          <a:bodyPr vert="horz" wrap="square" lIns="38100" tIns="25400" rIns="38100" bIns="25400" rtlCol="0" anchor="ctr">
            <a:noAutofit/>
          </a:bodyPr>
          <a:lstStyle/>
          <a:p>
            <a:pPr algn="r"/>
            <a:r>
              <a:rPr lang="ru-RU" sz="1200">
                <a:solidFill>
                  <a:srgbClr val="352379"/>
                </a:solidFill>
                <a:latin typeface="Montserrat"/>
              </a:rPr>
              <a:t>68</a:t>
            </a:r>
          </a:p>
        </p:txBody>
      </p:sp>
    </p:spTree>
    <p:extLst>
      <p:ext uri="{BB962C8B-B14F-4D97-AF65-F5344CB8AC3E}">
        <p14:creationId xmlns:p14="http://schemas.microsoft.com/office/powerpoint/2010/main" val="10600361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3C8C16-CDAE-4110-998A-AA5F2453A752}"/>
              </a:ext>
            </a:extLst>
          </p:cNvPr>
          <p:cNvSpPr>
            <a:spLocks noGrp="1"/>
          </p:cNvSpPr>
          <p:nvPr>
            <p:ph type="title"/>
          </p:nvPr>
        </p:nvSpPr>
        <p:spPr>
          <a:xfrm>
            <a:off x="479424" y="728553"/>
            <a:ext cx="11229975" cy="814486"/>
          </a:xfrm>
        </p:spPr>
        <p:txBody>
          <a:bodyPr/>
          <a:lstStyle/>
          <a:p>
            <a:r>
              <a:rPr lang="ru-RU" dirty="0"/>
              <a:t>Пароль для теста</a:t>
            </a:r>
          </a:p>
        </p:txBody>
      </p:sp>
      <p:sp>
        <p:nvSpPr>
          <p:cNvPr id="7" name="Текст 6">
            <a:extLst>
              <a:ext uri="{FF2B5EF4-FFF2-40B4-BE49-F238E27FC236}">
                <a16:creationId xmlns:a16="http://schemas.microsoft.com/office/drawing/2014/main" id="{E0DD9A40-8298-4417-8524-24F518938BC0}"/>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1873DF5E-D02B-4CC4-B969-AF4C59439265}"/>
              </a:ext>
            </a:extLst>
          </p:cNvPr>
          <p:cNvSpPr txBox="1"/>
          <p:nvPr/>
        </p:nvSpPr>
        <p:spPr bwMode="auto">
          <a:xfrm>
            <a:off x="1718058" y="1697903"/>
            <a:ext cx="9537130" cy="3770263"/>
          </a:xfrm>
          <a:prstGeom prst="rect">
            <a:avLst/>
          </a:prstGeom>
        </p:spPr>
        <p:txBody>
          <a:bodyPr wrap="square" rtlCol="0">
            <a:spAutoFit/>
          </a:bodyPr>
          <a:lstStyle/>
          <a:p>
            <a:r>
              <a:rPr lang="ru-RU" sz="23900" dirty="0"/>
              <a:t>0984</a:t>
            </a:r>
          </a:p>
        </p:txBody>
      </p:sp>
    </p:spTree>
    <p:extLst>
      <p:ext uri="{BB962C8B-B14F-4D97-AF65-F5344CB8AC3E}">
        <p14:creationId xmlns:p14="http://schemas.microsoft.com/office/powerpoint/2010/main" val="1484687000"/>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2336</TotalTime>
  <Words>14528</Words>
  <Application>Microsoft Office PowerPoint</Application>
  <DocSecurity>0</DocSecurity>
  <PresentationFormat>Широкоэкранный</PresentationFormat>
  <Paragraphs>3966</Paragraphs>
  <Slides>69</Slides>
  <Notes>68</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69</vt:i4>
      </vt:variant>
    </vt:vector>
  </HeadingPairs>
  <TitlesOfParts>
    <vt:vector size="74" baseType="lpstr">
      <vt:lpstr>Arial</vt:lpstr>
      <vt:lpstr>Montserrat</vt:lpstr>
      <vt:lpstr>Montserrat SemiBold</vt:lpstr>
      <vt:lpstr>Calibri</vt:lpstr>
      <vt:lpstr>Тема Office</vt:lpstr>
      <vt:lpstr>Лекция 4. Графы: от обходов к структуре сети</vt:lpstr>
      <vt:lpstr>Что мы хотим узнать о графе?</vt:lpstr>
      <vt:lpstr>Графы вокруг нас</vt:lpstr>
      <vt:lpstr>Что такое граф</vt:lpstr>
      <vt:lpstr>Как хранить граф</vt:lpstr>
      <vt:lpstr>BFS: очередь ведёт по уровням</vt:lpstr>
      <vt:lpstr>BFS: обход по уровням</vt:lpstr>
      <vt:lpstr>DFS: углубление и возврат</vt:lpstr>
      <vt:lpstr>DFS: компактный Python</vt:lpstr>
      <vt:lpstr>Связный и несвязный граф</vt:lpstr>
      <vt:lpstr>Компонента связности</vt:lpstr>
      <vt:lpstr>Компоненты: выбираем первую вершину</vt:lpstr>
      <vt:lpstr>Компоненты: один DFS закрашивает группу</vt:lpstr>
      <vt:lpstr>Компоненты: продолжаем внешний цикл</vt:lpstr>
      <vt:lpstr>Компоненты: алгоритмическая идея</vt:lpstr>
      <vt:lpstr>В ориентированном графе всё сложнее</vt:lpstr>
      <vt:lpstr>Сильная связность</vt:lpstr>
      <vt:lpstr>SCC: компоненты сильной связности</vt:lpstr>
      <vt:lpstr>Сожмём каждую SCC</vt:lpstr>
      <vt:lpstr>Как найти SCC?</vt:lpstr>
      <vt:lpstr>Косарайю: два обхода</vt:lpstr>
      <vt:lpstr>Косарайю: исходный граф</vt:lpstr>
      <vt:lpstr>Косарайю: первый DFS начинается</vt:lpstr>
      <vt:lpstr>Косарайю: первый DFS продолжается</vt:lpstr>
      <vt:lpstr>Косарайю: порядок выхода</vt:lpstr>
      <vt:lpstr>Косарайю: транспонируем граф</vt:lpstr>
      <vt:lpstr>Косарайю: второй DFS выделяет SCC</vt:lpstr>
      <vt:lpstr>Косарайю: следующая непосещённая</vt:lpstr>
      <vt:lpstr>Косарайю: итог</vt:lpstr>
      <vt:lpstr>Косарайю: две стадии в коде</vt:lpstr>
      <vt:lpstr>Почему Косарайю работает</vt:lpstr>
      <vt:lpstr>Алгоритм Тарьяна: SCC за один DFS</vt:lpstr>
      <vt:lpstr>tin[v]: момент первого входа DFS</vt:lpstr>
      <vt:lpstr>low[v] в алгоритме Тарьяна</vt:lpstr>
      <vt:lpstr>low: обратное ребро 8 → 6</vt:lpstr>
      <vt:lpstr>Стек Тарьяна: SCC ещё не определены</vt:lpstr>
      <vt:lpstr>Тарьян: выделяем SCC {6, 7, 8}</vt:lpstr>
      <vt:lpstr>Тарьян: выделяем SCC {4, 5}</vt:lpstr>
      <vt:lpstr>Тарьян: выделяем SCC {1, 2, 3}</vt:lpstr>
      <vt:lpstr>Тарьян: получены те же SCC</vt:lpstr>
      <vt:lpstr>Критические элементы графа</vt:lpstr>
      <vt:lpstr>Мост — критическое ребро</vt:lpstr>
      <vt:lpstr>Удалили ребро: появился разрыв</vt:lpstr>
      <vt:lpstr>Почему ребро в цикле не является мостом</vt:lpstr>
      <vt:lpstr>Мост: условие через low</vt:lpstr>
      <vt:lpstr>Поиск моста: номера входа</vt:lpstr>
      <vt:lpstr>Поиск моста: обратные рёбра и low</vt:lpstr>
      <vt:lpstr>Поиск моста: выделяем 3–4</vt:lpstr>
      <vt:lpstr>Критическая вершина</vt:lpstr>
      <vt:lpstr>Удалили вершину: сеть распалась</vt:lpstr>
      <vt:lpstr>Мост и точка сочленения</vt:lpstr>
      <vt:lpstr>Точка сочленения: два случая</vt:lpstr>
      <vt:lpstr>Теперь другая задача: зависимости</vt:lpstr>
      <vt:lpstr>DAG: ориентированный граф без циклов</vt:lpstr>
      <vt:lpstr>Топологический порядок</vt:lpstr>
      <vt:lpstr>Правильный порядок может быть не один</vt:lpstr>
      <vt:lpstr>Топологическая сортировка: начало DFS</vt:lpstr>
      <vt:lpstr>Топологическая сортировка: углубление</vt:lpstr>
      <vt:lpstr>Топологическая сортировка: добавляем на выходе</vt:lpstr>
      <vt:lpstr>Топологическая сортировка: разворот</vt:lpstr>
      <vt:lpstr>Топологическая сортировка: Python</vt:lpstr>
      <vt:lpstr>Почему цикл ломает порядок</vt:lpstr>
      <vt:lpstr>Поиск цикла: три состояния DFS</vt:lpstr>
      <vt:lpstr>Один DFS — много алгоритмов</vt:lpstr>
      <vt:lpstr>Сводная таблица задач</vt:lpstr>
      <vt:lpstr>Сложности: линейный анализ структуры</vt:lpstr>
      <vt:lpstr>Практические применения</vt:lpstr>
      <vt:lpstr>Что нужно запомнить</vt:lpstr>
      <vt:lpstr>Пароль для теста</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вадим борзов</cp:lastModifiedBy>
  <cp:revision>96</cp:revision>
  <dcterms:created xsi:type="dcterms:W3CDTF">2023-04-19T21:39:12Z</dcterms:created>
  <dcterms:modified xsi:type="dcterms:W3CDTF">2026-10-08T06:07:21Z</dcterms:modified>
  <cp:category/>
  <dc:identifier/>
  <cp:contentStatus/>
  <dc:language/>
  <cp:version/>
</cp:coreProperties>
</file>