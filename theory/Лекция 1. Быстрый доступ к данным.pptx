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81" r:id="rId9"/>
    <p:sldId id="263" r:id="rId10"/>
    <p:sldId id="264" r:id="rId11"/>
    <p:sldId id="265" r:id="rId12"/>
    <p:sldId id="266" r:id="rId13"/>
    <p:sldId id="267" r:id="rId14"/>
    <p:sldId id="268" r:id="rId15"/>
    <p:sldId id="282" r:id="rId16"/>
    <p:sldId id="283" r:id="rId17"/>
    <p:sldId id="284" r:id="rId18"/>
    <p:sldId id="269" r:id="rId19"/>
    <p:sldId id="285" r:id="rId20"/>
    <p:sldId id="286" r:id="rId21"/>
    <p:sldId id="287" r:id="rId22"/>
    <p:sldId id="288" r:id="rId23"/>
    <p:sldId id="289" r:id="rId24"/>
    <p:sldId id="270" r:id="rId25"/>
    <p:sldId id="272" r:id="rId26"/>
    <p:sldId id="273" r:id="rId27"/>
    <p:sldId id="274" r:id="rId28"/>
    <p:sldId id="275" r:id="rId29"/>
    <p:sldId id="279" r:id="rId30"/>
    <p:sldId id="280" r:id="rId31"/>
    <p:sldId id="290" r:id="rId32"/>
  </p:sldIdLst>
  <p:sldSz cx="12192000" cy="6858000"/>
  <p:notesSz cx="12192000" cy="6858000"/>
  <p:embeddedFontLst>
    <p:embeddedFont>
      <p:font typeface="Calibri" panose="020F0502020204030204" pitchFamily="34" charset="0"/>
      <p:regular r:id="rId34"/>
      <p:bold r:id="rId35"/>
      <p:italic r:id="rId36"/>
      <p:boldItalic r:id="rId37"/>
    </p:embeddedFont>
  </p:embeddedFontLst>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521415D9-36F7-43E2-AB2F-B90AF26B5E84}">
      <p14:sectionLst xmlns:p14="http://schemas.microsoft.com/office/powerpoint/2010/main">
        <p14:section name="Введение" id="{8F54E60A-E40A-4C6B-A923-DCFEA0F4468B}">
          <p14:sldIdLst>
            <p14:sldId id="256"/>
            <p14:sldId id="257"/>
            <p14:sldId id="258"/>
            <p14:sldId id="259"/>
            <p14:sldId id="260"/>
          </p14:sldIdLst>
        </p14:section>
        <p14:section name="Блок 1. Быстрый доступ по ключу" id="{53461547-FA0F-4CE3-9C78-3AC506583B44}">
          <p14:sldIdLst>
            <p14:sldId id="261"/>
            <p14:sldId id="262"/>
            <p14:sldId id="281"/>
            <p14:sldId id="263"/>
            <p14:sldId id="264"/>
          </p14:sldIdLst>
        </p14:section>
        <p14:section name="Блок 2. Быстрый доступ к лучшему элементу" id="{DE2841F6-465C-4A8C-9C8F-31C63423EEE0}">
          <p14:sldIdLst>
            <p14:sldId id="265"/>
            <p14:sldId id="266"/>
            <p14:sldId id="267"/>
            <p14:sldId id="268"/>
            <p14:sldId id="282"/>
            <p14:sldId id="283"/>
            <p14:sldId id="284"/>
            <p14:sldId id="269"/>
            <p14:sldId id="285"/>
            <p14:sldId id="286"/>
            <p14:sldId id="287"/>
            <p14:sldId id="288"/>
            <p14:sldId id="289"/>
            <p14:sldId id="270"/>
          </p14:sldIdLst>
        </p14:section>
        <p14:section name="Блок 3. Доступ по приоритету" id="{75663815-C4C7-4CCA-9B78-DDD737A78B3B}">
          <p14:sldIdLst>
            <p14:sldId id="272"/>
          </p14:sldIdLst>
        </p14:section>
        <p14:section name="Блок 4. Быстрый доступ к нескольким лучшим элементам" id="{FD3253F3-BD81-424E-8A60-612E84FA5D4E}">
          <p14:sldIdLst>
            <p14:sldId id="273"/>
            <p14:sldId id="274"/>
            <p14:sldId id="275"/>
          </p14:sldIdLst>
        </p14:section>
        <p14:section name="Блок 5. Потоковые данные" id="{9DC8EBFC-DDBD-4278-80D5-DB67540BCA4F}">
          <p14:sldIdLst/>
        </p14:section>
        <p14:section name="Финальный блок" id="{BBE011A7-FDCD-41A5-9104-E0BD02CAFD64}">
          <p14:sldIdLst>
            <p14:sldId id="279"/>
            <p14:sldId id="280"/>
            <p14:sldId id="290"/>
          </p14:sldIdLst>
        </p14:section>
      </p14:sectionLst>
    </p:ext>
    <p:ext uri="{EFAFB233-063F-42B5-8137-9DF3F51BA10A}">
      <p15:sldGuideLst xmlns:p15="http://schemas.microsoft.com/office/powerpoint/2012/main">
        <p15:guide id="1" orient="horz" pos="4088">
          <p15:clr>
            <a:srgbClr val="A4A3A4"/>
          </p15:clr>
        </p15:guide>
        <p15:guide id="2" pos="3863">
          <p15:clr>
            <a:srgbClr val="A4A3A4"/>
          </p15:clr>
        </p15:guide>
        <p15:guide id="3" orient="horz" pos="125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3FDE45-AF77-4B5C-9715-49D594BDF05E}">
  <a:tblStyle styleId="{0E3FDE45-AF77-4B5C-9715-49D594BDF05E}" styleName="Светлый стиль 1 — акцент 2">
    <a:wholeTbl>
      <a:tcTxStyle>
        <a:fontRef idx="minor">
          <a:srgbClr val="000000"/>
        </a:fontRef>
        <a:schemeClr val="tx1"/>
      </a:tcTxStyle>
      <a:tcStyle>
        <a:tcBdr>
          <a:left>
            <a:ln w="12700">
              <a:noFill/>
            </a:ln>
          </a:left>
          <a:right>
            <a:ln w="12700">
              <a:noFill/>
            </a:ln>
          </a:right>
          <a:top>
            <a:ln w="12700">
              <a:solidFill>
                <a:schemeClr val="accent2"/>
              </a:solidFill>
            </a:ln>
          </a:top>
          <a:bottom>
            <a:ln w="12700">
              <a:solidFill>
                <a:schemeClr val="accent2"/>
              </a:solidFill>
            </a:ln>
          </a:bottom>
          <a:insideH>
            <a:ln w="12700">
              <a:noFill/>
            </a:ln>
          </a:insideH>
          <a:insideV>
            <a:ln w="12700">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band2V>
      <a:tcStyle>
        <a:tcBdr/>
        <a:fill>
          <a:solidFill>
            <a:schemeClr val="accent2">
              <a:alpha val="20000"/>
            </a:schemeClr>
          </a:solidFill>
        </a:fill>
      </a:tcStyle>
    </a:band2V>
    <a:lastCol>
      <a:tcStyle>
        <a:tcBdr/>
      </a:tcStyle>
    </a:lastCol>
    <a:firstCol>
      <a:tcStyle>
        <a:tcBdr/>
      </a:tcStyle>
    </a:firstCol>
    <a:lastRow>
      <a:tcStyle>
        <a:tcBdr>
          <a:top>
            <a:ln w="12700">
              <a:solidFill>
                <a:schemeClr val="accent2"/>
              </a:solidFill>
            </a:ln>
          </a:top>
        </a:tcBdr>
        <a:fill>
          <a:noFill/>
        </a:fill>
      </a:tcStyle>
    </a:lastRow>
    <a:seCell>
      <a:tcStyle>
        <a:tcBdr/>
      </a:tcStyle>
    </a:seCell>
    <a:swCell>
      <a:tcStyle>
        <a:tcBdr/>
      </a:tcStyle>
    </a:swCell>
    <a:firstRow>
      <a:tcStyle>
        <a:tcBdr>
          <a:bottom>
            <a:ln w="12700">
              <a:solidFill>
                <a:schemeClr val="accent2"/>
              </a:solidFill>
            </a:ln>
          </a:bottom>
        </a:tcBdr>
        <a:fill>
          <a:noFill/>
        </a:fill>
      </a:tcStyle>
    </a:firstRow>
    <a:neCell>
      <a:tcStyle>
        <a:tcBdr/>
      </a:tcStyle>
    </a:neCell>
    <a:nwCell>
      <a:tcStyle>
        <a:tcBdr/>
      </a:tcStyle>
    </a:nwCell>
  </a:tblStyle>
  <a:tblStyle styleId="{7E9639D4-E3E2-4D34-9284-5A2195B3D0D7}" styleName="Светлый стиль 2">
    <a:wholeTbl>
      <a:tcTxStyle>
        <a:fontRef idx="minor">
          <a:srgbClr val="000000"/>
        </a:fontRef>
        <a:schemeClr val="tx1"/>
      </a:tcTxStyle>
      <a:tcStyle>
        <a:tcBdr>
          <a:left>
            <a:lnRef idx="1">
              <a:schemeClr val="tx1"/>
            </a:lnRef>
          </a:left>
          <a:right>
            <a:lnRef idx="1">
              <a:schemeClr val="tx1"/>
            </a:lnRef>
          </a:right>
          <a:top>
            <a:lnRef idx="1">
              <a:schemeClr val="tx1"/>
            </a:lnRef>
          </a:top>
          <a:bottom>
            <a:lnRef idx="1">
              <a:schemeClr val="tx1"/>
            </a:lnRef>
          </a:bottom>
          <a:insideH>
            <a:ln w="12700">
              <a:noFill/>
            </a:ln>
          </a:insideH>
          <a:insideV>
            <a:ln w="12700">
              <a:noFill/>
            </a:ln>
          </a:insideV>
        </a:tcBdr>
        <a:fill>
          <a:noFill/>
        </a:fill>
      </a:tcStyle>
    </a:wholeTbl>
    <a:band1H>
      <a:tcStyle>
        <a:tcBdr>
          <a:top>
            <a:lnRef idx="1">
              <a:schemeClr val="tx1"/>
            </a:lnRef>
          </a:top>
          <a:bottom>
            <a:lnRef idx="1">
              <a:schemeClr val="tx1"/>
            </a:lnRef>
          </a:bottom>
        </a:tcBdr>
      </a:tcStyle>
    </a:band1H>
    <a:band2H>
      <a:tcStyle>
        <a:tcBdr/>
      </a:tcStyle>
    </a:band2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Style>
        <a:tcBdr/>
      </a:tcStyle>
    </a:lastCol>
    <a:firstCol>
      <a:tcStyle>
        <a:tcBdr/>
      </a:tcStyle>
    </a:firstCol>
    <a:lastRow>
      <a:tcStyle>
        <a:tcBdr>
          <a:top>
            <a:ln w="50800">
              <a:solidFill>
                <a:schemeClr val="tx1"/>
              </a:solidFill>
            </a:ln>
          </a:top>
        </a:tcBdr>
      </a:tcStyle>
    </a:lastRow>
    <a:seCell>
      <a:tcStyle>
        <a:tcBdr/>
      </a:tcStyle>
    </a:seCell>
    <a:swCell>
      <a:tcStyle>
        <a:tcBdr/>
      </a:tcStyle>
    </a:swCell>
    <a:firstRow>
      <a:tcTxStyle b="on">
        <a:fontRef idx="minor">
          <a:srgbClr val="000000"/>
        </a:fontRef>
        <a:schemeClr val="bg1"/>
      </a:tcTxStyle>
      <a:tcStyle>
        <a:tcBdr/>
        <a:fillRef idx="1">
          <a:schemeClr val="tx1"/>
        </a:fillRef>
      </a:tcStyle>
    </a:firstRow>
    <a:neCell>
      <a:tcStyle>
        <a:tcBdr/>
      </a:tcStyle>
    </a:neCell>
    <a:nwCell>
      <a:tcStyle>
        <a:tcBdr/>
      </a:tcStyle>
    </a:nwCell>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6" d="100"/>
          <a:sy n="106" d="100"/>
        </p:scale>
        <p:origin x="750" y="102"/>
      </p:cViewPr>
      <p:guideLst>
        <p:guide orient="horz" pos="4088"/>
        <p:guide pos="3863"/>
        <p:guide orient="horz" pos="125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1"/>
        <c:ser>
          <c:idx val="0"/>
          <c:order val="0"/>
          <c:tx>
            <c:v>O(1)</c:v>
          </c:tx>
          <c:spPr>
            <a:ln w="28575">
              <a:solidFill>
                <a:srgbClr val="352379"/>
              </a:solidFill>
            </a:ln>
          </c:spPr>
          <c:marker>
            <c:symbol val="none"/>
          </c:marker>
          <c:xVal>
            <c:numRef>
              <c:f>'Chart Data'!$A$2:$A$58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Data'!$B$2:$B$58</c:f>
              <c:numCache>
                <c:formatCode>General</c:formatCode>
                <c:ptCount val="57"/>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numCache>
            </c:numRef>
          </c:yVal>
          <c:smooth val="1"/>
          <c:extLst>
            <c:ext xmlns:c16="http://schemas.microsoft.com/office/drawing/2014/chart" uri="{C3380CC4-5D6E-409C-BE32-E72D297353CC}">
              <c16:uniqueId val="{00000000-2507-4995-AC91-A3A1C5C2938B}"/>
            </c:ext>
          </c:extLst>
        </c:ser>
        <c:ser>
          <c:idx val="1"/>
          <c:order val="1"/>
          <c:tx>
            <c:v>O(log n)</c:v>
          </c:tx>
          <c:spPr>
            <a:ln w="28575">
              <a:solidFill>
                <a:srgbClr val="8C64D8"/>
              </a:solidFill>
            </a:ln>
          </c:spPr>
          <c:marker>
            <c:symbol val="none"/>
          </c:marker>
          <c:xVal>
            <c:numRef>
              <c:f>'Chart Data'!$C$2:$C$58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Data'!$D$2:$D$58</c:f>
              <c:numCache>
                <c:formatCode>General</c:formatCode>
                <c:ptCount val="57"/>
                <c:pt idx="0">
                  <c:v>0</c:v>
                </c:pt>
                <c:pt idx="1">
                  <c:v>0.16992499999999999</c:v>
                </c:pt>
                <c:pt idx="2">
                  <c:v>0.32192799999999999</c:v>
                </c:pt>
                <c:pt idx="3">
                  <c:v>0.45943200000000001</c:v>
                </c:pt>
                <c:pt idx="4">
                  <c:v>0.58496300000000001</c:v>
                </c:pt>
                <c:pt idx="5">
                  <c:v>0.70043999999999995</c:v>
                </c:pt>
                <c:pt idx="6">
                  <c:v>0.80735500000000004</c:v>
                </c:pt>
                <c:pt idx="7">
                  <c:v>0.906891</c:v>
                </c:pt>
                <c:pt idx="8">
                  <c:v>1</c:v>
                </c:pt>
                <c:pt idx="9">
                  <c:v>1.0874630000000001</c:v>
                </c:pt>
                <c:pt idx="10">
                  <c:v>1.1699250000000001</c:v>
                </c:pt>
                <c:pt idx="11">
                  <c:v>1.2479279999999999</c:v>
                </c:pt>
                <c:pt idx="12">
                  <c:v>1.321928</c:v>
                </c:pt>
                <c:pt idx="13">
                  <c:v>1.392317</c:v>
                </c:pt>
                <c:pt idx="14">
                  <c:v>1.4594320000000001</c:v>
                </c:pt>
                <c:pt idx="15">
                  <c:v>1.5235620000000001</c:v>
                </c:pt>
                <c:pt idx="16">
                  <c:v>1.5849629999999999</c:v>
                </c:pt>
                <c:pt idx="17">
                  <c:v>1.643856</c:v>
                </c:pt>
                <c:pt idx="18">
                  <c:v>1.70044</c:v>
                </c:pt>
                <c:pt idx="19">
                  <c:v>1.754888</c:v>
                </c:pt>
                <c:pt idx="20">
                  <c:v>1.807355</c:v>
                </c:pt>
                <c:pt idx="21">
                  <c:v>1.8579810000000001</c:v>
                </c:pt>
                <c:pt idx="22">
                  <c:v>1.9068909999999999</c:v>
                </c:pt>
                <c:pt idx="23">
                  <c:v>1.954196</c:v>
                </c:pt>
                <c:pt idx="24">
                  <c:v>2</c:v>
                </c:pt>
                <c:pt idx="25">
                  <c:v>2.044394</c:v>
                </c:pt>
                <c:pt idx="26">
                  <c:v>2.0874630000000001</c:v>
                </c:pt>
                <c:pt idx="27">
                  <c:v>2.129283</c:v>
                </c:pt>
                <c:pt idx="28">
                  <c:v>2.1699250000000001</c:v>
                </c:pt>
                <c:pt idx="29">
                  <c:v>2.2094529999999999</c:v>
                </c:pt>
                <c:pt idx="30">
                  <c:v>2.2479279999999999</c:v>
                </c:pt>
                <c:pt idx="31">
                  <c:v>2.2854019999999999</c:v>
                </c:pt>
                <c:pt idx="32">
                  <c:v>2.3219280000000002</c:v>
                </c:pt>
                <c:pt idx="33">
                  <c:v>2.3575520000000001</c:v>
                </c:pt>
                <c:pt idx="34">
                  <c:v>2.3923169999999998</c:v>
                </c:pt>
                <c:pt idx="35">
                  <c:v>2.4262649999999999</c:v>
                </c:pt>
                <c:pt idx="36">
                  <c:v>2.4594320000000001</c:v>
                </c:pt>
                <c:pt idx="37">
                  <c:v>2.4918529999999999</c:v>
                </c:pt>
                <c:pt idx="38">
                  <c:v>2.5235620000000001</c:v>
                </c:pt>
                <c:pt idx="39">
                  <c:v>2.554589</c:v>
                </c:pt>
                <c:pt idx="40">
                  <c:v>2.5849630000000001</c:v>
                </c:pt>
                <c:pt idx="41">
                  <c:v>2.6147100000000001</c:v>
                </c:pt>
                <c:pt idx="42">
                  <c:v>2.643856</c:v>
                </c:pt>
                <c:pt idx="43">
                  <c:v>2.6724250000000001</c:v>
                </c:pt>
                <c:pt idx="44">
                  <c:v>2.70044</c:v>
                </c:pt>
                <c:pt idx="45">
                  <c:v>2.7279200000000001</c:v>
                </c:pt>
                <c:pt idx="46">
                  <c:v>2.7548879999999998</c:v>
                </c:pt>
                <c:pt idx="47">
                  <c:v>2.7813599999999998</c:v>
                </c:pt>
                <c:pt idx="48">
                  <c:v>2.8073549999999998</c:v>
                </c:pt>
                <c:pt idx="49">
                  <c:v>2.8328899999999999</c:v>
                </c:pt>
                <c:pt idx="50">
                  <c:v>2.8579810000000001</c:v>
                </c:pt>
                <c:pt idx="51">
                  <c:v>2.8826429999999998</c:v>
                </c:pt>
                <c:pt idx="52">
                  <c:v>2.9068909999999999</c:v>
                </c:pt>
                <c:pt idx="53">
                  <c:v>2.9307370000000001</c:v>
                </c:pt>
                <c:pt idx="54">
                  <c:v>2.954196</c:v>
                </c:pt>
                <c:pt idx="55">
                  <c:v>2.9772799999999999</c:v>
                </c:pt>
                <c:pt idx="56">
                  <c:v>3</c:v>
                </c:pt>
              </c:numCache>
            </c:numRef>
          </c:yVal>
          <c:smooth val="1"/>
          <c:extLst>
            <c:ext xmlns:c16="http://schemas.microsoft.com/office/drawing/2014/chart" uri="{C3380CC4-5D6E-409C-BE32-E72D297353CC}">
              <c16:uniqueId val="{00000001-2507-4995-AC91-A3A1C5C2938B}"/>
            </c:ext>
          </c:extLst>
        </c:ser>
        <c:ser>
          <c:idx val="2"/>
          <c:order val="2"/>
          <c:tx>
            <c:v>O(n)</c:v>
          </c:tx>
          <c:spPr>
            <a:ln w="28575">
              <a:solidFill>
                <a:srgbClr val="AC91F1"/>
              </a:solidFill>
            </a:ln>
          </c:spPr>
          <c:marker>
            <c:symbol val="none"/>
          </c:marker>
          <c:xVal>
            <c:numRef>
              <c:f>'Chart Data'!$E$2:$E$58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Data'!$F$2:$F$58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yVal>
          <c:smooth val="1"/>
          <c:extLst>
            <c:ext xmlns:c16="http://schemas.microsoft.com/office/drawing/2014/chart" uri="{C3380CC4-5D6E-409C-BE32-E72D297353CC}">
              <c16:uniqueId val="{00000002-2507-4995-AC91-A3A1C5C2938B}"/>
            </c:ext>
          </c:extLst>
        </c:ser>
        <c:ser>
          <c:idx val="3"/>
          <c:order val="3"/>
          <c:tx>
            <c:v>O(n log n)</c:v>
          </c:tx>
          <c:spPr>
            <a:ln w="28575">
              <a:solidFill>
                <a:srgbClr val="6C32D8"/>
              </a:solidFill>
            </a:ln>
          </c:spPr>
          <c:marker>
            <c:symbol val="none"/>
          </c:marker>
          <c:xVal>
            <c:numRef>
              <c:f>'Chart Data'!$G$2:$G$58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Data'!$H$2:$H$58</c:f>
              <c:numCache>
                <c:formatCode>General</c:formatCode>
                <c:ptCount val="57"/>
                <c:pt idx="0">
                  <c:v>0</c:v>
                </c:pt>
                <c:pt idx="1">
                  <c:v>0.191166</c:v>
                </c:pt>
                <c:pt idx="2">
                  <c:v>0.40240999999999999</c:v>
                </c:pt>
                <c:pt idx="3">
                  <c:v>0.631718</c:v>
                </c:pt>
                <c:pt idx="4">
                  <c:v>0.877444</c:v>
                </c:pt>
                <c:pt idx="5">
                  <c:v>1.138215</c:v>
                </c:pt>
                <c:pt idx="6">
                  <c:v>1.412871</c:v>
                </c:pt>
                <c:pt idx="7">
                  <c:v>1.70042</c:v>
                </c:pt>
                <c:pt idx="8">
                  <c:v>2</c:v>
                </c:pt>
                <c:pt idx="9">
                  <c:v>2.3108590000000002</c:v>
                </c:pt>
                <c:pt idx="10">
                  <c:v>2.6323310000000002</c:v>
                </c:pt>
                <c:pt idx="11">
                  <c:v>2.9638279999999999</c:v>
                </c:pt>
                <c:pt idx="12">
                  <c:v>3.3048199999999999</c:v>
                </c:pt>
                <c:pt idx="13">
                  <c:v>3.654833</c:v>
                </c:pt>
                <c:pt idx="14">
                  <c:v>4.0134369999999997</c:v>
                </c:pt>
                <c:pt idx="15">
                  <c:v>4.3802409999999998</c:v>
                </c:pt>
                <c:pt idx="16">
                  <c:v>4.7548880000000002</c:v>
                </c:pt>
                <c:pt idx="17">
                  <c:v>5.1370509999999996</c:v>
                </c:pt>
                <c:pt idx="18">
                  <c:v>5.5264290000000003</c:v>
                </c:pt>
                <c:pt idx="19">
                  <c:v>5.9227449999999999</c:v>
                </c:pt>
                <c:pt idx="20">
                  <c:v>6.325742</c:v>
                </c:pt>
                <c:pt idx="21">
                  <c:v>6.7351809999999999</c:v>
                </c:pt>
                <c:pt idx="22">
                  <c:v>7.1508399999999996</c:v>
                </c:pt>
                <c:pt idx="23">
                  <c:v>7.5725110000000004</c:v>
                </c:pt>
                <c:pt idx="24">
                  <c:v>8</c:v>
                </c:pt>
                <c:pt idx="25">
                  <c:v>8.4331259999999997</c:v>
                </c:pt>
                <c:pt idx="26">
                  <c:v>8.8717170000000003</c:v>
                </c:pt>
                <c:pt idx="27">
                  <c:v>9.3156130000000008</c:v>
                </c:pt>
                <c:pt idx="28">
                  <c:v>9.7646630000000005</c:v>
                </c:pt>
                <c:pt idx="29">
                  <c:v>10.218722</c:v>
                </c:pt>
                <c:pt idx="30">
                  <c:v>10.677656000000001</c:v>
                </c:pt>
                <c:pt idx="31">
                  <c:v>11.141336000000001</c:v>
                </c:pt>
                <c:pt idx="32">
                  <c:v>11.609640000000001</c:v>
                </c:pt>
                <c:pt idx="33">
                  <c:v>12.082454</c:v>
                </c:pt>
                <c:pt idx="34">
                  <c:v>12.559666</c:v>
                </c:pt>
                <c:pt idx="35">
                  <c:v>13.041173000000001</c:v>
                </c:pt>
                <c:pt idx="36">
                  <c:v>13.526873999999999</c:v>
                </c:pt>
                <c:pt idx="37">
                  <c:v>14.016674</c:v>
                </c:pt>
                <c:pt idx="38">
                  <c:v>14.510481</c:v>
                </c:pt>
                <c:pt idx="39">
                  <c:v>15.00821</c:v>
                </c:pt>
                <c:pt idx="40">
                  <c:v>15.509774999999999</c:v>
                </c:pt>
                <c:pt idx="41">
                  <c:v>16.015097999999998</c:v>
                </c:pt>
                <c:pt idx="42">
                  <c:v>16.524101000000002</c:v>
                </c:pt>
                <c:pt idx="43">
                  <c:v>17.036712000000001</c:v>
                </c:pt>
                <c:pt idx="44">
                  <c:v>17.552858000000001</c:v>
                </c:pt>
                <c:pt idx="45">
                  <c:v>18.072472999999999</c:v>
                </c:pt>
                <c:pt idx="46">
                  <c:v>18.595490999999999</c:v>
                </c:pt>
                <c:pt idx="47">
                  <c:v>19.121848</c:v>
                </c:pt>
                <c:pt idx="48">
                  <c:v>19.651484</c:v>
                </c:pt>
                <c:pt idx="49">
                  <c:v>20.184341</c:v>
                </c:pt>
                <c:pt idx="50">
                  <c:v>20.720362000000002</c:v>
                </c:pt>
                <c:pt idx="51">
                  <c:v>21.259492000000002</c:v>
                </c:pt>
                <c:pt idx="52">
                  <c:v>21.801679</c:v>
                </c:pt>
                <c:pt idx="53">
                  <c:v>22.346872000000001</c:v>
                </c:pt>
                <c:pt idx="54">
                  <c:v>22.895021</c:v>
                </c:pt>
                <c:pt idx="55">
                  <c:v>23.446079000000001</c:v>
                </c:pt>
                <c:pt idx="56">
                  <c:v>24</c:v>
                </c:pt>
              </c:numCache>
            </c:numRef>
          </c:yVal>
          <c:smooth val="1"/>
          <c:extLst>
            <c:ext xmlns:c16="http://schemas.microsoft.com/office/drawing/2014/chart" uri="{C3380CC4-5D6E-409C-BE32-E72D297353CC}">
              <c16:uniqueId val="{00000003-2507-4995-AC91-A3A1C5C2938B}"/>
            </c:ext>
          </c:extLst>
        </c:ser>
        <c:dLbls>
          <c:showLegendKey val="0"/>
          <c:showVal val="0"/>
          <c:showCatName val="0"/>
          <c:showSerName val="0"/>
          <c:showPercent val="0"/>
          <c:showBubbleSize val="0"/>
        </c:dLbls>
        <c:axId val="48650112"/>
        <c:axId val="48672768"/>
      </c:scatterChart>
      <c:valAx>
        <c:axId val="48672768"/>
        <c:scaling>
          <c:orientation val="minMax"/>
          <c:max val="26"/>
          <c:min val="0"/>
        </c:scaling>
        <c:delete val="0"/>
        <c:axPos val="l"/>
        <c:title>
          <c:tx>
            <c:rich>
              <a:bodyPr/>
              <a:lstStyle/>
              <a:p>
                <a:r>
                  <a:rPr lang="ru-RU" sz="1275">
                    <a:solidFill>
                      <a:srgbClr val="615B91"/>
                    </a:solidFill>
                    <a:latin typeface="Montserrat"/>
                    <a:ea typeface="Montserrat"/>
                    <a:cs typeface="Montserrat"/>
                  </a:rPr>
                  <a:t>Условное время</a:t>
                </a:r>
              </a:p>
            </c:rich>
          </c:tx>
          <c:overlay val="0"/>
        </c:title>
        <c:numFmt formatCode="General" sourceLinked="1"/>
        <c:majorTickMark val="none"/>
        <c:minorTickMark val="none"/>
        <c:tickLblPos val="none"/>
        <c:spPr>
          <a:ln w="9525">
            <a:solidFill>
              <a:srgbClr val="8B80B0"/>
            </a:solidFill>
          </a:ln>
        </c:spPr>
        <c:txPr>
          <a:bodyPr anchorCtr="1"/>
          <a:lstStyle/>
          <a:p>
            <a:pPr>
              <a:defRPr>
                <a:solidFill>
                  <a:srgbClr val="666666"/>
                </a:solidFill>
                <a:latin typeface="Montserrat"/>
                <a:ea typeface="Montserrat"/>
                <a:cs typeface="Montserrat"/>
              </a:defRPr>
            </a:pPr>
            <a:endParaRPr lang="ru-RU"/>
          </a:p>
        </c:txPr>
        <c:crossAx val="48650112"/>
        <c:crosses val="autoZero"/>
        <c:crossBetween val="midCat"/>
      </c:valAx>
      <c:valAx>
        <c:axId val="48650112"/>
        <c:scaling>
          <c:orientation val="minMax"/>
          <c:max val="10"/>
          <c:min val="1"/>
        </c:scaling>
        <c:delete val="0"/>
        <c:axPos val="b"/>
        <c:title>
          <c:tx>
            <c:rich>
              <a:bodyPr/>
              <a:lstStyle/>
              <a:p>
                <a:r>
                  <a:rPr lang="ru-RU" sz="1275">
                    <a:solidFill>
                      <a:srgbClr val="615B91"/>
                    </a:solidFill>
                    <a:latin typeface="Montserrat"/>
                    <a:ea typeface="Montserrat"/>
                    <a:cs typeface="Montserrat"/>
                  </a:rPr>
                  <a:t>Размер данных </a:t>
                </a:r>
                <a:r>
                  <a:rPr lang="en-US" sz="1275">
                    <a:solidFill>
                      <a:srgbClr val="615B91"/>
                    </a:solidFill>
                    <a:latin typeface="Montserrat"/>
                    <a:ea typeface="Montserrat"/>
                    <a:cs typeface="Montserrat"/>
                  </a:rPr>
                  <a:t>n</a:t>
                </a:r>
              </a:p>
            </c:rich>
          </c:tx>
          <c:overlay val="0"/>
        </c:title>
        <c:numFmt formatCode="General" sourceLinked="1"/>
        <c:majorTickMark val="none"/>
        <c:minorTickMark val="none"/>
        <c:tickLblPos val="none"/>
        <c:spPr>
          <a:ln w="9525">
            <a:solidFill>
              <a:srgbClr val="8B80B0"/>
            </a:solidFill>
          </a:ln>
        </c:spPr>
        <c:txPr>
          <a:bodyPr anchorCtr="1"/>
          <a:lstStyle/>
          <a:p>
            <a:pPr>
              <a:defRPr>
                <a:solidFill>
                  <a:srgbClr val="666666"/>
                </a:solidFill>
                <a:latin typeface="Montserrat"/>
                <a:ea typeface="Montserrat"/>
                <a:cs typeface="Montserrat"/>
              </a:defRPr>
            </a:pPr>
            <a:endParaRPr lang="ru-RU"/>
          </a:p>
        </c:txPr>
        <c:crossAx val="48672768"/>
        <c:crosses val="autoZero"/>
        <c:crossBetween val="midCat"/>
      </c:valAx>
      <c:spPr>
        <a:noFill/>
        <a:ln w="0">
          <a:noFill/>
        </a:ln>
      </c:spPr>
    </c:plotArea>
    <c:plotVisOnly val="1"/>
    <c:dispBlanksAs val="zero"/>
    <c:showDLblsOverMax val="1"/>
  </c:chart>
  <c:spPr>
    <a:noFill/>
    <a:ln w="0">
      <a:noFill/>
    </a:ln>
  </c:sp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DFDF331-AEE9-4187-8642-DBB3BDF28E90}" type="datetimeFigureOut">
              <a:rPr lang="ru-RU" smtClean="0"/>
              <a:t>09.09.2026</a:t>
            </a:fld>
            <a:endParaRPr lang="ru-RU"/>
          </a:p>
        </p:txBody>
      </p:sp>
      <p:sp>
        <p:nvSpPr>
          <p:cNvPr id="4" name="Образ слайда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8093857-F793-4960-89DF-D50C2129606D}" type="slidenum">
              <a:rPr lang="ru-RU" smtClean="0"/>
              <a:t>‹#›</a:t>
            </a:fld>
            <a:endParaRPr lang="ru-RU"/>
          </a:p>
        </p:txBody>
      </p:sp>
    </p:spTree>
    <p:extLst>
      <p:ext uri="{BB962C8B-B14F-4D97-AF65-F5344CB8AC3E}">
        <p14:creationId xmlns:p14="http://schemas.microsoft.com/office/powerpoint/2010/main" val="1370318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28093857-F793-4960-89DF-D50C2129606D}" type="slidenum">
              <a:rPr lang="ru-RU" smtClean="0"/>
              <a:t>15</a:t>
            </a:fld>
            <a:endParaRPr lang="ru-RU"/>
          </a:p>
        </p:txBody>
      </p:sp>
    </p:spTree>
    <p:extLst>
      <p:ext uri="{BB962C8B-B14F-4D97-AF65-F5344CB8AC3E}">
        <p14:creationId xmlns:p14="http://schemas.microsoft.com/office/powerpoint/2010/main" val="32307630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лайд">
    <p:spTree>
      <p:nvGrpSpPr>
        <p:cNvPr id="1" name=""/>
        <p:cNvGrpSpPr/>
        <p:nvPr/>
      </p:nvGrpSpPr>
      <p:grpSpPr bwMode="auto">
        <a:xfrm>
          <a:off x="0" y="0"/>
          <a:ext cx="0" cy="0"/>
          <a:chOff x="0" y="0"/>
          <a:chExt cx="0" cy="0"/>
        </a:xfrm>
      </p:grpSpPr>
      <p:pic>
        <p:nvPicPr>
          <p:cNvPr id="12" name="Рисунок 11"/>
          <p:cNvPicPr>
            <a:picLocks noChangeAspect="1"/>
          </p:cNvPicPr>
          <p:nvPr userDrawn="1"/>
        </p:nvPicPr>
        <p:blipFill>
          <a:blip r:embed="rId2"/>
          <a:srcRect t="2573" b="2572"/>
          <a:stretch/>
        </p:blipFill>
        <p:spPr bwMode="auto">
          <a:xfrm>
            <a:off x="-35560" y="-31900"/>
            <a:ext cx="3650615" cy="6925460"/>
          </a:xfrm>
          <a:prstGeom prst="rect">
            <a:avLst/>
          </a:prstGeom>
        </p:spPr>
      </p:pic>
      <p:sp>
        <p:nvSpPr>
          <p:cNvPr id="13" name="Прямоугольник 12"/>
          <p:cNvSpPr/>
          <p:nvPr userDrawn="1"/>
        </p:nvSpPr>
        <p:spPr bwMode="auto">
          <a:xfrm>
            <a:off x="3615054" y="-31900"/>
            <a:ext cx="8576945" cy="6889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35" name="Текст 34"/>
          <p:cNvSpPr>
            <a:spLocks noGrp="1"/>
          </p:cNvSpPr>
          <p:nvPr>
            <p:ph type="body" sz="quarter" idx="12" hasCustomPrompt="1"/>
          </p:nvPr>
        </p:nvSpPr>
        <p:spPr bwMode="auto">
          <a:xfrm>
            <a:off x="3800791" y="6024880"/>
            <a:ext cx="8056247" cy="746760"/>
          </a:xfrm>
        </p:spPr>
        <p:txBody>
          <a:bodyPr>
            <a:noAutofit/>
          </a:bodyPr>
          <a:lstStyle>
            <a:lvl1pPr marL="0" indent="0" algn="l">
              <a:lnSpc>
                <a:spcPct val="100000"/>
              </a:lnSpc>
              <a:spcBef>
                <a:spcPts val="0"/>
              </a:spcBef>
              <a:buNone/>
              <a:defRPr sz="1600">
                <a:solidFill>
                  <a:schemeClr val="accent6"/>
                </a:solidFill>
              </a:defRPr>
            </a:lvl1pPr>
          </a:lstStyle>
          <a:p>
            <a:pPr algn="l">
              <a:defRPr/>
            </a:pPr>
            <a:r>
              <a:rPr lang="ru-RU"/>
              <a:t>Поле для дополнительной информации (16</a:t>
            </a:r>
            <a:r>
              <a:rPr lang="en-US"/>
              <a:t>pt</a:t>
            </a:r>
            <a:r>
              <a:rPr lang="ru-RU"/>
              <a:t>)</a:t>
            </a:r>
            <a:br>
              <a:rPr lang="ru-RU"/>
            </a:br>
            <a:r>
              <a:rPr lang="ru-RU"/>
              <a:t>(пример: Фамилия Имя Отчество; Должность; Место проведения)</a:t>
            </a:r>
            <a:endParaRPr/>
          </a:p>
        </p:txBody>
      </p:sp>
      <p:sp>
        <p:nvSpPr>
          <p:cNvPr id="40" name="Текст 39"/>
          <p:cNvSpPr>
            <a:spLocks noGrp="1"/>
          </p:cNvSpPr>
          <p:nvPr>
            <p:ph type="body" sz="quarter" idx="13" hasCustomPrompt="1"/>
          </p:nvPr>
        </p:nvSpPr>
        <p:spPr bwMode="auto">
          <a:xfrm>
            <a:off x="3800791" y="4003199"/>
            <a:ext cx="8050849" cy="1655762"/>
          </a:xfrm>
        </p:spPr>
        <p:txBody>
          <a:bodyPr/>
          <a:lstStyle>
            <a:lvl1pPr marL="0" indent="0">
              <a:buNone/>
              <a:defRPr sz="2400"/>
            </a:lvl1pPr>
          </a:lstStyle>
          <a:p>
            <a:pPr marL="0" marR="0" lvl="0" indent="0" algn="l" defTabSz="914400">
              <a:lnSpc>
                <a:spcPct val="90000"/>
              </a:lnSpc>
              <a:spcBef>
                <a:spcPts val="1000"/>
              </a:spcBef>
              <a:spcAft>
                <a:spcPts val="0"/>
              </a:spcAft>
              <a:buClrTx/>
              <a:buSzTx/>
              <a:buFont typeface="Arial"/>
              <a:buNone/>
              <a:defRPr/>
            </a:pPr>
            <a:r>
              <a:rPr lang="ru-RU">
                <a:latin typeface="Montserrat"/>
              </a:rPr>
              <a:t>Если информации много, то</a:t>
            </a:r>
            <a:r>
              <a:rPr lang="en-US">
                <a:latin typeface="Montserrat"/>
              </a:rPr>
              <a:t> </a:t>
            </a:r>
            <a:r>
              <a:rPr lang="ru-RU">
                <a:latin typeface="Montserrat"/>
              </a:rPr>
              <a:t>рекомендуется </a:t>
            </a:r>
            <a:r>
              <a:rPr lang="en-US">
                <a:latin typeface="Montserrat"/>
              </a:rPr>
              <a:t> </a:t>
            </a:r>
            <a:r>
              <a:rPr lang="ru-RU">
                <a:latin typeface="Montserrat"/>
              </a:rPr>
              <a:t> использовать подзаголовок (24</a:t>
            </a:r>
            <a:r>
              <a:rPr lang="en-US">
                <a:latin typeface="Montserrat"/>
              </a:rPr>
              <a:t>pt</a:t>
            </a:r>
            <a:r>
              <a:rPr lang="ru-RU">
                <a:latin typeface="Montserrat"/>
              </a:rPr>
              <a:t>)</a:t>
            </a:r>
            <a:endParaRPr/>
          </a:p>
          <a:p>
            <a:pPr lvl="0">
              <a:defRPr/>
            </a:pPr>
            <a:endParaRPr lang="ru-RU"/>
          </a:p>
        </p:txBody>
      </p:sp>
      <p:sp>
        <p:nvSpPr>
          <p:cNvPr id="42" name="Текст 41"/>
          <p:cNvSpPr>
            <a:spLocks noGrp="1"/>
          </p:cNvSpPr>
          <p:nvPr>
            <p:ph type="body" sz="quarter" idx="14" hasCustomPrompt="1"/>
          </p:nvPr>
        </p:nvSpPr>
        <p:spPr bwMode="auto">
          <a:xfrm>
            <a:off x="488435" y="6024880"/>
            <a:ext cx="2638182" cy="335280"/>
          </a:xfrm>
        </p:spPr>
        <p:txBody>
          <a:bodyPr anchor="t">
            <a:noAutofit/>
          </a:bodyPr>
          <a:lstStyle>
            <a:lvl1pPr marL="0" indent="0" algn="ctr">
              <a:buNone/>
              <a:defRPr sz="1600" b="0">
                <a:solidFill>
                  <a:schemeClr val="bg1"/>
                </a:solidFill>
                <a:latin typeface="+mj-lt"/>
              </a:defRPr>
            </a:lvl1pPr>
            <a:lvl2pPr algn="ctr">
              <a:defRPr sz="1600" b="1">
                <a:solidFill>
                  <a:schemeClr val="bg1"/>
                </a:solidFill>
                <a:latin typeface="+mn-lt"/>
              </a:defRPr>
            </a:lvl2pPr>
          </a:lstStyle>
          <a:p>
            <a:pPr marL="0" marR="0" lvl="0" indent="0" algn="l" defTabSz="914400">
              <a:lnSpc>
                <a:spcPct val="90000"/>
              </a:lnSpc>
              <a:spcBef>
                <a:spcPts val="1000"/>
              </a:spcBef>
              <a:spcAft>
                <a:spcPts val="0"/>
              </a:spcAft>
              <a:buClrTx/>
              <a:buSzTx/>
              <a:buFont typeface="Arial"/>
              <a:buNone/>
              <a:defRPr/>
            </a:pPr>
            <a:r>
              <a:rPr lang="ru-RU"/>
              <a:t>Дата (хх.хх.хххх г.)</a:t>
            </a:r>
            <a:endParaRPr/>
          </a:p>
        </p:txBody>
      </p:sp>
      <p:sp>
        <p:nvSpPr>
          <p:cNvPr id="47" name="Заголовок 46"/>
          <p:cNvSpPr>
            <a:spLocks noGrp="1"/>
          </p:cNvSpPr>
          <p:nvPr>
            <p:ph type="title" hasCustomPrompt="1"/>
          </p:nvPr>
        </p:nvSpPr>
        <p:spPr bwMode="auto">
          <a:xfrm>
            <a:off x="3806188" y="1396366"/>
            <a:ext cx="8045451" cy="2032634"/>
          </a:xfrm>
        </p:spPr>
        <p:txBody>
          <a:bodyPr/>
          <a:lstStyle>
            <a:lvl1pPr>
              <a:defRPr sz="4000" b="0">
                <a:latin typeface="Montserrat SemiBold"/>
              </a:defRPr>
            </a:lvl1pPr>
          </a:lstStyle>
          <a:p>
            <a:pPr>
              <a:defRPr/>
            </a:pPr>
            <a:r>
              <a:rPr lang="ru-RU" sz="4000">
                <a:latin typeface="Montserrat"/>
              </a:rPr>
              <a:t>Название презентации может быть набрано </a:t>
            </a:r>
            <a:br>
              <a:rPr lang="ru-RU" sz="4000">
                <a:latin typeface="Montserrat"/>
              </a:rPr>
            </a:br>
            <a:r>
              <a:rPr lang="ru-RU" sz="4000">
                <a:latin typeface="Montserrat"/>
              </a:rPr>
              <a:t>в две или три строки</a:t>
            </a:r>
            <a:r>
              <a:rPr lang="en-US" sz="4000">
                <a:latin typeface="Montserrat"/>
              </a:rPr>
              <a:t> (</a:t>
            </a:r>
            <a:r>
              <a:rPr lang="ru-RU" sz="4000">
                <a:latin typeface="Montserrat"/>
              </a:rPr>
              <a:t>40</a:t>
            </a:r>
            <a:r>
              <a:rPr lang="en-US" sz="4000">
                <a:latin typeface="Montserrat"/>
              </a:rPr>
              <a:t>pt)</a:t>
            </a:r>
            <a:endParaRPr lang="ru-RU"/>
          </a:p>
        </p:txBody>
      </p:sp>
      <p:pic>
        <p:nvPicPr>
          <p:cNvPr id="9" name="Рисунок 8"/>
          <p:cNvPicPr>
            <a:picLocks noChangeAspect="1"/>
          </p:cNvPicPr>
          <p:nvPr userDrawn="1"/>
        </p:nvPicPr>
        <p:blipFill>
          <a:blip r:embed="rId3"/>
          <a:stretch/>
        </p:blipFill>
        <p:spPr bwMode="auto">
          <a:xfrm>
            <a:off x="697047" y="404842"/>
            <a:ext cx="2185400" cy="67339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a:xfrm>
            <a:off x="479424" y="6356350"/>
            <a:ext cx="7673976" cy="365125"/>
          </a:xfrm>
        </p:spPr>
        <p:txBody>
          <a:bodyPr/>
          <a:lstStyle>
            <a:lvl1pPr algn="l">
              <a:defRPr/>
            </a:lvl1p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524375" y="1798320"/>
            <a:ext cx="7185025"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38925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6" y="2763520"/>
            <a:ext cx="389255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6" y="5603240"/>
            <a:ext cx="3892550"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4"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6309042" y="1798320"/>
            <a:ext cx="5400358"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5616576" cy="853440"/>
          </a:xfrm>
        </p:spPr>
        <p:txBody>
          <a:bodyPr>
            <a:noAutofit/>
          </a:bodyPr>
          <a:lstStyle>
            <a:lvl1pPr algn="l">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7781926" y="1798320"/>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3" y="1798320"/>
            <a:ext cx="70548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7054850"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7054849"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9" name="Рисунок 12"/>
          <p:cNvSpPr>
            <a:spLocks noGrp="1"/>
          </p:cNvSpPr>
          <p:nvPr>
            <p:ph type="pic" sz="quarter" idx="19" hasCustomPrompt="1"/>
          </p:nvPr>
        </p:nvSpPr>
        <p:spPr bwMode="auto">
          <a:xfrm>
            <a:off x="7781926" y="4057332"/>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5"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3" name="Рисунок 12"/>
          <p:cNvSpPr>
            <a:spLocks noGrp="1"/>
          </p:cNvSpPr>
          <p:nvPr>
            <p:ph type="pic" sz="quarter" idx="18" hasCustomPrompt="1"/>
          </p:nvPr>
        </p:nvSpPr>
        <p:spPr bwMode="auto">
          <a:xfrm>
            <a:off x="6280470"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6280470"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5">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3544247"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p:txBody>
      </p:sp>
      <p:sp>
        <p:nvSpPr>
          <p:cNvPr id="3" name="Рисунок 12"/>
          <p:cNvSpPr>
            <a:spLocks noGrp="1"/>
          </p:cNvSpPr>
          <p:nvPr>
            <p:ph type="pic" sz="quarter" idx="18" hasCustomPrompt="1"/>
          </p:nvPr>
        </p:nvSpPr>
        <p:spPr bwMode="auto">
          <a:xfrm>
            <a:off x="4316413"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3510280"/>
            <a:ext cx="3544249"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5" name="Рисунок 12"/>
          <p:cNvSpPr>
            <a:spLocks noGrp="1"/>
          </p:cNvSpPr>
          <p:nvPr>
            <p:ph type="pic" sz="quarter" idx="20" hasCustomPrompt="1"/>
          </p:nvPr>
        </p:nvSpPr>
        <p:spPr bwMode="auto">
          <a:xfrm>
            <a:off x="8153399"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3510280"/>
            <a:ext cx="355600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6">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3" name="Рисунок 12"/>
          <p:cNvSpPr>
            <a:spLocks noGrp="1"/>
          </p:cNvSpPr>
          <p:nvPr>
            <p:ph type="pic" sz="quarter" idx="18" hasCustomPrompt="1"/>
          </p:nvPr>
        </p:nvSpPr>
        <p:spPr bwMode="auto">
          <a:xfrm>
            <a:off x="4316413"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5" name="Рисунок 12"/>
          <p:cNvSpPr>
            <a:spLocks noGrp="1"/>
          </p:cNvSpPr>
          <p:nvPr>
            <p:ph type="pic" sz="quarter" idx="20" hasCustomPrompt="1"/>
          </p:nvPr>
        </p:nvSpPr>
        <p:spPr bwMode="auto">
          <a:xfrm>
            <a:off x="8153399" y="1686558"/>
            <a:ext cx="3544250" cy="271875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7">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2" name="Рисунок 12"/>
          <p:cNvSpPr>
            <a:spLocks noGrp="1"/>
          </p:cNvSpPr>
          <p:nvPr>
            <p:ph type="pic" sz="quarter" idx="22" hasCustomPrompt="1"/>
          </p:nvPr>
        </p:nvSpPr>
        <p:spPr bwMode="auto">
          <a:xfrm>
            <a:off x="479426"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4" name="Рисунок 12"/>
          <p:cNvSpPr>
            <a:spLocks noGrp="1"/>
          </p:cNvSpPr>
          <p:nvPr>
            <p:ph type="pic" sz="quarter" idx="23" hasCustomPrompt="1"/>
          </p:nvPr>
        </p:nvSpPr>
        <p:spPr bwMode="auto">
          <a:xfrm>
            <a:off x="4323875"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Рисунок 12"/>
          <p:cNvSpPr>
            <a:spLocks noGrp="1"/>
          </p:cNvSpPr>
          <p:nvPr>
            <p:ph type="pic" sz="quarter" idx="24" hasCustomPrompt="1"/>
          </p:nvPr>
        </p:nvSpPr>
        <p:spPr bwMode="auto">
          <a:xfrm>
            <a:off x="4323875"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Рисунок 12"/>
          <p:cNvSpPr>
            <a:spLocks noGrp="1"/>
          </p:cNvSpPr>
          <p:nvPr>
            <p:ph type="pic" sz="quarter" idx="25" hasCustomPrompt="1"/>
          </p:nvPr>
        </p:nvSpPr>
        <p:spPr bwMode="auto">
          <a:xfrm>
            <a:off x="8165150"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7" name="Рисунок 12"/>
          <p:cNvSpPr>
            <a:spLocks noGrp="1"/>
          </p:cNvSpPr>
          <p:nvPr>
            <p:ph type="pic" sz="quarter" idx="26" hasCustomPrompt="1"/>
          </p:nvPr>
        </p:nvSpPr>
        <p:spPr bwMode="auto">
          <a:xfrm>
            <a:off x="8165150"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9"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МТУСИ_Иллюстрация процесса">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3" y="2735265"/>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5" name="Текст 14"/>
          <p:cNvSpPr>
            <a:spLocks noGrp="1"/>
          </p:cNvSpPr>
          <p:nvPr>
            <p:ph type="body" sz="quarter" idx="14" hasCustomPrompt="1"/>
          </p:nvPr>
        </p:nvSpPr>
        <p:spPr bwMode="auto">
          <a:xfrm>
            <a:off x="479423" y="1798320"/>
            <a:ext cx="11233152"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1971675" y="2735266"/>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24" name="Текст 23"/>
          <p:cNvSpPr>
            <a:spLocks noGrp="1"/>
          </p:cNvSpPr>
          <p:nvPr>
            <p:ph type="body" sz="quarter" idx="18" hasCustomPrompt="1"/>
          </p:nvPr>
        </p:nvSpPr>
        <p:spPr bwMode="auto">
          <a:xfrm>
            <a:off x="479425" y="5603240"/>
            <a:ext cx="11229974"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Рисунок 12"/>
          <p:cNvSpPr>
            <a:spLocks noGrp="1"/>
          </p:cNvSpPr>
          <p:nvPr>
            <p:ph type="pic" sz="quarter" idx="19" hasCustomPrompt="1"/>
          </p:nvPr>
        </p:nvSpPr>
        <p:spPr bwMode="auto">
          <a:xfrm>
            <a:off x="479423" y="3702060"/>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4" name="Рисунок 12"/>
          <p:cNvSpPr>
            <a:spLocks noGrp="1"/>
          </p:cNvSpPr>
          <p:nvPr>
            <p:ph type="pic" sz="quarter" idx="20" hasCustomPrompt="1"/>
          </p:nvPr>
        </p:nvSpPr>
        <p:spPr bwMode="auto">
          <a:xfrm>
            <a:off x="479423" y="4638039"/>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7" name="Текст 21"/>
          <p:cNvSpPr>
            <a:spLocks noGrp="1"/>
          </p:cNvSpPr>
          <p:nvPr>
            <p:ph type="body" sz="quarter" idx="21" hasCustomPrompt="1"/>
          </p:nvPr>
        </p:nvSpPr>
        <p:spPr bwMode="auto">
          <a:xfrm>
            <a:off x="1971674" y="3699500"/>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8" name="Текст 21"/>
          <p:cNvSpPr>
            <a:spLocks noGrp="1"/>
          </p:cNvSpPr>
          <p:nvPr>
            <p:ph type="body" sz="quarter" idx="22" hasCustomPrompt="1"/>
          </p:nvPr>
        </p:nvSpPr>
        <p:spPr bwMode="auto">
          <a:xfrm>
            <a:off x="1971673" y="4636445"/>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9" name="Текст 3"/>
          <p:cNvSpPr>
            <a:spLocks noGrp="1"/>
          </p:cNvSpPr>
          <p:nvPr>
            <p:ph type="body" sz="quarter" idx="23"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6375" cy="365125"/>
          </a:xfrm>
        </p:spPr>
        <p:txBody>
          <a:bodyPr/>
          <a:lstStyle/>
          <a:p>
            <a:pPr>
              <a:defRPr/>
            </a:pPr>
            <a:fld id="{56DCE2C9-06B9-4058-BEBD-6FDE8D61F8A0}" type="slidenum">
              <a:rPr lang="ru-RU"/>
              <a:t>‹#›</a:t>
            </a:fld>
            <a:endParaRPr lang="ru-RU"/>
          </a:p>
        </p:txBody>
      </p:sp>
      <p:sp>
        <p:nvSpPr>
          <p:cNvPr id="15" name="Текст 14"/>
          <p:cNvSpPr>
            <a:spLocks noGrp="1"/>
          </p:cNvSpPr>
          <p:nvPr>
            <p:ph type="body" sz="quarter" idx="14" hasCustomPrompt="1"/>
          </p:nvPr>
        </p:nvSpPr>
        <p:spPr bwMode="auto">
          <a:xfrm>
            <a:off x="479424" y="1922465"/>
            <a:ext cx="5616576" cy="729294"/>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графика может быть набрано в две или три строки</a:t>
            </a:r>
            <a:r>
              <a:rPr lang="ru-RU" sz="1600">
                <a:latin typeface="Montserrat"/>
              </a:rPr>
              <a:t> </a:t>
            </a:r>
            <a:r>
              <a:rPr lang="ru-RU"/>
              <a:t>(16</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33" name="Диаграмма 32"/>
          <p:cNvSpPr>
            <a:spLocks noGrp="1"/>
          </p:cNvSpPr>
          <p:nvPr>
            <p:ph type="chart" sz="quarter" idx="19" hasCustomPrompt="1"/>
          </p:nvPr>
        </p:nvSpPr>
        <p:spPr bwMode="auto">
          <a:xfrm>
            <a:off x="6356350" y="1923100"/>
            <a:ext cx="5353050" cy="4249100"/>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4" name="Текст 21"/>
          <p:cNvSpPr>
            <a:spLocks noGrp="1"/>
          </p:cNvSpPr>
          <p:nvPr>
            <p:ph type="body" sz="quarter" idx="19" hasCustomPrompt="1"/>
          </p:nvPr>
        </p:nvSpPr>
        <p:spPr bwMode="auto">
          <a:xfrm>
            <a:off x="6280470"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Диаграмма 32"/>
          <p:cNvSpPr>
            <a:spLocks noGrp="1"/>
          </p:cNvSpPr>
          <p:nvPr>
            <p:ph type="chart" sz="quarter" idx="22" hasCustomPrompt="1"/>
          </p:nvPr>
        </p:nvSpPr>
        <p:spPr bwMode="auto">
          <a:xfrm>
            <a:off x="482600" y="1746941"/>
            <a:ext cx="5430519"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2" name="Диаграмма 32"/>
          <p:cNvSpPr>
            <a:spLocks noGrp="1"/>
          </p:cNvSpPr>
          <p:nvPr>
            <p:ph type="chart" sz="quarter" idx="23" hasCustomPrompt="1"/>
          </p:nvPr>
        </p:nvSpPr>
        <p:spPr bwMode="auto">
          <a:xfrm>
            <a:off x="6275704" y="1746941"/>
            <a:ext cx="5433695"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Текст 3"/>
          <p:cNvSpPr>
            <a:spLocks noGrp="1"/>
          </p:cNvSpPr>
          <p:nvPr>
            <p:ph type="body" sz="quarter" idx="24"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6" name="Текст 21"/>
          <p:cNvSpPr>
            <a:spLocks noGrp="1"/>
          </p:cNvSpPr>
          <p:nvPr>
            <p:ph type="body" sz="quarter" idx="21" hasCustomPrompt="1"/>
          </p:nvPr>
        </p:nvSpPr>
        <p:spPr bwMode="auto">
          <a:xfrm>
            <a:off x="8153399" y="1705608"/>
            <a:ext cx="3544246" cy="45326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Если диаграмма содержит цветовое кодирование или условные обозначения, убедитесь, что вы объяснили их значение. Дайте краткий вывод о том, что показывает диаграмма и что можно сделать на основе ее данных.</a:t>
            </a:r>
            <a:endParaRPr/>
          </a:p>
        </p:txBody>
      </p:sp>
      <p:sp>
        <p:nvSpPr>
          <p:cNvPr id="12" name="Диаграмма 32"/>
          <p:cNvSpPr>
            <a:spLocks noGrp="1"/>
          </p:cNvSpPr>
          <p:nvPr>
            <p:ph type="chart" sz="quarter" idx="22" hasCustomPrompt="1"/>
          </p:nvPr>
        </p:nvSpPr>
        <p:spPr bwMode="auto">
          <a:xfrm>
            <a:off x="479425"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21"/>
          <p:cNvSpPr>
            <a:spLocks noGrp="1"/>
          </p:cNvSpPr>
          <p:nvPr>
            <p:ph type="body" sz="quarter" idx="24" hasCustomPrompt="1"/>
          </p:nvPr>
        </p:nvSpPr>
        <p:spPr bwMode="auto">
          <a:xfrm>
            <a:off x="479425" y="5296534"/>
            <a:ext cx="3544245"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6" name="Текст 21"/>
          <p:cNvSpPr>
            <a:spLocks noGrp="1"/>
          </p:cNvSpPr>
          <p:nvPr>
            <p:ph type="body" sz="quarter" idx="25" hasCustomPrompt="1"/>
          </p:nvPr>
        </p:nvSpPr>
        <p:spPr bwMode="auto">
          <a:xfrm>
            <a:off x="4316412" y="5290183"/>
            <a:ext cx="3544247"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2" name="Диаграмма 32"/>
          <p:cNvSpPr>
            <a:spLocks noGrp="1"/>
          </p:cNvSpPr>
          <p:nvPr>
            <p:ph type="chart" sz="quarter" idx="22" hasCustomPrompt="1"/>
          </p:nvPr>
        </p:nvSpPr>
        <p:spPr bwMode="auto">
          <a:xfrm>
            <a:off x="479425"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5" name="Диаграмма 32"/>
          <p:cNvSpPr>
            <a:spLocks noGrp="1"/>
          </p:cNvSpPr>
          <p:nvPr>
            <p:ph type="chart" sz="quarter" idx="24" hasCustomPrompt="1"/>
          </p:nvPr>
        </p:nvSpPr>
        <p:spPr bwMode="auto">
          <a:xfrm>
            <a:off x="8153399"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6" name="Текст 3"/>
          <p:cNvSpPr>
            <a:spLocks noGrp="1"/>
          </p:cNvSpPr>
          <p:nvPr>
            <p:ph type="body" sz="quarter" idx="25"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21"/>
          <p:cNvSpPr>
            <a:spLocks noGrp="1"/>
          </p:cNvSpPr>
          <p:nvPr>
            <p:ph type="body" sz="quarter" idx="27" hasCustomPrompt="1"/>
          </p:nvPr>
        </p:nvSpPr>
        <p:spPr bwMode="auto">
          <a:xfrm>
            <a:off x="482600"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7" name="Текст 21"/>
          <p:cNvSpPr>
            <a:spLocks noGrp="1"/>
          </p:cNvSpPr>
          <p:nvPr>
            <p:ph type="body" sz="quarter" idx="28" hasCustomPrompt="1"/>
          </p:nvPr>
        </p:nvSpPr>
        <p:spPr bwMode="auto">
          <a:xfrm>
            <a:off x="482600"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18" name="Текст 21"/>
          <p:cNvSpPr>
            <a:spLocks noGrp="1"/>
          </p:cNvSpPr>
          <p:nvPr>
            <p:ph type="body" sz="quarter" idx="29" hasCustomPrompt="1"/>
          </p:nvPr>
        </p:nvSpPr>
        <p:spPr bwMode="auto">
          <a:xfrm>
            <a:off x="4327052"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9" name="Текст 21"/>
          <p:cNvSpPr>
            <a:spLocks noGrp="1"/>
          </p:cNvSpPr>
          <p:nvPr>
            <p:ph type="body" sz="quarter" idx="30" hasCustomPrompt="1"/>
          </p:nvPr>
        </p:nvSpPr>
        <p:spPr bwMode="auto">
          <a:xfrm>
            <a:off x="4327051"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20" name="Текст 21"/>
          <p:cNvSpPr>
            <a:spLocks noGrp="1"/>
          </p:cNvSpPr>
          <p:nvPr>
            <p:ph type="body" sz="quarter" idx="31" hasCustomPrompt="1"/>
          </p:nvPr>
        </p:nvSpPr>
        <p:spPr bwMode="auto">
          <a:xfrm>
            <a:off x="8168328"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21" name="Текст 21"/>
          <p:cNvSpPr>
            <a:spLocks noGrp="1"/>
          </p:cNvSpPr>
          <p:nvPr>
            <p:ph type="body" sz="quarter" idx="32" hasCustomPrompt="1"/>
          </p:nvPr>
        </p:nvSpPr>
        <p:spPr bwMode="auto">
          <a:xfrm>
            <a:off x="8168327"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23"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828799"/>
            <a:ext cx="3544247"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4" name="Текст 21"/>
          <p:cNvSpPr>
            <a:spLocks noGrp="1"/>
          </p:cNvSpPr>
          <p:nvPr>
            <p:ph type="body" sz="quarter" idx="19" hasCustomPrompt="1"/>
          </p:nvPr>
        </p:nvSpPr>
        <p:spPr bwMode="auto">
          <a:xfrm>
            <a:off x="4316412" y="1828637"/>
            <a:ext cx="3544249" cy="440452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6" name="Текст 21"/>
          <p:cNvSpPr>
            <a:spLocks noGrp="1"/>
          </p:cNvSpPr>
          <p:nvPr>
            <p:ph type="body" sz="quarter" idx="21" hasCustomPrompt="1"/>
          </p:nvPr>
        </p:nvSpPr>
        <p:spPr bwMode="auto">
          <a:xfrm>
            <a:off x="8153399" y="1828799"/>
            <a:ext cx="3556000"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738315"/>
            <a:ext cx="11233150" cy="4499924"/>
          </a:xfrm>
        </p:spPr>
        <p:txBody>
          <a:bodyPr numCol="3" spcCol="360000"/>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ru-RU"/>
            </a:b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8"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2" name="Текст 21"/>
          <p:cNvSpPr>
            <a:spLocks noGrp="1"/>
          </p:cNvSpPr>
          <p:nvPr>
            <p:ph type="body" sz="quarter" idx="21" hasCustomPrompt="1"/>
          </p:nvPr>
        </p:nvSpPr>
        <p:spPr bwMode="auto">
          <a:xfrm>
            <a:off x="8255479" y="2440089"/>
            <a:ext cx="3457096" cy="3123949"/>
          </a:xfrm>
        </p:spPr>
        <p:txBody>
          <a:bodyPr/>
          <a:lstStyle>
            <a:lvl1pPr algn="l">
              <a:defRPr sz="1200" b="0">
                <a:latin typeface="+mn-lt"/>
              </a:defRPr>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(12pt). Несколько рекомендаций для описания таблицы:</a:t>
            </a:r>
            <a:br>
              <a:rPr lang="ru-RU"/>
            </a:br>
            <a:r>
              <a:rPr lang="ru-RU"/>
              <a:t> 1. Перед тем, как описывать таблицу, убедитесь, что в ней содержится достаточно информации, и она действительно необходима для вашей аудитории. </a:t>
            </a:r>
            <a:br>
              <a:rPr lang="ru-RU"/>
            </a:br>
            <a:r>
              <a:rPr lang="ru-RU"/>
              <a:t>2. Хорошее описание таблицы должно включать в себя не только факты и данные, но и основные выводы, которые можно сделать на основе этих данных. </a:t>
            </a:r>
            <a:br>
              <a:rPr lang="ru-RU"/>
            </a:br>
            <a:r>
              <a:rPr lang="ru-RU"/>
              <a:t>3. Используйте ясный и простой язык, чтобы ваше описание было понятно всем пользователям.</a:t>
            </a:r>
            <a:endParaRPr/>
          </a:p>
          <a:p>
            <a:pPr marL="0" marR="0" lvl="0" indent="0" algn="just" defTabSz="914400">
              <a:lnSpc>
                <a:spcPct val="90000"/>
              </a:lnSpc>
              <a:spcBef>
                <a:spcPts val="1000"/>
              </a:spcBef>
              <a:spcAft>
                <a:spcPts val="0"/>
              </a:spcAft>
              <a:buClrTx/>
              <a:buSzTx/>
              <a:buFontTx/>
              <a:buNone/>
              <a:defRPr/>
            </a:pPr>
            <a:endParaRPr lang="ru-RU"/>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7673975" cy="3123949"/>
          </a:xfrm>
        </p:spPr>
        <p:txBody>
          <a:bodyPr anchor="ctr"/>
          <a:lstStyle>
            <a:lvl1pPr algn="ctr">
              <a:defRPr/>
            </a:lvl1pPr>
          </a:lstStyle>
          <a:p>
            <a:pPr>
              <a:defRPr/>
            </a:pPr>
            <a:r>
              <a:rPr lang="ru-RU"/>
              <a:t>Таблица</a:t>
            </a:r>
            <a:endParaRPr/>
          </a:p>
        </p:txBody>
      </p:sp>
      <p:sp>
        <p:nvSpPr>
          <p:cNvPr id="15"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2">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11228385" cy="3123949"/>
          </a:xfrm>
        </p:spPr>
        <p:txBody>
          <a:bodyPr anchor="ctr"/>
          <a:lstStyle>
            <a:lvl1pPr algn="ctr">
              <a:defRPr/>
            </a:lvl1pPr>
          </a:lstStyle>
          <a:p>
            <a:pPr>
              <a:defRPr/>
            </a:pPr>
            <a:r>
              <a:rPr lang="ru-RU"/>
              <a:t>Таблица</a:t>
            </a:r>
            <a:endParaRPr/>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МТУСИ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pic>
        <p:nvPicPr>
          <p:cNvPr id="9" name="Рисунок 8"/>
          <p:cNvPicPr>
            <a:picLocks noChangeAspect="1"/>
          </p:cNvPicPr>
          <p:nvPr userDrawn="1"/>
        </p:nvPicPr>
        <p:blipFill>
          <a:blip r:embed="rId22"/>
          <a:stretch/>
        </p:blipFill>
        <p:spPr bwMode="auto">
          <a:xfrm>
            <a:off x="96520" y="0"/>
            <a:ext cx="12038470" cy="6771640"/>
          </a:xfrm>
          <a:prstGeom prst="rect">
            <a:avLst/>
          </a:prstGeom>
        </p:spPr>
      </p:pic>
      <p:pic>
        <p:nvPicPr>
          <p:cNvPr id="12" name="Рисунок 11"/>
          <p:cNvPicPr>
            <a:picLocks noChangeAspect="1"/>
          </p:cNvPicPr>
          <p:nvPr userDrawn="1"/>
        </p:nvPicPr>
        <p:blipFill>
          <a:blip r:embed="rId23"/>
          <a:stretch/>
        </p:blipFill>
        <p:spPr bwMode="auto">
          <a:xfrm>
            <a:off x="0" y="-20571"/>
            <a:ext cx="12192000" cy="606711"/>
          </a:xfrm>
          <a:prstGeom prst="rect">
            <a:avLst/>
          </a:prstGeom>
        </p:spPr>
      </p:pic>
      <p:sp>
        <p:nvSpPr>
          <p:cNvPr id="2" name="Заголовок 1"/>
          <p:cNvSpPr>
            <a:spLocks noGrp="1"/>
          </p:cNvSpPr>
          <p:nvPr>
            <p:ph type="title"/>
          </p:nvPr>
        </p:nvSpPr>
        <p:spPr bwMode="auto">
          <a:xfrm>
            <a:off x="952500" y="2425748"/>
            <a:ext cx="10899140" cy="1003252"/>
          </a:xfrm>
          <a:prstGeom prst="rect">
            <a:avLst/>
          </a:prstGeom>
        </p:spPr>
        <p:txBody>
          <a:bodyPr vert="horz" lIns="91440" tIns="45720" rIns="91440" bIns="45720" rtlCol="0" anchor="t">
            <a:noAutofit/>
          </a:bodyPr>
          <a:lstStyle/>
          <a:p>
            <a:pPr>
              <a:defRPr/>
            </a:pPr>
            <a:r>
              <a:rPr lang="ru-RU" sz="4400">
                <a:latin typeface="Montserrat"/>
              </a:rPr>
              <a:t>Название </a:t>
            </a:r>
            <a:r>
              <a:rPr lang="en-US" sz="4400">
                <a:latin typeface="Montserrat"/>
              </a:rPr>
              <a:t>(</a:t>
            </a:r>
            <a:r>
              <a:rPr lang="ru-RU" sz="4400">
                <a:latin typeface="Montserrat"/>
              </a:rPr>
              <a:t>44</a:t>
            </a:r>
            <a:r>
              <a:rPr lang="en-US" sz="4400">
                <a:latin typeface="Montserrat"/>
              </a:rPr>
              <a:t>pt)</a:t>
            </a:r>
            <a:endParaRPr lang="ru-RU"/>
          </a:p>
        </p:txBody>
      </p:sp>
      <p:sp>
        <p:nvSpPr>
          <p:cNvPr id="3" name="Текст 2"/>
          <p:cNvSpPr>
            <a:spLocks noGrp="1"/>
          </p:cNvSpPr>
          <p:nvPr>
            <p:ph type="body" idx="1"/>
          </p:nvPr>
        </p:nvSpPr>
        <p:spPr bwMode="auto">
          <a:xfrm>
            <a:off x="952500" y="3676650"/>
            <a:ext cx="10401300" cy="2679700"/>
          </a:xfrm>
          <a:prstGeom prst="rect">
            <a:avLst/>
          </a:prstGeom>
        </p:spPr>
        <p:txBody>
          <a:bodyPr vert="horz" lIns="91440" tIns="45720" rIns="91440" bIns="45720" rtlCol="0" anchor="t">
            <a:normAutofit/>
          </a:bodyPr>
          <a:lstStyle/>
          <a:p>
            <a:pPr lvl="0">
              <a:defRPr/>
            </a:pPr>
            <a:r>
              <a:rPr lang="ru-RU"/>
              <a:t>Образец текст40</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 </a:t>
            </a:r>
            <a:endParaRPr/>
          </a:p>
          <a:p>
            <a:pPr lvl="4">
              <a:defRPr/>
            </a:pPr>
            <a:endParaRPr lang="ru-RU"/>
          </a:p>
          <a:p>
            <a:pPr lvl="4">
              <a:defRPr/>
            </a:pPr>
            <a:endParaRPr lang="ru-RU"/>
          </a:p>
        </p:txBody>
      </p:sp>
      <p:sp>
        <p:nvSpPr>
          <p:cNvPr id="4" name="Дата 3"/>
          <p:cNvSpPr>
            <a:spLocks noGrp="1"/>
          </p:cNvSpPr>
          <p:nvPr>
            <p:ph type="dt" sz="half" idx="2"/>
          </p:nvPr>
        </p:nvSpPr>
        <p:spPr bwMode="auto">
          <a:xfrm>
            <a:off x="479425" y="6352540"/>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fld id="{D2412498-5A2D-41B1-86A5-AAA3110F9D9B}" type="datetimeFigureOut">
              <a:rPr lang="ru-RU"/>
              <a:t>09.09.2026</a:t>
            </a:fld>
            <a:endParaRPr lang="ru-RU"/>
          </a:p>
        </p:txBody>
      </p:sp>
      <p:sp>
        <p:nvSpPr>
          <p:cNvPr id="5" name="Нижний колонтитул 4"/>
          <p:cNvSpPr>
            <a:spLocks noGrp="1"/>
          </p:cNvSpPr>
          <p:nvPr>
            <p:ph type="ftr" sz="quarter" idx="3"/>
          </p:nvPr>
        </p:nvSpPr>
        <p:spPr bwMode="auto">
          <a:xfrm>
            <a:off x="479425" y="6356350"/>
            <a:ext cx="76739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ru-RU"/>
          </a:p>
        </p:txBody>
      </p:sp>
      <p:sp>
        <p:nvSpPr>
          <p:cNvPr id="6" name="Номер слайда 5"/>
          <p:cNvSpPr>
            <a:spLocks noGrp="1"/>
          </p:cNvSpPr>
          <p:nvPr>
            <p:ph type="sldNum" sz="quarter" idx="4"/>
          </p:nvPr>
        </p:nvSpPr>
        <p:spPr bwMode="auto">
          <a:xfrm>
            <a:off x="8969375" y="6350687"/>
            <a:ext cx="28575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pPr>
              <a:defRPr/>
            </a:pPr>
            <a:fld id="{56DCE2C9-06B9-4058-BEBD-6FDE8D61F8A0}" type="slidenum">
              <a:rPr lang="ru-RU"/>
              <a:t>‹#›</a:t>
            </a:fld>
            <a:endParaRPr lang="ru-RU"/>
          </a:p>
        </p:txBody>
      </p:sp>
      <p:pic>
        <p:nvPicPr>
          <p:cNvPr id="16" name="Рисунок 15"/>
          <p:cNvPicPr>
            <a:picLocks noChangeAspect="1"/>
          </p:cNvPicPr>
          <p:nvPr userDrawn="1"/>
        </p:nvPicPr>
        <p:blipFill>
          <a:blip r:embed="rId24"/>
          <a:stretch/>
        </p:blipFill>
        <p:spPr bwMode="auto">
          <a:xfrm>
            <a:off x="10760167" y="142188"/>
            <a:ext cx="952406" cy="2934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a:lnSpc>
          <a:spcPct val="100000"/>
        </a:lnSpc>
        <a:spcBef>
          <a:spcPts val="0"/>
        </a:spcBef>
        <a:buNone/>
        <a:defRPr sz="3600" b="0">
          <a:solidFill>
            <a:schemeClr val="tx1"/>
          </a:solidFill>
          <a:latin typeface="Montserrat SemiBold"/>
          <a:ea typeface="+mj-ea"/>
          <a:cs typeface="+mj-cs"/>
        </a:defRPr>
      </a:lvl1pPr>
    </p:titleStyle>
    <p:body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Текст 6"/>
          <p:cNvSpPr>
            <a:spLocks noGrp="1"/>
          </p:cNvSpPr>
          <p:nvPr>
            <p:ph type="body" sz="quarter" idx="12"/>
          </p:nvPr>
        </p:nvSpPr>
        <p:spPr bwMode="auto"/>
        <p:txBody>
          <a:bodyPr/>
          <a:lstStyle/>
          <a:p>
            <a:pPr>
              <a:defRPr/>
            </a:pPr>
            <a:r>
              <a:rPr lang="ru-RU" dirty="0"/>
              <a:t>Лектор</a:t>
            </a:r>
            <a:r>
              <a:rPr lang="en-US" dirty="0"/>
              <a:t>: </a:t>
            </a:r>
            <a:r>
              <a:rPr lang="ru-RU" dirty="0"/>
              <a:t>Борзов Вадим Максимович</a:t>
            </a:r>
          </a:p>
        </p:txBody>
      </p:sp>
      <p:sp>
        <p:nvSpPr>
          <p:cNvPr id="8" name="Текст 7"/>
          <p:cNvSpPr>
            <a:spLocks noGrp="1"/>
          </p:cNvSpPr>
          <p:nvPr>
            <p:ph type="body" sz="quarter" idx="13"/>
          </p:nvPr>
        </p:nvSpPr>
        <p:spPr bwMode="auto"/>
        <p:txBody>
          <a:bodyPr/>
          <a:lstStyle/>
          <a:p>
            <a:pPr>
              <a:defRPr/>
            </a:pPr>
            <a:r>
              <a:rPr lang="ru-RU" dirty="0"/>
              <a:t>Как структура данных влияет на скорость получения информации</a:t>
            </a:r>
          </a:p>
        </p:txBody>
      </p:sp>
      <p:sp>
        <p:nvSpPr>
          <p:cNvPr id="9" name="Текст 8"/>
          <p:cNvSpPr>
            <a:spLocks noGrp="1"/>
          </p:cNvSpPr>
          <p:nvPr>
            <p:ph type="body" sz="quarter" idx="14"/>
          </p:nvPr>
        </p:nvSpPr>
        <p:spPr bwMode="auto"/>
        <p:txBody>
          <a:bodyPr/>
          <a:lstStyle/>
          <a:p>
            <a:pPr>
              <a:defRPr/>
            </a:pPr>
            <a:r>
              <a:rPr lang="ru-RU" dirty="0"/>
              <a:t>05.09.2026</a:t>
            </a:r>
          </a:p>
        </p:txBody>
      </p:sp>
      <p:sp>
        <p:nvSpPr>
          <p:cNvPr id="6" name="Заголовок 5"/>
          <p:cNvSpPr>
            <a:spLocks noGrp="1"/>
          </p:cNvSpPr>
          <p:nvPr>
            <p:ph type="title"/>
          </p:nvPr>
        </p:nvSpPr>
        <p:spPr bwMode="auto"/>
        <p:txBody>
          <a:bodyPr/>
          <a:lstStyle/>
          <a:p>
            <a:pPr>
              <a:defRPr/>
            </a:pPr>
            <a:r>
              <a:rPr lang="ru-RU" dirty="0"/>
              <a:t>Лекция 1. Быстрый доступ к данным</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805215-0081-473B-B5D3-EE8A0319E349}"/>
              </a:ext>
            </a:extLst>
          </p:cNvPr>
          <p:cNvSpPr>
            <a:spLocks noGrp="1"/>
          </p:cNvSpPr>
          <p:nvPr>
            <p:ph type="title"/>
          </p:nvPr>
        </p:nvSpPr>
        <p:spPr>
          <a:xfrm>
            <a:off x="479424" y="597855"/>
            <a:ext cx="11229975" cy="1140459"/>
          </a:xfrm>
        </p:spPr>
        <p:txBody>
          <a:bodyPr/>
          <a:lstStyle/>
          <a:p>
            <a:r>
              <a:rPr lang="ru-RU" dirty="0"/>
              <a:t>Одни данные – разные задачи</a:t>
            </a:r>
          </a:p>
        </p:txBody>
      </p:sp>
      <p:sp>
        <p:nvSpPr>
          <p:cNvPr id="7" name="Текст 6">
            <a:extLst>
              <a:ext uri="{FF2B5EF4-FFF2-40B4-BE49-F238E27FC236}">
                <a16:creationId xmlns:a16="http://schemas.microsoft.com/office/drawing/2014/main" id="{63BB8E7F-7152-4DB6-870E-59B8A07FDABC}"/>
              </a:ext>
            </a:extLst>
          </p:cNvPr>
          <p:cNvSpPr>
            <a:spLocks noGrp="1"/>
          </p:cNvSpPr>
          <p:nvPr>
            <p:ph type="body" sz="quarter" idx="19"/>
          </p:nvPr>
        </p:nvSpPr>
        <p:spPr/>
        <p:txBody>
          <a:bodyPr/>
          <a:lstStyle/>
          <a:p>
            <a:endParaRPr lang="ru-RU"/>
          </a:p>
        </p:txBody>
      </p:sp>
      <p:grpSp>
        <p:nvGrpSpPr>
          <p:cNvPr id="30" name="Группа 29">
            <a:extLst>
              <a:ext uri="{FF2B5EF4-FFF2-40B4-BE49-F238E27FC236}">
                <a16:creationId xmlns:a16="http://schemas.microsoft.com/office/drawing/2014/main" id="{51F9013B-ADA3-4FE1-965E-BAFE1181A23C}"/>
              </a:ext>
            </a:extLst>
          </p:cNvPr>
          <p:cNvGrpSpPr/>
          <p:nvPr/>
        </p:nvGrpSpPr>
        <p:grpSpPr>
          <a:xfrm>
            <a:off x="208230" y="1235144"/>
            <a:ext cx="6898740" cy="5283194"/>
            <a:chOff x="208230" y="1235144"/>
            <a:chExt cx="6898740" cy="5283194"/>
          </a:xfrm>
        </p:grpSpPr>
        <p:sp>
          <p:nvSpPr>
            <p:cNvPr id="9" name="Прямоугольник: скругленные углы 8">
              <a:extLst>
                <a:ext uri="{FF2B5EF4-FFF2-40B4-BE49-F238E27FC236}">
                  <a16:creationId xmlns:a16="http://schemas.microsoft.com/office/drawing/2014/main" id="{1BEC0D92-A492-44DF-935E-4EFE9486E308}"/>
                </a:ext>
              </a:extLst>
            </p:cNvPr>
            <p:cNvSpPr/>
            <p:nvPr/>
          </p:nvSpPr>
          <p:spPr>
            <a:xfrm>
              <a:off x="208230" y="1301077"/>
              <a:ext cx="6898740" cy="521726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ru-RU"/>
            </a:p>
          </p:txBody>
        </p:sp>
        <p:pic>
          <p:nvPicPr>
            <p:cNvPr id="8" name="Рисунок 7">
              <a:extLst>
                <a:ext uri="{FF2B5EF4-FFF2-40B4-BE49-F238E27FC236}">
                  <a16:creationId xmlns:a16="http://schemas.microsoft.com/office/drawing/2014/main" id="{CD302929-9A78-4429-88EB-8DD135BE097C}"/>
                </a:ext>
              </a:extLst>
            </p:cNvPr>
            <p:cNvPicPr>
              <a:picLocks noChangeAspect="1"/>
            </p:cNvPicPr>
            <p:nvPr/>
          </p:nvPicPr>
          <p:blipFill>
            <a:blip r:embed="rId2"/>
            <a:stretch>
              <a:fillRect/>
            </a:stretch>
          </p:blipFill>
          <p:spPr>
            <a:xfrm>
              <a:off x="667858" y="2077895"/>
              <a:ext cx="5979483" cy="4213005"/>
            </a:xfrm>
            <a:prstGeom prst="rect">
              <a:avLst/>
            </a:prstGeom>
          </p:spPr>
        </p:pic>
        <p:sp>
          <p:nvSpPr>
            <p:cNvPr id="11" name="Прямоугольник: скругленные углы 10">
              <a:extLst>
                <a:ext uri="{FF2B5EF4-FFF2-40B4-BE49-F238E27FC236}">
                  <a16:creationId xmlns:a16="http://schemas.microsoft.com/office/drawing/2014/main" id="{8A802CBD-D08F-4FEB-A43C-169FD73287CF}"/>
                </a:ext>
              </a:extLst>
            </p:cNvPr>
            <p:cNvSpPr/>
            <p:nvPr/>
          </p:nvSpPr>
          <p:spPr>
            <a:xfrm>
              <a:off x="208230" y="1235144"/>
              <a:ext cx="6898740" cy="796705"/>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ru-RU" sz="2800" dirty="0">
                  <a:solidFill>
                    <a:schemeClr val="bg1"/>
                  </a:solidFill>
                </a:rPr>
                <a:t>Данные</a:t>
              </a:r>
              <a:endParaRPr lang="ru-RU" dirty="0">
                <a:solidFill>
                  <a:schemeClr val="bg1"/>
                </a:solidFill>
              </a:endParaRPr>
            </a:p>
          </p:txBody>
        </p:sp>
      </p:grpSp>
      <p:grpSp>
        <p:nvGrpSpPr>
          <p:cNvPr id="31" name="Группа 30">
            <a:extLst>
              <a:ext uri="{FF2B5EF4-FFF2-40B4-BE49-F238E27FC236}">
                <a16:creationId xmlns:a16="http://schemas.microsoft.com/office/drawing/2014/main" id="{09CCDE5E-3B7B-4E4A-97A9-3BB12D69656C}"/>
              </a:ext>
            </a:extLst>
          </p:cNvPr>
          <p:cNvGrpSpPr/>
          <p:nvPr/>
        </p:nvGrpSpPr>
        <p:grpSpPr>
          <a:xfrm>
            <a:off x="7541537" y="1235144"/>
            <a:ext cx="4167862" cy="5283194"/>
            <a:chOff x="7541537" y="1235144"/>
            <a:chExt cx="4167862" cy="5283194"/>
          </a:xfrm>
        </p:grpSpPr>
        <p:grpSp>
          <p:nvGrpSpPr>
            <p:cNvPr id="20" name="Группа 19">
              <a:extLst>
                <a:ext uri="{FF2B5EF4-FFF2-40B4-BE49-F238E27FC236}">
                  <a16:creationId xmlns:a16="http://schemas.microsoft.com/office/drawing/2014/main" id="{32C9A109-F198-4666-9B4F-17D0917D7FAE}"/>
                </a:ext>
              </a:extLst>
            </p:cNvPr>
            <p:cNvGrpSpPr/>
            <p:nvPr/>
          </p:nvGrpSpPr>
          <p:grpSpPr>
            <a:xfrm>
              <a:off x="7541537" y="1235144"/>
              <a:ext cx="4167862" cy="5283194"/>
              <a:chOff x="7541537" y="1235144"/>
              <a:chExt cx="4167862" cy="5283194"/>
            </a:xfrm>
          </p:grpSpPr>
          <p:sp>
            <p:nvSpPr>
              <p:cNvPr id="19" name="Прямоугольник: скругленные углы 18">
                <a:extLst>
                  <a:ext uri="{FF2B5EF4-FFF2-40B4-BE49-F238E27FC236}">
                    <a16:creationId xmlns:a16="http://schemas.microsoft.com/office/drawing/2014/main" id="{90752C87-D355-456F-9DCC-3392B242A0BC}"/>
                  </a:ext>
                </a:extLst>
              </p:cNvPr>
              <p:cNvSpPr/>
              <p:nvPr/>
            </p:nvSpPr>
            <p:spPr>
              <a:xfrm>
                <a:off x="7541537" y="1301077"/>
                <a:ext cx="4167862" cy="521726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ru-RU"/>
              </a:p>
            </p:txBody>
          </p:sp>
          <p:sp>
            <p:nvSpPr>
              <p:cNvPr id="14" name="Прямоугольник: скругленные углы 13">
                <a:extLst>
                  <a:ext uri="{FF2B5EF4-FFF2-40B4-BE49-F238E27FC236}">
                    <a16:creationId xmlns:a16="http://schemas.microsoft.com/office/drawing/2014/main" id="{78AB79A6-B66E-4766-8A43-675B2A99B243}"/>
                  </a:ext>
                </a:extLst>
              </p:cNvPr>
              <p:cNvSpPr/>
              <p:nvPr/>
            </p:nvSpPr>
            <p:spPr>
              <a:xfrm>
                <a:off x="7541537" y="1235144"/>
                <a:ext cx="4167862" cy="796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800" dirty="0"/>
                  <a:t>Задачи</a:t>
                </a:r>
                <a:endParaRPr lang="ru-RU" dirty="0"/>
              </a:p>
            </p:txBody>
          </p:sp>
        </p:grpSp>
        <p:sp>
          <p:nvSpPr>
            <p:cNvPr id="21" name="Прямоугольник: скругленные углы 20">
              <a:extLst>
                <a:ext uri="{FF2B5EF4-FFF2-40B4-BE49-F238E27FC236}">
                  <a16:creationId xmlns:a16="http://schemas.microsoft.com/office/drawing/2014/main" id="{37F3C604-4C02-4CA3-842F-BBE97A2B1D4D}"/>
                </a:ext>
              </a:extLst>
            </p:cNvPr>
            <p:cNvSpPr/>
            <p:nvPr/>
          </p:nvSpPr>
          <p:spPr>
            <a:xfrm>
              <a:off x="7662170" y="2179980"/>
              <a:ext cx="3926596" cy="72742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Найти пользователя по </a:t>
              </a:r>
              <a:r>
                <a:rPr lang="en-US" dirty="0"/>
                <a:t>ID</a:t>
              </a:r>
              <a:endParaRPr lang="ru-RU" dirty="0"/>
            </a:p>
          </p:txBody>
        </p:sp>
        <p:sp>
          <p:nvSpPr>
            <p:cNvPr id="22" name="Прямоугольник: скругленные углы 21">
              <a:extLst>
                <a:ext uri="{FF2B5EF4-FFF2-40B4-BE49-F238E27FC236}">
                  <a16:creationId xmlns:a16="http://schemas.microsoft.com/office/drawing/2014/main" id="{9A5A6DF5-C72E-4B66-ADAB-6740F8C01A31}"/>
                </a:ext>
              </a:extLst>
            </p:cNvPr>
            <p:cNvSpPr/>
            <p:nvPr/>
          </p:nvSpPr>
          <p:spPr>
            <a:xfrm>
              <a:off x="7662170" y="2983107"/>
              <a:ext cx="3926596" cy="730173"/>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Проверить, существует ли пользователь с указанным логином</a:t>
              </a:r>
            </a:p>
          </p:txBody>
        </p:sp>
        <p:sp>
          <p:nvSpPr>
            <p:cNvPr id="23" name="Прямоугольник: скругленные углы 22">
              <a:extLst>
                <a:ext uri="{FF2B5EF4-FFF2-40B4-BE49-F238E27FC236}">
                  <a16:creationId xmlns:a16="http://schemas.microsoft.com/office/drawing/2014/main" id="{86FE1D13-C2F9-44EE-ACE2-A42B03D78160}"/>
                </a:ext>
              </a:extLst>
            </p:cNvPr>
            <p:cNvSpPr/>
            <p:nvPr/>
          </p:nvSpPr>
          <p:spPr>
            <a:xfrm>
              <a:off x="7662170" y="3787704"/>
              <a:ext cx="3926596" cy="730173"/>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Получить всех пользователей из заданного города</a:t>
              </a:r>
            </a:p>
          </p:txBody>
        </p:sp>
        <p:sp>
          <p:nvSpPr>
            <p:cNvPr id="24" name="Прямоугольник: скругленные углы 23">
              <a:extLst>
                <a:ext uri="{FF2B5EF4-FFF2-40B4-BE49-F238E27FC236}">
                  <a16:creationId xmlns:a16="http://schemas.microsoft.com/office/drawing/2014/main" id="{64BD9351-1409-4E2F-B93A-2B27B6A1CA0B}"/>
                </a:ext>
              </a:extLst>
            </p:cNvPr>
            <p:cNvSpPr/>
            <p:nvPr/>
          </p:nvSpPr>
          <p:spPr>
            <a:xfrm>
              <a:off x="7668285" y="4588837"/>
              <a:ext cx="3926596" cy="730173"/>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Найти пользователей, зарегистрированных в определённый период</a:t>
              </a:r>
            </a:p>
          </p:txBody>
        </p:sp>
        <p:sp>
          <p:nvSpPr>
            <p:cNvPr id="27" name="Прямоугольник: скругленные углы 26">
              <a:extLst>
                <a:ext uri="{FF2B5EF4-FFF2-40B4-BE49-F238E27FC236}">
                  <a16:creationId xmlns:a16="http://schemas.microsoft.com/office/drawing/2014/main" id="{12443C13-49C6-4C5D-B949-0846004DFAFC}"/>
                </a:ext>
              </a:extLst>
            </p:cNvPr>
            <p:cNvSpPr/>
            <p:nvPr/>
          </p:nvSpPr>
          <p:spPr>
            <a:xfrm>
              <a:off x="7668285" y="5389970"/>
              <a:ext cx="3926596" cy="804597"/>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Найти самого раннего или самого позднего зарегистрированного пользователя</a:t>
              </a:r>
            </a:p>
          </p:txBody>
        </p:sp>
      </p:grpSp>
    </p:spTree>
    <p:extLst>
      <p:ext uri="{BB962C8B-B14F-4D97-AF65-F5344CB8AC3E}">
        <p14:creationId xmlns:p14="http://schemas.microsoft.com/office/powerpoint/2010/main" val="81561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E8CA28-DF5F-44C4-B93C-3BD89C908C81}"/>
              </a:ext>
            </a:extLst>
          </p:cNvPr>
          <p:cNvSpPr>
            <a:spLocks noGrp="1"/>
          </p:cNvSpPr>
          <p:nvPr>
            <p:ph type="title"/>
          </p:nvPr>
        </p:nvSpPr>
        <p:spPr/>
        <p:txBody>
          <a:bodyPr/>
          <a:lstStyle/>
          <a:p>
            <a:r>
              <a:rPr lang="ru-RU" dirty="0"/>
              <a:t>Что значит быстро?</a:t>
            </a:r>
          </a:p>
        </p:txBody>
      </p:sp>
      <p:sp>
        <p:nvSpPr>
          <p:cNvPr id="7" name="Текст 6">
            <a:extLst>
              <a:ext uri="{FF2B5EF4-FFF2-40B4-BE49-F238E27FC236}">
                <a16:creationId xmlns:a16="http://schemas.microsoft.com/office/drawing/2014/main" id="{485812D6-41AF-4FEC-89FA-0CD0F5F7B1A6}"/>
              </a:ext>
            </a:extLst>
          </p:cNvPr>
          <p:cNvSpPr>
            <a:spLocks noGrp="1"/>
          </p:cNvSpPr>
          <p:nvPr>
            <p:ph type="body" sz="quarter" idx="19"/>
          </p:nvPr>
        </p:nvSpPr>
        <p:spPr/>
        <p:txBody>
          <a:bodyPr/>
          <a:lstStyle/>
          <a:p>
            <a:endParaRPr lang="ru-RU"/>
          </a:p>
        </p:txBody>
      </p:sp>
      <p:sp>
        <p:nvSpPr>
          <p:cNvPr id="13" name="Прямоугольник: скругленные углы 12">
            <a:extLst>
              <a:ext uri="{FF2B5EF4-FFF2-40B4-BE49-F238E27FC236}">
                <a16:creationId xmlns:a16="http://schemas.microsoft.com/office/drawing/2014/main" id="{9C2D3DBE-31BA-4DE4-A891-4625AFAE4120}"/>
              </a:ext>
            </a:extLst>
          </p:cNvPr>
          <p:cNvSpPr>
            <a:spLocks noGrp="1"/>
          </p:cNvSpPr>
          <p:nvPr/>
        </p:nvSpPr>
        <p:spPr>
          <a:xfrm>
            <a:off x="479424" y="1528762"/>
            <a:ext cx="7143750" cy="3800475"/>
          </a:xfrm>
          <a:prstGeom prst="roundRect">
            <a:avLst>
              <a:gd name="adj" fmla="val 3258"/>
            </a:avLst>
          </a:prstGeom>
          <a:solidFill>
            <a:srgbClr val="FCFBFF"/>
          </a:solidFill>
          <a:ln w="9525">
            <a:solidFill>
              <a:srgbClr val="E3D6F5"/>
            </a:solidFill>
          </a:ln>
        </p:spPr>
      </p:sp>
      <p:sp>
        <p:nvSpPr>
          <p:cNvPr id="14" name="Прямоугольник 13">
            <a:extLst>
              <a:ext uri="{FF2B5EF4-FFF2-40B4-BE49-F238E27FC236}">
                <a16:creationId xmlns:a16="http://schemas.microsoft.com/office/drawing/2014/main" id="{1F88667C-AB9E-4CB4-9117-468F3C81FC44}"/>
              </a:ext>
            </a:extLst>
          </p:cNvPr>
          <p:cNvSpPr>
            <a:spLocks noGrp="1"/>
          </p:cNvSpPr>
          <p:nvPr/>
        </p:nvSpPr>
        <p:spPr>
          <a:xfrm>
            <a:off x="679449" y="1614487"/>
            <a:ext cx="6667500" cy="352425"/>
          </a:xfrm>
          <a:prstGeom prst="rect">
            <a:avLst/>
          </a:prstGeom>
          <a:noFill/>
          <a:ln w="0">
            <a:noFill/>
          </a:ln>
        </p:spPr>
        <p:txBody>
          <a:bodyPr lIns="0" tIns="0" rIns="0" bIns="0" anchor="ctr">
            <a:noAutofit/>
          </a:bodyPr>
          <a:lstStyle/>
          <a:p>
            <a:pPr>
              <a:defRPr sz="1800" b="1">
                <a:solidFill>
                  <a:srgbClr val="21145C"/>
                </a:solidFill>
                <a:latin typeface="Montserrat"/>
                <a:ea typeface="Montserrat"/>
                <a:cs typeface="Montserrat"/>
              </a:defRPr>
            </a:pPr>
            <a:r>
              <a:rPr sz="1800" b="1" dirty="0" err="1">
                <a:solidFill>
                  <a:srgbClr val="21145C"/>
                </a:solidFill>
                <a:latin typeface="Montserrat"/>
                <a:ea typeface="Montserrat"/>
                <a:cs typeface="Montserrat"/>
              </a:rPr>
              <a:t>Как</a:t>
            </a:r>
            <a:r>
              <a:rPr sz="1800" b="1" dirty="0">
                <a:solidFill>
                  <a:srgbClr val="21145C"/>
                </a:solidFill>
                <a:latin typeface="Montserrat"/>
                <a:ea typeface="Montserrat"/>
                <a:cs typeface="Montserrat"/>
              </a:rPr>
              <a:t> </a:t>
            </a:r>
            <a:r>
              <a:rPr sz="1800" b="1" dirty="0" err="1">
                <a:solidFill>
                  <a:srgbClr val="21145C"/>
                </a:solidFill>
                <a:latin typeface="Montserrat"/>
                <a:ea typeface="Montserrat"/>
                <a:cs typeface="Montserrat"/>
              </a:rPr>
              <a:t>растёт</a:t>
            </a:r>
            <a:r>
              <a:rPr sz="1800" b="1" dirty="0">
                <a:solidFill>
                  <a:srgbClr val="21145C"/>
                </a:solidFill>
                <a:latin typeface="Montserrat"/>
                <a:ea typeface="Montserrat"/>
                <a:cs typeface="Montserrat"/>
              </a:rPr>
              <a:t> </a:t>
            </a:r>
            <a:r>
              <a:rPr sz="1800" b="1" dirty="0" err="1">
                <a:solidFill>
                  <a:srgbClr val="21145C"/>
                </a:solidFill>
                <a:latin typeface="Montserrat"/>
                <a:ea typeface="Montserrat"/>
                <a:cs typeface="Montserrat"/>
              </a:rPr>
              <a:t>время</a:t>
            </a:r>
            <a:r>
              <a:rPr sz="1800" b="1" dirty="0">
                <a:solidFill>
                  <a:srgbClr val="21145C"/>
                </a:solidFill>
                <a:latin typeface="Montserrat"/>
                <a:ea typeface="Montserrat"/>
                <a:cs typeface="Montserrat"/>
              </a:rPr>
              <a:t> </a:t>
            </a:r>
            <a:r>
              <a:rPr sz="1800" b="1" dirty="0" err="1">
                <a:solidFill>
                  <a:srgbClr val="21145C"/>
                </a:solidFill>
                <a:latin typeface="Montserrat"/>
                <a:ea typeface="Montserrat"/>
                <a:cs typeface="Montserrat"/>
              </a:rPr>
              <a:t>работы</a:t>
            </a:r>
            <a:endParaRPr sz="1800" b="1" dirty="0">
              <a:solidFill>
                <a:srgbClr val="21145C"/>
              </a:solidFill>
              <a:latin typeface="Montserrat"/>
              <a:ea typeface="Montserrat"/>
              <a:cs typeface="Montserrat"/>
            </a:endParaRPr>
          </a:p>
        </p:txBody>
      </p:sp>
      <p:graphicFrame>
        <p:nvGraphicFramePr>
          <p:cNvPr id="15" name="Chart">
            <a:extLst>
              <a:ext uri="{FF2B5EF4-FFF2-40B4-BE49-F238E27FC236}">
                <a16:creationId xmlns:a16="http://schemas.microsoft.com/office/drawing/2014/main" id="{F9A2A1ED-7531-4D87-B2EC-0DB369290559}"/>
              </a:ext>
            </a:extLst>
          </p:cNvPr>
          <p:cNvGraphicFramePr/>
          <p:nvPr>
            <p:extLst>
              <p:ext uri="{D42A27DB-BD31-4B8C-83A1-F6EECF244321}">
                <p14:modId xmlns:p14="http://schemas.microsoft.com/office/powerpoint/2010/main" val="140859308"/>
              </p:ext>
            </p:extLst>
          </p:nvPr>
        </p:nvGraphicFramePr>
        <p:xfrm>
          <a:off x="679449" y="2033587"/>
          <a:ext cx="6667500" cy="3048000"/>
        </p:xfrm>
        <a:graphic>
          <a:graphicData uri="http://schemas.openxmlformats.org/drawingml/2006/chart">
            <c:chart xmlns:c="http://schemas.openxmlformats.org/drawingml/2006/chart" xmlns:r="http://schemas.openxmlformats.org/officeDocument/2006/relationships" r:id="rId2"/>
          </a:graphicData>
        </a:graphic>
      </p:graphicFrame>
      <p:sp>
        <p:nvSpPr>
          <p:cNvPr id="16" name="Прямоугольник 15">
            <a:extLst>
              <a:ext uri="{FF2B5EF4-FFF2-40B4-BE49-F238E27FC236}">
                <a16:creationId xmlns:a16="http://schemas.microsoft.com/office/drawing/2014/main" id="{6849DC82-372C-4DF5-9BB0-2A0BA1708465}"/>
              </a:ext>
            </a:extLst>
          </p:cNvPr>
          <p:cNvSpPr>
            <a:spLocks noGrp="1"/>
          </p:cNvSpPr>
          <p:nvPr/>
        </p:nvSpPr>
        <p:spPr>
          <a:xfrm>
            <a:off x="6003924" y="2195512"/>
            <a:ext cx="1352550" cy="228600"/>
          </a:xfrm>
          <a:prstGeom prst="rect">
            <a:avLst/>
          </a:prstGeom>
          <a:noFill/>
          <a:ln w="0">
            <a:noFill/>
          </a:ln>
        </p:spPr>
        <p:txBody>
          <a:bodyPr lIns="0" tIns="0" rIns="0" bIns="0" anchor="ctr">
            <a:noAutofit/>
          </a:bodyPr>
          <a:lstStyle/>
          <a:p>
            <a:pPr>
              <a:defRPr sz="1425" b="1">
                <a:solidFill>
                  <a:srgbClr val="6C32D8"/>
                </a:solidFill>
                <a:latin typeface="Montserrat"/>
                <a:ea typeface="Montserrat"/>
                <a:cs typeface="Montserrat"/>
              </a:defRPr>
            </a:pPr>
            <a:r>
              <a:rPr sz="1425" b="1">
                <a:solidFill>
                  <a:srgbClr val="6C32D8"/>
                </a:solidFill>
                <a:latin typeface="Montserrat"/>
                <a:ea typeface="Montserrat"/>
                <a:cs typeface="Montserrat"/>
              </a:rPr>
              <a:t>O(n log n)</a:t>
            </a:r>
          </a:p>
        </p:txBody>
      </p:sp>
      <p:sp>
        <p:nvSpPr>
          <p:cNvPr id="17" name="Прямоугольник 16">
            <a:extLst>
              <a:ext uri="{FF2B5EF4-FFF2-40B4-BE49-F238E27FC236}">
                <a16:creationId xmlns:a16="http://schemas.microsoft.com/office/drawing/2014/main" id="{0F7E9A81-7670-465F-B0A2-6CFE197649CF}"/>
              </a:ext>
            </a:extLst>
          </p:cNvPr>
          <p:cNvSpPr>
            <a:spLocks noGrp="1"/>
          </p:cNvSpPr>
          <p:nvPr/>
        </p:nvSpPr>
        <p:spPr>
          <a:xfrm>
            <a:off x="6003924" y="3824287"/>
            <a:ext cx="1352550" cy="228600"/>
          </a:xfrm>
          <a:prstGeom prst="rect">
            <a:avLst/>
          </a:prstGeom>
          <a:noFill/>
          <a:ln w="0">
            <a:noFill/>
          </a:ln>
        </p:spPr>
        <p:txBody>
          <a:bodyPr lIns="0" tIns="0" rIns="0" bIns="0" anchor="ctr">
            <a:noAutofit/>
          </a:bodyPr>
          <a:lstStyle/>
          <a:p>
            <a:pPr>
              <a:defRPr sz="1425" b="1">
                <a:solidFill>
                  <a:srgbClr val="AC91F1"/>
                </a:solidFill>
                <a:latin typeface="Montserrat"/>
                <a:ea typeface="Montserrat"/>
                <a:cs typeface="Montserrat"/>
              </a:defRPr>
            </a:pPr>
            <a:r>
              <a:rPr sz="1425" b="1">
                <a:solidFill>
                  <a:srgbClr val="AC91F1"/>
                </a:solidFill>
                <a:latin typeface="Montserrat"/>
                <a:ea typeface="Montserrat"/>
                <a:cs typeface="Montserrat"/>
              </a:rPr>
              <a:t>O(n)</a:t>
            </a:r>
          </a:p>
        </p:txBody>
      </p:sp>
      <p:sp>
        <p:nvSpPr>
          <p:cNvPr id="18" name="Прямоугольник 17">
            <a:extLst>
              <a:ext uri="{FF2B5EF4-FFF2-40B4-BE49-F238E27FC236}">
                <a16:creationId xmlns:a16="http://schemas.microsoft.com/office/drawing/2014/main" id="{53A47784-6417-4034-8D91-1E806EF16F3C}"/>
              </a:ext>
            </a:extLst>
          </p:cNvPr>
          <p:cNvSpPr>
            <a:spLocks noGrp="1"/>
          </p:cNvSpPr>
          <p:nvPr/>
        </p:nvSpPr>
        <p:spPr>
          <a:xfrm>
            <a:off x="6003924" y="4338637"/>
            <a:ext cx="1352550" cy="228600"/>
          </a:xfrm>
          <a:prstGeom prst="rect">
            <a:avLst/>
          </a:prstGeom>
          <a:noFill/>
          <a:ln w="0">
            <a:noFill/>
          </a:ln>
        </p:spPr>
        <p:txBody>
          <a:bodyPr lIns="0" tIns="0" rIns="0" bIns="0" anchor="ctr">
            <a:noAutofit/>
          </a:bodyPr>
          <a:lstStyle/>
          <a:p>
            <a:pPr>
              <a:defRPr sz="1425" b="1">
                <a:solidFill>
                  <a:srgbClr val="8C64D8"/>
                </a:solidFill>
                <a:latin typeface="Montserrat"/>
                <a:ea typeface="Montserrat"/>
                <a:cs typeface="Montserrat"/>
              </a:defRPr>
            </a:pPr>
            <a:r>
              <a:rPr sz="1425" b="1">
                <a:solidFill>
                  <a:srgbClr val="8C64D8"/>
                </a:solidFill>
                <a:latin typeface="Montserrat"/>
                <a:ea typeface="Montserrat"/>
                <a:cs typeface="Montserrat"/>
              </a:rPr>
              <a:t>O(log n)</a:t>
            </a:r>
          </a:p>
        </p:txBody>
      </p:sp>
      <p:sp>
        <p:nvSpPr>
          <p:cNvPr id="19" name="Прямоугольник 18">
            <a:extLst>
              <a:ext uri="{FF2B5EF4-FFF2-40B4-BE49-F238E27FC236}">
                <a16:creationId xmlns:a16="http://schemas.microsoft.com/office/drawing/2014/main" id="{76EAF283-F704-4C3C-90CD-29EABFD13EF1}"/>
              </a:ext>
            </a:extLst>
          </p:cNvPr>
          <p:cNvSpPr>
            <a:spLocks noGrp="1"/>
          </p:cNvSpPr>
          <p:nvPr/>
        </p:nvSpPr>
        <p:spPr>
          <a:xfrm>
            <a:off x="6003924" y="4519612"/>
            <a:ext cx="1352550" cy="228600"/>
          </a:xfrm>
          <a:prstGeom prst="rect">
            <a:avLst/>
          </a:prstGeom>
          <a:noFill/>
          <a:ln w="0">
            <a:noFill/>
          </a:ln>
        </p:spPr>
        <p:txBody>
          <a:bodyPr lIns="0" tIns="0" rIns="0" bIns="0" anchor="ctr">
            <a:noAutofit/>
          </a:bodyPr>
          <a:lstStyle/>
          <a:p>
            <a:pPr>
              <a:defRPr sz="1425" b="1">
                <a:solidFill>
                  <a:srgbClr val="352379"/>
                </a:solidFill>
                <a:latin typeface="Montserrat"/>
                <a:ea typeface="Montserrat"/>
                <a:cs typeface="Montserrat"/>
              </a:defRPr>
            </a:pPr>
            <a:r>
              <a:rPr sz="1425" b="1">
                <a:solidFill>
                  <a:srgbClr val="352379"/>
                </a:solidFill>
                <a:latin typeface="Montserrat"/>
                <a:ea typeface="Montserrat"/>
                <a:cs typeface="Montserrat"/>
              </a:rPr>
              <a:t>O(1)</a:t>
            </a:r>
          </a:p>
        </p:txBody>
      </p:sp>
      <p:sp>
        <p:nvSpPr>
          <p:cNvPr id="20" name="Прямоугольник 19">
            <a:extLst>
              <a:ext uri="{FF2B5EF4-FFF2-40B4-BE49-F238E27FC236}">
                <a16:creationId xmlns:a16="http://schemas.microsoft.com/office/drawing/2014/main" id="{D7C81575-A6BC-4B6F-B110-BC8DD705ABC6}"/>
              </a:ext>
            </a:extLst>
          </p:cNvPr>
          <p:cNvSpPr>
            <a:spLocks noGrp="1"/>
          </p:cNvSpPr>
          <p:nvPr/>
        </p:nvSpPr>
        <p:spPr>
          <a:xfrm>
            <a:off x="841374" y="5053012"/>
            <a:ext cx="6191250" cy="209550"/>
          </a:xfrm>
          <a:prstGeom prst="rect">
            <a:avLst/>
          </a:prstGeom>
          <a:noFill/>
          <a:ln w="0">
            <a:noFill/>
          </a:ln>
        </p:spPr>
        <p:txBody>
          <a:bodyPr lIns="0" tIns="0" rIns="0" bIns="0" anchor="ctr">
            <a:noAutofit/>
          </a:bodyPr>
          <a:lstStyle/>
          <a:p>
            <a:pPr>
              <a:defRPr sz="1125" b="0">
                <a:solidFill>
                  <a:srgbClr val="9890B1"/>
                </a:solidFill>
                <a:latin typeface="Montserrat"/>
                <a:ea typeface="Montserrat"/>
                <a:cs typeface="Montserrat"/>
              </a:defRPr>
            </a:pPr>
            <a:r>
              <a:rPr sz="1125" b="0">
                <a:solidFill>
                  <a:srgbClr val="9890B1"/>
                </a:solidFill>
                <a:latin typeface="Montserrat"/>
                <a:ea typeface="Montserrat"/>
                <a:cs typeface="Montserrat"/>
              </a:rPr>
              <a:t>Общая линейная шкала</a:t>
            </a:r>
          </a:p>
        </p:txBody>
      </p:sp>
      <p:sp>
        <p:nvSpPr>
          <p:cNvPr id="21" name="Прямоугольник: скругленные углы 20">
            <a:extLst>
              <a:ext uri="{FF2B5EF4-FFF2-40B4-BE49-F238E27FC236}">
                <a16:creationId xmlns:a16="http://schemas.microsoft.com/office/drawing/2014/main" id="{B59AAD0D-A099-476F-BECB-6DCBBAE345DC}"/>
              </a:ext>
            </a:extLst>
          </p:cNvPr>
          <p:cNvSpPr>
            <a:spLocks noGrp="1"/>
          </p:cNvSpPr>
          <p:nvPr/>
        </p:nvSpPr>
        <p:spPr>
          <a:xfrm>
            <a:off x="7785099" y="1523999"/>
            <a:ext cx="4324350" cy="885825"/>
          </a:xfrm>
          <a:prstGeom prst="roundRect">
            <a:avLst>
              <a:gd name="adj" fmla="val 13978"/>
            </a:avLst>
          </a:prstGeom>
          <a:solidFill>
            <a:srgbClr val="F0EBFC"/>
          </a:solidFill>
          <a:ln w="9525">
            <a:noFill/>
          </a:ln>
        </p:spPr>
      </p:sp>
      <p:sp>
        <p:nvSpPr>
          <p:cNvPr id="22" name="Прямоугольник 21">
            <a:extLst>
              <a:ext uri="{FF2B5EF4-FFF2-40B4-BE49-F238E27FC236}">
                <a16:creationId xmlns:a16="http://schemas.microsoft.com/office/drawing/2014/main" id="{ED05EEC5-6A34-4FB1-BF4E-254DB9846893}"/>
              </a:ext>
            </a:extLst>
          </p:cNvPr>
          <p:cNvSpPr>
            <a:spLocks noGrp="1"/>
          </p:cNvSpPr>
          <p:nvPr/>
        </p:nvSpPr>
        <p:spPr>
          <a:xfrm>
            <a:off x="7947024" y="1600199"/>
            <a:ext cx="4000500" cy="276225"/>
          </a:xfrm>
          <a:prstGeom prst="rect">
            <a:avLst/>
          </a:prstGeom>
          <a:noFill/>
          <a:ln w="0">
            <a:noFill/>
          </a:ln>
        </p:spPr>
        <p:txBody>
          <a:bodyPr lIns="0" tIns="0" rIns="0" bIns="0" anchor="ctr">
            <a:noAutofit/>
          </a:bodyPr>
          <a:lstStyle/>
          <a:p>
            <a:pPr>
              <a:defRPr sz="1500" b="1">
                <a:solidFill>
                  <a:srgbClr val="352379"/>
                </a:solidFill>
                <a:latin typeface="Montserrat"/>
                <a:ea typeface="Montserrat"/>
                <a:cs typeface="Montserrat"/>
              </a:defRPr>
            </a:pPr>
            <a:r>
              <a:rPr sz="1500" b="1">
                <a:solidFill>
                  <a:srgbClr val="352379"/>
                </a:solidFill>
                <a:latin typeface="Montserrat"/>
                <a:ea typeface="Montserrat"/>
                <a:cs typeface="Montserrat"/>
              </a:rPr>
              <a:t>O(n log n) — например, сортировка</a:t>
            </a:r>
          </a:p>
        </p:txBody>
      </p:sp>
      <p:sp>
        <p:nvSpPr>
          <p:cNvPr id="23" name="Прямоугольник 22">
            <a:extLst>
              <a:ext uri="{FF2B5EF4-FFF2-40B4-BE49-F238E27FC236}">
                <a16:creationId xmlns:a16="http://schemas.microsoft.com/office/drawing/2014/main" id="{E91EA254-D2BA-4775-A31A-7A71E8D702D4}"/>
              </a:ext>
            </a:extLst>
          </p:cNvPr>
          <p:cNvSpPr>
            <a:spLocks noGrp="1"/>
          </p:cNvSpPr>
          <p:nvPr/>
        </p:nvSpPr>
        <p:spPr>
          <a:xfrm>
            <a:off x="7947024" y="1885949"/>
            <a:ext cx="4000500" cy="466725"/>
          </a:xfrm>
          <a:prstGeom prst="rect">
            <a:avLst/>
          </a:prstGeom>
          <a:noFill/>
          <a:ln w="0">
            <a:noFill/>
          </a:ln>
        </p:spPr>
        <p:txBody>
          <a:bodyPr lIns="0" tIns="0" rIns="0" bIns="0" anchor="ctr">
            <a:noAutofit/>
          </a:bodyPr>
          <a:lstStyle/>
          <a:p>
            <a:pPr>
              <a:defRPr sz="1350" b="0">
                <a:solidFill>
                  <a:srgbClr val="615B91"/>
                </a:solidFill>
                <a:latin typeface="Montserrat"/>
                <a:ea typeface="Montserrat"/>
                <a:cs typeface="Montserrat"/>
              </a:defRPr>
            </a:pPr>
            <a:r>
              <a:rPr sz="1350" b="0">
                <a:solidFill>
                  <a:srgbClr val="615B91"/>
                </a:solidFill>
                <a:latin typeface="Montserrat"/>
                <a:ea typeface="Montserrat"/>
                <a:cs typeface="Montserrat"/>
              </a:rPr>
              <a:t>Рост быстрее линейного. Так работают</a:t>
            </a:r>
          </a:p>
          <a:p>
            <a:pPr>
              <a:defRPr sz="1350" b="0">
                <a:solidFill>
                  <a:srgbClr val="615B91"/>
                </a:solidFill>
                <a:latin typeface="Montserrat"/>
                <a:ea typeface="Montserrat"/>
                <a:cs typeface="Montserrat"/>
              </a:defRPr>
            </a:pPr>
            <a:r>
              <a:rPr sz="1350" b="0">
                <a:solidFill>
                  <a:srgbClr val="615B91"/>
                </a:solidFill>
                <a:latin typeface="Montserrat"/>
                <a:ea typeface="Montserrat"/>
                <a:cs typeface="Montserrat"/>
              </a:rPr>
              <a:t>эффективные сортировки сравнением.</a:t>
            </a:r>
          </a:p>
        </p:txBody>
      </p:sp>
      <p:sp>
        <p:nvSpPr>
          <p:cNvPr id="24" name="Прямоугольник: скругленные углы 23">
            <a:extLst>
              <a:ext uri="{FF2B5EF4-FFF2-40B4-BE49-F238E27FC236}">
                <a16:creationId xmlns:a16="http://schemas.microsoft.com/office/drawing/2014/main" id="{FBF15EDA-642B-4CEF-9347-60F6D1B16BD5}"/>
              </a:ext>
            </a:extLst>
          </p:cNvPr>
          <p:cNvSpPr>
            <a:spLocks noGrp="1"/>
          </p:cNvSpPr>
          <p:nvPr/>
        </p:nvSpPr>
        <p:spPr>
          <a:xfrm>
            <a:off x="7785099" y="2495549"/>
            <a:ext cx="4324350" cy="885825"/>
          </a:xfrm>
          <a:prstGeom prst="roundRect">
            <a:avLst>
              <a:gd name="adj" fmla="val 13978"/>
            </a:avLst>
          </a:prstGeom>
          <a:solidFill>
            <a:srgbClr val="F0EBFC"/>
          </a:solidFill>
          <a:ln w="9525">
            <a:noFill/>
          </a:ln>
        </p:spPr>
      </p:sp>
      <p:sp>
        <p:nvSpPr>
          <p:cNvPr id="25" name="Прямоугольник 24">
            <a:extLst>
              <a:ext uri="{FF2B5EF4-FFF2-40B4-BE49-F238E27FC236}">
                <a16:creationId xmlns:a16="http://schemas.microsoft.com/office/drawing/2014/main" id="{0C187A3B-D8AE-490F-9169-8F2914E71C5C}"/>
              </a:ext>
            </a:extLst>
          </p:cNvPr>
          <p:cNvSpPr>
            <a:spLocks noGrp="1"/>
          </p:cNvSpPr>
          <p:nvPr/>
        </p:nvSpPr>
        <p:spPr>
          <a:xfrm>
            <a:off x="7947024" y="2571749"/>
            <a:ext cx="4000500" cy="276225"/>
          </a:xfrm>
          <a:prstGeom prst="rect">
            <a:avLst/>
          </a:prstGeom>
          <a:noFill/>
          <a:ln w="0">
            <a:noFill/>
          </a:ln>
        </p:spPr>
        <p:txBody>
          <a:bodyPr lIns="0" tIns="0" rIns="0" bIns="0" anchor="ctr">
            <a:noAutofit/>
          </a:bodyPr>
          <a:lstStyle/>
          <a:p>
            <a:pPr>
              <a:defRPr sz="1500" b="1">
                <a:solidFill>
                  <a:srgbClr val="352379"/>
                </a:solidFill>
                <a:latin typeface="Montserrat"/>
                <a:ea typeface="Montserrat"/>
                <a:cs typeface="Montserrat"/>
              </a:defRPr>
            </a:pPr>
            <a:r>
              <a:rPr sz="1500" b="1">
                <a:solidFill>
                  <a:srgbClr val="352379"/>
                </a:solidFill>
                <a:latin typeface="Montserrat"/>
                <a:ea typeface="Montserrat"/>
                <a:cs typeface="Montserrat"/>
              </a:rPr>
              <a:t>O(n) — полный просмотр данных</a:t>
            </a:r>
          </a:p>
        </p:txBody>
      </p:sp>
      <p:sp>
        <p:nvSpPr>
          <p:cNvPr id="26" name="Прямоугольник 25">
            <a:extLst>
              <a:ext uri="{FF2B5EF4-FFF2-40B4-BE49-F238E27FC236}">
                <a16:creationId xmlns:a16="http://schemas.microsoft.com/office/drawing/2014/main" id="{1C53341F-4C68-4672-93FD-816852D095F6}"/>
              </a:ext>
            </a:extLst>
          </p:cNvPr>
          <p:cNvSpPr>
            <a:spLocks noGrp="1"/>
          </p:cNvSpPr>
          <p:nvPr/>
        </p:nvSpPr>
        <p:spPr>
          <a:xfrm>
            <a:off x="7947024" y="2857499"/>
            <a:ext cx="4000500" cy="466725"/>
          </a:xfrm>
          <a:prstGeom prst="rect">
            <a:avLst/>
          </a:prstGeom>
          <a:noFill/>
          <a:ln w="0">
            <a:noFill/>
          </a:ln>
        </p:spPr>
        <p:txBody>
          <a:bodyPr lIns="0" tIns="0" rIns="0" bIns="0" anchor="ctr">
            <a:noAutofit/>
          </a:bodyPr>
          <a:lstStyle/>
          <a:p>
            <a:pPr>
              <a:defRPr sz="1350" b="0">
                <a:solidFill>
                  <a:srgbClr val="615B91"/>
                </a:solidFill>
                <a:latin typeface="Montserrat"/>
                <a:ea typeface="Montserrat"/>
                <a:cs typeface="Montserrat"/>
              </a:defRPr>
            </a:pPr>
            <a:r>
              <a:rPr sz="1350" b="0">
                <a:solidFill>
                  <a:srgbClr val="615B91"/>
                </a:solidFill>
                <a:latin typeface="Montserrat"/>
                <a:ea typeface="Montserrat"/>
                <a:cs typeface="Montserrat"/>
              </a:rPr>
              <a:t>Время растёт пропорционально n.</a:t>
            </a:r>
          </a:p>
          <a:p>
            <a:pPr>
              <a:defRPr sz="1350" b="0">
                <a:solidFill>
                  <a:srgbClr val="615B91"/>
                </a:solidFill>
                <a:latin typeface="Montserrat"/>
                <a:ea typeface="Montserrat"/>
                <a:cs typeface="Montserrat"/>
              </a:defRPr>
            </a:pPr>
            <a:r>
              <a:rPr sz="1350" b="0">
                <a:solidFill>
                  <a:srgbClr val="615B91"/>
                </a:solidFill>
                <a:latin typeface="Montserrat"/>
                <a:ea typeface="Montserrat"/>
                <a:cs typeface="Montserrat"/>
              </a:rPr>
              <a:t>Пример: проход по всему массиву.</a:t>
            </a:r>
          </a:p>
        </p:txBody>
      </p:sp>
      <p:sp>
        <p:nvSpPr>
          <p:cNvPr id="27" name="Прямоугольник: скругленные углы 26">
            <a:extLst>
              <a:ext uri="{FF2B5EF4-FFF2-40B4-BE49-F238E27FC236}">
                <a16:creationId xmlns:a16="http://schemas.microsoft.com/office/drawing/2014/main" id="{E4714B17-FFF8-4D01-9D46-8C55AE2E1647}"/>
              </a:ext>
            </a:extLst>
          </p:cNvPr>
          <p:cNvSpPr>
            <a:spLocks noGrp="1"/>
          </p:cNvSpPr>
          <p:nvPr/>
        </p:nvSpPr>
        <p:spPr>
          <a:xfrm>
            <a:off x="7785099" y="3467099"/>
            <a:ext cx="4324350" cy="885825"/>
          </a:xfrm>
          <a:prstGeom prst="roundRect">
            <a:avLst>
              <a:gd name="adj" fmla="val 13978"/>
            </a:avLst>
          </a:prstGeom>
          <a:solidFill>
            <a:srgbClr val="F0EBFC"/>
          </a:solidFill>
          <a:ln w="9525">
            <a:noFill/>
          </a:ln>
        </p:spPr>
      </p:sp>
      <p:sp>
        <p:nvSpPr>
          <p:cNvPr id="28" name="Прямоугольник 27">
            <a:extLst>
              <a:ext uri="{FF2B5EF4-FFF2-40B4-BE49-F238E27FC236}">
                <a16:creationId xmlns:a16="http://schemas.microsoft.com/office/drawing/2014/main" id="{75BF025C-E0D0-4012-B524-09FBB4613536}"/>
              </a:ext>
            </a:extLst>
          </p:cNvPr>
          <p:cNvSpPr>
            <a:spLocks noGrp="1"/>
          </p:cNvSpPr>
          <p:nvPr/>
        </p:nvSpPr>
        <p:spPr>
          <a:xfrm>
            <a:off x="7947024" y="3543299"/>
            <a:ext cx="4000500" cy="276225"/>
          </a:xfrm>
          <a:prstGeom prst="rect">
            <a:avLst/>
          </a:prstGeom>
          <a:noFill/>
          <a:ln w="0">
            <a:noFill/>
          </a:ln>
        </p:spPr>
        <p:txBody>
          <a:bodyPr lIns="0" tIns="0" rIns="0" bIns="0" anchor="ctr">
            <a:noAutofit/>
          </a:bodyPr>
          <a:lstStyle/>
          <a:p>
            <a:pPr>
              <a:defRPr sz="1500" b="1">
                <a:solidFill>
                  <a:srgbClr val="352379"/>
                </a:solidFill>
                <a:latin typeface="Montserrat"/>
                <a:ea typeface="Montserrat"/>
                <a:cs typeface="Montserrat"/>
              </a:defRPr>
            </a:pPr>
            <a:r>
              <a:rPr sz="1500" b="1">
                <a:solidFill>
                  <a:srgbClr val="352379"/>
                </a:solidFill>
                <a:latin typeface="Montserrat"/>
                <a:ea typeface="Montserrat"/>
                <a:cs typeface="Montserrat"/>
              </a:rPr>
              <a:t>O(log n) — медленный рост</a:t>
            </a:r>
          </a:p>
        </p:txBody>
      </p:sp>
      <p:sp>
        <p:nvSpPr>
          <p:cNvPr id="29" name="Прямоугольник 28">
            <a:extLst>
              <a:ext uri="{FF2B5EF4-FFF2-40B4-BE49-F238E27FC236}">
                <a16:creationId xmlns:a16="http://schemas.microsoft.com/office/drawing/2014/main" id="{719CDF54-8FAB-45FC-A6CB-9A5A1A7B6124}"/>
              </a:ext>
            </a:extLst>
          </p:cNvPr>
          <p:cNvSpPr>
            <a:spLocks noGrp="1"/>
          </p:cNvSpPr>
          <p:nvPr/>
        </p:nvSpPr>
        <p:spPr>
          <a:xfrm>
            <a:off x="7947024" y="3829049"/>
            <a:ext cx="4000500" cy="466725"/>
          </a:xfrm>
          <a:prstGeom prst="rect">
            <a:avLst/>
          </a:prstGeom>
          <a:noFill/>
          <a:ln w="0">
            <a:noFill/>
          </a:ln>
        </p:spPr>
        <p:txBody>
          <a:bodyPr lIns="0" tIns="0" rIns="0" bIns="0" anchor="ctr">
            <a:noAutofit/>
          </a:bodyPr>
          <a:lstStyle/>
          <a:p>
            <a:pPr>
              <a:defRPr sz="1350" b="0">
                <a:solidFill>
                  <a:srgbClr val="615B91"/>
                </a:solidFill>
                <a:latin typeface="Montserrat"/>
                <a:ea typeface="Montserrat"/>
                <a:cs typeface="Montserrat"/>
              </a:defRPr>
            </a:pPr>
            <a:r>
              <a:rPr sz="1350" b="0">
                <a:solidFill>
                  <a:srgbClr val="615B91"/>
                </a:solidFill>
                <a:latin typeface="Montserrat"/>
                <a:ea typeface="Montserrat"/>
                <a:cs typeface="Montserrat"/>
              </a:rPr>
              <a:t>На каждом шаге область поиска</a:t>
            </a:r>
          </a:p>
          <a:p>
            <a:pPr>
              <a:defRPr sz="1350" b="0">
                <a:solidFill>
                  <a:srgbClr val="615B91"/>
                </a:solidFill>
                <a:latin typeface="Montserrat"/>
                <a:ea typeface="Montserrat"/>
                <a:cs typeface="Montserrat"/>
              </a:defRPr>
            </a:pPr>
            <a:r>
              <a:rPr sz="1350" b="0">
                <a:solidFill>
                  <a:srgbClr val="615B91"/>
                </a:solidFill>
                <a:latin typeface="Montserrat"/>
                <a:ea typeface="Montserrat"/>
                <a:cs typeface="Montserrat"/>
              </a:rPr>
              <a:t>сокращается вдвое: бинарный поиск.</a:t>
            </a:r>
          </a:p>
        </p:txBody>
      </p:sp>
      <p:sp>
        <p:nvSpPr>
          <p:cNvPr id="30" name="Прямоугольник: скругленные углы 29">
            <a:extLst>
              <a:ext uri="{FF2B5EF4-FFF2-40B4-BE49-F238E27FC236}">
                <a16:creationId xmlns:a16="http://schemas.microsoft.com/office/drawing/2014/main" id="{0EF6E202-BB35-4008-B9B2-58838BB4BE11}"/>
              </a:ext>
            </a:extLst>
          </p:cNvPr>
          <p:cNvSpPr>
            <a:spLocks noGrp="1"/>
          </p:cNvSpPr>
          <p:nvPr/>
        </p:nvSpPr>
        <p:spPr>
          <a:xfrm>
            <a:off x="7785099" y="4438649"/>
            <a:ext cx="4324350" cy="885825"/>
          </a:xfrm>
          <a:prstGeom prst="roundRect">
            <a:avLst>
              <a:gd name="adj" fmla="val 13978"/>
            </a:avLst>
          </a:prstGeom>
          <a:solidFill>
            <a:srgbClr val="F0EBFC"/>
          </a:solidFill>
          <a:ln w="9525">
            <a:noFill/>
          </a:ln>
        </p:spPr>
      </p:sp>
      <p:sp>
        <p:nvSpPr>
          <p:cNvPr id="31" name="Прямоугольник 30">
            <a:extLst>
              <a:ext uri="{FF2B5EF4-FFF2-40B4-BE49-F238E27FC236}">
                <a16:creationId xmlns:a16="http://schemas.microsoft.com/office/drawing/2014/main" id="{0DD02E93-2FFB-4AC6-B31C-90E97AD4E11F}"/>
              </a:ext>
            </a:extLst>
          </p:cNvPr>
          <p:cNvSpPr>
            <a:spLocks noGrp="1"/>
          </p:cNvSpPr>
          <p:nvPr/>
        </p:nvSpPr>
        <p:spPr>
          <a:xfrm>
            <a:off x="7947024" y="4514849"/>
            <a:ext cx="4000500" cy="276225"/>
          </a:xfrm>
          <a:prstGeom prst="rect">
            <a:avLst/>
          </a:prstGeom>
          <a:noFill/>
          <a:ln w="0">
            <a:noFill/>
          </a:ln>
        </p:spPr>
        <p:txBody>
          <a:bodyPr lIns="0" tIns="0" rIns="0" bIns="0" anchor="ctr">
            <a:noAutofit/>
          </a:bodyPr>
          <a:lstStyle/>
          <a:p>
            <a:pPr>
              <a:defRPr sz="1500" b="1">
                <a:solidFill>
                  <a:srgbClr val="352379"/>
                </a:solidFill>
                <a:latin typeface="Montserrat"/>
                <a:ea typeface="Montserrat"/>
                <a:cs typeface="Montserrat"/>
              </a:defRPr>
            </a:pPr>
            <a:r>
              <a:rPr sz="1500" b="1">
                <a:solidFill>
                  <a:srgbClr val="352379"/>
                </a:solidFill>
                <a:latin typeface="Montserrat"/>
                <a:ea typeface="Montserrat"/>
                <a:cs typeface="Montserrat"/>
              </a:rPr>
              <a:t>O(1) — константное время</a:t>
            </a:r>
          </a:p>
        </p:txBody>
      </p:sp>
      <p:sp>
        <p:nvSpPr>
          <p:cNvPr id="32" name="Прямоугольник 31">
            <a:extLst>
              <a:ext uri="{FF2B5EF4-FFF2-40B4-BE49-F238E27FC236}">
                <a16:creationId xmlns:a16="http://schemas.microsoft.com/office/drawing/2014/main" id="{7B65D94C-E2E0-4E4D-847F-C63E7FB08452}"/>
              </a:ext>
            </a:extLst>
          </p:cNvPr>
          <p:cNvSpPr>
            <a:spLocks noGrp="1"/>
          </p:cNvSpPr>
          <p:nvPr/>
        </p:nvSpPr>
        <p:spPr>
          <a:xfrm>
            <a:off x="7947024" y="4800599"/>
            <a:ext cx="4000500" cy="466725"/>
          </a:xfrm>
          <a:prstGeom prst="rect">
            <a:avLst/>
          </a:prstGeom>
          <a:noFill/>
          <a:ln w="0">
            <a:noFill/>
          </a:ln>
        </p:spPr>
        <p:txBody>
          <a:bodyPr lIns="0" tIns="0" rIns="0" bIns="0" anchor="ctr">
            <a:noAutofit/>
          </a:bodyPr>
          <a:lstStyle/>
          <a:p>
            <a:pPr>
              <a:defRPr sz="1350" b="0">
                <a:solidFill>
                  <a:srgbClr val="615B91"/>
                </a:solidFill>
                <a:latin typeface="Montserrat"/>
                <a:ea typeface="Montserrat"/>
                <a:cs typeface="Montserrat"/>
              </a:defRPr>
            </a:pPr>
            <a:r>
              <a:rPr sz="1350" b="0">
                <a:solidFill>
                  <a:srgbClr val="615B91"/>
                </a:solidFill>
                <a:latin typeface="Montserrat"/>
                <a:ea typeface="Montserrat"/>
                <a:cs typeface="Montserrat"/>
              </a:rPr>
              <a:t>Число действий не зависит от n.</a:t>
            </a:r>
          </a:p>
          <a:p>
            <a:pPr>
              <a:defRPr sz="1350" b="0">
                <a:solidFill>
                  <a:srgbClr val="615B91"/>
                </a:solidFill>
                <a:latin typeface="Montserrat"/>
                <a:ea typeface="Montserrat"/>
                <a:cs typeface="Montserrat"/>
              </a:defRPr>
            </a:pPr>
            <a:r>
              <a:rPr sz="1350" b="0">
                <a:solidFill>
                  <a:srgbClr val="615B91"/>
                </a:solidFill>
                <a:latin typeface="Montserrat"/>
                <a:ea typeface="Montserrat"/>
                <a:cs typeface="Montserrat"/>
              </a:rPr>
              <a:t>Пример: доступ к массиву по индексу.</a:t>
            </a:r>
          </a:p>
        </p:txBody>
      </p:sp>
    </p:spTree>
    <p:extLst>
      <p:ext uri="{BB962C8B-B14F-4D97-AF65-F5344CB8AC3E}">
        <p14:creationId xmlns:p14="http://schemas.microsoft.com/office/powerpoint/2010/main" val="473191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1F7F0F-A81F-4105-8DBF-B35CCCC9263C}"/>
              </a:ext>
            </a:extLst>
          </p:cNvPr>
          <p:cNvSpPr>
            <a:spLocks noGrp="1"/>
          </p:cNvSpPr>
          <p:nvPr>
            <p:ph type="title"/>
          </p:nvPr>
        </p:nvSpPr>
        <p:spPr/>
        <p:txBody>
          <a:bodyPr/>
          <a:lstStyle/>
          <a:p>
            <a:r>
              <a:rPr lang="ru-RU" dirty="0"/>
              <a:t>Доступ по индексу: самый простой случай</a:t>
            </a:r>
          </a:p>
        </p:txBody>
      </p:sp>
      <p:sp>
        <p:nvSpPr>
          <p:cNvPr id="7" name="Текст 6">
            <a:extLst>
              <a:ext uri="{FF2B5EF4-FFF2-40B4-BE49-F238E27FC236}">
                <a16:creationId xmlns:a16="http://schemas.microsoft.com/office/drawing/2014/main" id="{0A4EFA72-D632-4D45-B43E-B648C0A9F66C}"/>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A36A387E-E400-44C4-ADB8-66A6FDBB6A1F}"/>
              </a:ext>
            </a:extLst>
          </p:cNvPr>
          <p:cNvGraphicFramePr>
            <a:graphicFrameLocks noGrp="1"/>
          </p:cNvGraphicFramePr>
          <p:nvPr>
            <p:extLst>
              <p:ext uri="{D42A27DB-BD31-4B8C-83A1-F6EECF244321}">
                <p14:modId xmlns:p14="http://schemas.microsoft.com/office/powerpoint/2010/main" val="2187617370"/>
              </p:ext>
            </p:extLst>
          </p:nvPr>
        </p:nvGraphicFramePr>
        <p:xfrm>
          <a:off x="1782761" y="3043239"/>
          <a:ext cx="8626478" cy="924561"/>
        </p:xfrm>
        <a:graphic>
          <a:graphicData uri="http://schemas.openxmlformats.org/drawingml/2006/table">
            <a:tbl>
              <a:tblPr firstRow="1" bandRow="1">
                <a:tableStyleId>{616DA210-FB5B-4158-B5E0-FEB733F419BA}</a:tableStyleId>
              </a:tblPr>
              <a:tblGrid>
                <a:gridCol w="1232354">
                  <a:extLst>
                    <a:ext uri="{9D8B030D-6E8A-4147-A177-3AD203B41FA5}">
                      <a16:colId xmlns:a16="http://schemas.microsoft.com/office/drawing/2014/main" val="3707126349"/>
                    </a:ext>
                  </a:extLst>
                </a:gridCol>
                <a:gridCol w="1232354">
                  <a:extLst>
                    <a:ext uri="{9D8B030D-6E8A-4147-A177-3AD203B41FA5}">
                      <a16:colId xmlns:a16="http://schemas.microsoft.com/office/drawing/2014/main" val="1739705387"/>
                    </a:ext>
                  </a:extLst>
                </a:gridCol>
                <a:gridCol w="1232354">
                  <a:extLst>
                    <a:ext uri="{9D8B030D-6E8A-4147-A177-3AD203B41FA5}">
                      <a16:colId xmlns:a16="http://schemas.microsoft.com/office/drawing/2014/main" val="2724366829"/>
                    </a:ext>
                  </a:extLst>
                </a:gridCol>
                <a:gridCol w="1232354">
                  <a:extLst>
                    <a:ext uri="{9D8B030D-6E8A-4147-A177-3AD203B41FA5}">
                      <a16:colId xmlns:a16="http://schemas.microsoft.com/office/drawing/2014/main" val="1226463340"/>
                    </a:ext>
                  </a:extLst>
                </a:gridCol>
                <a:gridCol w="1232354">
                  <a:extLst>
                    <a:ext uri="{9D8B030D-6E8A-4147-A177-3AD203B41FA5}">
                      <a16:colId xmlns:a16="http://schemas.microsoft.com/office/drawing/2014/main" val="1154161058"/>
                    </a:ext>
                  </a:extLst>
                </a:gridCol>
                <a:gridCol w="1232354">
                  <a:extLst>
                    <a:ext uri="{9D8B030D-6E8A-4147-A177-3AD203B41FA5}">
                      <a16:colId xmlns:a16="http://schemas.microsoft.com/office/drawing/2014/main" val="1750194477"/>
                    </a:ext>
                  </a:extLst>
                </a:gridCol>
                <a:gridCol w="1232354">
                  <a:extLst>
                    <a:ext uri="{9D8B030D-6E8A-4147-A177-3AD203B41FA5}">
                      <a16:colId xmlns:a16="http://schemas.microsoft.com/office/drawing/2014/main" val="2657717130"/>
                    </a:ext>
                  </a:extLst>
                </a:gridCol>
              </a:tblGrid>
              <a:tr h="924561">
                <a:tc>
                  <a:txBody>
                    <a:bodyPr/>
                    <a:lstStyle/>
                    <a:p>
                      <a:pPr algn="ctr"/>
                      <a:r>
                        <a:rPr lang="ru-RU" sz="4800" dirty="0"/>
                        <a:t>17</a:t>
                      </a:r>
                      <a:endParaRPr lang="ru-RU" sz="4400" dirty="0"/>
                    </a:p>
                  </a:txBody>
                  <a:tcPr/>
                </a:tc>
                <a:tc>
                  <a:txBody>
                    <a:bodyPr/>
                    <a:lstStyle/>
                    <a:p>
                      <a:pPr algn="ctr"/>
                      <a:r>
                        <a:rPr lang="ru-RU" sz="4800" dirty="0"/>
                        <a:t>5</a:t>
                      </a:r>
                    </a:p>
                  </a:txBody>
                  <a:tcPr/>
                </a:tc>
                <a:tc>
                  <a:txBody>
                    <a:bodyPr/>
                    <a:lstStyle/>
                    <a:p>
                      <a:pPr algn="ctr"/>
                      <a:r>
                        <a:rPr lang="ru-RU" sz="4800" dirty="0"/>
                        <a:t>81</a:t>
                      </a:r>
                    </a:p>
                  </a:txBody>
                  <a:tcPr/>
                </a:tc>
                <a:tc>
                  <a:txBody>
                    <a:bodyPr/>
                    <a:lstStyle/>
                    <a:p>
                      <a:pPr algn="ctr"/>
                      <a:r>
                        <a:rPr lang="ru-RU" sz="4800" dirty="0"/>
                        <a:t>34</a:t>
                      </a:r>
                    </a:p>
                  </a:txBody>
                  <a:tcPr/>
                </a:tc>
                <a:tc>
                  <a:txBody>
                    <a:bodyPr/>
                    <a:lstStyle/>
                    <a:p>
                      <a:pPr algn="ctr"/>
                      <a:r>
                        <a:rPr lang="ru-RU" sz="4800" dirty="0"/>
                        <a:t>1</a:t>
                      </a:r>
                    </a:p>
                  </a:txBody>
                  <a:tcPr/>
                </a:tc>
                <a:tc>
                  <a:txBody>
                    <a:bodyPr/>
                    <a:lstStyle/>
                    <a:p>
                      <a:pPr algn="ctr"/>
                      <a:r>
                        <a:rPr lang="ru-RU" sz="4800" dirty="0"/>
                        <a:t>6</a:t>
                      </a:r>
                    </a:p>
                  </a:txBody>
                  <a:tcPr/>
                </a:tc>
                <a:tc>
                  <a:txBody>
                    <a:bodyPr/>
                    <a:lstStyle/>
                    <a:p>
                      <a:pPr algn="ctr"/>
                      <a:r>
                        <a:rPr lang="ru-RU" sz="4800" dirty="0"/>
                        <a:t>45</a:t>
                      </a:r>
                    </a:p>
                  </a:txBody>
                  <a:tcPr/>
                </a:tc>
                <a:extLst>
                  <a:ext uri="{0D108BD9-81ED-4DB2-BD59-A6C34878D82A}">
                    <a16:rowId xmlns:a16="http://schemas.microsoft.com/office/drawing/2014/main" val="246696094"/>
                  </a:ext>
                </a:extLst>
              </a:tr>
            </a:tbl>
          </a:graphicData>
        </a:graphic>
      </p:graphicFrame>
      <p:sp>
        <p:nvSpPr>
          <p:cNvPr id="9" name="TextBox 8">
            <a:extLst>
              <a:ext uri="{FF2B5EF4-FFF2-40B4-BE49-F238E27FC236}">
                <a16:creationId xmlns:a16="http://schemas.microsoft.com/office/drawing/2014/main" id="{C43AA43C-EC28-4165-84ED-82A74F1AE784}"/>
              </a:ext>
            </a:extLst>
          </p:cNvPr>
          <p:cNvSpPr txBox="1"/>
          <p:nvPr/>
        </p:nvSpPr>
        <p:spPr bwMode="auto">
          <a:xfrm>
            <a:off x="2030413" y="2673907"/>
            <a:ext cx="647700" cy="369332"/>
          </a:xfrm>
          <a:prstGeom prst="rect">
            <a:avLst/>
          </a:prstGeom>
        </p:spPr>
        <p:txBody>
          <a:bodyPr wrap="square" rtlCol="0">
            <a:spAutoFit/>
          </a:bodyPr>
          <a:lstStyle/>
          <a:p>
            <a:pPr algn="ctr"/>
            <a:r>
              <a:rPr lang="ru-RU" dirty="0"/>
              <a:t>0</a:t>
            </a:r>
          </a:p>
        </p:txBody>
      </p:sp>
      <p:sp>
        <p:nvSpPr>
          <p:cNvPr id="10" name="TextBox 9">
            <a:extLst>
              <a:ext uri="{FF2B5EF4-FFF2-40B4-BE49-F238E27FC236}">
                <a16:creationId xmlns:a16="http://schemas.microsoft.com/office/drawing/2014/main" id="{401CD2ED-08BD-46A9-A719-5E26F30E6618}"/>
              </a:ext>
            </a:extLst>
          </p:cNvPr>
          <p:cNvSpPr txBox="1"/>
          <p:nvPr/>
        </p:nvSpPr>
        <p:spPr bwMode="auto">
          <a:xfrm>
            <a:off x="3287713" y="2673907"/>
            <a:ext cx="647700" cy="369332"/>
          </a:xfrm>
          <a:prstGeom prst="rect">
            <a:avLst/>
          </a:prstGeom>
        </p:spPr>
        <p:txBody>
          <a:bodyPr wrap="square" rtlCol="0">
            <a:spAutoFit/>
          </a:bodyPr>
          <a:lstStyle/>
          <a:p>
            <a:pPr algn="ctr"/>
            <a:r>
              <a:rPr lang="ru-RU" dirty="0"/>
              <a:t>1</a:t>
            </a:r>
          </a:p>
        </p:txBody>
      </p:sp>
      <p:sp>
        <p:nvSpPr>
          <p:cNvPr id="11" name="TextBox 10">
            <a:extLst>
              <a:ext uri="{FF2B5EF4-FFF2-40B4-BE49-F238E27FC236}">
                <a16:creationId xmlns:a16="http://schemas.microsoft.com/office/drawing/2014/main" id="{2E457CE6-2A86-41C2-81FB-E8E23E01C3CE}"/>
              </a:ext>
            </a:extLst>
          </p:cNvPr>
          <p:cNvSpPr txBox="1"/>
          <p:nvPr/>
        </p:nvSpPr>
        <p:spPr bwMode="auto">
          <a:xfrm>
            <a:off x="4506913" y="2673907"/>
            <a:ext cx="647700" cy="369332"/>
          </a:xfrm>
          <a:prstGeom prst="rect">
            <a:avLst/>
          </a:prstGeom>
        </p:spPr>
        <p:txBody>
          <a:bodyPr wrap="square" rtlCol="0">
            <a:spAutoFit/>
          </a:bodyPr>
          <a:lstStyle/>
          <a:p>
            <a:pPr algn="ctr"/>
            <a:r>
              <a:rPr lang="ru-RU" dirty="0"/>
              <a:t>2</a:t>
            </a:r>
          </a:p>
        </p:txBody>
      </p:sp>
      <p:sp>
        <p:nvSpPr>
          <p:cNvPr id="12" name="TextBox 11">
            <a:extLst>
              <a:ext uri="{FF2B5EF4-FFF2-40B4-BE49-F238E27FC236}">
                <a16:creationId xmlns:a16="http://schemas.microsoft.com/office/drawing/2014/main" id="{8602FBF7-78B7-40AD-9BE5-9D881AA8A90A}"/>
              </a:ext>
            </a:extLst>
          </p:cNvPr>
          <p:cNvSpPr txBox="1"/>
          <p:nvPr/>
        </p:nvSpPr>
        <p:spPr bwMode="auto">
          <a:xfrm>
            <a:off x="5764213" y="2673907"/>
            <a:ext cx="647700" cy="369332"/>
          </a:xfrm>
          <a:prstGeom prst="rect">
            <a:avLst/>
          </a:prstGeom>
        </p:spPr>
        <p:txBody>
          <a:bodyPr wrap="square" rtlCol="0">
            <a:spAutoFit/>
          </a:bodyPr>
          <a:lstStyle/>
          <a:p>
            <a:pPr algn="ctr"/>
            <a:r>
              <a:rPr lang="ru-RU" dirty="0"/>
              <a:t>3</a:t>
            </a:r>
          </a:p>
        </p:txBody>
      </p:sp>
      <p:sp>
        <p:nvSpPr>
          <p:cNvPr id="13" name="TextBox 12">
            <a:extLst>
              <a:ext uri="{FF2B5EF4-FFF2-40B4-BE49-F238E27FC236}">
                <a16:creationId xmlns:a16="http://schemas.microsoft.com/office/drawing/2014/main" id="{34BD869A-850D-4491-8610-EF21D16E22FE}"/>
              </a:ext>
            </a:extLst>
          </p:cNvPr>
          <p:cNvSpPr txBox="1"/>
          <p:nvPr/>
        </p:nvSpPr>
        <p:spPr bwMode="auto">
          <a:xfrm>
            <a:off x="6945313" y="2673907"/>
            <a:ext cx="647700" cy="369332"/>
          </a:xfrm>
          <a:prstGeom prst="rect">
            <a:avLst/>
          </a:prstGeom>
        </p:spPr>
        <p:txBody>
          <a:bodyPr wrap="square" rtlCol="0">
            <a:spAutoFit/>
          </a:bodyPr>
          <a:lstStyle/>
          <a:p>
            <a:pPr algn="ctr"/>
            <a:r>
              <a:rPr lang="ru-RU" dirty="0"/>
              <a:t>4</a:t>
            </a:r>
          </a:p>
        </p:txBody>
      </p:sp>
      <p:sp>
        <p:nvSpPr>
          <p:cNvPr id="14" name="TextBox 13">
            <a:extLst>
              <a:ext uri="{FF2B5EF4-FFF2-40B4-BE49-F238E27FC236}">
                <a16:creationId xmlns:a16="http://schemas.microsoft.com/office/drawing/2014/main" id="{0DC46281-08BD-45CE-AC52-9FA0BECC5CCB}"/>
              </a:ext>
            </a:extLst>
          </p:cNvPr>
          <p:cNvSpPr txBox="1"/>
          <p:nvPr/>
        </p:nvSpPr>
        <p:spPr bwMode="auto">
          <a:xfrm>
            <a:off x="8202613" y="2673907"/>
            <a:ext cx="647700" cy="369332"/>
          </a:xfrm>
          <a:prstGeom prst="rect">
            <a:avLst/>
          </a:prstGeom>
        </p:spPr>
        <p:txBody>
          <a:bodyPr wrap="square" rtlCol="0">
            <a:spAutoFit/>
          </a:bodyPr>
          <a:lstStyle/>
          <a:p>
            <a:pPr algn="ctr"/>
            <a:r>
              <a:rPr lang="ru-RU" dirty="0"/>
              <a:t>5</a:t>
            </a:r>
          </a:p>
        </p:txBody>
      </p:sp>
      <p:sp>
        <p:nvSpPr>
          <p:cNvPr id="17" name="TextBox 16">
            <a:extLst>
              <a:ext uri="{FF2B5EF4-FFF2-40B4-BE49-F238E27FC236}">
                <a16:creationId xmlns:a16="http://schemas.microsoft.com/office/drawing/2014/main" id="{1AA4E0A9-9129-4D5A-B936-31892D557C54}"/>
              </a:ext>
            </a:extLst>
          </p:cNvPr>
          <p:cNvSpPr txBox="1"/>
          <p:nvPr/>
        </p:nvSpPr>
        <p:spPr bwMode="auto">
          <a:xfrm>
            <a:off x="9459913" y="2673907"/>
            <a:ext cx="647700" cy="369332"/>
          </a:xfrm>
          <a:prstGeom prst="rect">
            <a:avLst/>
          </a:prstGeom>
        </p:spPr>
        <p:txBody>
          <a:bodyPr wrap="square" rtlCol="0">
            <a:spAutoFit/>
          </a:bodyPr>
          <a:lstStyle/>
          <a:p>
            <a:pPr algn="ctr"/>
            <a:r>
              <a:rPr lang="ru-RU" dirty="0"/>
              <a:t>6</a:t>
            </a:r>
          </a:p>
        </p:txBody>
      </p:sp>
    </p:spTree>
    <p:extLst>
      <p:ext uri="{BB962C8B-B14F-4D97-AF65-F5344CB8AC3E}">
        <p14:creationId xmlns:p14="http://schemas.microsoft.com/office/powerpoint/2010/main" val="1176722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8F8218-330E-41A0-A804-840036476B0C}"/>
              </a:ext>
            </a:extLst>
          </p:cNvPr>
          <p:cNvSpPr>
            <a:spLocks noGrp="1"/>
          </p:cNvSpPr>
          <p:nvPr>
            <p:ph type="title"/>
          </p:nvPr>
        </p:nvSpPr>
        <p:spPr/>
        <p:txBody>
          <a:bodyPr/>
          <a:lstStyle/>
          <a:p>
            <a:r>
              <a:rPr lang="ru-RU" dirty="0"/>
              <a:t>Главный принцип лекции</a:t>
            </a:r>
          </a:p>
        </p:txBody>
      </p:sp>
      <p:sp>
        <p:nvSpPr>
          <p:cNvPr id="7" name="Текст 6">
            <a:extLst>
              <a:ext uri="{FF2B5EF4-FFF2-40B4-BE49-F238E27FC236}">
                <a16:creationId xmlns:a16="http://schemas.microsoft.com/office/drawing/2014/main" id="{A2113134-DFA9-4EA5-A1AD-9F22E8267CA8}"/>
              </a:ext>
            </a:extLst>
          </p:cNvPr>
          <p:cNvSpPr>
            <a:spLocks noGrp="1"/>
          </p:cNvSpPr>
          <p:nvPr>
            <p:ph type="body" sz="quarter" idx="19"/>
          </p:nvPr>
        </p:nvSpPr>
        <p:spPr/>
        <p:txBody>
          <a:bodyPr/>
          <a:lstStyle/>
          <a:p>
            <a:endParaRPr lang="ru-RU"/>
          </a:p>
        </p:txBody>
      </p:sp>
      <p:graphicFrame>
        <p:nvGraphicFramePr>
          <p:cNvPr id="10" name="Таблица 9">
            <a:extLst>
              <a:ext uri="{FF2B5EF4-FFF2-40B4-BE49-F238E27FC236}">
                <a16:creationId xmlns:a16="http://schemas.microsoft.com/office/drawing/2014/main" id="{0E3E24BB-5D65-46FD-B9C3-F059A08CE802}"/>
              </a:ext>
            </a:extLst>
          </p:cNvPr>
          <p:cNvGraphicFramePr>
            <a:graphicFrameLocks noGrp="1"/>
          </p:cNvGraphicFramePr>
          <p:nvPr>
            <p:extLst>
              <p:ext uri="{D42A27DB-BD31-4B8C-83A1-F6EECF244321}">
                <p14:modId xmlns:p14="http://schemas.microsoft.com/office/powerpoint/2010/main" val="828924837"/>
              </p:ext>
            </p:extLst>
          </p:nvPr>
        </p:nvGraphicFramePr>
        <p:xfrm>
          <a:off x="479424" y="2330135"/>
          <a:ext cx="11312528" cy="4280216"/>
        </p:xfrm>
        <a:graphic>
          <a:graphicData uri="http://schemas.openxmlformats.org/drawingml/2006/table">
            <a:tbl>
              <a:tblPr firstRow="1" bandRow="1">
                <a:tableStyleId>{0E3FDE45-AF77-4B5C-9715-49D594BDF05E}</a:tableStyleId>
              </a:tblPr>
              <a:tblGrid>
                <a:gridCol w="2828132">
                  <a:extLst>
                    <a:ext uri="{9D8B030D-6E8A-4147-A177-3AD203B41FA5}">
                      <a16:colId xmlns:a16="http://schemas.microsoft.com/office/drawing/2014/main" val="932079280"/>
                    </a:ext>
                  </a:extLst>
                </a:gridCol>
                <a:gridCol w="2828132">
                  <a:extLst>
                    <a:ext uri="{9D8B030D-6E8A-4147-A177-3AD203B41FA5}">
                      <a16:colId xmlns:a16="http://schemas.microsoft.com/office/drawing/2014/main" val="3223512853"/>
                    </a:ext>
                  </a:extLst>
                </a:gridCol>
                <a:gridCol w="2828132">
                  <a:extLst>
                    <a:ext uri="{9D8B030D-6E8A-4147-A177-3AD203B41FA5}">
                      <a16:colId xmlns:a16="http://schemas.microsoft.com/office/drawing/2014/main" val="958608350"/>
                    </a:ext>
                  </a:extLst>
                </a:gridCol>
                <a:gridCol w="2828132">
                  <a:extLst>
                    <a:ext uri="{9D8B030D-6E8A-4147-A177-3AD203B41FA5}">
                      <a16:colId xmlns:a16="http://schemas.microsoft.com/office/drawing/2014/main" val="3691406305"/>
                    </a:ext>
                  </a:extLst>
                </a:gridCol>
              </a:tblGrid>
              <a:tr h="369895">
                <a:tc>
                  <a:txBody>
                    <a:bodyPr/>
                    <a:lstStyle/>
                    <a:p>
                      <a:r>
                        <a:rPr lang="ru-RU" sz="1500" dirty="0"/>
                        <a:t>Тип запроса</a:t>
                      </a:r>
                    </a:p>
                  </a:txBody>
                  <a:tcPr marL="77010" marR="77010" marT="38505" marB="38505" anchor="ctr"/>
                </a:tc>
                <a:tc>
                  <a:txBody>
                    <a:bodyPr/>
                    <a:lstStyle/>
                    <a:p>
                      <a:r>
                        <a:rPr lang="ru-RU" sz="1500" dirty="0"/>
                        <a:t>Подходящая структура</a:t>
                      </a:r>
                    </a:p>
                  </a:txBody>
                  <a:tcPr marL="77010" marR="77010" marT="38505" marB="38505" anchor="ctr"/>
                </a:tc>
                <a:tc>
                  <a:txBody>
                    <a:bodyPr/>
                    <a:lstStyle/>
                    <a:p>
                      <a:pPr algn="r"/>
                      <a:r>
                        <a:rPr lang="ru-RU" sz="1500"/>
                        <a:t>Типичная сложность</a:t>
                      </a:r>
                    </a:p>
                  </a:txBody>
                  <a:tcPr marL="77010" marR="77010" marT="38505" marB="38505" anchor="ctr"/>
                </a:tc>
                <a:tc>
                  <a:txBody>
                    <a:bodyPr/>
                    <a:lstStyle/>
                    <a:p>
                      <a:r>
                        <a:rPr lang="ru-RU" sz="1500"/>
                        <a:t>Что это даёт</a:t>
                      </a:r>
                    </a:p>
                  </a:txBody>
                  <a:tcPr marL="77010" marR="77010" marT="38505" marB="38505" anchor="ctr"/>
                </a:tc>
                <a:extLst>
                  <a:ext uri="{0D108BD9-81ED-4DB2-BD59-A6C34878D82A}">
                    <a16:rowId xmlns:a16="http://schemas.microsoft.com/office/drawing/2014/main" val="1005851617"/>
                  </a:ext>
                </a:extLst>
              </a:tr>
              <a:tr h="845475">
                <a:tc>
                  <a:txBody>
                    <a:bodyPr/>
                    <a:lstStyle/>
                    <a:p>
                      <a:r>
                        <a:rPr lang="ru-RU" sz="1500"/>
                        <a:t>Доступ по индексу</a:t>
                      </a:r>
                    </a:p>
                  </a:txBody>
                  <a:tcPr marL="77010" marR="77010" marT="38505" marB="38505" anchor="ctr"/>
                </a:tc>
                <a:tc>
                  <a:txBody>
                    <a:bodyPr/>
                    <a:lstStyle/>
                    <a:p>
                      <a:r>
                        <a:rPr lang="ru-RU" sz="1500"/>
                        <a:t>Массив</a:t>
                      </a:r>
                    </a:p>
                  </a:txBody>
                  <a:tcPr marL="77010" marR="77010" marT="38505" marB="38505" anchor="ctr"/>
                </a:tc>
                <a:tc>
                  <a:txBody>
                    <a:bodyPr/>
                    <a:lstStyle/>
                    <a:p>
                      <a:pPr algn="r"/>
                      <a:r>
                        <a:rPr lang="en-US" sz="1500"/>
                        <a:t>O(1)</a:t>
                      </a:r>
                    </a:p>
                  </a:txBody>
                  <a:tcPr marL="77010" marR="77010" marT="38505" marB="38505" anchor="ctr"/>
                </a:tc>
                <a:tc>
                  <a:txBody>
                    <a:bodyPr/>
                    <a:lstStyle/>
                    <a:p>
                      <a:r>
                        <a:rPr lang="ru-RU" sz="1500"/>
                        <a:t>Мгновенное обращение к элементу по известной позиции</a:t>
                      </a:r>
                    </a:p>
                  </a:txBody>
                  <a:tcPr marL="77010" marR="77010" marT="38505" marB="38505" anchor="ctr"/>
                </a:tc>
                <a:extLst>
                  <a:ext uri="{0D108BD9-81ED-4DB2-BD59-A6C34878D82A}">
                    <a16:rowId xmlns:a16="http://schemas.microsoft.com/office/drawing/2014/main" val="3389441828"/>
                  </a:ext>
                </a:extLst>
              </a:tr>
              <a:tr h="686948">
                <a:tc>
                  <a:txBody>
                    <a:bodyPr/>
                    <a:lstStyle/>
                    <a:p>
                      <a:r>
                        <a:rPr lang="ru-RU" sz="1500"/>
                        <a:t>Поиск по ключу</a:t>
                      </a:r>
                    </a:p>
                  </a:txBody>
                  <a:tcPr marL="77010" marR="77010" marT="38505" marB="38505" anchor="ctr"/>
                </a:tc>
                <a:tc>
                  <a:txBody>
                    <a:bodyPr/>
                    <a:lstStyle/>
                    <a:p>
                      <a:r>
                        <a:rPr lang="ru-RU" sz="1500" dirty="0"/>
                        <a:t>Хеш-таблица</a:t>
                      </a:r>
                    </a:p>
                  </a:txBody>
                  <a:tcPr marL="77010" marR="77010" marT="38505" marB="38505" anchor="ctr"/>
                </a:tc>
                <a:tc>
                  <a:txBody>
                    <a:bodyPr/>
                    <a:lstStyle/>
                    <a:p>
                      <a:pPr algn="r"/>
                      <a:r>
                        <a:rPr lang="en-US" sz="1500"/>
                        <a:t>O(1) </a:t>
                      </a:r>
                      <a:r>
                        <a:rPr lang="ru-RU" sz="1500"/>
                        <a:t>в среднем</a:t>
                      </a:r>
                    </a:p>
                  </a:txBody>
                  <a:tcPr marL="77010" marR="77010" marT="38505" marB="38505" anchor="ctr"/>
                </a:tc>
                <a:tc>
                  <a:txBody>
                    <a:bodyPr/>
                    <a:lstStyle/>
                    <a:p>
                      <a:r>
                        <a:rPr lang="ru-RU" sz="1500"/>
                        <a:t>Быстрое получение записи по ID, логину, артикулу и т.п.</a:t>
                      </a:r>
                    </a:p>
                  </a:txBody>
                  <a:tcPr marL="77010" marR="77010" marT="38505" marB="38505" anchor="ctr"/>
                </a:tc>
                <a:extLst>
                  <a:ext uri="{0D108BD9-81ED-4DB2-BD59-A6C34878D82A}">
                    <a16:rowId xmlns:a16="http://schemas.microsoft.com/office/drawing/2014/main" val="4234481653"/>
                  </a:ext>
                </a:extLst>
              </a:tr>
              <a:tr h="686948">
                <a:tc>
                  <a:txBody>
                    <a:bodyPr/>
                    <a:lstStyle/>
                    <a:p>
                      <a:r>
                        <a:rPr lang="ru-RU" sz="1500"/>
                        <a:t>Получение </a:t>
                      </a:r>
                      <a:r>
                        <a:rPr lang="en-US" sz="1500"/>
                        <a:t>min / max</a:t>
                      </a:r>
                    </a:p>
                  </a:txBody>
                  <a:tcPr marL="77010" marR="77010" marT="38505" marB="38505" anchor="ctr"/>
                </a:tc>
                <a:tc>
                  <a:txBody>
                    <a:bodyPr/>
                    <a:lstStyle/>
                    <a:p>
                      <a:r>
                        <a:rPr lang="ru-RU" sz="1500"/>
                        <a:t>Куча</a:t>
                      </a:r>
                    </a:p>
                  </a:txBody>
                  <a:tcPr marL="77010" marR="77010" marT="38505" marB="38505" anchor="ctr"/>
                </a:tc>
                <a:tc>
                  <a:txBody>
                    <a:bodyPr/>
                    <a:lstStyle/>
                    <a:p>
                      <a:pPr algn="r"/>
                      <a:r>
                        <a:rPr lang="ru-RU" sz="1500"/>
                        <a:t>O(1) для просмотра, O(log n) для извлечения</a:t>
                      </a:r>
                    </a:p>
                  </a:txBody>
                  <a:tcPr marL="77010" marR="77010" marT="38505" marB="38505" anchor="ctr"/>
                </a:tc>
                <a:tc>
                  <a:txBody>
                    <a:bodyPr/>
                    <a:lstStyle/>
                    <a:p>
                      <a:r>
                        <a:rPr lang="ru-RU" sz="1500"/>
                        <a:t>Быстрый доступ к наименьшему или наибольшему элементу</a:t>
                      </a:r>
                    </a:p>
                  </a:txBody>
                  <a:tcPr marL="77010" marR="77010" marT="38505" marB="38505" anchor="ctr"/>
                </a:tc>
                <a:extLst>
                  <a:ext uri="{0D108BD9-81ED-4DB2-BD59-A6C34878D82A}">
                    <a16:rowId xmlns:a16="http://schemas.microsoft.com/office/drawing/2014/main" val="4256956659"/>
                  </a:ext>
                </a:extLst>
              </a:tr>
              <a:tr h="845475">
                <a:tc>
                  <a:txBody>
                    <a:bodyPr/>
                    <a:lstStyle/>
                    <a:p>
                      <a:r>
                        <a:rPr lang="ru-RU" sz="1500"/>
                        <a:t>Доступ по приоритету</a:t>
                      </a:r>
                    </a:p>
                  </a:txBody>
                  <a:tcPr marL="77010" marR="77010" marT="38505" marB="38505" anchor="ctr"/>
                </a:tc>
                <a:tc>
                  <a:txBody>
                    <a:bodyPr/>
                    <a:lstStyle/>
                    <a:p>
                      <a:r>
                        <a:rPr lang="ru-RU" sz="1500"/>
                        <a:t>Приоритетная очередь</a:t>
                      </a:r>
                    </a:p>
                  </a:txBody>
                  <a:tcPr marL="77010" marR="77010" marT="38505" marB="38505" anchor="ctr"/>
                </a:tc>
                <a:tc>
                  <a:txBody>
                    <a:bodyPr/>
                    <a:lstStyle/>
                    <a:p>
                      <a:pPr algn="r"/>
                      <a:r>
                        <a:rPr lang="ru-RU" sz="1500"/>
                        <a:t>O(log n) на вставку/извлечение</a:t>
                      </a:r>
                    </a:p>
                  </a:txBody>
                  <a:tcPr marL="77010" marR="77010" marT="38505" marB="38505" anchor="ctr"/>
                </a:tc>
                <a:tc>
                  <a:txBody>
                    <a:bodyPr/>
                    <a:lstStyle/>
                    <a:p>
                      <a:r>
                        <a:rPr lang="ru-RU" sz="1500"/>
                        <a:t>Обработка наиболее важного элемента без полной сортировки</a:t>
                      </a:r>
                    </a:p>
                  </a:txBody>
                  <a:tcPr marL="77010" marR="77010" marT="38505" marB="38505" anchor="ctr"/>
                </a:tc>
                <a:extLst>
                  <a:ext uri="{0D108BD9-81ED-4DB2-BD59-A6C34878D82A}">
                    <a16:rowId xmlns:a16="http://schemas.microsoft.com/office/drawing/2014/main" val="3484580777"/>
                  </a:ext>
                </a:extLst>
              </a:tr>
              <a:tr h="845475">
                <a:tc>
                  <a:txBody>
                    <a:bodyPr/>
                    <a:lstStyle/>
                    <a:p>
                      <a:r>
                        <a:rPr lang="ru-RU" sz="1500"/>
                        <a:t>Получение </a:t>
                      </a:r>
                      <a:r>
                        <a:rPr lang="en-US" sz="1500"/>
                        <a:t>Top-K</a:t>
                      </a:r>
                    </a:p>
                  </a:txBody>
                  <a:tcPr marL="77010" marR="77010" marT="38505" marB="38505" anchor="ctr"/>
                </a:tc>
                <a:tc>
                  <a:txBody>
                    <a:bodyPr/>
                    <a:lstStyle/>
                    <a:p>
                      <a:r>
                        <a:rPr lang="ru-RU" sz="1500"/>
                        <a:t>Куча размера </a:t>
                      </a:r>
                      <a:r>
                        <a:rPr lang="en-US" sz="1500"/>
                        <a:t>K</a:t>
                      </a:r>
                    </a:p>
                  </a:txBody>
                  <a:tcPr marL="77010" marR="77010" marT="38505" marB="38505" anchor="ctr"/>
                </a:tc>
                <a:tc>
                  <a:txBody>
                    <a:bodyPr/>
                    <a:lstStyle/>
                    <a:p>
                      <a:pPr algn="r"/>
                      <a:r>
                        <a:rPr lang="en-US" sz="1500" dirty="0"/>
                        <a:t>O(n log k)</a:t>
                      </a:r>
                    </a:p>
                  </a:txBody>
                  <a:tcPr marL="77010" marR="77010" marT="38505" marB="38505" anchor="ctr"/>
                </a:tc>
                <a:tc>
                  <a:txBody>
                    <a:bodyPr/>
                    <a:lstStyle/>
                    <a:p>
                      <a:r>
                        <a:rPr lang="ru-RU" sz="1500" dirty="0"/>
                        <a:t>Получение нескольких лучших элементов без сортировки всего набора</a:t>
                      </a:r>
                    </a:p>
                  </a:txBody>
                  <a:tcPr marL="77010" marR="77010" marT="38505" marB="38505" anchor="ctr"/>
                </a:tc>
                <a:extLst>
                  <a:ext uri="{0D108BD9-81ED-4DB2-BD59-A6C34878D82A}">
                    <a16:rowId xmlns:a16="http://schemas.microsoft.com/office/drawing/2014/main" val="1856364588"/>
                  </a:ext>
                </a:extLst>
              </a:tr>
            </a:tbl>
          </a:graphicData>
        </a:graphic>
      </p:graphicFrame>
      <p:sp>
        <p:nvSpPr>
          <p:cNvPr id="11" name="Прямоугольник: скругленные углы 10">
            <a:extLst>
              <a:ext uri="{FF2B5EF4-FFF2-40B4-BE49-F238E27FC236}">
                <a16:creationId xmlns:a16="http://schemas.microsoft.com/office/drawing/2014/main" id="{1F52A5C8-3799-4439-BACB-9D87492E77E3}"/>
              </a:ext>
            </a:extLst>
          </p:cNvPr>
          <p:cNvSpPr/>
          <p:nvPr/>
        </p:nvSpPr>
        <p:spPr>
          <a:xfrm>
            <a:off x="479424" y="1268413"/>
            <a:ext cx="11312528" cy="93980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ru-RU" sz="2400" dirty="0"/>
              <a:t>Скорость доступа к данным определяется не только алгоритмом поиска, но и тем, как данные организованы заранее.</a:t>
            </a:r>
          </a:p>
        </p:txBody>
      </p:sp>
    </p:spTree>
    <p:extLst>
      <p:ext uri="{BB962C8B-B14F-4D97-AF65-F5344CB8AC3E}">
        <p14:creationId xmlns:p14="http://schemas.microsoft.com/office/powerpoint/2010/main" val="851699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3E04088B-E234-4639-A97F-EDD5A576757E}"/>
              </a:ext>
            </a:extLst>
          </p:cNvPr>
          <p:cNvSpPr/>
          <p:nvPr/>
        </p:nvSpPr>
        <p:spPr>
          <a:xfrm>
            <a:off x="7334250" y="1314450"/>
            <a:ext cx="4155558" cy="12858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ru-RU"/>
          </a:p>
        </p:txBody>
      </p:sp>
      <p:sp>
        <p:nvSpPr>
          <p:cNvPr id="2" name="Заголовок 1">
            <a:extLst>
              <a:ext uri="{FF2B5EF4-FFF2-40B4-BE49-F238E27FC236}">
                <a16:creationId xmlns:a16="http://schemas.microsoft.com/office/drawing/2014/main" id="{531C39FE-B5E2-407D-998C-67B6DE7377A7}"/>
              </a:ext>
            </a:extLst>
          </p:cNvPr>
          <p:cNvSpPr>
            <a:spLocks noGrp="1"/>
          </p:cNvSpPr>
          <p:nvPr>
            <p:ph type="title"/>
          </p:nvPr>
        </p:nvSpPr>
        <p:spPr/>
        <p:txBody>
          <a:bodyPr/>
          <a:lstStyle/>
          <a:p>
            <a:r>
              <a:rPr lang="ru-RU" dirty="0"/>
              <a:t>Задача: найти объект по ключу</a:t>
            </a:r>
          </a:p>
        </p:txBody>
      </p:sp>
      <p:sp>
        <p:nvSpPr>
          <p:cNvPr id="7" name="Текст 6">
            <a:extLst>
              <a:ext uri="{FF2B5EF4-FFF2-40B4-BE49-F238E27FC236}">
                <a16:creationId xmlns:a16="http://schemas.microsoft.com/office/drawing/2014/main" id="{7E871BAC-8026-48F9-A036-F93621203A7D}"/>
              </a:ext>
            </a:extLst>
          </p:cNvPr>
          <p:cNvSpPr>
            <a:spLocks noGrp="1"/>
          </p:cNvSpPr>
          <p:nvPr>
            <p:ph type="body" sz="quarter" idx="19"/>
          </p:nvPr>
        </p:nvSpPr>
        <p:spPr/>
        <p:txBody>
          <a:bodyPr/>
          <a:lstStyle/>
          <a:p>
            <a:endParaRPr lang="ru-RU"/>
          </a:p>
        </p:txBody>
      </p:sp>
      <p:pic>
        <p:nvPicPr>
          <p:cNvPr id="8" name="Рисунок 7">
            <a:extLst>
              <a:ext uri="{FF2B5EF4-FFF2-40B4-BE49-F238E27FC236}">
                <a16:creationId xmlns:a16="http://schemas.microsoft.com/office/drawing/2014/main" id="{CF704F8E-60D8-4906-9B0C-8679292889A2}"/>
              </a:ext>
            </a:extLst>
          </p:cNvPr>
          <p:cNvPicPr>
            <a:picLocks noChangeAspect="1"/>
          </p:cNvPicPr>
          <p:nvPr/>
        </p:nvPicPr>
        <p:blipFill>
          <a:blip r:embed="rId2"/>
          <a:stretch>
            <a:fillRect/>
          </a:stretch>
        </p:blipFill>
        <p:spPr>
          <a:xfrm>
            <a:off x="702192" y="1555668"/>
            <a:ext cx="5317608" cy="3746664"/>
          </a:xfrm>
          <a:prstGeom prst="rect">
            <a:avLst/>
          </a:prstGeom>
        </p:spPr>
      </p:pic>
      <p:sp>
        <p:nvSpPr>
          <p:cNvPr id="9" name="TextBox 8">
            <a:extLst>
              <a:ext uri="{FF2B5EF4-FFF2-40B4-BE49-F238E27FC236}">
                <a16:creationId xmlns:a16="http://schemas.microsoft.com/office/drawing/2014/main" id="{1647107B-1ED3-44C0-93DA-CBED0D1B0BFD}"/>
              </a:ext>
            </a:extLst>
          </p:cNvPr>
          <p:cNvSpPr txBox="1"/>
          <p:nvPr/>
        </p:nvSpPr>
        <p:spPr bwMode="auto">
          <a:xfrm>
            <a:off x="7410450" y="1507481"/>
            <a:ext cx="4079358" cy="461665"/>
          </a:xfrm>
          <a:prstGeom prst="rect">
            <a:avLst/>
          </a:prstGeom>
        </p:spPr>
        <p:txBody>
          <a:bodyPr wrap="square" rtlCol="0">
            <a:spAutoFit/>
          </a:bodyPr>
          <a:lstStyle/>
          <a:p>
            <a:r>
              <a:rPr lang="en-US" sz="2400" dirty="0"/>
              <a:t>[1,2,3,4,5 … 999999, 1000000]</a:t>
            </a:r>
            <a:endParaRPr lang="ru-RU" sz="2400" dirty="0"/>
          </a:p>
        </p:txBody>
      </p:sp>
      <p:sp>
        <p:nvSpPr>
          <p:cNvPr id="10" name="TextBox 9">
            <a:extLst>
              <a:ext uri="{FF2B5EF4-FFF2-40B4-BE49-F238E27FC236}">
                <a16:creationId xmlns:a16="http://schemas.microsoft.com/office/drawing/2014/main" id="{F0B22E29-5B0A-4FBA-85DF-6A4F13C4DFF2}"/>
              </a:ext>
            </a:extLst>
          </p:cNvPr>
          <p:cNvSpPr txBox="1"/>
          <p:nvPr/>
        </p:nvSpPr>
        <p:spPr bwMode="auto">
          <a:xfrm>
            <a:off x="7554654" y="2023114"/>
            <a:ext cx="3790950" cy="369332"/>
          </a:xfrm>
          <a:prstGeom prst="rect">
            <a:avLst/>
          </a:prstGeom>
        </p:spPr>
        <p:txBody>
          <a:bodyPr wrap="square" rtlCol="0">
            <a:spAutoFit/>
          </a:bodyPr>
          <a:lstStyle/>
          <a:p>
            <a:r>
              <a:rPr lang="ru-RU" dirty="0"/>
              <a:t>Обычный список. Сложность </a:t>
            </a:r>
            <a:r>
              <a:rPr lang="en-US" dirty="0"/>
              <a:t>O(n)</a:t>
            </a:r>
            <a:endParaRPr lang="ru-RU" dirty="0"/>
          </a:p>
        </p:txBody>
      </p:sp>
      <p:sp>
        <p:nvSpPr>
          <p:cNvPr id="12" name="TextBox 11">
            <a:extLst>
              <a:ext uri="{FF2B5EF4-FFF2-40B4-BE49-F238E27FC236}">
                <a16:creationId xmlns:a16="http://schemas.microsoft.com/office/drawing/2014/main" id="{F8DB6C66-C027-49CB-8102-32D9D9A65BDE}"/>
              </a:ext>
            </a:extLst>
          </p:cNvPr>
          <p:cNvSpPr txBox="1"/>
          <p:nvPr/>
        </p:nvSpPr>
        <p:spPr bwMode="auto">
          <a:xfrm>
            <a:off x="1657350" y="5397582"/>
            <a:ext cx="2886075" cy="369332"/>
          </a:xfrm>
          <a:prstGeom prst="rect">
            <a:avLst/>
          </a:prstGeom>
        </p:spPr>
        <p:txBody>
          <a:bodyPr wrap="square" rtlCol="0">
            <a:spAutoFit/>
          </a:bodyPr>
          <a:lstStyle/>
          <a:p>
            <a:pPr algn="ctr"/>
            <a:r>
              <a:rPr lang="ru-RU" dirty="0"/>
              <a:t>Данные</a:t>
            </a:r>
          </a:p>
        </p:txBody>
      </p:sp>
      <p:sp>
        <p:nvSpPr>
          <p:cNvPr id="13" name="Прямоугольник 12">
            <a:extLst>
              <a:ext uri="{FF2B5EF4-FFF2-40B4-BE49-F238E27FC236}">
                <a16:creationId xmlns:a16="http://schemas.microsoft.com/office/drawing/2014/main" id="{72280816-0543-447D-8D6C-7E15AB27E0FC}"/>
              </a:ext>
            </a:extLst>
          </p:cNvPr>
          <p:cNvSpPr/>
          <p:nvPr/>
        </p:nvSpPr>
        <p:spPr>
          <a:xfrm>
            <a:off x="7334250" y="2876551"/>
            <a:ext cx="4155558" cy="242578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ru-RU" dirty="0"/>
          </a:p>
        </p:txBody>
      </p:sp>
      <p:sp>
        <p:nvSpPr>
          <p:cNvPr id="14" name="TextBox 13">
            <a:extLst>
              <a:ext uri="{FF2B5EF4-FFF2-40B4-BE49-F238E27FC236}">
                <a16:creationId xmlns:a16="http://schemas.microsoft.com/office/drawing/2014/main" id="{0A5034F7-0F32-46A3-A9EE-982E56F6E31C}"/>
              </a:ext>
            </a:extLst>
          </p:cNvPr>
          <p:cNvSpPr txBox="1"/>
          <p:nvPr/>
        </p:nvSpPr>
        <p:spPr bwMode="auto">
          <a:xfrm>
            <a:off x="7840404" y="2990837"/>
            <a:ext cx="3143250" cy="461665"/>
          </a:xfrm>
          <a:prstGeom prst="rect">
            <a:avLst/>
          </a:prstGeom>
        </p:spPr>
        <p:txBody>
          <a:bodyPr wrap="square" rtlCol="0">
            <a:spAutoFit/>
          </a:bodyPr>
          <a:lstStyle/>
          <a:p>
            <a:pPr algn="ctr"/>
            <a:r>
              <a:rPr lang="en-US" sz="2400" dirty="0"/>
              <a:t>ID = 14532</a:t>
            </a:r>
            <a:endParaRPr lang="ru-RU" sz="2400" dirty="0"/>
          </a:p>
        </p:txBody>
      </p:sp>
      <p:sp>
        <p:nvSpPr>
          <p:cNvPr id="15" name="TextBox 14">
            <a:extLst>
              <a:ext uri="{FF2B5EF4-FFF2-40B4-BE49-F238E27FC236}">
                <a16:creationId xmlns:a16="http://schemas.microsoft.com/office/drawing/2014/main" id="{6E561711-C777-48DA-8D66-93A9FCB1EC4E}"/>
              </a:ext>
            </a:extLst>
          </p:cNvPr>
          <p:cNvSpPr txBox="1"/>
          <p:nvPr/>
        </p:nvSpPr>
        <p:spPr bwMode="auto">
          <a:xfrm>
            <a:off x="7840404" y="3812442"/>
            <a:ext cx="3143250" cy="461665"/>
          </a:xfrm>
          <a:prstGeom prst="rect">
            <a:avLst/>
          </a:prstGeom>
        </p:spPr>
        <p:txBody>
          <a:bodyPr wrap="square" rtlCol="0">
            <a:spAutoFit/>
          </a:bodyPr>
          <a:lstStyle/>
          <a:p>
            <a:pPr algn="ctr"/>
            <a:r>
              <a:rPr lang="ru-RU" sz="2400" dirty="0"/>
              <a:t>????</a:t>
            </a:r>
          </a:p>
        </p:txBody>
      </p:sp>
      <p:sp>
        <p:nvSpPr>
          <p:cNvPr id="16" name="TextBox 15">
            <a:extLst>
              <a:ext uri="{FF2B5EF4-FFF2-40B4-BE49-F238E27FC236}">
                <a16:creationId xmlns:a16="http://schemas.microsoft.com/office/drawing/2014/main" id="{72538FBA-5AD1-496D-BB9E-084AD3FD5CAB}"/>
              </a:ext>
            </a:extLst>
          </p:cNvPr>
          <p:cNvSpPr txBox="1"/>
          <p:nvPr/>
        </p:nvSpPr>
        <p:spPr bwMode="auto">
          <a:xfrm>
            <a:off x="7878504" y="4645583"/>
            <a:ext cx="3143250" cy="461665"/>
          </a:xfrm>
          <a:prstGeom prst="rect">
            <a:avLst/>
          </a:prstGeom>
        </p:spPr>
        <p:txBody>
          <a:bodyPr wrap="square" rtlCol="0">
            <a:spAutoFit/>
          </a:bodyPr>
          <a:lstStyle/>
          <a:p>
            <a:pPr algn="ctr"/>
            <a:r>
              <a:rPr lang="ru-RU" sz="2400" dirty="0"/>
              <a:t>Данные найдены</a:t>
            </a:r>
          </a:p>
        </p:txBody>
      </p:sp>
      <p:cxnSp>
        <p:nvCxnSpPr>
          <p:cNvPr id="18" name="Прямая со стрелкой 17">
            <a:extLst>
              <a:ext uri="{FF2B5EF4-FFF2-40B4-BE49-F238E27FC236}">
                <a16:creationId xmlns:a16="http://schemas.microsoft.com/office/drawing/2014/main" id="{4931357E-C2BF-40D5-9C0D-AD523F82644C}"/>
              </a:ext>
            </a:extLst>
          </p:cNvPr>
          <p:cNvCxnSpPr>
            <a:cxnSpLocks/>
            <a:endCxn id="15" idx="0"/>
          </p:cNvCxnSpPr>
          <p:nvPr/>
        </p:nvCxnSpPr>
        <p:spPr>
          <a:xfrm>
            <a:off x="9412029" y="3412096"/>
            <a:ext cx="0" cy="400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98C0A1E0-308F-49EB-9433-6E3C8523E465}"/>
              </a:ext>
            </a:extLst>
          </p:cNvPr>
          <p:cNvCxnSpPr>
            <a:cxnSpLocks/>
          </p:cNvCxnSpPr>
          <p:nvPr/>
        </p:nvCxnSpPr>
        <p:spPr>
          <a:xfrm>
            <a:off x="9412029" y="4274108"/>
            <a:ext cx="0" cy="371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4262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E0256D-3515-47FB-92F9-DB0CBBFEEDB2}"/>
              </a:ext>
            </a:extLst>
          </p:cNvPr>
          <p:cNvSpPr>
            <a:spLocks noGrp="1"/>
          </p:cNvSpPr>
          <p:nvPr>
            <p:ph type="title"/>
          </p:nvPr>
        </p:nvSpPr>
        <p:spPr/>
        <p:txBody>
          <a:bodyPr/>
          <a:lstStyle/>
          <a:p>
            <a:r>
              <a:rPr lang="ru-RU" dirty="0"/>
              <a:t>Хеширование как переход от ключа к позиции</a:t>
            </a:r>
          </a:p>
        </p:txBody>
      </p:sp>
      <p:sp>
        <p:nvSpPr>
          <p:cNvPr id="7" name="Текст 6">
            <a:extLst>
              <a:ext uri="{FF2B5EF4-FFF2-40B4-BE49-F238E27FC236}">
                <a16:creationId xmlns:a16="http://schemas.microsoft.com/office/drawing/2014/main" id="{8FEFF254-2833-4596-9633-A9AE66D2EB90}"/>
              </a:ext>
            </a:extLst>
          </p:cNvPr>
          <p:cNvSpPr>
            <a:spLocks noGrp="1"/>
          </p:cNvSpPr>
          <p:nvPr>
            <p:ph type="body" sz="quarter" idx="19"/>
          </p:nvPr>
        </p:nvSpPr>
        <p:spPr/>
        <p:txBody>
          <a:bodyPr/>
          <a:lstStyle/>
          <a:p>
            <a:endParaRPr lang="ru-RU"/>
          </a:p>
        </p:txBody>
      </p:sp>
      <p:sp>
        <p:nvSpPr>
          <p:cNvPr id="8" name="Прямоугольник: скругленные углы 7">
            <a:extLst>
              <a:ext uri="{FF2B5EF4-FFF2-40B4-BE49-F238E27FC236}">
                <a16:creationId xmlns:a16="http://schemas.microsoft.com/office/drawing/2014/main" id="{8D8924B9-83CF-412B-8179-779F99BE8F56}"/>
              </a:ext>
            </a:extLst>
          </p:cNvPr>
          <p:cNvSpPr/>
          <p:nvPr/>
        </p:nvSpPr>
        <p:spPr>
          <a:xfrm>
            <a:off x="479425" y="1184277"/>
            <a:ext cx="11229975" cy="1140459"/>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sz="2400" b="1" dirty="0"/>
              <a:t>Хеш-функция</a:t>
            </a:r>
            <a:r>
              <a:rPr lang="ru-RU" sz="2400" dirty="0"/>
              <a:t> — функция, которая преобразует входные данные произвольной длины в значение фиксированного формата</a:t>
            </a:r>
          </a:p>
        </p:txBody>
      </p:sp>
      <p:sp>
        <p:nvSpPr>
          <p:cNvPr id="9" name="Прямоугольник: скругленные углы 8">
            <a:extLst>
              <a:ext uri="{FF2B5EF4-FFF2-40B4-BE49-F238E27FC236}">
                <a16:creationId xmlns:a16="http://schemas.microsoft.com/office/drawing/2014/main" id="{233FFCED-00AC-4216-BC6F-BDF41C4753E9}"/>
              </a:ext>
            </a:extLst>
          </p:cNvPr>
          <p:cNvSpPr/>
          <p:nvPr/>
        </p:nvSpPr>
        <p:spPr>
          <a:xfrm>
            <a:off x="479424" y="2454594"/>
            <a:ext cx="11229975" cy="1140459"/>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sz="2400" b="1" dirty="0"/>
              <a:t>Хеш</a:t>
            </a:r>
            <a:r>
              <a:rPr lang="ru-RU" sz="2400" dirty="0"/>
              <a:t> — результат работы хеш-функции, то есть числовое или битовое значение, которое представляет исходный объект.</a:t>
            </a:r>
          </a:p>
        </p:txBody>
      </p:sp>
      <p:sp>
        <p:nvSpPr>
          <p:cNvPr id="12" name="Прямоугольник 11">
            <a:extLst>
              <a:ext uri="{FF2B5EF4-FFF2-40B4-BE49-F238E27FC236}">
                <a16:creationId xmlns:a16="http://schemas.microsoft.com/office/drawing/2014/main" id="{884FCE74-0420-44D0-B235-819311CC780D}"/>
              </a:ext>
            </a:extLst>
          </p:cNvPr>
          <p:cNvSpPr/>
          <p:nvPr/>
        </p:nvSpPr>
        <p:spPr>
          <a:xfrm>
            <a:off x="135733" y="4095750"/>
            <a:ext cx="1997076" cy="1377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Объект</a:t>
            </a:r>
          </a:p>
        </p:txBody>
      </p:sp>
      <p:sp>
        <p:nvSpPr>
          <p:cNvPr id="14" name="Прямоугольник 13">
            <a:extLst>
              <a:ext uri="{FF2B5EF4-FFF2-40B4-BE49-F238E27FC236}">
                <a16:creationId xmlns:a16="http://schemas.microsoft.com/office/drawing/2014/main" id="{41E64A55-8B6F-4C04-9E16-91AD7298F7F0}"/>
              </a:ext>
            </a:extLst>
          </p:cNvPr>
          <p:cNvSpPr/>
          <p:nvPr/>
        </p:nvSpPr>
        <p:spPr>
          <a:xfrm>
            <a:off x="2576513" y="4095750"/>
            <a:ext cx="1997076" cy="1377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Хеш-функция</a:t>
            </a:r>
          </a:p>
        </p:txBody>
      </p:sp>
      <p:sp>
        <p:nvSpPr>
          <p:cNvPr id="15" name="Прямоугольник 14">
            <a:extLst>
              <a:ext uri="{FF2B5EF4-FFF2-40B4-BE49-F238E27FC236}">
                <a16:creationId xmlns:a16="http://schemas.microsoft.com/office/drawing/2014/main" id="{D3688AE7-C1AA-4826-B0B5-4CEE4E67F507}"/>
              </a:ext>
            </a:extLst>
          </p:cNvPr>
          <p:cNvSpPr/>
          <p:nvPr/>
        </p:nvSpPr>
        <p:spPr>
          <a:xfrm>
            <a:off x="5017293" y="4095750"/>
            <a:ext cx="1997076" cy="1377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Хеш</a:t>
            </a:r>
          </a:p>
        </p:txBody>
      </p:sp>
      <p:sp>
        <p:nvSpPr>
          <p:cNvPr id="16" name="Прямоугольник 15">
            <a:extLst>
              <a:ext uri="{FF2B5EF4-FFF2-40B4-BE49-F238E27FC236}">
                <a16:creationId xmlns:a16="http://schemas.microsoft.com/office/drawing/2014/main" id="{D7F1BBAB-2E08-4474-844E-1AB69458D490}"/>
              </a:ext>
            </a:extLst>
          </p:cNvPr>
          <p:cNvSpPr/>
          <p:nvPr/>
        </p:nvSpPr>
        <p:spPr>
          <a:xfrm>
            <a:off x="7458073" y="4095750"/>
            <a:ext cx="1997076" cy="1377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Индекс</a:t>
            </a:r>
          </a:p>
        </p:txBody>
      </p:sp>
      <p:sp>
        <p:nvSpPr>
          <p:cNvPr id="17" name="Прямоугольник 16">
            <a:extLst>
              <a:ext uri="{FF2B5EF4-FFF2-40B4-BE49-F238E27FC236}">
                <a16:creationId xmlns:a16="http://schemas.microsoft.com/office/drawing/2014/main" id="{7B147449-E831-4E76-AE2B-8C90CB8C080F}"/>
              </a:ext>
            </a:extLst>
          </p:cNvPr>
          <p:cNvSpPr/>
          <p:nvPr/>
        </p:nvSpPr>
        <p:spPr>
          <a:xfrm>
            <a:off x="9898853" y="4095750"/>
            <a:ext cx="1997076" cy="1377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Данные</a:t>
            </a:r>
          </a:p>
        </p:txBody>
      </p:sp>
      <p:cxnSp>
        <p:nvCxnSpPr>
          <p:cNvPr id="19" name="Прямая со стрелкой 18">
            <a:extLst>
              <a:ext uri="{FF2B5EF4-FFF2-40B4-BE49-F238E27FC236}">
                <a16:creationId xmlns:a16="http://schemas.microsoft.com/office/drawing/2014/main" id="{9C0BC35A-EEEA-42C8-903A-0EF5FED0D226}"/>
              </a:ext>
            </a:extLst>
          </p:cNvPr>
          <p:cNvCxnSpPr>
            <a:stCxn id="12" idx="3"/>
            <a:endCxn id="14" idx="1"/>
          </p:cNvCxnSpPr>
          <p:nvPr/>
        </p:nvCxnSpPr>
        <p:spPr>
          <a:xfrm>
            <a:off x="2132809" y="4784407"/>
            <a:ext cx="4437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6BA8C7A2-2285-47AB-A417-1E4BDB4AD294}"/>
              </a:ext>
            </a:extLst>
          </p:cNvPr>
          <p:cNvCxnSpPr>
            <a:stCxn id="14" idx="3"/>
            <a:endCxn id="15" idx="1"/>
          </p:cNvCxnSpPr>
          <p:nvPr/>
        </p:nvCxnSpPr>
        <p:spPr>
          <a:xfrm>
            <a:off x="4573589" y="4784407"/>
            <a:ext cx="4437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Прямая со стрелкой 22">
            <a:extLst>
              <a:ext uri="{FF2B5EF4-FFF2-40B4-BE49-F238E27FC236}">
                <a16:creationId xmlns:a16="http://schemas.microsoft.com/office/drawing/2014/main" id="{2319919A-109D-4D8A-BAE2-F3B71D07C365}"/>
              </a:ext>
            </a:extLst>
          </p:cNvPr>
          <p:cNvCxnSpPr>
            <a:stCxn id="15" idx="3"/>
            <a:endCxn id="16" idx="1"/>
          </p:cNvCxnSpPr>
          <p:nvPr/>
        </p:nvCxnSpPr>
        <p:spPr>
          <a:xfrm>
            <a:off x="7014369" y="4784407"/>
            <a:ext cx="4437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a:extLst>
              <a:ext uri="{FF2B5EF4-FFF2-40B4-BE49-F238E27FC236}">
                <a16:creationId xmlns:a16="http://schemas.microsoft.com/office/drawing/2014/main" id="{E7B7BABE-8A59-4BE5-824A-279EA023BF1F}"/>
              </a:ext>
            </a:extLst>
          </p:cNvPr>
          <p:cNvCxnSpPr>
            <a:stCxn id="16" idx="3"/>
            <a:endCxn id="17" idx="1"/>
          </p:cNvCxnSpPr>
          <p:nvPr/>
        </p:nvCxnSpPr>
        <p:spPr>
          <a:xfrm>
            <a:off x="9455149" y="4784407"/>
            <a:ext cx="4437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Прямоугольник: скругленные углы 25">
            <a:extLst>
              <a:ext uri="{FF2B5EF4-FFF2-40B4-BE49-F238E27FC236}">
                <a16:creationId xmlns:a16="http://schemas.microsoft.com/office/drawing/2014/main" id="{EDEF3FEB-B3EF-4B39-89A2-1F472D62DF13}"/>
              </a:ext>
            </a:extLst>
          </p:cNvPr>
          <p:cNvSpPr/>
          <p:nvPr/>
        </p:nvSpPr>
        <p:spPr>
          <a:xfrm>
            <a:off x="135733" y="5623876"/>
            <a:ext cx="11704237" cy="1059657"/>
          </a:xfrm>
          <a:prstGeom prst="roundRect">
            <a:avLst/>
          </a:prstGeom>
          <a:noFill/>
          <a:ln>
            <a:noFill/>
          </a:ln>
        </p:spPr>
        <p:style>
          <a:lnRef idx="0">
            <a:scrgbClr r="0" g="0" b="0"/>
          </a:lnRef>
          <a:fillRef idx="0">
            <a:scrgbClr r="0" g="0" b="0"/>
          </a:fillRef>
          <a:effectRef idx="0">
            <a:scrgbClr r="0" g="0" b="0"/>
          </a:effectRef>
          <a:fontRef idx="minor">
            <a:schemeClr val="accent3"/>
          </a:fontRef>
        </p:style>
        <p:txBody>
          <a:bodyPr rtlCol="0" anchor="ctr"/>
          <a:lstStyle/>
          <a:p>
            <a:pPr algn="ctr"/>
            <a:r>
              <a:rPr lang="ru-RU" dirty="0" err="1"/>
              <a:t>Хешировать</a:t>
            </a:r>
            <a:r>
              <a:rPr lang="ru-RU" dirty="0"/>
              <a:t> можно практически любые данные, если для них определён стабильный способ вычисления </a:t>
            </a:r>
            <a:r>
              <a:rPr lang="ru-RU" dirty="0" err="1"/>
              <a:t>хеша</a:t>
            </a:r>
            <a:r>
              <a:rPr lang="ru-RU" dirty="0"/>
              <a:t>. Но в структурах вроде </a:t>
            </a:r>
            <a:r>
              <a:rPr lang="ru-RU" dirty="0" err="1"/>
              <a:t>hash</a:t>
            </a:r>
            <a:r>
              <a:rPr lang="ru-RU" dirty="0"/>
              <a:t> </a:t>
            </a:r>
            <a:r>
              <a:rPr lang="ru-RU" dirty="0" err="1"/>
              <a:t>table</a:t>
            </a:r>
            <a:r>
              <a:rPr lang="ru-RU" dirty="0"/>
              <a:t> ключ должен быть </a:t>
            </a:r>
            <a:r>
              <a:rPr lang="ru-RU" dirty="0" err="1"/>
              <a:t>хешируемым</a:t>
            </a:r>
            <a:r>
              <a:rPr lang="ru-RU" dirty="0"/>
              <a:t> и не менять свой </a:t>
            </a:r>
            <a:r>
              <a:rPr lang="ru-RU" dirty="0" err="1"/>
              <a:t>хеш</a:t>
            </a:r>
            <a:r>
              <a:rPr lang="ru-RU" dirty="0"/>
              <a:t> во время хранения.</a:t>
            </a:r>
          </a:p>
        </p:txBody>
      </p:sp>
    </p:spTree>
    <p:extLst>
      <p:ext uri="{BB962C8B-B14F-4D97-AF65-F5344CB8AC3E}">
        <p14:creationId xmlns:p14="http://schemas.microsoft.com/office/powerpoint/2010/main" val="1755979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037608-86AC-42B4-87B6-3CD60F51B8C5}"/>
              </a:ext>
            </a:extLst>
          </p:cNvPr>
          <p:cNvSpPr>
            <a:spLocks noGrp="1"/>
          </p:cNvSpPr>
          <p:nvPr>
            <p:ph type="title"/>
          </p:nvPr>
        </p:nvSpPr>
        <p:spPr/>
        <p:txBody>
          <a:bodyPr/>
          <a:lstStyle/>
          <a:p>
            <a:r>
              <a:rPr lang="ru-RU" dirty="0"/>
              <a:t>Почему O(1) не всегда гарантируется</a:t>
            </a:r>
          </a:p>
        </p:txBody>
      </p:sp>
      <p:sp>
        <p:nvSpPr>
          <p:cNvPr id="7" name="Текст 6">
            <a:extLst>
              <a:ext uri="{FF2B5EF4-FFF2-40B4-BE49-F238E27FC236}">
                <a16:creationId xmlns:a16="http://schemas.microsoft.com/office/drawing/2014/main" id="{28C1819C-44B2-4A2B-82A9-014D02E91D7A}"/>
              </a:ext>
            </a:extLst>
          </p:cNvPr>
          <p:cNvSpPr>
            <a:spLocks noGrp="1"/>
          </p:cNvSpPr>
          <p:nvPr>
            <p:ph type="body" sz="quarter" idx="19"/>
          </p:nvPr>
        </p:nvSpPr>
        <p:spPr/>
        <p:txBody>
          <a:bodyPr/>
          <a:lstStyle/>
          <a:p>
            <a:endParaRPr lang="ru-RU"/>
          </a:p>
        </p:txBody>
      </p:sp>
      <p:graphicFrame>
        <p:nvGraphicFramePr>
          <p:cNvPr id="9" name="Таблица 8">
            <a:extLst>
              <a:ext uri="{FF2B5EF4-FFF2-40B4-BE49-F238E27FC236}">
                <a16:creationId xmlns:a16="http://schemas.microsoft.com/office/drawing/2014/main" id="{B70652D9-33D4-4AE7-8109-ED4FDDE6B5C6}"/>
              </a:ext>
            </a:extLst>
          </p:cNvPr>
          <p:cNvGraphicFramePr>
            <a:graphicFrameLocks noGrp="1"/>
          </p:cNvGraphicFramePr>
          <p:nvPr>
            <p:extLst>
              <p:ext uri="{D42A27DB-BD31-4B8C-83A1-F6EECF244321}">
                <p14:modId xmlns:p14="http://schemas.microsoft.com/office/powerpoint/2010/main" val="697839291"/>
              </p:ext>
            </p:extLst>
          </p:nvPr>
        </p:nvGraphicFramePr>
        <p:xfrm>
          <a:off x="1314450" y="3448050"/>
          <a:ext cx="9563099" cy="1269504"/>
        </p:xfrm>
        <a:graphic>
          <a:graphicData uri="http://schemas.openxmlformats.org/drawingml/2006/table">
            <a:tbl>
              <a:tblPr firstRow="1" bandRow="1">
                <a:tableStyleId>{616DA210-FB5B-4158-B5E0-FEB733F419BA}</a:tableStyleId>
              </a:tblPr>
              <a:tblGrid>
                <a:gridCol w="1366157">
                  <a:extLst>
                    <a:ext uri="{9D8B030D-6E8A-4147-A177-3AD203B41FA5}">
                      <a16:colId xmlns:a16="http://schemas.microsoft.com/office/drawing/2014/main" val="3707126349"/>
                    </a:ext>
                  </a:extLst>
                </a:gridCol>
                <a:gridCol w="1366157">
                  <a:extLst>
                    <a:ext uri="{9D8B030D-6E8A-4147-A177-3AD203B41FA5}">
                      <a16:colId xmlns:a16="http://schemas.microsoft.com/office/drawing/2014/main" val="1739705387"/>
                    </a:ext>
                  </a:extLst>
                </a:gridCol>
                <a:gridCol w="1366157">
                  <a:extLst>
                    <a:ext uri="{9D8B030D-6E8A-4147-A177-3AD203B41FA5}">
                      <a16:colId xmlns:a16="http://schemas.microsoft.com/office/drawing/2014/main" val="2724366829"/>
                    </a:ext>
                  </a:extLst>
                </a:gridCol>
                <a:gridCol w="1366157">
                  <a:extLst>
                    <a:ext uri="{9D8B030D-6E8A-4147-A177-3AD203B41FA5}">
                      <a16:colId xmlns:a16="http://schemas.microsoft.com/office/drawing/2014/main" val="1226463340"/>
                    </a:ext>
                  </a:extLst>
                </a:gridCol>
                <a:gridCol w="1366157">
                  <a:extLst>
                    <a:ext uri="{9D8B030D-6E8A-4147-A177-3AD203B41FA5}">
                      <a16:colId xmlns:a16="http://schemas.microsoft.com/office/drawing/2014/main" val="1154161058"/>
                    </a:ext>
                  </a:extLst>
                </a:gridCol>
                <a:gridCol w="1366157">
                  <a:extLst>
                    <a:ext uri="{9D8B030D-6E8A-4147-A177-3AD203B41FA5}">
                      <a16:colId xmlns:a16="http://schemas.microsoft.com/office/drawing/2014/main" val="1750194477"/>
                    </a:ext>
                  </a:extLst>
                </a:gridCol>
                <a:gridCol w="1366157">
                  <a:extLst>
                    <a:ext uri="{9D8B030D-6E8A-4147-A177-3AD203B41FA5}">
                      <a16:colId xmlns:a16="http://schemas.microsoft.com/office/drawing/2014/main" val="2657717130"/>
                    </a:ext>
                  </a:extLst>
                </a:gridCol>
              </a:tblGrid>
              <a:tr h="1269504">
                <a:tc>
                  <a:txBody>
                    <a:bodyPr/>
                    <a:lstStyle/>
                    <a:p>
                      <a:pPr algn="ctr"/>
                      <a:endParaRPr lang="ru-RU" sz="4400" dirty="0"/>
                    </a:p>
                  </a:txBody>
                  <a:tcPr/>
                </a:tc>
                <a:tc>
                  <a:txBody>
                    <a:bodyPr/>
                    <a:lstStyle/>
                    <a:p>
                      <a:pPr algn="ctr"/>
                      <a:endParaRPr lang="ru-RU" sz="4800" dirty="0"/>
                    </a:p>
                  </a:txBody>
                  <a:tcPr/>
                </a:tc>
                <a:tc>
                  <a:txBody>
                    <a:bodyPr/>
                    <a:lstStyle/>
                    <a:p>
                      <a:pPr algn="ctr"/>
                      <a:endParaRPr lang="ru-RU" sz="4800" dirty="0"/>
                    </a:p>
                  </a:txBody>
                  <a:tcPr/>
                </a:tc>
                <a:tc>
                  <a:txBody>
                    <a:bodyPr/>
                    <a:lstStyle/>
                    <a:p>
                      <a:pPr algn="ctr"/>
                      <a:endParaRPr lang="ru-RU" sz="4800" dirty="0"/>
                    </a:p>
                  </a:txBody>
                  <a:tcPr/>
                </a:tc>
                <a:tc>
                  <a:txBody>
                    <a:bodyPr/>
                    <a:lstStyle/>
                    <a:p>
                      <a:pPr algn="ctr"/>
                      <a:endParaRPr lang="ru-RU" sz="4800" dirty="0"/>
                    </a:p>
                  </a:txBody>
                  <a:tcPr/>
                </a:tc>
                <a:tc>
                  <a:txBody>
                    <a:bodyPr/>
                    <a:lstStyle/>
                    <a:p>
                      <a:pPr algn="ctr"/>
                      <a:endParaRPr lang="ru-RU" sz="4800" dirty="0"/>
                    </a:p>
                  </a:txBody>
                  <a:tcPr/>
                </a:tc>
                <a:tc>
                  <a:txBody>
                    <a:bodyPr/>
                    <a:lstStyle/>
                    <a:p>
                      <a:pPr algn="ctr"/>
                      <a:endParaRPr lang="ru-RU" sz="4800" dirty="0"/>
                    </a:p>
                  </a:txBody>
                  <a:tcPr/>
                </a:tc>
                <a:extLst>
                  <a:ext uri="{0D108BD9-81ED-4DB2-BD59-A6C34878D82A}">
                    <a16:rowId xmlns:a16="http://schemas.microsoft.com/office/drawing/2014/main" val="246696094"/>
                  </a:ext>
                </a:extLst>
              </a:tr>
            </a:tbl>
          </a:graphicData>
        </a:graphic>
      </p:graphicFrame>
      <p:sp>
        <p:nvSpPr>
          <p:cNvPr id="3" name="Прямоугольник: скругленные углы 2">
            <a:extLst>
              <a:ext uri="{FF2B5EF4-FFF2-40B4-BE49-F238E27FC236}">
                <a16:creationId xmlns:a16="http://schemas.microsoft.com/office/drawing/2014/main" id="{9154DE5E-803B-46E5-97F3-BF0E00E9CE82}"/>
              </a:ext>
            </a:extLst>
          </p:cNvPr>
          <p:cNvSpPr/>
          <p:nvPr/>
        </p:nvSpPr>
        <p:spPr>
          <a:xfrm>
            <a:off x="904875" y="1692909"/>
            <a:ext cx="2752725" cy="8572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 </a:t>
            </a:r>
            <a:r>
              <a:rPr lang="en-US" sz="2400" dirty="0"/>
              <a:t>h(x) = x mod 7</a:t>
            </a:r>
            <a:endParaRPr lang="ru-RU" sz="2400" dirty="0"/>
          </a:p>
        </p:txBody>
      </p:sp>
      <p:sp>
        <p:nvSpPr>
          <p:cNvPr id="5" name="TextBox 4">
            <a:extLst>
              <a:ext uri="{FF2B5EF4-FFF2-40B4-BE49-F238E27FC236}">
                <a16:creationId xmlns:a16="http://schemas.microsoft.com/office/drawing/2014/main" id="{DA08F21C-54F7-460D-9E3F-3F67D1BCF139}"/>
              </a:ext>
            </a:extLst>
          </p:cNvPr>
          <p:cNvSpPr txBox="1"/>
          <p:nvPr/>
        </p:nvSpPr>
        <p:spPr bwMode="auto">
          <a:xfrm>
            <a:off x="6208180" y="1916685"/>
            <a:ext cx="729792" cy="523220"/>
          </a:xfrm>
          <a:prstGeom prst="rect">
            <a:avLst/>
          </a:prstGeom>
        </p:spPr>
        <p:txBody>
          <a:bodyPr wrap="square" rtlCol="0">
            <a:spAutoFit/>
          </a:bodyPr>
          <a:lstStyle/>
          <a:p>
            <a:r>
              <a:rPr lang="ru-RU" sz="2800" dirty="0"/>
              <a:t>83</a:t>
            </a:r>
            <a:endParaRPr lang="ru-RU" dirty="0"/>
          </a:p>
        </p:txBody>
      </p:sp>
      <p:sp>
        <p:nvSpPr>
          <p:cNvPr id="8" name="TextBox 7">
            <a:extLst>
              <a:ext uri="{FF2B5EF4-FFF2-40B4-BE49-F238E27FC236}">
                <a16:creationId xmlns:a16="http://schemas.microsoft.com/office/drawing/2014/main" id="{46F211CF-AD03-4261-8DE7-2A16CD167CC7}"/>
              </a:ext>
            </a:extLst>
          </p:cNvPr>
          <p:cNvSpPr txBox="1"/>
          <p:nvPr/>
        </p:nvSpPr>
        <p:spPr bwMode="auto">
          <a:xfrm>
            <a:off x="6749879" y="1916685"/>
            <a:ext cx="729792" cy="523220"/>
          </a:xfrm>
          <a:prstGeom prst="rect">
            <a:avLst/>
          </a:prstGeom>
        </p:spPr>
        <p:txBody>
          <a:bodyPr wrap="square" rtlCol="0">
            <a:spAutoFit/>
          </a:bodyPr>
          <a:lstStyle/>
          <a:p>
            <a:r>
              <a:rPr lang="ru-RU" sz="2800" dirty="0"/>
              <a:t>45</a:t>
            </a:r>
            <a:endParaRPr lang="ru-RU" dirty="0"/>
          </a:p>
        </p:txBody>
      </p:sp>
      <p:sp>
        <p:nvSpPr>
          <p:cNvPr id="10" name="TextBox 9">
            <a:extLst>
              <a:ext uri="{FF2B5EF4-FFF2-40B4-BE49-F238E27FC236}">
                <a16:creationId xmlns:a16="http://schemas.microsoft.com/office/drawing/2014/main" id="{F7A4A744-DF43-4B61-AA2C-2E2D76791B04}"/>
              </a:ext>
            </a:extLst>
          </p:cNvPr>
          <p:cNvSpPr txBox="1"/>
          <p:nvPr/>
        </p:nvSpPr>
        <p:spPr bwMode="auto">
          <a:xfrm>
            <a:off x="7291578" y="1910398"/>
            <a:ext cx="729792" cy="523220"/>
          </a:xfrm>
          <a:prstGeom prst="rect">
            <a:avLst/>
          </a:prstGeom>
        </p:spPr>
        <p:txBody>
          <a:bodyPr wrap="square" rtlCol="0">
            <a:spAutoFit/>
          </a:bodyPr>
          <a:lstStyle/>
          <a:p>
            <a:r>
              <a:rPr lang="ru-RU" sz="2800" dirty="0"/>
              <a:t>71</a:t>
            </a:r>
            <a:endParaRPr lang="ru-RU" dirty="0"/>
          </a:p>
        </p:txBody>
      </p:sp>
      <p:sp>
        <p:nvSpPr>
          <p:cNvPr id="11" name="TextBox 10">
            <a:extLst>
              <a:ext uri="{FF2B5EF4-FFF2-40B4-BE49-F238E27FC236}">
                <a16:creationId xmlns:a16="http://schemas.microsoft.com/office/drawing/2014/main" id="{E9FEE457-DB3B-4C02-97C5-B2F2258ED501}"/>
              </a:ext>
            </a:extLst>
          </p:cNvPr>
          <p:cNvSpPr txBox="1"/>
          <p:nvPr/>
        </p:nvSpPr>
        <p:spPr bwMode="auto">
          <a:xfrm>
            <a:off x="7804610" y="1920959"/>
            <a:ext cx="729792" cy="523220"/>
          </a:xfrm>
          <a:prstGeom prst="rect">
            <a:avLst/>
          </a:prstGeom>
        </p:spPr>
        <p:txBody>
          <a:bodyPr wrap="square" rtlCol="0">
            <a:spAutoFit/>
          </a:bodyPr>
          <a:lstStyle/>
          <a:p>
            <a:r>
              <a:rPr lang="ru-RU" sz="2800" dirty="0"/>
              <a:t>56</a:t>
            </a:r>
            <a:endParaRPr lang="ru-RU" dirty="0"/>
          </a:p>
        </p:txBody>
      </p:sp>
      <p:sp>
        <p:nvSpPr>
          <p:cNvPr id="12" name="TextBox 11">
            <a:extLst>
              <a:ext uri="{FF2B5EF4-FFF2-40B4-BE49-F238E27FC236}">
                <a16:creationId xmlns:a16="http://schemas.microsoft.com/office/drawing/2014/main" id="{C39AEAF2-9628-4B31-9D51-32E81190AE05}"/>
              </a:ext>
            </a:extLst>
          </p:cNvPr>
          <p:cNvSpPr txBox="1"/>
          <p:nvPr/>
        </p:nvSpPr>
        <p:spPr bwMode="auto">
          <a:xfrm>
            <a:off x="8317642" y="1920959"/>
            <a:ext cx="570366" cy="523220"/>
          </a:xfrm>
          <a:prstGeom prst="rect">
            <a:avLst/>
          </a:prstGeom>
        </p:spPr>
        <p:txBody>
          <a:bodyPr wrap="square" rtlCol="0">
            <a:spAutoFit/>
          </a:bodyPr>
          <a:lstStyle/>
          <a:p>
            <a:r>
              <a:rPr lang="ru-RU" sz="2800" dirty="0"/>
              <a:t>67</a:t>
            </a:r>
            <a:endParaRPr lang="ru-RU" dirty="0"/>
          </a:p>
        </p:txBody>
      </p:sp>
      <p:sp>
        <p:nvSpPr>
          <p:cNvPr id="13" name="TextBox 12">
            <a:extLst>
              <a:ext uri="{FF2B5EF4-FFF2-40B4-BE49-F238E27FC236}">
                <a16:creationId xmlns:a16="http://schemas.microsoft.com/office/drawing/2014/main" id="{F5E061A8-171E-46EA-A559-2F8723EE411C}"/>
              </a:ext>
            </a:extLst>
          </p:cNvPr>
          <p:cNvSpPr txBox="1"/>
          <p:nvPr/>
        </p:nvSpPr>
        <p:spPr bwMode="auto">
          <a:xfrm>
            <a:off x="8899097" y="1910398"/>
            <a:ext cx="570366" cy="523220"/>
          </a:xfrm>
          <a:prstGeom prst="rect">
            <a:avLst/>
          </a:prstGeom>
        </p:spPr>
        <p:txBody>
          <a:bodyPr wrap="square" rtlCol="0">
            <a:spAutoFit/>
          </a:bodyPr>
          <a:lstStyle/>
          <a:p>
            <a:r>
              <a:rPr lang="ru-RU" sz="2800" dirty="0"/>
              <a:t>89</a:t>
            </a:r>
            <a:endParaRPr lang="ru-RU" dirty="0"/>
          </a:p>
        </p:txBody>
      </p:sp>
      <p:sp>
        <p:nvSpPr>
          <p:cNvPr id="14" name="TextBox 13">
            <a:extLst>
              <a:ext uri="{FF2B5EF4-FFF2-40B4-BE49-F238E27FC236}">
                <a16:creationId xmlns:a16="http://schemas.microsoft.com/office/drawing/2014/main" id="{F9A1F575-F6EA-4387-8510-677E370638A6}"/>
              </a:ext>
            </a:extLst>
          </p:cNvPr>
          <p:cNvSpPr txBox="1"/>
          <p:nvPr/>
        </p:nvSpPr>
        <p:spPr bwMode="auto">
          <a:xfrm>
            <a:off x="9412129" y="1925587"/>
            <a:ext cx="570366" cy="523220"/>
          </a:xfrm>
          <a:prstGeom prst="rect">
            <a:avLst/>
          </a:prstGeom>
        </p:spPr>
        <p:txBody>
          <a:bodyPr wrap="square" rtlCol="0">
            <a:spAutoFit/>
          </a:bodyPr>
          <a:lstStyle/>
          <a:p>
            <a:r>
              <a:rPr lang="ru-RU" sz="2800" dirty="0"/>
              <a:t>44</a:t>
            </a:r>
            <a:endParaRPr lang="ru-RU" dirty="0"/>
          </a:p>
        </p:txBody>
      </p:sp>
      <p:sp>
        <p:nvSpPr>
          <p:cNvPr id="15" name="TextBox 14">
            <a:extLst>
              <a:ext uri="{FF2B5EF4-FFF2-40B4-BE49-F238E27FC236}">
                <a16:creationId xmlns:a16="http://schemas.microsoft.com/office/drawing/2014/main" id="{075D8753-116C-4F96-9716-070F7C2B1DF6}"/>
              </a:ext>
            </a:extLst>
          </p:cNvPr>
          <p:cNvSpPr txBox="1"/>
          <p:nvPr/>
        </p:nvSpPr>
        <p:spPr bwMode="auto">
          <a:xfrm>
            <a:off x="9953828" y="1916685"/>
            <a:ext cx="570366" cy="523220"/>
          </a:xfrm>
          <a:prstGeom prst="rect">
            <a:avLst/>
          </a:prstGeom>
        </p:spPr>
        <p:txBody>
          <a:bodyPr wrap="square" rtlCol="0">
            <a:spAutoFit/>
          </a:bodyPr>
          <a:lstStyle/>
          <a:p>
            <a:r>
              <a:rPr lang="ru-RU" sz="2800" dirty="0"/>
              <a:t>78</a:t>
            </a:r>
            <a:endParaRPr lang="ru-RU" dirty="0"/>
          </a:p>
        </p:txBody>
      </p:sp>
    </p:spTree>
    <p:extLst>
      <p:ext uri="{BB962C8B-B14F-4D97-AF65-F5344CB8AC3E}">
        <p14:creationId xmlns:p14="http://schemas.microsoft.com/office/powerpoint/2010/main" val="66941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1406 0.00579 L 0.29714 0.27523 " pathEditMode="relative" rAng="0" ptsTypes="AA">
                                      <p:cBhvr>
                                        <p:cTn id="6" dur="2000" fill="hold"/>
                                        <p:tgtEl>
                                          <p:spTgt spid="5"/>
                                        </p:tgtEl>
                                        <p:attrNameLst>
                                          <p:attrName>ppt_x</p:attrName>
                                          <p:attrName>ppt_y</p:attrName>
                                        </p:attrNameLst>
                                      </p:cBhvr>
                                      <p:rCtr x="15560" y="13472"/>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0" nodeType="clickEffect">
                                  <p:stCondLst>
                                    <p:cond delay="0"/>
                                  </p:stCondLst>
                                  <p:childTnLst>
                                    <p:animMotion origin="layout" path="M -3.75E-6 -2.59259E-6 L -0.0806 0.2713 " pathEditMode="relative" rAng="0" ptsTypes="AA">
                                      <p:cBhvr>
                                        <p:cTn id="10" dur="2000" fill="hold"/>
                                        <p:tgtEl>
                                          <p:spTgt spid="8"/>
                                        </p:tgtEl>
                                        <p:attrNameLst>
                                          <p:attrName>ppt_x</p:attrName>
                                          <p:attrName>ppt_y</p:attrName>
                                        </p:attrNameLst>
                                      </p:cBhvr>
                                      <p:rCtr x="-4036" y="13565"/>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4.79167E-6 3.33333E-6 L -0.35169 0.23125 " pathEditMode="relative" rAng="0" ptsTypes="AA">
                                      <p:cBhvr>
                                        <p:cTn id="14" dur="2000" fill="hold"/>
                                        <p:tgtEl>
                                          <p:spTgt spid="10"/>
                                        </p:tgtEl>
                                        <p:attrNameLst>
                                          <p:attrName>ppt_x</p:attrName>
                                          <p:attrName>ppt_y</p:attrName>
                                        </p:attrNameLst>
                                      </p:cBhvr>
                                      <p:rCtr x="-17591" y="11551"/>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2.08333E-6 2.96296E-6 L -0.50521 0.2706 " pathEditMode="relative" rAng="0" ptsTypes="AA">
                                      <p:cBhvr>
                                        <p:cTn id="18" dur="2000" fill="hold"/>
                                        <p:tgtEl>
                                          <p:spTgt spid="11"/>
                                        </p:tgtEl>
                                        <p:attrNameLst>
                                          <p:attrName>ppt_x</p:attrName>
                                          <p:attrName>ppt_y</p:attrName>
                                        </p:attrNameLst>
                                      </p:cBhvr>
                                      <p:rCtr x="-25260" y="13519"/>
                                    </p:animMotion>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grpId="0" nodeType="clickEffect">
                                  <p:stCondLst>
                                    <p:cond delay="0"/>
                                  </p:stCondLst>
                                  <p:childTnLst>
                                    <p:animMotion origin="layout" path="M 1.04167E-6 2.96296E-6 L -0.0944 0.26643 " pathEditMode="relative" rAng="0" ptsTypes="AA">
                                      <p:cBhvr>
                                        <p:cTn id="22" dur="2000" fill="hold"/>
                                        <p:tgtEl>
                                          <p:spTgt spid="12"/>
                                        </p:tgtEl>
                                        <p:attrNameLst>
                                          <p:attrName>ppt_x</p:attrName>
                                          <p:attrName>ppt_y</p:attrName>
                                        </p:attrNameLst>
                                      </p:cBhvr>
                                      <p:rCtr x="-4727" y="13310"/>
                                    </p:animMotion>
                                  </p:childTnLst>
                                </p:cTn>
                              </p:par>
                            </p:childTnLst>
                          </p:cTn>
                        </p:par>
                      </p:childTnLst>
                    </p:cTn>
                  </p:par>
                  <p:par>
                    <p:cTn id="23" fill="hold">
                      <p:stCondLst>
                        <p:cond delay="indefinite"/>
                      </p:stCondLst>
                      <p:childTnLst>
                        <p:par>
                          <p:cTn id="24" fill="hold">
                            <p:stCondLst>
                              <p:cond delay="0"/>
                            </p:stCondLst>
                            <p:childTnLst>
                              <p:par>
                                <p:cTn id="25" presetID="42" presetClass="path" presetSubtype="0" accel="50000" decel="50000" fill="hold" grpId="0" nodeType="clickEffect">
                                  <p:stCondLst>
                                    <p:cond delay="0"/>
                                  </p:stCondLst>
                                  <p:childTnLst>
                                    <p:animMotion origin="layout" path="M 4.79167E-6 3.33333E-6 L -0.02891 0.27615 " pathEditMode="relative" rAng="0" ptsTypes="AA">
                                      <p:cBhvr>
                                        <p:cTn id="26" dur="2000" fill="hold"/>
                                        <p:tgtEl>
                                          <p:spTgt spid="13"/>
                                        </p:tgtEl>
                                        <p:attrNameLst>
                                          <p:attrName>ppt_x</p:attrName>
                                          <p:attrName>ppt_y</p:attrName>
                                        </p:attrNameLst>
                                      </p:cBhvr>
                                      <p:rCtr x="-1445" y="13796"/>
                                    </p:animMotion>
                                  </p:childTnLst>
                                </p:cTn>
                              </p:par>
                            </p:childTnLst>
                          </p:cTn>
                        </p:par>
                      </p:childTnLst>
                    </p:cTn>
                  </p:par>
                  <p:par>
                    <p:cTn id="27" fill="hold">
                      <p:stCondLst>
                        <p:cond delay="indefinite"/>
                      </p:stCondLst>
                      <p:childTnLst>
                        <p:par>
                          <p:cTn id="28" fill="hold">
                            <p:stCondLst>
                              <p:cond delay="0"/>
                            </p:stCondLst>
                            <p:childTnLst>
                              <p:par>
                                <p:cTn id="29" presetID="42" presetClass="path" presetSubtype="0" accel="50000" decel="50000" fill="hold" nodeType="clickEffect">
                                  <p:stCondLst>
                                    <p:cond delay="0"/>
                                  </p:stCondLst>
                                  <p:childTnLst>
                                    <p:animMotion origin="layout" path="M 3.75E-6 1.48148E-6 L -0.41524 0.26759 " pathEditMode="relative" rAng="0" ptsTypes="AA">
                                      <p:cBhvr>
                                        <p:cTn id="30" dur="2000" fill="hold"/>
                                        <p:tgtEl>
                                          <p:spTgt spid="14">
                                            <p:txEl>
                                              <p:pRg st="0" end="0"/>
                                            </p:txEl>
                                          </p:spTgt>
                                        </p:tgtEl>
                                        <p:attrNameLst>
                                          <p:attrName>ppt_x</p:attrName>
                                          <p:attrName>ppt_y</p:attrName>
                                        </p:attrNameLst>
                                      </p:cBhvr>
                                      <p:rCtr x="-20768" y="13380"/>
                                    </p:animMotion>
                                  </p:childTnLst>
                                </p:cTn>
                              </p:par>
                            </p:childTnLst>
                          </p:cTn>
                        </p:par>
                      </p:childTnLst>
                    </p:cTn>
                  </p:par>
                  <p:par>
                    <p:cTn id="31" fill="hold">
                      <p:stCondLst>
                        <p:cond delay="indefinite"/>
                      </p:stCondLst>
                      <p:childTnLst>
                        <p:par>
                          <p:cTn id="32" fill="hold">
                            <p:stCondLst>
                              <p:cond delay="0"/>
                            </p:stCondLst>
                            <p:childTnLst>
                              <p:par>
                                <p:cTn id="33" presetID="42" presetClass="path" presetSubtype="0" accel="50000" decel="50000" fill="hold" grpId="0" nodeType="clickEffect">
                                  <p:stCondLst>
                                    <p:cond delay="0"/>
                                  </p:stCondLst>
                                  <p:childTnLst>
                                    <p:animMotion origin="layout" path="M -3.54167E-6 -2.59259E-6 L -0.56198 0.31065 " pathEditMode="relative" rAng="0" ptsTypes="AA">
                                      <p:cBhvr>
                                        <p:cTn id="34" dur="2000" fill="hold"/>
                                        <p:tgtEl>
                                          <p:spTgt spid="15"/>
                                        </p:tgtEl>
                                        <p:attrNameLst>
                                          <p:attrName>ppt_x</p:attrName>
                                          <p:attrName>ppt_y</p:attrName>
                                        </p:attrNameLst>
                                      </p:cBhvr>
                                      <p:rCtr x="-28099" y="1553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P spid="11" grpId="0"/>
      <p:bldP spid="12" grpId="0"/>
      <p:bldP spid="13"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Прямоугольник: скругленные углы 27">
            <a:extLst>
              <a:ext uri="{FF2B5EF4-FFF2-40B4-BE49-F238E27FC236}">
                <a16:creationId xmlns:a16="http://schemas.microsoft.com/office/drawing/2014/main" id="{A00E2FFA-E9F0-4AD5-8876-F39A1B8EF6E9}"/>
              </a:ext>
            </a:extLst>
          </p:cNvPr>
          <p:cNvSpPr/>
          <p:nvPr/>
        </p:nvSpPr>
        <p:spPr>
          <a:xfrm>
            <a:off x="296419" y="2760568"/>
            <a:ext cx="5276567" cy="303291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ru-RU"/>
          </a:p>
        </p:txBody>
      </p:sp>
      <p:sp>
        <p:nvSpPr>
          <p:cNvPr id="27" name="Прямоугольник: скругленные углы 26">
            <a:extLst>
              <a:ext uri="{FF2B5EF4-FFF2-40B4-BE49-F238E27FC236}">
                <a16:creationId xmlns:a16="http://schemas.microsoft.com/office/drawing/2014/main" id="{54876BF7-FD8F-4B95-862B-0F317B41DEAA}"/>
              </a:ext>
            </a:extLst>
          </p:cNvPr>
          <p:cNvSpPr/>
          <p:nvPr/>
        </p:nvSpPr>
        <p:spPr>
          <a:xfrm>
            <a:off x="6116417" y="2734145"/>
            <a:ext cx="5276567" cy="303291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ru-RU"/>
          </a:p>
        </p:txBody>
      </p:sp>
      <p:sp>
        <p:nvSpPr>
          <p:cNvPr id="2" name="Заголовок 1">
            <a:extLst>
              <a:ext uri="{FF2B5EF4-FFF2-40B4-BE49-F238E27FC236}">
                <a16:creationId xmlns:a16="http://schemas.microsoft.com/office/drawing/2014/main" id="{F1037608-86AC-42B4-87B6-3CD60F51B8C5}"/>
              </a:ext>
            </a:extLst>
          </p:cNvPr>
          <p:cNvSpPr>
            <a:spLocks noGrp="1"/>
          </p:cNvSpPr>
          <p:nvPr>
            <p:ph type="title"/>
          </p:nvPr>
        </p:nvSpPr>
        <p:spPr/>
        <p:txBody>
          <a:bodyPr/>
          <a:lstStyle/>
          <a:p>
            <a:r>
              <a:rPr lang="ru-RU" dirty="0"/>
              <a:t>Почему O(1) не всегда гарантируется</a:t>
            </a:r>
          </a:p>
        </p:txBody>
      </p:sp>
      <p:sp>
        <p:nvSpPr>
          <p:cNvPr id="7" name="Текст 6">
            <a:extLst>
              <a:ext uri="{FF2B5EF4-FFF2-40B4-BE49-F238E27FC236}">
                <a16:creationId xmlns:a16="http://schemas.microsoft.com/office/drawing/2014/main" id="{28C1819C-44B2-4A2B-82A9-014D02E91D7A}"/>
              </a:ext>
            </a:extLst>
          </p:cNvPr>
          <p:cNvSpPr>
            <a:spLocks noGrp="1"/>
          </p:cNvSpPr>
          <p:nvPr>
            <p:ph type="body" sz="quarter" idx="19"/>
          </p:nvPr>
        </p:nvSpPr>
        <p:spPr/>
        <p:txBody>
          <a:bodyPr/>
          <a:lstStyle/>
          <a:p>
            <a:endParaRPr lang="ru-RU"/>
          </a:p>
        </p:txBody>
      </p:sp>
      <p:sp>
        <p:nvSpPr>
          <p:cNvPr id="8" name="Прямоугольник: скругленные углы 7">
            <a:extLst>
              <a:ext uri="{FF2B5EF4-FFF2-40B4-BE49-F238E27FC236}">
                <a16:creationId xmlns:a16="http://schemas.microsoft.com/office/drawing/2014/main" id="{DA272138-A5A9-4136-92DC-CC3EA7FF85DC}"/>
              </a:ext>
            </a:extLst>
          </p:cNvPr>
          <p:cNvSpPr/>
          <p:nvPr/>
        </p:nvSpPr>
        <p:spPr>
          <a:xfrm>
            <a:off x="479425" y="1250317"/>
            <a:ext cx="11229975" cy="1140459"/>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sz="2400" b="1" dirty="0"/>
              <a:t>Коллизия</a:t>
            </a:r>
            <a:r>
              <a:rPr lang="ru-RU" sz="2400" dirty="0"/>
              <a:t> — это ситуация, при которой </a:t>
            </a:r>
            <a:r>
              <a:rPr lang="ru-RU" sz="2400" b="1" dirty="0"/>
              <a:t>разные ключи после хеширования попадают в одну и ту же позицию таблицы</a:t>
            </a:r>
            <a:r>
              <a:rPr lang="ru-RU" sz="2400" dirty="0"/>
              <a:t>.</a:t>
            </a:r>
          </a:p>
        </p:txBody>
      </p:sp>
      <p:graphicFrame>
        <p:nvGraphicFramePr>
          <p:cNvPr id="9" name="Таблица 8">
            <a:extLst>
              <a:ext uri="{FF2B5EF4-FFF2-40B4-BE49-F238E27FC236}">
                <a16:creationId xmlns:a16="http://schemas.microsoft.com/office/drawing/2014/main" id="{B70652D9-33D4-4AE7-8109-ED4FDDE6B5C6}"/>
              </a:ext>
            </a:extLst>
          </p:cNvPr>
          <p:cNvGraphicFramePr>
            <a:graphicFrameLocks noGrp="1"/>
          </p:cNvGraphicFramePr>
          <p:nvPr>
            <p:extLst>
              <p:ext uri="{D42A27DB-BD31-4B8C-83A1-F6EECF244321}">
                <p14:modId xmlns:p14="http://schemas.microsoft.com/office/powerpoint/2010/main" val="3184085126"/>
              </p:ext>
            </p:extLst>
          </p:nvPr>
        </p:nvGraphicFramePr>
        <p:xfrm>
          <a:off x="524156" y="4308268"/>
          <a:ext cx="4711007" cy="852199"/>
        </p:xfrm>
        <a:graphic>
          <a:graphicData uri="http://schemas.openxmlformats.org/drawingml/2006/table">
            <a:tbl>
              <a:tblPr firstRow="1" bandRow="1">
                <a:tableStyleId>{616DA210-FB5B-4158-B5E0-FEB733F419BA}</a:tableStyleId>
              </a:tblPr>
              <a:tblGrid>
                <a:gridCol w="673001">
                  <a:extLst>
                    <a:ext uri="{9D8B030D-6E8A-4147-A177-3AD203B41FA5}">
                      <a16:colId xmlns:a16="http://schemas.microsoft.com/office/drawing/2014/main" val="3707126349"/>
                    </a:ext>
                  </a:extLst>
                </a:gridCol>
                <a:gridCol w="673001">
                  <a:extLst>
                    <a:ext uri="{9D8B030D-6E8A-4147-A177-3AD203B41FA5}">
                      <a16:colId xmlns:a16="http://schemas.microsoft.com/office/drawing/2014/main" val="1739705387"/>
                    </a:ext>
                  </a:extLst>
                </a:gridCol>
                <a:gridCol w="673001">
                  <a:extLst>
                    <a:ext uri="{9D8B030D-6E8A-4147-A177-3AD203B41FA5}">
                      <a16:colId xmlns:a16="http://schemas.microsoft.com/office/drawing/2014/main" val="2724366829"/>
                    </a:ext>
                  </a:extLst>
                </a:gridCol>
                <a:gridCol w="673001">
                  <a:extLst>
                    <a:ext uri="{9D8B030D-6E8A-4147-A177-3AD203B41FA5}">
                      <a16:colId xmlns:a16="http://schemas.microsoft.com/office/drawing/2014/main" val="1226463340"/>
                    </a:ext>
                  </a:extLst>
                </a:gridCol>
                <a:gridCol w="673001">
                  <a:extLst>
                    <a:ext uri="{9D8B030D-6E8A-4147-A177-3AD203B41FA5}">
                      <a16:colId xmlns:a16="http://schemas.microsoft.com/office/drawing/2014/main" val="1154161058"/>
                    </a:ext>
                  </a:extLst>
                </a:gridCol>
                <a:gridCol w="673001">
                  <a:extLst>
                    <a:ext uri="{9D8B030D-6E8A-4147-A177-3AD203B41FA5}">
                      <a16:colId xmlns:a16="http://schemas.microsoft.com/office/drawing/2014/main" val="1750194477"/>
                    </a:ext>
                  </a:extLst>
                </a:gridCol>
                <a:gridCol w="673001">
                  <a:extLst>
                    <a:ext uri="{9D8B030D-6E8A-4147-A177-3AD203B41FA5}">
                      <a16:colId xmlns:a16="http://schemas.microsoft.com/office/drawing/2014/main" val="2657717130"/>
                    </a:ext>
                  </a:extLst>
                </a:gridCol>
              </a:tblGrid>
              <a:tr h="852199">
                <a:tc>
                  <a:txBody>
                    <a:bodyPr/>
                    <a:lstStyle/>
                    <a:p>
                      <a:pPr algn="ctr"/>
                      <a:endParaRPr lang="ru-RU" sz="2000" dirty="0"/>
                    </a:p>
                  </a:txBody>
                  <a:tcPr/>
                </a:tc>
                <a:tc>
                  <a:txBody>
                    <a:bodyPr/>
                    <a:lstStyle/>
                    <a:p>
                      <a:pPr algn="ctr"/>
                      <a:endParaRPr lang="ru-RU" sz="4800" dirty="0"/>
                    </a:p>
                  </a:txBody>
                  <a:tcPr/>
                </a:tc>
                <a:tc>
                  <a:txBody>
                    <a:bodyPr/>
                    <a:lstStyle/>
                    <a:p>
                      <a:pPr algn="ctr"/>
                      <a:endParaRPr lang="ru-RU" sz="4800" dirty="0"/>
                    </a:p>
                  </a:txBody>
                  <a:tcPr/>
                </a:tc>
                <a:tc>
                  <a:txBody>
                    <a:bodyPr/>
                    <a:lstStyle/>
                    <a:p>
                      <a:pPr algn="ctr"/>
                      <a:endParaRPr lang="ru-RU" sz="4800" dirty="0"/>
                    </a:p>
                  </a:txBody>
                  <a:tcPr/>
                </a:tc>
                <a:tc>
                  <a:txBody>
                    <a:bodyPr/>
                    <a:lstStyle/>
                    <a:p>
                      <a:pPr algn="ctr"/>
                      <a:endParaRPr lang="ru-RU" sz="4800" dirty="0"/>
                    </a:p>
                  </a:txBody>
                  <a:tcPr/>
                </a:tc>
                <a:tc>
                  <a:txBody>
                    <a:bodyPr/>
                    <a:lstStyle/>
                    <a:p>
                      <a:pPr algn="ctr"/>
                      <a:endParaRPr lang="ru-RU" sz="4800" dirty="0"/>
                    </a:p>
                  </a:txBody>
                  <a:tcPr/>
                </a:tc>
                <a:tc>
                  <a:txBody>
                    <a:bodyPr/>
                    <a:lstStyle/>
                    <a:p>
                      <a:pPr algn="ctr"/>
                      <a:endParaRPr lang="ru-RU" sz="4800" dirty="0"/>
                    </a:p>
                  </a:txBody>
                  <a:tcPr/>
                </a:tc>
                <a:extLst>
                  <a:ext uri="{0D108BD9-81ED-4DB2-BD59-A6C34878D82A}">
                    <a16:rowId xmlns:a16="http://schemas.microsoft.com/office/drawing/2014/main" val="246696094"/>
                  </a:ext>
                </a:extLst>
              </a:tr>
            </a:tbl>
          </a:graphicData>
        </a:graphic>
      </p:graphicFrame>
      <p:sp>
        <p:nvSpPr>
          <p:cNvPr id="10" name="TextBox 9">
            <a:extLst>
              <a:ext uri="{FF2B5EF4-FFF2-40B4-BE49-F238E27FC236}">
                <a16:creationId xmlns:a16="http://schemas.microsoft.com/office/drawing/2014/main" id="{942A46D7-D4EF-416F-938A-AF81A89F66C7}"/>
              </a:ext>
            </a:extLst>
          </p:cNvPr>
          <p:cNvSpPr txBox="1"/>
          <p:nvPr/>
        </p:nvSpPr>
        <p:spPr bwMode="auto">
          <a:xfrm>
            <a:off x="743230" y="3043238"/>
            <a:ext cx="1657350" cy="461665"/>
          </a:xfrm>
          <a:prstGeom prst="rect">
            <a:avLst/>
          </a:prstGeom>
        </p:spPr>
        <p:txBody>
          <a:bodyPr wrap="square" rtlCol="0">
            <a:spAutoFit/>
          </a:bodyPr>
          <a:lstStyle/>
          <a:p>
            <a:pPr algn="ctr"/>
            <a:r>
              <a:rPr lang="en-US" sz="2400" dirty="0"/>
              <a:t>h(</a:t>
            </a:r>
            <a:r>
              <a:rPr lang="ru-RU" sz="2400" dirty="0"/>
              <a:t>71</a:t>
            </a:r>
            <a:r>
              <a:rPr lang="en-US" sz="2400" dirty="0"/>
              <a:t>)</a:t>
            </a:r>
            <a:endParaRPr lang="ru-RU" sz="2400" dirty="0"/>
          </a:p>
        </p:txBody>
      </p:sp>
      <p:sp>
        <p:nvSpPr>
          <p:cNvPr id="11" name="TextBox 10">
            <a:extLst>
              <a:ext uri="{FF2B5EF4-FFF2-40B4-BE49-F238E27FC236}">
                <a16:creationId xmlns:a16="http://schemas.microsoft.com/office/drawing/2014/main" id="{301112EC-A93B-4EC4-A795-01093664A13E}"/>
              </a:ext>
            </a:extLst>
          </p:cNvPr>
          <p:cNvSpPr txBox="1"/>
          <p:nvPr/>
        </p:nvSpPr>
        <p:spPr bwMode="auto">
          <a:xfrm>
            <a:off x="4000780" y="3074482"/>
            <a:ext cx="1657350" cy="461665"/>
          </a:xfrm>
          <a:prstGeom prst="rect">
            <a:avLst/>
          </a:prstGeom>
        </p:spPr>
        <p:txBody>
          <a:bodyPr wrap="square" rtlCol="0">
            <a:spAutoFit/>
          </a:bodyPr>
          <a:lstStyle/>
          <a:p>
            <a:pPr algn="ctr"/>
            <a:r>
              <a:rPr lang="en-US" sz="2400" dirty="0"/>
              <a:t>h(78)</a:t>
            </a:r>
            <a:endParaRPr lang="ru-RU" sz="2400" dirty="0"/>
          </a:p>
        </p:txBody>
      </p:sp>
      <p:cxnSp>
        <p:nvCxnSpPr>
          <p:cNvPr id="13" name="Прямая со стрелкой 12">
            <a:extLst>
              <a:ext uri="{FF2B5EF4-FFF2-40B4-BE49-F238E27FC236}">
                <a16:creationId xmlns:a16="http://schemas.microsoft.com/office/drawing/2014/main" id="{94FF4E9B-4C67-4DD9-A296-A26A4B9EBE73}"/>
              </a:ext>
            </a:extLst>
          </p:cNvPr>
          <p:cNvCxnSpPr>
            <a:cxnSpLocks/>
            <a:stCxn id="11" idx="2"/>
          </p:cNvCxnSpPr>
          <p:nvPr/>
        </p:nvCxnSpPr>
        <p:spPr>
          <a:xfrm flipH="1">
            <a:off x="1502875" y="3536147"/>
            <a:ext cx="3326580" cy="7721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a:extLst>
              <a:ext uri="{FF2B5EF4-FFF2-40B4-BE49-F238E27FC236}">
                <a16:creationId xmlns:a16="http://schemas.microsoft.com/office/drawing/2014/main" id="{6009AB98-3D72-40FC-8BCA-F522622347D1}"/>
              </a:ext>
            </a:extLst>
          </p:cNvPr>
          <p:cNvCxnSpPr>
            <a:cxnSpLocks/>
            <a:stCxn id="10" idx="2"/>
          </p:cNvCxnSpPr>
          <p:nvPr/>
        </p:nvCxnSpPr>
        <p:spPr>
          <a:xfrm flipH="1">
            <a:off x="1502875" y="3504903"/>
            <a:ext cx="69030" cy="8033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BF3345F-AAB6-41D5-AC35-BA6D149409EA}"/>
              </a:ext>
            </a:extLst>
          </p:cNvPr>
          <p:cNvSpPr txBox="1"/>
          <p:nvPr/>
        </p:nvSpPr>
        <p:spPr bwMode="auto">
          <a:xfrm>
            <a:off x="6391277" y="2734146"/>
            <a:ext cx="5276567" cy="923330"/>
          </a:xfrm>
          <a:prstGeom prst="rect">
            <a:avLst/>
          </a:prstGeom>
        </p:spPr>
        <p:txBody>
          <a:bodyPr wrap="square" rtlCol="0">
            <a:spAutoFit/>
          </a:bodyPr>
          <a:lstStyle/>
          <a:p>
            <a:r>
              <a:rPr lang="ru-RU" b="1" dirty="0"/>
              <a:t>Коэффициент заполнения (</a:t>
            </a:r>
            <a:r>
              <a:rPr lang="ru-RU" b="1" dirty="0" err="1"/>
              <a:t>load</a:t>
            </a:r>
            <a:r>
              <a:rPr lang="ru-RU" b="1" dirty="0"/>
              <a:t> </a:t>
            </a:r>
            <a:r>
              <a:rPr lang="ru-RU" b="1" dirty="0" err="1"/>
              <a:t>factor</a:t>
            </a:r>
            <a:r>
              <a:rPr lang="ru-RU" b="1" dirty="0"/>
              <a:t>)</a:t>
            </a:r>
            <a:r>
              <a:rPr lang="ru-RU" dirty="0"/>
              <a:t> — отношение числа хранимых элементов к размеру таблицы.</a:t>
            </a:r>
          </a:p>
        </p:txBody>
      </p:sp>
      <p:graphicFrame>
        <p:nvGraphicFramePr>
          <p:cNvPr id="18" name="Объект 17">
            <a:extLst>
              <a:ext uri="{FF2B5EF4-FFF2-40B4-BE49-F238E27FC236}">
                <a16:creationId xmlns:a16="http://schemas.microsoft.com/office/drawing/2014/main" id="{B1C968B8-42F2-4ED8-AAF2-F8D6E9A6E32B}"/>
              </a:ext>
            </a:extLst>
          </p:cNvPr>
          <p:cNvGraphicFramePr>
            <a:graphicFrameLocks noChangeAspect="1"/>
          </p:cNvGraphicFramePr>
          <p:nvPr>
            <p:extLst>
              <p:ext uri="{D42A27DB-BD31-4B8C-83A1-F6EECF244321}">
                <p14:modId xmlns:p14="http://schemas.microsoft.com/office/powerpoint/2010/main" val="766060067"/>
              </p:ext>
            </p:extLst>
          </p:nvPr>
        </p:nvGraphicFramePr>
        <p:xfrm>
          <a:off x="6814244" y="3786483"/>
          <a:ext cx="3735857" cy="1034032"/>
        </p:xfrm>
        <a:graphic>
          <a:graphicData uri="http://schemas.openxmlformats.org/presentationml/2006/ole">
            <mc:AlternateContent xmlns:mc="http://schemas.openxmlformats.org/markup-compatibility/2006">
              <mc:Choice xmlns:v="urn:schemas-microsoft-com:vml" Requires="v">
                <p:oleObj spid="_x0000_s3084" name="Equation" r:id="rId3" imgW="1422360" imgH="393480" progId="Equation.DSMT4">
                  <p:embed/>
                </p:oleObj>
              </mc:Choice>
              <mc:Fallback>
                <p:oleObj name="Equation" r:id="rId3" imgW="1422360" imgH="393480" progId="Equation.DSMT4">
                  <p:embed/>
                  <p:pic>
                    <p:nvPicPr>
                      <p:cNvPr id="0" name=""/>
                      <p:cNvPicPr/>
                      <p:nvPr/>
                    </p:nvPicPr>
                    <p:blipFill>
                      <a:blip r:embed="rId4"/>
                      <a:stretch>
                        <a:fillRect/>
                      </a:stretch>
                    </p:blipFill>
                    <p:spPr>
                      <a:xfrm>
                        <a:off x="6814244" y="3786483"/>
                        <a:ext cx="3735857" cy="1034032"/>
                      </a:xfrm>
                      <a:prstGeom prst="rect">
                        <a:avLst/>
                      </a:prstGeom>
                    </p:spPr>
                  </p:pic>
                </p:oleObj>
              </mc:Fallback>
            </mc:AlternateContent>
          </a:graphicData>
        </a:graphic>
      </p:graphicFrame>
      <p:sp>
        <p:nvSpPr>
          <p:cNvPr id="26" name="TextBox 25">
            <a:extLst>
              <a:ext uri="{FF2B5EF4-FFF2-40B4-BE49-F238E27FC236}">
                <a16:creationId xmlns:a16="http://schemas.microsoft.com/office/drawing/2014/main" id="{AFE433C8-8F57-47B0-9F43-742685A6A40D}"/>
              </a:ext>
            </a:extLst>
          </p:cNvPr>
          <p:cNvSpPr txBox="1"/>
          <p:nvPr/>
        </p:nvSpPr>
        <p:spPr bwMode="auto">
          <a:xfrm>
            <a:off x="6545655" y="5223850"/>
            <a:ext cx="4418092" cy="369332"/>
          </a:xfrm>
          <a:prstGeom prst="rect">
            <a:avLst/>
          </a:prstGeom>
        </p:spPr>
        <p:txBody>
          <a:bodyPr wrap="square" rtlCol="0">
            <a:spAutoFit/>
          </a:bodyPr>
          <a:lstStyle/>
          <a:p>
            <a:r>
              <a:rPr lang="ru-RU" dirty="0"/>
              <a:t>Чем меньше </a:t>
            </a:r>
            <a:r>
              <a:rPr lang="el-GR" dirty="0"/>
              <a:t>α</a:t>
            </a:r>
            <a:r>
              <a:rPr lang="ru-RU" dirty="0"/>
              <a:t>, тем меньше коллизий</a:t>
            </a:r>
          </a:p>
        </p:txBody>
      </p:sp>
    </p:spTree>
    <p:extLst>
      <p:ext uri="{BB962C8B-B14F-4D97-AF65-F5344CB8AC3E}">
        <p14:creationId xmlns:p14="http://schemas.microsoft.com/office/powerpoint/2010/main" val="2968337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E29657-D8B1-4E0F-AA72-3D3B10E1A47D}"/>
              </a:ext>
            </a:extLst>
          </p:cNvPr>
          <p:cNvSpPr>
            <a:spLocks noGrp="1"/>
          </p:cNvSpPr>
          <p:nvPr>
            <p:ph type="title"/>
          </p:nvPr>
        </p:nvSpPr>
        <p:spPr/>
        <p:txBody>
          <a:bodyPr/>
          <a:lstStyle/>
          <a:p>
            <a:r>
              <a:rPr lang="ru-RU" dirty="0"/>
              <a:t>Прикладные примеры</a:t>
            </a:r>
          </a:p>
        </p:txBody>
      </p:sp>
      <p:sp>
        <p:nvSpPr>
          <p:cNvPr id="7" name="Текст 6">
            <a:extLst>
              <a:ext uri="{FF2B5EF4-FFF2-40B4-BE49-F238E27FC236}">
                <a16:creationId xmlns:a16="http://schemas.microsoft.com/office/drawing/2014/main" id="{FCAE5719-FEF1-43AA-8523-FEE415DFB858}"/>
              </a:ext>
            </a:extLst>
          </p:cNvPr>
          <p:cNvSpPr>
            <a:spLocks noGrp="1"/>
          </p:cNvSpPr>
          <p:nvPr>
            <p:ph type="body" sz="quarter" idx="19"/>
          </p:nvPr>
        </p:nvSpPr>
        <p:spPr/>
        <p:txBody>
          <a:bodyPr/>
          <a:lstStyle/>
          <a:p>
            <a:endParaRPr lang="ru-RU"/>
          </a:p>
        </p:txBody>
      </p:sp>
      <p:grpSp>
        <p:nvGrpSpPr>
          <p:cNvPr id="12" name="Группа 11">
            <a:extLst>
              <a:ext uri="{FF2B5EF4-FFF2-40B4-BE49-F238E27FC236}">
                <a16:creationId xmlns:a16="http://schemas.microsoft.com/office/drawing/2014/main" id="{00F97A45-CE9E-412B-AD8F-3FFBAC95FDA6}"/>
              </a:ext>
            </a:extLst>
          </p:cNvPr>
          <p:cNvGrpSpPr/>
          <p:nvPr/>
        </p:nvGrpSpPr>
        <p:grpSpPr>
          <a:xfrm>
            <a:off x="660903" y="1358034"/>
            <a:ext cx="2190939" cy="2236191"/>
            <a:chOff x="660903" y="1358034"/>
            <a:chExt cx="2190939" cy="2236191"/>
          </a:xfrm>
        </p:grpSpPr>
        <p:sp>
          <p:nvSpPr>
            <p:cNvPr id="8" name="Прямоугольник: скругленные углы 7">
              <a:extLst>
                <a:ext uri="{FF2B5EF4-FFF2-40B4-BE49-F238E27FC236}">
                  <a16:creationId xmlns:a16="http://schemas.microsoft.com/office/drawing/2014/main" id="{37E3DC28-58E8-4F99-8D1D-95D62D0E70FA}"/>
                </a:ext>
              </a:extLst>
            </p:cNvPr>
            <p:cNvSpPr/>
            <p:nvPr/>
          </p:nvSpPr>
          <p:spPr>
            <a:xfrm>
              <a:off x="660903" y="1647730"/>
              <a:ext cx="2190939" cy="194649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b="1" dirty="0"/>
                <a:t>Ключ</a:t>
              </a:r>
              <a:r>
                <a:rPr lang="en-US" dirty="0"/>
                <a:t>: </a:t>
              </a:r>
              <a:r>
                <a:rPr lang="en-US" dirty="0" err="1"/>
                <a:t>user_id</a:t>
              </a:r>
              <a:endParaRPr lang="en-US" dirty="0"/>
            </a:p>
            <a:p>
              <a:pPr algn="ctr"/>
              <a:r>
                <a:rPr lang="ru-RU" b="1" dirty="0"/>
                <a:t>Значение:</a:t>
              </a:r>
              <a:r>
                <a:rPr lang="ru-RU" dirty="0"/>
                <a:t> данные пользователя</a:t>
              </a:r>
            </a:p>
          </p:txBody>
        </p:sp>
        <p:sp>
          <p:nvSpPr>
            <p:cNvPr id="11" name="Прямоугольник: скругленные углы 10">
              <a:extLst>
                <a:ext uri="{FF2B5EF4-FFF2-40B4-BE49-F238E27FC236}">
                  <a16:creationId xmlns:a16="http://schemas.microsoft.com/office/drawing/2014/main" id="{A10338FE-21B6-4FB4-8CFE-2EDE5F586291}"/>
                </a:ext>
              </a:extLst>
            </p:cNvPr>
            <p:cNvSpPr/>
            <p:nvPr/>
          </p:nvSpPr>
          <p:spPr>
            <a:xfrm>
              <a:off x="660903" y="1358034"/>
              <a:ext cx="2190939" cy="76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Пользователь по </a:t>
              </a:r>
              <a:r>
                <a:rPr lang="en-US" dirty="0"/>
                <a:t>ID</a:t>
              </a:r>
              <a:endParaRPr lang="ru-RU" dirty="0"/>
            </a:p>
          </p:txBody>
        </p:sp>
      </p:grpSp>
      <p:grpSp>
        <p:nvGrpSpPr>
          <p:cNvPr id="13" name="Группа 12">
            <a:extLst>
              <a:ext uri="{FF2B5EF4-FFF2-40B4-BE49-F238E27FC236}">
                <a16:creationId xmlns:a16="http://schemas.microsoft.com/office/drawing/2014/main" id="{EAE81C71-0669-47E3-A3D3-0B152167435B}"/>
              </a:ext>
            </a:extLst>
          </p:cNvPr>
          <p:cNvGrpSpPr/>
          <p:nvPr/>
        </p:nvGrpSpPr>
        <p:grpSpPr>
          <a:xfrm>
            <a:off x="2263776" y="3883921"/>
            <a:ext cx="2190939" cy="2236191"/>
            <a:chOff x="660903" y="1358034"/>
            <a:chExt cx="2190939" cy="2236191"/>
          </a:xfrm>
        </p:grpSpPr>
        <p:sp>
          <p:nvSpPr>
            <p:cNvPr id="14" name="Прямоугольник: скругленные углы 13">
              <a:extLst>
                <a:ext uri="{FF2B5EF4-FFF2-40B4-BE49-F238E27FC236}">
                  <a16:creationId xmlns:a16="http://schemas.microsoft.com/office/drawing/2014/main" id="{6E65400F-2BC5-4541-93B5-1A769D50CB1D}"/>
                </a:ext>
              </a:extLst>
            </p:cNvPr>
            <p:cNvSpPr/>
            <p:nvPr/>
          </p:nvSpPr>
          <p:spPr>
            <a:xfrm>
              <a:off x="660903" y="1647730"/>
              <a:ext cx="2190939" cy="194649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a:p>
              <a:pPr algn="ctr"/>
              <a:r>
                <a:rPr lang="ru-RU" b="1" dirty="0"/>
                <a:t>Ключ</a:t>
              </a:r>
              <a:r>
                <a:rPr lang="en-US" dirty="0"/>
                <a:t>: </a:t>
              </a:r>
              <a:r>
                <a:rPr lang="ru-RU" dirty="0"/>
                <a:t>артикул / </a:t>
              </a:r>
              <a:r>
                <a:rPr lang="en-US" dirty="0"/>
                <a:t>SKU</a:t>
              </a:r>
            </a:p>
            <a:p>
              <a:pPr algn="ctr"/>
              <a:r>
                <a:rPr lang="ru-RU" b="1" dirty="0"/>
                <a:t>Значение:</a:t>
              </a:r>
              <a:r>
                <a:rPr lang="ru-RU" dirty="0"/>
                <a:t> карточка товара</a:t>
              </a:r>
            </a:p>
          </p:txBody>
        </p:sp>
        <p:sp>
          <p:nvSpPr>
            <p:cNvPr id="15" name="Прямоугольник: скругленные углы 14">
              <a:extLst>
                <a:ext uri="{FF2B5EF4-FFF2-40B4-BE49-F238E27FC236}">
                  <a16:creationId xmlns:a16="http://schemas.microsoft.com/office/drawing/2014/main" id="{82653B60-7586-4BFC-8129-80C1C940FBB6}"/>
                </a:ext>
              </a:extLst>
            </p:cNvPr>
            <p:cNvSpPr/>
            <p:nvPr/>
          </p:nvSpPr>
          <p:spPr>
            <a:xfrm>
              <a:off x="660903" y="1358034"/>
              <a:ext cx="2190939" cy="76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Товар по артикулу</a:t>
              </a:r>
            </a:p>
          </p:txBody>
        </p:sp>
      </p:grpSp>
      <p:grpSp>
        <p:nvGrpSpPr>
          <p:cNvPr id="16" name="Группа 15">
            <a:extLst>
              <a:ext uri="{FF2B5EF4-FFF2-40B4-BE49-F238E27FC236}">
                <a16:creationId xmlns:a16="http://schemas.microsoft.com/office/drawing/2014/main" id="{92B14A47-13D4-4A0B-B037-1D956620CAA9}"/>
              </a:ext>
            </a:extLst>
          </p:cNvPr>
          <p:cNvGrpSpPr/>
          <p:nvPr/>
        </p:nvGrpSpPr>
        <p:grpSpPr>
          <a:xfrm>
            <a:off x="4616167" y="1358034"/>
            <a:ext cx="2190939" cy="2236191"/>
            <a:chOff x="660903" y="1358034"/>
            <a:chExt cx="2190939" cy="2236191"/>
          </a:xfrm>
        </p:grpSpPr>
        <p:sp>
          <p:nvSpPr>
            <p:cNvPr id="17" name="Прямоугольник: скругленные углы 16">
              <a:extLst>
                <a:ext uri="{FF2B5EF4-FFF2-40B4-BE49-F238E27FC236}">
                  <a16:creationId xmlns:a16="http://schemas.microsoft.com/office/drawing/2014/main" id="{D2DB6A6E-D7A9-4EE2-A945-43B2E47C2F77}"/>
                </a:ext>
              </a:extLst>
            </p:cNvPr>
            <p:cNvSpPr/>
            <p:nvPr/>
          </p:nvSpPr>
          <p:spPr>
            <a:xfrm>
              <a:off x="660903" y="1647730"/>
              <a:ext cx="2190939" cy="194649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a:p>
              <a:pPr algn="ctr"/>
              <a:r>
                <a:rPr lang="ru-RU" b="1" dirty="0"/>
                <a:t>Ключ</a:t>
              </a:r>
              <a:r>
                <a:rPr lang="en-US" dirty="0"/>
                <a:t>: </a:t>
              </a:r>
              <a:r>
                <a:rPr lang="ru-RU" dirty="0"/>
                <a:t>запрос / параметры</a:t>
              </a:r>
              <a:endParaRPr lang="en-US" dirty="0"/>
            </a:p>
            <a:p>
              <a:pPr algn="ctr"/>
              <a:r>
                <a:rPr lang="ru-RU" b="1" dirty="0"/>
                <a:t>Значение:</a:t>
              </a:r>
              <a:r>
                <a:rPr lang="ru-RU" dirty="0"/>
                <a:t> уже вычисленный результат</a:t>
              </a:r>
            </a:p>
          </p:txBody>
        </p:sp>
        <p:sp>
          <p:nvSpPr>
            <p:cNvPr id="18" name="Прямоугольник: скругленные углы 17">
              <a:extLst>
                <a:ext uri="{FF2B5EF4-FFF2-40B4-BE49-F238E27FC236}">
                  <a16:creationId xmlns:a16="http://schemas.microsoft.com/office/drawing/2014/main" id="{801764F5-C389-4058-9CB6-DA9990C17540}"/>
                </a:ext>
              </a:extLst>
            </p:cNvPr>
            <p:cNvSpPr/>
            <p:nvPr/>
          </p:nvSpPr>
          <p:spPr>
            <a:xfrm>
              <a:off x="660903" y="1358034"/>
              <a:ext cx="2190939" cy="76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Кэш результатов</a:t>
              </a:r>
            </a:p>
          </p:txBody>
        </p:sp>
      </p:grpSp>
      <p:grpSp>
        <p:nvGrpSpPr>
          <p:cNvPr id="19" name="Группа 18">
            <a:extLst>
              <a:ext uri="{FF2B5EF4-FFF2-40B4-BE49-F238E27FC236}">
                <a16:creationId xmlns:a16="http://schemas.microsoft.com/office/drawing/2014/main" id="{33478409-9A97-46AD-AC03-285F983FD132}"/>
              </a:ext>
            </a:extLst>
          </p:cNvPr>
          <p:cNvGrpSpPr/>
          <p:nvPr/>
        </p:nvGrpSpPr>
        <p:grpSpPr>
          <a:xfrm>
            <a:off x="6463483" y="3911081"/>
            <a:ext cx="2190939" cy="2236191"/>
            <a:chOff x="660903" y="1358034"/>
            <a:chExt cx="2190939" cy="2236191"/>
          </a:xfrm>
        </p:grpSpPr>
        <p:sp>
          <p:nvSpPr>
            <p:cNvPr id="20" name="Прямоугольник: скругленные углы 19">
              <a:extLst>
                <a:ext uri="{FF2B5EF4-FFF2-40B4-BE49-F238E27FC236}">
                  <a16:creationId xmlns:a16="http://schemas.microsoft.com/office/drawing/2014/main" id="{DD0A25EB-3EDB-4933-A1BD-EF68ADDE7D08}"/>
                </a:ext>
              </a:extLst>
            </p:cNvPr>
            <p:cNvSpPr/>
            <p:nvPr/>
          </p:nvSpPr>
          <p:spPr>
            <a:xfrm>
              <a:off x="660903" y="1647730"/>
              <a:ext cx="2190939" cy="194649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b="1" dirty="0"/>
                <a:t>Ключ</a:t>
              </a:r>
              <a:r>
                <a:rPr lang="en-US" dirty="0"/>
                <a:t>: </a:t>
              </a:r>
              <a:r>
                <a:rPr lang="ru-RU" dirty="0"/>
                <a:t>значение само по себе</a:t>
              </a:r>
              <a:endParaRPr lang="en-US" dirty="0"/>
            </a:p>
          </p:txBody>
        </p:sp>
        <p:sp>
          <p:nvSpPr>
            <p:cNvPr id="21" name="Прямоугольник: скругленные углы 20">
              <a:extLst>
                <a:ext uri="{FF2B5EF4-FFF2-40B4-BE49-F238E27FC236}">
                  <a16:creationId xmlns:a16="http://schemas.microsoft.com/office/drawing/2014/main" id="{88C1D077-D0B1-4134-8E1E-ACCF9AD760E2}"/>
                </a:ext>
              </a:extLst>
            </p:cNvPr>
            <p:cNvSpPr/>
            <p:nvPr/>
          </p:nvSpPr>
          <p:spPr>
            <a:xfrm>
              <a:off x="660903" y="1358034"/>
              <a:ext cx="2190939" cy="76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Проверка уникальности</a:t>
              </a:r>
            </a:p>
          </p:txBody>
        </p:sp>
      </p:grpSp>
      <p:grpSp>
        <p:nvGrpSpPr>
          <p:cNvPr id="22" name="Группа 21">
            <a:extLst>
              <a:ext uri="{FF2B5EF4-FFF2-40B4-BE49-F238E27FC236}">
                <a16:creationId xmlns:a16="http://schemas.microsoft.com/office/drawing/2014/main" id="{01038B64-1034-45E8-BEE2-B4A7B324D248}"/>
              </a:ext>
            </a:extLst>
          </p:cNvPr>
          <p:cNvGrpSpPr/>
          <p:nvPr/>
        </p:nvGrpSpPr>
        <p:grpSpPr>
          <a:xfrm>
            <a:off x="8229411" y="1317354"/>
            <a:ext cx="2190939" cy="2236191"/>
            <a:chOff x="660903" y="1358034"/>
            <a:chExt cx="2190939" cy="2236191"/>
          </a:xfrm>
        </p:grpSpPr>
        <p:sp>
          <p:nvSpPr>
            <p:cNvPr id="23" name="Прямоугольник: скругленные углы 22">
              <a:extLst>
                <a:ext uri="{FF2B5EF4-FFF2-40B4-BE49-F238E27FC236}">
                  <a16:creationId xmlns:a16="http://schemas.microsoft.com/office/drawing/2014/main" id="{3B37FBA5-FA65-41A2-9966-264634446730}"/>
                </a:ext>
              </a:extLst>
            </p:cNvPr>
            <p:cNvSpPr/>
            <p:nvPr/>
          </p:nvSpPr>
          <p:spPr>
            <a:xfrm>
              <a:off x="660903" y="1647730"/>
              <a:ext cx="2190939" cy="194649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b="1" dirty="0"/>
            </a:p>
            <a:p>
              <a:pPr algn="ctr"/>
              <a:r>
                <a:rPr lang="ru-RU" b="1" dirty="0"/>
                <a:t>Ключ</a:t>
              </a:r>
              <a:r>
                <a:rPr lang="en-US" dirty="0"/>
                <a:t>: </a:t>
              </a:r>
              <a:r>
                <a:rPr lang="ru-RU" dirty="0"/>
                <a:t>объект</a:t>
              </a:r>
              <a:endParaRPr lang="en-US" dirty="0"/>
            </a:p>
            <a:p>
              <a:pPr algn="ctr"/>
              <a:r>
                <a:rPr lang="ru-RU" b="1" dirty="0"/>
                <a:t>Значение:</a:t>
              </a:r>
              <a:endParaRPr lang="en-US" b="1" dirty="0"/>
            </a:p>
            <a:p>
              <a:pPr algn="ctr"/>
              <a:r>
                <a:rPr lang="ru-RU" dirty="0"/>
                <a:t>Количество</a:t>
              </a:r>
              <a:r>
                <a:rPr lang="en-US" dirty="0"/>
                <a:t> </a:t>
              </a:r>
              <a:r>
                <a:rPr lang="ru-RU" dirty="0"/>
                <a:t>появлений</a:t>
              </a:r>
            </a:p>
          </p:txBody>
        </p:sp>
        <p:sp>
          <p:nvSpPr>
            <p:cNvPr id="24" name="Прямоугольник: скругленные углы 23">
              <a:extLst>
                <a:ext uri="{FF2B5EF4-FFF2-40B4-BE49-F238E27FC236}">
                  <a16:creationId xmlns:a16="http://schemas.microsoft.com/office/drawing/2014/main" id="{08DD46E4-1202-4C10-B978-D84B8EE95457}"/>
                </a:ext>
              </a:extLst>
            </p:cNvPr>
            <p:cNvSpPr/>
            <p:nvPr/>
          </p:nvSpPr>
          <p:spPr>
            <a:xfrm>
              <a:off x="660903" y="1358034"/>
              <a:ext cx="2190939" cy="76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Счётчик частот</a:t>
              </a:r>
            </a:p>
          </p:txBody>
        </p:sp>
      </p:grpSp>
    </p:spTree>
    <p:extLst>
      <p:ext uri="{BB962C8B-B14F-4D97-AF65-F5344CB8AC3E}">
        <p14:creationId xmlns:p14="http://schemas.microsoft.com/office/powerpoint/2010/main" val="3107068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8A9562-1D1F-4D05-B2C4-DB5EB7831899}"/>
              </a:ext>
            </a:extLst>
          </p:cNvPr>
          <p:cNvSpPr>
            <a:spLocks noGrp="1"/>
          </p:cNvSpPr>
          <p:nvPr>
            <p:ph type="title"/>
          </p:nvPr>
        </p:nvSpPr>
        <p:spPr/>
        <p:txBody>
          <a:bodyPr/>
          <a:lstStyle/>
          <a:p>
            <a:r>
              <a:rPr lang="ru-RU" dirty="0"/>
              <a:t>Новая задача: постоянно получать минимум или максимум</a:t>
            </a:r>
          </a:p>
        </p:txBody>
      </p:sp>
      <p:sp>
        <p:nvSpPr>
          <p:cNvPr id="7" name="Текст 6">
            <a:extLst>
              <a:ext uri="{FF2B5EF4-FFF2-40B4-BE49-F238E27FC236}">
                <a16:creationId xmlns:a16="http://schemas.microsoft.com/office/drawing/2014/main" id="{5A08D315-8030-4E16-8635-D0A37328775C}"/>
              </a:ext>
            </a:extLst>
          </p:cNvPr>
          <p:cNvSpPr>
            <a:spLocks noGrp="1"/>
          </p:cNvSpPr>
          <p:nvPr>
            <p:ph type="body" sz="quarter" idx="19"/>
          </p:nvPr>
        </p:nvSpPr>
        <p:spPr/>
        <p:txBody>
          <a:bodyPr/>
          <a:lstStyle/>
          <a:p>
            <a:endParaRPr lang="ru-RU"/>
          </a:p>
        </p:txBody>
      </p:sp>
      <p:graphicFrame>
        <p:nvGraphicFramePr>
          <p:cNvPr id="9" name="Таблица 8">
            <a:extLst>
              <a:ext uri="{FF2B5EF4-FFF2-40B4-BE49-F238E27FC236}">
                <a16:creationId xmlns:a16="http://schemas.microsoft.com/office/drawing/2014/main" id="{0C33BF18-2540-49D0-B27F-504F0FB062B0}"/>
              </a:ext>
            </a:extLst>
          </p:cNvPr>
          <p:cNvGraphicFramePr>
            <a:graphicFrameLocks noGrp="1"/>
          </p:cNvGraphicFramePr>
          <p:nvPr>
            <p:extLst>
              <p:ext uri="{D42A27DB-BD31-4B8C-83A1-F6EECF244321}">
                <p14:modId xmlns:p14="http://schemas.microsoft.com/office/powerpoint/2010/main" val="2459408481"/>
              </p:ext>
            </p:extLst>
          </p:nvPr>
        </p:nvGraphicFramePr>
        <p:xfrm>
          <a:off x="1058547" y="1747484"/>
          <a:ext cx="4391340" cy="3567186"/>
        </p:xfrm>
        <a:graphic>
          <a:graphicData uri="http://schemas.openxmlformats.org/drawingml/2006/table">
            <a:tbl>
              <a:tblPr firstRow="1" bandRow="1">
                <a:tableStyleId>{0E3FDE45-AF77-4B5C-9715-49D594BDF05E}</a:tableStyleId>
              </a:tblPr>
              <a:tblGrid>
                <a:gridCol w="2195670">
                  <a:extLst>
                    <a:ext uri="{9D8B030D-6E8A-4147-A177-3AD203B41FA5}">
                      <a16:colId xmlns:a16="http://schemas.microsoft.com/office/drawing/2014/main" val="2434880446"/>
                    </a:ext>
                  </a:extLst>
                </a:gridCol>
                <a:gridCol w="2195670">
                  <a:extLst>
                    <a:ext uri="{9D8B030D-6E8A-4147-A177-3AD203B41FA5}">
                      <a16:colId xmlns:a16="http://schemas.microsoft.com/office/drawing/2014/main" val="1155049933"/>
                    </a:ext>
                  </a:extLst>
                </a:gridCol>
              </a:tblGrid>
              <a:tr h="366786">
                <a:tc>
                  <a:txBody>
                    <a:bodyPr/>
                    <a:lstStyle/>
                    <a:p>
                      <a:r>
                        <a:rPr lang="ru-RU" dirty="0"/>
                        <a:t>Задача</a:t>
                      </a:r>
                    </a:p>
                  </a:txBody>
                  <a:tcPr anchor="ctr"/>
                </a:tc>
                <a:tc>
                  <a:txBody>
                    <a:bodyPr/>
                    <a:lstStyle/>
                    <a:p>
                      <a:pPr algn="r"/>
                      <a:r>
                        <a:rPr lang="ru-RU"/>
                        <a:t>Приоритет</a:t>
                      </a:r>
                    </a:p>
                  </a:txBody>
                  <a:tcPr anchor="ctr"/>
                </a:tc>
                <a:extLst>
                  <a:ext uri="{0D108BD9-81ED-4DB2-BD59-A6C34878D82A}">
                    <a16:rowId xmlns:a16="http://schemas.microsoft.com/office/drawing/2014/main" val="34171780"/>
                  </a:ext>
                </a:extLst>
              </a:tr>
              <a:tr h="633083">
                <a:tc>
                  <a:txBody>
                    <a:bodyPr/>
                    <a:lstStyle/>
                    <a:p>
                      <a:r>
                        <a:rPr lang="ru-RU"/>
                        <a:t>Обработать ошибку сервера</a:t>
                      </a:r>
                    </a:p>
                  </a:txBody>
                  <a:tcPr anchor="ctr"/>
                </a:tc>
                <a:tc>
                  <a:txBody>
                    <a:bodyPr/>
                    <a:lstStyle/>
                    <a:p>
                      <a:pPr algn="r"/>
                      <a:r>
                        <a:rPr lang="ru-RU"/>
                        <a:t>1</a:t>
                      </a:r>
                    </a:p>
                  </a:txBody>
                  <a:tcPr anchor="ctr"/>
                </a:tc>
                <a:extLst>
                  <a:ext uri="{0D108BD9-81ED-4DB2-BD59-A6C34878D82A}">
                    <a16:rowId xmlns:a16="http://schemas.microsoft.com/office/drawing/2014/main" val="1255624070"/>
                  </a:ext>
                </a:extLst>
              </a:tr>
              <a:tr h="633083">
                <a:tc>
                  <a:txBody>
                    <a:bodyPr/>
                    <a:lstStyle/>
                    <a:p>
                      <a:r>
                        <a:rPr lang="ru-RU"/>
                        <a:t>Ответить пользователю</a:t>
                      </a:r>
                    </a:p>
                  </a:txBody>
                  <a:tcPr anchor="ctr"/>
                </a:tc>
                <a:tc>
                  <a:txBody>
                    <a:bodyPr/>
                    <a:lstStyle/>
                    <a:p>
                      <a:pPr algn="r"/>
                      <a:r>
                        <a:rPr lang="ru-RU"/>
                        <a:t>4</a:t>
                      </a:r>
                    </a:p>
                  </a:txBody>
                  <a:tcPr anchor="ctr"/>
                </a:tc>
                <a:extLst>
                  <a:ext uri="{0D108BD9-81ED-4DB2-BD59-A6C34878D82A}">
                    <a16:rowId xmlns:a16="http://schemas.microsoft.com/office/drawing/2014/main" val="2868972587"/>
                  </a:ext>
                </a:extLst>
              </a:tr>
              <a:tr h="366786">
                <a:tc>
                  <a:txBody>
                    <a:bodyPr/>
                    <a:lstStyle/>
                    <a:p>
                      <a:r>
                        <a:rPr lang="ru-RU"/>
                        <a:t>Сформировать отчёт</a:t>
                      </a:r>
                    </a:p>
                  </a:txBody>
                  <a:tcPr anchor="ctr"/>
                </a:tc>
                <a:tc>
                  <a:txBody>
                    <a:bodyPr/>
                    <a:lstStyle/>
                    <a:p>
                      <a:pPr algn="r"/>
                      <a:r>
                        <a:rPr lang="ru-RU"/>
                        <a:t>7</a:t>
                      </a:r>
                    </a:p>
                  </a:txBody>
                  <a:tcPr anchor="ctr"/>
                </a:tc>
                <a:extLst>
                  <a:ext uri="{0D108BD9-81ED-4DB2-BD59-A6C34878D82A}">
                    <a16:rowId xmlns:a16="http://schemas.microsoft.com/office/drawing/2014/main" val="640147319"/>
                  </a:ext>
                </a:extLst>
              </a:tr>
              <a:tr h="633083">
                <a:tc>
                  <a:txBody>
                    <a:bodyPr/>
                    <a:lstStyle/>
                    <a:p>
                      <a:r>
                        <a:rPr lang="ru-RU"/>
                        <a:t>Сделать резервную копию</a:t>
                      </a:r>
                    </a:p>
                  </a:txBody>
                  <a:tcPr anchor="ctr"/>
                </a:tc>
                <a:tc>
                  <a:txBody>
                    <a:bodyPr/>
                    <a:lstStyle/>
                    <a:p>
                      <a:pPr algn="r"/>
                      <a:r>
                        <a:rPr lang="ru-RU"/>
                        <a:t>9</a:t>
                      </a:r>
                    </a:p>
                  </a:txBody>
                  <a:tcPr anchor="ctr"/>
                </a:tc>
                <a:extLst>
                  <a:ext uri="{0D108BD9-81ED-4DB2-BD59-A6C34878D82A}">
                    <a16:rowId xmlns:a16="http://schemas.microsoft.com/office/drawing/2014/main" val="2792039885"/>
                  </a:ext>
                </a:extLst>
              </a:tr>
              <a:tr h="633083">
                <a:tc>
                  <a:txBody>
                    <a:bodyPr/>
                    <a:lstStyle/>
                    <a:p>
                      <a:r>
                        <a:rPr lang="ru-RU"/>
                        <a:t>Обновить статистику</a:t>
                      </a:r>
                    </a:p>
                  </a:txBody>
                  <a:tcPr anchor="ctr"/>
                </a:tc>
                <a:tc>
                  <a:txBody>
                    <a:bodyPr/>
                    <a:lstStyle/>
                    <a:p>
                      <a:pPr algn="r"/>
                      <a:r>
                        <a:rPr lang="ru-RU" dirty="0"/>
                        <a:t>6</a:t>
                      </a:r>
                    </a:p>
                  </a:txBody>
                  <a:tcPr anchor="ctr"/>
                </a:tc>
                <a:extLst>
                  <a:ext uri="{0D108BD9-81ED-4DB2-BD59-A6C34878D82A}">
                    <a16:rowId xmlns:a16="http://schemas.microsoft.com/office/drawing/2014/main" val="486135584"/>
                  </a:ext>
                </a:extLst>
              </a:tr>
            </a:tbl>
          </a:graphicData>
        </a:graphic>
      </p:graphicFrame>
      <p:cxnSp>
        <p:nvCxnSpPr>
          <p:cNvPr id="11" name="Прямая со стрелкой 10">
            <a:extLst>
              <a:ext uri="{FF2B5EF4-FFF2-40B4-BE49-F238E27FC236}">
                <a16:creationId xmlns:a16="http://schemas.microsoft.com/office/drawing/2014/main" id="{A3F913B8-E52B-4946-B020-E6636E87F32D}"/>
              </a:ext>
            </a:extLst>
          </p:cNvPr>
          <p:cNvCxnSpPr>
            <a:cxnSpLocks/>
            <a:endCxn id="12" idx="1"/>
          </p:cNvCxnSpPr>
          <p:nvPr/>
        </p:nvCxnSpPr>
        <p:spPr>
          <a:xfrm flipV="1">
            <a:off x="5467805" y="2272420"/>
            <a:ext cx="2381062" cy="11565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9" name="Группа 18">
            <a:extLst>
              <a:ext uri="{FF2B5EF4-FFF2-40B4-BE49-F238E27FC236}">
                <a16:creationId xmlns:a16="http://schemas.microsoft.com/office/drawing/2014/main" id="{0AD0480B-2C58-4742-9927-79DEADC4B5F7}"/>
              </a:ext>
            </a:extLst>
          </p:cNvPr>
          <p:cNvGrpSpPr/>
          <p:nvPr/>
        </p:nvGrpSpPr>
        <p:grpSpPr>
          <a:xfrm>
            <a:off x="7848867" y="1407746"/>
            <a:ext cx="3742351" cy="1557264"/>
            <a:chOff x="7848867" y="1407746"/>
            <a:chExt cx="3742351" cy="1557264"/>
          </a:xfrm>
        </p:grpSpPr>
        <p:sp>
          <p:nvSpPr>
            <p:cNvPr id="12" name="Прямоугольник: скругленные углы 11">
              <a:extLst>
                <a:ext uri="{FF2B5EF4-FFF2-40B4-BE49-F238E27FC236}">
                  <a16:creationId xmlns:a16="http://schemas.microsoft.com/office/drawing/2014/main" id="{FC94AFCE-D608-4FF9-AD9F-3FD5010B585D}"/>
                </a:ext>
              </a:extLst>
            </p:cNvPr>
            <p:cNvSpPr/>
            <p:nvPr/>
          </p:nvSpPr>
          <p:spPr>
            <a:xfrm>
              <a:off x="7848867" y="1579830"/>
              <a:ext cx="3742350" cy="1385180"/>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Искать минимум каждый раз</a:t>
              </a:r>
            </a:p>
          </p:txBody>
        </p:sp>
        <p:sp>
          <p:nvSpPr>
            <p:cNvPr id="14" name="Прямоугольник: скругленные углы 13">
              <a:extLst>
                <a:ext uri="{FF2B5EF4-FFF2-40B4-BE49-F238E27FC236}">
                  <a16:creationId xmlns:a16="http://schemas.microsoft.com/office/drawing/2014/main" id="{5BF5A67F-3533-473F-BBDE-24E75E49D6E5}"/>
                </a:ext>
              </a:extLst>
            </p:cNvPr>
            <p:cNvSpPr/>
            <p:nvPr/>
          </p:nvSpPr>
          <p:spPr>
            <a:xfrm>
              <a:off x="7848868" y="1407746"/>
              <a:ext cx="3742350" cy="5026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Вариант 1</a:t>
              </a:r>
            </a:p>
          </p:txBody>
        </p:sp>
      </p:grpSp>
      <p:sp>
        <p:nvSpPr>
          <p:cNvPr id="15" name="Прямоугольник: скругленные углы 14">
            <a:extLst>
              <a:ext uri="{FF2B5EF4-FFF2-40B4-BE49-F238E27FC236}">
                <a16:creationId xmlns:a16="http://schemas.microsoft.com/office/drawing/2014/main" id="{012210B5-E39B-4536-9DB4-3BD01343B2D4}"/>
              </a:ext>
            </a:extLst>
          </p:cNvPr>
          <p:cNvSpPr/>
          <p:nvPr/>
        </p:nvSpPr>
        <p:spPr>
          <a:xfrm>
            <a:off x="7848866" y="4065075"/>
            <a:ext cx="3742350" cy="1385180"/>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Всегда хранить список отсортированным</a:t>
            </a:r>
          </a:p>
        </p:txBody>
      </p:sp>
      <p:sp>
        <p:nvSpPr>
          <p:cNvPr id="16" name="Прямоугольник: скругленные углы 15">
            <a:extLst>
              <a:ext uri="{FF2B5EF4-FFF2-40B4-BE49-F238E27FC236}">
                <a16:creationId xmlns:a16="http://schemas.microsoft.com/office/drawing/2014/main" id="{73CCDACD-2D0D-473F-A388-0DF1F1AED93B}"/>
              </a:ext>
            </a:extLst>
          </p:cNvPr>
          <p:cNvSpPr/>
          <p:nvPr/>
        </p:nvSpPr>
        <p:spPr>
          <a:xfrm>
            <a:off x="7848867" y="3892991"/>
            <a:ext cx="3742350" cy="5026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Вариант 2</a:t>
            </a:r>
          </a:p>
        </p:txBody>
      </p:sp>
      <p:cxnSp>
        <p:nvCxnSpPr>
          <p:cNvPr id="18" name="Прямая со стрелкой 17">
            <a:extLst>
              <a:ext uri="{FF2B5EF4-FFF2-40B4-BE49-F238E27FC236}">
                <a16:creationId xmlns:a16="http://schemas.microsoft.com/office/drawing/2014/main" id="{30A1F552-82AA-413C-AD8E-C60AC98F6AEE}"/>
              </a:ext>
            </a:extLst>
          </p:cNvPr>
          <p:cNvCxnSpPr>
            <a:endCxn id="15" idx="1"/>
          </p:cNvCxnSpPr>
          <p:nvPr/>
        </p:nvCxnSpPr>
        <p:spPr>
          <a:xfrm>
            <a:off x="5449887" y="3429000"/>
            <a:ext cx="2398979" cy="1328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573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AFBFB4-8755-4A3B-B8D3-B4A9E7A9BB72}"/>
              </a:ext>
            </a:extLst>
          </p:cNvPr>
          <p:cNvSpPr>
            <a:spLocks noGrp="1"/>
          </p:cNvSpPr>
          <p:nvPr>
            <p:ph type="title"/>
          </p:nvPr>
        </p:nvSpPr>
        <p:spPr/>
        <p:txBody>
          <a:bodyPr/>
          <a:lstStyle/>
          <a:p>
            <a:r>
              <a:rPr lang="ru-RU" dirty="0"/>
              <a:t>Что такое куча?</a:t>
            </a:r>
          </a:p>
        </p:txBody>
      </p:sp>
      <p:sp>
        <p:nvSpPr>
          <p:cNvPr id="7" name="Текст 6">
            <a:extLst>
              <a:ext uri="{FF2B5EF4-FFF2-40B4-BE49-F238E27FC236}">
                <a16:creationId xmlns:a16="http://schemas.microsoft.com/office/drawing/2014/main" id="{C9C4CF6A-F330-4511-9234-6F7296747E11}"/>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7516CC5D-FB87-43AD-8DC2-E827D4A5120F}"/>
              </a:ext>
            </a:extLst>
          </p:cNvPr>
          <p:cNvSpPr txBox="1"/>
          <p:nvPr/>
        </p:nvSpPr>
        <p:spPr bwMode="auto">
          <a:xfrm>
            <a:off x="932097" y="1738314"/>
            <a:ext cx="4318503" cy="523220"/>
          </a:xfrm>
          <a:prstGeom prst="rect">
            <a:avLst/>
          </a:prstGeom>
        </p:spPr>
        <p:txBody>
          <a:bodyPr wrap="square" rtlCol="0">
            <a:spAutoFit/>
          </a:bodyPr>
          <a:lstStyle/>
          <a:p>
            <a:r>
              <a:rPr lang="ru-RU" sz="2800" dirty="0"/>
              <a:t>[2, 5, 7, 9, 12, 10, 20]</a:t>
            </a:r>
            <a:endParaRPr lang="ru-RU" dirty="0"/>
          </a:p>
        </p:txBody>
      </p:sp>
      <p:sp>
        <p:nvSpPr>
          <p:cNvPr id="9" name="Прямоугольник 8">
            <a:extLst>
              <a:ext uri="{FF2B5EF4-FFF2-40B4-BE49-F238E27FC236}">
                <a16:creationId xmlns:a16="http://schemas.microsoft.com/office/drawing/2014/main" id="{99AD7DDB-25D7-49ED-A630-0C186401C476}"/>
              </a:ext>
            </a:extLst>
          </p:cNvPr>
          <p:cNvSpPr/>
          <p:nvPr/>
        </p:nvSpPr>
        <p:spPr>
          <a:xfrm>
            <a:off x="4813425" y="1577240"/>
            <a:ext cx="6096000" cy="954107"/>
          </a:xfrm>
          <a:prstGeom prst="rect">
            <a:avLst/>
          </a:prstGeom>
        </p:spPr>
        <p:txBody>
          <a:bodyPr>
            <a:spAutoFit/>
          </a:bodyPr>
          <a:lstStyle/>
          <a:p>
            <a:r>
              <a:rPr lang="ru-RU" sz="2800" dirty="0"/>
              <a:t>Куча — это массив с особым правилом расположения элементов</a:t>
            </a:r>
          </a:p>
        </p:txBody>
      </p:sp>
      <p:sp>
        <p:nvSpPr>
          <p:cNvPr id="10" name="Прямоугольник: скругленные углы 9">
            <a:extLst>
              <a:ext uri="{FF2B5EF4-FFF2-40B4-BE49-F238E27FC236}">
                <a16:creationId xmlns:a16="http://schemas.microsoft.com/office/drawing/2014/main" id="{B5CE13D6-8069-4226-8367-87A255FECC2A}"/>
              </a:ext>
            </a:extLst>
          </p:cNvPr>
          <p:cNvSpPr/>
          <p:nvPr/>
        </p:nvSpPr>
        <p:spPr>
          <a:xfrm>
            <a:off x="751437" y="2851841"/>
            <a:ext cx="10157988" cy="12674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В </a:t>
            </a:r>
            <a:r>
              <a:rPr lang="ru-RU" dirty="0" err="1"/>
              <a:t>min-heap</a:t>
            </a:r>
            <a:r>
              <a:rPr lang="ru-RU" dirty="0"/>
              <a:t> каждый элемент не больше тех элементов, которые расположены ниже него по структуре кучи.</a:t>
            </a:r>
          </a:p>
        </p:txBody>
      </p:sp>
      <p:sp>
        <p:nvSpPr>
          <p:cNvPr id="12" name="TextBox 11">
            <a:extLst>
              <a:ext uri="{FF2B5EF4-FFF2-40B4-BE49-F238E27FC236}">
                <a16:creationId xmlns:a16="http://schemas.microsoft.com/office/drawing/2014/main" id="{FEE22760-7DFF-40C3-824F-2960120F2202}"/>
              </a:ext>
            </a:extLst>
          </p:cNvPr>
          <p:cNvSpPr txBox="1"/>
          <p:nvPr/>
        </p:nvSpPr>
        <p:spPr bwMode="auto">
          <a:xfrm>
            <a:off x="932096" y="4371363"/>
            <a:ext cx="4318503" cy="523220"/>
          </a:xfrm>
          <a:prstGeom prst="rect">
            <a:avLst/>
          </a:prstGeom>
        </p:spPr>
        <p:txBody>
          <a:bodyPr wrap="square" rtlCol="0">
            <a:spAutoFit/>
          </a:bodyPr>
          <a:lstStyle/>
          <a:p>
            <a:r>
              <a:rPr lang="ru-RU" sz="2800" dirty="0"/>
              <a:t>[2, 5, 7, 1, 12, 10, 20]</a:t>
            </a:r>
            <a:endParaRPr lang="ru-RU" dirty="0"/>
          </a:p>
        </p:txBody>
      </p:sp>
      <p:sp>
        <p:nvSpPr>
          <p:cNvPr id="13" name="Прямоугольник: скругленные углы 12">
            <a:extLst>
              <a:ext uri="{FF2B5EF4-FFF2-40B4-BE49-F238E27FC236}">
                <a16:creationId xmlns:a16="http://schemas.microsoft.com/office/drawing/2014/main" id="{A74C660C-4C8B-41D9-BBCF-B745F30BB9E4}"/>
              </a:ext>
            </a:extLst>
          </p:cNvPr>
          <p:cNvSpPr/>
          <p:nvPr/>
        </p:nvSpPr>
        <p:spPr>
          <a:xfrm>
            <a:off x="751436" y="5158263"/>
            <a:ext cx="10157987" cy="12089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Куча не хранит элементы полностью отсортированными — она поддерживает только столько порядка, сколько нужно для быстрого доступа к минимуму или максимуму.</a:t>
            </a:r>
          </a:p>
        </p:txBody>
      </p:sp>
    </p:spTree>
    <p:extLst>
      <p:ext uri="{BB962C8B-B14F-4D97-AF65-F5344CB8AC3E}">
        <p14:creationId xmlns:p14="http://schemas.microsoft.com/office/powerpoint/2010/main" val="43620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BA1818-9CC9-49E3-8C7D-B4DF520D0716}"/>
              </a:ext>
            </a:extLst>
          </p:cNvPr>
          <p:cNvSpPr>
            <a:spLocks noGrp="1"/>
          </p:cNvSpPr>
          <p:nvPr>
            <p:ph type="title"/>
          </p:nvPr>
        </p:nvSpPr>
        <p:spPr/>
        <p:txBody>
          <a:bodyPr/>
          <a:lstStyle/>
          <a:p>
            <a:r>
              <a:rPr lang="ru-RU" dirty="0"/>
              <a:t>Куча как дерево и как массив</a:t>
            </a:r>
          </a:p>
        </p:txBody>
      </p:sp>
      <p:sp>
        <p:nvSpPr>
          <p:cNvPr id="7" name="Текст 6">
            <a:extLst>
              <a:ext uri="{FF2B5EF4-FFF2-40B4-BE49-F238E27FC236}">
                <a16:creationId xmlns:a16="http://schemas.microsoft.com/office/drawing/2014/main" id="{76AFA598-B570-43FA-AD80-8EC41D3EF6D5}"/>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EC950B9E-A60D-4AED-96A9-E009127F5226}"/>
              </a:ext>
            </a:extLst>
          </p:cNvPr>
          <p:cNvSpPr txBox="1"/>
          <p:nvPr/>
        </p:nvSpPr>
        <p:spPr bwMode="auto">
          <a:xfrm>
            <a:off x="1131384" y="2056194"/>
            <a:ext cx="4318503" cy="523220"/>
          </a:xfrm>
          <a:prstGeom prst="rect">
            <a:avLst/>
          </a:prstGeom>
        </p:spPr>
        <p:txBody>
          <a:bodyPr wrap="square" rtlCol="0">
            <a:spAutoFit/>
          </a:bodyPr>
          <a:lstStyle/>
          <a:p>
            <a:r>
              <a:rPr lang="ru-RU" sz="2800" dirty="0"/>
              <a:t>[2, 5, 7, 9, 12, 10, 20</a:t>
            </a:r>
            <a:r>
              <a:rPr lang="en-US" sz="2800" dirty="0"/>
              <a:t>,  15</a:t>
            </a:r>
            <a:r>
              <a:rPr lang="ru-RU" sz="2800" dirty="0"/>
              <a:t>]</a:t>
            </a:r>
            <a:endParaRPr lang="ru-RU" dirty="0"/>
          </a:p>
        </p:txBody>
      </p:sp>
      <p:sp>
        <p:nvSpPr>
          <p:cNvPr id="9" name="TextBox 8">
            <a:extLst>
              <a:ext uri="{FF2B5EF4-FFF2-40B4-BE49-F238E27FC236}">
                <a16:creationId xmlns:a16="http://schemas.microsoft.com/office/drawing/2014/main" id="{C45E653C-7250-4863-BB73-391051072B72}"/>
              </a:ext>
            </a:extLst>
          </p:cNvPr>
          <p:cNvSpPr txBox="1"/>
          <p:nvPr/>
        </p:nvSpPr>
        <p:spPr bwMode="auto">
          <a:xfrm>
            <a:off x="1303399" y="1738314"/>
            <a:ext cx="4318503" cy="369332"/>
          </a:xfrm>
          <a:prstGeom prst="rect">
            <a:avLst/>
          </a:prstGeom>
        </p:spPr>
        <p:txBody>
          <a:bodyPr wrap="square" rtlCol="0">
            <a:spAutoFit/>
          </a:bodyPr>
          <a:lstStyle/>
          <a:p>
            <a:r>
              <a:rPr lang="ru-RU" dirty="0"/>
              <a:t>0    1     2    3     4         5         6 </a:t>
            </a:r>
            <a:r>
              <a:rPr lang="en-US" dirty="0"/>
              <a:t>        </a:t>
            </a:r>
            <a:r>
              <a:rPr lang="ru-RU" dirty="0"/>
              <a:t>7</a:t>
            </a:r>
            <a:endParaRPr lang="ru-RU" sz="1200" dirty="0"/>
          </a:p>
        </p:txBody>
      </p:sp>
      <p:sp>
        <p:nvSpPr>
          <p:cNvPr id="13" name="Прямоугольник: скругленные углы 12">
            <a:extLst>
              <a:ext uri="{FF2B5EF4-FFF2-40B4-BE49-F238E27FC236}">
                <a16:creationId xmlns:a16="http://schemas.microsoft.com/office/drawing/2014/main" id="{4CA21174-5AF7-4EDF-8F51-6ABD65FDAD39}"/>
              </a:ext>
            </a:extLst>
          </p:cNvPr>
          <p:cNvSpPr/>
          <p:nvPr/>
        </p:nvSpPr>
        <p:spPr>
          <a:xfrm>
            <a:off x="6925901" y="1738314"/>
            <a:ext cx="3962700" cy="1690686"/>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342900" indent="-342900" algn="ctr">
              <a:buAutoNum type="arabicParenR"/>
            </a:pPr>
            <a:r>
              <a:rPr lang="ru-RU" dirty="0"/>
              <a:t>Левая связанная позиция</a:t>
            </a:r>
            <a:r>
              <a:rPr lang="en-US" dirty="0"/>
              <a:t>: 2i + 1</a:t>
            </a:r>
          </a:p>
          <a:p>
            <a:pPr marL="342900" indent="-342900" algn="ctr">
              <a:buAutoNum type="arabicParenR"/>
            </a:pPr>
            <a:r>
              <a:rPr lang="ru-RU" dirty="0"/>
              <a:t>Правая связанная позиция</a:t>
            </a:r>
            <a:r>
              <a:rPr lang="en-US" dirty="0"/>
              <a:t>: 2i + 2</a:t>
            </a:r>
          </a:p>
          <a:p>
            <a:pPr marL="342900" indent="-342900" algn="ctr">
              <a:buAutoNum type="arabicParenR"/>
            </a:pPr>
            <a:r>
              <a:rPr lang="ru-RU" dirty="0"/>
              <a:t>Предыдущий уровень:</a:t>
            </a:r>
            <a:r>
              <a:rPr lang="en-US" dirty="0"/>
              <a:t> (2i – 1)//2</a:t>
            </a:r>
            <a:endParaRPr lang="ru-RU" dirty="0"/>
          </a:p>
        </p:txBody>
      </p:sp>
      <p:sp>
        <p:nvSpPr>
          <p:cNvPr id="10" name="Прямоугольник: скругленные углы 9">
            <a:extLst>
              <a:ext uri="{FF2B5EF4-FFF2-40B4-BE49-F238E27FC236}">
                <a16:creationId xmlns:a16="http://schemas.microsoft.com/office/drawing/2014/main" id="{B96C6562-AD3A-4D69-8A47-47A31AEF1DC5}"/>
              </a:ext>
            </a:extLst>
          </p:cNvPr>
          <p:cNvSpPr/>
          <p:nvPr/>
        </p:nvSpPr>
        <p:spPr>
          <a:xfrm>
            <a:off x="6925901" y="1376126"/>
            <a:ext cx="3962700" cy="6800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Правила</a:t>
            </a:r>
          </a:p>
        </p:txBody>
      </p:sp>
      <p:sp>
        <p:nvSpPr>
          <p:cNvPr id="16" name="Прямоугольник: скругленные углы 15">
            <a:extLst>
              <a:ext uri="{FF2B5EF4-FFF2-40B4-BE49-F238E27FC236}">
                <a16:creationId xmlns:a16="http://schemas.microsoft.com/office/drawing/2014/main" id="{A770A819-FD53-475F-9710-6FA66F534D28}"/>
              </a:ext>
            </a:extLst>
          </p:cNvPr>
          <p:cNvSpPr/>
          <p:nvPr/>
        </p:nvSpPr>
        <p:spPr>
          <a:xfrm>
            <a:off x="6925901" y="3791188"/>
            <a:ext cx="4182701" cy="2475796"/>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Для хранения кучи не нужны отдельные ссылки между элементами — все связи можно вычислить по индексам массива.</a:t>
            </a:r>
          </a:p>
        </p:txBody>
      </p:sp>
    </p:spTree>
    <p:extLst>
      <p:ext uri="{BB962C8B-B14F-4D97-AF65-F5344CB8AC3E}">
        <p14:creationId xmlns:p14="http://schemas.microsoft.com/office/powerpoint/2010/main" val="3264347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87F930-3175-4A30-A65D-DDC7A0147A4D}"/>
              </a:ext>
            </a:extLst>
          </p:cNvPr>
          <p:cNvSpPr>
            <a:spLocks noGrp="1"/>
          </p:cNvSpPr>
          <p:nvPr>
            <p:ph type="title"/>
          </p:nvPr>
        </p:nvSpPr>
        <p:spPr/>
        <p:txBody>
          <a:bodyPr/>
          <a:lstStyle/>
          <a:p>
            <a:r>
              <a:rPr lang="ru-RU" dirty="0"/>
              <a:t>Вставка: как сохранить свойство кучи</a:t>
            </a:r>
          </a:p>
        </p:txBody>
      </p:sp>
      <p:sp>
        <p:nvSpPr>
          <p:cNvPr id="7" name="Текст 6">
            <a:extLst>
              <a:ext uri="{FF2B5EF4-FFF2-40B4-BE49-F238E27FC236}">
                <a16:creationId xmlns:a16="http://schemas.microsoft.com/office/drawing/2014/main" id="{26B63555-D803-4DE5-9A24-1C592207C182}"/>
              </a:ext>
            </a:extLst>
          </p:cNvPr>
          <p:cNvSpPr>
            <a:spLocks noGrp="1"/>
          </p:cNvSpPr>
          <p:nvPr>
            <p:ph type="body" sz="quarter" idx="19"/>
          </p:nvPr>
        </p:nvSpPr>
        <p:spPr/>
        <p:txBody>
          <a:bodyPr/>
          <a:lstStyle/>
          <a:p>
            <a:endParaRPr lang="ru-RU"/>
          </a:p>
        </p:txBody>
      </p:sp>
      <p:sp>
        <p:nvSpPr>
          <p:cNvPr id="11" name="TextBox 10">
            <a:extLst>
              <a:ext uri="{FF2B5EF4-FFF2-40B4-BE49-F238E27FC236}">
                <a16:creationId xmlns:a16="http://schemas.microsoft.com/office/drawing/2014/main" id="{79E36811-45DA-4EC6-969A-7AA21BEDE56E}"/>
              </a:ext>
            </a:extLst>
          </p:cNvPr>
          <p:cNvSpPr txBox="1"/>
          <p:nvPr/>
        </p:nvSpPr>
        <p:spPr bwMode="auto">
          <a:xfrm>
            <a:off x="733476" y="5283638"/>
            <a:ext cx="4318503" cy="523220"/>
          </a:xfrm>
          <a:prstGeom prst="rect">
            <a:avLst/>
          </a:prstGeom>
        </p:spPr>
        <p:txBody>
          <a:bodyPr wrap="square" rtlCol="0">
            <a:spAutoFit/>
          </a:bodyPr>
          <a:lstStyle/>
          <a:p>
            <a:r>
              <a:rPr lang="ru-RU" sz="2800" dirty="0"/>
              <a:t>[2, 5, 7, 9, 12, 10, 20</a:t>
            </a:r>
            <a:r>
              <a:rPr lang="en-US" sz="2800" dirty="0"/>
              <a:t>, </a:t>
            </a:r>
            <a:r>
              <a:rPr lang="en-US" sz="2800" dirty="0">
                <a:solidFill>
                  <a:srgbClr val="FF0000"/>
                </a:solidFill>
              </a:rPr>
              <a:t>3</a:t>
            </a:r>
            <a:r>
              <a:rPr lang="ru-RU" sz="2800" dirty="0"/>
              <a:t>]</a:t>
            </a:r>
            <a:endParaRPr lang="ru-RU" dirty="0"/>
          </a:p>
        </p:txBody>
      </p:sp>
      <p:sp>
        <p:nvSpPr>
          <p:cNvPr id="12" name="Овал 11">
            <a:extLst>
              <a:ext uri="{FF2B5EF4-FFF2-40B4-BE49-F238E27FC236}">
                <a16:creationId xmlns:a16="http://schemas.microsoft.com/office/drawing/2014/main" id="{DBCB1B5A-759B-48F8-B5B6-2F4BB2554B1C}"/>
              </a:ext>
            </a:extLst>
          </p:cNvPr>
          <p:cNvSpPr/>
          <p:nvPr/>
        </p:nvSpPr>
        <p:spPr>
          <a:xfrm>
            <a:off x="2145671" y="1312752"/>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a:t>
            </a:r>
          </a:p>
        </p:txBody>
      </p:sp>
      <p:sp>
        <p:nvSpPr>
          <p:cNvPr id="13" name="Овал 12">
            <a:extLst>
              <a:ext uri="{FF2B5EF4-FFF2-40B4-BE49-F238E27FC236}">
                <a16:creationId xmlns:a16="http://schemas.microsoft.com/office/drawing/2014/main" id="{624CF009-4C70-44C3-A75C-E9948A88A64F}"/>
              </a:ext>
            </a:extLst>
          </p:cNvPr>
          <p:cNvSpPr/>
          <p:nvPr/>
        </p:nvSpPr>
        <p:spPr>
          <a:xfrm>
            <a:off x="1548025"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5</a:t>
            </a:r>
          </a:p>
        </p:txBody>
      </p:sp>
      <p:sp>
        <p:nvSpPr>
          <p:cNvPr id="14" name="Овал 13">
            <a:extLst>
              <a:ext uri="{FF2B5EF4-FFF2-40B4-BE49-F238E27FC236}">
                <a16:creationId xmlns:a16="http://schemas.microsoft.com/office/drawing/2014/main" id="{A11D3CB4-37EE-4B31-99B8-683DFE8A7170}"/>
              </a:ext>
            </a:extLst>
          </p:cNvPr>
          <p:cNvSpPr/>
          <p:nvPr/>
        </p:nvSpPr>
        <p:spPr>
          <a:xfrm>
            <a:off x="2743317"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7</a:t>
            </a:r>
          </a:p>
        </p:txBody>
      </p:sp>
      <p:sp>
        <p:nvSpPr>
          <p:cNvPr id="18" name="Овал 17">
            <a:extLst>
              <a:ext uri="{FF2B5EF4-FFF2-40B4-BE49-F238E27FC236}">
                <a16:creationId xmlns:a16="http://schemas.microsoft.com/office/drawing/2014/main" id="{5BB733BB-0957-42A1-A2C0-436A69E9E761}"/>
              </a:ext>
            </a:extLst>
          </p:cNvPr>
          <p:cNvSpPr/>
          <p:nvPr/>
        </p:nvSpPr>
        <p:spPr>
          <a:xfrm>
            <a:off x="950379"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9</a:t>
            </a:r>
          </a:p>
        </p:txBody>
      </p:sp>
      <p:sp>
        <p:nvSpPr>
          <p:cNvPr id="19" name="Овал 18">
            <a:extLst>
              <a:ext uri="{FF2B5EF4-FFF2-40B4-BE49-F238E27FC236}">
                <a16:creationId xmlns:a16="http://schemas.microsoft.com/office/drawing/2014/main" id="{F9EE9E2F-D33E-4C9A-91E4-41288BDB5879}"/>
              </a:ext>
            </a:extLst>
          </p:cNvPr>
          <p:cNvSpPr/>
          <p:nvPr/>
        </p:nvSpPr>
        <p:spPr>
          <a:xfrm>
            <a:off x="1846848" y="3001350"/>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12</a:t>
            </a:r>
          </a:p>
        </p:txBody>
      </p:sp>
      <p:sp>
        <p:nvSpPr>
          <p:cNvPr id="20" name="Овал 19">
            <a:extLst>
              <a:ext uri="{FF2B5EF4-FFF2-40B4-BE49-F238E27FC236}">
                <a16:creationId xmlns:a16="http://schemas.microsoft.com/office/drawing/2014/main" id="{D82F53C0-E4E9-4B8F-A576-D1412C76F432}"/>
              </a:ext>
            </a:extLst>
          </p:cNvPr>
          <p:cNvSpPr/>
          <p:nvPr/>
        </p:nvSpPr>
        <p:spPr>
          <a:xfrm>
            <a:off x="2743317"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10</a:t>
            </a:r>
          </a:p>
        </p:txBody>
      </p:sp>
      <p:sp>
        <p:nvSpPr>
          <p:cNvPr id="21" name="Овал 20">
            <a:extLst>
              <a:ext uri="{FF2B5EF4-FFF2-40B4-BE49-F238E27FC236}">
                <a16:creationId xmlns:a16="http://schemas.microsoft.com/office/drawing/2014/main" id="{68F7A77F-8BFD-4027-880B-30F8D0CE3F70}"/>
              </a:ext>
            </a:extLst>
          </p:cNvPr>
          <p:cNvSpPr/>
          <p:nvPr/>
        </p:nvSpPr>
        <p:spPr>
          <a:xfrm>
            <a:off x="3590621"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20</a:t>
            </a:r>
          </a:p>
        </p:txBody>
      </p:sp>
      <p:cxnSp>
        <p:nvCxnSpPr>
          <p:cNvPr id="23" name="Прямая со стрелкой 22">
            <a:extLst>
              <a:ext uri="{FF2B5EF4-FFF2-40B4-BE49-F238E27FC236}">
                <a16:creationId xmlns:a16="http://schemas.microsoft.com/office/drawing/2014/main" id="{A6AFCD1C-FA76-4487-A231-CCD6DBA9DABC}"/>
              </a:ext>
            </a:extLst>
          </p:cNvPr>
          <p:cNvCxnSpPr>
            <a:cxnSpLocks/>
            <a:stCxn id="13" idx="3"/>
            <a:endCxn id="18" idx="0"/>
          </p:cNvCxnSpPr>
          <p:nvPr/>
        </p:nvCxnSpPr>
        <p:spPr>
          <a:xfrm flipH="1">
            <a:off x="1249202" y="2572804"/>
            <a:ext cx="386346" cy="44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a:extLst>
              <a:ext uri="{FF2B5EF4-FFF2-40B4-BE49-F238E27FC236}">
                <a16:creationId xmlns:a16="http://schemas.microsoft.com/office/drawing/2014/main" id="{7E145C5E-4065-463D-A7CB-BF7130E1BC4B}"/>
              </a:ext>
            </a:extLst>
          </p:cNvPr>
          <p:cNvCxnSpPr>
            <a:stCxn id="13" idx="5"/>
            <a:endCxn id="19" idx="0"/>
          </p:cNvCxnSpPr>
          <p:nvPr/>
        </p:nvCxnSpPr>
        <p:spPr>
          <a:xfrm>
            <a:off x="2058148" y="2572804"/>
            <a:ext cx="87523" cy="428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A5866760-764B-4290-AAC6-72D7FA620652}"/>
              </a:ext>
            </a:extLst>
          </p:cNvPr>
          <p:cNvCxnSpPr>
            <a:cxnSpLocks/>
            <a:stCxn id="12" idx="2"/>
            <a:endCxn id="13" idx="0"/>
          </p:cNvCxnSpPr>
          <p:nvPr/>
        </p:nvCxnSpPr>
        <p:spPr>
          <a:xfrm flipH="1">
            <a:off x="1846848"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28">
            <a:extLst>
              <a:ext uri="{FF2B5EF4-FFF2-40B4-BE49-F238E27FC236}">
                <a16:creationId xmlns:a16="http://schemas.microsoft.com/office/drawing/2014/main" id="{C2CA8A04-A034-43D7-8D58-B2725315732A}"/>
              </a:ext>
            </a:extLst>
          </p:cNvPr>
          <p:cNvCxnSpPr>
            <a:cxnSpLocks/>
            <a:stCxn id="12" idx="6"/>
            <a:endCxn id="14" idx="0"/>
          </p:cNvCxnSpPr>
          <p:nvPr/>
        </p:nvCxnSpPr>
        <p:spPr>
          <a:xfrm>
            <a:off x="2743317"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a:extLst>
              <a:ext uri="{FF2B5EF4-FFF2-40B4-BE49-F238E27FC236}">
                <a16:creationId xmlns:a16="http://schemas.microsoft.com/office/drawing/2014/main" id="{FA1D2765-64DD-42B9-A743-8679586E130C}"/>
              </a:ext>
            </a:extLst>
          </p:cNvPr>
          <p:cNvCxnSpPr>
            <a:cxnSpLocks/>
            <a:stCxn id="14" idx="4"/>
            <a:endCxn id="20" idx="0"/>
          </p:cNvCxnSpPr>
          <p:nvPr/>
        </p:nvCxnSpPr>
        <p:spPr>
          <a:xfrm>
            <a:off x="3042140" y="2660327"/>
            <a:ext cx="0" cy="35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a:extLst>
              <a:ext uri="{FF2B5EF4-FFF2-40B4-BE49-F238E27FC236}">
                <a16:creationId xmlns:a16="http://schemas.microsoft.com/office/drawing/2014/main" id="{BB9589FA-5E1A-4ADD-AD65-A1EBEDA439D2}"/>
              </a:ext>
            </a:extLst>
          </p:cNvPr>
          <p:cNvCxnSpPr>
            <a:cxnSpLocks/>
            <a:stCxn id="14" idx="6"/>
            <a:endCxn id="21" idx="0"/>
          </p:cNvCxnSpPr>
          <p:nvPr/>
        </p:nvCxnSpPr>
        <p:spPr>
          <a:xfrm>
            <a:off x="3340963" y="2361504"/>
            <a:ext cx="548481" cy="657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93DC583-B2CC-42BF-81F5-478B4573D039}"/>
              </a:ext>
            </a:extLst>
          </p:cNvPr>
          <p:cNvSpPr txBox="1"/>
          <p:nvPr/>
        </p:nvSpPr>
        <p:spPr bwMode="auto">
          <a:xfrm>
            <a:off x="950379" y="4962972"/>
            <a:ext cx="4318503" cy="338554"/>
          </a:xfrm>
          <a:prstGeom prst="rect">
            <a:avLst/>
          </a:prstGeom>
        </p:spPr>
        <p:txBody>
          <a:bodyPr wrap="square" rtlCol="0">
            <a:spAutoFit/>
          </a:bodyPr>
          <a:lstStyle/>
          <a:p>
            <a:r>
              <a:rPr lang="ru-RU" sz="1600" dirty="0"/>
              <a:t>0    1      2     3       4          5         6</a:t>
            </a:r>
            <a:endParaRPr lang="ru-RU" sz="1100" dirty="0"/>
          </a:p>
        </p:txBody>
      </p:sp>
      <p:sp>
        <p:nvSpPr>
          <p:cNvPr id="45" name="Прямоугольник 44">
            <a:extLst>
              <a:ext uri="{FF2B5EF4-FFF2-40B4-BE49-F238E27FC236}">
                <a16:creationId xmlns:a16="http://schemas.microsoft.com/office/drawing/2014/main" id="{AC0A55CC-1B20-4615-A673-5AA81ECE4AB5}"/>
              </a:ext>
            </a:extLst>
          </p:cNvPr>
          <p:cNvSpPr/>
          <p:nvPr/>
        </p:nvSpPr>
        <p:spPr>
          <a:xfrm>
            <a:off x="5306300" y="2787077"/>
            <a:ext cx="5562741" cy="523220"/>
          </a:xfrm>
          <a:prstGeom prst="rect">
            <a:avLst/>
          </a:prstGeom>
        </p:spPr>
        <p:txBody>
          <a:bodyPr wrap="none">
            <a:spAutoFit/>
          </a:bodyPr>
          <a:lstStyle/>
          <a:p>
            <a:r>
              <a:rPr lang="ru-RU" sz="2800" dirty="0"/>
              <a:t>Шаг 1. Добавляем элемент в конец</a:t>
            </a:r>
          </a:p>
        </p:txBody>
      </p:sp>
      <p:sp>
        <p:nvSpPr>
          <p:cNvPr id="46" name="Овал 45">
            <a:extLst>
              <a:ext uri="{FF2B5EF4-FFF2-40B4-BE49-F238E27FC236}">
                <a16:creationId xmlns:a16="http://schemas.microsoft.com/office/drawing/2014/main" id="{DADA48B9-71CB-45AB-98D5-B04084ED68FF}"/>
              </a:ext>
            </a:extLst>
          </p:cNvPr>
          <p:cNvSpPr/>
          <p:nvPr/>
        </p:nvSpPr>
        <p:spPr>
          <a:xfrm>
            <a:off x="651556" y="3852615"/>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b="1" dirty="0">
                <a:solidFill>
                  <a:srgbClr val="FF0000"/>
                </a:solidFill>
              </a:rPr>
              <a:t>3</a:t>
            </a:r>
          </a:p>
        </p:txBody>
      </p:sp>
      <p:cxnSp>
        <p:nvCxnSpPr>
          <p:cNvPr id="47" name="Прямая со стрелкой 46">
            <a:extLst>
              <a:ext uri="{FF2B5EF4-FFF2-40B4-BE49-F238E27FC236}">
                <a16:creationId xmlns:a16="http://schemas.microsoft.com/office/drawing/2014/main" id="{0A7E65FA-C635-445C-8F8E-53573B22AF3E}"/>
              </a:ext>
            </a:extLst>
          </p:cNvPr>
          <p:cNvCxnSpPr>
            <a:endCxn id="46" idx="0"/>
          </p:cNvCxnSpPr>
          <p:nvPr/>
        </p:nvCxnSpPr>
        <p:spPr>
          <a:xfrm flipH="1">
            <a:off x="950379" y="3529361"/>
            <a:ext cx="87523" cy="323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2566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87F930-3175-4A30-A65D-DDC7A0147A4D}"/>
              </a:ext>
            </a:extLst>
          </p:cNvPr>
          <p:cNvSpPr>
            <a:spLocks noGrp="1"/>
          </p:cNvSpPr>
          <p:nvPr>
            <p:ph type="title"/>
          </p:nvPr>
        </p:nvSpPr>
        <p:spPr/>
        <p:txBody>
          <a:bodyPr/>
          <a:lstStyle/>
          <a:p>
            <a:r>
              <a:rPr lang="ru-RU" dirty="0"/>
              <a:t>Вставка: как сохранить свойство кучи</a:t>
            </a:r>
          </a:p>
        </p:txBody>
      </p:sp>
      <p:sp>
        <p:nvSpPr>
          <p:cNvPr id="7" name="Текст 6">
            <a:extLst>
              <a:ext uri="{FF2B5EF4-FFF2-40B4-BE49-F238E27FC236}">
                <a16:creationId xmlns:a16="http://schemas.microsoft.com/office/drawing/2014/main" id="{26B63555-D803-4DE5-9A24-1C592207C182}"/>
              </a:ext>
            </a:extLst>
          </p:cNvPr>
          <p:cNvSpPr>
            <a:spLocks noGrp="1"/>
          </p:cNvSpPr>
          <p:nvPr>
            <p:ph type="body" sz="quarter" idx="19"/>
          </p:nvPr>
        </p:nvSpPr>
        <p:spPr/>
        <p:txBody>
          <a:bodyPr/>
          <a:lstStyle/>
          <a:p>
            <a:endParaRPr lang="ru-RU"/>
          </a:p>
        </p:txBody>
      </p:sp>
      <p:sp>
        <p:nvSpPr>
          <p:cNvPr id="11" name="TextBox 10">
            <a:extLst>
              <a:ext uri="{FF2B5EF4-FFF2-40B4-BE49-F238E27FC236}">
                <a16:creationId xmlns:a16="http://schemas.microsoft.com/office/drawing/2014/main" id="{79E36811-45DA-4EC6-969A-7AA21BEDE56E}"/>
              </a:ext>
            </a:extLst>
          </p:cNvPr>
          <p:cNvSpPr txBox="1"/>
          <p:nvPr/>
        </p:nvSpPr>
        <p:spPr bwMode="auto">
          <a:xfrm>
            <a:off x="733476" y="5283638"/>
            <a:ext cx="4318503" cy="523220"/>
          </a:xfrm>
          <a:prstGeom prst="rect">
            <a:avLst/>
          </a:prstGeom>
        </p:spPr>
        <p:txBody>
          <a:bodyPr wrap="square" rtlCol="0">
            <a:spAutoFit/>
          </a:bodyPr>
          <a:lstStyle/>
          <a:p>
            <a:r>
              <a:rPr lang="ru-RU" sz="2800" dirty="0"/>
              <a:t>[2, 5, 7, </a:t>
            </a:r>
            <a:r>
              <a:rPr lang="ru-RU" sz="2800" dirty="0">
                <a:solidFill>
                  <a:srgbClr val="00B0F0"/>
                </a:solidFill>
              </a:rPr>
              <a:t>9</a:t>
            </a:r>
            <a:r>
              <a:rPr lang="ru-RU" sz="2800" dirty="0"/>
              <a:t>, 12, 10, 20, </a:t>
            </a:r>
            <a:r>
              <a:rPr lang="ru-RU" sz="2800" dirty="0">
                <a:solidFill>
                  <a:srgbClr val="00B0F0"/>
                </a:solidFill>
              </a:rPr>
              <a:t>3</a:t>
            </a:r>
            <a:r>
              <a:rPr lang="ru-RU" sz="2800" dirty="0"/>
              <a:t>]</a:t>
            </a:r>
            <a:endParaRPr lang="ru-RU" dirty="0"/>
          </a:p>
        </p:txBody>
      </p:sp>
      <p:sp>
        <p:nvSpPr>
          <p:cNvPr id="12" name="Овал 11">
            <a:extLst>
              <a:ext uri="{FF2B5EF4-FFF2-40B4-BE49-F238E27FC236}">
                <a16:creationId xmlns:a16="http://schemas.microsoft.com/office/drawing/2014/main" id="{DBCB1B5A-759B-48F8-B5B6-2F4BB2554B1C}"/>
              </a:ext>
            </a:extLst>
          </p:cNvPr>
          <p:cNvSpPr/>
          <p:nvPr/>
        </p:nvSpPr>
        <p:spPr>
          <a:xfrm>
            <a:off x="2145671" y="1312752"/>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a:t>
            </a:r>
          </a:p>
        </p:txBody>
      </p:sp>
      <p:sp>
        <p:nvSpPr>
          <p:cNvPr id="13" name="Овал 12">
            <a:extLst>
              <a:ext uri="{FF2B5EF4-FFF2-40B4-BE49-F238E27FC236}">
                <a16:creationId xmlns:a16="http://schemas.microsoft.com/office/drawing/2014/main" id="{624CF009-4C70-44C3-A75C-E9948A88A64F}"/>
              </a:ext>
            </a:extLst>
          </p:cNvPr>
          <p:cNvSpPr/>
          <p:nvPr/>
        </p:nvSpPr>
        <p:spPr>
          <a:xfrm>
            <a:off x="1548025"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5</a:t>
            </a:r>
          </a:p>
        </p:txBody>
      </p:sp>
      <p:sp>
        <p:nvSpPr>
          <p:cNvPr id="14" name="Овал 13">
            <a:extLst>
              <a:ext uri="{FF2B5EF4-FFF2-40B4-BE49-F238E27FC236}">
                <a16:creationId xmlns:a16="http://schemas.microsoft.com/office/drawing/2014/main" id="{A11D3CB4-37EE-4B31-99B8-683DFE8A7170}"/>
              </a:ext>
            </a:extLst>
          </p:cNvPr>
          <p:cNvSpPr/>
          <p:nvPr/>
        </p:nvSpPr>
        <p:spPr>
          <a:xfrm>
            <a:off x="2743317"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7</a:t>
            </a:r>
          </a:p>
        </p:txBody>
      </p:sp>
      <p:sp>
        <p:nvSpPr>
          <p:cNvPr id="18" name="Овал 17">
            <a:extLst>
              <a:ext uri="{FF2B5EF4-FFF2-40B4-BE49-F238E27FC236}">
                <a16:creationId xmlns:a16="http://schemas.microsoft.com/office/drawing/2014/main" id="{5BB733BB-0957-42A1-A2C0-436A69E9E761}"/>
              </a:ext>
            </a:extLst>
          </p:cNvPr>
          <p:cNvSpPr/>
          <p:nvPr/>
        </p:nvSpPr>
        <p:spPr>
          <a:xfrm>
            <a:off x="950379"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rgbClr val="00B0F0"/>
                </a:solidFill>
              </a:rPr>
              <a:t>9</a:t>
            </a:r>
          </a:p>
        </p:txBody>
      </p:sp>
      <p:sp>
        <p:nvSpPr>
          <p:cNvPr id="19" name="Овал 18">
            <a:extLst>
              <a:ext uri="{FF2B5EF4-FFF2-40B4-BE49-F238E27FC236}">
                <a16:creationId xmlns:a16="http://schemas.microsoft.com/office/drawing/2014/main" id="{F9EE9E2F-D33E-4C9A-91E4-41288BDB5879}"/>
              </a:ext>
            </a:extLst>
          </p:cNvPr>
          <p:cNvSpPr/>
          <p:nvPr/>
        </p:nvSpPr>
        <p:spPr>
          <a:xfrm>
            <a:off x="1846848" y="3001350"/>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12</a:t>
            </a:r>
          </a:p>
        </p:txBody>
      </p:sp>
      <p:sp>
        <p:nvSpPr>
          <p:cNvPr id="20" name="Овал 19">
            <a:extLst>
              <a:ext uri="{FF2B5EF4-FFF2-40B4-BE49-F238E27FC236}">
                <a16:creationId xmlns:a16="http://schemas.microsoft.com/office/drawing/2014/main" id="{D82F53C0-E4E9-4B8F-A576-D1412C76F432}"/>
              </a:ext>
            </a:extLst>
          </p:cNvPr>
          <p:cNvSpPr/>
          <p:nvPr/>
        </p:nvSpPr>
        <p:spPr>
          <a:xfrm>
            <a:off x="2743317"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10</a:t>
            </a:r>
          </a:p>
        </p:txBody>
      </p:sp>
      <p:sp>
        <p:nvSpPr>
          <p:cNvPr id="21" name="Овал 20">
            <a:extLst>
              <a:ext uri="{FF2B5EF4-FFF2-40B4-BE49-F238E27FC236}">
                <a16:creationId xmlns:a16="http://schemas.microsoft.com/office/drawing/2014/main" id="{68F7A77F-8BFD-4027-880B-30F8D0CE3F70}"/>
              </a:ext>
            </a:extLst>
          </p:cNvPr>
          <p:cNvSpPr/>
          <p:nvPr/>
        </p:nvSpPr>
        <p:spPr>
          <a:xfrm>
            <a:off x="3590621"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20</a:t>
            </a:r>
          </a:p>
        </p:txBody>
      </p:sp>
      <p:cxnSp>
        <p:nvCxnSpPr>
          <p:cNvPr id="23" name="Прямая со стрелкой 22">
            <a:extLst>
              <a:ext uri="{FF2B5EF4-FFF2-40B4-BE49-F238E27FC236}">
                <a16:creationId xmlns:a16="http://schemas.microsoft.com/office/drawing/2014/main" id="{A6AFCD1C-FA76-4487-A231-CCD6DBA9DABC}"/>
              </a:ext>
            </a:extLst>
          </p:cNvPr>
          <p:cNvCxnSpPr>
            <a:cxnSpLocks/>
            <a:stCxn id="13" idx="3"/>
            <a:endCxn id="18" idx="0"/>
          </p:cNvCxnSpPr>
          <p:nvPr/>
        </p:nvCxnSpPr>
        <p:spPr>
          <a:xfrm flipH="1">
            <a:off x="1249202" y="2572804"/>
            <a:ext cx="386346" cy="44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a:extLst>
              <a:ext uri="{FF2B5EF4-FFF2-40B4-BE49-F238E27FC236}">
                <a16:creationId xmlns:a16="http://schemas.microsoft.com/office/drawing/2014/main" id="{7E145C5E-4065-463D-A7CB-BF7130E1BC4B}"/>
              </a:ext>
            </a:extLst>
          </p:cNvPr>
          <p:cNvCxnSpPr>
            <a:stCxn id="13" idx="5"/>
            <a:endCxn id="19" idx="0"/>
          </p:cNvCxnSpPr>
          <p:nvPr/>
        </p:nvCxnSpPr>
        <p:spPr>
          <a:xfrm>
            <a:off x="2058148" y="2572804"/>
            <a:ext cx="87523" cy="428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A5866760-764B-4290-AAC6-72D7FA620652}"/>
              </a:ext>
            </a:extLst>
          </p:cNvPr>
          <p:cNvCxnSpPr>
            <a:cxnSpLocks/>
            <a:stCxn id="12" idx="2"/>
            <a:endCxn id="13" idx="0"/>
          </p:cNvCxnSpPr>
          <p:nvPr/>
        </p:nvCxnSpPr>
        <p:spPr>
          <a:xfrm flipH="1">
            <a:off x="1846848"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28">
            <a:extLst>
              <a:ext uri="{FF2B5EF4-FFF2-40B4-BE49-F238E27FC236}">
                <a16:creationId xmlns:a16="http://schemas.microsoft.com/office/drawing/2014/main" id="{C2CA8A04-A034-43D7-8D58-B2725315732A}"/>
              </a:ext>
            </a:extLst>
          </p:cNvPr>
          <p:cNvCxnSpPr>
            <a:cxnSpLocks/>
            <a:stCxn id="12" idx="6"/>
            <a:endCxn id="14" idx="0"/>
          </p:cNvCxnSpPr>
          <p:nvPr/>
        </p:nvCxnSpPr>
        <p:spPr>
          <a:xfrm>
            <a:off x="2743317"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a:extLst>
              <a:ext uri="{FF2B5EF4-FFF2-40B4-BE49-F238E27FC236}">
                <a16:creationId xmlns:a16="http://schemas.microsoft.com/office/drawing/2014/main" id="{FA1D2765-64DD-42B9-A743-8679586E130C}"/>
              </a:ext>
            </a:extLst>
          </p:cNvPr>
          <p:cNvCxnSpPr>
            <a:cxnSpLocks/>
            <a:stCxn id="14" idx="4"/>
            <a:endCxn id="20" idx="0"/>
          </p:cNvCxnSpPr>
          <p:nvPr/>
        </p:nvCxnSpPr>
        <p:spPr>
          <a:xfrm>
            <a:off x="3042140" y="2660327"/>
            <a:ext cx="0" cy="35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a:extLst>
              <a:ext uri="{FF2B5EF4-FFF2-40B4-BE49-F238E27FC236}">
                <a16:creationId xmlns:a16="http://schemas.microsoft.com/office/drawing/2014/main" id="{BB9589FA-5E1A-4ADD-AD65-A1EBEDA439D2}"/>
              </a:ext>
            </a:extLst>
          </p:cNvPr>
          <p:cNvCxnSpPr>
            <a:cxnSpLocks/>
            <a:stCxn id="14" idx="6"/>
            <a:endCxn id="21" idx="0"/>
          </p:cNvCxnSpPr>
          <p:nvPr/>
        </p:nvCxnSpPr>
        <p:spPr>
          <a:xfrm>
            <a:off x="3340963" y="2361504"/>
            <a:ext cx="548481" cy="657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Овал 21">
            <a:extLst>
              <a:ext uri="{FF2B5EF4-FFF2-40B4-BE49-F238E27FC236}">
                <a16:creationId xmlns:a16="http://schemas.microsoft.com/office/drawing/2014/main" id="{EF73E9FC-BE1D-4348-8FDB-5AF6C2EEE144}"/>
              </a:ext>
            </a:extLst>
          </p:cNvPr>
          <p:cNvSpPr/>
          <p:nvPr/>
        </p:nvSpPr>
        <p:spPr>
          <a:xfrm>
            <a:off x="651556" y="3852615"/>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b="1" dirty="0">
                <a:solidFill>
                  <a:srgbClr val="00B0F0"/>
                </a:solidFill>
              </a:rPr>
              <a:t>3</a:t>
            </a:r>
          </a:p>
        </p:txBody>
      </p:sp>
      <p:cxnSp>
        <p:nvCxnSpPr>
          <p:cNvPr id="4" name="Прямая со стрелкой 3">
            <a:extLst>
              <a:ext uri="{FF2B5EF4-FFF2-40B4-BE49-F238E27FC236}">
                <a16:creationId xmlns:a16="http://schemas.microsoft.com/office/drawing/2014/main" id="{4F30B875-76AD-446D-AC2F-0396500D1ADF}"/>
              </a:ext>
            </a:extLst>
          </p:cNvPr>
          <p:cNvCxnSpPr>
            <a:stCxn id="18" idx="3"/>
            <a:endCxn id="22" idx="0"/>
          </p:cNvCxnSpPr>
          <p:nvPr/>
        </p:nvCxnSpPr>
        <p:spPr>
          <a:xfrm flipH="1">
            <a:off x="950379" y="3529361"/>
            <a:ext cx="87523" cy="323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8FEDB35-A567-4BFC-9EC7-8FC0C36F87BF}"/>
              </a:ext>
            </a:extLst>
          </p:cNvPr>
          <p:cNvSpPr txBox="1"/>
          <p:nvPr/>
        </p:nvSpPr>
        <p:spPr bwMode="auto">
          <a:xfrm>
            <a:off x="950379" y="4962972"/>
            <a:ext cx="4318503" cy="338554"/>
          </a:xfrm>
          <a:prstGeom prst="rect">
            <a:avLst/>
          </a:prstGeom>
        </p:spPr>
        <p:txBody>
          <a:bodyPr wrap="square" rtlCol="0">
            <a:spAutoFit/>
          </a:bodyPr>
          <a:lstStyle/>
          <a:p>
            <a:r>
              <a:rPr lang="ru-RU" sz="1600" dirty="0"/>
              <a:t>0    1      2     3       4          5         6       7</a:t>
            </a:r>
            <a:endParaRPr lang="ru-RU" sz="1100" dirty="0"/>
          </a:p>
        </p:txBody>
      </p:sp>
      <p:sp>
        <p:nvSpPr>
          <p:cNvPr id="5" name="Прямоугольник 4">
            <a:extLst>
              <a:ext uri="{FF2B5EF4-FFF2-40B4-BE49-F238E27FC236}">
                <a16:creationId xmlns:a16="http://schemas.microsoft.com/office/drawing/2014/main" id="{3048B0C8-B932-43EB-A5EF-C8833F88454C}"/>
              </a:ext>
            </a:extLst>
          </p:cNvPr>
          <p:cNvSpPr/>
          <p:nvPr/>
        </p:nvSpPr>
        <p:spPr>
          <a:xfrm>
            <a:off x="4475316" y="5369526"/>
            <a:ext cx="3950120" cy="369332"/>
          </a:xfrm>
          <a:prstGeom prst="rect">
            <a:avLst/>
          </a:prstGeom>
        </p:spPr>
        <p:txBody>
          <a:bodyPr wrap="none">
            <a:spAutoFit/>
          </a:bodyPr>
          <a:lstStyle/>
          <a:p>
            <a:r>
              <a:rPr lang="ru-RU" dirty="0"/>
              <a:t>Родительский элемент = </a:t>
            </a:r>
            <a:r>
              <a:rPr lang="en-US" dirty="0"/>
              <a:t>(</a:t>
            </a:r>
            <a:r>
              <a:rPr lang="ru-RU" dirty="0"/>
              <a:t>7</a:t>
            </a:r>
            <a:r>
              <a:rPr lang="en-US" dirty="0"/>
              <a:t> - 1) // 2 = 3</a:t>
            </a:r>
            <a:endParaRPr lang="ru-RU" dirty="0"/>
          </a:p>
        </p:txBody>
      </p:sp>
      <p:sp>
        <p:nvSpPr>
          <p:cNvPr id="27" name="Прямоугольник 26">
            <a:extLst>
              <a:ext uri="{FF2B5EF4-FFF2-40B4-BE49-F238E27FC236}">
                <a16:creationId xmlns:a16="http://schemas.microsoft.com/office/drawing/2014/main" id="{1BC162A5-8468-4122-82AE-DFFB3FF63099}"/>
              </a:ext>
            </a:extLst>
          </p:cNvPr>
          <p:cNvSpPr/>
          <p:nvPr/>
        </p:nvSpPr>
        <p:spPr>
          <a:xfrm>
            <a:off x="5306300" y="2787077"/>
            <a:ext cx="6694461" cy="523220"/>
          </a:xfrm>
          <a:prstGeom prst="rect">
            <a:avLst/>
          </a:prstGeom>
        </p:spPr>
        <p:txBody>
          <a:bodyPr wrap="none">
            <a:spAutoFit/>
          </a:bodyPr>
          <a:lstStyle/>
          <a:p>
            <a:r>
              <a:rPr lang="ru-RU" sz="2800" dirty="0"/>
              <a:t>Шаг 2. Находим связанную позицию выше</a:t>
            </a:r>
          </a:p>
        </p:txBody>
      </p:sp>
    </p:spTree>
    <p:extLst>
      <p:ext uri="{BB962C8B-B14F-4D97-AF65-F5344CB8AC3E}">
        <p14:creationId xmlns:p14="http://schemas.microsoft.com/office/powerpoint/2010/main" val="35900337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87F930-3175-4A30-A65D-DDC7A0147A4D}"/>
              </a:ext>
            </a:extLst>
          </p:cNvPr>
          <p:cNvSpPr>
            <a:spLocks noGrp="1"/>
          </p:cNvSpPr>
          <p:nvPr>
            <p:ph type="title"/>
          </p:nvPr>
        </p:nvSpPr>
        <p:spPr/>
        <p:txBody>
          <a:bodyPr/>
          <a:lstStyle/>
          <a:p>
            <a:r>
              <a:rPr lang="ru-RU" dirty="0"/>
              <a:t>Вставка: как сохранить свойство кучи</a:t>
            </a:r>
          </a:p>
        </p:txBody>
      </p:sp>
      <p:sp>
        <p:nvSpPr>
          <p:cNvPr id="7" name="Текст 6">
            <a:extLst>
              <a:ext uri="{FF2B5EF4-FFF2-40B4-BE49-F238E27FC236}">
                <a16:creationId xmlns:a16="http://schemas.microsoft.com/office/drawing/2014/main" id="{26B63555-D803-4DE5-9A24-1C592207C182}"/>
              </a:ext>
            </a:extLst>
          </p:cNvPr>
          <p:cNvSpPr>
            <a:spLocks noGrp="1"/>
          </p:cNvSpPr>
          <p:nvPr>
            <p:ph type="body" sz="quarter" idx="19"/>
          </p:nvPr>
        </p:nvSpPr>
        <p:spPr/>
        <p:txBody>
          <a:bodyPr/>
          <a:lstStyle/>
          <a:p>
            <a:endParaRPr lang="ru-RU"/>
          </a:p>
        </p:txBody>
      </p:sp>
      <p:sp>
        <p:nvSpPr>
          <p:cNvPr id="11" name="TextBox 10">
            <a:extLst>
              <a:ext uri="{FF2B5EF4-FFF2-40B4-BE49-F238E27FC236}">
                <a16:creationId xmlns:a16="http://schemas.microsoft.com/office/drawing/2014/main" id="{79E36811-45DA-4EC6-969A-7AA21BEDE56E}"/>
              </a:ext>
            </a:extLst>
          </p:cNvPr>
          <p:cNvSpPr txBox="1"/>
          <p:nvPr/>
        </p:nvSpPr>
        <p:spPr bwMode="auto">
          <a:xfrm>
            <a:off x="733476" y="5283638"/>
            <a:ext cx="4318503" cy="523220"/>
          </a:xfrm>
          <a:prstGeom prst="rect">
            <a:avLst/>
          </a:prstGeom>
        </p:spPr>
        <p:txBody>
          <a:bodyPr wrap="square" rtlCol="0">
            <a:spAutoFit/>
          </a:bodyPr>
          <a:lstStyle/>
          <a:p>
            <a:r>
              <a:rPr lang="ru-RU" sz="2800" dirty="0"/>
              <a:t>[2, </a:t>
            </a:r>
            <a:r>
              <a:rPr lang="ru-RU" sz="2800" dirty="0">
                <a:solidFill>
                  <a:srgbClr val="00B0F0"/>
                </a:solidFill>
              </a:rPr>
              <a:t>5</a:t>
            </a:r>
            <a:r>
              <a:rPr lang="ru-RU" sz="2800" dirty="0"/>
              <a:t>, 7, </a:t>
            </a:r>
            <a:r>
              <a:rPr lang="ru-RU" sz="2800" dirty="0">
                <a:solidFill>
                  <a:srgbClr val="00B0F0"/>
                </a:solidFill>
              </a:rPr>
              <a:t>3</a:t>
            </a:r>
            <a:r>
              <a:rPr lang="ru-RU" sz="2800" dirty="0"/>
              <a:t>, 12, 10, 20, 9]</a:t>
            </a:r>
            <a:endParaRPr lang="ru-RU" dirty="0"/>
          </a:p>
        </p:txBody>
      </p:sp>
      <p:sp>
        <p:nvSpPr>
          <p:cNvPr id="12" name="Овал 11">
            <a:extLst>
              <a:ext uri="{FF2B5EF4-FFF2-40B4-BE49-F238E27FC236}">
                <a16:creationId xmlns:a16="http://schemas.microsoft.com/office/drawing/2014/main" id="{DBCB1B5A-759B-48F8-B5B6-2F4BB2554B1C}"/>
              </a:ext>
            </a:extLst>
          </p:cNvPr>
          <p:cNvSpPr/>
          <p:nvPr/>
        </p:nvSpPr>
        <p:spPr>
          <a:xfrm>
            <a:off x="2145671" y="1312752"/>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a:t>
            </a:r>
          </a:p>
        </p:txBody>
      </p:sp>
      <p:sp>
        <p:nvSpPr>
          <p:cNvPr id="13" name="Овал 12">
            <a:extLst>
              <a:ext uri="{FF2B5EF4-FFF2-40B4-BE49-F238E27FC236}">
                <a16:creationId xmlns:a16="http://schemas.microsoft.com/office/drawing/2014/main" id="{624CF009-4C70-44C3-A75C-E9948A88A64F}"/>
              </a:ext>
            </a:extLst>
          </p:cNvPr>
          <p:cNvSpPr/>
          <p:nvPr/>
        </p:nvSpPr>
        <p:spPr>
          <a:xfrm>
            <a:off x="1548025"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rgbClr val="00B0F0"/>
                </a:solidFill>
              </a:rPr>
              <a:t>5</a:t>
            </a:r>
          </a:p>
        </p:txBody>
      </p:sp>
      <p:sp>
        <p:nvSpPr>
          <p:cNvPr id="14" name="Овал 13">
            <a:extLst>
              <a:ext uri="{FF2B5EF4-FFF2-40B4-BE49-F238E27FC236}">
                <a16:creationId xmlns:a16="http://schemas.microsoft.com/office/drawing/2014/main" id="{A11D3CB4-37EE-4B31-99B8-683DFE8A7170}"/>
              </a:ext>
            </a:extLst>
          </p:cNvPr>
          <p:cNvSpPr/>
          <p:nvPr/>
        </p:nvSpPr>
        <p:spPr>
          <a:xfrm>
            <a:off x="2743317"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7</a:t>
            </a:r>
          </a:p>
        </p:txBody>
      </p:sp>
      <p:sp>
        <p:nvSpPr>
          <p:cNvPr id="18" name="Овал 17">
            <a:extLst>
              <a:ext uri="{FF2B5EF4-FFF2-40B4-BE49-F238E27FC236}">
                <a16:creationId xmlns:a16="http://schemas.microsoft.com/office/drawing/2014/main" id="{5BB733BB-0957-42A1-A2C0-436A69E9E761}"/>
              </a:ext>
            </a:extLst>
          </p:cNvPr>
          <p:cNvSpPr/>
          <p:nvPr/>
        </p:nvSpPr>
        <p:spPr>
          <a:xfrm>
            <a:off x="950379"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rgbClr val="00B0F0"/>
                </a:solidFill>
              </a:rPr>
              <a:t>3</a:t>
            </a:r>
          </a:p>
        </p:txBody>
      </p:sp>
      <p:sp>
        <p:nvSpPr>
          <p:cNvPr id="19" name="Овал 18">
            <a:extLst>
              <a:ext uri="{FF2B5EF4-FFF2-40B4-BE49-F238E27FC236}">
                <a16:creationId xmlns:a16="http://schemas.microsoft.com/office/drawing/2014/main" id="{F9EE9E2F-D33E-4C9A-91E4-41288BDB5879}"/>
              </a:ext>
            </a:extLst>
          </p:cNvPr>
          <p:cNvSpPr/>
          <p:nvPr/>
        </p:nvSpPr>
        <p:spPr>
          <a:xfrm>
            <a:off x="1846848" y="3001350"/>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12</a:t>
            </a:r>
          </a:p>
        </p:txBody>
      </p:sp>
      <p:sp>
        <p:nvSpPr>
          <p:cNvPr id="20" name="Овал 19">
            <a:extLst>
              <a:ext uri="{FF2B5EF4-FFF2-40B4-BE49-F238E27FC236}">
                <a16:creationId xmlns:a16="http://schemas.microsoft.com/office/drawing/2014/main" id="{D82F53C0-E4E9-4B8F-A576-D1412C76F432}"/>
              </a:ext>
            </a:extLst>
          </p:cNvPr>
          <p:cNvSpPr/>
          <p:nvPr/>
        </p:nvSpPr>
        <p:spPr>
          <a:xfrm>
            <a:off x="2743317"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10</a:t>
            </a:r>
          </a:p>
        </p:txBody>
      </p:sp>
      <p:sp>
        <p:nvSpPr>
          <p:cNvPr id="21" name="Овал 20">
            <a:extLst>
              <a:ext uri="{FF2B5EF4-FFF2-40B4-BE49-F238E27FC236}">
                <a16:creationId xmlns:a16="http://schemas.microsoft.com/office/drawing/2014/main" id="{68F7A77F-8BFD-4027-880B-30F8D0CE3F70}"/>
              </a:ext>
            </a:extLst>
          </p:cNvPr>
          <p:cNvSpPr/>
          <p:nvPr/>
        </p:nvSpPr>
        <p:spPr>
          <a:xfrm>
            <a:off x="3590621"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20</a:t>
            </a:r>
          </a:p>
        </p:txBody>
      </p:sp>
      <p:cxnSp>
        <p:nvCxnSpPr>
          <p:cNvPr id="23" name="Прямая со стрелкой 22">
            <a:extLst>
              <a:ext uri="{FF2B5EF4-FFF2-40B4-BE49-F238E27FC236}">
                <a16:creationId xmlns:a16="http://schemas.microsoft.com/office/drawing/2014/main" id="{A6AFCD1C-FA76-4487-A231-CCD6DBA9DABC}"/>
              </a:ext>
            </a:extLst>
          </p:cNvPr>
          <p:cNvCxnSpPr>
            <a:cxnSpLocks/>
            <a:stCxn id="13" idx="3"/>
            <a:endCxn id="18" idx="0"/>
          </p:cNvCxnSpPr>
          <p:nvPr/>
        </p:nvCxnSpPr>
        <p:spPr>
          <a:xfrm flipH="1">
            <a:off x="1249202" y="2572804"/>
            <a:ext cx="386346" cy="44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a:extLst>
              <a:ext uri="{FF2B5EF4-FFF2-40B4-BE49-F238E27FC236}">
                <a16:creationId xmlns:a16="http://schemas.microsoft.com/office/drawing/2014/main" id="{7E145C5E-4065-463D-A7CB-BF7130E1BC4B}"/>
              </a:ext>
            </a:extLst>
          </p:cNvPr>
          <p:cNvCxnSpPr>
            <a:stCxn id="13" idx="5"/>
            <a:endCxn id="19" idx="0"/>
          </p:cNvCxnSpPr>
          <p:nvPr/>
        </p:nvCxnSpPr>
        <p:spPr>
          <a:xfrm>
            <a:off x="2058148" y="2572804"/>
            <a:ext cx="87523" cy="428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A5866760-764B-4290-AAC6-72D7FA620652}"/>
              </a:ext>
            </a:extLst>
          </p:cNvPr>
          <p:cNvCxnSpPr>
            <a:cxnSpLocks/>
            <a:stCxn id="12" idx="2"/>
            <a:endCxn id="13" idx="0"/>
          </p:cNvCxnSpPr>
          <p:nvPr/>
        </p:nvCxnSpPr>
        <p:spPr>
          <a:xfrm flipH="1">
            <a:off x="1846848"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28">
            <a:extLst>
              <a:ext uri="{FF2B5EF4-FFF2-40B4-BE49-F238E27FC236}">
                <a16:creationId xmlns:a16="http://schemas.microsoft.com/office/drawing/2014/main" id="{C2CA8A04-A034-43D7-8D58-B2725315732A}"/>
              </a:ext>
            </a:extLst>
          </p:cNvPr>
          <p:cNvCxnSpPr>
            <a:cxnSpLocks/>
            <a:stCxn id="12" idx="6"/>
            <a:endCxn id="14" idx="0"/>
          </p:cNvCxnSpPr>
          <p:nvPr/>
        </p:nvCxnSpPr>
        <p:spPr>
          <a:xfrm>
            <a:off x="2743317"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a:extLst>
              <a:ext uri="{FF2B5EF4-FFF2-40B4-BE49-F238E27FC236}">
                <a16:creationId xmlns:a16="http://schemas.microsoft.com/office/drawing/2014/main" id="{FA1D2765-64DD-42B9-A743-8679586E130C}"/>
              </a:ext>
            </a:extLst>
          </p:cNvPr>
          <p:cNvCxnSpPr>
            <a:cxnSpLocks/>
            <a:stCxn id="14" idx="4"/>
            <a:endCxn id="20" idx="0"/>
          </p:cNvCxnSpPr>
          <p:nvPr/>
        </p:nvCxnSpPr>
        <p:spPr>
          <a:xfrm>
            <a:off x="3042140" y="2660327"/>
            <a:ext cx="0" cy="35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a:extLst>
              <a:ext uri="{FF2B5EF4-FFF2-40B4-BE49-F238E27FC236}">
                <a16:creationId xmlns:a16="http://schemas.microsoft.com/office/drawing/2014/main" id="{BB9589FA-5E1A-4ADD-AD65-A1EBEDA439D2}"/>
              </a:ext>
            </a:extLst>
          </p:cNvPr>
          <p:cNvCxnSpPr>
            <a:cxnSpLocks/>
            <a:stCxn id="14" idx="6"/>
            <a:endCxn id="21" idx="0"/>
          </p:cNvCxnSpPr>
          <p:nvPr/>
        </p:nvCxnSpPr>
        <p:spPr>
          <a:xfrm>
            <a:off x="3340963" y="2361504"/>
            <a:ext cx="548481" cy="657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Овал 21">
            <a:extLst>
              <a:ext uri="{FF2B5EF4-FFF2-40B4-BE49-F238E27FC236}">
                <a16:creationId xmlns:a16="http://schemas.microsoft.com/office/drawing/2014/main" id="{EF73E9FC-BE1D-4348-8FDB-5AF6C2EEE144}"/>
              </a:ext>
            </a:extLst>
          </p:cNvPr>
          <p:cNvSpPr/>
          <p:nvPr/>
        </p:nvSpPr>
        <p:spPr>
          <a:xfrm>
            <a:off x="651556" y="3852615"/>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9</a:t>
            </a:r>
          </a:p>
        </p:txBody>
      </p:sp>
      <p:cxnSp>
        <p:nvCxnSpPr>
          <p:cNvPr id="4" name="Прямая со стрелкой 3">
            <a:extLst>
              <a:ext uri="{FF2B5EF4-FFF2-40B4-BE49-F238E27FC236}">
                <a16:creationId xmlns:a16="http://schemas.microsoft.com/office/drawing/2014/main" id="{4F30B875-76AD-446D-AC2F-0396500D1ADF}"/>
              </a:ext>
            </a:extLst>
          </p:cNvPr>
          <p:cNvCxnSpPr>
            <a:stCxn id="18" idx="3"/>
            <a:endCxn id="22" idx="0"/>
          </p:cNvCxnSpPr>
          <p:nvPr/>
        </p:nvCxnSpPr>
        <p:spPr>
          <a:xfrm flipH="1">
            <a:off x="950379" y="3529361"/>
            <a:ext cx="87523" cy="323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1862B554-7221-4CF9-96AD-756DADAB12CC}"/>
              </a:ext>
            </a:extLst>
          </p:cNvPr>
          <p:cNvSpPr txBox="1"/>
          <p:nvPr/>
        </p:nvSpPr>
        <p:spPr bwMode="auto">
          <a:xfrm>
            <a:off x="950379" y="4962972"/>
            <a:ext cx="4318503" cy="338554"/>
          </a:xfrm>
          <a:prstGeom prst="rect">
            <a:avLst/>
          </a:prstGeom>
        </p:spPr>
        <p:txBody>
          <a:bodyPr wrap="square" rtlCol="0">
            <a:spAutoFit/>
          </a:bodyPr>
          <a:lstStyle/>
          <a:p>
            <a:r>
              <a:rPr lang="ru-RU" sz="1600" dirty="0"/>
              <a:t>0    1      2     3       4          5         6       7</a:t>
            </a:r>
            <a:endParaRPr lang="ru-RU" sz="1100" dirty="0"/>
          </a:p>
        </p:txBody>
      </p:sp>
      <p:sp>
        <p:nvSpPr>
          <p:cNvPr id="26" name="Прямоугольник 25">
            <a:extLst>
              <a:ext uri="{FF2B5EF4-FFF2-40B4-BE49-F238E27FC236}">
                <a16:creationId xmlns:a16="http://schemas.microsoft.com/office/drawing/2014/main" id="{917BA1F7-A6FA-4295-BCBB-F278BB8F3C0F}"/>
              </a:ext>
            </a:extLst>
          </p:cNvPr>
          <p:cNvSpPr/>
          <p:nvPr/>
        </p:nvSpPr>
        <p:spPr>
          <a:xfrm>
            <a:off x="4475316" y="5369526"/>
            <a:ext cx="3950120" cy="369332"/>
          </a:xfrm>
          <a:prstGeom prst="rect">
            <a:avLst/>
          </a:prstGeom>
        </p:spPr>
        <p:txBody>
          <a:bodyPr wrap="none">
            <a:spAutoFit/>
          </a:bodyPr>
          <a:lstStyle/>
          <a:p>
            <a:r>
              <a:rPr lang="ru-RU" dirty="0"/>
              <a:t>Родительский элемент = </a:t>
            </a:r>
            <a:r>
              <a:rPr lang="en-US" dirty="0"/>
              <a:t>(</a:t>
            </a:r>
            <a:r>
              <a:rPr lang="ru-RU" dirty="0"/>
              <a:t>3</a:t>
            </a:r>
            <a:r>
              <a:rPr lang="en-US" dirty="0"/>
              <a:t> - 1) // 2 = </a:t>
            </a:r>
            <a:r>
              <a:rPr lang="ru-RU" dirty="0"/>
              <a:t>1</a:t>
            </a:r>
          </a:p>
        </p:txBody>
      </p:sp>
      <p:sp>
        <p:nvSpPr>
          <p:cNvPr id="32" name="Прямоугольник 31">
            <a:extLst>
              <a:ext uri="{FF2B5EF4-FFF2-40B4-BE49-F238E27FC236}">
                <a16:creationId xmlns:a16="http://schemas.microsoft.com/office/drawing/2014/main" id="{7EDE2260-146C-4266-A1EE-C816B3EFFAFD}"/>
              </a:ext>
            </a:extLst>
          </p:cNvPr>
          <p:cNvSpPr/>
          <p:nvPr/>
        </p:nvSpPr>
        <p:spPr>
          <a:xfrm>
            <a:off x="5306300" y="2787077"/>
            <a:ext cx="4511171" cy="523220"/>
          </a:xfrm>
          <a:prstGeom prst="rect">
            <a:avLst/>
          </a:prstGeom>
        </p:spPr>
        <p:txBody>
          <a:bodyPr wrap="none">
            <a:spAutoFit/>
          </a:bodyPr>
          <a:lstStyle/>
          <a:p>
            <a:r>
              <a:rPr lang="ru-RU" sz="2800" dirty="0"/>
              <a:t>Шаг 3. Продолжаем подъём</a:t>
            </a:r>
          </a:p>
        </p:txBody>
      </p:sp>
    </p:spTree>
    <p:extLst>
      <p:ext uri="{BB962C8B-B14F-4D97-AF65-F5344CB8AC3E}">
        <p14:creationId xmlns:p14="http://schemas.microsoft.com/office/powerpoint/2010/main" val="2615669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87F930-3175-4A30-A65D-DDC7A0147A4D}"/>
              </a:ext>
            </a:extLst>
          </p:cNvPr>
          <p:cNvSpPr>
            <a:spLocks noGrp="1"/>
          </p:cNvSpPr>
          <p:nvPr>
            <p:ph type="title"/>
          </p:nvPr>
        </p:nvSpPr>
        <p:spPr/>
        <p:txBody>
          <a:bodyPr/>
          <a:lstStyle/>
          <a:p>
            <a:r>
              <a:rPr lang="ru-RU" dirty="0"/>
              <a:t>Вставка: как сохранить свойство кучи</a:t>
            </a:r>
          </a:p>
        </p:txBody>
      </p:sp>
      <p:sp>
        <p:nvSpPr>
          <p:cNvPr id="7" name="Текст 6">
            <a:extLst>
              <a:ext uri="{FF2B5EF4-FFF2-40B4-BE49-F238E27FC236}">
                <a16:creationId xmlns:a16="http://schemas.microsoft.com/office/drawing/2014/main" id="{26B63555-D803-4DE5-9A24-1C592207C182}"/>
              </a:ext>
            </a:extLst>
          </p:cNvPr>
          <p:cNvSpPr>
            <a:spLocks noGrp="1"/>
          </p:cNvSpPr>
          <p:nvPr>
            <p:ph type="body" sz="quarter" idx="19"/>
          </p:nvPr>
        </p:nvSpPr>
        <p:spPr/>
        <p:txBody>
          <a:bodyPr/>
          <a:lstStyle/>
          <a:p>
            <a:endParaRPr lang="ru-RU"/>
          </a:p>
        </p:txBody>
      </p:sp>
      <p:sp>
        <p:nvSpPr>
          <p:cNvPr id="11" name="TextBox 10">
            <a:extLst>
              <a:ext uri="{FF2B5EF4-FFF2-40B4-BE49-F238E27FC236}">
                <a16:creationId xmlns:a16="http://schemas.microsoft.com/office/drawing/2014/main" id="{79E36811-45DA-4EC6-969A-7AA21BEDE56E}"/>
              </a:ext>
            </a:extLst>
          </p:cNvPr>
          <p:cNvSpPr txBox="1"/>
          <p:nvPr/>
        </p:nvSpPr>
        <p:spPr bwMode="auto">
          <a:xfrm>
            <a:off x="733476" y="5283638"/>
            <a:ext cx="4318503" cy="523220"/>
          </a:xfrm>
          <a:prstGeom prst="rect">
            <a:avLst/>
          </a:prstGeom>
        </p:spPr>
        <p:txBody>
          <a:bodyPr wrap="square" rtlCol="0">
            <a:spAutoFit/>
          </a:bodyPr>
          <a:lstStyle/>
          <a:p>
            <a:r>
              <a:rPr lang="ru-RU" sz="2800" dirty="0"/>
              <a:t>[2, 3, 7, 5, 12, 10, 20, 9]</a:t>
            </a:r>
            <a:endParaRPr lang="ru-RU" dirty="0"/>
          </a:p>
        </p:txBody>
      </p:sp>
      <p:sp>
        <p:nvSpPr>
          <p:cNvPr id="12" name="Овал 11">
            <a:extLst>
              <a:ext uri="{FF2B5EF4-FFF2-40B4-BE49-F238E27FC236}">
                <a16:creationId xmlns:a16="http://schemas.microsoft.com/office/drawing/2014/main" id="{DBCB1B5A-759B-48F8-B5B6-2F4BB2554B1C}"/>
              </a:ext>
            </a:extLst>
          </p:cNvPr>
          <p:cNvSpPr/>
          <p:nvPr/>
        </p:nvSpPr>
        <p:spPr>
          <a:xfrm>
            <a:off x="2145671" y="1312752"/>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a:t>
            </a:r>
          </a:p>
        </p:txBody>
      </p:sp>
      <p:sp>
        <p:nvSpPr>
          <p:cNvPr id="13" name="Овал 12">
            <a:extLst>
              <a:ext uri="{FF2B5EF4-FFF2-40B4-BE49-F238E27FC236}">
                <a16:creationId xmlns:a16="http://schemas.microsoft.com/office/drawing/2014/main" id="{624CF009-4C70-44C3-A75C-E9948A88A64F}"/>
              </a:ext>
            </a:extLst>
          </p:cNvPr>
          <p:cNvSpPr/>
          <p:nvPr/>
        </p:nvSpPr>
        <p:spPr>
          <a:xfrm>
            <a:off x="1548025"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3</a:t>
            </a:r>
          </a:p>
        </p:txBody>
      </p:sp>
      <p:sp>
        <p:nvSpPr>
          <p:cNvPr id="14" name="Овал 13">
            <a:extLst>
              <a:ext uri="{FF2B5EF4-FFF2-40B4-BE49-F238E27FC236}">
                <a16:creationId xmlns:a16="http://schemas.microsoft.com/office/drawing/2014/main" id="{A11D3CB4-37EE-4B31-99B8-683DFE8A7170}"/>
              </a:ext>
            </a:extLst>
          </p:cNvPr>
          <p:cNvSpPr/>
          <p:nvPr/>
        </p:nvSpPr>
        <p:spPr>
          <a:xfrm>
            <a:off x="2743317"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7</a:t>
            </a:r>
          </a:p>
        </p:txBody>
      </p:sp>
      <p:sp>
        <p:nvSpPr>
          <p:cNvPr id="18" name="Овал 17">
            <a:extLst>
              <a:ext uri="{FF2B5EF4-FFF2-40B4-BE49-F238E27FC236}">
                <a16:creationId xmlns:a16="http://schemas.microsoft.com/office/drawing/2014/main" id="{5BB733BB-0957-42A1-A2C0-436A69E9E761}"/>
              </a:ext>
            </a:extLst>
          </p:cNvPr>
          <p:cNvSpPr/>
          <p:nvPr/>
        </p:nvSpPr>
        <p:spPr>
          <a:xfrm>
            <a:off x="950379"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5</a:t>
            </a:r>
          </a:p>
        </p:txBody>
      </p:sp>
      <p:sp>
        <p:nvSpPr>
          <p:cNvPr id="19" name="Овал 18">
            <a:extLst>
              <a:ext uri="{FF2B5EF4-FFF2-40B4-BE49-F238E27FC236}">
                <a16:creationId xmlns:a16="http://schemas.microsoft.com/office/drawing/2014/main" id="{F9EE9E2F-D33E-4C9A-91E4-41288BDB5879}"/>
              </a:ext>
            </a:extLst>
          </p:cNvPr>
          <p:cNvSpPr/>
          <p:nvPr/>
        </p:nvSpPr>
        <p:spPr>
          <a:xfrm>
            <a:off x="1846848" y="3001350"/>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12</a:t>
            </a:r>
          </a:p>
        </p:txBody>
      </p:sp>
      <p:sp>
        <p:nvSpPr>
          <p:cNvPr id="20" name="Овал 19">
            <a:extLst>
              <a:ext uri="{FF2B5EF4-FFF2-40B4-BE49-F238E27FC236}">
                <a16:creationId xmlns:a16="http://schemas.microsoft.com/office/drawing/2014/main" id="{D82F53C0-E4E9-4B8F-A576-D1412C76F432}"/>
              </a:ext>
            </a:extLst>
          </p:cNvPr>
          <p:cNvSpPr/>
          <p:nvPr/>
        </p:nvSpPr>
        <p:spPr>
          <a:xfrm>
            <a:off x="2743317"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10</a:t>
            </a:r>
          </a:p>
        </p:txBody>
      </p:sp>
      <p:sp>
        <p:nvSpPr>
          <p:cNvPr id="21" name="Овал 20">
            <a:extLst>
              <a:ext uri="{FF2B5EF4-FFF2-40B4-BE49-F238E27FC236}">
                <a16:creationId xmlns:a16="http://schemas.microsoft.com/office/drawing/2014/main" id="{68F7A77F-8BFD-4027-880B-30F8D0CE3F70}"/>
              </a:ext>
            </a:extLst>
          </p:cNvPr>
          <p:cNvSpPr/>
          <p:nvPr/>
        </p:nvSpPr>
        <p:spPr>
          <a:xfrm>
            <a:off x="3590621"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20</a:t>
            </a:r>
          </a:p>
        </p:txBody>
      </p:sp>
      <p:cxnSp>
        <p:nvCxnSpPr>
          <p:cNvPr id="23" name="Прямая со стрелкой 22">
            <a:extLst>
              <a:ext uri="{FF2B5EF4-FFF2-40B4-BE49-F238E27FC236}">
                <a16:creationId xmlns:a16="http://schemas.microsoft.com/office/drawing/2014/main" id="{A6AFCD1C-FA76-4487-A231-CCD6DBA9DABC}"/>
              </a:ext>
            </a:extLst>
          </p:cNvPr>
          <p:cNvCxnSpPr>
            <a:cxnSpLocks/>
            <a:stCxn id="13" idx="3"/>
            <a:endCxn id="18" idx="0"/>
          </p:cNvCxnSpPr>
          <p:nvPr/>
        </p:nvCxnSpPr>
        <p:spPr>
          <a:xfrm flipH="1">
            <a:off x="1249202" y="2572804"/>
            <a:ext cx="386346" cy="44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a:extLst>
              <a:ext uri="{FF2B5EF4-FFF2-40B4-BE49-F238E27FC236}">
                <a16:creationId xmlns:a16="http://schemas.microsoft.com/office/drawing/2014/main" id="{7E145C5E-4065-463D-A7CB-BF7130E1BC4B}"/>
              </a:ext>
            </a:extLst>
          </p:cNvPr>
          <p:cNvCxnSpPr>
            <a:stCxn id="13" idx="5"/>
            <a:endCxn id="19" idx="0"/>
          </p:cNvCxnSpPr>
          <p:nvPr/>
        </p:nvCxnSpPr>
        <p:spPr>
          <a:xfrm>
            <a:off x="2058148" y="2572804"/>
            <a:ext cx="87523" cy="428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A5866760-764B-4290-AAC6-72D7FA620652}"/>
              </a:ext>
            </a:extLst>
          </p:cNvPr>
          <p:cNvCxnSpPr>
            <a:cxnSpLocks/>
            <a:stCxn id="12" idx="2"/>
            <a:endCxn id="13" idx="0"/>
          </p:cNvCxnSpPr>
          <p:nvPr/>
        </p:nvCxnSpPr>
        <p:spPr>
          <a:xfrm flipH="1">
            <a:off x="1846848"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28">
            <a:extLst>
              <a:ext uri="{FF2B5EF4-FFF2-40B4-BE49-F238E27FC236}">
                <a16:creationId xmlns:a16="http://schemas.microsoft.com/office/drawing/2014/main" id="{C2CA8A04-A034-43D7-8D58-B2725315732A}"/>
              </a:ext>
            </a:extLst>
          </p:cNvPr>
          <p:cNvCxnSpPr>
            <a:cxnSpLocks/>
            <a:stCxn id="12" idx="6"/>
            <a:endCxn id="14" idx="0"/>
          </p:cNvCxnSpPr>
          <p:nvPr/>
        </p:nvCxnSpPr>
        <p:spPr>
          <a:xfrm>
            <a:off x="2743317"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a:extLst>
              <a:ext uri="{FF2B5EF4-FFF2-40B4-BE49-F238E27FC236}">
                <a16:creationId xmlns:a16="http://schemas.microsoft.com/office/drawing/2014/main" id="{FA1D2765-64DD-42B9-A743-8679586E130C}"/>
              </a:ext>
            </a:extLst>
          </p:cNvPr>
          <p:cNvCxnSpPr>
            <a:cxnSpLocks/>
            <a:stCxn id="14" idx="4"/>
            <a:endCxn id="20" idx="0"/>
          </p:cNvCxnSpPr>
          <p:nvPr/>
        </p:nvCxnSpPr>
        <p:spPr>
          <a:xfrm>
            <a:off x="3042140" y="2660327"/>
            <a:ext cx="0" cy="35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a:extLst>
              <a:ext uri="{FF2B5EF4-FFF2-40B4-BE49-F238E27FC236}">
                <a16:creationId xmlns:a16="http://schemas.microsoft.com/office/drawing/2014/main" id="{BB9589FA-5E1A-4ADD-AD65-A1EBEDA439D2}"/>
              </a:ext>
            </a:extLst>
          </p:cNvPr>
          <p:cNvCxnSpPr>
            <a:cxnSpLocks/>
            <a:stCxn id="14" idx="6"/>
            <a:endCxn id="21" idx="0"/>
          </p:cNvCxnSpPr>
          <p:nvPr/>
        </p:nvCxnSpPr>
        <p:spPr>
          <a:xfrm>
            <a:off x="3340963" y="2361504"/>
            <a:ext cx="548481" cy="657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Овал 21">
            <a:extLst>
              <a:ext uri="{FF2B5EF4-FFF2-40B4-BE49-F238E27FC236}">
                <a16:creationId xmlns:a16="http://schemas.microsoft.com/office/drawing/2014/main" id="{EF73E9FC-BE1D-4348-8FDB-5AF6C2EEE144}"/>
              </a:ext>
            </a:extLst>
          </p:cNvPr>
          <p:cNvSpPr/>
          <p:nvPr/>
        </p:nvSpPr>
        <p:spPr>
          <a:xfrm>
            <a:off x="651556" y="3852615"/>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9</a:t>
            </a:r>
          </a:p>
        </p:txBody>
      </p:sp>
      <p:cxnSp>
        <p:nvCxnSpPr>
          <p:cNvPr id="4" name="Прямая со стрелкой 3">
            <a:extLst>
              <a:ext uri="{FF2B5EF4-FFF2-40B4-BE49-F238E27FC236}">
                <a16:creationId xmlns:a16="http://schemas.microsoft.com/office/drawing/2014/main" id="{4F30B875-76AD-446D-AC2F-0396500D1ADF}"/>
              </a:ext>
            </a:extLst>
          </p:cNvPr>
          <p:cNvCxnSpPr>
            <a:stCxn id="18" idx="3"/>
            <a:endCxn id="22" idx="0"/>
          </p:cNvCxnSpPr>
          <p:nvPr/>
        </p:nvCxnSpPr>
        <p:spPr>
          <a:xfrm flipH="1">
            <a:off x="950379" y="3529361"/>
            <a:ext cx="87523" cy="323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9B1FDE1-76C1-4415-9F53-85105278E1C2}"/>
              </a:ext>
            </a:extLst>
          </p:cNvPr>
          <p:cNvSpPr txBox="1"/>
          <p:nvPr/>
        </p:nvSpPr>
        <p:spPr bwMode="auto">
          <a:xfrm>
            <a:off x="950379" y="4962972"/>
            <a:ext cx="4318503" cy="338554"/>
          </a:xfrm>
          <a:prstGeom prst="rect">
            <a:avLst/>
          </a:prstGeom>
        </p:spPr>
        <p:txBody>
          <a:bodyPr wrap="square" rtlCol="0">
            <a:spAutoFit/>
          </a:bodyPr>
          <a:lstStyle/>
          <a:p>
            <a:r>
              <a:rPr lang="ru-RU" sz="1600" dirty="0"/>
              <a:t>0    1      2     3       4          5         6       7</a:t>
            </a:r>
            <a:endParaRPr lang="ru-RU" sz="1100" dirty="0"/>
          </a:p>
        </p:txBody>
      </p:sp>
      <p:sp>
        <p:nvSpPr>
          <p:cNvPr id="3" name="Прямоугольник: скругленные углы 2">
            <a:extLst>
              <a:ext uri="{FF2B5EF4-FFF2-40B4-BE49-F238E27FC236}">
                <a16:creationId xmlns:a16="http://schemas.microsoft.com/office/drawing/2014/main" id="{1601D4D2-DAFC-40B8-A02B-DE359B01447F}"/>
              </a:ext>
            </a:extLst>
          </p:cNvPr>
          <p:cNvSpPr/>
          <p:nvPr/>
        </p:nvSpPr>
        <p:spPr>
          <a:xfrm>
            <a:off x="6437014" y="1312752"/>
            <a:ext cx="5272386" cy="134757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b="1" dirty="0"/>
              <a:t>Просеивание вверх (</a:t>
            </a:r>
            <a:r>
              <a:rPr lang="ru-RU" b="1" dirty="0" err="1"/>
              <a:t>sift</a:t>
            </a:r>
            <a:r>
              <a:rPr lang="ru-RU" b="1" dirty="0"/>
              <a:t> </a:t>
            </a:r>
            <a:r>
              <a:rPr lang="ru-RU" b="1" dirty="0" err="1"/>
              <a:t>up</a:t>
            </a:r>
            <a:r>
              <a:rPr lang="ru-RU" b="1" dirty="0"/>
              <a:t>)</a:t>
            </a:r>
            <a:r>
              <a:rPr lang="ru-RU" dirty="0"/>
              <a:t> — последовательное перемещение добавленного элемента вверх по структуре кучи, пока не будет восстановлено её основное свойство.</a:t>
            </a:r>
          </a:p>
        </p:txBody>
      </p:sp>
      <p:sp>
        <p:nvSpPr>
          <p:cNvPr id="26" name="Прямоугольник: скругленные углы 25">
            <a:extLst>
              <a:ext uri="{FF2B5EF4-FFF2-40B4-BE49-F238E27FC236}">
                <a16:creationId xmlns:a16="http://schemas.microsoft.com/office/drawing/2014/main" id="{68A8050A-5076-40FA-A4FA-334CF36021F4}"/>
              </a:ext>
            </a:extLst>
          </p:cNvPr>
          <p:cNvSpPr/>
          <p:nvPr/>
        </p:nvSpPr>
        <p:spPr>
          <a:xfrm>
            <a:off x="6437014" y="2855573"/>
            <a:ext cx="5272386" cy="134757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Сложность вставки</a:t>
            </a:r>
            <a:r>
              <a:rPr lang="en-US" dirty="0"/>
              <a:t>: </a:t>
            </a:r>
            <a:r>
              <a:rPr lang="en-US" b="1" dirty="0"/>
              <a:t>O(log(n))</a:t>
            </a:r>
            <a:endParaRPr lang="ru-RU" dirty="0"/>
          </a:p>
        </p:txBody>
      </p:sp>
    </p:spTree>
    <p:extLst>
      <p:ext uri="{BB962C8B-B14F-4D97-AF65-F5344CB8AC3E}">
        <p14:creationId xmlns:p14="http://schemas.microsoft.com/office/powerpoint/2010/main" val="2845581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6517A5-D426-4E13-82E8-24D6D46684CE}"/>
              </a:ext>
            </a:extLst>
          </p:cNvPr>
          <p:cNvSpPr>
            <a:spLocks noGrp="1"/>
          </p:cNvSpPr>
          <p:nvPr>
            <p:ph type="title"/>
          </p:nvPr>
        </p:nvSpPr>
        <p:spPr/>
        <p:txBody>
          <a:bodyPr/>
          <a:lstStyle/>
          <a:p>
            <a:r>
              <a:rPr lang="ru-RU" dirty="0"/>
              <a:t>Извлечение минимума</a:t>
            </a:r>
          </a:p>
        </p:txBody>
      </p:sp>
      <p:sp>
        <p:nvSpPr>
          <p:cNvPr id="7" name="Текст 6">
            <a:extLst>
              <a:ext uri="{FF2B5EF4-FFF2-40B4-BE49-F238E27FC236}">
                <a16:creationId xmlns:a16="http://schemas.microsoft.com/office/drawing/2014/main" id="{A0C7F765-159B-46E6-888A-551BA91087A2}"/>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AC3FABB1-07E2-4AED-8863-3A0E29DF30D3}"/>
              </a:ext>
            </a:extLst>
          </p:cNvPr>
          <p:cNvSpPr txBox="1"/>
          <p:nvPr/>
        </p:nvSpPr>
        <p:spPr bwMode="auto">
          <a:xfrm>
            <a:off x="733476" y="5283638"/>
            <a:ext cx="4318503" cy="523220"/>
          </a:xfrm>
          <a:prstGeom prst="rect">
            <a:avLst/>
          </a:prstGeom>
        </p:spPr>
        <p:txBody>
          <a:bodyPr wrap="square" rtlCol="0">
            <a:spAutoFit/>
          </a:bodyPr>
          <a:lstStyle/>
          <a:p>
            <a:r>
              <a:rPr lang="ru-RU" sz="2800" dirty="0"/>
              <a:t>[</a:t>
            </a:r>
            <a:r>
              <a:rPr lang="ru-RU" sz="2800" dirty="0">
                <a:solidFill>
                  <a:srgbClr val="FF0000"/>
                </a:solidFill>
              </a:rPr>
              <a:t>2</a:t>
            </a:r>
            <a:r>
              <a:rPr lang="ru-RU" sz="2800" dirty="0"/>
              <a:t>, 3, 7, 5, 12, 10, 20, 9]</a:t>
            </a:r>
            <a:endParaRPr lang="ru-RU" dirty="0"/>
          </a:p>
        </p:txBody>
      </p:sp>
      <p:sp>
        <p:nvSpPr>
          <p:cNvPr id="9" name="Овал 8">
            <a:extLst>
              <a:ext uri="{FF2B5EF4-FFF2-40B4-BE49-F238E27FC236}">
                <a16:creationId xmlns:a16="http://schemas.microsoft.com/office/drawing/2014/main" id="{9F48196B-B9AF-4E67-BFE7-46880AE0F57D}"/>
              </a:ext>
            </a:extLst>
          </p:cNvPr>
          <p:cNvSpPr/>
          <p:nvPr/>
        </p:nvSpPr>
        <p:spPr>
          <a:xfrm>
            <a:off x="2145671" y="1312752"/>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rgbClr val="FF0000"/>
                </a:solidFill>
              </a:rPr>
              <a:t>2</a:t>
            </a:r>
          </a:p>
        </p:txBody>
      </p:sp>
      <p:sp>
        <p:nvSpPr>
          <p:cNvPr id="10" name="Овал 9">
            <a:extLst>
              <a:ext uri="{FF2B5EF4-FFF2-40B4-BE49-F238E27FC236}">
                <a16:creationId xmlns:a16="http://schemas.microsoft.com/office/drawing/2014/main" id="{6EFF1251-5023-49C6-97B3-857B99D5F4F6}"/>
              </a:ext>
            </a:extLst>
          </p:cNvPr>
          <p:cNvSpPr/>
          <p:nvPr/>
        </p:nvSpPr>
        <p:spPr>
          <a:xfrm>
            <a:off x="1548025"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3</a:t>
            </a:r>
          </a:p>
        </p:txBody>
      </p:sp>
      <p:sp>
        <p:nvSpPr>
          <p:cNvPr id="11" name="Овал 10">
            <a:extLst>
              <a:ext uri="{FF2B5EF4-FFF2-40B4-BE49-F238E27FC236}">
                <a16:creationId xmlns:a16="http://schemas.microsoft.com/office/drawing/2014/main" id="{FE112C38-A313-4B84-81B8-C1BB9E8D8B59}"/>
              </a:ext>
            </a:extLst>
          </p:cNvPr>
          <p:cNvSpPr/>
          <p:nvPr/>
        </p:nvSpPr>
        <p:spPr>
          <a:xfrm>
            <a:off x="2743317"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7</a:t>
            </a:r>
          </a:p>
        </p:txBody>
      </p:sp>
      <p:sp>
        <p:nvSpPr>
          <p:cNvPr id="12" name="Овал 11">
            <a:extLst>
              <a:ext uri="{FF2B5EF4-FFF2-40B4-BE49-F238E27FC236}">
                <a16:creationId xmlns:a16="http://schemas.microsoft.com/office/drawing/2014/main" id="{81E9B69A-10A2-4EA6-8DC8-FCD8E1B8A929}"/>
              </a:ext>
            </a:extLst>
          </p:cNvPr>
          <p:cNvSpPr/>
          <p:nvPr/>
        </p:nvSpPr>
        <p:spPr>
          <a:xfrm>
            <a:off x="950379"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5</a:t>
            </a:r>
          </a:p>
        </p:txBody>
      </p:sp>
      <p:sp>
        <p:nvSpPr>
          <p:cNvPr id="13" name="Овал 12">
            <a:extLst>
              <a:ext uri="{FF2B5EF4-FFF2-40B4-BE49-F238E27FC236}">
                <a16:creationId xmlns:a16="http://schemas.microsoft.com/office/drawing/2014/main" id="{1A7C5654-1F76-47E7-BD1D-DCA7C666983C}"/>
              </a:ext>
            </a:extLst>
          </p:cNvPr>
          <p:cNvSpPr/>
          <p:nvPr/>
        </p:nvSpPr>
        <p:spPr>
          <a:xfrm>
            <a:off x="1846848" y="3001350"/>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12</a:t>
            </a:r>
          </a:p>
        </p:txBody>
      </p:sp>
      <p:sp>
        <p:nvSpPr>
          <p:cNvPr id="14" name="Овал 13">
            <a:extLst>
              <a:ext uri="{FF2B5EF4-FFF2-40B4-BE49-F238E27FC236}">
                <a16:creationId xmlns:a16="http://schemas.microsoft.com/office/drawing/2014/main" id="{AA1833E1-EFFA-4C86-8942-8CB64A9EC088}"/>
              </a:ext>
            </a:extLst>
          </p:cNvPr>
          <p:cNvSpPr/>
          <p:nvPr/>
        </p:nvSpPr>
        <p:spPr>
          <a:xfrm>
            <a:off x="2743317"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10</a:t>
            </a:r>
          </a:p>
        </p:txBody>
      </p:sp>
      <p:sp>
        <p:nvSpPr>
          <p:cNvPr id="15" name="Овал 14">
            <a:extLst>
              <a:ext uri="{FF2B5EF4-FFF2-40B4-BE49-F238E27FC236}">
                <a16:creationId xmlns:a16="http://schemas.microsoft.com/office/drawing/2014/main" id="{EAF3E0A6-2887-4DA9-BC4D-1E2283B1F0DF}"/>
              </a:ext>
            </a:extLst>
          </p:cNvPr>
          <p:cNvSpPr/>
          <p:nvPr/>
        </p:nvSpPr>
        <p:spPr>
          <a:xfrm>
            <a:off x="3590621"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20</a:t>
            </a:r>
          </a:p>
        </p:txBody>
      </p:sp>
      <p:cxnSp>
        <p:nvCxnSpPr>
          <p:cNvPr id="16" name="Прямая со стрелкой 15">
            <a:extLst>
              <a:ext uri="{FF2B5EF4-FFF2-40B4-BE49-F238E27FC236}">
                <a16:creationId xmlns:a16="http://schemas.microsoft.com/office/drawing/2014/main" id="{930C16A4-2F84-4968-A5BC-3BC13A359D67}"/>
              </a:ext>
            </a:extLst>
          </p:cNvPr>
          <p:cNvCxnSpPr>
            <a:cxnSpLocks/>
            <a:stCxn id="10" idx="3"/>
            <a:endCxn id="12" idx="0"/>
          </p:cNvCxnSpPr>
          <p:nvPr/>
        </p:nvCxnSpPr>
        <p:spPr>
          <a:xfrm flipH="1">
            <a:off x="1249202" y="2572804"/>
            <a:ext cx="386346" cy="44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A8989324-6A8E-4E9E-9F53-8EBFD2297F2F}"/>
              </a:ext>
            </a:extLst>
          </p:cNvPr>
          <p:cNvCxnSpPr>
            <a:stCxn id="10" idx="5"/>
            <a:endCxn id="13" idx="0"/>
          </p:cNvCxnSpPr>
          <p:nvPr/>
        </p:nvCxnSpPr>
        <p:spPr>
          <a:xfrm>
            <a:off x="2058148" y="2572804"/>
            <a:ext cx="87523" cy="428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4266762F-2A63-46BC-A2C8-83323A448B6B}"/>
              </a:ext>
            </a:extLst>
          </p:cNvPr>
          <p:cNvCxnSpPr>
            <a:cxnSpLocks/>
            <a:stCxn id="9" idx="2"/>
            <a:endCxn id="10" idx="0"/>
          </p:cNvCxnSpPr>
          <p:nvPr/>
        </p:nvCxnSpPr>
        <p:spPr>
          <a:xfrm flipH="1">
            <a:off x="1846848"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43945A57-84C6-42F0-93F5-9DFC3052D2A6}"/>
              </a:ext>
            </a:extLst>
          </p:cNvPr>
          <p:cNvCxnSpPr>
            <a:cxnSpLocks/>
            <a:stCxn id="9" idx="6"/>
            <a:endCxn id="11" idx="0"/>
          </p:cNvCxnSpPr>
          <p:nvPr/>
        </p:nvCxnSpPr>
        <p:spPr>
          <a:xfrm>
            <a:off x="2743317"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72F24221-E943-4F91-82D9-B12F312D78B9}"/>
              </a:ext>
            </a:extLst>
          </p:cNvPr>
          <p:cNvCxnSpPr>
            <a:cxnSpLocks/>
            <a:stCxn id="11" idx="4"/>
            <a:endCxn id="14" idx="0"/>
          </p:cNvCxnSpPr>
          <p:nvPr/>
        </p:nvCxnSpPr>
        <p:spPr>
          <a:xfrm>
            <a:off x="3042140" y="2660327"/>
            <a:ext cx="0" cy="35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0CCE205E-6A81-4710-8174-C0B774558640}"/>
              </a:ext>
            </a:extLst>
          </p:cNvPr>
          <p:cNvCxnSpPr>
            <a:cxnSpLocks/>
            <a:stCxn id="11" idx="6"/>
            <a:endCxn id="15" idx="0"/>
          </p:cNvCxnSpPr>
          <p:nvPr/>
        </p:nvCxnSpPr>
        <p:spPr>
          <a:xfrm>
            <a:off x="3340963" y="2361504"/>
            <a:ext cx="548481" cy="657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Овал 21">
            <a:extLst>
              <a:ext uri="{FF2B5EF4-FFF2-40B4-BE49-F238E27FC236}">
                <a16:creationId xmlns:a16="http://schemas.microsoft.com/office/drawing/2014/main" id="{A6FD3F84-EFD7-47D7-BBE0-F0B879611E02}"/>
              </a:ext>
            </a:extLst>
          </p:cNvPr>
          <p:cNvSpPr/>
          <p:nvPr/>
        </p:nvSpPr>
        <p:spPr>
          <a:xfrm>
            <a:off x="651556" y="3852615"/>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9</a:t>
            </a:r>
          </a:p>
        </p:txBody>
      </p:sp>
      <p:cxnSp>
        <p:nvCxnSpPr>
          <p:cNvPr id="23" name="Прямая со стрелкой 22">
            <a:extLst>
              <a:ext uri="{FF2B5EF4-FFF2-40B4-BE49-F238E27FC236}">
                <a16:creationId xmlns:a16="http://schemas.microsoft.com/office/drawing/2014/main" id="{84BCA4F1-A4BA-444F-BE73-E1D39F2E34BA}"/>
              </a:ext>
            </a:extLst>
          </p:cNvPr>
          <p:cNvCxnSpPr>
            <a:stCxn id="12" idx="3"/>
            <a:endCxn id="22" idx="0"/>
          </p:cNvCxnSpPr>
          <p:nvPr/>
        </p:nvCxnSpPr>
        <p:spPr>
          <a:xfrm flipH="1">
            <a:off x="950379" y="3529361"/>
            <a:ext cx="87523" cy="323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C1FBE1A-57E5-4658-AE17-0DA627A13E3A}"/>
              </a:ext>
            </a:extLst>
          </p:cNvPr>
          <p:cNvSpPr txBox="1"/>
          <p:nvPr/>
        </p:nvSpPr>
        <p:spPr bwMode="auto">
          <a:xfrm>
            <a:off x="950379" y="4962972"/>
            <a:ext cx="4318503" cy="338554"/>
          </a:xfrm>
          <a:prstGeom prst="rect">
            <a:avLst/>
          </a:prstGeom>
        </p:spPr>
        <p:txBody>
          <a:bodyPr wrap="square" rtlCol="0">
            <a:spAutoFit/>
          </a:bodyPr>
          <a:lstStyle/>
          <a:p>
            <a:r>
              <a:rPr lang="ru-RU" sz="1600" dirty="0"/>
              <a:t>0    1      2     3       4          5         6       7</a:t>
            </a:r>
            <a:endParaRPr lang="ru-RU" sz="1100" dirty="0"/>
          </a:p>
        </p:txBody>
      </p:sp>
      <p:sp>
        <p:nvSpPr>
          <p:cNvPr id="26" name="Прямоугольник 25">
            <a:extLst>
              <a:ext uri="{FF2B5EF4-FFF2-40B4-BE49-F238E27FC236}">
                <a16:creationId xmlns:a16="http://schemas.microsoft.com/office/drawing/2014/main" id="{FBA53033-4E68-4B54-B6FE-1B8FAF2BCAD2}"/>
              </a:ext>
            </a:extLst>
          </p:cNvPr>
          <p:cNvSpPr/>
          <p:nvPr/>
        </p:nvSpPr>
        <p:spPr>
          <a:xfrm>
            <a:off x="5051979" y="2787077"/>
            <a:ext cx="4451860" cy="523220"/>
          </a:xfrm>
          <a:prstGeom prst="rect">
            <a:avLst/>
          </a:prstGeom>
        </p:spPr>
        <p:txBody>
          <a:bodyPr wrap="none">
            <a:spAutoFit/>
          </a:bodyPr>
          <a:lstStyle/>
          <a:p>
            <a:r>
              <a:rPr lang="ru-RU" sz="2800" dirty="0"/>
              <a:t>Шаг 1. Извлекаем минимум</a:t>
            </a:r>
          </a:p>
        </p:txBody>
      </p:sp>
    </p:spTree>
    <p:extLst>
      <p:ext uri="{BB962C8B-B14F-4D97-AF65-F5344CB8AC3E}">
        <p14:creationId xmlns:p14="http://schemas.microsoft.com/office/powerpoint/2010/main" val="2069317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6517A5-D426-4E13-82E8-24D6D46684CE}"/>
              </a:ext>
            </a:extLst>
          </p:cNvPr>
          <p:cNvSpPr>
            <a:spLocks noGrp="1"/>
          </p:cNvSpPr>
          <p:nvPr>
            <p:ph type="title"/>
          </p:nvPr>
        </p:nvSpPr>
        <p:spPr/>
        <p:txBody>
          <a:bodyPr/>
          <a:lstStyle/>
          <a:p>
            <a:r>
              <a:rPr lang="ru-RU" dirty="0"/>
              <a:t>Извлечение минимума</a:t>
            </a:r>
          </a:p>
        </p:txBody>
      </p:sp>
      <p:sp>
        <p:nvSpPr>
          <p:cNvPr id="7" name="Текст 6">
            <a:extLst>
              <a:ext uri="{FF2B5EF4-FFF2-40B4-BE49-F238E27FC236}">
                <a16:creationId xmlns:a16="http://schemas.microsoft.com/office/drawing/2014/main" id="{A0C7F765-159B-46E6-888A-551BA91087A2}"/>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AC3FABB1-07E2-4AED-8863-3A0E29DF30D3}"/>
              </a:ext>
            </a:extLst>
          </p:cNvPr>
          <p:cNvSpPr txBox="1"/>
          <p:nvPr/>
        </p:nvSpPr>
        <p:spPr bwMode="auto">
          <a:xfrm>
            <a:off x="733476" y="5283638"/>
            <a:ext cx="4318503" cy="523220"/>
          </a:xfrm>
          <a:prstGeom prst="rect">
            <a:avLst/>
          </a:prstGeom>
        </p:spPr>
        <p:txBody>
          <a:bodyPr wrap="square" rtlCol="0">
            <a:spAutoFit/>
          </a:bodyPr>
          <a:lstStyle/>
          <a:p>
            <a:r>
              <a:rPr lang="ru-RU" sz="2800" dirty="0"/>
              <a:t>[</a:t>
            </a:r>
            <a:r>
              <a:rPr lang="ru-RU" sz="2800" dirty="0">
                <a:solidFill>
                  <a:srgbClr val="FF0000"/>
                </a:solidFill>
              </a:rPr>
              <a:t> </a:t>
            </a:r>
            <a:r>
              <a:rPr lang="ru-RU" sz="2800" dirty="0"/>
              <a:t>, 3, 7, 5, 12, 10, 20, </a:t>
            </a:r>
            <a:r>
              <a:rPr lang="ru-RU" sz="2800" dirty="0">
                <a:solidFill>
                  <a:srgbClr val="FF0000"/>
                </a:solidFill>
              </a:rPr>
              <a:t>9</a:t>
            </a:r>
            <a:r>
              <a:rPr lang="ru-RU" sz="2800" dirty="0"/>
              <a:t>]</a:t>
            </a:r>
            <a:endParaRPr lang="ru-RU" dirty="0"/>
          </a:p>
        </p:txBody>
      </p:sp>
      <p:sp>
        <p:nvSpPr>
          <p:cNvPr id="9" name="Овал 8">
            <a:extLst>
              <a:ext uri="{FF2B5EF4-FFF2-40B4-BE49-F238E27FC236}">
                <a16:creationId xmlns:a16="http://schemas.microsoft.com/office/drawing/2014/main" id="{9F48196B-B9AF-4E67-BFE7-46880AE0F57D}"/>
              </a:ext>
            </a:extLst>
          </p:cNvPr>
          <p:cNvSpPr/>
          <p:nvPr/>
        </p:nvSpPr>
        <p:spPr>
          <a:xfrm>
            <a:off x="2145671" y="1312752"/>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dirty="0">
              <a:solidFill>
                <a:srgbClr val="FF0000"/>
              </a:solidFill>
            </a:endParaRPr>
          </a:p>
        </p:txBody>
      </p:sp>
      <p:sp>
        <p:nvSpPr>
          <p:cNvPr id="10" name="Овал 9">
            <a:extLst>
              <a:ext uri="{FF2B5EF4-FFF2-40B4-BE49-F238E27FC236}">
                <a16:creationId xmlns:a16="http://schemas.microsoft.com/office/drawing/2014/main" id="{6EFF1251-5023-49C6-97B3-857B99D5F4F6}"/>
              </a:ext>
            </a:extLst>
          </p:cNvPr>
          <p:cNvSpPr/>
          <p:nvPr/>
        </p:nvSpPr>
        <p:spPr>
          <a:xfrm>
            <a:off x="1548025"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3</a:t>
            </a:r>
          </a:p>
        </p:txBody>
      </p:sp>
      <p:sp>
        <p:nvSpPr>
          <p:cNvPr id="11" name="Овал 10">
            <a:extLst>
              <a:ext uri="{FF2B5EF4-FFF2-40B4-BE49-F238E27FC236}">
                <a16:creationId xmlns:a16="http://schemas.microsoft.com/office/drawing/2014/main" id="{FE112C38-A313-4B84-81B8-C1BB9E8D8B59}"/>
              </a:ext>
            </a:extLst>
          </p:cNvPr>
          <p:cNvSpPr/>
          <p:nvPr/>
        </p:nvSpPr>
        <p:spPr>
          <a:xfrm>
            <a:off x="2743317"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7</a:t>
            </a:r>
          </a:p>
        </p:txBody>
      </p:sp>
      <p:sp>
        <p:nvSpPr>
          <p:cNvPr id="12" name="Овал 11">
            <a:extLst>
              <a:ext uri="{FF2B5EF4-FFF2-40B4-BE49-F238E27FC236}">
                <a16:creationId xmlns:a16="http://schemas.microsoft.com/office/drawing/2014/main" id="{81E9B69A-10A2-4EA6-8DC8-FCD8E1B8A929}"/>
              </a:ext>
            </a:extLst>
          </p:cNvPr>
          <p:cNvSpPr/>
          <p:nvPr/>
        </p:nvSpPr>
        <p:spPr>
          <a:xfrm>
            <a:off x="950379"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5</a:t>
            </a:r>
          </a:p>
        </p:txBody>
      </p:sp>
      <p:sp>
        <p:nvSpPr>
          <p:cNvPr id="13" name="Овал 12">
            <a:extLst>
              <a:ext uri="{FF2B5EF4-FFF2-40B4-BE49-F238E27FC236}">
                <a16:creationId xmlns:a16="http://schemas.microsoft.com/office/drawing/2014/main" id="{1A7C5654-1F76-47E7-BD1D-DCA7C666983C}"/>
              </a:ext>
            </a:extLst>
          </p:cNvPr>
          <p:cNvSpPr/>
          <p:nvPr/>
        </p:nvSpPr>
        <p:spPr>
          <a:xfrm>
            <a:off x="1846848" y="3001350"/>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12</a:t>
            </a:r>
          </a:p>
        </p:txBody>
      </p:sp>
      <p:sp>
        <p:nvSpPr>
          <p:cNvPr id="14" name="Овал 13">
            <a:extLst>
              <a:ext uri="{FF2B5EF4-FFF2-40B4-BE49-F238E27FC236}">
                <a16:creationId xmlns:a16="http://schemas.microsoft.com/office/drawing/2014/main" id="{AA1833E1-EFFA-4C86-8942-8CB64A9EC088}"/>
              </a:ext>
            </a:extLst>
          </p:cNvPr>
          <p:cNvSpPr/>
          <p:nvPr/>
        </p:nvSpPr>
        <p:spPr>
          <a:xfrm>
            <a:off x="2743317"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10</a:t>
            </a:r>
          </a:p>
        </p:txBody>
      </p:sp>
      <p:sp>
        <p:nvSpPr>
          <p:cNvPr id="15" name="Овал 14">
            <a:extLst>
              <a:ext uri="{FF2B5EF4-FFF2-40B4-BE49-F238E27FC236}">
                <a16:creationId xmlns:a16="http://schemas.microsoft.com/office/drawing/2014/main" id="{EAF3E0A6-2887-4DA9-BC4D-1E2283B1F0DF}"/>
              </a:ext>
            </a:extLst>
          </p:cNvPr>
          <p:cNvSpPr/>
          <p:nvPr/>
        </p:nvSpPr>
        <p:spPr>
          <a:xfrm>
            <a:off x="3590621"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20</a:t>
            </a:r>
          </a:p>
        </p:txBody>
      </p:sp>
      <p:cxnSp>
        <p:nvCxnSpPr>
          <p:cNvPr id="16" name="Прямая со стрелкой 15">
            <a:extLst>
              <a:ext uri="{FF2B5EF4-FFF2-40B4-BE49-F238E27FC236}">
                <a16:creationId xmlns:a16="http://schemas.microsoft.com/office/drawing/2014/main" id="{930C16A4-2F84-4968-A5BC-3BC13A359D67}"/>
              </a:ext>
            </a:extLst>
          </p:cNvPr>
          <p:cNvCxnSpPr>
            <a:cxnSpLocks/>
            <a:stCxn id="10" idx="3"/>
            <a:endCxn id="12" idx="0"/>
          </p:cNvCxnSpPr>
          <p:nvPr/>
        </p:nvCxnSpPr>
        <p:spPr>
          <a:xfrm flipH="1">
            <a:off x="1249202" y="2572804"/>
            <a:ext cx="386346" cy="44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A8989324-6A8E-4E9E-9F53-8EBFD2297F2F}"/>
              </a:ext>
            </a:extLst>
          </p:cNvPr>
          <p:cNvCxnSpPr>
            <a:stCxn id="10" idx="5"/>
            <a:endCxn id="13" idx="0"/>
          </p:cNvCxnSpPr>
          <p:nvPr/>
        </p:nvCxnSpPr>
        <p:spPr>
          <a:xfrm>
            <a:off x="2058148" y="2572804"/>
            <a:ext cx="87523" cy="428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4266762F-2A63-46BC-A2C8-83323A448B6B}"/>
              </a:ext>
            </a:extLst>
          </p:cNvPr>
          <p:cNvCxnSpPr>
            <a:cxnSpLocks/>
            <a:stCxn id="9" idx="2"/>
            <a:endCxn id="10" idx="0"/>
          </p:cNvCxnSpPr>
          <p:nvPr/>
        </p:nvCxnSpPr>
        <p:spPr>
          <a:xfrm flipH="1">
            <a:off x="1846848"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43945A57-84C6-42F0-93F5-9DFC3052D2A6}"/>
              </a:ext>
            </a:extLst>
          </p:cNvPr>
          <p:cNvCxnSpPr>
            <a:cxnSpLocks/>
            <a:stCxn id="9" idx="6"/>
            <a:endCxn id="11" idx="0"/>
          </p:cNvCxnSpPr>
          <p:nvPr/>
        </p:nvCxnSpPr>
        <p:spPr>
          <a:xfrm>
            <a:off x="2743317"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72F24221-E943-4F91-82D9-B12F312D78B9}"/>
              </a:ext>
            </a:extLst>
          </p:cNvPr>
          <p:cNvCxnSpPr>
            <a:cxnSpLocks/>
            <a:stCxn id="11" idx="4"/>
            <a:endCxn id="14" idx="0"/>
          </p:cNvCxnSpPr>
          <p:nvPr/>
        </p:nvCxnSpPr>
        <p:spPr>
          <a:xfrm>
            <a:off x="3042140" y="2660327"/>
            <a:ext cx="0" cy="35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0CCE205E-6A81-4710-8174-C0B774558640}"/>
              </a:ext>
            </a:extLst>
          </p:cNvPr>
          <p:cNvCxnSpPr>
            <a:cxnSpLocks/>
            <a:stCxn id="11" idx="6"/>
            <a:endCxn id="15" idx="0"/>
          </p:cNvCxnSpPr>
          <p:nvPr/>
        </p:nvCxnSpPr>
        <p:spPr>
          <a:xfrm>
            <a:off x="3340963" y="2361504"/>
            <a:ext cx="548481" cy="657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Овал 21">
            <a:extLst>
              <a:ext uri="{FF2B5EF4-FFF2-40B4-BE49-F238E27FC236}">
                <a16:creationId xmlns:a16="http://schemas.microsoft.com/office/drawing/2014/main" id="{A6FD3F84-EFD7-47D7-BBE0-F0B879611E02}"/>
              </a:ext>
            </a:extLst>
          </p:cNvPr>
          <p:cNvSpPr/>
          <p:nvPr/>
        </p:nvSpPr>
        <p:spPr>
          <a:xfrm>
            <a:off x="651556" y="3852615"/>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rgbClr val="FF0000"/>
                </a:solidFill>
              </a:rPr>
              <a:t>9</a:t>
            </a:r>
          </a:p>
        </p:txBody>
      </p:sp>
      <p:cxnSp>
        <p:nvCxnSpPr>
          <p:cNvPr id="23" name="Прямая со стрелкой 22">
            <a:extLst>
              <a:ext uri="{FF2B5EF4-FFF2-40B4-BE49-F238E27FC236}">
                <a16:creationId xmlns:a16="http://schemas.microsoft.com/office/drawing/2014/main" id="{84BCA4F1-A4BA-444F-BE73-E1D39F2E34BA}"/>
              </a:ext>
            </a:extLst>
          </p:cNvPr>
          <p:cNvCxnSpPr>
            <a:stCxn id="12" idx="3"/>
            <a:endCxn id="22" idx="0"/>
          </p:cNvCxnSpPr>
          <p:nvPr/>
        </p:nvCxnSpPr>
        <p:spPr>
          <a:xfrm flipH="1">
            <a:off x="950379" y="3529361"/>
            <a:ext cx="87523" cy="323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C1FBE1A-57E5-4658-AE17-0DA627A13E3A}"/>
              </a:ext>
            </a:extLst>
          </p:cNvPr>
          <p:cNvSpPr txBox="1"/>
          <p:nvPr/>
        </p:nvSpPr>
        <p:spPr bwMode="auto">
          <a:xfrm>
            <a:off x="950379" y="4962972"/>
            <a:ext cx="4318503" cy="338554"/>
          </a:xfrm>
          <a:prstGeom prst="rect">
            <a:avLst/>
          </a:prstGeom>
        </p:spPr>
        <p:txBody>
          <a:bodyPr wrap="square" rtlCol="0">
            <a:spAutoFit/>
          </a:bodyPr>
          <a:lstStyle/>
          <a:p>
            <a:r>
              <a:rPr lang="ru-RU" sz="1600" dirty="0"/>
              <a:t>0    1      2     3       4          5         6       7</a:t>
            </a:r>
            <a:endParaRPr lang="ru-RU" sz="1100" dirty="0"/>
          </a:p>
        </p:txBody>
      </p:sp>
      <p:sp>
        <p:nvSpPr>
          <p:cNvPr id="25" name="Прямоугольник 24">
            <a:extLst>
              <a:ext uri="{FF2B5EF4-FFF2-40B4-BE49-F238E27FC236}">
                <a16:creationId xmlns:a16="http://schemas.microsoft.com/office/drawing/2014/main" id="{D77355C6-6A31-4BD6-AEAE-2732FB2155F9}"/>
              </a:ext>
            </a:extLst>
          </p:cNvPr>
          <p:cNvSpPr/>
          <p:nvPr/>
        </p:nvSpPr>
        <p:spPr>
          <a:xfrm>
            <a:off x="5051979" y="2787077"/>
            <a:ext cx="7210628" cy="523220"/>
          </a:xfrm>
          <a:prstGeom prst="rect">
            <a:avLst/>
          </a:prstGeom>
        </p:spPr>
        <p:txBody>
          <a:bodyPr wrap="none">
            <a:spAutoFit/>
          </a:bodyPr>
          <a:lstStyle/>
          <a:p>
            <a:r>
              <a:rPr lang="ru-RU" sz="2800" dirty="0"/>
              <a:t>Шаг 2. Переносим последний элемент</a:t>
            </a:r>
            <a:r>
              <a:rPr lang="en-US" sz="2800" dirty="0"/>
              <a:t> </a:t>
            </a:r>
            <a:r>
              <a:rPr lang="ru-RU" sz="2800" dirty="0"/>
              <a:t>наверх</a:t>
            </a:r>
          </a:p>
        </p:txBody>
      </p:sp>
    </p:spTree>
    <p:extLst>
      <p:ext uri="{BB962C8B-B14F-4D97-AF65-F5344CB8AC3E}">
        <p14:creationId xmlns:p14="http://schemas.microsoft.com/office/powerpoint/2010/main" val="1201371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6517A5-D426-4E13-82E8-24D6D46684CE}"/>
              </a:ext>
            </a:extLst>
          </p:cNvPr>
          <p:cNvSpPr>
            <a:spLocks noGrp="1"/>
          </p:cNvSpPr>
          <p:nvPr>
            <p:ph type="title"/>
          </p:nvPr>
        </p:nvSpPr>
        <p:spPr/>
        <p:txBody>
          <a:bodyPr/>
          <a:lstStyle/>
          <a:p>
            <a:r>
              <a:rPr lang="ru-RU" dirty="0"/>
              <a:t>Извлечение минимума</a:t>
            </a:r>
          </a:p>
        </p:txBody>
      </p:sp>
      <p:sp>
        <p:nvSpPr>
          <p:cNvPr id="7" name="Текст 6">
            <a:extLst>
              <a:ext uri="{FF2B5EF4-FFF2-40B4-BE49-F238E27FC236}">
                <a16:creationId xmlns:a16="http://schemas.microsoft.com/office/drawing/2014/main" id="{A0C7F765-159B-46E6-888A-551BA91087A2}"/>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AC3FABB1-07E2-4AED-8863-3A0E29DF30D3}"/>
              </a:ext>
            </a:extLst>
          </p:cNvPr>
          <p:cNvSpPr txBox="1"/>
          <p:nvPr/>
        </p:nvSpPr>
        <p:spPr bwMode="auto">
          <a:xfrm>
            <a:off x="733476" y="5283638"/>
            <a:ext cx="4318503" cy="523220"/>
          </a:xfrm>
          <a:prstGeom prst="rect">
            <a:avLst/>
          </a:prstGeom>
        </p:spPr>
        <p:txBody>
          <a:bodyPr wrap="square" rtlCol="0">
            <a:spAutoFit/>
          </a:bodyPr>
          <a:lstStyle/>
          <a:p>
            <a:r>
              <a:rPr lang="ru-RU" sz="2800" dirty="0"/>
              <a:t>[</a:t>
            </a:r>
            <a:r>
              <a:rPr lang="ru-RU" sz="2800" dirty="0">
                <a:solidFill>
                  <a:srgbClr val="FF0000"/>
                </a:solidFill>
              </a:rPr>
              <a:t> 9</a:t>
            </a:r>
            <a:r>
              <a:rPr lang="ru-RU" sz="2800" dirty="0"/>
              <a:t>, 3, 7, 5, 12, 10, 20]</a:t>
            </a:r>
            <a:endParaRPr lang="ru-RU" dirty="0"/>
          </a:p>
        </p:txBody>
      </p:sp>
      <p:sp>
        <p:nvSpPr>
          <p:cNvPr id="9" name="Овал 8">
            <a:extLst>
              <a:ext uri="{FF2B5EF4-FFF2-40B4-BE49-F238E27FC236}">
                <a16:creationId xmlns:a16="http://schemas.microsoft.com/office/drawing/2014/main" id="{9F48196B-B9AF-4E67-BFE7-46880AE0F57D}"/>
              </a:ext>
            </a:extLst>
          </p:cNvPr>
          <p:cNvSpPr/>
          <p:nvPr/>
        </p:nvSpPr>
        <p:spPr>
          <a:xfrm>
            <a:off x="2145671" y="1312752"/>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rgbClr val="FF0000"/>
                </a:solidFill>
              </a:rPr>
              <a:t>9</a:t>
            </a:r>
          </a:p>
        </p:txBody>
      </p:sp>
      <p:sp>
        <p:nvSpPr>
          <p:cNvPr id="10" name="Овал 9">
            <a:extLst>
              <a:ext uri="{FF2B5EF4-FFF2-40B4-BE49-F238E27FC236}">
                <a16:creationId xmlns:a16="http://schemas.microsoft.com/office/drawing/2014/main" id="{6EFF1251-5023-49C6-97B3-857B99D5F4F6}"/>
              </a:ext>
            </a:extLst>
          </p:cNvPr>
          <p:cNvSpPr/>
          <p:nvPr/>
        </p:nvSpPr>
        <p:spPr>
          <a:xfrm>
            <a:off x="1548025"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3</a:t>
            </a:r>
          </a:p>
        </p:txBody>
      </p:sp>
      <p:sp>
        <p:nvSpPr>
          <p:cNvPr id="11" name="Овал 10">
            <a:extLst>
              <a:ext uri="{FF2B5EF4-FFF2-40B4-BE49-F238E27FC236}">
                <a16:creationId xmlns:a16="http://schemas.microsoft.com/office/drawing/2014/main" id="{FE112C38-A313-4B84-81B8-C1BB9E8D8B59}"/>
              </a:ext>
            </a:extLst>
          </p:cNvPr>
          <p:cNvSpPr/>
          <p:nvPr/>
        </p:nvSpPr>
        <p:spPr>
          <a:xfrm>
            <a:off x="2743317"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7</a:t>
            </a:r>
          </a:p>
        </p:txBody>
      </p:sp>
      <p:sp>
        <p:nvSpPr>
          <p:cNvPr id="12" name="Овал 11">
            <a:extLst>
              <a:ext uri="{FF2B5EF4-FFF2-40B4-BE49-F238E27FC236}">
                <a16:creationId xmlns:a16="http://schemas.microsoft.com/office/drawing/2014/main" id="{81E9B69A-10A2-4EA6-8DC8-FCD8E1B8A929}"/>
              </a:ext>
            </a:extLst>
          </p:cNvPr>
          <p:cNvSpPr/>
          <p:nvPr/>
        </p:nvSpPr>
        <p:spPr>
          <a:xfrm>
            <a:off x="950379"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5</a:t>
            </a:r>
          </a:p>
        </p:txBody>
      </p:sp>
      <p:sp>
        <p:nvSpPr>
          <p:cNvPr id="13" name="Овал 12">
            <a:extLst>
              <a:ext uri="{FF2B5EF4-FFF2-40B4-BE49-F238E27FC236}">
                <a16:creationId xmlns:a16="http://schemas.microsoft.com/office/drawing/2014/main" id="{1A7C5654-1F76-47E7-BD1D-DCA7C666983C}"/>
              </a:ext>
            </a:extLst>
          </p:cNvPr>
          <p:cNvSpPr/>
          <p:nvPr/>
        </p:nvSpPr>
        <p:spPr>
          <a:xfrm>
            <a:off x="1846848" y="3001350"/>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12</a:t>
            </a:r>
          </a:p>
        </p:txBody>
      </p:sp>
      <p:sp>
        <p:nvSpPr>
          <p:cNvPr id="14" name="Овал 13">
            <a:extLst>
              <a:ext uri="{FF2B5EF4-FFF2-40B4-BE49-F238E27FC236}">
                <a16:creationId xmlns:a16="http://schemas.microsoft.com/office/drawing/2014/main" id="{AA1833E1-EFFA-4C86-8942-8CB64A9EC088}"/>
              </a:ext>
            </a:extLst>
          </p:cNvPr>
          <p:cNvSpPr/>
          <p:nvPr/>
        </p:nvSpPr>
        <p:spPr>
          <a:xfrm>
            <a:off x="2743317"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10</a:t>
            </a:r>
          </a:p>
        </p:txBody>
      </p:sp>
      <p:sp>
        <p:nvSpPr>
          <p:cNvPr id="15" name="Овал 14">
            <a:extLst>
              <a:ext uri="{FF2B5EF4-FFF2-40B4-BE49-F238E27FC236}">
                <a16:creationId xmlns:a16="http://schemas.microsoft.com/office/drawing/2014/main" id="{EAF3E0A6-2887-4DA9-BC4D-1E2283B1F0DF}"/>
              </a:ext>
            </a:extLst>
          </p:cNvPr>
          <p:cNvSpPr/>
          <p:nvPr/>
        </p:nvSpPr>
        <p:spPr>
          <a:xfrm>
            <a:off x="3590621"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20</a:t>
            </a:r>
          </a:p>
        </p:txBody>
      </p:sp>
      <p:cxnSp>
        <p:nvCxnSpPr>
          <p:cNvPr id="16" name="Прямая со стрелкой 15">
            <a:extLst>
              <a:ext uri="{FF2B5EF4-FFF2-40B4-BE49-F238E27FC236}">
                <a16:creationId xmlns:a16="http://schemas.microsoft.com/office/drawing/2014/main" id="{930C16A4-2F84-4968-A5BC-3BC13A359D67}"/>
              </a:ext>
            </a:extLst>
          </p:cNvPr>
          <p:cNvCxnSpPr>
            <a:cxnSpLocks/>
            <a:stCxn id="10" idx="3"/>
            <a:endCxn id="12" idx="0"/>
          </p:cNvCxnSpPr>
          <p:nvPr/>
        </p:nvCxnSpPr>
        <p:spPr>
          <a:xfrm flipH="1">
            <a:off x="1249202" y="2572804"/>
            <a:ext cx="386346" cy="44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A8989324-6A8E-4E9E-9F53-8EBFD2297F2F}"/>
              </a:ext>
            </a:extLst>
          </p:cNvPr>
          <p:cNvCxnSpPr>
            <a:stCxn id="10" idx="5"/>
            <a:endCxn id="13" idx="0"/>
          </p:cNvCxnSpPr>
          <p:nvPr/>
        </p:nvCxnSpPr>
        <p:spPr>
          <a:xfrm>
            <a:off x="2058148" y="2572804"/>
            <a:ext cx="87523" cy="428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4266762F-2A63-46BC-A2C8-83323A448B6B}"/>
              </a:ext>
            </a:extLst>
          </p:cNvPr>
          <p:cNvCxnSpPr>
            <a:cxnSpLocks/>
            <a:stCxn id="9" idx="2"/>
            <a:endCxn id="10" idx="0"/>
          </p:cNvCxnSpPr>
          <p:nvPr/>
        </p:nvCxnSpPr>
        <p:spPr>
          <a:xfrm flipH="1">
            <a:off x="1846848"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43945A57-84C6-42F0-93F5-9DFC3052D2A6}"/>
              </a:ext>
            </a:extLst>
          </p:cNvPr>
          <p:cNvCxnSpPr>
            <a:cxnSpLocks/>
            <a:stCxn id="9" idx="6"/>
            <a:endCxn id="11" idx="0"/>
          </p:cNvCxnSpPr>
          <p:nvPr/>
        </p:nvCxnSpPr>
        <p:spPr>
          <a:xfrm>
            <a:off x="2743317"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72F24221-E943-4F91-82D9-B12F312D78B9}"/>
              </a:ext>
            </a:extLst>
          </p:cNvPr>
          <p:cNvCxnSpPr>
            <a:cxnSpLocks/>
            <a:stCxn id="11" idx="4"/>
            <a:endCxn id="14" idx="0"/>
          </p:cNvCxnSpPr>
          <p:nvPr/>
        </p:nvCxnSpPr>
        <p:spPr>
          <a:xfrm>
            <a:off x="3042140" y="2660327"/>
            <a:ext cx="0" cy="35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0CCE205E-6A81-4710-8174-C0B774558640}"/>
              </a:ext>
            </a:extLst>
          </p:cNvPr>
          <p:cNvCxnSpPr>
            <a:cxnSpLocks/>
            <a:stCxn id="11" idx="6"/>
            <a:endCxn id="15" idx="0"/>
          </p:cNvCxnSpPr>
          <p:nvPr/>
        </p:nvCxnSpPr>
        <p:spPr>
          <a:xfrm>
            <a:off x="3340963" y="2361504"/>
            <a:ext cx="548481" cy="657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C1FBE1A-57E5-4658-AE17-0DA627A13E3A}"/>
              </a:ext>
            </a:extLst>
          </p:cNvPr>
          <p:cNvSpPr txBox="1"/>
          <p:nvPr/>
        </p:nvSpPr>
        <p:spPr bwMode="auto">
          <a:xfrm>
            <a:off x="950379" y="4962972"/>
            <a:ext cx="4318503" cy="338554"/>
          </a:xfrm>
          <a:prstGeom prst="rect">
            <a:avLst/>
          </a:prstGeom>
        </p:spPr>
        <p:txBody>
          <a:bodyPr wrap="square" rtlCol="0">
            <a:spAutoFit/>
          </a:bodyPr>
          <a:lstStyle/>
          <a:p>
            <a:r>
              <a:rPr lang="ru-RU" sz="1600" dirty="0"/>
              <a:t>0    1      2     3       4          5         6       </a:t>
            </a:r>
            <a:endParaRPr lang="ru-RU" sz="1100" dirty="0"/>
          </a:p>
        </p:txBody>
      </p:sp>
      <p:sp>
        <p:nvSpPr>
          <p:cNvPr id="25" name="Прямоугольник 24">
            <a:extLst>
              <a:ext uri="{FF2B5EF4-FFF2-40B4-BE49-F238E27FC236}">
                <a16:creationId xmlns:a16="http://schemas.microsoft.com/office/drawing/2014/main" id="{A546BDF2-8B6C-4EC2-9DCD-B91E0CAE2C05}"/>
              </a:ext>
            </a:extLst>
          </p:cNvPr>
          <p:cNvSpPr/>
          <p:nvPr/>
        </p:nvSpPr>
        <p:spPr>
          <a:xfrm>
            <a:off x="5051979" y="2787077"/>
            <a:ext cx="5564344" cy="954107"/>
          </a:xfrm>
          <a:prstGeom prst="rect">
            <a:avLst/>
          </a:prstGeom>
        </p:spPr>
        <p:txBody>
          <a:bodyPr wrap="none">
            <a:spAutoFit/>
          </a:bodyPr>
          <a:lstStyle/>
          <a:p>
            <a:r>
              <a:rPr lang="ru-RU" sz="2800" dirty="0"/>
              <a:t>Шаг 3. Сравниваем со связанными </a:t>
            </a:r>
          </a:p>
          <a:p>
            <a:r>
              <a:rPr lang="ru-RU" sz="2800" dirty="0"/>
              <a:t>элементами ниже</a:t>
            </a:r>
          </a:p>
        </p:txBody>
      </p:sp>
    </p:spTree>
    <p:extLst>
      <p:ext uri="{BB962C8B-B14F-4D97-AF65-F5344CB8AC3E}">
        <p14:creationId xmlns:p14="http://schemas.microsoft.com/office/powerpoint/2010/main" val="425916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6517A5-D426-4E13-82E8-24D6D46684CE}"/>
              </a:ext>
            </a:extLst>
          </p:cNvPr>
          <p:cNvSpPr>
            <a:spLocks noGrp="1"/>
          </p:cNvSpPr>
          <p:nvPr>
            <p:ph type="title"/>
          </p:nvPr>
        </p:nvSpPr>
        <p:spPr/>
        <p:txBody>
          <a:bodyPr/>
          <a:lstStyle/>
          <a:p>
            <a:r>
              <a:rPr lang="ru-RU" dirty="0"/>
              <a:t>Извлечение минимума</a:t>
            </a:r>
          </a:p>
        </p:txBody>
      </p:sp>
      <p:sp>
        <p:nvSpPr>
          <p:cNvPr id="7" name="Текст 6">
            <a:extLst>
              <a:ext uri="{FF2B5EF4-FFF2-40B4-BE49-F238E27FC236}">
                <a16:creationId xmlns:a16="http://schemas.microsoft.com/office/drawing/2014/main" id="{A0C7F765-159B-46E6-888A-551BA91087A2}"/>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AC3FABB1-07E2-4AED-8863-3A0E29DF30D3}"/>
              </a:ext>
            </a:extLst>
          </p:cNvPr>
          <p:cNvSpPr txBox="1"/>
          <p:nvPr/>
        </p:nvSpPr>
        <p:spPr bwMode="auto">
          <a:xfrm>
            <a:off x="733476" y="5283638"/>
            <a:ext cx="4318503" cy="523220"/>
          </a:xfrm>
          <a:prstGeom prst="rect">
            <a:avLst/>
          </a:prstGeom>
        </p:spPr>
        <p:txBody>
          <a:bodyPr wrap="square" rtlCol="0">
            <a:spAutoFit/>
          </a:bodyPr>
          <a:lstStyle/>
          <a:p>
            <a:r>
              <a:rPr lang="ru-RU" sz="2800" dirty="0"/>
              <a:t>[</a:t>
            </a:r>
            <a:r>
              <a:rPr lang="ru-RU" sz="2800" dirty="0">
                <a:solidFill>
                  <a:srgbClr val="FF0000"/>
                </a:solidFill>
              </a:rPr>
              <a:t> 9</a:t>
            </a:r>
            <a:r>
              <a:rPr lang="ru-RU" sz="2800" dirty="0"/>
              <a:t>, </a:t>
            </a:r>
            <a:r>
              <a:rPr lang="ru-RU" sz="2800" dirty="0">
                <a:solidFill>
                  <a:srgbClr val="0070C0"/>
                </a:solidFill>
              </a:rPr>
              <a:t>3</a:t>
            </a:r>
            <a:r>
              <a:rPr lang="ru-RU" sz="2800" dirty="0"/>
              <a:t>, </a:t>
            </a:r>
            <a:r>
              <a:rPr lang="ru-RU" sz="2800" dirty="0">
                <a:solidFill>
                  <a:srgbClr val="0070C0"/>
                </a:solidFill>
              </a:rPr>
              <a:t>7</a:t>
            </a:r>
            <a:r>
              <a:rPr lang="ru-RU" sz="2800" dirty="0"/>
              <a:t>, 5, 12, 10, 20]</a:t>
            </a:r>
            <a:endParaRPr lang="ru-RU" dirty="0"/>
          </a:p>
        </p:txBody>
      </p:sp>
      <p:sp>
        <p:nvSpPr>
          <p:cNvPr id="9" name="Овал 8">
            <a:extLst>
              <a:ext uri="{FF2B5EF4-FFF2-40B4-BE49-F238E27FC236}">
                <a16:creationId xmlns:a16="http://schemas.microsoft.com/office/drawing/2014/main" id="{9F48196B-B9AF-4E67-BFE7-46880AE0F57D}"/>
              </a:ext>
            </a:extLst>
          </p:cNvPr>
          <p:cNvSpPr/>
          <p:nvPr/>
        </p:nvSpPr>
        <p:spPr>
          <a:xfrm>
            <a:off x="2145671" y="1312752"/>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rgbClr val="FF0000"/>
                </a:solidFill>
              </a:rPr>
              <a:t>9</a:t>
            </a:r>
          </a:p>
        </p:txBody>
      </p:sp>
      <p:sp>
        <p:nvSpPr>
          <p:cNvPr id="10" name="Овал 9">
            <a:extLst>
              <a:ext uri="{FF2B5EF4-FFF2-40B4-BE49-F238E27FC236}">
                <a16:creationId xmlns:a16="http://schemas.microsoft.com/office/drawing/2014/main" id="{6EFF1251-5023-49C6-97B3-857B99D5F4F6}"/>
              </a:ext>
            </a:extLst>
          </p:cNvPr>
          <p:cNvSpPr/>
          <p:nvPr/>
        </p:nvSpPr>
        <p:spPr>
          <a:xfrm>
            <a:off x="1548025"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rgbClr val="0070C0"/>
                </a:solidFill>
              </a:rPr>
              <a:t>3</a:t>
            </a:r>
          </a:p>
        </p:txBody>
      </p:sp>
      <p:sp>
        <p:nvSpPr>
          <p:cNvPr id="11" name="Овал 10">
            <a:extLst>
              <a:ext uri="{FF2B5EF4-FFF2-40B4-BE49-F238E27FC236}">
                <a16:creationId xmlns:a16="http://schemas.microsoft.com/office/drawing/2014/main" id="{FE112C38-A313-4B84-81B8-C1BB9E8D8B59}"/>
              </a:ext>
            </a:extLst>
          </p:cNvPr>
          <p:cNvSpPr/>
          <p:nvPr/>
        </p:nvSpPr>
        <p:spPr>
          <a:xfrm>
            <a:off x="2743317"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rgbClr val="0070C0"/>
                </a:solidFill>
              </a:rPr>
              <a:t>7</a:t>
            </a:r>
          </a:p>
        </p:txBody>
      </p:sp>
      <p:sp>
        <p:nvSpPr>
          <p:cNvPr id="12" name="Овал 11">
            <a:extLst>
              <a:ext uri="{FF2B5EF4-FFF2-40B4-BE49-F238E27FC236}">
                <a16:creationId xmlns:a16="http://schemas.microsoft.com/office/drawing/2014/main" id="{81E9B69A-10A2-4EA6-8DC8-FCD8E1B8A929}"/>
              </a:ext>
            </a:extLst>
          </p:cNvPr>
          <p:cNvSpPr/>
          <p:nvPr/>
        </p:nvSpPr>
        <p:spPr>
          <a:xfrm>
            <a:off x="950379"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5</a:t>
            </a:r>
          </a:p>
        </p:txBody>
      </p:sp>
      <p:sp>
        <p:nvSpPr>
          <p:cNvPr id="13" name="Овал 12">
            <a:extLst>
              <a:ext uri="{FF2B5EF4-FFF2-40B4-BE49-F238E27FC236}">
                <a16:creationId xmlns:a16="http://schemas.microsoft.com/office/drawing/2014/main" id="{1A7C5654-1F76-47E7-BD1D-DCA7C666983C}"/>
              </a:ext>
            </a:extLst>
          </p:cNvPr>
          <p:cNvSpPr/>
          <p:nvPr/>
        </p:nvSpPr>
        <p:spPr>
          <a:xfrm>
            <a:off x="1846848" y="3001350"/>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12</a:t>
            </a:r>
          </a:p>
        </p:txBody>
      </p:sp>
      <p:sp>
        <p:nvSpPr>
          <p:cNvPr id="14" name="Овал 13">
            <a:extLst>
              <a:ext uri="{FF2B5EF4-FFF2-40B4-BE49-F238E27FC236}">
                <a16:creationId xmlns:a16="http://schemas.microsoft.com/office/drawing/2014/main" id="{AA1833E1-EFFA-4C86-8942-8CB64A9EC088}"/>
              </a:ext>
            </a:extLst>
          </p:cNvPr>
          <p:cNvSpPr/>
          <p:nvPr/>
        </p:nvSpPr>
        <p:spPr>
          <a:xfrm>
            <a:off x="2743317"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10</a:t>
            </a:r>
          </a:p>
        </p:txBody>
      </p:sp>
      <p:sp>
        <p:nvSpPr>
          <p:cNvPr id="15" name="Овал 14">
            <a:extLst>
              <a:ext uri="{FF2B5EF4-FFF2-40B4-BE49-F238E27FC236}">
                <a16:creationId xmlns:a16="http://schemas.microsoft.com/office/drawing/2014/main" id="{EAF3E0A6-2887-4DA9-BC4D-1E2283B1F0DF}"/>
              </a:ext>
            </a:extLst>
          </p:cNvPr>
          <p:cNvSpPr/>
          <p:nvPr/>
        </p:nvSpPr>
        <p:spPr>
          <a:xfrm>
            <a:off x="3590621"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20</a:t>
            </a:r>
          </a:p>
        </p:txBody>
      </p:sp>
      <p:cxnSp>
        <p:nvCxnSpPr>
          <p:cNvPr id="16" name="Прямая со стрелкой 15">
            <a:extLst>
              <a:ext uri="{FF2B5EF4-FFF2-40B4-BE49-F238E27FC236}">
                <a16:creationId xmlns:a16="http://schemas.microsoft.com/office/drawing/2014/main" id="{930C16A4-2F84-4968-A5BC-3BC13A359D67}"/>
              </a:ext>
            </a:extLst>
          </p:cNvPr>
          <p:cNvCxnSpPr>
            <a:cxnSpLocks/>
            <a:stCxn id="10" idx="3"/>
            <a:endCxn id="12" idx="0"/>
          </p:cNvCxnSpPr>
          <p:nvPr/>
        </p:nvCxnSpPr>
        <p:spPr>
          <a:xfrm flipH="1">
            <a:off x="1249202" y="2572804"/>
            <a:ext cx="386346" cy="44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A8989324-6A8E-4E9E-9F53-8EBFD2297F2F}"/>
              </a:ext>
            </a:extLst>
          </p:cNvPr>
          <p:cNvCxnSpPr>
            <a:stCxn id="10" idx="5"/>
            <a:endCxn id="13" idx="0"/>
          </p:cNvCxnSpPr>
          <p:nvPr/>
        </p:nvCxnSpPr>
        <p:spPr>
          <a:xfrm>
            <a:off x="2058148" y="2572804"/>
            <a:ext cx="87523" cy="428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4266762F-2A63-46BC-A2C8-83323A448B6B}"/>
              </a:ext>
            </a:extLst>
          </p:cNvPr>
          <p:cNvCxnSpPr>
            <a:cxnSpLocks/>
            <a:stCxn id="9" idx="2"/>
            <a:endCxn id="10" idx="0"/>
          </p:cNvCxnSpPr>
          <p:nvPr/>
        </p:nvCxnSpPr>
        <p:spPr>
          <a:xfrm flipH="1">
            <a:off x="1846848"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43945A57-84C6-42F0-93F5-9DFC3052D2A6}"/>
              </a:ext>
            </a:extLst>
          </p:cNvPr>
          <p:cNvCxnSpPr>
            <a:cxnSpLocks/>
            <a:stCxn id="9" idx="6"/>
            <a:endCxn id="11" idx="0"/>
          </p:cNvCxnSpPr>
          <p:nvPr/>
        </p:nvCxnSpPr>
        <p:spPr>
          <a:xfrm>
            <a:off x="2743317"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72F24221-E943-4F91-82D9-B12F312D78B9}"/>
              </a:ext>
            </a:extLst>
          </p:cNvPr>
          <p:cNvCxnSpPr>
            <a:cxnSpLocks/>
            <a:stCxn id="11" idx="4"/>
            <a:endCxn id="14" idx="0"/>
          </p:cNvCxnSpPr>
          <p:nvPr/>
        </p:nvCxnSpPr>
        <p:spPr>
          <a:xfrm>
            <a:off x="3042140" y="2660327"/>
            <a:ext cx="0" cy="35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0CCE205E-6A81-4710-8174-C0B774558640}"/>
              </a:ext>
            </a:extLst>
          </p:cNvPr>
          <p:cNvCxnSpPr>
            <a:cxnSpLocks/>
            <a:stCxn id="11" idx="6"/>
            <a:endCxn id="15" idx="0"/>
          </p:cNvCxnSpPr>
          <p:nvPr/>
        </p:nvCxnSpPr>
        <p:spPr>
          <a:xfrm>
            <a:off x="3340963" y="2361504"/>
            <a:ext cx="548481" cy="657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C1FBE1A-57E5-4658-AE17-0DA627A13E3A}"/>
              </a:ext>
            </a:extLst>
          </p:cNvPr>
          <p:cNvSpPr txBox="1"/>
          <p:nvPr/>
        </p:nvSpPr>
        <p:spPr bwMode="auto">
          <a:xfrm>
            <a:off x="950379" y="4962972"/>
            <a:ext cx="4318503" cy="338554"/>
          </a:xfrm>
          <a:prstGeom prst="rect">
            <a:avLst/>
          </a:prstGeom>
        </p:spPr>
        <p:txBody>
          <a:bodyPr wrap="square" rtlCol="0">
            <a:spAutoFit/>
          </a:bodyPr>
          <a:lstStyle/>
          <a:p>
            <a:r>
              <a:rPr lang="ru-RU" sz="1600" dirty="0"/>
              <a:t>0    1      2     3       4          5         6       </a:t>
            </a:r>
            <a:endParaRPr lang="ru-RU" sz="1100" dirty="0"/>
          </a:p>
        </p:txBody>
      </p:sp>
      <p:sp>
        <p:nvSpPr>
          <p:cNvPr id="22" name="Прямоугольник 21">
            <a:extLst>
              <a:ext uri="{FF2B5EF4-FFF2-40B4-BE49-F238E27FC236}">
                <a16:creationId xmlns:a16="http://schemas.microsoft.com/office/drawing/2014/main" id="{28702D09-6145-41C1-B007-94B2541C10D4}"/>
              </a:ext>
            </a:extLst>
          </p:cNvPr>
          <p:cNvSpPr/>
          <p:nvPr/>
        </p:nvSpPr>
        <p:spPr>
          <a:xfrm>
            <a:off x="4439102" y="5098972"/>
            <a:ext cx="4163319" cy="369332"/>
          </a:xfrm>
          <a:prstGeom prst="rect">
            <a:avLst/>
          </a:prstGeom>
        </p:spPr>
        <p:txBody>
          <a:bodyPr wrap="none">
            <a:spAutoFit/>
          </a:bodyPr>
          <a:lstStyle/>
          <a:p>
            <a:r>
              <a:rPr lang="ru-RU" dirty="0"/>
              <a:t>Левый дочерний элемент  = 2*0 + 1 </a:t>
            </a:r>
            <a:r>
              <a:rPr lang="en-US" dirty="0"/>
              <a:t>= </a:t>
            </a:r>
            <a:r>
              <a:rPr lang="ru-RU" dirty="0"/>
              <a:t>1</a:t>
            </a:r>
          </a:p>
        </p:txBody>
      </p:sp>
      <p:sp>
        <p:nvSpPr>
          <p:cNvPr id="23" name="Прямоугольник 22">
            <a:extLst>
              <a:ext uri="{FF2B5EF4-FFF2-40B4-BE49-F238E27FC236}">
                <a16:creationId xmlns:a16="http://schemas.microsoft.com/office/drawing/2014/main" id="{6EABEB8B-F44E-4702-B187-3471694F501C}"/>
              </a:ext>
            </a:extLst>
          </p:cNvPr>
          <p:cNvSpPr/>
          <p:nvPr/>
        </p:nvSpPr>
        <p:spPr>
          <a:xfrm>
            <a:off x="4439102" y="5486192"/>
            <a:ext cx="4092787" cy="369332"/>
          </a:xfrm>
          <a:prstGeom prst="rect">
            <a:avLst/>
          </a:prstGeom>
        </p:spPr>
        <p:txBody>
          <a:bodyPr wrap="none">
            <a:spAutoFit/>
          </a:bodyPr>
          <a:lstStyle/>
          <a:p>
            <a:r>
              <a:rPr lang="ru-RU" dirty="0"/>
              <a:t>Правый дочерний элемент = 2*0 + 2 </a:t>
            </a:r>
            <a:r>
              <a:rPr lang="en-US" dirty="0"/>
              <a:t>= </a:t>
            </a:r>
            <a:r>
              <a:rPr lang="ru-RU" dirty="0"/>
              <a:t>2</a:t>
            </a:r>
          </a:p>
        </p:txBody>
      </p:sp>
      <p:sp>
        <p:nvSpPr>
          <p:cNvPr id="25" name="Прямоугольник 24">
            <a:extLst>
              <a:ext uri="{FF2B5EF4-FFF2-40B4-BE49-F238E27FC236}">
                <a16:creationId xmlns:a16="http://schemas.microsoft.com/office/drawing/2014/main" id="{DF9E17F9-137C-4747-B550-108B5659CBAB}"/>
              </a:ext>
            </a:extLst>
          </p:cNvPr>
          <p:cNvSpPr/>
          <p:nvPr/>
        </p:nvSpPr>
        <p:spPr>
          <a:xfrm>
            <a:off x="5051979" y="2787077"/>
            <a:ext cx="3116559" cy="523220"/>
          </a:xfrm>
          <a:prstGeom prst="rect">
            <a:avLst/>
          </a:prstGeom>
        </p:spPr>
        <p:txBody>
          <a:bodyPr wrap="none">
            <a:spAutoFit/>
          </a:bodyPr>
          <a:lstStyle/>
          <a:p>
            <a:r>
              <a:rPr lang="ru-RU" sz="2800" dirty="0"/>
              <a:t>Шаг 4. Просеиваем</a:t>
            </a:r>
          </a:p>
        </p:txBody>
      </p:sp>
    </p:spTree>
    <p:extLst>
      <p:ext uri="{BB962C8B-B14F-4D97-AF65-F5344CB8AC3E}">
        <p14:creationId xmlns:p14="http://schemas.microsoft.com/office/powerpoint/2010/main" val="8845068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6517A5-D426-4E13-82E8-24D6D46684CE}"/>
              </a:ext>
            </a:extLst>
          </p:cNvPr>
          <p:cNvSpPr>
            <a:spLocks noGrp="1"/>
          </p:cNvSpPr>
          <p:nvPr>
            <p:ph type="title"/>
          </p:nvPr>
        </p:nvSpPr>
        <p:spPr>
          <a:xfrm>
            <a:off x="479425" y="597855"/>
            <a:ext cx="11229975" cy="1140459"/>
          </a:xfrm>
        </p:spPr>
        <p:txBody>
          <a:bodyPr/>
          <a:lstStyle/>
          <a:p>
            <a:r>
              <a:rPr lang="ru-RU" dirty="0"/>
              <a:t>Извлечение минимума</a:t>
            </a:r>
          </a:p>
        </p:txBody>
      </p:sp>
      <p:sp>
        <p:nvSpPr>
          <p:cNvPr id="7" name="Текст 6">
            <a:extLst>
              <a:ext uri="{FF2B5EF4-FFF2-40B4-BE49-F238E27FC236}">
                <a16:creationId xmlns:a16="http://schemas.microsoft.com/office/drawing/2014/main" id="{A0C7F765-159B-46E6-888A-551BA91087A2}"/>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AC3FABB1-07E2-4AED-8863-3A0E29DF30D3}"/>
              </a:ext>
            </a:extLst>
          </p:cNvPr>
          <p:cNvSpPr txBox="1"/>
          <p:nvPr/>
        </p:nvSpPr>
        <p:spPr bwMode="auto">
          <a:xfrm>
            <a:off x="733476" y="5283638"/>
            <a:ext cx="4318503" cy="523220"/>
          </a:xfrm>
          <a:prstGeom prst="rect">
            <a:avLst/>
          </a:prstGeom>
        </p:spPr>
        <p:txBody>
          <a:bodyPr wrap="square" rtlCol="0">
            <a:spAutoFit/>
          </a:bodyPr>
          <a:lstStyle/>
          <a:p>
            <a:r>
              <a:rPr lang="ru-RU" sz="2800" dirty="0"/>
              <a:t>[</a:t>
            </a:r>
            <a:r>
              <a:rPr lang="ru-RU" sz="2800" dirty="0">
                <a:solidFill>
                  <a:srgbClr val="FF0000"/>
                </a:solidFill>
              </a:rPr>
              <a:t> </a:t>
            </a:r>
            <a:r>
              <a:rPr lang="ru-RU" sz="2800" dirty="0"/>
              <a:t>3, </a:t>
            </a:r>
            <a:r>
              <a:rPr lang="ru-RU" sz="2800" dirty="0">
                <a:solidFill>
                  <a:srgbClr val="FF0000"/>
                </a:solidFill>
              </a:rPr>
              <a:t>9</a:t>
            </a:r>
            <a:r>
              <a:rPr lang="ru-RU" sz="2800" dirty="0"/>
              <a:t>, 7, 5, 12, 10, 20]</a:t>
            </a:r>
            <a:endParaRPr lang="ru-RU" dirty="0"/>
          </a:p>
        </p:txBody>
      </p:sp>
      <p:sp>
        <p:nvSpPr>
          <p:cNvPr id="9" name="Овал 8">
            <a:extLst>
              <a:ext uri="{FF2B5EF4-FFF2-40B4-BE49-F238E27FC236}">
                <a16:creationId xmlns:a16="http://schemas.microsoft.com/office/drawing/2014/main" id="{9F48196B-B9AF-4E67-BFE7-46880AE0F57D}"/>
              </a:ext>
            </a:extLst>
          </p:cNvPr>
          <p:cNvSpPr/>
          <p:nvPr/>
        </p:nvSpPr>
        <p:spPr>
          <a:xfrm>
            <a:off x="2145671" y="1312752"/>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chemeClr val="tx1"/>
                </a:solidFill>
              </a:rPr>
              <a:t>3</a:t>
            </a:r>
          </a:p>
        </p:txBody>
      </p:sp>
      <p:sp>
        <p:nvSpPr>
          <p:cNvPr id="10" name="Овал 9">
            <a:extLst>
              <a:ext uri="{FF2B5EF4-FFF2-40B4-BE49-F238E27FC236}">
                <a16:creationId xmlns:a16="http://schemas.microsoft.com/office/drawing/2014/main" id="{6EFF1251-5023-49C6-97B3-857B99D5F4F6}"/>
              </a:ext>
            </a:extLst>
          </p:cNvPr>
          <p:cNvSpPr/>
          <p:nvPr/>
        </p:nvSpPr>
        <p:spPr>
          <a:xfrm>
            <a:off x="1548025"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rgbClr val="FF0000"/>
                </a:solidFill>
              </a:rPr>
              <a:t>9</a:t>
            </a:r>
          </a:p>
        </p:txBody>
      </p:sp>
      <p:sp>
        <p:nvSpPr>
          <p:cNvPr id="11" name="Овал 10">
            <a:extLst>
              <a:ext uri="{FF2B5EF4-FFF2-40B4-BE49-F238E27FC236}">
                <a16:creationId xmlns:a16="http://schemas.microsoft.com/office/drawing/2014/main" id="{FE112C38-A313-4B84-81B8-C1BB9E8D8B59}"/>
              </a:ext>
            </a:extLst>
          </p:cNvPr>
          <p:cNvSpPr/>
          <p:nvPr/>
        </p:nvSpPr>
        <p:spPr>
          <a:xfrm>
            <a:off x="2743317"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chemeClr val="tx1"/>
                </a:solidFill>
              </a:rPr>
              <a:t>7</a:t>
            </a:r>
          </a:p>
        </p:txBody>
      </p:sp>
      <p:sp>
        <p:nvSpPr>
          <p:cNvPr id="12" name="Овал 11">
            <a:extLst>
              <a:ext uri="{FF2B5EF4-FFF2-40B4-BE49-F238E27FC236}">
                <a16:creationId xmlns:a16="http://schemas.microsoft.com/office/drawing/2014/main" id="{81E9B69A-10A2-4EA6-8DC8-FCD8E1B8A929}"/>
              </a:ext>
            </a:extLst>
          </p:cNvPr>
          <p:cNvSpPr/>
          <p:nvPr/>
        </p:nvSpPr>
        <p:spPr>
          <a:xfrm>
            <a:off x="950379"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rgbClr val="0070C0"/>
                </a:solidFill>
              </a:rPr>
              <a:t>5</a:t>
            </a:r>
          </a:p>
        </p:txBody>
      </p:sp>
      <p:sp>
        <p:nvSpPr>
          <p:cNvPr id="13" name="Овал 12">
            <a:extLst>
              <a:ext uri="{FF2B5EF4-FFF2-40B4-BE49-F238E27FC236}">
                <a16:creationId xmlns:a16="http://schemas.microsoft.com/office/drawing/2014/main" id="{1A7C5654-1F76-47E7-BD1D-DCA7C666983C}"/>
              </a:ext>
            </a:extLst>
          </p:cNvPr>
          <p:cNvSpPr/>
          <p:nvPr/>
        </p:nvSpPr>
        <p:spPr>
          <a:xfrm>
            <a:off x="1846848" y="3001350"/>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rgbClr val="0070C0"/>
                </a:solidFill>
              </a:rPr>
              <a:t>12</a:t>
            </a:r>
          </a:p>
        </p:txBody>
      </p:sp>
      <p:sp>
        <p:nvSpPr>
          <p:cNvPr id="14" name="Овал 13">
            <a:extLst>
              <a:ext uri="{FF2B5EF4-FFF2-40B4-BE49-F238E27FC236}">
                <a16:creationId xmlns:a16="http://schemas.microsoft.com/office/drawing/2014/main" id="{AA1833E1-EFFA-4C86-8942-8CB64A9EC088}"/>
              </a:ext>
            </a:extLst>
          </p:cNvPr>
          <p:cNvSpPr/>
          <p:nvPr/>
        </p:nvSpPr>
        <p:spPr>
          <a:xfrm>
            <a:off x="2743317"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10</a:t>
            </a:r>
          </a:p>
        </p:txBody>
      </p:sp>
      <p:sp>
        <p:nvSpPr>
          <p:cNvPr id="15" name="Овал 14">
            <a:extLst>
              <a:ext uri="{FF2B5EF4-FFF2-40B4-BE49-F238E27FC236}">
                <a16:creationId xmlns:a16="http://schemas.microsoft.com/office/drawing/2014/main" id="{EAF3E0A6-2887-4DA9-BC4D-1E2283B1F0DF}"/>
              </a:ext>
            </a:extLst>
          </p:cNvPr>
          <p:cNvSpPr/>
          <p:nvPr/>
        </p:nvSpPr>
        <p:spPr>
          <a:xfrm>
            <a:off x="3590621"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20</a:t>
            </a:r>
          </a:p>
        </p:txBody>
      </p:sp>
      <p:cxnSp>
        <p:nvCxnSpPr>
          <p:cNvPr id="16" name="Прямая со стрелкой 15">
            <a:extLst>
              <a:ext uri="{FF2B5EF4-FFF2-40B4-BE49-F238E27FC236}">
                <a16:creationId xmlns:a16="http://schemas.microsoft.com/office/drawing/2014/main" id="{930C16A4-2F84-4968-A5BC-3BC13A359D67}"/>
              </a:ext>
            </a:extLst>
          </p:cNvPr>
          <p:cNvCxnSpPr>
            <a:cxnSpLocks/>
            <a:stCxn id="10" idx="3"/>
            <a:endCxn id="12" idx="0"/>
          </p:cNvCxnSpPr>
          <p:nvPr/>
        </p:nvCxnSpPr>
        <p:spPr>
          <a:xfrm flipH="1">
            <a:off x="1249202" y="2572804"/>
            <a:ext cx="386346" cy="44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A8989324-6A8E-4E9E-9F53-8EBFD2297F2F}"/>
              </a:ext>
            </a:extLst>
          </p:cNvPr>
          <p:cNvCxnSpPr>
            <a:stCxn id="10" idx="5"/>
            <a:endCxn id="13" idx="0"/>
          </p:cNvCxnSpPr>
          <p:nvPr/>
        </p:nvCxnSpPr>
        <p:spPr>
          <a:xfrm>
            <a:off x="2058148" y="2572804"/>
            <a:ext cx="87523" cy="428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4266762F-2A63-46BC-A2C8-83323A448B6B}"/>
              </a:ext>
            </a:extLst>
          </p:cNvPr>
          <p:cNvCxnSpPr>
            <a:cxnSpLocks/>
            <a:stCxn id="9" idx="2"/>
            <a:endCxn id="10" idx="0"/>
          </p:cNvCxnSpPr>
          <p:nvPr/>
        </p:nvCxnSpPr>
        <p:spPr>
          <a:xfrm flipH="1">
            <a:off x="1846848"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43945A57-84C6-42F0-93F5-9DFC3052D2A6}"/>
              </a:ext>
            </a:extLst>
          </p:cNvPr>
          <p:cNvCxnSpPr>
            <a:cxnSpLocks/>
            <a:stCxn id="9" idx="6"/>
            <a:endCxn id="11" idx="0"/>
          </p:cNvCxnSpPr>
          <p:nvPr/>
        </p:nvCxnSpPr>
        <p:spPr>
          <a:xfrm>
            <a:off x="2743317"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72F24221-E943-4F91-82D9-B12F312D78B9}"/>
              </a:ext>
            </a:extLst>
          </p:cNvPr>
          <p:cNvCxnSpPr>
            <a:cxnSpLocks/>
            <a:stCxn id="11" idx="4"/>
            <a:endCxn id="14" idx="0"/>
          </p:cNvCxnSpPr>
          <p:nvPr/>
        </p:nvCxnSpPr>
        <p:spPr>
          <a:xfrm>
            <a:off x="3042140" y="2660327"/>
            <a:ext cx="0" cy="35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0CCE205E-6A81-4710-8174-C0B774558640}"/>
              </a:ext>
            </a:extLst>
          </p:cNvPr>
          <p:cNvCxnSpPr>
            <a:cxnSpLocks/>
            <a:stCxn id="11" idx="6"/>
            <a:endCxn id="15" idx="0"/>
          </p:cNvCxnSpPr>
          <p:nvPr/>
        </p:nvCxnSpPr>
        <p:spPr>
          <a:xfrm>
            <a:off x="3340963" y="2361504"/>
            <a:ext cx="548481" cy="657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C1FBE1A-57E5-4658-AE17-0DA627A13E3A}"/>
              </a:ext>
            </a:extLst>
          </p:cNvPr>
          <p:cNvSpPr txBox="1"/>
          <p:nvPr/>
        </p:nvSpPr>
        <p:spPr bwMode="auto">
          <a:xfrm>
            <a:off x="950379" y="4962972"/>
            <a:ext cx="4318503" cy="338554"/>
          </a:xfrm>
          <a:prstGeom prst="rect">
            <a:avLst/>
          </a:prstGeom>
        </p:spPr>
        <p:txBody>
          <a:bodyPr wrap="square" rtlCol="0">
            <a:spAutoFit/>
          </a:bodyPr>
          <a:lstStyle/>
          <a:p>
            <a:r>
              <a:rPr lang="ru-RU" sz="1600" dirty="0"/>
              <a:t>0    1      2     3       4          5         6       </a:t>
            </a:r>
            <a:endParaRPr lang="ru-RU" sz="1100" dirty="0"/>
          </a:p>
        </p:txBody>
      </p:sp>
      <p:sp>
        <p:nvSpPr>
          <p:cNvPr id="22" name="Прямоугольник 21">
            <a:extLst>
              <a:ext uri="{FF2B5EF4-FFF2-40B4-BE49-F238E27FC236}">
                <a16:creationId xmlns:a16="http://schemas.microsoft.com/office/drawing/2014/main" id="{28702D09-6145-41C1-B007-94B2541C10D4}"/>
              </a:ext>
            </a:extLst>
          </p:cNvPr>
          <p:cNvSpPr/>
          <p:nvPr/>
        </p:nvSpPr>
        <p:spPr>
          <a:xfrm>
            <a:off x="4439102" y="5098972"/>
            <a:ext cx="4163319" cy="369332"/>
          </a:xfrm>
          <a:prstGeom prst="rect">
            <a:avLst/>
          </a:prstGeom>
        </p:spPr>
        <p:txBody>
          <a:bodyPr wrap="none">
            <a:spAutoFit/>
          </a:bodyPr>
          <a:lstStyle/>
          <a:p>
            <a:r>
              <a:rPr lang="ru-RU" dirty="0"/>
              <a:t>Левый дочерний элемент  = 2*1 + 1 </a:t>
            </a:r>
            <a:r>
              <a:rPr lang="en-US" dirty="0"/>
              <a:t>= </a:t>
            </a:r>
            <a:r>
              <a:rPr lang="ru-RU" dirty="0"/>
              <a:t>3</a:t>
            </a:r>
          </a:p>
        </p:txBody>
      </p:sp>
      <p:sp>
        <p:nvSpPr>
          <p:cNvPr id="23" name="Прямоугольник 22">
            <a:extLst>
              <a:ext uri="{FF2B5EF4-FFF2-40B4-BE49-F238E27FC236}">
                <a16:creationId xmlns:a16="http://schemas.microsoft.com/office/drawing/2014/main" id="{6EABEB8B-F44E-4702-B187-3471694F501C}"/>
              </a:ext>
            </a:extLst>
          </p:cNvPr>
          <p:cNvSpPr/>
          <p:nvPr/>
        </p:nvSpPr>
        <p:spPr>
          <a:xfrm>
            <a:off x="4439102" y="5486192"/>
            <a:ext cx="4092787" cy="369332"/>
          </a:xfrm>
          <a:prstGeom prst="rect">
            <a:avLst/>
          </a:prstGeom>
        </p:spPr>
        <p:txBody>
          <a:bodyPr wrap="none">
            <a:spAutoFit/>
          </a:bodyPr>
          <a:lstStyle/>
          <a:p>
            <a:r>
              <a:rPr lang="ru-RU" dirty="0"/>
              <a:t>Правый дочерний элемент = 2*1 + 2 </a:t>
            </a:r>
            <a:r>
              <a:rPr lang="en-US" dirty="0"/>
              <a:t>= </a:t>
            </a:r>
            <a:r>
              <a:rPr lang="ru-RU" dirty="0"/>
              <a:t>4</a:t>
            </a:r>
          </a:p>
        </p:txBody>
      </p:sp>
      <p:sp>
        <p:nvSpPr>
          <p:cNvPr id="25" name="Прямоугольник 24">
            <a:extLst>
              <a:ext uri="{FF2B5EF4-FFF2-40B4-BE49-F238E27FC236}">
                <a16:creationId xmlns:a16="http://schemas.microsoft.com/office/drawing/2014/main" id="{E9C566E8-B0A4-4414-9764-8BD8F6E21847}"/>
              </a:ext>
            </a:extLst>
          </p:cNvPr>
          <p:cNvSpPr/>
          <p:nvPr/>
        </p:nvSpPr>
        <p:spPr>
          <a:xfrm>
            <a:off x="5051979" y="2787077"/>
            <a:ext cx="5564344" cy="954107"/>
          </a:xfrm>
          <a:prstGeom prst="rect">
            <a:avLst/>
          </a:prstGeom>
        </p:spPr>
        <p:txBody>
          <a:bodyPr wrap="none">
            <a:spAutoFit/>
          </a:bodyPr>
          <a:lstStyle/>
          <a:p>
            <a:r>
              <a:rPr lang="ru-RU" sz="2800" dirty="0"/>
              <a:t>Шаг 5. Сравниваем со связанными </a:t>
            </a:r>
          </a:p>
          <a:p>
            <a:r>
              <a:rPr lang="ru-RU" sz="2800" dirty="0"/>
              <a:t>элементами ниже</a:t>
            </a:r>
          </a:p>
        </p:txBody>
      </p:sp>
    </p:spTree>
    <p:extLst>
      <p:ext uri="{BB962C8B-B14F-4D97-AF65-F5344CB8AC3E}">
        <p14:creationId xmlns:p14="http://schemas.microsoft.com/office/powerpoint/2010/main" val="37204125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6517A5-D426-4E13-82E8-24D6D46684CE}"/>
              </a:ext>
            </a:extLst>
          </p:cNvPr>
          <p:cNvSpPr>
            <a:spLocks noGrp="1"/>
          </p:cNvSpPr>
          <p:nvPr>
            <p:ph type="title"/>
          </p:nvPr>
        </p:nvSpPr>
        <p:spPr>
          <a:xfrm>
            <a:off x="479425" y="597855"/>
            <a:ext cx="11229975" cy="1140459"/>
          </a:xfrm>
        </p:spPr>
        <p:txBody>
          <a:bodyPr/>
          <a:lstStyle/>
          <a:p>
            <a:r>
              <a:rPr lang="ru-RU" dirty="0"/>
              <a:t>Извлечение минимума</a:t>
            </a:r>
          </a:p>
        </p:txBody>
      </p:sp>
      <p:sp>
        <p:nvSpPr>
          <p:cNvPr id="7" name="Текст 6">
            <a:extLst>
              <a:ext uri="{FF2B5EF4-FFF2-40B4-BE49-F238E27FC236}">
                <a16:creationId xmlns:a16="http://schemas.microsoft.com/office/drawing/2014/main" id="{A0C7F765-159B-46E6-888A-551BA91087A2}"/>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AC3FABB1-07E2-4AED-8863-3A0E29DF30D3}"/>
              </a:ext>
            </a:extLst>
          </p:cNvPr>
          <p:cNvSpPr txBox="1"/>
          <p:nvPr/>
        </p:nvSpPr>
        <p:spPr bwMode="auto">
          <a:xfrm>
            <a:off x="733476" y="5283638"/>
            <a:ext cx="4318503" cy="523220"/>
          </a:xfrm>
          <a:prstGeom prst="rect">
            <a:avLst/>
          </a:prstGeom>
        </p:spPr>
        <p:txBody>
          <a:bodyPr wrap="square" rtlCol="0">
            <a:spAutoFit/>
          </a:bodyPr>
          <a:lstStyle/>
          <a:p>
            <a:r>
              <a:rPr lang="ru-RU" sz="2800" dirty="0"/>
              <a:t>[</a:t>
            </a:r>
            <a:r>
              <a:rPr lang="ru-RU" sz="2800" dirty="0">
                <a:solidFill>
                  <a:srgbClr val="FF0000"/>
                </a:solidFill>
              </a:rPr>
              <a:t> </a:t>
            </a:r>
            <a:r>
              <a:rPr lang="ru-RU" sz="2800" dirty="0"/>
              <a:t>3, 9, 7, 5, 12, 10, 20]</a:t>
            </a:r>
            <a:endParaRPr lang="ru-RU" dirty="0"/>
          </a:p>
        </p:txBody>
      </p:sp>
      <p:sp>
        <p:nvSpPr>
          <p:cNvPr id="9" name="Овал 8">
            <a:extLst>
              <a:ext uri="{FF2B5EF4-FFF2-40B4-BE49-F238E27FC236}">
                <a16:creationId xmlns:a16="http://schemas.microsoft.com/office/drawing/2014/main" id="{9F48196B-B9AF-4E67-BFE7-46880AE0F57D}"/>
              </a:ext>
            </a:extLst>
          </p:cNvPr>
          <p:cNvSpPr/>
          <p:nvPr/>
        </p:nvSpPr>
        <p:spPr>
          <a:xfrm>
            <a:off x="2145671" y="1312752"/>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chemeClr val="tx1"/>
                </a:solidFill>
              </a:rPr>
              <a:t>3</a:t>
            </a:r>
          </a:p>
        </p:txBody>
      </p:sp>
      <p:sp>
        <p:nvSpPr>
          <p:cNvPr id="10" name="Овал 9">
            <a:extLst>
              <a:ext uri="{FF2B5EF4-FFF2-40B4-BE49-F238E27FC236}">
                <a16:creationId xmlns:a16="http://schemas.microsoft.com/office/drawing/2014/main" id="{6EFF1251-5023-49C6-97B3-857B99D5F4F6}"/>
              </a:ext>
            </a:extLst>
          </p:cNvPr>
          <p:cNvSpPr/>
          <p:nvPr/>
        </p:nvSpPr>
        <p:spPr>
          <a:xfrm>
            <a:off x="1548025"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chemeClr val="tx1"/>
                </a:solidFill>
              </a:rPr>
              <a:t>9</a:t>
            </a:r>
          </a:p>
        </p:txBody>
      </p:sp>
      <p:sp>
        <p:nvSpPr>
          <p:cNvPr id="11" name="Овал 10">
            <a:extLst>
              <a:ext uri="{FF2B5EF4-FFF2-40B4-BE49-F238E27FC236}">
                <a16:creationId xmlns:a16="http://schemas.microsoft.com/office/drawing/2014/main" id="{FE112C38-A313-4B84-81B8-C1BB9E8D8B59}"/>
              </a:ext>
            </a:extLst>
          </p:cNvPr>
          <p:cNvSpPr/>
          <p:nvPr/>
        </p:nvSpPr>
        <p:spPr>
          <a:xfrm>
            <a:off x="2743317" y="2062681"/>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chemeClr val="tx1"/>
                </a:solidFill>
              </a:rPr>
              <a:t>7</a:t>
            </a:r>
          </a:p>
        </p:txBody>
      </p:sp>
      <p:sp>
        <p:nvSpPr>
          <p:cNvPr id="12" name="Овал 11">
            <a:extLst>
              <a:ext uri="{FF2B5EF4-FFF2-40B4-BE49-F238E27FC236}">
                <a16:creationId xmlns:a16="http://schemas.microsoft.com/office/drawing/2014/main" id="{81E9B69A-10A2-4EA6-8DC8-FCD8E1B8A929}"/>
              </a:ext>
            </a:extLst>
          </p:cNvPr>
          <p:cNvSpPr/>
          <p:nvPr/>
        </p:nvSpPr>
        <p:spPr>
          <a:xfrm>
            <a:off x="950379"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chemeClr val="tx1"/>
                </a:solidFill>
              </a:rPr>
              <a:t>5</a:t>
            </a:r>
          </a:p>
        </p:txBody>
      </p:sp>
      <p:sp>
        <p:nvSpPr>
          <p:cNvPr id="13" name="Овал 12">
            <a:extLst>
              <a:ext uri="{FF2B5EF4-FFF2-40B4-BE49-F238E27FC236}">
                <a16:creationId xmlns:a16="http://schemas.microsoft.com/office/drawing/2014/main" id="{1A7C5654-1F76-47E7-BD1D-DCA7C666983C}"/>
              </a:ext>
            </a:extLst>
          </p:cNvPr>
          <p:cNvSpPr/>
          <p:nvPr/>
        </p:nvSpPr>
        <p:spPr>
          <a:xfrm>
            <a:off x="1846848" y="3001350"/>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chemeClr val="tx1"/>
                </a:solidFill>
              </a:rPr>
              <a:t>12</a:t>
            </a:r>
          </a:p>
        </p:txBody>
      </p:sp>
      <p:sp>
        <p:nvSpPr>
          <p:cNvPr id="14" name="Овал 13">
            <a:extLst>
              <a:ext uri="{FF2B5EF4-FFF2-40B4-BE49-F238E27FC236}">
                <a16:creationId xmlns:a16="http://schemas.microsoft.com/office/drawing/2014/main" id="{AA1833E1-EFFA-4C86-8942-8CB64A9EC088}"/>
              </a:ext>
            </a:extLst>
          </p:cNvPr>
          <p:cNvSpPr/>
          <p:nvPr/>
        </p:nvSpPr>
        <p:spPr>
          <a:xfrm>
            <a:off x="2743317"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10</a:t>
            </a:r>
          </a:p>
        </p:txBody>
      </p:sp>
      <p:sp>
        <p:nvSpPr>
          <p:cNvPr id="15" name="Овал 14">
            <a:extLst>
              <a:ext uri="{FF2B5EF4-FFF2-40B4-BE49-F238E27FC236}">
                <a16:creationId xmlns:a16="http://schemas.microsoft.com/office/drawing/2014/main" id="{EAF3E0A6-2887-4DA9-BC4D-1E2283B1F0DF}"/>
              </a:ext>
            </a:extLst>
          </p:cNvPr>
          <p:cNvSpPr/>
          <p:nvPr/>
        </p:nvSpPr>
        <p:spPr>
          <a:xfrm>
            <a:off x="3590621" y="301923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20</a:t>
            </a:r>
          </a:p>
        </p:txBody>
      </p:sp>
      <p:cxnSp>
        <p:nvCxnSpPr>
          <p:cNvPr id="16" name="Прямая со стрелкой 15">
            <a:extLst>
              <a:ext uri="{FF2B5EF4-FFF2-40B4-BE49-F238E27FC236}">
                <a16:creationId xmlns:a16="http://schemas.microsoft.com/office/drawing/2014/main" id="{930C16A4-2F84-4968-A5BC-3BC13A359D67}"/>
              </a:ext>
            </a:extLst>
          </p:cNvPr>
          <p:cNvCxnSpPr>
            <a:cxnSpLocks/>
            <a:stCxn id="10" idx="3"/>
            <a:endCxn id="12" idx="0"/>
          </p:cNvCxnSpPr>
          <p:nvPr/>
        </p:nvCxnSpPr>
        <p:spPr>
          <a:xfrm flipH="1">
            <a:off x="1249202" y="2572804"/>
            <a:ext cx="386346" cy="44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A8989324-6A8E-4E9E-9F53-8EBFD2297F2F}"/>
              </a:ext>
            </a:extLst>
          </p:cNvPr>
          <p:cNvCxnSpPr>
            <a:stCxn id="10" idx="5"/>
            <a:endCxn id="13" idx="0"/>
          </p:cNvCxnSpPr>
          <p:nvPr/>
        </p:nvCxnSpPr>
        <p:spPr>
          <a:xfrm>
            <a:off x="2058148" y="2572804"/>
            <a:ext cx="87523" cy="428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4266762F-2A63-46BC-A2C8-83323A448B6B}"/>
              </a:ext>
            </a:extLst>
          </p:cNvPr>
          <p:cNvCxnSpPr>
            <a:cxnSpLocks/>
            <a:stCxn id="9" idx="2"/>
            <a:endCxn id="10" idx="0"/>
          </p:cNvCxnSpPr>
          <p:nvPr/>
        </p:nvCxnSpPr>
        <p:spPr>
          <a:xfrm flipH="1">
            <a:off x="1846848"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43945A57-84C6-42F0-93F5-9DFC3052D2A6}"/>
              </a:ext>
            </a:extLst>
          </p:cNvPr>
          <p:cNvCxnSpPr>
            <a:cxnSpLocks/>
            <a:stCxn id="9" idx="6"/>
            <a:endCxn id="11" idx="0"/>
          </p:cNvCxnSpPr>
          <p:nvPr/>
        </p:nvCxnSpPr>
        <p:spPr>
          <a:xfrm>
            <a:off x="2743317" y="1611575"/>
            <a:ext cx="29882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72F24221-E943-4F91-82D9-B12F312D78B9}"/>
              </a:ext>
            </a:extLst>
          </p:cNvPr>
          <p:cNvCxnSpPr>
            <a:cxnSpLocks/>
            <a:stCxn id="11" idx="4"/>
            <a:endCxn id="14" idx="0"/>
          </p:cNvCxnSpPr>
          <p:nvPr/>
        </p:nvCxnSpPr>
        <p:spPr>
          <a:xfrm>
            <a:off x="3042140" y="2660327"/>
            <a:ext cx="0" cy="35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0CCE205E-6A81-4710-8174-C0B774558640}"/>
              </a:ext>
            </a:extLst>
          </p:cNvPr>
          <p:cNvCxnSpPr>
            <a:cxnSpLocks/>
            <a:stCxn id="11" idx="6"/>
            <a:endCxn id="15" idx="0"/>
          </p:cNvCxnSpPr>
          <p:nvPr/>
        </p:nvCxnSpPr>
        <p:spPr>
          <a:xfrm>
            <a:off x="3340963" y="2361504"/>
            <a:ext cx="548481" cy="657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C1FBE1A-57E5-4658-AE17-0DA627A13E3A}"/>
              </a:ext>
            </a:extLst>
          </p:cNvPr>
          <p:cNvSpPr txBox="1"/>
          <p:nvPr/>
        </p:nvSpPr>
        <p:spPr bwMode="auto">
          <a:xfrm>
            <a:off x="950379" y="4962972"/>
            <a:ext cx="4318503" cy="338554"/>
          </a:xfrm>
          <a:prstGeom prst="rect">
            <a:avLst/>
          </a:prstGeom>
        </p:spPr>
        <p:txBody>
          <a:bodyPr wrap="square" rtlCol="0">
            <a:spAutoFit/>
          </a:bodyPr>
          <a:lstStyle/>
          <a:p>
            <a:r>
              <a:rPr lang="ru-RU" sz="1600" dirty="0"/>
              <a:t>0    1      2     3       4          5         6       </a:t>
            </a:r>
            <a:endParaRPr lang="ru-RU" sz="1100" dirty="0"/>
          </a:p>
        </p:txBody>
      </p:sp>
      <p:sp>
        <p:nvSpPr>
          <p:cNvPr id="25" name="Прямоугольник: скругленные углы 24">
            <a:extLst>
              <a:ext uri="{FF2B5EF4-FFF2-40B4-BE49-F238E27FC236}">
                <a16:creationId xmlns:a16="http://schemas.microsoft.com/office/drawing/2014/main" id="{F38916C3-E16E-435C-9144-2913974ED509}"/>
              </a:ext>
            </a:extLst>
          </p:cNvPr>
          <p:cNvSpPr/>
          <p:nvPr/>
        </p:nvSpPr>
        <p:spPr>
          <a:xfrm>
            <a:off x="6437014" y="1312752"/>
            <a:ext cx="5272386" cy="134757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Просеивание вниз </a:t>
            </a:r>
            <a:r>
              <a:rPr lang="ru-RU" b="1" dirty="0"/>
              <a:t>(</a:t>
            </a:r>
            <a:r>
              <a:rPr lang="ru-RU" b="1" dirty="0" err="1"/>
              <a:t>sift</a:t>
            </a:r>
            <a:r>
              <a:rPr lang="ru-RU" b="1" dirty="0"/>
              <a:t> </a:t>
            </a:r>
            <a:r>
              <a:rPr lang="en-US" b="1" dirty="0"/>
              <a:t>down</a:t>
            </a:r>
            <a:r>
              <a:rPr lang="ru-RU" b="1" dirty="0"/>
              <a:t>)</a:t>
            </a:r>
            <a:r>
              <a:rPr lang="ru-RU" dirty="0"/>
              <a:t> — последовательное перемещение элемента вниз по куче до тех пор, пока не восстановится её основное свойство.</a:t>
            </a:r>
          </a:p>
        </p:txBody>
      </p:sp>
      <p:sp>
        <p:nvSpPr>
          <p:cNvPr id="26" name="Прямоугольник: скругленные углы 25">
            <a:extLst>
              <a:ext uri="{FF2B5EF4-FFF2-40B4-BE49-F238E27FC236}">
                <a16:creationId xmlns:a16="http://schemas.microsoft.com/office/drawing/2014/main" id="{D224C2C8-3BED-4AD8-97FC-EFDAEBE528FB}"/>
              </a:ext>
            </a:extLst>
          </p:cNvPr>
          <p:cNvSpPr/>
          <p:nvPr/>
        </p:nvSpPr>
        <p:spPr>
          <a:xfrm>
            <a:off x="6437014" y="2855573"/>
            <a:ext cx="5272386" cy="134757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Просмотр минимального элемента:</a:t>
            </a:r>
            <a:r>
              <a:rPr lang="en-US" dirty="0"/>
              <a:t> </a:t>
            </a:r>
            <a:r>
              <a:rPr lang="en-US" b="1" dirty="0"/>
              <a:t>O(1)</a:t>
            </a:r>
          </a:p>
          <a:p>
            <a:pPr algn="ctr"/>
            <a:r>
              <a:rPr lang="ru-RU" dirty="0"/>
              <a:t>Извлечение минимального элемента:</a:t>
            </a:r>
            <a:r>
              <a:rPr lang="en-US" dirty="0"/>
              <a:t> </a:t>
            </a:r>
            <a:r>
              <a:rPr lang="en-US" b="1" dirty="0"/>
              <a:t>O(log(N))</a:t>
            </a:r>
            <a:endParaRPr lang="ru-RU" b="1" dirty="0"/>
          </a:p>
        </p:txBody>
      </p:sp>
    </p:spTree>
    <p:extLst>
      <p:ext uri="{BB962C8B-B14F-4D97-AF65-F5344CB8AC3E}">
        <p14:creationId xmlns:p14="http://schemas.microsoft.com/office/powerpoint/2010/main" val="27241779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1E04E0-2229-4499-B234-76C2321F0738}"/>
              </a:ext>
            </a:extLst>
          </p:cNvPr>
          <p:cNvSpPr>
            <a:spLocks noGrp="1"/>
          </p:cNvSpPr>
          <p:nvPr>
            <p:ph type="title"/>
          </p:nvPr>
        </p:nvSpPr>
        <p:spPr/>
        <p:txBody>
          <a:bodyPr/>
          <a:lstStyle/>
          <a:p>
            <a:r>
              <a:rPr lang="ru-RU" dirty="0"/>
              <a:t>Что куча делает хорошо, а что плохо</a:t>
            </a:r>
          </a:p>
        </p:txBody>
      </p:sp>
      <p:sp>
        <p:nvSpPr>
          <p:cNvPr id="7" name="Текст 6">
            <a:extLst>
              <a:ext uri="{FF2B5EF4-FFF2-40B4-BE49-F238E27FC236}">
                <a16:creationId xmlns:a16="http://schemas.microsoft.com/office/drawing/2014/main" id="{8B2FD0D4-244A-4885-80C4-A34FF5E3F47A}"/>
              </a:ext>
            </a:extLst>
          </p:cNvPr>
          <p:cNvSpPr>
            <a:spLocks noGrp="1"/>
          </p:cNvSpPr>
          <p:nvPr>
            <p:ph type="body" sz="quarter" idx="19"/>
          </p:nvPr>
        </p:nvSpPr>
        <p:spPr/>
        <p:txBody>
          <a:bodyPr/>
          <a:lstStyle/>
          <a:p>
            <a:endParaRPr lang="ru-RU"/>
          </a:p>
        </p:txBody>
      </p:sp>
      <p:cxnSp>
        <p:nvCxnSpPr>
          <p:cNvPr id="9" name="Прямая соединительная линия 8">
            <a:extLst>
              <a:ext uri="{FF2B5EF4-FFF2-40B4-BE49-F238E27FC236}">
                <a16:creationId xmlns:a16="http://schemas.microsoft.com/office/drawing/2014/main" id="{828ED409-EE51-4585-8741-E4B536F40CBB}"/>
              </a:ext>
            </a:extLst>
          </p:cNvPr>
          <p:cNvCxnSpPr>
            <a:cxnSpLocks/>
          </p:cNvCxnSpPr>
          <p:nvPr/>
        </p:nvCxnSpPr>
        <p:spPr>
          <a:xfrm>
            <a:off x="6096000" y="1167897"/>
            <a:ext cx="0" cy="5690103"/>
          </a:xfrm>
          <a:prstGeom prst="line">
            <a:avLst/>
          </a:prstGeom>
        </p:spPr>
        <p:style>
          <a:lnRef idx="1">
            <a:schemeClr val="accent1"/>
          </a:lnRef>
          <a:fillRef idx="0">
            <a:schemeClr val="accent1"/>
          </a:fillRef>
          <a:effectRef idx="0">
            <a:schemeClr val="accent1"/>
          </a:effectRef>
          <a:fontRef idx="minor">
            <a:schemeClr val="tx1"/>
          </a:fontRef>
        </p:style>
      </p:cxnSp>
      <p:sp>
        <p:nvSpPr>
          <p:cNvPr id="11" name="Прямоугольник: скругленные углы 10">
            <a:extLst>
              <a:ext uri="{FF2B5EF4-FFF2-40B4-BE49-F238E27FC236}">
                <a16:creationId xmlns:a16="http://schemas.microsoft.com/office/drawing/2014/main" id="{088DE1F4-0DD9-468D-8524-7CB0C512AAC6}"/>
              </a:ext>
            </a:extLst>
          </p:cNvPr>
          <p:cNvSpPr/>
          <p:nvPr/>
        </p:nvSpPr>
        <p:spPr>
          <a:xfrm>
            <a:off x="1683944" y="1403336"/>
            <a:ext cx="2788449" cy="6699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Хорошо</a:t>
            </a:r>
          </a:p>
        </p:txBody>
      </p:sp>
      <p:sp>
        <p:nvSpPr>
          <p:cNvPr id="13" name="TextBox 12">
            <a:extLst>
              <a:ext uri="{FF2B5EF4-FFF2-40B4-BE49-F238E27FC236}">
                <a16:creationId xmlns:a16="http://schemas.microsoft.com/office/drawing/2014/main" id="{4B56EEDE-1827-4532-BC95-5A8C0EAF8E61}"/>
              </a:ext>
            </a:extLst>
          </p:cNvPr>
          <p:cNvSpPr txBox="1"/>
          <p:nvPr/>
        </p:nvSpPr>
        <p:spPr bwMode="auto">
          <a:xfrm>
            <a:off x="344033" y="2498756"/>
            <a:ext cx="5549768" cy="2862322"/>
          </a:xfrm>
          <a:prstGeom prst="rect">
            <a:avLst/>
          </a:prstGeom>
        </p:spPr>
        <p:txBody>
          <a:bodyPr wrap="square" rtlCol="0">
            <a:spAutoFit/>
          </a:bodyPr>
          <a:lstStyle/>
          <a:p>
            <a:pPr marL="285750" indent="-285750">
              <a:buFont typeface="Arial" panose="020B0604020202020204" pitchFamily="34" charset="0"/>
              <a:buChar char="•"/>
            </a:pPr>
            <a:r>
              <a:rPr lang="ru-RU" dirty="0"/>
              <a:t>Получить минимум или максимум</a:t>
            </a:r>
            <a:br>
              <a:rPr lang="ru-RU" dirty="0"/>
            </a:br>
            <a:r>
              <a:rPr lang="ru-RU" dirty="0"/>
              <a:t>O(1) для просмотра</a:t>
            </a:r>
          </a:p>
          <a:p>
            <a:pPr marL="285750" indent="-285750">
              <a:buFont typeface="Arial" panose="020B0604020202020204" pitchFamily="34" charset="0"/>
              <a:buChar char="•"/>
            </a:pPr>
            <a:r>
              <a:rPr lang="ru-RU" dirty="0"/>
              <a:t>Добавить новый элемент</a:t>
            </a:r>
            <a:br>
              <a:rPr lang="ru-RU" dirty="0"/>
            </a:br>
            <a:r>
              <a:rPr lang="ru-RU" dirty="0"/>
              <a:t>O(</a:t>
            </a:r>
            <a:r>
              <a:rPr lang="ru-RU" dirty="0" err="1"/>
              <a:t>log</a:t>
            </a:r>
            <a:r>
              <a:rPr lang="ru-RU" dirty="0"/>
              <a:t> n)</a:t>
            </a:r>
          </a:p>
          <a:p>
            <a:pPr marL="285750" indent="-285750">
              <a:buFont typeface="Arial" panose="020B0604020202020204" pitchFamily="34" charset="0"/>
              <a:buChar char="•"/>
            </a:pPr>
            <a:r>
              <a:rPr lang="ru-RU" dirty="0"/>
              <a:t>Удалить минимум или максимум</a:t>
            </a:r>
            <a:br>
              <a:rPr lang="ru-RU" dirty="0"/>
            </a:br>
            <a:r>
              <a:rPr lang="ru-RU" dirty="0"/>
              <a:t>O(</a:t>
            </a:r>
            <a:r>
              <a:rPr lang="ru-RU" dirty="0" err="1"/>
              <a:t>log</a:t>
            </a:r>
            <a:r>
              <a:rPr lang="ru-RU" dirty="0"/>
              <a:t> n)</a:t>
            </a:r>
          </a:p>
          <a:p>
            <a:pPr marL="285750" indent="-285750">
              <a:buFont typeface="Arial" panose="020B0604020202020204" pitchFamily="34" charset="0"/>
              <a:buChar char="•"/>
            </a:pPr>
            <a:r>
              <a:rPr lang="ru-RU" dirty="0"/>
              <a:t>Работать с приоритетами</a:t>
            </a:r>
            <a:br>
              <a:rPr lang="ru-RU" dirty="0"/>
            </a:br>
            <a:r>
              <a:rPr lang="ru-RU" dirty="0"/>
              <a:t>Куча хорошо подходит для задач, где важен лучший элемент</a:t>
            </a:r>
          </a:p>
          <a:p>
            <a:endParaRPr lang="ru-RU" dirty="0"/>
          </a:p>
        </p:txBody>
      </p:sp>
      <p:sp>
        <p:nvSpPr>
          <p:cNvPr id="14" name="Прямоугольник: скругленные углы 13">
            <a:extLst>
              <a:ext uri="{FF2B5EF4-FFF2-40B4-BE49-F238E27FC236}">
                <a16:creationId xmlns:a16="http://schemas.microsoft.com/office/drawing/2014/main" id="{388BB584-8980-441B-8F15-E20E1BEDEA0B}"/>
              </a:ext>
            </a:extLst>
          </p:cNvPr>
          <p:cNvSpPr/>
          <p:nvPr/>
        </p:nvSpPr>
        <p:spPr>
          <a:xfrm>
            <a:off x="7719607" y="1403336"/>
            <a:ext cx="2788449" cy="6699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Плохо</a:t>
            </a:r>
          </a:p>
        </p:txBody>
      </p:sp>
      <p:sp>
        <p:nvSpPr>
          <p:cNvPr id="15" name="TextBox 14">
            <a:extLst>
              <a:ext uri="{FF2B5EF4-FFF2-40B4-BE49-F238E27FC236}">
                <a16:creationId xmlns:a16="http://schemas.microsoft.com/office/drawing/2014/main" id="{B7D53178-DAB2-4320-BA45-C12BACF0B369}"/>
              </a:ext>
            </a:extLst>
          </p:cNvPr>
          <p:cNvSpPr txBox="1"/>
          <p:nvPr/>
        </p:nvSpPr>
        <p:spPr bwMode="auto">
          <a:xfrm>
            <a:off x="6298200" y="2498756"/>
            <a:ext cx="6040159" cy="2308324"/>
          </a:xfrm>
          <a:prstGeom prst="rect">
            <a:avLst/>
          </a:prstGeom>
        </p:spPr>
        <p:txBody>
          <a:bodyPr wrap="square" rtlCol="0">
            <a:spAutoFit/>
          </a:bodyPr>
          <a:lstStyle/>
          <a:p>
            <a:pPr marL="285750" indent="-285750">
              <a:buFont typeface="Arial" panose="020B0604020202020204" pitchFamily="34" charset="0"/>
              <a:buChar char="•"/>
            </a:pPr>
            <a:r>
              <a:rPr lang="ru-RU" dirty="0"/>
              <a:t>Искать произвольный элемент</a:t>
            </a:r>
            <a:br>
              <a:rPr lang="ru-RU" dirty="0"/>
            </a:br>
            <a:r>
              <a:rPr lang="ru-RU" dirty="0"/>
              <a:t>До O(n)</a:t>
            </a:r>
          </a:p>
          <a:p>
            <a:pPr marL="285750" indent="-285750">
              <a:buFont typeface="Arial" panose="020B0604020202020204" pitchFamily="34" charset="0"/>
              <a:buChar char="•"/>
            </a:pPr>
            <a:r>
              <a:rPr lang="ru-RU" dirty="0"/>
              <a:t>Искать объект по ключу</a:t>
            </a:r>
            <a:br>
              <a:rPr lang="ru-RU" dirty="0"/>
            </a:br>
            <a:r>
              <a:rPr lang="ru-RU" dirty="0"/>
              <a:t>Для этого лучше подходит хеш-таблица</a:t>
            </a:r>
          </a:p>
          <a:p>
            <a:pPr marL="285750" indent="-285750">
              <a:buFont typeface="Arial" panose="020B0604020202020204" pitchFamily="34" charset="0"/>
              <a:buChar char="•"/>
            </a:pPr>
            <a:r>
              <a:rPr lang="ru-RU" dirty="0"/>
              <a:t>Получать полностью отсортированные данные</a:t>
            </a:r>
            <a:br>
              <a:rPr lang="ru-RU" dirty="0"/>
            </a:br>
            <a:r>
              <a:rPr lang="ru-RU" dirty="0"/>
              <a:t>Куча не хранит полный порядок</a:t>
            </a:r>
          </a:p>
          <a:p>
            <a:pPr marL="285750" indent="-285750">
              <a:buFont typeface="Arial" panose="020B0604020202020204" pitchFamily="34" charset="0"/>
              <a:buChar char="•"/>
            </a:pPr>
            <a:r>
              <a:rPr lang="ru-RU" dirty="0"/>
              <a:t>Обращаться к элементам по произвольному критерию</a:t>
            </a:r>
            <a:br>
              <a:rPr lang="ru-RU" dirty="0"/>
            </a:br>
            <a:r>
              <a:rPr lang="ru-RU" dirty="0"/>
              <a:t>Структура оптимизирована не для всех типов поиска</a:t>
            </a:r>
          </a:p>
        </p:txBody>
      </p:sp>
      <p:sp>
        <p:nvSpPr>
          <p:cNvPr id="17" name="Прямоугольник: скругленные углы 16">
            <a:extLst>
              <a:ext uri="{FF2B5EF4-FFF2-40B4-BE49-F238E27FC236}">
                <a16:creationId xmlns:a16="http://schemas.microsoft.com/office/drawing/2014/main" id="{5C5E04C8-D523-44A1-B641-841412D58266}"/>
              </a:ext>
            </a:extLst>
          </p:cNvPr>
          <p:cNvSpPr/>
          <p:nvPr/>
        </p:nvSpPr>
        <p:spPr>
          <a:xfrm>
            <a:off x="2092784" y="5567522"/>
            <a:ext cx="8003256" cy="9491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Куча хранит только тот порядок, который нужен для быстрого доступа к </a:t>
            </a:r>
            <a:r>
              <a:rPr lang="ru-RU" dirty="0" err="1"/>
              <a:t>min</a:t>
            </a:r>
            <a:r>
              <a:rPr lang="en-US" dirty="0"/>
              <a:t>|</a:t>
            </a:r>
            <a:r>
              <a:rPr lang="ru-RU" dirty="0" err="1"/>
              <a:t>max</a:t>
            </a:r>
            <a:r>
              <a:rPr lang="ru-RU" dirty="0"/>
              <a:t>.</a:t>
            </a:r>
          </a:p>
        </p:txBody>
      </p:sp>
    </p:spTree>
    <p:extLst>
      <p:ext uri="{BB962C8B-B14F-4D97-AF65-F5344CB8AC3E}">
        <p14:creationId xmlns:p14="http://schemas.microsoft.com/office/powerpoint/2010/main" val="1949267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D253A9-560C-456E-9437-0DF8A5369BC9}"/>
              </a:ext>
            </a:extLst>
          </p:cNvPr>
          <p:cNvSpPr>
            <a:spLocks noGrp="1"/>
          </p:cNvSpPr>
          <p:nvPr>
            <p:ph type="title"/>
          </p:nvPr>
        </p:nvSpPr>
        <p:spPr/>
        <p:txBody>
          <a:bodyPr/>
          <a:lstStyle/>
          <a:p>
            <a:r>
              <a:rPr lang="ru-RU" dirty="0"/>
              <a:t>Где нужна приоритетная очередь</a:t>
            </a:r>
          </a:p>
        </p:txBody>
      </p:sp>
      <p:sp>
        <p:nvSpPr>
          <p:cNvPr id="7" name="Текст 6">
            <a:extLst>
              <a:ext uri="{FF2B5EF4-FFF2-40B4-BE49-F238E27FC236}">
                <a16:creationId xmlns:a16="http://schemas.microsoft.com/office/drawing/2014/main" id="{53081465-F97B-4471-9C62-2FA09F2D18A4}"/>
              </a:ext>
            </a:extLst>
          </p:cNvPr>
          <p:cNvSpPr>
            <a:spLocks noGrp="1"/>
          </p:cNvSpPr>
          <p:nvPr>
            <p:ph type="body" sz="quarter" idx="19"/>
          </p:nvPr>
        </p:nvSpPr>
        <p:spPr/>
        <p:txBody>
          <a:bodyPr/>
          <a:lstStyle/>
          <a:p>
            <a:endParaRPr lang="ru-RU"/>
          </a:p>
        </p:txBody>
      </p:sp>
      <p:grpSp>
        <p:nvGrpSpPr>
          <p:cNvPr id="8" name="Группа 7">
            <a:extLst>
              <a:ext uri="{FF2B5EF4-FFF2-40B4-BE49-F238E27FC236}">
                <a16:creationId xmlns:a16="http://schemas.microsoft.com/office/drawing/2014/main" id="{F368CF50-2880-486C-B856-A0870FC3E9A1}"/>
              </a:ext>
            </a:extLst>
          </p:cNvPr>
          <p:cNvGrpSpPr/>
          <p:nvPr/>
        </p:nvGrpSpPr>
        <p:grpSpPr>
          <a:xfrm>
            <a:off x="229355" y="1240326"/>
            <a:ext cx="2622488" cy="2353899"/>
            <a:chOff x="660903" y="1358034"/>
            <a:chExt cx="2190939" cy="2236191"/>
          </a:xfrm>
        </p:grpSpPr>
        <p:sp>
          <p:nvSpPr>
            <p:cNvPr id="9" name="Прямоугольник: скругленные углы 8">
              <a:extLst>
                <a:ext uri="{FF2B5EF4-FFF2-40B4-BE49-F238E27FC236}">
                  <a16:creationId xmlns:a16="http://schemas.microsoft.com/office/drawing/2014/main" id="{B7803715-E07E-419A-9528-E58A476BAA10}"/>
                </a:ext>
              </a:extLst>
            </p:cNvPr>
            <p:cNvSpPr/>
            <p:nvPr/>
          </p:nvSpPr>
          <p:spPr>
            <a:xfrm>
              <a:off x="660903" y="1647730"/>
              <a:ext cx="2190939" cy="194649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Каждая задача имеет приоритет, и следующей выполняется самая важная.</a:t>
              </a:r>
            </a:p>
          </p:txBody>
        </p:sp>
        <p:sp>
          <p:nvSpPr>
            <p:cNvPr id="10" name="Прямоугольник: скругленные углы 9">
              <a:extLst>
                <a:ext uri="{FF2B5EF4-FFF2-40B4-BE49-F238E27FC236}">
                  <a16:creationId xmlns:a16="http://schemas.microsoft.com/office/drawing/2014/main" id="{01E4C681-3AAE-4353-8206-2CAD6B3B1388}"/>
                </a:ext>
              </a:extLst>
            </p:cNvPr>
            <p:cNvSpPr/>
            <p:nvPr/>
          </p:nvSpPr>
          <p:spPr>
            <a:xfrm>
              <a:off x="660903" y="1358034"/>
              <a:ext cx="2190939" cy="76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Планировщик задач</a:t>
              </a:r>
            </a:p>
          </p:txBody>
        </p:sp>
      </p:grpSp>
      <p:grpSp>
        <p:nvGrpSpPr>
          <p:cNvPr id="11" name="Группа 10">
            <a:extLst>
              <a:ext uri="{FF2B5EF4-FFF2-40B4-BE49-F238E27FC236}">
                <a16:creationId xmlns:a16="http://schemas.microsoft.com/office/drawing/2014/main" id="{3287B61B-2914-46C3-8C3C-460DE52BA499}"/>
              </a:ext>
            </a:extLst>
          </p:cNvPr>
          <p:cNvGrpSpPr/>
          <p:nvPr/>
        </p:nvGrpSpPr>
        <p:grpSpPr>
          <a:xfrm>
            <a:off x="229354" y="3675707"/>
            <a:ext cx="2622488" cy="2471565"/>
            <a:chOff x="660903" y="1358034"/>
            <a:chExt cx="2190939" cy="2236191"/>
          </a:xfrm>
        </p:grpSpPr>
        <p:sp>
          <p:nvSpPr>
            <p:cNvPr id="12" name="Прямоугольник: скругленные углы 11">
              <a:extLst>
                <a:ext uri="{FF2B5EF4-FFF2-40B4-BE49-F238E27FC236}">
                  <a16:creationId xmlns:a16="http://schemas.microsoft.com/office/drawing/2014/main" id="{A50000D7-B1ED-429B-A733-C04621156295}"/>
                </a:ext>
              </a:extLst>
            </p:cNvPr>
            <p:cNvSpPr/>
            <p:nvPr/>
          </p:nvSpPr>
          <p:spPr>
            <a:xfrm>
              <a:off x="660903" y="1647730"/>
              <a:ext cx="2190939" cy="194649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a:p>
              <a:pPr algn="ctr"/>
              <a:r>
                <a:rPr lang="ru-RU" dirty="0"/>
                <a:t>Следующим выбирается событие с ближайшим временем выполнения.</a:t>
              </a:r>
            </a:p>
          </p:txBody>
        </p:sp>
        <p:sp>
          <p:nvSpPr>
            <p:cNvPr id="13" name="Прямоугольник: скругленные углы 12">
              <a:extLst>
                <a:ext uri="{FF2B5EF4-FFF2-40B4-BE49-F238E27FC236}">
                  <a16:creationId xmlns:a16="http://schemas.microsoft.com/office/drawing/2014/main" id="{7AD0A16E-B582-4AD0-9773-1A99F473628B}"/>
                </a:ext>
              </a:extLst>
            </p:cNvPr>
            <p:cNvSpPr/>
            <p:nvPr/>
          </p:nvSpPr>
          <p:spPr>
            <a:xfrm>
              <a:off x="660903" y="1358034"/>
              <a:ext cx="2190939" cy="76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Симуляция событий</a:t>
              </a:r>
            </a:p>
          </p:txBody>
        </p:sp>
      </p:grpSp>
      <p:grpSp>
        <p:nvGrpSpPr>
          <p:cNvPr id="14" name="Группа 13">
            <a:extLst>
              <a:ext uri="{FF2B5EF4-FFF2-40B4-BE49-F238E27FC236}">
                <a16:creationId xmlns:a16="http://schemas.microsoft.com/office/drawing/2014/main" id="{2083BC2C-73A4-4B28-A476-EB6CF004DF14}"/>
              </a:ext>
            </a:extLst>
          </p:cNvPr>
          <p:cNvGrpSpPr/>
          <p:nvPr/>
        </p:nvGrpSpPr>
        <p:grpSpPr>
          <a:xfrm>
            <a:off x="8893332" y="1240326"/>
            <a:ext cx="2622488" cy="2353900"/>
            <a:chOff x="660903" y="1358034"/>
            <a:chExt cx="2190939" cy="2236191"/>
          </a:xfrm>
        </p:grpSpPr>
        <p:sp>
          <p:nvSpPr>
            <p:cNvPr id="15" name="Прямоугольник: скругленные углы 14">
              <a:extLst>
                <a:ext uri="{FF2B5EF4-FFF2-40B4-BE49-F238E27FC236}">
                  <a16:creationId xmlns:a16="http://schemas.microsoft.com/office/drawing/2014/main" id="{DB8B1300-4DE5-4011-9508-32B37518B218}"/>
                </a:ext>
              </a:extLst>
            </p:cNvPr>
            <p:cNvSpPr/>
            <p:nvPr/>
          </p:nvSpPr>
          <p:spPr>
            <a:xfrm>
              <a:off x="660903" y="1647730"/>
              <a:ext cx="2190939" cy="194649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a:p>
              <a:pPr algn="ctr"/>
              <a:r>
                <a:rPr lang="ru-RU" dirty="0"/>
                <a:t>Критические события должны обрабатываться раньше обычных.</a:t>
              </a:r>
            </a:p>
          </p:txBody>
        </p:sp>
        <p:sp>
          <p:nvSpPr>
            <p:cNvPr id="16" name="Прямоугольник: скругленные углы 15">
              <a:extLst>
                <a:ext uri="{FF2B5EF4-FFF2-40B4-BE49-F238E27FC236}">
                  <a16:creationId xmlns:a16="http://schemas.microsoft.com/office/drawing/2014/main" id="{CBDDCA80-D573-4779-8458-625E56A30371}"/>
                </a:ext>
              </a:extLst>
            </p:cNvPr>
            <p:cNvSpPr/>
            <p:nvPr/>
          </p:nvSpPr>
          <p:spPr>
            <a:xfrm>
              <a:off x="660903" y="1358034"/>
              <a:ext cx="2190939" cy="76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Обработка ошибок и событий</a:t>
              </a:r>
            </a:p>
          </p:txBody>
        </p:sp>
      </p:grpSp>
      <p:grpSp>
        <p:nvGrpSpPr>
          <p:cNvPr id="17" name="Группа 16">
            <a:extLst>
              <a:ext uri="{FF2B5EF4-FFF2-40B4-BE49-F238E27FC236}">
                <a16:creationId xmlns:a16="http://schemas.microsoft.com/office/drawing/2014/main" id="{EC3AB73E-F106-455B-BC27-FEC6FE6C1357}"/>
              </a:ext>
            </a:extLst>
          </p:cNvPr>
          <p:cNvGrpSpPr/>
          <p:nvPr/>
        </p:nvGrpSpPr>
        <p:grpSpPr>
          <a:xfrm>
            <a:off x="8908611" y="3675707"/>
            <a:ext cx="2622488" cy="2444389"/>
            <a:chOff x="660903" y="1358034"/>
            <a:chExt cx="2190939" cy="2236191"/>
          </a:xfrm>
        </p:grpSpPr>
        <p:sp>
          <p:nvSpPr>
            <p:cNvPr id="18" name="Прямоугольник: скругленные углы 17">
              <a:extLst>
                <a:ext uri="{FF2B5EF4-FFF2-40B4-BE49-F238E27FC236}">
                  <a16:creationId xmlns:a16="http://schemas.microsoft.com/office/drawing/2014/main" id="{B08C6DF5-9592-403C-AC9E-2DC19892D498}"/>
                </a:ext>
              </a:extLst>
            </p:cNvPr>
            <p:cNvSpPr/>
            <p:nvPr/>
          </p:nvSpPr>
          <p:spPr>
            <a:xfrm>
              <a:off x="660903" y="1647730"/>
              <a:ext cx="2190939" cy="194649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Приоритетная очередь позволяет быстро выбирать следующий наиболее перспективный элемент.</a:t>
              </a:r>
              <a:endParaRPr lang="en-US" dirty="0"/>
            </a:p>
          </p:txBody>
        </p:sp>
        <p:sp>
          <p:nvSpPr>
            <p:cNvPr id="19" name="Прямоугольник: скругленные углы 18">
              <a:extLst>
                <a:ext uri="{FF2B5EF4-FFF2-40B4-BE49-F238E27FC236}">
                  <a16:creationId xmlns:a16="http://schemas.microsoft.com/office/drawing/2014/main" id="{8FF7C8D3-709F-45FF-BB62-978DC8ECACBD}"/>
                </a:ext>
              </a:extLst>
            </p:cNvPr>
            <p:cNvSpPr/>
            <p:nvPr/>
          </p:nvSpPr>
          <p:spPr>
            <a:xfrm>
              <a:off x="660903" y="1358034"/>
              <a:ext cx="2190939" cy="76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Алгоритмы поиска пути</a:t>
              </a:r>
            </a:p>
          </p:txBody>
        </p:sp>
      </p:grpSp>
      <p:sp>
        <p:nvSpPr>
          <p:cNvPr id="23" name="Прямоугольник: скругленные углы 22">
            <a:extLst>
              <a:ext uri="{FF2B5EF4-FFF2-40B4-BE49-F238E27FC236}">
                <a16:creationId xmlns:a16="http://schemas.microsoft.com/office/drawing/2014/main" id="{0273059B-5F26-4FDB-8AD3-8BC5E9B3012E}"/>
              </a:ext>
            </a:extLst>
          </p:cNvPr>
          <p:cNvSpPr/>
          <p:nvPr/>
        </p:nvSpPr>
        <p:spPr>
          <a:xfrm>
            <a:off x="3648547" y="2455673"/>
            <a:ext cx="4463358" cy="21277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Приоритетная очередь полезна там, где порядок обработки определяется не временем поступления, а важностью или стоимостью элемента.</a:t>
            </a:r>
          </a:p>
        </p:txBody>
      </p:sp>
    </p:spTree>
    <p:extLst>
      <p:ext uri="{BB962C8B-B14F-4D97-AF65-F5344CB8AC3E}">
        <p14:creationId xmlns:p14="http://schemas.microsoft.com/office/powerpoint/2010/main" val="1629348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09C401-57B4-4302-8CED-F04660EE6C52}"/>
              </a:ext>
            </a:extLst>
          </p:cNvPr>
          <p:cNvSpPr>
            <a:spLocks noGrp="1"/>
          </p:cNvSpPr>
          <p:nvPr>
            <p:ph type="title"/>
          </p:nvPr>
        </p:nvSpPr>
        <p:spPr/>
        <p:txBody>
          <a:bodyPr/>
          <a:lstStyle/>
          <a:p>
            <a:r>
              <a:rPr lang="ru-RU" dirty="0"/>
              <a:t>Задача </a:t>
            </a:r>
            <a:r>
              <a:rPr lang="en-US" dirty="0"/>
              <a:t>Top-K</a:t>
            </a:r>
            <a:endParaRPr lang="ru-RU" dirty="0"/>
          </a:p>
        </p:txBody>
      </p:sp>
      <p:sp>
        <p:nvSpPr>
          <p:cNvPr id="7" name="Текст 6">
            <a:extLst>
              <a:ext uri="{FF2B5EF4-FFF2-40B4-BE49-F238E27FC236}">
                <a16:creationId xmlns:a16="http://schemas.microsoft.com/office/drawing/2014/main" id="{AAB907BD-BC4A-41FB-A680-691DB9801624}"/>
              </a:ext>
            </a:extLst>
          </p:cNvPr>
          <p:cNvSpPr>
            <a:spLocks noGrp="1"/>
          </p:cNvSpPr>
          <p:nvPr>
            <p:ph type="body" sz="quarter" idx="19"/>
          </p:nvPr>
        </p:nvSpPr>
        <p:spPr/>
        <p:txBody>
          <a:bodyPr/>
          <a:lstStyle/>
          <a:p>
            <a:endParaRPr lang="ru-RU"/>
          </a:p>
        </p:txBody>
      </p:sp>
      <p:sp>
        <p:nvSpPr>
          <p:cNvPr id="11" name="Прямоугольник 10">
            <a:extLst>
              <a:ext uri="{FF2B5EF4-FFF2-40B4-BE49-F238E27FC236}">
                <a16:creationId xmlns:a16="http://schemas.microsoft.com/office/drawing/2014/main" id="{C923EE51-7745-417A-8145-F3AE6D4180F2}"/>
              </a:ext>
            </a:extLst>
          </p:cNvPr>
          <p:cNvSpPr/>
          <p:nvPr/>
        </p:nvSpPr>
        <p:spPr>
          <a:xfrm>
            <a:off x="7334250" y="3834364"/>
            <a:ext cx="4155558" cy="242578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ru-RU" dirty="0"/>
          </a:p>
        </p:txBody>
      </p:sp>
      <p:sp>
        <p:nvSpPr>
          <p:cNvPr id="12" name="TextBox 11">
            <a:extLst>
              <a:ext uri="{FF2B5EF4-FFF2-40B4-BE49-F238E27FC236}">
                <a16:creationId xmlns:a16="http://schemas.microsoft.com/office/drawing/2014/main" id="{D40BB0B6-E246-4226-A778-4E041AF634D1}"/>
              </a:ext>
            </a:extLst>
          </p:cNvPr>
          <p:cNvSpPr txBox="1"/>
          <p:nvPr/>
        </p:nvSpPr>
        <p:spPr bwMode="auto">
          <a:xfrm>
            <a:off x="7840404" y="3948650"/>
            <a:ext cx="3143250" cy="461665"/>
          </a:xfrm>
          <a:prstGeom prst="rect">
            <a:avLst/>
          </a:prstGeom>
        </p:spPr>
        <p:txBody>
          <a:bodyPr wrap="square" rtlCol="0">
            <a:spAutoFit/>
          </a:bodyPr>
          <a:lstStyle/>
          <a:p>
            <a:pPr algn="ctr"/>
            <a:r>
              <a:rPr lang="ru-RU" sz="2400" dirty="0"/>
              <a:t>1 000 000 значений</a:t>
            </a:r>
          </a:p>
        </p:txBody>
      </p:sp>
      <p:sp>
        <p:nvSpPr>
          <p:cNvPr id="13" name="TextBox 12">
            <a:extLst>
              <a:ext uri="{FF2B5EF4-FFF2-40B4-BE49-F238E27FC236}">
                <a16:creationId xmlns:a16="http://schemas.microsoft.com/office/drawing/2014/main" id="{D5D207BC-963C-47D6-A4D1-F5124B8810FE}"/>
              </a:ext>
            </a:extLst>
          </p:cNvPr>
          <p:cNvSpPr txBox="1"/>
          <p:nvPr/>
        </p:nvSpPr>
        <p:spPr bwMode="auto">
          <a:xfrm>
            <a:off x="7840404" y="4770255"/>
            <a:ext cx="3143250" cy="461665"/>
          </a:xfrm>
          <a:prstGeom prst="rect">
            <a:avLst/>
          </a:prstGeom>
        </p:spPr>
        <p:txBody>
          <a:bodyPr wrap="square" rtlCol="0">
            <a:spAutoFit/>
          </a:bodyPr>
          <a:lstStyle/>
          <a:p>
            <a:pPr algn="ctr"/>
            <a:r>
              <a:rPr lang="ru-RU" sz="2400" dirty="0"/>
              <a:t>????</a:t>
            </a:r>
          </a:p>
        </p:txBody>
      </p:sp>
      <p:sp>
        <p:nvSpPr>
          <p:cNvPr id="14" name="TextBox 13">
            <a:extLst>
              <a:ext uri="{FF2B5EF4-FFF2-40B4-BE49-F238E27FC236}">
                <a16:creationId xmlns:a16="http://schemas.microsoft.com/office/drawing/2014/main" id="{04D22C9B-1DC2-4FC8-9F01-68B13623A84A}"/>
              </a:ext>
            </a:extLst>
          </p:cNvPr>
          <p:cNvSpPr txBox="1"/>
          <p:nvPr/>
        </p:nvSpPr>
        <p:spPr bwMode="auto">
          <a:xfrm>
            <a:off x="7878504" y="5603396"/>
            <a:ext cx="3143250" cy="461665"/>
          </a:xfrm>
          <a:prstGeom prst="rect">
            <a:avLst/>
          </a:prstGeom>
        </p:spPr>
        <p:txBody>
          <a:bodyPr wrap="square" rtlCol="0">
            <a:spAutoFit/>
          </a:bodyPr>
          <a:lstStyle/>
          <a:p>
            <a:pPr algn="ctr"/>
            <a:r>
              <a:rPr lang="ru-RU" sz="2400" dirty="0"/>
              <a:t>10 лучших</a:t>
            </a:r>
          </a:p>
        </p:txBody>
      </p:sp>
      <p:cxnSp>
        <p:nvCxnSpPr>
          <p:cNvPr id="15" name="Прямая со стрелкой 14">
            <a:extLst>
              <a:ext uri="{FF2B5EF4-FFF2-40B4-BE49-F238E27FC236}">
                <a16:creationId xmlns:a16="http://schemas.microsoft.com/office/drawing/2014/main" id="{5C163085-3574-478F-93D1-9C5AA157BDCA}"/>
              </a:ext>
            </a:extLst>
          </p:cNvPr>
          <p:cNvCxnSpPr>
            <a:cxnSpLocks/>
            <a:endCxn id="13" idx="0"/>
          </p:cNvCxnSpPr>
          <p:nvPr/>
        </p:nvCxnSpPr>
        <p:spPr>
          <a:xfrm>
            <a:off x="9412029" y="4369909"/>
            <a:ext cx="0" cy="400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9F7044C9-6024-41DA-A4A9-A36F7662A679}"/>
              </a:ext>
            </a:extLst>
          </p:cNvPr>
          <p:cNvCxnSpPr>
            <a:cxnSpLocks/>
          </p:cNvCxnSpPr>
          <p:nvPr/>
        </p:nvCxnSpPr>
        <p:spPr>
          <a:xfrm>
            <a:off x="9412029" y="5231921"/>
            <a:ext cx="0" cy="371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Прямоугольник 17">
            <a:extLst>
              <a:ext uri="{FF2B5EF4-FFF2-40B4-BE49-F238E27FC236}">
                <a16:creationId xmlns:a16="http://schemas.microsoft.com/office/drawing/2014/main" id="{A0DF722B-1209-4F06-8FA3-17496ABB7C49}"/>
              </a:ext>
            </a:extLst>
          </p:cNvPr>
          <p:cNvSpPr/>
          <p:nvPr/>
        </p:nvSpPr>
        <p:spPr>
          <a:xfrm>
            <a:off x="7334250" y="1178563"/>
            <a:ext cx="4155558" cy="242578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ru-RU" dirty="0"/>
          </a:p>
        </p:txBody>
      </p:sp>
      <p:sp>
        <p:nvSpPr>
          <p:cNvPr id="19" name="TextBox 18">
            <a:extLst>
              <a:ext uri="{FF2B5EF4-FFF2-40B4-BE49-F238E27FC236}">
                <a16:creationId xmlns:a16="http://schemas.microsoft.com/office/drawing/2014/main" id="{9539A609-2941-45B5-AAEB-F9938EF57D3D}"/>
              </a:ext>
            </a:extLst>
          </p:cNvPr>
          <p:cNvSpPr txBox="1"/>
          <p:nvPr/>
        </p:nvSpPr>
        <p:spPr bwMode="auto">
          <a:xfrm>
            <a:off x="7840404" y="1292849"/>
            <a:ext cx="3143250" cy="461665"/>
          </a:xfrm>
          <a:prstGeom prst="rect">
            <a:avLst/>
          </a:prstGeom>
        </p:spPr>
        <p:txBody>
          <a:bodyPr wrap="square" rtlCol="0">
            <a:spAutoFit/>
          </a:bodyPr>
          <a:lstStyle/>
          <a:p>
            <a:pPr algn="ctr"/>
            <a:r>
              <a:rPr lang="ru-RU" sz="2400" dirty="0"/>
              <a:t>1 000 000 значений</a:t>
            </a:r>
          </a:p>
        </p:txBody>
      </p:sp>
      <p:sp>
        <p:nvSpPr>
          <p:cNvPr id="20" name="TextBox 19">
            <a:extLst>
              <a:ext uri="{FF2B5EF4-FFF2-40B4-BE49-F238E27FC236}">
                <a16:creationId xmlns:a16="http://schemas.microsoft.com/office/drawing/2014/main" id="{78EE024D-D757-4C71-B567-ED07B10AF0C5}"/>
              </a:ext>
            </a:extLst>
          </p:cNvPr>
          <p:cNvSpPr txBox="1"/>
          <p:nvPr/>
        </p:nvSpPr>
        <p:spPr bwMode="auto">
          <a:xfrm>
            <a:off x="7840404" y="2114454"/>
            <a:ext cx="3143250" cy="461665"/>
          </a:xfrm>
          <a:prstGeom prst="rect">
            <a:avLst/>
          </a:prstGeom>
        </p:spPr>
        <p:txBody>
          <a:bodyPr wrap="square" rtlCol="0">
            <a:spAutoFit/>
          </a:bodyPr>
          <a:lstStyle/>
          <a:p>
            <a:pPr algn="ctr"/>
            <a:r>
              <a:rPr lang="ru-RU" sz="2400" dirty="0"/>
              <a:t>полная сортировка</a:t>
            </a:r>
          </a:p>
        </p:txBody>
      </p:sp>
      <p:sp>
        <p:nvSpPr>
          <p:cNvPr id="21" name="TextBox 20">
            <a:extLst>
              <a:ext uri="{FF2B5EF4-FFF2-40B4-BE49-F238E27FC236}">
                <a16:creationId xmlns:a16="http://schemas.microsoft.com/office/drawing/2014/main" id="{FB2E8658-A9C6-4653-9E07-D4A3501A65DF}"/>
              </a:ext>
            </a:extLst>
          </p:cNvPr>
          <p:cNvSpPr txBox="1"/>
          <p:nvPr/>
        </p:nvSpPr>
        <p:spPr bwMode="auto">
          <a:xfrm>
            <a:off x="7878504" y="2947595"/>
            <a:ext cx="3143250" cy="461665"/>
          </a:xfrm>
          <a:prstGeom prst="rect">
            <a:avLst/>
          </a:prstGeom>
        </p:spPr>
        <p:txBody>
          <a:bodyPr wrap="square" rtlCol="0">
            <a:spAutoFit/>
          </a:bodyPr>
          <a:lstStyle/>
          <a:p>
            <a:pPr algn="ctr"/>
            <a:r>
              <a:rPr lang="ru-RU" sz="2400" dirty="0"/>
              <a:t>10 лучших</a:t>
            </a:r>
          </a:p>
        </p:txBody>
      </p:sp>
      <p:cxnSp>
        <p:nvCxnSpPr>
          <p:cNvPr id="22" name="Прямая со стрелкой 21">
            <a:extLst>
              <a:ext uri="{FF2B5EF4-FFF2-40B4-BE49-F238E27FC236}">
                <a16:creationId xmlns:a16="http://schemas.microsoft.com/office/drawing/2014/main" id="{8A92F86A-A1B4-4BE5-AA86-8B30C67530A5}"/>
              </a:ext>
            </a:extLst>
          </p:cNvPr>
          <p:cNvCxnSpPr>
            <a:cxnSpLocks/>
            <a:endCxn id="20" idx="0"/>
          </p:cNvCxnSpPr>
          <p:nvPr/>
        </p:nvCxnSpPr>
        <p:spPr>
          <a:xfrm>
            <a:off x="9412029" y="1714108"/>
            <a:ext cx="0" cy="400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Прямая со стрелкой 22">
            <a:extLst>
              <a:ext uri="{FF2B5EF4-FFF2-40B4-BE49-F238E27FC236}">
                <a16:creationId xmlns:a16="http://schemas.microsoft.com/office/drawing/2014/main" id="{5816162B-0787-43CF-B6F1-11D04957A90C}"/>
              </a:ext>
            </a:extLst>
          </p:cNvPr>
          <p:cNvCxnSpPr>
            <a:cxnSpLocks/>
          </p:cNvCxnSpPr>
          <p:nvPr/>
        </p:nvCxnSpPr>
        <p:spPr>
          <a:xfrm>
            <a:off x="9412029" y="2576120"/>
            <a:ext cx="0" cy="371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Прямоугольник: скругленные углы 23">
            <a:extLst>
              <a:ext uri="{FF2B5EF4-FFF2-40B4-BE49-F238E27FC236}">
                <a16:creationId xmlns:a16="http://schemas.microsoft.com/office/drawing/2014/main" id="{28423711-108C-43ED-997D-D3D560140455}"/>
              </a:ext>
            </a:extLst>
          </p:cNvPr>
          <p:cNvSpPr/>
          <p:nvPr/>
        </p:nvSpPr>
        <p:spPr>
          <a:xfrm>
            <a:off x="827647" y="1986061"/>
            <a:ext cx="5604095" cy="32365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a:t>Есть </a:t>
            </a:r>
            <a:r>
              <a:rPr lang="ru-RU" sz="3200" b="1" dirty="0"/>
              <a:t>1 000 000 значений</a:t>
            </a:r>
            <a:br>
              <a:rPr lang="ru-RU" sz="3200" dirty="0"/>
            </a:br>
            <a:r>
              <a:rPr lang="ru-RU" sz="3200" dirty="0"/>
              <a:t>Нужно найти </a:t>
            </a:r>
            <a:r>
              <a:rPr lang="ru-RU" sz="3200" b="1" dirty="0"/>
              <a:t>10 наибольших</a:t>
            </a:r>
            <a:endParaRPr lang="ru-RU" sz="3200" dirty="0"/>
          </a:p>
        </p:txBody>
      </p:sp>
    </p:spTree>
    <p:extLst>
      <p:ext uri="{BB962C8B-B14F-4D97-AF65-F5344CB8AC3E}">
        <p14:creationId xmlns:p14="http://schemas.microsoft.com/office/powerpoint/2010/main" val="426731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6A4AE6-F291-4580-9A8D-617D64ACD87C}"/>
              </a:ext>
            </a:extLst>
          </p:cNvPr>
          <p:cNvSpPr>
            <a:spLocks noGrp="1"/>
          </p:cNvSpPr>
          <p:nvPr>
            <p:ph type="title"/>
          </p:nvPr>
        </p:nvSpPr>
        <p:spPr/>
        <p:txBody>
          <a:bodyPr/>
          <a:lstStyle/>
          <a:p>
            <a:r>
              <a:rPr lang="ru-RU" dirty="0" err="1"/>
              <a:t>Top</a:t>
            </a:r>
            <a:r>
              <a:rPr lang="ru-RU" dirty="0"/>
              <a:t>-K через кучу фиксированного размера</a:t>
            </a:r>
          </a:p>
        </p:txBody>
      </p:sp>
      <p:sp>
        <p:nvSpPr>
          <p:cNvPr id="7" name="Текст 6">
            <a:extLst>
              <a:ext uri="{FF2B5EF4-FFF2-40B4-BE49-F238E27FC236}">
                <a16:creationId xmlns:a16="http://schemas.microsoft.com/office/drawing/2014/main" id="{16C9728D-946D-4870-8284-A91C2991FEFB}"/>
              </a:ext>
            </a:extLst>
          </p:cNvPr>
          <p:cNvSpPr>
            <a:spLocks noGrp="1"/>
          </p:cNvSpPr>
          <p:nvPr>
            <p:ph type="body" sz="quarter" idx="19"/>
          </p:nvPr>
        </p:nvSpPr>
        <p:spPr/>
        <p:txBody>
          <a:bodyPr/>
          <a:lstStyle/>
          <a:p>
            <a:endParaRPr lang="ru-RU"/>
          </a:p>
        </p:txBody>
      </p:sp>
      <p:sp>
        <p:nvSpPr>
          <p:cNvPr id="8" name="Прямоугольник 7">
            <a:extLst>
              <a:ext uri="{FF2B5EF4-FFF2-40B4-BE49-F238E27FC236}">
                <a16:creationId xmlns:a16="http://schemas.microsoft.com/office/drawing/2014/main" id="{24C34175-A399-43C4-92A9-56E3A01680E4}"/>
              </a:ext>
            </a:extLst>
          </p:cNvPr>
          <p:cNvSpPr/>
          <p:nvPr/>
        </p:nvSpPr>
        <p:spPr>
          <a:xfrm>
            <a:off x="479424" y="1448733"/>
            <a:ext cx="5957080" cy="461665"/>
          </a:xfrm>
          <a:prstGeom prst="rect">
            <a:avLst/>
          </a:prstGeom>
        </p:spPr>
        <p:txBody>
          <a:bodyPr wrap="none">
            <a:spAutoFit/>
          </a:bodyPr>
          <a:lstStyle/>
          <a:p>
            <a:r>
              <a:rPr lang="ru-RU" sz="2400" dirty="0"/>
              <a:t>1 000 000 товаров → нужно показать Top-10</a:t>
            </a:r>
          </a:p>
        </p:txBody>
      </p:sp>
      <p:sp>
        <p:nvSpPr>
          <p:cNvPr id="9" name="Прямоугольник: скругленные углы 8">
            <a:extLst>
              <a:ext uri="{FF2B5EF4-FFF2-40B4-BE49-F238E27FC236}">
                <a16:creationId xmlns:a16="http://schemas.microsoft.com/office/drawing/2014/main" id="{BF19C380-408E-4E82-8AB1-895BF1A9B784}"/>
              </a:ext>
            </a:extLst>
          </p:cNvPr>
          <p:cNvSpPr/>
          <p:nvPr/>
        </p:nvSpPr>
        <p:spPr>
          <a:xfrm>
            <a:off x="479424" y="1339913"/>
            <a:ext cx="5957080" cy="669956"/>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a:p>
        </p:txBody>
      </p:sp>
      <p:sp>
        <p:nvSpPr>
          <p:cNvPr id="10" name="Прямоугольник: скругленные углы 9">
            <a:extLst>
              <a:ext uri="{FF2B5EF4-FFF2-40B4-BE49-F238E27FC236}">
                <a16:creationId xmlns:a16="http://schemas.microsoft.com/office/drawing/2014/main" id="{6CC6327E-21D8-491F-B562-9F782E29BE2D}"/>
              </a:ext>
            </a:extLst>
          </p:cNvPr>
          <p:cNvSpPr/>
          <p:nvPr/>
        </p:nvSpPr>
        <p:spPr>
          <a:xfrm>
            <a:off x="479423" y="2372008"/>
            <a:ext cx="5957080" cy="2897109"/>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Идея алгоритма</a:t>
            </a:r>
            <a:r>
              <a:rPr lang="en-US" dirty="0"/>
              <a:t>:</a:t>
            </a:r>
          </a:p>
          <a:p>
            <a:pPr marL="342900" indent="-342900">
              <a:buAutoNum type="arabicParenR"/>
            </a:pPr>
            <a:r>
              <a:rPr lang="ru-RU" dirty="0"/>
              <a:t>Берем первые </a:t>
            </a:r>
            <a:r>
              <a:rPr lang="en-US" dirty="0"/>
              <a:t>K </a:t>
            </a:r>
            <a:r>
              <a:rPr lang="ru-RU" dirty="0"/>
              <a:t>элементов</a:t>
            </a:r>
          </a:p>
          <a:p>
            <a:pPr marL="342900" indent="-342900">
              <a:buAutoNum type="arabicParenR"/>
            </a:pPr>
            <a:r>
              <a:rPr lang="ru-RU" dirty="0"/>
              <a:t>Строим из них </a:t>
            </a:r>
            <a:r>
              <a:rPr lang="en-US" dirty="0"/>
              <a:t>min-heap.</a:t>
            </a:r>
            <a:endParaRPr lang="ru-RU" dirty="0"/>
          </a:p>
          <a:p>
            <a:pPr marL="342900" indent="-342900">
              <a:buAutoNum type="arabicParenR"/>
            </a:pPr>
            <a:r>
              <a:rPr lang="ru-RU" dirty="0"/>
              <a:t>Для каждого следующего элемента сравниваем его с минимумом в куче.</a:t>
            </a:r>
          </a:p>
          <a:p>
            <a:pPr marL="342900" indent="-342900">
              <a:buAutoNum type="arabicParenR"/>
            </a:pPr>
            <a:r>
              <a:rPr lang="ru-RU" dirty="0"/>
              <a:t>Если новый элемент больше минимума — заменяем минимум.</a:t>
            </a:r>
          </a:p>
          <a:p>
            <a:pPr marL="342900" indent="-342900">
              <a:buAutoNum type="arabicParenR"/>
            </a:pPr>
            <a:r>
              <a:rPr lang="ru-RU" dirty="0"/>
              <a:t>Если меньше — игнорируем.</a:t>
            </a:r>
          </a:p>
          <a:p>
            <a:pPr marL="342900" indent="-342900">
              <a:buAutoNum type="arabicParenR"/>
            </a:pPr>
            <a:endParaRPr lang="ru-RU" dirty="0"/>
          </a:p>
        </p:txBody>
      </p:sp>
      <p:sp>
        <p:nvSpPr>
          <p:cNvPr id="13" name="TextBox 12">
            <a:extLst>
              <a:ext uri="{FF2B5EF4-FFF2-40B4-BE49-F238E27FC236}">
                <a16:creationId xmlns:a16="http://schemas.microsoft.com/office/drawing/2014/main" id="{2B84AACE-10B3-4EEE-932C-3334018E2300}"/>
              </a:ext>
            </a:extLst>
          </p:cNvPr>
          <p:cNvSpPr txBox="1"/>
          <p:nvPr/>
        </p:nvSpPr>
        <p:spPr bwMode="auto">
          <a:xfrm>
            <a:off x="7155572" y="1314397"/>
            <a:ext cx="1376420" cy="523220"/>
          </a:xfrm>
          <a:prstGeom prst="rect">
            <a:avLst/>
          </a:prstGeom>
        </p:spPr>
        <p:txBody>
          <a:bodyPr wrap="square" rtlCol="0">
            <a:spAutoFit/>
          </a:bodyPr>
          <a:lstStyle/>
          <a:p>
            <a:r>
              <a:rPr lang="ru-RU" sz="2800" dirty="0"/>
              <a:t>[2, 5, 7]</a:t>
            </a:r>
            <a:endParaRPr lang="ru-RU" dirty="0"/>
          </a:p>
        </p:txBody>
      </p:sp>
      <p:sp>
        <p:nvSpPr>
          <p:cNvPr id="14" name="Овал 13">
            <a:extLst>
              <a:ext uri="{FF2B5EF4-FFF2-40B4-BE49-F238E27FC236}">
                <a16:creationId xmlns:a16="http://schemas.microsoft.com/office/drawing/2014/main" id="{CC6164D3-1472-4848-B008-EA2C8C4EE75B}"/>
              </a:ext>
            </a:extLst>
          </p:cNvPr>
          <p:cNvSpPr/>
          <p:nvPr/>
        </p:nvSpPr>
        <p:spPr>
          <a:xfrm>
            <a:off x="7550345" y="2009869"/>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chemeClr val="tx1"/>
                </a:solidFill>
              </a:rPr>
              <a:t>2</a:t>
            </a:r>
          </a:p>
        </p:txBody>
      </p:sp>
      <p:sp>
        <p:nvSpPr>
          <p:cNvPr id="15" name="Овал 14">
            <a:extLst>
              <a:ext uri="{FF2B5EF4-FFF2-40B4-BE49-F238E27FC236}">
                <a16:creationId xmlns:a16="http://schemas.microsoft.com/office/drawing/2014/main" id="{0F9AB6F5-201A-475F-98F2-37E3518A94DE}"/>
              </a:ext>
            </a:extLst>
          </p:cNvPr>
          <p:cNvSpPr/>
          <p:nvPr/>
        </p:nvSpPr>
        <p:spPr>
          <a:xfrm>
            <a:off x="7034149" y="2761375"/>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chemeClr val="tx1"/>
                </a:solidFill>
              </a:rPr>
              <a:t>5</a:t>
            </a:r>
          </a:p>
        </p:txBody>
      </p:sp>
      <p:sp>
        <p:nvSpPr>
          <p:cNvPr id="16" name="Овал 15">
            <a:extLst>
              <a:ext uri="{FF2B5EF4-FFF2-40B4-BE49-F238E27FC236}">
                <a16:creationId xmlns:a16="http://schemas.microsoft.com/office/drawing/2014/main" id="{90C67DAD-BB40-41A3-8DF6-7B03DC40EF1F}"/>
              </a:ext>
            </a:extLst>
          </p:cNvPr>
          <p:cNvSpPr/>
          <p:nvPr/>
        </p:nvSpPr>
        <p:spPr>
          <a:xfrm>
            <a:off x="8111841" y="2759798"/>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chemeClr val="tx1"/>
                </a:solidFill>
              </a:rPr>
              <a:t>7</a:t>
            </a:r>
          </a:p>
        </p:txBody>
      </p:sp>
      <p:cxnSp>
        <p:nvCxnSpPr>
          <p:cNvPr id="17" name="Прямая со стрелкой 16">
            <a:extLst>
              <a:ext uri="{FF2B5EF4-FFF2-40B4-BE49-F238E27FC236}">
                <a16:creationId xmlns:a16="http://schemas.microsoft.com/office/drawing/2014/main" id="{B18DC979-7E3B-4583-B047-09020AB24DF1}"/>
              </a:ext>
            </a:extLst>
          </p:cNvPr>
          <p:cNvCxnSpPr>
            <a:cxnSpLocks/>
            <a:stCxn id="14" idx="2"/>
            <a:endCxn id="15" idx="0"/>
          </p:cNvCxnSpPr>
          <p:nvPr/>
        </p:nvCxnSpPr>
        <p:spPr>
          <a:xfrm flipH="1">
            <a:off x="7332972" y="2308692"/>
            <a:ext cx="217373" cy="452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7CE02FA4-8868-461B-8F7D-7AF12A4E7D39}"/>
              </a:ext>
            </a:extLst>
          </p:cNvPr>
          <p:cNvCxnSpPr>
            <a:cxnSpLocks/>
            <a:stCxn id="14" idx="6"/>
            <a:endCxn id="16" idx="0"/>
          </p:cNvCxnSpPr>
          <p:nvPr/>
        </p:nvCxnSpPr>
        <p:spPr>
          <a:xfrm>
            <a:off x="8147991" y="2308692"/>
            <a:ext cx="26267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Прямоугольник: скругленные углы 24">
            <a:extLst>
              <a:ext uri="{FF2B5EF4-FFF2-40B4-BE49-F238E27FC236}">
                <a16:creationId xmlns:a16="http://schemas.microsoft.com/office/drawing/2014/main" id="{6D652046-B2D9-4885-9BBC-9B55DE84EA98}"/>
              </a:ext>
            </a:extLst>
          </p:cNvPr>
          <p:cNvSpPr/>
          <p:nvPr/>
        </p:nvSpPr>
        <p:spPr>
          <a:xfrm>
            <a:off x="6803493" y="1339913"/>
            <a:ext cx="2091350" cy="2089087"/>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a:p>
        </p:txBody>
      </p:sp>
      <p:sp>
        <p:nvSpPr>
          <p:cNvPr id="26" name="TextBox 25">
            <a:extLst>
              <a:ext uri="{FF2B5EF4-FFF2-40B4-BE49-F238E27FC236}">
                <a16:creationId xmlns:a16="http://schemas.microsoft.com/office/drawing/2014/main" id="{75846268-ACA3-443C-86B8-F4C8B7B90035}"/>
              </a:ext>
            </a:extLst>
          </p:cNvPr>
          <p:cNvSpPr txBox="1"/>
          <p:nvPr/>
        </p:nvSpPr>
        <p:spPr bwMode="auto">
          <a:xfrm>
            <a:off x="9505855" y="1339913"/>
            <a:ext cx="1774814" cy="523220"/>
          </a:xfrm>
          <a:prstGeom prst="rect">
            <a:avLst/>
          </a:prstGeom>
        </p:spPr>
        <p:txBody>
          <a:bodyPr wrap="square" rtlCol="0">
            <a:spAutoFit/>
          </a:bodyPr>
          <a:lstStyle/>
          <a:p>
            <a:r>
              <a:rPr lang="ru-RU" sz="2800" dirty="0">
                <a:solidFill>
                  <a:srgbClr val="FF0000"/>
                </a:solidFill>
              </a:rPr>
              <a:t>8</a:t>
            </a:r>
            <a:r>
              <a:rPr lang="ru-RU" sz="2800" dirty="0"/>
              <a:t> [</a:t>
            </a:r>
            <a:r>
              <a:rPr lang="ru-RU" sz="2800" dirty="0">
                <a:solidFill>
                  <a:srgbClr val="0070C0"/>
                </a:solidFill>
              </a:rPr>
              <a:t>2</a:t>
            </a:r>
            <a:r>
              <a:rPr lang="ru-RU" sz="2800" dirty="0"/>
              <a:t>, 5, 7]</a:t>
            </a:r>
            <a:endParaRPr lang="ru-RU" dirty="0"/>
          </a:p>
        </p:txBody>
      </p:sp>
      <p:sp>
        <p:nvSpPr>
          <p:cNvPr id="27" name="Овал 26">
            <a:extLst>
              <a:ext uri="{FF2B5EF4-FFF2-40B4-BE49-F238E27FC236}">
                <a16:creationId xmlns:a16="http://schemas.microsoft.com/office/drawing/2014/main" id="{B7A8B92D-A7B9-4676-917F-3FECAB0E0D54}"/>
              </a:ext>
            </a:extLst>
          </p:cNvPr>
          <p:cNvSpPr/>
          <p:nvPr/>
        </p:nvSpPr>
        <p:spPr>
          <a:xfrm>
            <a:off x="10121527" y="2033350"/>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rgbClr val="0070C0"/>
                </a:solidFill>
              </a:rPr>
              <a:t>2</a:t>
            </a:r>
          </a:p>
        </p:txBody>
      </p:sp>
      <p:sp>
        <p:nvSpPr>
          <p:cNvPr id="28" name="Овал 27">
            <a:extLst>
              <a:ext uri="{FF2B5EF4-FFF2-40B4-BE49-F238E27FC236}">
                <a16:creationId xmlns:a16="http://schemas.microsoft.com/office/drawing/2014/main" id="{F8311DC0-292D-4535-A80C-827F45C89FB1}"/>
              </a:ext>
            </a:extLst>
          </p:cNvPr>
          <p:cNvSpPr/>
          <p:nvPr/>
        </p:nvSpPr>
        <p:spPr>
          <a:xfrm>
            <a:off x="9605331" y="2784856"/>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chemeClr val="tx1"/>
                </a:solidFill>
              </a:rPr>
              <a:t>5</a:t>
            </a:r>
          </a:p>
        </p:txBody>
      </p:sp>
      <p:sp>
        <p:nvSpPr>
          <p:cNvPr id="29" name="Овал 28">
            <a:extLst>
              <a:ext uri="{FF2B5EF4-FFF2-40B4-BE49-F238E27FC236}">
                <a16:creationId xmlns:a16="http://schemas.microsoft.com/office/drawing/2014/main" id="{A5F4B953-6DB0-4030-9F50-4E570A656513}"/>
              </a:ext>
            </a:extLst>
          </p:cNvPr>
          <p:cNvSpPr/>
          <p:nvPr/>
        </p:nvSpPr>
        <p:spPr>
          <a:xfrm>
            <a:off x="10683023" y="2783279"/>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solidFill>
                  <a:schemeClr val="tx1"/>
                </a:solidFill>
              </a:rPr>
              <a:t>7</a:t>
            </a:r>
          </a:p>
        </p:txBody>
      </p:sp>
      <p:cxnSp>
        <p:nvCxnSpPr>
          <p:cNvPr id="30" name="Прямая со стрелкой 29">
            <a:extLst>
              <a:ext uri="{FF2B5EF4-FFF2-40B4-BE49-F238E27FC236}">
                <a16:creationId xmlns:a16="http://schemas.microsoft.com/office/drawing/2014/main" id="{BA4F8F7C-9019-46D0-A36A-FA7F856A2947}"/>
              </a:ext>
            </a:extLst>
          </p:cNvPr>
          <p:cNvCxnSpPr>
            <a:cxnSpLocks/>
            <a:stCxn id="27" idx="2"/>
            <a:endCxn id="28" idx="0"/>
          </p:cNvCxnSpPr>
          <p:nvPr/>
        </p:nvCxnSpPr>
        <p:spPr>
          <a:xfrm flipH="1">
            <a:off x="9904154" y="2332173"/>
            <a:ext cx="217373" cy="452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a:extLst>
              <a:ext uri="{FF2B5EF4-FFF2-40B4-BE49-F238E27FC236}">
                <a16:creationId xmlns:a16="http://schemas.microsoft.com/office/drawing/2014/main" id="{D836E707-EE5A-488E-A4C2-17E50F752866}"/>
              </a:ext>
            </a:extLst>
          </p:cNvPr>
          <p:cNvCxnSpPr>
            <a:cxnSpLocks/>
            <a:stCxn id="27" idx="6"/>
            <a:endCxn id="29" idx="0"/>
          </p:cNvCxnSpPr>
          <p:nvPr/>
        </p:nvCxnSpPr>
        <p:spPr>
          <a:xfrm>
            <a:off x="10719173" y="2332173"/>
            <a:ext cx="26267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Прямоугольник: скругленные углы 31">
            <a:extLst>
              <a:ext uri="{FF2B5EF4-FFF2-40B4-BE49-F238E27FC236}">
                <a16:creationId xmlns:a16="http://schemas.microsoft.com/office/drawing/2014/main" id="{95D11D9E-50A9-402E-BE75-7A655271CAC6}"/>
              </a:ext>
            </a:extLst>
          </p:cNvPr>
          <p:cNvSpPr/>
          <p:nvPr/>
        </p:nvSpPr>
        <p:spPr>
          <a:xfrm>
            <a:off x="9307133" y="1339913"/>
            <a:ext cx="2091350" cy="2089087"/>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a:p>
        </p:txBody>
      </p:sp>
      <p:sp>
        <p:nvSpPr>
          <p:cNvPr id="33" name="TextBox 32">
            <a:extLst>
              <a:ext uri="{FF2B5EF4-FFF2-40B4-BE49-F238E27FC236}">
                <a16:creationId xmlns:a16="http://schemas.microsoft.com/office/drawing/2014/main" id="{A3F8BE1B-D067-4034-8C7D-FC02E3612D17}"/>
              </a:ext>
            </a:extLst>
          </p:cNvPr>
          <p:cNvSpPr txBox="1"/>
          <p:nvPr/>
        </p:nvSpPr>
        <p:spPr bwMode="auto">
          <a:xfrm>
            <a:off x="7024865" y="3727823"/>
            <a:ext cx="1774814" cy="523220"/>
          </a:xfrm>
          <a:prstGeom prst="rect">
            <a:avLst/>
          </a:prstGeom>
        </p:spPr>
        <p:txBody>
          <a:bodyPr wrap="square" rtlCol="0">
            <a:spAutoFit/>
          </a:bodyPr>
          <a:lstStyle/>
          <a:p>
            <a:r>
              <a:rPr lang="ru-RU" sz="2800" dirty="0">
                <a:solidFill>
                  <a:srgbClr val="FF0000"/>
                </a:solidFill>
              </a:rPr>
              <a:t>   </a:t>
            </a:r>
            <a:r>
              <a:rPr lang="ru-RU" sz="2800" dirty="0"/>
              <a:t>[</a:t>
            </a:r>
            <a:r>
              <a:rPr lang="ru-RU" sz="2800" dirty="0">
                <a:solidFill>
                  <a:srgbClr val="0070C0"/>
                </a:solidFill>
              </a:rPr>
              <a:t>5</a:t>
            </a:r>
            <a:r>
              <a:rPr lang="ru-RU" sz="2800" dirty="0"/>
              <a:t>, </a:t>
            </a:r>
            <a:r>
              <a:rPr lang="ru-RU" sz="2800" dirty="0">
                <a:solidFill>
                  <a:srgbClr val="002060"/>
                </a:solidFill>
              </a:rPr>
              <a:t>7</a:t>
            </a:r>
            <a:r>
              <a:rPr lang="en-US" sz="2800" dirty="0">
                <a:solidFill>
                  <a:srgbClr val="002060"/>
                </a:solidFill>
              </a:rPr>
              <a:t>,</a:t>
            </a:r>
            <a:r>
              <a:rPr lang="en-US" sz="2800" dirty="0">
                <a:solidFill>
                  <a:srgbClr val="0070C0"/>
                </a:solidFill>
              </a:rPr>
              <a:t> </a:t>
            </a:r>
            <a:r>
              <a:rPr lang="ru-RU" sz="2800" dirty="0">
                <a:solidFill>
                  <a:srgbClr val="FF0000"/>
                </a:solidFill>
              </a:rPr>
              <a:t>8</a:t>
            </a:r>
            <a:r>
              <a:rPr lang="ru-RU" sz="2800" dirty="0"/>
              <a:t>]</a:t>
            </a:r>
            <a:endParaRPr lang="ru-RU" dirty="0"/>
          </a:p>
        </p:txBody>
      </p:sp>
      <p:sp>
        <p:nvSpPr>
          <p:cNvPr id="34" name="Овал 33">
            <a:extLst>
              <a:ext uri="{FF2B5EF4-FFF2-40B4-BE49-F238E27FC236}">
                <a16:creationId xmlns:a16="http://schemas.microsoft.com/office/drawing/2014/main" id="{1B07A173-74CE-4D30-98D5-BFAEBB8FA5C7}"/>
              </a:ext>
            </a:extLst>
          </p:cNvPr>
          <p:cNvSpPr/>
          <p:nvPr/>
        </p:nvSpPr>
        <p:spPr>
          <a:xfrm>
            <a:off x="7640537" y="4421260"/>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dirty="0">
                <a:solidFill>
                  <a:srgbClr val="0070C0"/>
                </a:solidFill>
              </a:rPr>
              <a:t>5</a:t>
            </a:r>
            <a:endParaRPr lang="ru-RU" dirty="0">
              <a:solidFill>
                <a:srgbClr val="0070C0"/>
              </a:solidFill>
            </a:endParaRPr>
          </a:p>
        </p:txBody>
      </p:sp>
      <p:sp>
        <p:nvSpPr>
          <p:cNvPr id="35" name="Овал 34">
            <a:extLst>
              <a:ext uri="{FF2B5EF4-FFF2-40B4-BE49-F238E27FC236}">
                <a16:creationId xmlns:a16="http://schemas.microsoft.com/office/drawing/2014/main" id="{087B623B-C1CB-4090-AB30-E9FE9D2458AE}"/>
              </a:ext>
            </a:extLst>
          </p:cNvPr>
          <p:cNvSpPr/>
          <p:nvPr/>
        </p:nvSpPr>
        <p:spPr>
          <a:xfrm>
            <a:off x="7124341" y="5172766"/>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dirty="0">
                <a:solidFill>
                  <a:schemeClr val="tx1"/>
                </a:solidFill>
              </a:rPr>
              <a:t>7</a:t>
            </a:r>
            <a:endParaRPr lang="ru-RU" dirty="0">
              <a:solidFill>
                <a:schemeClr val="tx1"/>
              </a:solidFill>
            </a:endParaRPr>
          </a:p>
        </p:txBody>
      </p:sp>
      <p:sp>
        <p:nvSpPr>
          <p:cNvPr id="36" name="Овал 35">
            <a:extLst>
              <a:ext uri="{FF2B5EF4-FFF2-40B4-BE49-F238E27FC236}">
                <a16:creationId xmlns:a16="http://schemas.microsoft.com/office/drawing/2014/main" id="{FDE885E8-8392-4C0E-92A9-591057CE710D}"/>
              </a:ext>
            </a:extLst>
          </p:cNvPr>
          <p:cNvSpPr/>
          <p:nvPr/>
        </p:nvSpPr>
        <p:spPr>
          <a:xfrm>
            <a:off x="8202033" y="5171189"/>
            <a:ext cx="597646" cy="597646"/>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dirty="0">
                <a:solidFill>
                  <a:srgbClr val="FF0000"/>
                </a:solidFill>
              </a:rPr>
              <a:t>8</a:t>
            </a:r>
            <a:endParaRPr lang="ru-RU" dirty="0">
              <a:solidFill>
                <a:srgbClr val="FF0000"/>
              </a:solidFill>
            </a:endParaRPr>
          </a:p>
        </p:txBody>
      </p:sp>
      <p:cxnSp>
        <p:nvCxnSpPr>
          <p:cNvPr id="37" name="Прямая со стрелкой 36">
            <a:extLst>
              <a:ext uri="{FF2B5EF4-FFF2-40B4-BE49-F238E27FC236}">
                <a16:creationId xmlns:a16="http://schemas.microsoft.com/office/drawing/2014/main" id="{14C654CC-8808-4BE3-B094-1E2E41D28A99}"/>
              </a:ext>
            </a:extLst>
          </p:cNvPr>
          <p:cNvCxnSpPr>
            <a:cxnSpLocks/>
            <a:stCxn id="34" idx="2"/>
            <a:endCxn id="35" idx="0"/>
          </p:cNvCxnSpPr>
          <p:nvPr/>
        </p:nvCxnSpPr>
        <p:spPr>
          <a:xfrm flipH="1">
            <a:off x="7423164" y="4720083"/>
            <a:ext cx="217373" cy="452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Прямая со стрелкой 37">
            <a:extLst>
              <a:ext uri="{FF2B5EF4-FFF2-40B4-BE49-F238E27FC236}">
                <a16:creationId xmlns:a16="http://schemas.microsoft.com/office/drawing/2014/main" id="{D4C09618-09DD-43F0-BB4E-04302BE930F9}"/>
              </a:ext>
            </a:extLst>
          </p:cNvPr>
          <p:cNvCxnSpPr>
            <a:cxnSpLocks/>
            <a:stCxn id="34" idx="6"/>
            <a:endCxn id="36" idx="0"/>
          </p:cNvCxnSpPr>
          <p:nvPr/>
        </p:nvCxnSpPr>
        <p:spPr>
          <a:xfrm>
            <a:off x="8238183" y="4720083"/>
            <a:ext cx="262673" cy="45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Прямоугольник: скругленные углы 38">
            <a:extLst>
              <a:ext uri="{FF2B5EF4-FFF2-40B4-BE49-F238E27FC236}">
                <a16:creationId xmlns:a16="http://schemas.microsoft.com/office/drawing/2014/main" id="{4A580A36-76C1-45E4-8FA8-38BDD1DBA485}"/>
              </a:ext>
            </a:extLst>
          </p:cNvPr>
          <p:cNvSpPr/>
          <p:nvPr/>
        </p:nvSpPr>
        <p:spPr>
          <a:xfrm>
            <a:off x="6826143" y="3727823"/>
            <a:ext cx="2091350" cy="2089087"/>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a:p>
        </p:txBody>
      </p:sp>
      <p:sp>
        <p:nvSpPr>
          <p:cNvPr id="47" name="Прямоугольник: скругленные углы 46">
            <a:extLst>
              <a:ext uri="{FF2B5EF4-FFF2-40B4-BE49-F238E27FC236}">
                <a16:creationId xmlns:a16="http://schemas.microsoft.com/office/drawing/2014/main" id="{ED6C7EBD-D528-4AB5-8EF8-95D345885D0A}"/>
              </a:ext>
            </a:extLst>
          </p:cNvPr>
          <p:cNvSpPr/>
          <p:nvPr/>
        </p:nvSpPr>
        <p:spPr>
          <a:xfrm>
            <a:off x="9307133" y="3798428"/>
            <a:ext cx="2091350" cy="2089087"/>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Полная сортировка:</a:t>
            </a:r>
            <a:r>
              <a:rPr lang="en-US" dirty="0"/>
              <a:t> </a:t>
            </a:r>
            <a:br>
              <a:rPr lang="en-US" dirty="0"/>
            </a:br>
            <a:r>
              <a:rPr lang="en-US" b="1" dirty="0"/>
              <a:t>O(n log n)</a:t>
            </a:r>
            <a:br>
              <a:rPr lang="en-US" b="1" dirty="0"/>
            </a:br>
            <a:r>
              <a:rPr lang="en-US" dirty="0"/>
              <a:t>Heap </a:t>
            </a:r>
            <a:r>
              <a:rPr lang="ru-RU" dirty="0"/>
              <a:t>размера </a:t>
            </a:r>
            <a:r>
              <a:rPr lang="en-US" dirty="0"/>
              <a:t>K:</a:t>
            </a:r>
            <a:br>
              <a:rPr lang="en-US" dirty="0"/>
            </a:br>
            <a:r>
              <a:rPr lang="en-US" b="1" dirty="0"/>
              <a:t>O(n log k)</a:t>
            </a:r>
            <a:endParaRPr lang="ru-RU" b="1" dirty="0"/>
          </a:p>
        </p:txBody>
      </p:sp>
      <p:sp>
        <p:nvSpPr>
          <p:cNvPr id="49" name="Прямоугольник: скругленные углы 48">
            <a:extLst>
              <a:ext uri="{FF2B5EF4-FFF2-40B4-BE49-F238E27FC236}">
                <a16:creationId xmlns:a16="http://schemas.microsoft.com/office/drawing/2014/main" id="{547331C0-EFFD-4E83-80A9-4538C396880A}"/>
              </a:ext>
            </a:extLst>
          </p:cNvPr>
          <p:cNvSpPr/>
          <p:nvPr/>
        </p:nvSpPr>
        <p:spPr>
          <a:xfrm>
            <a:off x="479423" y="5409267"/>
            <a:ext cx="5957080" cy="8557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Когда </a:t>
            </a:r>
            <a:r>
              <a:rPr lang="en-US" dirty="0"/>
              <a:t> K &lt;&lt; N, </a:t>
            </a:r>
            <a:r>
              <a:rPr lang="ru-RU" dirty="0"/>
              <a:t>нет смысла полностью сортировать весь набор данных.</a:t>
            </a:r>
          </a:p>
        </p:txBody>
      </p:sp>
    </p:spTree>
    <p:extLst>
      <p:ext uri="{BB962C8B-B14F-4D97-AF65-F5344CB8AC3E}">
        <p14:creationId xmlns:p14="http://schemas.microsoft.com/office/powerpoint/2010/main" val="638427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6CF833-3158-413F-BED7-21D3EA875A2E}"/>
              </a:ext>
            </a:extLst>
          </p:cNvPr>
          <p:cNvSpPr>
            <a:spLocks noGrp="1"/>
          </p:cNvSpPr>
          <p:nvPr>
            <p:ph type="title"/>
          </p:nvPr>
        </p:nvSpPr>
        <p:spPr/>
        <p:txBody>
          <a:bodyPr/>
          <a:lstStyle/>
          <a:p>
            <a:r>
              <a:rPr lang="en-US" dirty="0"/>
              <a:t>Top-3</a:t>
            </a:r>
            <a:endParaRPr lang="ru-RU" dirty="0"/>
          </a:p>
        </p:txBody>
      </p:sp>
      <p:sp>
        <p:nvSpPr>
          <p:cNvPr id="7" name="Текст 6">
            <a:extLst>
              <a:ext uri="{FF2B5EF4-FFF2-40B4-BE49-F238E27FC236}">
                <a16:creationId xmlns:a16="http://schemas.microsoft.com/office/drawing/2014/main" id="{C9448BC2-371C-4BB9-A530-629D8F4597CF}"/>
              </a:ext>
            </a:extLst>
          </p:cNvPr>
          <p:cNvSpPr>
            <a:spLocks noGrp="1"/>
          </p:cNvSpPr>
          <p:nvPr>
            <p:ph type="body" sz="quarter" idx="19"/>
          </p:nvPr>
        </p:nvSpPr>
        <p:spPr/>
        <p:txBody>
          <a:bodyPr/>
          <a:lstStyle/>
          <a:p>
            <a:endParaRPr lang="ru-RU"/>
          </a:p>
        </p:txBody>
      </p:sp>
      <p:sp>
        <p:nvSpPr>
          <p:cNvPr id="8" name="Прямоугольник 7">
            <a:extLst>
              <a:ext uri="{FF2B5EF4-FFF2-40B4-BE49-F238E27FC236}">
                <a16:creationId xmlns:a16="http://schemas.microsoft.com/office/drawing/2014/main" id="{79E5F2B6-52AA-42D2-A6A6-F610767DA6F3}"/>
              </a:ext>
            </a:extLst>
          </p:cNvPr>
          <p:cNvSpPr/>
          <p:nvPr/>
        </p:nvSpPr>
        <p:spPr>
          <a:xfrm>
            <a:off x="3674408" y="1415148"/>
            <a:ext cx="4124847" cy="646331"/>
          </a:xfrm>
          <a:prstGeom prst="rect">
            <a:avLst/>
          </a:prstGeom>
        </p:spPr>
        <p:txBody>
          <a:bodyPr wrap="none">
            <a:spAutoFit/>
          </a:bodyPr>
          <a:lstStyle/>
          <a:p>
            <a:r>
              <a:rPr lang="en-US" sz="3600" dirty="0"/>
              <a:t>[</a:t>
            </a:r>
            <a:r>
              <a:rPr lang="ru-RU" sz="3600" dirty="0"/>
              <a:t>8, 2, 15, 4, 11, 20, 3</a:t>
            </a:r>
            <a:r>
              <a:rPr lang="en-US" sz="3600" dirty="0"/>
              <a:t>]</a:t>
            </a:r>
            <a:endParaRPr lang="ru-RU" sz="3600" dirty="0"/>
          </a:p>
        </p:txBody>
      </p:sp>
      <p:sp>
        <p:nvSpPr>
          <p:cNvPr id="13" name="Овал 12">
            <a:extLst>
              <a:ext uri="{FF2B5EF4-FFF2-40B4-BE49-F238E27FC236}">
                <a16:creationId xmlns:a16="http://schemas.microsoft.com/office/drawing/2014/main" id="{2251CCCC-25AC-42E7-B9E5-0181E3F3E62A}"/>
              </a:ext>
            </a:extLst>
          </p:cNvPr>
          <p:cNvSpPr/>
          <p:nvPr/>
        </p:nvSpPr>
        <p:spPr>
          <a:xfrm>
            <a:off x="4770877" y="2362954"/>
            <a:ext cx="1358020" cy="1358020"/>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a:p>
        </p:txBody>
      </p:sp>
      <p:sp>
        <p:nvSpPr>
          <p:cNvPr id="14" name="Овал 13">
            <a:extLst>
              <a:ext uri="{FF2B5EF4-FFF2-40B4-BE49-F238E27FC236}">
                <a16:creationId xmlns:a16="http://schemas.microsoft.com/office/drawing/2014/main" id="{C382D1AB-3C4E-4FA6-8FA5-917BAEBBED76}"/>
              </a:ext>
            </a:extLst>
          </p:cNvPr>
          <p:cNvSpPr/>
          <p:nvPr/>
        </p:nvSpPr>
        <p:spPr>
          <a:xfrm>
            <a:off x="2995398" y="4633865"/>
            <a:ext cx="1358020" cy="1358020"/>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a:p>
        </p:txBody>
      </p:sp>
      <p:sp>
        <p:nvSpPr>
          <p:cNvPr id="15" name="Овал 14">
            <a:extLst>
              <a:ext uri="{FF2B5EF4-FFF2-40B4-BE49-F238E27FC236}">
                <a16:creationId xmlns:a16="http://schemas.microsoft.com/office/drawing/2014/main" id="{3E1ADA2E-0043-4809-9DD8-D2E7D4564467}"/>
              </a:ext>
            </a:extLst>
          </p:cNvPr>
          <p:cNvSpPr/>
          <p:nvPr/>
        </p:nvSpPr>
        <p:spPr>
          <a:xfrm>
            <a:off x="6346181" y="4633865"/>
            <a:ext cx="1358020" cy="1358020"/>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a:p>
        </p:txBody>
      </p:sp>
      <p:cxnSp>
        <p:nvCxnSpPr>
          <p:cNvPr id="17" name="Прямая со стрелкой 16">
            <a:extLst>
              <a:ext uri="{FF2B5EF4-FFF2-40B4-BE49-F238E27FC236}">
                <a16:creationId xmlns:a16="http://schemas.microsoft.com/office/drawing/2014/main" id="{63EC2E62-5538-4686-81FD-B55F1F1B6B00}"/>
              </a:ext>
            </a:extLst>
          </p:cNvPr>
          <p:cNvCxnSpPr>
            <a:stCxn id="13" idx="3"/>
            <a:endCxn id="14" idx="0"/>
          </p:cNvCxnSpPr>
          <p:nvPr/>
        </p:nvCxnSpPr>
        <p:spPr>
          <a:xfrm flipH="1">
            <a:off x="3674408" y="3522097"/>
            <a:ext cx="1295346" cy="1111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8B07BDDC-5C9D-47E6-B8B3-9E177E6EACE6}"/>
              </a:ext>
            </a:extLst>
          </p:cNvPr>
          <p:cNvCxnSpPr>
            <a:cxnSpLocks/>
            <a:stCxn id="13" idx="5"/>
            <a:endCxn id="15" idx="0"/>
          </p:cNvCxnSpPr>
          <p:nvPr/>
        </p:nvCxnSpPr>
        <p:spPr>
          <a:xfrm>
            <a:off x="5930020" y="3522097"/>
            <a:ext cx="1095171" cy="1111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9336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6BB56D-C0A5-4992-BC72-92ABA81C42FC}"/>
              </a:ext>
            </a:extLst>
          </p:cNvPr>
          <p:cNvSpPr>
            <a:spLocks noGrp="1"/>
          </p:cNvSpPr>
          <p:nvPr>
            <p:ph type="title"/>
          </p:nvPr>
        </p:nvSpPr>
        <p:spPr/>
        <p:txBody>
          <a:bodyPr/>
          <a:lstStyle/>
          <a:p>
            <a:r>
              <a:rPr lang="ru-RU" dirty="0"/>
              <a:t>Существует гораздо больше структур</a:t>
            </a:r>
          </a:p>
        </p:txBody>
      </p:sp>
      <p:sp>
        <p:nvSpPr>
          <p:cNvPr id="7" name="Текст 6">
            <a:extLst>
              <a:ext uri="{FF2B5EF4-FFF2-40B4-BE49-F238E27FC236}">
                <a16:creationId xmlns:a16="http://schemas.microsoft.com/office/drawing/2014/main" id="{AFE15E98-ADBE-4E45-A45F-9D13126E4031}"/>
              </a:ext>
            </a:extLst>
          </p:cNvPr>
          <p:cNvSpPr>
            <a:spLocks noGrp="1"/>
          </p:cNvSpPr>
          <p:nvPr>
            <p:ph type="body" sz="quarter" idx="19"/>
          </p:nvPr>
        </p:nvSpPr>
        <p:spPr/>
        <p:txBody>
          <a:bodyPr/>
          <a:lstStyle/>
          <a:p>
            <a:endParaRPr lang="ru-RU"/>
          </a:p>
        </p:txBody>
      </p:sp>
      <p:sp>
        <p:nvSpPr>
          <p:cNvPr id="8" name="AutoShape 2" descr="Карта структур данных">
            <a:extLst>
              <a:ext uri="{FF2B5EF4-FFF2-40B4-BE49-F238E27FC236}">
                <a16:creationId xmlns:a16="http://schemas.microsoft.com/office/drawing/2014/main" id="{9AE4E5FE-312A-4759-9F96-43212AC0C4CB}"/>
              </a:ext>
            </a:extLst>
          </p:cNvPr>
          <p:cNvSpPr>
            <a:spLocks noChangeAspect="1" noChangeArrowheads="1"/>
          </p:cNvSpPr>
          <p:nvPr/>
        </p:nvSpPr>
        <p:spPr bwMode="auto">
          <a:xfrm>
            <a:off x="-117695" y="-2784695"/>
            <a:ext cx="6366095" cy="636609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1" name="Рисунок 10">
            <a:extLst>
              <a:ext uri="{FF2B5EF4-FFF2-40B4-BE49-F238E27FC236}">
                <a16:creationId xmlns:a16="http://schemas.microsoft.com/office/drawing/2014/main" id="{04C3C8B8-C6AF-4953-833E-5A0A33B2A8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938" y="1461768"/>
            <a:ext cx="7197566" cy="4798377"/>
          </a:xfrm>
          <a:prstGeom prst="rect">
            <a:avLst/>
          </a:prstGeom>
        </p:spPr>
      </p:pic>
    </p:spTree>
    <p:extLst>
      <p:ext uri="{BB962C8B-B14F-4D97-AF65-F5344CB8AC3E}">
        <p14:creationId xmlns:p14="http://schemas.microsoft.com/office/powerpoint/2010/main" val="34956252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EE47E8-738E-44E8-BD45-B6F255E57D7A}"/>
              </a:ext>
            </a:extLst>
          </p:cNvPr>
          <p:cNvSpPr>
            <a:spLocks noGrp="1"/>
          </p:cNvSpPr>
          <p:nvPr>
            <p:ph type="title"/>
          </p:nvPr>
        </p:nvSpPr>
        <p:spPr/>
        <p:txBody>
          <a:bodyPr/>
          <a:lstStyle/>
          <a:p>
            <a:r>
              <a:rPr lang="ru-RU" dirty="0"/>
              <a:t>Итоги</a:t>
            </a:r>
          </a:p>
        </p:txBody>
      </p:sp>
      <p:sp>
        <p:nvSpPr>
          <p:cNvPr id="7" name="Текст 6">
            <a:extLst>
              <a:ext uri="{FF2B5EF4-FFF2-40B4-BE49-F238E27FC236}">
                <a16:creationId xmlns:a16="http://schemas.microsoft.com/office/drawing/2014/main" id="{C7F4EC58-7562-4C56-B578-9FFDA13703C3}"/>
              </a:ext>
            </a:extLst>
          </p:cNvPr>
          <p:cNvSpPr>
            <a:spLocks noGrp="1"/>
          </p:cNvSpPr>
          <p:nvPr>
            <p:ph type="body" sz="quarter" idx="19"/>
          </p:nvPr>
        </p:nvSpPr>
        <p:spPr/>
        <p:txBody>
          <a:bodyPr/>
          <a:lstStyle/>
          <a:p>
            <a:endParaRPr lang="ru-RU"/>
          </a:p>
        </p:txBody>
      </p:sp>
      <p:sp>
        <p:nvSpPr>
          <p:cNvPr id="8" name="Прямоугольник: скругленные углы 7">
            <a:extLst>
              <a:ext uri="{FF2B5EF4-FFF2-40B4-BE49-F238E27FC236}">
                <a16:creationId xmlns:a16="http://schemas.microsoft.com/office/drawing/2014/main" id="{9FCCB2D3-BDE1-4B43-94B4-81F78E86EBC3}"/>
              </a:ext>
            </a:extLst>
          </p:cNvPr>
          <p:cNvSpPr/>
          <p:nvPr/>
        </p:nvSpPr>
        <p:spPr>
          <a:xfrm>
            <a:off x="642386" y="1479994"/>
            <a:ext cx="10629178" cy="1027815"/>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sz="2800" dirty="0"/>
              <a:t>Скорость доступа зависит от того, как данные организованы и какая операция выполняется чаще всего.</a:t>
            </a:r>
          </a:p>
        </p:txBody>
      </p:sp>
      <p:sp>
        <p:nvSpPr>
          <p:cNvPr id="9" name="Прямоугольник: скругленные углы 8">
            <a:extLst>
              <a:ext uri="{FF2B5EF4-FFF2-40B4-BE49-F238E27FC236}">
                <a16:creationId xmlns:a16="http://schemas.microsoft.com/office/drawing/2014/main" id="{0559A2A5-C4CD-42BA-A71B-04C939E2A343}"/>
              </a:ext>
            </a:extLst>
          </p:cNvPr>
          <p:cNvSpPr/>
          <p:nvPr/>
        </p:nvSpPr>
        <p:spPr>
          <a:xfrm>
            <a:off x="642386" y="2688879"/>
            <a:ext cx="10629178" cy="959389"/>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sz="2800" dirty="0"/>
              <a:t>Разные структуры данных оптимизированы под разные задачи: доступ по ключу, приоритету, минимуму/максимуму, </a:t>
            </a:r>
            <a:r>
              <a:rPr lang="ru-RU" sz="2800" dirty="0" err="1"/>
              <a:t>Top</a:t>
            </a:r>
            <a:r>
              <a:rPr lang="ru-RU" sz="2800" dirty="0"/>
              <a:t>-K.</a:t>
            </a:r>
          </a:p>
        </p:txBody>
      </p:sp>
      <p:sp>
        <p:nvSpPr>
          <p:cNvPr id="10" name="Прямоугольник: скругленные углы 9">
            <a:extLst>
              <a:ext uri="{FF2B5EF4-FFF2-40B4-BE49-F238E27FC236}">
                <a16:creationId xmlns:a16="http://schemas.microsoft.com/office/drawing/2014/main" id="{479BA594-0750-415B-82A4-8F22D8D4FD64}"/>
              </a:ext>
            </a:extLst>
          </p:cNvPr>
          <p:cNvSpPr/>
          <p:nvPr/>
        </p:nvSpPr>
        <p:spPr>
          <a:xfrm>
            <a:off x="642386" y="3829338"/>
            <a:ext cx="10629178" cy="959389"/>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sz="2800" dirty="0"/>
              <a:t>Не существует одной “лучшей” структуры данных — выбор определяется типом доступа и требованиями задачи.</a:t>
            </a:r>
          </a:p>
        </p:txBody>
      </p:sp>
      <p:sp>
        <p:nvSpPr>
          <p:cNvPr id="11" name="Прямоугольник: скругленные углы 10">
            <a:extLst>
              <a:ext uri="{FF2B5EF4-FFF2-40B4-BE49-F238E27FC236}">
                <a16:creationId xmlns:a16="http://schemas.microsoft.com/office/drawing/2014/main" id="{01579EAB-B5B0-49AB-A0FA-381A178C4AD1}"/>
              </a:ext>
            </a:extLst>
          </p:cNvPr>
          <p:cNvSpPr/>
          <p:nvPr/>
        </p:nvSpPr>
        <p:spPr>
          <a:xfrm>
            <a:off x="642386" y="5119687"/>
            <a:ext cx="10719713" cy="12539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800" dirty="0"/>
              <a:t>Быстрый доступ начинается с правильного выбора структуры данных.</a:t>
            </a:r>
          </a:p>
        </p:txBody>
      </p:sp>
    </p:spTree>
    <p:extLst>
      <p:ext uri="{BB962C8B-B14F-4D97-AF65-F5344CB8AC3E}">
        <p14:creationId xmlns:p14="http://schemas.microsoft.com/office/powerpoint/2010/main" val="19042017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3C8C16-CDAE-4110-998A-AA5F2453A752}"/>
              </a:ext>
            </a:extLst>
          </p:cNvPr>
          <p:cNvSpPr>
            <a:spLocks noGrp="1"/>
          </p:cNvSpPr>
          <p:nvPr>
            <p:ph type="title"/>
          </p:nvPr>
        </p:nvSpPr>
        <p:spPr>
          <a:xfrm>
            <a:off x="479424" y="728553"/>
            <a:ext cx="11229975" cy="814486"/>
          </a:xfrm>
        </p:spPr>
        <p:txBody>
          <a:bodyPr/>
          <a:lstStyle/>
          <a:p>
            <a:r>
              <a:rPr lang="ru-RU" dirty="0"/>
              <a:t>Пароль для теста</a:t>
            </a:r>
          </a:p>
        </p:txBody>
      </p:sp>
      <p:sp>
        <p:nvSpPr>
          <p:cNvPr id="7" name="Текст 6">
            <a:extLst>
              <a:ext uri="{FF2B5EF4-FFF2-40B4-BE49-F238E27FC236}">
                <a16:creationId xmlns:a16="http://schemas.microsoft.com/office/drawing/2014/main" id="{E0DD9A40-8298-4417-8524-24F518938BC0}"/>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1873DF5E-D02B-4CC4-B969-AF4C59439265}"/>
              </a:ext>
            </a:extLst>
          </p:cNvPr>
          <p:cNvSpPr txBox="1"/>
          <p:nvPr/>
        </p:nvSpPr>
        <p:spPr bwMode="auto">
          <a:xfrm>
            <a:off x="2625505" y="1845821"/>
            <a:ext cx="7297093" cy="3770263"/>
          </a:xfrm>
          <a:prstGeom prst="rect">
            <a:avLst/>
          </a:prstGeom>
        </p:spPr>
        <p:txBody>
          <a:bodyPr wrap="square" rtlCol="0">
            <a:spAutoFit/>
          </a:bodyPr>
          <a:lstStyle/>
          <a:p>
            <a:r>
              <a:rPr lang="ru-RU" sz="23900" dirty="0"/>
              <a:t>8074</a:t>
            </a:r>
          </a:p>
        </p:txBody>
      </p:sp>
    </p:spTree>
    <p:extLst>
      <p:ext uri="{BB962C8B-B14F-4D97-AF65-F5344CB8AC3E}">
        <p14:creationId xmlns:p14="http://schemas.microsoft.com/office/powerpoint/2010/main" val="1484687000"/>
      </p:ext>
    </p:extLst>
  </p:cSld>
  <p:clrMapOvr>
    <a:masterClrMapping/>
  </p:clrMapOvr>
</p:sld>
</file>

<file path=ppt/theme/theme1.xml><?xml version="1.0" encoding="utf-8"?>
<a:theme xmlns:a="http://schemas.openxmlformats.org/drawingml/2006/main" name="Тема Office">
  <a:themeElements>
    <a:clrScheme name="МТУСИ">
      <a:dk1>
        <a:srgbClr val="352379"/>
      </a:dk1>
      <a:lt1>
        <a:srgbClr val="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МТУСИ">
      <a:majorFont>
        <a:latin typeface="Montserrat SemiBold"/>
        <a:ea typeface="Arial"/>
        <a:cs typeface="Arial"/>
      </a:majorFont>
      <a:minorFont>
        <a:latin typeface="Montserrat"/>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bodyPr/>
      <a:lstStyle/>
    </a:tx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666</TotalTime>
  <Words>1721</Words>
  <Application>Microsoft Office PowerPoint</Application>
  <DocSecurity>0</DocSecurity>
  <PresentationFormat>Широкоэкранный</PresentationFormat>
  <Paragraphs>347</Paragraphs>
  <Slides>31</Slides>
  <Notes>1</Notes>
  <HiddenSlides>0</HiddenSlides>
  <MMClips>0</MMClips>
  <ScaleCrop>false</ScaleCrop>
  <HeadingPairs>
    <vt:vector size="8" baseType="variant">
      <vt:variant>
        <vt:lpstr>Использованные шрифты</vt:lpstr>
      </vt:variant>
      <vt:variant>
        <vt:i4>4</vt:i4>
      </vt:variant>
      <vt:variant>
        <vt:lpstr>Тема</vt:lpstr>
      </vt:variant>
      <vt:variant>
        <vt:i4>1</vt:i4>
      </vt:variant>
      <vt:variant>
        <vt:lpstr>Внедренные серверы OLE</vt:lpstr>
      </vt:variant>
      <vt:variant>
        <vt:i4>1</vt:i4>
      </vt:variant>
      <vt:variant>
        <vt:lpstr>Заголовки слайдов</vt:lpstr>
      </vt:variant>
      <vt:variant>
        <vt:i4>31</vt:i4>
      </vt:variant>
    </vt:vector>
  </HeadingPairs>
  <TitlesOfParts>
    <vt:vector size="37" baseType="lpstr">
      <vt:lpstr>Calibri</vt:lpstr>
      <vt:lpstr>Montserrat SemiBold</vt:lpstr>
      <vt:lpstr>Montserrat</vt:lpstr>
      <vt:lpstr>Arial</vt:lpstr>
      <vt:lpstr>Тема Office</vt:lpstr>
      <vt:lpstr>Equation</vt:lpstr>
      <vt:lpstr>Лекция 1. Быстрый доступ к данным</vt:lpstr>
      <vt:lpstr>Одни данные – разные задачи</vt:lpstr>
      <vt:lpstr>Что значит быстро?</vt:lpstr>
      <vt:lpstr>Доступ по индексу: самый простой случай</vt:lpstr>
      <vt:lpstr>Главный принцип лекции</vt:lpstr>
      <vt:lpstr>Задача: найти объект по ключу</vt:lpstr>
      <vt:lpstr>Хеширование как переход от ключа к позиции</vt:lpstr>
      <vt:lpstr>Почему O(1) не всегда гарантируется</vt:lpstr>
      <vt:lpstr>Почему O(1) не всегда гарантируется</vt:lpstr>
      <vt:lpstr>Прикладные примеры</vt:lpstr>
      <vt:lpstr>Новая задача: постоянно получать минимум или максимум</vt:lpstr>
      <vt:lpstr>Что такое куча?</vt:lpstr>
      <vt:lpstr>Куча как дерево и как массив</vt:lpstr>
      <vt:lpstr>Вставка: как сохранить свойство кучи</vt:lpstr>
      <vt:lpstr>Вставка: как сохранить свойство кучи</vt:lpstr>
      <vt:lpstr>Вставка: как сохранить свойство кучи</vt:lpstr>
      <vt:lpstr>Вставка: как сохранить свойство кучи</vt:lpstr>
      <vt:lpstr>Извлечение минимума</vt:lpstr>
      <vt:lpstr>Извлечение минимума</vt:lpstr>
      <vt:lpstr>Извлечение минимума</vt:lpstr>
      <vt:lpstr>Извлечение минимума</vt:lpstr>
      <vt:lpstr>Извлечение минимума</vt:lpstr>
      <vt:lpstr>Извлечение минимума</vt:lpstr>
      <vt:lpstr>Что куча делает хорошо, а что плохо</vt:lpstr>
      <vt:lpstr>Где нужна приоритетная очередь</vt:lpstr>
      <vt:lpstr>Задача Top-K</vt:lpstr>
      <vt:lpstr>Top-K через кучу фиксированного размера</vt:lpstr>
      <vt:lpstr>Top-3</vt:lpstr>
      <vt:lpstr>Существует гораздо больше структур</vt:lpstr>
      <vt:lpstr>Итоги</vt:lpstr>
      <vt:lpstr>Пароль для теста</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user [v4]</dc:creator>
  <cp:keywords/>
  <dc:description/>
  <cp:lastModifiedBy>вадим борзов</cp:lastModifiedBy>
  <cp:revision>48</cp:revision>
  <dcterms:created xsi:type="dcterms:W3CDTF">2023-04-19T21:39:12Z</dcterms:created>
  <dcterms:modified xsi:type="dcterms:W3CDTF">2026-09-09T20:19:59Z</dcterms:modified>
  <cp:category/>
  <dc:identifier/>
  <cp:contentStatus/>
  <dc:language/>
  <cp:version/>
</cp:coreProperties>
</file>