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63"/>
  </p:notesMasterIdLst>
  <p:sldIdLst>
    <p:sldId id="256" r:id="rId2"/>
    <p:sldId id="257" r:id="rId3"/>
    <p:sldId id="258" r:id="rId4"/>
    <p:sldId id="259" r:id="rId5"/>
    <p:sldId id="260" r:id="rId6"/>
    <p:sldId id="261"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3" r:id="rId39"/>
    <p:sldId id="322"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39" r:id="rId56"/>
    <p:sldId id="340" r:id="rId57"/>
    <p:sldId id="341" r:id="rId58"/>
    <p:sldId id="342" r:id="rId59"/>
    <p:sldId id="279" r:id="rId60"/>
    <p:sldId id="280" r:id="rId61"/>
    <p:sldId id="290" r:id="rId62"/>
  </p:sldIdLst>
  <p:sldSz cx="12192000" cy="6858000"/>
  <p:notesSz cx="12192000" cy="6858000"/>
  <p:embeddedFontLst>
    <p:embeddedFont>
      <p:font typeface="Calibri" panose="020F0502020204030204" pitchFamily="34" charset="0"/>
      <p:regular r:id="rId64"/>
      <p:bold r:id="rId65"/>
      <p:italic r:id="rId66"/>
      <p:boldItalic r:id="rId67"/>
    </p:embeddedFont>
    <p:embeddedFont>
      <p:font typeface="Montserrat" pitchFamily="2" charset="-52"/>
      <p:regular r:id="rId68"/>
      <p:bold r:id="rId69"/>
      <p:italic r:id="rId70"/>
      <p:boldItalic r:id="rId71"/>
    </p:embeddedFont>
    <p:embeddedFont>
      <p:font typeface="Montserrat SemiBold" pitchFamily="2" charset="-52"/>
      <p:bold r:id="rId72"/>
      <p:boldItalic r:id="rId73"/>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8F54E60A-E40A-4C6B-A923-DCFEA0F4468B}">
          <p14:sldIdLst>
            <p14:sldId id="256"/>
            <p14:sldId id="257"/>
            <p14:sldId id="258"/>
            <p14:sldId id="259"/>
          </p14:sldIdLst>
        </p14:section>
        <p14:section name="Раздел 1. Деревья" id="{2651AE2C-487C-4ACA-85F2-0CBF628D43F2}">
          <p14:sldIdLst>
            <p14:sldId id="260"/>
            <p14:sldId id="261"/>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Блок 3. Обходы" id="{9B9894AA-BB9F-4481-896B-D53297E757F6}">
          <p14:sldIdLst>
            <p14:sldId id="309"/>
            <p14:sldId id="310"/>
            <p14:sldId id="311"/>
          </p14:sldIdLst>
        </p14:section>
        <p14:section name="Блок 4. Деревья выражений." id="{A931F645-16AE-4BE3-863D-FDC4C732C025}">
          <p14:sldIdLst>
            <p14:sldId id="312"/>
            <p14:sldId id="313"/>
          </p14:sldIdLst>
        </p14:section>
        <p14:section name="Блок 5. Проблемы высот" id="{C746DC10-68A7-4E18-91BA-D7E183CB4B19}">
          <p14:sldIdLst>
            <p14:sldId id="314"/>
            <p14:sldId id="315"/>
          </p14:sldIdLst>
        </p14:section>
        <p14:section name="Блок 6. Балансировка" id="{42ACA522-D037-441E-BC2E-FA477F9D2414}">
          <p14:sldIdLst>
            <p14:sldId id="316"/>
            <p14:sldId id="317"/>
            <p14:sldId id="318"/>
            <p14:sldId id="319"/>
            <p14:sldId id="320"/>
            <p14:sldId id="321"/>
            <p14:sldId id="323"/>
            <p14:sldId id="322"/>
            <p14:sldId id="324"/>
            <p14:sldId id="325"/>
            <p14:sldId id="326"/>
            <p14:sldId id="327"/>
          </p14:sldIdLst>
        </p14:section>
        <p14:section name="Блок 5. Красно-черные деревья" id="{9B09A270-1DB7-4CFF-B02F-EA169238B1BF}">
          <p14:sldIdLst>
            <p14:sldId id="328"/>
            <p14:sldId id="329"/>
          </p14:sldIdLst>
        </p14:section>
        <p14:section name="Блок 6. B-Tree" id="{6F998E9E-4872-428A-973C-3DD9DB0A1047}">
          <p14:sldIdLst>
            <p14:sldId id="330"/>
            <p14:sldId id="331"/>
            <p14:sldId id="332"/>
            <p14:sldId id="333"/>
            <p14:sldId id="334"/>
            <p14:sldId id="335"/>
            <p14:sldId id="336"/>
            <p14:sldId id="337"/>
            <p14:sldId id="338"/>
            <p14:sldId id="339"/>
            <p14:sldId id="340"/>
            <p14:sldId id="341"/>
            <p14:sldId id="342"/>
          </p14:sldIdLst>
        </p14:section>
        <p14:section name="Финальный блок" id="{BBE011A7-FDCD-41A5-9104-E0BD02CAFD64}">
          <p14:sldIdLst>
            <p14:sldId id="279"/>
            <p14:sldId id="280"/>
            <p14:sldId id="290"/>
          </p14:sldIdLst>
        </p14:section>
      </p14:sectionLst>
    </p:ex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16" autoAdjust="0"/>
  </p:normalViewPr>
  <p:slideViewPr>
    <p:cSldViewPr snapToGrid="0" showGuides="1">
      <p:cViewPr varScale="1">
        <p:scale>
          <a:sx n="71" d="100"/>
          <a:sy n="71" d="100"/>
        </p:scale>
        <p:origin x="858" y="66"/>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07.09.2026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07.09.2026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p:txBody>
          <a:bodyPr/>
          <a:lstStyle/>
          <a:p>
            <a:pPr>
              <a:defRPr/>
            </a:pPr>
            <a:r>
              <a:rPr lang="ru-RU" dirty="0"/>
              <a:t>Как сохранять порядок и быстро выполнять поиск, вставку и удаление</a:t>
            </a:r>
          </a:p>
        </p:txBody>
      </p:sp>
      <p:sp>
        <p:nvSpPr>
          <p:cNvPr id="9" name="Текст 8"/>
          <p:cNvSpPr>
            <a:spLocks noGrp="1"/>
          </p:cNvSpPr>
          <p:nvPr>
            <p:ph type="body" sz="quarter" idx="14"/>
          </p:nvPr>
        </p:nvSpPr>
        <p:spPr bwMode="auto"/>
        <p:txBody>
          <a:bodyPr/>
          <a:lstStyle/>
          <a:p>
            <a:pPr>
              <a:defRPr/>
            </a:pPr>
            <a:r>
              <a:rPr lang="ru-RU" dirty="0"/>
              <a:t>10.09.2026</a:t>
            </a:r>
          </a:p>
        </p:txBody>
      </p:sp>
      <p:sp>
        <p:nvSpPr>
          <p:cNvPr id="6" name="Заголовок 5"/>
          <p:cNvSpPr>
            <a:spLocks noGrp="1"/>
          </p:cNvSpPr>
          <p:nvPr>
            <p:ph type="title"/>
          </p:nvPr>
        </p:nvSpPr>
        <p:spPr bwMode="auto"/>
        <p:txBody>
          <a:bodyPr/>
          <a:lstStyle/>
          <a:p>
            <a:pPr>
              <a:defRPr/>
            </a:pPr>
            <a:r>
              <a:rPr lang="ru-RU" dirty="0"/>
              <a:t>Лекция 2. Деревья и быстрый поиск в упорядоченных данных</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5215-0081-473B-B5D3-EE8A0319E349}"/>
              </a:ext>
            </a:extLst>
          </p:cNvPr>
          <p:cNvSpPr>
            <a:spLocks noGrp="1"/>
          </p:cNvSpPr>
          <p:nvPr>
            <p:ph type="title"/>
          </p:nvPr>
        </p:nvSpPr>
        <p:spPr>
          <a:xfrm>
            <a:off x="479424" y="597855"/>
            <a:ext cx="11229975" cy="1140459"/>
          </a:xfrm>
        </p:spPr>
        <p:txBody>
          <a:bodyPr/>
          <a:lstStyle/>
          <a:p>
            <a:r>
              <a:rPr lang="ru-RU" dirty="0"/>
              <a:t>Одни данные – разные задачи</a:t>
            </a:r>
          </a:p>
        </p:txBody>
      </p:sp>
      <p:sp>
        <p:nvSpPr>
          <p:cNvPr id="7" name="Текст 6">
            <a:extLst>
              <a:ext uri="{FF2B5EF4-FFF2-40B4-BE49-F238E27FC236}">
                <a16:creationId xmlns:a16="http://schemas.microsoft.com/office/drawing/2014/main" id="{63BB8E7F-7152-4DB6-870E-59B8A07FDABC}"/>
              </a:ext>
            </a:extLst>
          </p:cNvPr>
          <p:cNvSpPr>
            <a:spLocks noGrp="1"/>
          </p:cNvSpPr>
          <p:nvPr>
            <p:ph type="body" sz="quarter" idx="19"/>
          </p:nvPr>
        </p:nvSpPr>
        <p:spPr/>
        <p:txBody>
          <a:bodyPr/>
          <a:lstStyle/>
          <a:p>
            <a:endParaRPr lang="ru-RU"/>
          </a:p>
        </p:txBody>
      </p:sp>
      <p:sp>
        <p:nvSpPr>
          <p:cNvPr id="3" name="Прямоугольник: скругленные углы 2">
            <a:extLst>
              <a:ext uri="{FF2B5EF4-FFF2-40B4-BE49-F238E27FC236}">
                <a16:creationId xmlns:a16="http://schemas.microsoft.com/office/drawing/2014/main" id="{7695D9C8-3221-4E41-B5EC-880DAD6A578B}"/>
              </a:ext>
            </a:extLst>
          </p:cNvPr>
          <p:cNvSpPr/>
          <p:nvPr/>
        </p:nvSpPr>
        <p:spPr>
          <a:xfrm>
            <a:off x="3890285" y="2689412"/>
            <a:ext cx="4411430" cy="147917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000" dirty="0"/>
              <a:t>[12, 18, 24, 31, 42, 56, 63, 71, 84]</a:t>
            </a:r>
          </a:p>
        </p:txBody>
      </p:sp>
      <p:sp>
        <p:nvSpPr>
          <p:cNvPr id="4" name="Прямоугольник: скругленные углы 3">
            <a:extLst>
              <a:ext uri="{FF2B5EF4-FFF2-40B4-BE49-F238E27FC236}">
                <a16:creationId xmlns:a16="http://schemas.microsoft.com/office/drawing/2014/main" id="{BE23C813-8A07-4A7A-BAC6-4AC6470AC5F6}"/>
              </a:ext>
            </a:extLst>
          </p:cNvPr>
          <p:cNvSpPr/>
          <p:nvPr/>
        </p:nvSpPr>
        <p:spPr>
          <a:xfrm>
            <a:off x="479424" y="1401222"/>
            <a:ext cx="2528047" cy="147917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Точный поиск</a:t>
            </a:r>
          </a:p>
        </p:txBody>
      </p:sp>
      <p:sp>
        <p:nvSpPr>
          <p:cNvPr id="25" name="Прямоугольник: скругленные углы 24">
            <a:extLst>
              <a:ext uri="{FF2B5EF4-FFF2-40B4-BE49-F238E27FC236}">
                <a16:creationId xmlns:a16="http://schemas.microsoft.com/office/drawing/2014/main" id="{C298DC9E-50B1-4726-AFC7-158DB9C29D28}"/>
              </a:ext>
            </a:extLst>
          </p:cNvPr>
          <p:cNvSpPr/>
          <p:nvPr/>
        </p:nvSpPr>
        <p:spPr>
          <a:xfrm>
            <a:off x="479424" y="3429000"/>
            <a:ext cx="2528047" cy="147917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Ближайшее значение</a:t>
            </a:r>
          </a:p>
        </p:txBody>
      </p:sp>
      <p:sp>
        <p:nvSpPr>
          <p:cNvPr id="26" name="Прямоугольник: скругленные углы 25">
            <a:extLst>
              <a:ext uri="{FF2B5EF4-FFF2-40B4-BE49-F238E27FC236}">
                <a16:creationId xmlns:a16="http://schemas.microsoft.com/office/drawing/2014/main" id="{B3E0F5C7-B97E-4B0D-B8E0-6638C1120AC8}"/>
              </a:ext>
            </a:extLst>
          </p:cNvPr>
          <p:cNvSpPr/>
          <p:nvPr/>
        </p:nvSpPr>
        <p:spPr>
          <a:xfrm>
            <a:off x="9156326" y="1401222"/>
            <a:ext cx="2528047" cy="147917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Диапазон</a:t>
            </a:r>
          </a:p>
        </p:txBody>
      </p:sp>
      <p:sp>
        <p:nvSpPr>
          <p:cNvPr id="28" name="Прямоугольник: скругленные углы 27">
            <a:extLst>
              <a:ext uri="{FF2B5EF4-FFF2-40B4-BE49-F238E27FC236}">
                <a16:creationId xmlns:a16="http://schemas.microsoft.com/office/drawing/2014/main" id="{72842BB4-007C-4279-B1ED-5B3F3C1E54C3}"/>
              </a:ext>
            </a:extLst>
          </p:cNvPr>
          <p:cNvSpPr/>
          <p:nvPr/>
        </p:nvSpPr>
        <p:spPr>
          <a:xfrm>
            <a:off x="9156325" y="3429000"/>
            <a:ext cx="2528047" cy="147917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Следующее большее</a:t>
            </a:r>
          </a:p>
        </p:txBody>
      </p:sp>
      <p:sp>
        <p:nvSpPr>
          <p:cNvPr id="29" name="Прямоугольник: скругленные углы 28">
            <a:extLst>
              <a:ext uri="{FF2B5EF4-FFF2-40B4-BE49-F238E27FC236}">
                <a16:creationId xmlns:a16="http://schemas.microsoft.com/office/drawing/2014/main" id="{0557DDA0-3BA0-4004-A40A-C7FE4078DBE8}"/>
              </a:ext>
            </a:extLst>
          </p:cNvPr>
          <p:cNvSpPr/>
          <p:nvPr/>
        </p:nvSpPr>
        <p:spPr>
          <a:xfrm>
            <a:off x="4830387" y="4999579"/>
            <a:ext cx="2528047" cy="147917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Вывод по порядку</a:t>
            </a:r>
          </a:p>
        </p:txBody>
      </p:sp>
      <p:cxnSp>
        <p:nvCxnSpPr>
          <p:cNvPr id="6" name="Прямая со стрелкой 5">
            <a:extLst>
              <a:ext uri="{FF2B5EF4-FFF2-40B4-BE49-F238E27FC236}">
                <a16:creationId xmlns:a16="http://schemas.microsoft.com/office/drawing/2014/main" id="{206A0798-A8D4-4C95-B49B-787AF3DB5A17}"/>
              </a:ext>
            </a:extLst>
          </p:cNvPr>
          <p:cNvCxnSpPr>
            <a:stCxn id="4" idx="3"/>
          </p:cNvCxnSpPr>
          <p:nvPr/>
        </p:nvCxnSpPr>
        <p:spPr>
          <a:xfrm>
            <a:off x="3007471" y="2140810"/>
            <a:ext cx="882814" cy="739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EC3B2292-6960-4169-9E3A-C75198BB74AA}"/>
              </a:ext>
            </a:extLst>
          </p:cNvPr>
          <p:cNvCxnSpPr>
            <a:stCxn id="25" idx="3"/>
          </p:cNvCxnSpPr>
          <p:nvPr/>
        </p:nvCxnSpPr>
        <p:spPr>
          <a:xfrm flipV="1">
            <a:off x="3007471" y="3683765"/>
            <a:ext cx="882814" cy="484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B4DBA530-BC53-4B69-B5F4-BC76151EA0EC}"/>
              </a:ext>
            </a:extLst>
          </p:cNvPr>
          <p:cNvCxnSpPr>
            <a:stCxn id="29" idx="0"/>
            <a:endCxn id="3" idx="2"/>
          </p:cNvCxnSpPr>
          <p:nvPr/>
        </p:nvCxnSpPr>
        <p:spPr>
          <a:xfrm flipV="1">
            <a:off x="6094411" y="4168588"/>
            <a:ext cx="1589" cy="830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033766BE-502E-4327-9614-9866A112184D}"/>
              </a:ext>
            </a:extLst>
          </p:cNvPr>
          <p:cNvCxnSpPr>
            <a:stCxn id="28" idx="1"/>
          </p:cNvCxnSpPr>
          <p:nvPr/>
        </p:nvCxnSpPr>
        <p:spPr>
          <a:xfrm flipH="1" flipV="1">
            <a:off x="8300126" y="3792071"/>
            <a:ext cx="856199" cy="376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a:extLst>
              <a:ext uri="{FF2B5EF4-FFF2-40B4-BE49-F238E27FC236}">
                <a16:creationId xmlns:a16="http://schemas.microsoft.com/office/drawing/2014/main" id="{6C12FFDF-7C07-4E11-B2AF-FFB2AE69123B}"/>
              </a:ext>
            </a:extLst>
          </p:cNvPr>
          <p:cNvCxnSpPr>
            <a:stCxn id="26" idx="1"/>
          </p:cNvCxnSpPr>
          <p:nvPr/>
        </p:nvCxnSpPr>
        <p:spPr>
          <a:xfrm flipH="1">
            <a:off x="8300126" y="2140810"/>
            <a:ext cx="856200" cy="911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5616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E8CA28-DF5F-44C4-B93C-3BD89C908C81}"/>
              </a:ext>
            </a:extLst>
          </p:cNvPr>
          <p:cNvSpPr>
            <a:spLocks noGrp="1"/>
          </p:cNvSpPr>
          <p:nvPr>
            <p:ph type="title"/>
          </p:nvPr>
        </p:nvSpPr>
        <p:spPr/>
        <p:txBody>
          <a:bodyPr/>
          <a:lstStyle/>
          <a:p>
            <a:r>
              <a:rPr lang="ru-RU" dirty="0"/>
              <a:t>Отсортированный массив уже умеет искать быстро</a:t>
            </a:r>
          </a:p>
        </p:txBody>
      </p:sp>
      <p:sp>
        <p:nvSpPr>
          <p:cNvPr id="7" name="Текст 6">
            <a:extLst>
              <a:ext uri="{FF2B5EF4-FFF2-40B4-BE49-F238E27FC236}">
                <a16:creationId xmlns:a16="http://schemas.microsoft.com/office/drawing/2014/main" id="{485812D6-41AF-4FEC-89FA-0CD0F5F7B1A6}"/>
              </a:ext>
            </a:extLst>
          </p:cNvPr>
          <p:cNvSpPr>
            <a:spLocks noGrp="1"/>
          </p:cNvSpPr>
          <p:nvPr>
            <p:ph type="body" sz="quarter" idx="19"/>
          </p:nvPr>
        </p:nvSpPr>
        <p:spPr/>
        <p:txBody>
          <a:bodyPr/>
          <a:lstStyle/>
          <a:p>
            <a:endParaRPr lang="ru-RU"/>
          </a:p>
        </p:txBody>
      </p:sp>
      <p:graphicFrame>
        <p:nvGraphicFramePr>
          <p:cNvPr id="4" name="Таблица 3">
            <a:extLst>
              <a:ext uri="{FF2B5EF4-FFF2-40B4-BE49-F238E27FC236}">
                <a16:creationId xmlns:a16="http://schemas.microsoft.com/office/drawing/2014/main" id="{E4DE8376-FDEF-44C7-8E75-B2F4E0156588}"/>
              </a:ext>
            </a:extLst>
          </p:cNvPr>
          <p:cNvGraphicFramePr>
            <a:graphicFrameLocks noGrp="1"/>
          </p:cNvGraphicFramePr>
          <p:nvPr>
            <p:extLst>
              <p:ext uri="{D42A27DB-BD31-4B8C-83A1-F6EECF244321}">
                <p14:modId xmlns:p14="http://schemas.microsoft.com/office/powerpoint/2010/main" val="2763710572"/>
              </p:ext>
            </p:extLst>
          </p:nvPr>
        </p:nvGraphicFramePr>
        <p:xfrm>
          <a:off x="535546" y="3022862"/>
          <a:ext cx="11117727" cy="731595"/>
        </p:xfrm>
        <a:graphic>
          <a:graphicData uri="http://schemas.openxmlformats.org/drawingml/2006/table">
            <a:tbl>
              <a:tblPr firstRow="1" bandRow="1">
                <a:tableStyleId>{5940675A-B579-460E-94D1-54222C63F5DA}</a:tableStyleId>
              </a:tblPr>
              <a:tblGrid>
                <a:gridCol w="1235303">
                  <a:extLst>
                    <a:ext uri="{9D8B030D-6E8A-4147-A177-3AD203B41FA5}">
                      <a16:colId xmlns:a16="http://schemas.microsoft.com/office/drawing/2014/main" val="3353926984"/>
                    </a:ext>
                  </a:extLst>
                </a:gridCol>
                <a:gridCol w="1235303">
                  <a:extLst>
                    <a:ext uri="{9D8B030D-6E8A-4147-A177-3AD203B41FA5}">
                      <a16:colId xmlns:a16="http://schemas.microsoft.com/office/drawing/2014/main" val="1284122245"/>
                    </a:ext>
                  </a:extLst>
                </a:gridCol>
                <a:gridCol w="1235303">
                  <a:extLst>
                    <a:ext uri="{9D8B030D-6E8A-4147-A177-3AD203B41FA5}">
                      <a16:colId xmlns:a16="http://schemas.microsoft.com/office/drawing/2014/main" val="124359919"/>
                    </a:ext>
                  </a:extLst>
                </a:gridCol>
                <a:gridCol w="1235303">
                  <a:extLst>
                    <a:ext uri="{9D8B030D-6E8A-4147-A177-3AD203B41FA5}">
                      <a16:colId xmlns:a16="http://schemas.microsoft.com/office/drawing/2014/main" val="2236086448"/>
                    </a:ext>
                  </a:extLst>
                </a:gridCol>
                <a:gridCol w="1235303">
                  <a:extLst>
                    <a:ext uri="{9D8B030D-6E8A-4147-A177-3AD203B41FA5}">
                      <a16:colId xmlns:a16="http://schemas.microsoft.com/office/drawing/2014/main" val="140117465"/>
                    </a:ext>
                  </a:extLst>
                </a:gridCol>
                <a:gridCol w="1235303">
                  <a:extLst>
                    <a:ext uri="{9D8B030D-6E8A-4147-A177-3AD203B41FA5}">
                      <a16:colId xmlns:a16="http://schemas.microsoft.com/office/drawing/2014/main" val="422110967"/>
                    </a:ext>
                  </a:extLst>
                </a:gridCol>
                <a:gridCol w="1235303">
                  <a:extLst>
                    <a:ext uri="{9D8B030D-6E8A-4147-A177-3AD203B41FA5}">
                      <a16:colId xmlns:a16="http://schemas.microsoft.com/office/drawing/2014/main" val="1062667029"/>
                    </a:ext>
                  </a:extLst>
                </a:gridCol>
                <a:gridCol w="1235303">
                  <a:extLst>
                    <a:ext uri="{9D8B030D-6E8A-4147-A177-3AD203B41FA5}">
                      <a16:colId xmlns:a16="http://schemas.microsoft.com/office/drawing/2014/main" val="3135060723"/>
                    </a:ext>
                  </a:extLst>
                </a:gridCol>
                <a:gridCol w="1235303">
                  <a:extLst>
                    <a:ext uri="{9D8B030D-6E8A-4147-A177-3AD203B41FA5}">
                      <a16:colId xmlns:a16="http://schemas.microsoft.com/office/drawing/2014/main" val="2459293337"/>
                    </a:ext>
                  </a:extLst>
                </a:gridCol>
              </a:tblGrid>
              <a:tr h="731595">
                <a:tc>
                  <a:txBody>
                    <a:bodyPr/>
                    <a:lstStyle/>
                    <a:p>
                      <a:pPr algn="ctr"/>
                      <a:r>
                        <a:rPr lang="ru-RU" sz="3600" dirty="0"/>
                        <a:t>3</a:t>
                      </a:r>
                    </a:p>
                  </a:txBody>
                  <a:tcPr/>
                </a:tc>
                <a:tc>
                  <a:txBody>
                    <a:bodyPr/>
                    <a:lstStyle/>
                    <a:p>
                      <a:pPr algn="ctr"/>
                      <a:r>
                        <a:rPr lang="ru-RU" sz="3600" dirty="0"/>
                        <a:t>7</a:t>
                      </a:r>
                    </a:p>
                  </a:txBody>
                  <a:tcPr/>
                </a:tc>
                <a:tc>
                  <a:txBody>
                    <a:bodyPr/>
                    <a:lstStyle/>
                    <a:p>
                      <a:pPr algn="ctr"/>
                      <a:r>
                        <a:rPr lang="ru-RU" sz="3600" dirty="0"/>
                        <a:t>12</a:t>
                      </a:r>
                    </a:p>
                  </a:txBody>
                  <a:tcPr/>
                </a:tc>
                <a:tc>
                  <a:txBody>
                    <a:bodyPr/>
                    <a:lstStyle/>
                    <a:p>
                      <a:pPr algn="ctr"/>
                      <a:r>
                        <a:rPr lang="ru-RU" sz="3600" dirty="0"/>
                        <a:t>18</a:t>
                      </a:r>
                    </a:p>
                  </a:txBody>
                  <a:tcPr/>
                </a:tc>
                <a:tc>
                  <a:txBody>
                    <a:bodyPr/>
                    <a:lstStyle/>
                    <a:p>
                      <a:pPr algn="ctr"/>
                      <a:r>
                        <a:rPr lang="ru-RU" sz="3600" dirty="0"/>
                        <a:t>24</a:t>
                      </a:r>
                    </a:p>
                  </a:txBody>
                  <a:tcPr/>
                </a:tc>
                <a:tc>
                  <a:txBody>
                    <a:bodyPr/>
                    <a:lstStyle/>
                    <a:p>
                      <a:pPr algn="ctr"/>
                      <a:r>
                        <a:rPr lang="ru-RU" sz="3600" dirty="0"/>
                        <a:t>31</a:t>
                      </a:r>
                    </a:p>
                  </a:txBody>
                  <a:tcPr/>
                </a:tc>
                <a:tc>
                  <a:txBody>
                    <a:bodyPr/>
                    <a:lstStyle/>
                    <a:p>
                      <a:pPr algn="ctr"/>
                      <a:r>
                        <a:rPr lang="ru-RU" sz="3600" dirty="0"/>
                        <a:t>42</a:t>
                      </a:r>
                    </a:p>
                  </a:txBody>
                  <a:tcPr/>
                </a:tc>
                <a:tc>
                  <a:txBody>
                    <a:bodyPr/>
                    <a:lstStyle/>
                    <a:p>
                      <a:pPr algn="ctr"/>
                      <a:r>
                        <a:rPr lang="ru-RU" sz="3600" dirty="0"/>
                        <a:t>56</a:t>
                      </a:r>
                    </a:p>
                  </a:txBody>
                  <a:tcPr/>
                </a:tc>
                <a:tc>
                  <a:txBody>
                    <a:bodyPr/>
                    <a:lstStyle/>
                    <a:p>
                      <a:pPr algn="ctr"/>
                      <a:r>
                        <a:rPr lang="ru-RU" sz="3600" dirty="0"/>
                        <a:t>70</a:t>
                      </a:r>
                    </a:p>
                  </a:txBody>
                  <a:tcPr/>
                </a:tc>
                <a:extLst>
                  <a:ext uri="{0D108BD9-81ED-4DB2-BD59-A6C34878D82A}">
                    <a16:rowId xmlns:a16="http://schemas.microsoft.com/office/drawing/2014/main" val="1715371974"/>
                  </a:ext>
                </a:extLst>
              </a:tr>
            </a:tbl>
          </a:graphicData>
        </a:graphic>
      </p:graphicFrame>
      <p:sp>
        <p:nvSpPr>
          <p:cNvPr id="33" name="Прямоугольник: скругленные углы 32">
            <a:extLst>
              <a:ext uri="{FF2B5EF4-FFF2-40B4-BE49-F238E27FC236}">
                <a16:creationId xmlns:a16="http://schemas.microsoft.com/office/drawing/2014/main" id="{755514E0-1E5D-4029-9F0D-BD29A65776E3}"/>
              </a:ext>
            </a:extLst>
          </p:cNvPr>
          <p:cNvSpPr/>
          <p:nvPr/>
        </p:nvSpPr>
        <p:spPr>
          <a:xfrm>
            <a:off x="1015416" y="4307410"/>
            <a:ext cx="10157988" cy="12674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Упорядоченный массив хорошо ищет, но плохо переносит частые вставки и удаления.</a:t>
            </a:r>
          </a:p>
        </p:txBody>
      </p:sp>
      <p:sp>
        <p:nvSpPr>
          <p:cNvPr id="6" name="Прямоугольник: скругленные углы 5">
            <a:extLst>
              <a:ext uri="{FF2B5EF4-FFF2-40B4-BE49-F238E27FC236}">
                <a16:creationId xmlns:a16="http://schemas.microsoft.com/office/drawing/2014/main" id="{BB72383E-ACAA-4D5A-BA6B-78A71ED2F1EF}"/>
              </a:ext>
            </a:extLst>
          </p:cNvPr>
          <p:cNvSpPr/>
          <p:nvPr/>
        </p:nvSpPr>
        <p:spPr>
          <a:xfrm>
            <a:off x="1344706" y="1738314"/>
            <a:ext cx="3697941" cy="7315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Сложность поиска </a:t>
            </a:r>
            <a:r>
              <a:rPr lang="en-US" dirty="0"/>
              <a:t>O(log(n))</a:t>
            </a:r>
            <a:endParaRPr lang="ru-RU" dirty="0"/>
          </a:p>
        </p:txBody>
      </p:sp>
      <p:sp>
        <p:nvSpPr>
          <p:cNvPr id="34" name="Прямоугольник: скругленные углы 33">
            <a:extLst>
              <a:ext uri="{FF2B5EF4-FFF2-40B4-BE49-F238E27FC236}">
                <a16:creationId xmlns:a16="http://schemas.microsoft.com/office/drawing/2014/main" id="{A67914A3-78B5-425E-9A42-E23905B7798C}"/>
              </a:ext>
            </a:extLst>
          </p:cNvPr>
          <p:cNvSpPr/>
          <p:nvPr/>
        </p:nvSpPr>
        <p:spPr>
          <a:xfrm>
            <a:off x="6527053" y="1719546"/>
            <a:ext cx="3697941" cy="73159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Сложность вставки</a:t>
            </a:r>
            <a:r>
              <a:rPr lang="en-US" dirty="0"/>
              <a:t>/</a:t>
            </a:r>
            <a:r>
              <a:rPr lang="ru-RU" dirty="0"/>
              <a:t>удаления </a:t>
            </a:r>
            <a:r>
              <a:rPr lang="en-US" dirty="0"/>
              <a:t>O(n)</a:t>
            </a:r>
            <a:endParaRPr lang="ru-RU" dirty="0"/>
          </a:p>
        </p:txBody>
      </p:sp>
    </p:spTree>
    <p:extLst>
      <p:ext uri="{BB962C8B-B14F-4D97-AF65-F5344CB8AC3E}">
        <p14:creationId xmlns:p14="http://schemas.microsoft.com/office/powerpoint/2010/main" val="47319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1F7F0F-A81F-4105-8DBF-B35CCCC9263C}"/>
              </a:ext>
            </a:extLst>
          </p:cNvPr>
          <p:cNvSpPr>
            <a:spLocks noGrp="1"/>
          </p:cNvSpPr>
          <p:nvPr>
            <p:ph type="title"/>
          </p:nvPr>
        </p:nvSpPr>
        <p:spPr/>
        <p:txBody>
          <a:bodyPr/>
          <a:lstStyle/>
          <a:p>
            <a:r>
              <a:rPr lang="ru-RU" dirty="0"/>
              <a:t>Доступ по индексу: самый простой случай</a:t>
            </a:r>
          </a:p>
        </p:txBody>
      </p:sp>
      <p:sp>
        <p:nvSpPr>
          <p:cNvPr id="7" name="Текст 6">
            <a:extLst>
              <a:ext uri="{FF2B5EF4-FFF2-40B4-BE49-F238E27FC236}">
                <a16:creationId xmlns:a16="http://schemas.microsoft.com/office/drawing/2014/main" id="{0A4EFA72-D632-4D45-B43E-B648C0A9F66C}"/>
              </a:ext>
            </a:extLst>
          </p:cNvPr>
          <p:cNvSpPr>
            <a:spLocks noGrp="1"/>
          </p:cNvSpPr>
          <p:nvPr>
            <p:ph type="body" sz="quarter" idx="19"/>
          </p:nvPr>
        </p:nvSpPr>
        <p:spPr/>
        <p:txBody>
          <a:bodyPr/>
          <a:lstStyle/>
          <a:p>
            <a:endParaRPr lang="ru-RU"/>
          </a:p>
        </p:txBody>
      </p:sp>
      <p:graphicFrame>
        <p:nvGraphicFramePr>
          <p:cNvPr id="8" name="Таблица 7">
            <a:extLst>
              <a:ext uri="{FF2B5EF4-FFF2-40B4-BE49-F238E27FC236}">
                <a16:creationId xmlns:a16="http://schemas.microsoft.com/office/drawing/2014/main" id="{A36A387E-E400-44C4-ADB8-66A6FDBB6A1F}"/>
              </a:ext>
            </a:extLst>
          </p:cNvPr>
          <p:cNvGraphicFramePr>
            <a:graphicFrameLocks noGrp="1"/>
          </p:cNvGraphicFramePr>
          <p:nvPr>
            <p:extLst>
              <p:ext uri="{D42A27DB-BD31-4B8C-83A1-F6EECF244321}">
                <p14:modId xmlns:p14="http://schemas.microsoft.com/office/powerpoint/2010/main" val="2187617370"/>
              </p:ext>
            </p:extLst>
          </p:nvPr>
        </p:nvGraphicFramePr>
        <p:xfrm>
          <a:off x="1782761" y="3043239"/>
          <a:ext cx="8626478" cy="924561"/>
        </p:xfrm>
        <a:graphic>
          <a:graphicData uri="http://schemas.openxmlformats.org/drawingml/2006/table">
            <a:tbl>
              <a:tblPr firstRow="1" bandRow="1">
                <a:tableStyleId>{616DA210-FB5B-4158-B5E0-FEB733F419BA}</a:tableStyleId>
              </a:tblPr>
              <a:tblGrid>
                <a:gridCol w="1232354">
                  <a:extLst>
                    <a:ext uri="{9D8B030D-6E8A-4147-A177-3AD203B41FA5}">
                      <a16:colId xmlns:a16="http://schemas.microsoft.com/office/drawing/2014/main" val="3707126349"/>
                    </a:ext>
                  </a:extLst>
                </a:gridCol>
                <a:gridCol w="1232354">
                  <a:extLst>
                    <a:ext uri="{9D8B030D-6E8A-4147-A177-3AD203B41FA5}">
                      <a16:colId xmlns:a16="http://schemas.microsoft.com/office/drawing/2014/main" val="1739705387"/>
                    </a:ext>
                  </a:extLst>
                </a:gridCol>
                <a:gridCol w="1232354">
                  <a:extLst>
                    <a:ext uri="{9D8B030D-6E8A-4147-A177-3AD203B41FA5}">
                      <a16:colId xmlns:a16="http://schemas.microsoft.com/office/drawing/2014/main" val="2724366829"/>
                    </a:ext>
                  </a:extLst>
                </a:gridCol>
                <a:gridCol w="1232354">
                  <a:extLst>
                    <a:ext uri="{9D8B030D-6E8A-4147-A177-3AD203B41FA5}">
                      <a16:colId xmlns:a16="http://schemas.microsoft.com/office/drawing/2014/main" val="1226463340"/>
                    </a:ext>
                  </a:extLst>
                </a:gridCol>
                <a:gridCol w="1232354">
                  <a:extLst>
                    <a:ext uri="{9D8B030D-6E8A-4147-A177-3AD203B41FA5}">
                      <a16:colId xmlns:a16="http://schemas.microsoft.com/office/drawing/2014/main" val="1154161058"/>
                    </a:ext>
                  </a:extLst>
                </a:gridCol>
                <a:gridCol w="1232354">
                  <a:extLst>
                    <a:ext uri="{9D8B030D-6E8A-4147-A177-3AD203B41FA5}">
                      <a16:colId xmlns:a16="http://schemas.microsoft.com/office/drawing/2014/main" val="1750194477"/>
                    </a:ext>
                  </a:extLst>
                </a:gridCol>
                <a:gridCol w="1232354">
                  <a:extLst>
                    <a:ext uri="{9D8B030D-6E8A-4147-A177-3AD203B41FA5}">
                      <a16:colId xmlns:a16="http://schemas.microsoft.com/office/drawing/2014/main" val="2657717130"/>
                    </a:ext>
                  </a:extLst>
                </a:gridCol>
              </a:tblGrid>
              <a:tr h="924561">
                <a:tc>
                  <a:txBody>
                    <a:bodyPr/>
                    <a:lstStyle/>
                    <a:p>
                      <a:pPr algn="ctr"/>
                      <a:r>
                        <a:rPr lang="ru-RU" sz="4800" dirty="0"/>
                        <a:t>17</a:t>
                      </a:r>
                      <a:endParaRPr lang="ru-RU" sz="4400" dirty="0"/>
                    </a:p>
                  </a:txBody>
                  <a:tcPr/>
                </a:tc>
                <a:tc>
                  <a:txBody>
                    <a:bodyPr/>
                    <a:lstStyle/>
                    <a:p>
                      <a:pPr algn="ctr"/>
                      <a:r>
                        <a:rPr lang="ru-RU" sz="4800" dirty="0"/>
                        <a:t>5</a:t>
                      </a:r>
                    </a:p>
                  </a:txBody>
                  <a:tcPr/>
                </a:tc>
                <a:tc>
                  <a:txBody>
                    <a:bodyPr/>
                    <a:lstStyle/>
                    <a:p>
                      <a:pPr algn="ctr"/>
                      <a:r>
                        <a:rPr lang="ru-RU" sz="4800" dirty="0"/>
                        <a:t>81</a:t>
                      </a:r>
                    </a:p>
                  </a:txBody>
                  <a:tcPr/>
                </a:tc>
                <a:tc>
                  <a:txBody>
                    <a:bodyPr/>
                    <a:lstStyle/>
                    <a:p>
                      <a:pPr algn="ctr"/>
                      <a:r>
                        <a:rPr lang="ru-RU" sz="4800" dirty="0"/>
                        <a:t>34</a:t>
                      </a:r>
                    </a:p>
                  </a:txBody>
                  <a:tcPr/>
                </a:tc>
                <a:tc>
                  <a:txBody>
                    <a:bodyPr/>
                    <a:lstStyle/>
                    <a:p>
                      <a:pPr algn="ctr"/>
                      <a:r>
                        <a:rPr lang="ru-RU" sz="4800" dirty="0"/>
                        <a:t>1</a:t>
                      </a:r>
                    </a:p>
                  </a:txBody>
                  <a:tcPr/>
                </a:tc>
                <a:tc>
                  <a:txBody>
                    <a:bodyPr/>
                    <a:lstStyle/>
                    <a:p>
                      <a:pPr algn="ctr"/>
                      <a:r>
                        <a:rPr lang="ru-RU" sz="4800" dirty="0"/>
                        <a:t>6</a:t>
                      </a:r>
                    </a:p>
                  </a:txBody>
                  <a:tcPr/>
                </a:tc>
                <a:tc>
                  <a:txBody>
                    <a:bodyPr/>
                    <a:lstStyle/>
                    <a:p>
                      <a:pPr algn="ctr"/>
                      <a:r>
                        <a:rPr lang="ru-RU" sz="4800" dirty="0"/>
                        <a:t>45</a:t>
                      </a:r>
                    </a:p>
                  </a:txBody>
                  <a:tcPr/>
                </a:tc>
                <a:extLst>
                  <a:ext uri="{0D108BD9-81ED-4DB2-BD59-A6C34878D82A}">
                    <a16:rowId xmlns:a16="http://schemas.microsoft.com/office/drawing/2014/main" val="246696094"/>
                  </a:ext>
                </a:extLst>
              </a:tr>
            </a:tbl>
          </a:graphicData>
        </a:graphic>
      </p:graphicFrame>
      <p:sp>
        <p:nvSpPr>
          <p:cNvPr id="9" name="TextBox 8">
            <a:extLst>
              <a:ext uri="{FF2B5EF4-FFF2-40B4-BE49-F238E27FC236}">
                <a16:creationId xmlns:a16="http://schemas.microsoft.com/office/drawing/2014/main" id="{C43AA43C-EC28-4165-84ED-82A74F1AE784}"/>
              </a:ext>
            </a:extLst>
          </p:cNvPr>
          <p:cNvSpPr txBox="1"/>
          <p:nvPr/>
        </p:nvSpPr>
        <p:spPr bwMode="auto">
          <a:xfrm>
            <a:off x="2030413" y="2673907"/>
            <a:ext cx="647700" cy="369332"/>
          </a:xfrm>
          <a:prstGeom prst="rect">
            <a:avLst/>
          </a:prstGeom>
        </p:spPr>
        <p:txBody>
          <a:bodyPr wrap="square" rtlCol="0">
            <a:spAutoFit/>
          </a:bodyPr>
          <a:lstStyle/>
          <a:p>
            <a:pPr algn="ctr"/>
            <a:r>
              <a:rPr lang="ru-RU" dirty="0"/>
              <a:t>0</a:t>
            </a:r>
          </a:p>
        </p:txBody>
      </p:sp>
      <p:sp>
        <p:nvSpPr>
          <p:cNvPr id="10" name="TextBox 9">
            <a:extLst>
              <a:ext uri="{FF2B5EF4-FFF2-40B4-BE49-F238E27FC236}">
                <a16:creationId xmlns:a16="http://schemas.microsoft.com/office/drawing/2014/main" id="{401CD2ED-08BD-46A9-A719-5E26F30E6618}"/>
              </a:ext>
            </a:extLst>
          </p:cNvPr>
          <p:cNvSpPr txBox="1"/>
          <p:nvPr/>
        </p:nvSpPr>
        <p:spPr bwMode="auto">
          <a:xfrm>
            <a:off x="3287713" y="2673907"/>
            <a:ext cx="647700" cy="369332"/>
          </a:xfrm>
          <a:prstGeom prst="rect">
            <a:avLst/>
          </a:prstGeom>
        </p:spPr>
        <p:txBody>
          <a:bodyPr wrap="square" rtlCol="0">
            <a:spAutoFit/>
          </a:bodyPr>
          <a:lstStyle/>
          <a:p>
            <a:pPr algn="ctr"/>
            <a:r>
              <a:rPr lang="ru-RU" dirty="0"/>
              <a:t>1</a:t>
            </a:r>
          </a:p>
        </p:txBody>
      </p:sp>
      <p:sp>
        <p:nvSpPr>
          <p:cNvPr id="11" name="TextBox 10">
            <a:extLst>
              <a:ext uri="{FF2B5EF4-FFF2-40B4-BE49-F238E27FC236}">
                <a16:creationId xmlns:a16="http://schemas.microsoft.com/office/drawing/2014/main" id="{2E457CE6-2A86-41C2-81FB-E8E23E01C3CE}"/>
              </a:ext>
            </a:extLst>
          </p:cNvPr>
          <p:cNvSpPr txBox="1"/>
          <p:nvPr/>
        </p:nvSpPr>
        <p:spPr bwMode="auto">
          <a:xfrm>
            <a:off x="4506913" y="2673907"/>
            <a:ext cx="647700" cy="369332"/>
          </a:xfrm>
          <a:prstGeom prst="rect">
            <a:avLst/>
          </a:prstGeom>
        </p:spPr>
        <p:txBody>
          <a:bodyPr wrap="square" rtlCol="0">
            <a:spAutoFit/>
          </a:bodyPr>
          <a:lstStyle/>
          <a:p>
            <a:pPr algn="ctr"/>
            <a:r>
              <a:rPr lang="ru-RU" dirty="0"/>
              <a:t>2</a:t>
            </a:r>
          </a:p>
        </p:txBody>
      </p:sp>
      <p:sp>
        <p:nvSpPr>
          <p:cNvPr id="12" name="TextBox 11">
            <a:extLst>
              <a:ext uri="{FF2B5EF4-FFF2-40B4-BE49-F238E27FC236}">
                <a16:creationId xmlns:a16="http://schemas.microsoft.com/office/drawing/2014/main" id="{8602FBF7-78B7-40AD-9BE5-9D881AA8A90A}"/>
              </a:ext>
            </a:extLst>
          </p:cNvPr>
          <p:cNvSpPr txBox="1"/>
          <p:nvPr/>
        </p:nvSpPr>
        <p:spPr bwMode="auto">
          <a:xfrm>
            <a:off x="5764213" y="2673907"/>
            <a:ext cx="647700" cy="369332"/>
          </a:xfrm>
          <a:prstGeom prst="rect">
            <a:avLst/>
          </a:prstGeom>
        </p:spPr>
        <p:txBody>
          <a:bodyPr wrap="square" rtlCol="0">
            <a:spAutoFit/>
          </a:bodyPr>
          <a:lstStyle/>
          <a:p>
            <a:pPr algn="ctr"/>
            <a:r>
              <a:rPr lang="ru-RU" dirty="0"/>
              <a:t>3</a:t>
            </a:r>
          </a:p>
        </p:txBody>
      </p:sp>
      <p:sp>
        <p:nvSpPr>
          <p:cNvPr id="13" name="TextBox 12">
            <a:extLst>
              <a:ext uri="{FF2B5EF4-FFF2-40B4-BE49-F238E27FC236}">
                <a16:creationId xmlns:a16="http://schemas.microsoft.com/office/drawing/2014/main" id="{34BD869A-850D-4491-8610-EF21D16E22FE}"/>
              </a:ext>
            </a:extLst>
          </p:cNvPr>
          <p:cNvSpPr txBox="1"/>
          <p:nvPr/>
        </p:nvSpPr>
        <p:spPr bwMode="auto">
          <a:xfrm>
            <a:off x="6945313" y="2673907"/>
            <a:ext cx="647700" cy="369332"/>
          </a:xfrm>
          <a:prstGeom prst="rect">
            <a:avLst/>
          </a:prstGeom>
        </p:spPr>
        <p:txBody>
          <a:bodyPr wrap="square" rtlCol="0">
            <a:spAutoFit/>
          </a:bodyPr>
          <a:lstStyle/>
          <a:p>
            <a:pPr algn="ctr"/>
            <a:r>
              <a:rPr lang="ru-RU" dirty="0"/>
              <a:t>4</a:t>
            </a:r>
          </a:p>
        </p:txBody>
      </p:sp>
      <p:sp>
        <p:nvSpPr>
          <p:cNvPr id="14" name="TextBox 13">
            <a:extLst>
              <a:ext uri="{FF2B5EF4-FFF2-40B4-BE49-F238E27FC236}">
                <a16:creationId xmlns:a16="http://schemas.microsoft.com/office/drawing/2014/main" id="{0DC46281-08BD-45CE-AC52-9FA0BECC5CCB}"/>
              </a:ext>
            </a:extLst>
          </p:cNvPr>
          <p:cNvSpPr txBox="1"/>
          <p:nvPr/>
        </p:nvSpPr>
        <p:spPr bwMode="auto">
          <a:xfrm>
            <a:off x="8202613" y="2673907"/>
            <a:ext cx="647700" cy="369332"/>
          </a:xfrm>
          <a:prstGeom prst="rect">
            <a:avLst/>
          </a:prstGeom>
        </p:spPr>
        <p:txBody>
          <a:bodyPr wrap="square" rtlCol="0">
            <a:spAutoFit/>
          </a:bodyPr>
          <a:lstStyle/>
          <a:p>
            <a:pPr algn="ctr"/>
            <a:r>
              <a:rPr lang="ru-RU" dirty="0"/>
              <a:t>5</a:t>
            </a:r>
          </a:p>
        </p:txBody>
      </p:sp>
      <p:sp>
        <p:nvSpPr>
          <p:cNvPr id="17" name="TextBox 16">
            <a:extLst>
              <a:ext uri="{FF2B5EF4-FFF2-40B4-BE49-F238E27FC236}">
                <a16:creationId xmlns:a16="http://schemas.microsoft.com/office/drawing/2014/main" id="{1AA4E0A9-9129-4D5A-B936-31892D557C54}"/>
              </a:ext>
            </a:extLst>
          </p:cNvPr>
          <p:cNvSpPr txBox="1"/>
          <p:nvPr/>
        </p:nvSpPr>
        <p:spPr bwMode="auto">
          <a:xfrm>
            <a:off x="9459913" y="2673907"/>
            <a:ext cx="647700" cy="369332"/>
          </a:xfrm>
          <a:prstGeom prst="rect">
            <a:avLst/>
          </a:prstGeom>
        </p:spPr>
        <p:txBody>
          <a:bodyPr wrap="square" rtlCol="0">
            <a:spAutoFit/>
          </a:bodyPr>
          <a:lstStyle/>
          <a:p>
            <a:pPr algn="ctr"/>
            <a:r>
              <a:rPr lang="ru-RU" dirty="0"/>
              <a:t>6</a:t>
            </a:r>
          </a:p>
        </p:txBody>
      </p:sp>
    </p:spTree>
    <p:extLst>
      <p:ext uri="{BB962C8B-B14F-4D97-AF65-F5344CB8AC3E}">
        <p14:creationId xmlns:p14="http://schemas.microsoft.com/office/powerpoint/2010/main" val="117672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8F8218-330E-41A0-A804-840036476B0C}"/>
              </a:ext>
            </a:extLst>
          </p:cNvPr>
          <p:cNvSpPr>
            <a:spLocks noGrp="1"/>
          </p:cNvSpPr>
          <p:nvPr>
            <p:ph type="title"/>
          </p:nvPr>
        </p:nvSpPr>
        <p:spPr/>
        <p:txBody>
          <a:bodyPr/>
          <a:lstStyle/>
          <a:p>
            <a:r>
              <a:rPr lang="ru-RU" dirty="0"/>
              <a:t>Что такое дерево</a:t>
            </a:r>
          </a:p>
        </p:txBody>
      </p:sp>
      <p:sp>
        <p:nvSpPr>
          <p:cNvPr id="7" name="Текст 6">
            <a:extLst>
              <a:ext uri="{FF2B5EF4-FFF2-40B4-BE49-F238E27FC236}">
                <a16:creationId xmlns:a16="http://schemas.microsoft.com/office/drawing/2014/main" id="{A2113134-DFA9-4EA5-A1AD-9F22E8267CA8}"/>
              </a:ext>
            </a:extLst>
          </p:cNvPr>
          <p:cNvSpPr>
            <a:spLocks noGrp="1"/>
          </p:cNvSpPr>
          <p:nvPr>
            <p:ph type="body" sz="quarter" idx="19"/>
          </p:nvPr>
        </p:nvSpPr>
        <p:spPr/>
        <p:txBody>
          <a:bodyPr/>
          <a:lstStyle/>
          <a:p>
            <a:endParaRPr lang="ru-RU"/>
          </a:p>
        </p:txBody>
      </p:sp>
      <p:sp>
        <p:nvSpPr>
          <p:cNvPr id="6" name="Прямоугольник: скругленные углы 5">
            <a:extLst>
              <a:ext uri="{FF2B5EF4-FFF2-40B4-BE49-F238E27FC236}">
                <a16:creationId xmlns:a16="http://schemas.microsoft.com/office/drawing/2014/main" id="{DA8C1993-B8E4-4BF0-9197-0DF5049F5F7E}"/>
              </a:ext>
            </a:extLst>
          </p:cNvPr>
          <p:cNvSpPr/>
          <p:nvPr/>
        </p:nvSpPr>
        <p:spPr>
          <a:xfrm>
            <a:off x="1015418" y="1276655"/>
            <a:ext cx="10157988" cy="12674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Дерево — структура данных, состоящая из узлов, связанных между собой отношениями «родитель — потомок».</a:t>
            </a:r>
          </a:p>
        </p:txBody>
      </p:sp>
      <p:sp>
        <p:nvSpPr>
          <p:cNvPr id="8" name="Овал 7">
            <a:extLst>
              <a:ext uri="{FF2B5EF4-FFF2-40B4-BE49-F238E27FC236}">
                <a16:creationId xmlns:a16="http://schemas.microsoft.com/office/drawing/2014/main" id="{53BBB06F-07B1-4B96-83D4-7BB606FFF19F}"/>
              </a:ext>
            </a:extLst>
          </p:cNvPr>
          <p:cNvSpPr/>
          <p:nvPr/>
        </p:nvSpPr>
        <p:spPr>
          <a:xfrm>
            <a:off x="5251942" y="2924117"/>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a:t>
            </a:r>
          </a:p>
        </p:txBody>
      </p:sp>
      <p:sp>
        <p:nvSpPr>
          <p:cNvPr id="9" name="Овал 8">
            <a:extLst>
              <a:ext uri="{FF2B5EF4-FFF2-40B4-BE49-F238E27FC236}">
                <a16:creationId xmlns:a16="http://schemas.microsoft.com/office/drawing/2014/main" id="{3B238FF9-772E-4172-877C-265531AFDA38}"/>
              </a:ext>
            </a:extLst>
          </p:cNvPr>
          <p:cNvSpPr/>
          <p:nvPr/>
        </p:nvSpPr>
        <p:spPr>
          <a:xfrm>
            <a:off x="4654296" y="3674046"/>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5</a:t>
            </a:r>
          </a:p>
        </p:txBody>
      </p:sp>
      <p:sp>
        <p:nvSpPr>
          <p:cNvPr id="12" name="Овал 11">
            <a:extLst>
              <a:ext uri="{FF2B5EF4-FFF2-40B4-BE49-F238E27FC236}">
                <a16:creationId xmlns:a16="http://schemas.microsoft.com/office/drawing/2014/main" id="{408F6EF5-F13E-43B6-8903-141BB06FC141}"/>
              </a:ext>
            </a:extLst>
          </p:cNvPr>
          <p:cNvSpPr/>
          <p:nvPr/>
        </p:nvSpPr>
        <p:spPr>
          <a:xfrm>
            <a:off x="5849588" y="3674046"/>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7</a:t>
            </a:r>
          </a:p>
        </p:txBody>
      </p:sp>
      <p:sp>
        <p:nvSpPr>
          <p:cNvPr id="13" name="Овал 12">
            <a:extLst>
              <a:ext uri="{FF2B5EF4-FFF2-40B4-BE49-F238E27FC236}">
                <a16:creationId xmlns:a16="http://schemas.microsoft.com/office/drawing/2014/main" id="{FB4509F1-0B54-40A8-B42A-B08B95DF7F52}"/>
              </a:ext>
            </a:extLst>
          </p:cNvPr>
          <p:cNvSpPr/>
          <p:nvPr/>
        </p:nvSpPr>
        <p:spPr>
          <a:xfrm>
            <a:off x="4056650" y="4630603"/>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9</a:t>
            </a:r>
          </a:p>
        </p:txBody>
      </p:sp>
      <p:sp>
        <p:nvSpPr>
          <p:cNvPr id="14" name="Овал 13">
            <a:extLst>
              <a:ext uri="{FF2B5EF4-FFF2-40B4-BE49-F238E27FC236}">
                <a16:creationId xmlns:a16="http://schemas.microsoft.com/office/drawing/2014/main" id="{121B5EDC-2079-426E-8349-7FFC2F1015E4}"/>
              </a:ext>
            </a:extLst>
          </p:cNvPr>
          <p:cNvSpPr/>
          <p:nvPr/>
        </p:nvSpPr>
        <p:spPr>
          <a:xfrm>
            <a:off x="4953119" y="4612715"/>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12</a:t>
            </a:r>
          </a:p>
        </p:txBody>
      </p:sp>
      <p:sp>
        <p:nvSpPr>
          <p:cNvPr id="15" name="Овал 14">
            <a:extLst>
              <a:ext uri="{FF2B5EF4-FFF2-40B4-BE49-F238E27FC236}">
                <a16:creationId xmlns:a16="http://schemas.microsoft.com/office/drawing/2014/main" id="{A74F989D-9C3E-4F3C-8B5A-9A511467B0ED}"/>
              </a:ext>
            </a:extLst>
          </p:cNvPr>
          <p:cNvSpPr/>
          <p:nvPr/>
        </p:nvSpPr>
        <p:spPr>
          <a:xfrm>
            <a:off x="5849588" y="4630603"/>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10</a:t>
            </a:r>
          </a:p>
        </p:txBody>
      </p:sp>
      <p:sp>
        <p:nvSpPr>
          <p:cNvPr id="16" name="Овал 15">
            <a:extLst>
              <a:ext uri="{FF2B5EF4-FFF2-40B4-BE49-F238E27FC236}">
                <a16:creationId xmlns:a16="http://schemas.microsoft.com/office/drawing/2014/main" id="{E347AEEC-4D7A-4A0E-AF47-5681C287721D}"/>
              </a:ext>
            </a:extLst>
          </p:cNvPr>
          <p:cNvSpPr/>
          <p:nvPr/>
        </p:nvSpPr>
        <p:spPr>
          <a:xfrm>
            <a:off x="6696892" y="4630603"/>
            <a:ext cx="739332" cy="73933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dirty="0"/>
              <a:t>20</a:t>
            </a:r>
          </a:p>
        </p:txBody>
      </p:sp>
      <p:cxnSp>
        <p:nvCxnSpPr>
          <p:cNvPr id="17" name="Прямая со стрелкой 16">
            <a:extLst>
              <a:ext uri="{FF2B5EF4-FFF2-40B4-BE49-F238E27FC236}">
                <a16:creationId xmlns:a16="http://schemas.microsoft.com/office/drawing/2014/main" id="{609AE2E6-873C-4AA1-BA62-05653D0BC096}"/>
              </a:ext>
            </a:extLst>
          </p:cNvPr>
          <p:cNvCxnSpPr>
            <a:cxnSpLocks/>
            <a:stCxn id="9" idx="3"/>
            <a:endCxn id="13" idx="0"/>
          </p:cNvCxnSpPr>
          <p:nvPr/>
        </p:nvCxnSpPr>
        <p:spPr>
          <a:xfrm flipH="1">
            <a:off x="4426316" y="4305105"/>
            <a:ext cx="336253" cy="325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B60617C4-85E4-4833-90BB-5B519D61209B}"/>
              </a:ext>
            </a:extLst>
          </p:cNvPr>
          <p:cNvCxnSpPr>
            <a:stCxn id="9" idx="5"/>
            <a:endCxn id="14" idx="0"/>
          </p:cNvCxnSpPr>
          <p:nvPr/>
        </p:nvCxnSpPr>
        <p:spPr>
          <a:xfrm>
            <a:off x="5285355" y="4305105"/>
            <a:ext cx="37430" cy="307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88315D9C-41BD-4C4E-80FD-E9AB1818FA5E}"/>
              </a:ext>
            </a:extLst>
          </p:cNvPr>
          <p:cNvCxnSpPr>
            <a:cxnSpLocks/>
            <a:stCxn id="8" idx="2"/>
            <a:endCxn id="9" idx="0"/>
          </p:cNvCxnSpPr>
          <p:nvPr/>
        </p:nvCxnSpPr>
        <p:spPr>
          <a:xfrm flipH="1">
            <a:off x="5023962" y="3293783"/>
            <a:ext cx="227980" cy="380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E48223D4-8899-4CFA-BA90-9B2D82D06D97}"/>
              </a:ext>
            </a:extLst>
          </p:cNvPr>
          <p:cNvCxnSpPr>
            <a:cxnSpLocks/>
            <a:stCxn id="8" idx="6"/>
            <a:endCxn id="12" idx="0"/>
          </p:cNvCxnSpPr>
          <p:nvPr/>
        </p:nvCxnSpPr>
        <p:spPr>
          <a:xfrm>
            <a:off x="5991274" y="3293783"/>
            <a:ext cx="227980" cy="380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3311BED0-BC29-488E-BE35-9ED7CD41DAA4}"/>
              </a:ext>
            </a:extLst>
          </p:cNvPr>
          <p:cNvCxnSpPr>
            <a:cxnSpLocks/>
            <a:stCxn id="12" idx="4"/>
            <a:endCxn id="15" idx="0"/>
          </p:cNvCxnSpPr>
          <p:nvPr/>
        </p:nvCxnSpPr>
        <p:spPr>
          <a:xfrm>
            <a:off x="6219254" y="4413378"/>
            <a:ext cx="0" cy="217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a:extLst>
              <a:ext uri="{FF2B5EF4-FFF2-40B4-BE49-F238E27FC236}">
                <a16:creationId xmlns:a16="http://schemas.microsoft.com/office/drawing/2014/main" id="{4824F2D4-1F7A-4D52-86A3-889DAD12DE87}"/>
              </a:ext>
            </a:extLst>
          </p:cNvPr>
          <p:cNvCxnSpPr>
            <a:cxnSpLocks/>
            <a:stCxn id="12" idx="6"/>
            <a:endCxn id="16" idx="0"/>
          </p:cNvCxnSpPr>
          <p:nvPr/>
        </p:nvCxnSpPr>
        <p:spPr>
          <a:xfrm>
            <a:off x="6588920" y="4043712"/>
            <a:ext cx="477638" cy="586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4C52DBF-BBA0-4FE9-904F-3FA228A1D40A}"/>
              </a:ext>
            </a:extLst>
          </p:cNvPr>
          <p:cNvSpPr txBox="1"/>
          <p:nvPr/>
        </p:nvSpPr>
        <p:spPr bwMode="auto">
          <a:xfrm>
            <a:off x="4101474" y="2989185"/>
            <a:ext cx="1335860" cy="369332"/>
          </a:xfrm>
          <a:prstGeom prst="rect">
            <a:avLst/>
          </a:prstGeom>
        </p:spPr>
        <p:txBody>
          <a:bodyPr wrap="square" rtlCol="0">
            <a:spAutoFit/>
          </a:bodyPr>
          <a:lstStyle/>
          <a:p>
            <a:r>
              <a:rPr lang="ru-RU" dirty="0"/>
              <a:t>Корень</a:t>
            </a:r>
          </a:p>
        </p:txBody>
      </p:sp>
      <p:sp>
        <p:nvSpPr>
          <p:cNvPr id="23" name="Прямоугольник 22">
            <a:extLst>
              <a:ext uri="{FF2B5EF4-FFF2-40B4-BE49-F238E27FC236}">
                <a16:creationId xmlns:a16="http://schemas.microsoft.com/office/drawing/2014/main" id="{2A1BEFCC-BE48-4959-A942-337995B0023E}"/>
              </a:ext>
            </a:extLst>
          </p:cNvPr>
          <p:cNvSpPr/>
          <p:nvPr/>
        </p:nvSpPr>
        <p:spPr>
          <a:xfrm>
            <a:off x="3832412" y="4521364"/>
            <a:ext cx="3781534" cy="102192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24" name="TextBox 23">
            <a:extLst>
              <a:ext uri="{FF2B5EF4-FFF2-40B4-BE49-F238E27FC236}">
                <a16:creationId xmlns:a16="http://schemas.microsoft.com/office/drawing/2014/main" id="{CAF16027-12CB-4162-B2FC-9301106C1DAA}"/>
              </a:ext>
            </a:extLst>
          </p:cNvPr>
          <p:cNvSpPr txBox="1"/>
          <p:nvPr/>
        </p:nvSpPr>
        <p:spPr bwMode="auto">
          <a:xfrm>
            <a:off x="2552870" y="4806637"/>
            <a:ext cx="1503780" cy="369332"/>
          </a:xfrm>
          <a:prstGeom prst="rect">
            <a:avLst/>
          </a:prstGeom>
        </p:spPr>
        <p:txBody>
          <a:bodyPr wrap="square" rtlCol="0">
            <a:spAutoFit/>
          </a:bodyPr>
          <a:lstStyle/>
          <a:p>
            <a:r>
              <a:rPr lang="ru-RU" dirty="0"/>
              <a:t>Листы</a:t>
            </a:r>
          </a:p>
        </p:txBody>
      </p:sp>
      <p:sp>
        <p:nvSpPr>
          <p:cNvPr id="25" name="TextBox 24">
            <a:extLst>
              <a:ext uri="{FF2B5EF4-FFF2-40B4-BE49-F238E27FC236}">
                <a16:creationId xmlns:a16="http://schemas.microsoft.com/office/drawing/2014/main" id="{E153AA9B-8EBC-4021-B60D-162031FAAE9D}"/>
              </a:ext>
            </a:extLst>
          </p:cNvPr>
          <p:cNvSpPr txBox="1"/>
          <p:nvPr/>
        </p:nvSpPr>
        <p:spPr bwMode="auto">
          <a:xfrm>
            <a:off x="3775302" y="3771435"/>
            <a:ext cx="1020680" cy="369332"/>
          </a:xfrm>
          <a:prstGeom prst="rect">
            <a:avLst/>
          </a:prstGeom>
        </p:spPr>
        <p:txBody>
          <a:bodyPr wrap="square" rtlCol="0">
            <a:spAutoFit/>
          </a:bodyPr>
          <a:lstStyle/>
          <a:p>
            <a:r>
              <a:rPr lang="ru-RU" dirty="0"/>
              <a:t>Узел</a:t>
            </a:r>
          </a:p>
        </p:txBody>
      </p:sp>
      <p:sp>
        <p:nvSpPr>
          <p:cNvPr id="26" name="TextBox 25">
            <a:extLst>
              <a:ext uri="{FF2B5EF4-FFF2-40B4-BE49-F238E27FC236}">
                <a16:creationId xmlns:a16="http://schemas.microsoft.com/office/drawing/2014/main" id="{7B26D9E6-265F-4F22-A3F4-089877B98DB3}"/>
              </a:ext>
            </a:extLst>
          </p:cNvPr>
          <p:cNvSpPr txBox="1"/>
          <p:nvPr/>
        </p:nvSpPr>
        <p:spPr bwMode="auto">
          <a:xfrm>
            <a:off x="6380121" y="3160255"/>
            <a:ext cx="1216970" cy="369332"/>
          </a:xfrm>
          <a:prstGeom prst="rect">
            <a:avLst/>
          </a:prstGeom>
        </p:spPr>
        <p:txBody>
          <a:bodyPr wrap="square" rtlCol="0">
            <a:spAutoFit/>
          </a:bodyPr>
          <a:lstStyle/>
          <a:p>
            <a:r>
              <a:rPr lang="ru-RU" dirty="0"/>
              <a:t>Ребро</a:t>
            </a:r>
          </a:p>
        </p:txBody>
      </p:sp>
    </p:spTree>
    <p:extLst>
      <p:ext uri="{BB962C8B-B14F-4D97-AF65-F5344CB8AC3E}">
        <p14:creationId xmlns:p14="http://schemas.microsoft.com/office/powerpoint/2010/main" val="85169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1C39FE-B5E2-407D-998C-67B6DE7377A7}"/>
              </a:ext>
            </a:extLst>
          </p:cNvPr>
          <p:cNvSpPr>
            <a:spLocks noGrp="1"/>
          </p:cNvSpPr>
          <p:nvPr>
            <p:ph type="title"/>
          </p:nvPr>
        </p:nvSpPr>
        <p:spPr/>
        <p:txBody>
          <a:bodyPr/>
          <a:lstStyle/>
          <a:p>
            <a:r>
              <a:rPr lang="ru-RU" dirty="0"/>
              <a:t>Основные понятия дерева</a:t>
            </a:r>
          </a:p>
        </p:txBody>
      </p:sp>
      <p:sp>
        <p:nvSpPr>
          <p:cNvPr id="7" name="Текст 6">
            <a:extLst>
              <a:ext uri="{FF2B5EF4-FFF2-40B4-BE49-F238E27FC236}">
                <a16:creationId xmlns:a16="http://schemas.microsoft.com/office/drawing/2014/main" id="{7E871BAC-8026-48F9-A036-F93621203A7D}"/>
              </a:ext>
            </a:extLst>
          </p:cNvPr>
          <p:cNvSpPr>
            <a:spLocks noGrp="1"/>
          </p:cNvSpPr>
          <p:nvPr>
            <p:ph type="body" sz="quarter" idx="19"/>
          </p:nvPr>
        </p:nvSpPr>
        <p:spPr/>
        <p:txBody>
          <a:bodyPr/>
          <a:lstStyle/>
          <a:p>
            <a:endParaRPr lang="ru-RU"/>
          </a:p>
        </p:txBody>
      </p:sp>
      <p:sp>
        <p:nvSpPr>
          <p:cNvPr id="4" name="AutoShape 4" descr="Дерево и основные понятия структуры данных">
            <a:extLst>
              <a:ext uri="{FF2B5EF4-FFF2-40B4-BE49-F238E27FC236}">
                <a16:creationId xmlns:a16="http://schemas.microsoft.com/office/drawing/2014/main" id="{895F31B2-0024-49B1-9D84-2182633DA2E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5999D39F-9AB1-49B4-9F32-4DC3F147C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612" y="591208"/>
            <a:ext cx="11380788" cy="6117567"/>
          </a:xfrm>
          <a:prstGeom prst="rect">
            <a:avLst/>
          </a:prstGeom>
        </p:spPr>
      </p:pic>
    </p:spTree>
    <p:extLst>
      <p:ext uri="{BB962C8B-B14F-4D97-AF65-F5344CB8AC3E}">
        <p14:creationId xmlns:p14="http://schemas.microsoft.com/office/powerpoint/2010/main" val="162426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1C39FE-B5E2-407D-998C-67B6DE7377A7}"/>
              </a:ext>
            </a:extLst>
          </p:cNvPr>
          <p:cNvSpPr>
            <a:spLocks noGrp="1"/>
          </p:cNvSpPr>
          <p:nvPr>
            <p:ph type="title"/>
          </p:nvPr>
        </p:nvSpPr>
        <p:spPr/>
        <p:txBody>
          <a:bodyPr/>
          <a:lstStyle/>
          <a:p>
            <a:r>
              <a:rPr lang="ru-RU" dirty="0"/>
              <a:t>Бинарное дерево и </a:t>
            </a:r>
            <a:r>
              <a:rPr lang="en-US" dirty="0"/>
              <a:t>BST</a:t>
            </a:r>
            <a:endParaRPr lang="ru-RU" dirty="0"/>
          </a:p>
        </p:txBody>
      </p:sp>
      <p:sp>
        <p:nvSpPr>
          <p:cNvPr id="7" name="Текст 6">
            <a:extLst>
              <a:ext uri="{FF2B5EF4-FFF2-40B4-BE49-F238E27FC236}">
                <a16:creationId xmlns:a16="http://schemas.microsoft.com/office/drawing/2014/main" id="{7E871BAC-8026-48F9-A036-F93621203A7D}"/>
              </a:ext>
            </a:extLst>
          </p:cNvPr>
          <p:cNvSpPr>
            <a:spLocks noGrp="1"/>
          </p:cNvSpPr>
          <p:nvPr>
            <p:ph type="body" sz="quarter" idx="19"/>
          </p:nvPr>
        </p:nvSpPr>
        <p:spPr/>
        <p:txBody>
          <a:bodyPr/>
          <a:lstStyle/>
          <a:p>
            <a:endParaRPr lang="ru-RU"/>
          </a:p>
        </p:txBody>
      </p:sp>
      <p:sp>
        <p:nvSpPr>
          <p:cNvPr id="3" name="Прямоугольник: скругленные углы 2">
            <a:extLst>
              <a:ext uri="{FF2B5EF4-FFF2-40B4-BE49-F238E27FC236}">
                <a16:creationId xmlns:a16="http://schemas.microsoft.com/office/drawing/2014/main" id="{7EB6AC60-353B-4917-B669-75409F3D2689}"/>
              </a:ext>
            </a:extLst>
          </p:cNvPr>
          <p:cNvSpPr/>
          <p:nvPr/>
        </p:nvSpPr>
        <p:spPr>
          <a:xfrm>
            <a:off x="779929" y="1412856"/>
            <a:ext cx="4988859" cy="995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Бинарное дерево</a:t>
            </a:r>
            <a:r>
              <a:rPr lang="ru-RU" dirty="0"/>
              <a:t> </a:t>
            </a:r>
          </a:p>
        </p:txBody>
      </p:sp>
      <p:sp>
        <p:nvSpPr>
          <p:cNvPr id="8" name="Прямоугольник: скругленные углы 7">
            <a:extLst>
              <a:ext uri="{FF2B5EF4-FFF2-40B4-BE49-F238E27FC236}">
                <a16:creationId xmlns:a16="http://schemas.microsoft.com/office/drawing/2014/main" id="{8E2F91E8-3CA9-400F-BEA5-7D6CF91D27B3}"/>
              </a:ext>
            </a:extLst>
          </p:cNvPr>
          <p:cNvSpPr/>
          <p:nvPr/>
        </p:nvSpPr>
        <p:spPr>
          <a:xfrm>
            <a:off x="6423214" y="1412855"/>
            <a:ext cx="4988859" cy="995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BST</a:t>
            </a:r>
            <a:endParaRPr lang="ru-RU" b="1" dirty="0"/>
          </a:p>
        </p:txBody>
      </p:sp>
      <p:sp>
        <p:nvSpPr>
          <p:cNvPr id="9" name="Овал 8">
            <a:extLst>
              <a:ext uri="{FF2B5EF4-FFF2-40B4-BE49-F238E27FC236}">
                <a16:creationId xmlns:a16="http://schemas.microsoft.com/office/drawing/2014/main" id="{FFCE74C0-B61D-45F5-A4C7-866CFDB8248D}"/>
              </a:ext>
            </a:extLst>
          </p:cNvPr>
          <p:cNvSpPr/>
          <p:nvPr/>
        </p:nvSpPr>
        <p:spPr>
          <a:xfrm>
            <a:off x="2756647" y="251460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ru-RU" dirty="0"/>
          </a:p>
        </p:txBody>
      </p:sp>
      <p:sp>
        <p:nvSpPr>
          <p:cNvPr id="10" name="Овал 9">
            <a:extLst>
              <a:ext uri="{FF2B5EF4-FFF2-40B4-BE49-F238E27FC236}">
                <a16:creationId xmlns:a16="http://schemas.microsoft.com/office/drawing/2014/main" id="{DBD69B44-104B-4F1B-876A-86324565F82D}"/>
              </a:ext>
            </a:extLst>
          </p:cNvPr>
          <p:cNvSpPr/>
          <p:nvPr/>
        </p:nvSpPr>
        <p:spPr>
          <a:xfrm>
            <a:off x="1842248" y="342449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ru-RU" dirty="0"/>
          </a:p>
        </p:txBody>
      </p:sp>
      <p:sp>
        <p:nvSpPr>
          <p:cNvPr id="11" name="Овал 10">
            <a:extLst>
              <a:ext uri="{FF2B5EF4-FFF2-40B4-BE49-F238E27FC236}">
                <a16:creationId xmlns:a16="http://schemas.microsoft.com/office/drawing/2014/main" id="{E1334F34-A60C-4E05-9A3B-1C0DBD10FF4A}"/>
              </a:ext>
            </a:extLst>
          </p:cNvPr>
          <p:cNvSpPr/>
          <p:nvPr/>
        </p:nvSpPr>
        <p:spPr>
          <a:xfrm>
            <a:off x="3671046" y="342449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a:t>
            </a:r>
            <a:endParaRPr lang="ru-RU" dirty="0"/>
          </a:p>
        </p:txBody>
      </p:sp>
      <p:sp>
        <p:nvSpPr>
          <p:cNvPr id="12" name="Овал 11">
            <a:extLst>
              <a:ext uri="{FF2B5EF4-FFF2-40B4-BE49-F238E27FC236}">
                <a16:creationId xmlns:a16="http://schemas.microsoft.com/office/drawing/2014/main" id="{912C7805-C774-4AB0-86EF-AE9189B3D0F2}"/>
              </a:ext>
            </a:extLst>
          </p:cNvPr>
          <p:cNvSpPr/>
          <p:nvPr/>
        </p:nvSpPr>
        <p:spPr>
          <a:xfrm>
            <a:off x="658905" y="455627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215</a:t>
            </a:r>
            <a:endParaRPr lang="ru-RU" dirty="0"/>
          </a:p>
        </p:txBody>
      </p:sp>
      <p:sp>
        <p:nvSpPr>
          <p:cNvPr id="13" name="Овал 12">
            <a:extLst>
              <a:ext uri="{FF2B5EF4-FFF2-40B4-BE49-F238E27FC236}">
                <a16:creationId xmlns:a16="http://schemas.microsoft.com/office/drawing/2014/main" id="{EA1A92DD-CB3A-4CCD-9E78-4C26F0DA104B}"/>
              </a:ext>
            </a:extLst>
          </p:cNvPr>
          <p:cNvSpPr/>
          <p:nvPr/>
        </p:nvSpPr>
        <p:spPr>
          <a:xfrm>
            <a:off x="1842248" y="455627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w</a:t>
            </a:r>
            <a:endParaRPr lang="ru-RU" dirty="0"/>
          </a:p>
        </p:txBody>
      </p:sp>
      <p:sp>
        <p:nvSpPr>
          <p:cNvPr id="14" name="Овал 13">
            <a:extLst>
              <a:ext uri="{FF2B5EF4-FFF2-40B4-BE49-F238E27FC236}">
                <a16:creationId xmlns:a16="http://schemas.microsoft.com/office/drawing/2014/main" id="{DDB3C326-E6AE-4C1B-82F2-B4652C850299}"/>
              </a:ext>
            </a:extLst>
          </p:cNvPr>
          <p:cNvSpPr/>
          <p:nvPr/>
        </p:nvSpPr>
        <p:spPr>
          <a:xfrm>
            <a:off x="3671046" y="455627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Кот</a:t>
            </a:r>
          </a:p>
        </p:txBody>
      </p:sp>
      <p:sp>
        <p:nvSpPr>
          <p:cNvPr id="15" name="Овал 14">
            <a:extLst>
              <a:ext uri="{FF2B5EF4-FFF2-40B4-BE49-F238E27FC236}">
                <a16:creationId xmlns:a16="http://schemas.microsoft.com/office/drawing/2014/main" id="{51816783-D13A-45EE-99DF-3D9546397ADA}"/>
              </a:ext>
            </a:extLst>
          </p:cNvPr>
          <p:cNvSpPr/>
          <p:nvPr/>
        </p:nvSpPr>
        <p:spPr>
          <a:xfrm>
            <a:off x="4854389" y="455627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V</a:t>
            </a:r>
            <a:endParaRPr lang="ru-RU" dirty="0"/>
          </a:p>
        </p:txBody>
      </p:sp>
      <p:cxnSp>
        <p:nvCxnSpPr>
          <p:cNvPr id="17" name="Прямая со стрелкой 16">
            <a:extLst>
              <a:ext uri="{FF2B5EF4-FFF2-40B4-BE49-F238E27FC236}">
                <a16:creationId xmlns:a16="http://schemas.microsoft.com/office/drawing/2014/main" id="{7CA6B914-C280-4C6D-B0EB-E79050B141AD}"/>
              </a:ext>
            </a:extLst>
          </p:cNvPr>
          <p:cNvCxnSpPr>
            <a:stCxn id="9" idx="3"/>
            <a:endCxn id="10" idx="0"/>
          </p:cNvCxnSpPr>
          <p:nvPr/>
        </p:nvCxnSpPr>
        <p:spPr>
          <a:xfrm flipH="1">
            <a:off x="2299448" y="3295089"/>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CC613DCC-D2F9-4122-AE40-2033CC95B8A8}"/>
              </a:ext>
            </a:extLst>
          </p:cNvPr>
          <p:cNvCxnSpPr>
            <a:cxnSpLocks/>
            <a:stCxn id="9" idx="5"/>
            <a:endCxn id="11" idx="0"/>
          </p:cNvCxnSpPr>
          <p:nvPr/>
        </p:nvCxnSpPr>
        <p:spPr>
          <a:xfrm>
            <a:off x="3537135" y="3295089"/>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013B6B48-BA8D-44CA-9068-AF9B5DD29E89}"/>
              </a:ext>
            </a:extLst>
          </p:cNvPr>
          <p:cNvCxnSpPr>
            <a:cxnSpLocks/>
            <a:stCxn id="10" idx="3"/>
            <a:endCxn id="12" idx="0"/>
          </p:cNvCxnSpPr>
          <p:nvPr/>
        </p:nvCxnSpPr>
        <p:spPr>
          <a:xfrm flipH="1">
            <a:off x="1116105" y="4204982"/>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515F1826-E72C-49E5-9956-844A925C584F}"/>
              </a:ext>
            </a:extLst>
          </p:cNvPr>
          <p:cNvCxnSpPr>
            <a:cxnSpLocks/>
            <a:stCxn id="10" idx="4"/>
            <a:endCxn id="13" idx="0"/>
          </p:cNvCxnSpPr>
          <p:nvPr/>
        </p:nvCxnSpPr>
        <p:spPr>
          <a:xfrm>
            <a:off x="2299448" y="4338893"/>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EEC81C09-F24F-442E-A01B-8317532F9971}"/>
              </a:ext>
            </a:extLst>
          </p:cNvPr>
          <p:cNvCxnSpPr>
            <a:cxnSpLocks/>
            <a:stCxn id="11" idx="4"/>
            <a:endCxn id="14" idx="0"/>
          </p:cNvCxnSpPr>
          <p:nvPr/>
        </p:nvCxnSpPr>
        <p:spPr>
          <a:xfrm>
            <a:off x="4128246" y="4338893"/>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B1C34E2D-5158-4011-A20B-D8CD182640DE}"/>
              </a:ext>
            </a:extLst>
          </p:cNvPr>
          <p:cNvCxnSpPr>
            <a:cxnSpLocks/>
            <a:stCxn id="11" idx="5"/>
            <a:endCxn id="15" idx="0"/>
          </p:cNvCxnSpPr>
          <p:nvPr/>
        </p:nvCxnSpPr>
        <p:spPr>
          <a:xfrm>
            <a:off x="4451534" y="4204982"/>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Овал 32">
            <a:extLst>
              <a:ext uri="{FF2B5EF4-FFF2-40B4-BE49-F238E27FC236}">
                <a16:creationId xmlns:a16="http://schemas.microsoft.com/office/drawing/2014/main" id="{7D128611-AB19-4B13-814F-B0CF3E93AE95}"/>
              </a:ext>
            </a:extLst>
          </p:cNvPr>
          <p:cNvSpPr/>
          <p:nvPr/>
        </p:nvSpPr>
        <p:spPr>
          <a:xfrm>
            <a:off x="8520956" y="2553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9D68BED5-5D8A-43CF-BC4A-405EC02B662B}"/>
              </a:ext>
            </a:extLst>
          </p:cNvPr>
          <p:cNvSpPr/>
          <p:nvPr/>
        </p:nvSpPr>
        <p:spPr>
          <a:xfrm>
            <a:off x="7606557" y="3463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a:t>
            </a:r>
            <a:endParaRPr lang="ru-RU" dirty="0"/>
          </a:p>
        </p:txBody>
      </p:sp>
      <p:sp>
        <p:nvSpPr>
          <p:cNvPr id="35" name="Овал 34">
            <a:extLst>
              <a:ext uri="{FF2B5EF4-FFF2-40B4-BE49-F238E27FC236}">
                <a16:creationId xmlns:a16="http://schemas.microsoft.com/office/drawing/2014/main" id="{74A5B71D-4EC8-4A83-B1AF-8BFF848A95D6}"/>
              </a:ext>
            </a:extLst>
          </p:cNvPr>
          <p:cNvSpPr/>
          <p:nvPr/>
        </p:nvSpPr>
        <p:spPr>
          <a:xfrm>
            <a:off x="9435355" y="3463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6" name="Овал 35">
            <a:extLst>
              <a:ext uri="{FF2B5EF4-FFF2-40B4-BE49-F238E27FC236}">
                <a16:creationId xmlns:a16="http://schemas.microsoft.com/office/drawing/2014/main" id="{0C9AA079-CE64-46E0-A758-D506D48FE971}"/>
              </a:ext>
            </a:extLst>
          </p:cNvPr>
          <p:cNvSpPr/>
          <p:nvPr/>
        </p:nvSpPr>
        <p:spPr>
          <a:xfrm>
            <a:off x="6423214" y="4594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37" name="Овал 36">
            <a:extLst>
              <a:ext uri="{FF2B5EF4-FFF2-40B4-BE49-F238E27FC236}">
                <a16:creationId xmlns:a16="http://schemas.microsoft.com/office/drawing/2014/main" id="{49EB8A8F-A4A4-4B4A-97BA-1B885C179BCD}"/>
              </a:ext>
            </a:extLst>
          </p:cNvPr>
          <p:cNvSpPr/>
          <p:nvPr/>
        </p:nvSpPr>
        <p:spPr>
          <a:xfrm>
            <a:off x="7606557" y="4594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38" name="Овал 37">
            <a:extLst>
              <a:ext uri="{FF2B5EF4-FFF2-40B4-BE49-F238E27FC236}">
                <a16:creationId xmlns:a16="http://schemas.microsoft.com/office/drawing/2014/main" id="{13F646E5-40D2-43C1-8B15-B1BBC9DA4F8A}"/>
              </a:ext>
            </a:extLst>
          </p:cNvPr>
          <p:cNvSpPr/>
          <p:nvPr/>
        </p:nvSpPr>
        <p:spPr>
          <a:xfrm>
            <a:off x="9435355" y="4594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39" name="Овал 38">
            <a:extLst>
              <a:ext uri="{FF2B5EF4-FFF2-40B4-BE49-F238E27FC236}">
                <a16:creationId xmlns:a16="http://schemas.microsoft.com/office/drawing/2014/main" id="{54D86C5B-8473-43E6-ABFA-CC7DA3BB0D31}"/>
              </a:ext>
            </a:extLst>
          </p:cNvPr>
          <p:cNvSpPr/>
          <p:nvPr/>
        </p:nvSpPr>
        <p:spPr>
          <a:xfrm>
            <a:off x="10618698" y="4594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0" name="Прямая со стрелкой 39">
            <a:extLst>
              <a:ext uri="{FF2B5EF4-FFF2-40B4-BE49-F238E27FC236}">
                <a16:creationId xmlns:a16="http://schemas.microsoft.com/office/drawing/2014/main" id="{5CC84044-CEDC-4AA5-848C-24CA84B4C864}"/>
              </a:ext>
            </a:extLst>
          </p:cNvPr>
          <p:cNvCxnSpPr>
            <a:stCxn id="33" idx="3"/>
            <a:endCxn id="34" idx="0"/>
          </p:cNvCxnSpPr>
          <p:nvPr/>
        </p:nvCxnSpPr>
        <p:spPr>
          <a:xfrm flipH="1">
            <a:off x="8063757" y="3333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6EC49D8C-AE8C-47DE-9E3F-AE80CB674B82}"/>
              </a:ext>
            </a:extLst>
          </p:cNvPr>
          <p:cNvCxnSpPr>
            <a:cxnSpLocks/>
            <a:stCxn id="33" idx="5"/>
            <a:endCxn id="35" idx="0"/>
          </p:cNvCxnSpPr>
          <p:nvPr/>
        </p:nvCxnSpPr>
        <p:spPr>
          <a:xfrm>
            <a:off x="9301444" y="3333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a:extLst>
              <a:ext uri="{FF2B5EF4-FFF2-40B4-BE49-F238E27FC236}">
                <a16:creationId xmlns:a16="http://schemas.microsoft.com/office/drawing/2014/main" id="{D44D8D32-9AEF-42B1-A736-28D997387765}"/>
              </a:ext>
            </a:extLst>
          </p:cNvPr>
          <p:cNvCxnSpPr>
            <a:cxnSpLocks/>
            <a:stCxn id="34" idx="3"/>
            <a:endCxn id="36" idx="0"/>
          </p:cNvCxnSpPr>
          <p:nvPr/>
        </p:nvCxnSpPr>
        <p:spPr>
          <a:xfrm flipH="1">
            <a:off x="6880414" y="4243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a:extLst>
              <a:ext uri="{FF2B5EF4-FFF2-40B4-BE49-F238E27FC236}">
                <a16:creationId xmlns:a16="http://schemas.microsoft.com/office/drawing/2014/main" id="{0052733A-2BA8-48D1-AC2F-52BDCCBF6662}"/>
              </a:ext>
            </a:extLst>
          </p:cNvPr>
          <p:cNvCxnSpPr>
            <a:cxnSpLocks/>
            <a:stCxn id="34" idx="4"/>
            <a:endCxn id="37" idx="0"/>
          </p:cNvCxnSpPr>
          <p:nvPr/>
        </p:nvCxnSpPr>
        <p:spPr>
          <a:xfrm>
            <a:off x="8063757" y="4377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a:extLst>
              <a:ext uri="{FF2B5EF4-FFF2-40B4-BE49-F238E27FC236}">
                <a16:creationId xmlns:a16="http://schemas.microsoft.com/office/drawing/2014/main" id="{88853A0A-840F-4247-A932-9629C903F741}"/>
              </a:ext>
            </a:extLst>
          </p:cNvPr>
          <p:cNvCxnSpPr>
            <a:cxnSpLocks/>
            <a:stCxn id="35" idx="4"/>
            <a:endCxn id="38" idx="0"/>
          </p:cNvCxnSpPr>
          <p:nvPr/>
        </p:nvCxnSpPr>
        <p:spPr>
          <a:xfrm>
            <a:off x="9892555" y="4377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0A61CDF2-6DE6-4286-8F9C-13B9EB331F4D}"/>
              </a:ext>
            </a:extLst>
          </p:cNvPr>
          <p:cNvCxnSpPr>
            <a:cxnSpLocks/>
            <a:stCxn id="35" idx="5"/>
            <a:endCxn id="39" idx="0"/>
          </p:cNvCxnSpPr>
          <p:nvPr/>
        </p:nvCxnSpPr>
        <p:spPr>
          <a:xfrm>
            <a:off x="10215843" y="4243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6" name="Прямоугольник: скругленные углы 45">
            <a:extLst>
              <a:ext uri="{FF2B5EF4-FFF2-40B4-BE49-F238E27FC236}">
                <a16:creationId xmlns:a16="http://schemas.microsoft.com/office/drawing/2014/main" id="{914DA59F-1D2D-457F-B89E-795561DB7150}"/>
              </a:ext>
            </a:extLst>
          </p:cNvPr>
          <p:cNvSpPr/>
          <p:nvPr/>
        </p:nvSpPr>
        <p:spPr>
          <a:xfrm>
            <a:off x="479424" y="5543595"/>
            <a:ext cx="11229968" cy="1193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BST </a:t>
            </a:r>
            <a:r>
              <a:rPr lang="ru-RU" dirty="0"/>
              <a:t>это древовидная структура данных, в которой для каждого узла значение в левом поддереве меньше или равно значению узла, а в правом поддереве — больше</a:t>
            </a:r>
          </a:p>
        </p:txBody>
      </p:sp>
    </p:spTree>
    <p:extLst>
      <p:ext uri="{BB962C8B-B14F-4D97-AF65-F5344CB8AC3E}">
        <p14:creationId xmlns:p14="http://schemas.microsoft.com/office/powerpoint/2010/main" val="158332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a:t>
            </a:r>
            <a:endParaRPr lang="ru-RU" dirty="0"/>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566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8</a:t>
            </a:r>
            <a:endParaRPr lang="ru-RU" dirty="0">
              <a:solidFill>
                <a:srgbClr val="FF000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a:t>
            </a:r>
            <a:endParaRPr lang="ru-RU" dirty="0"/>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8980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3</a:t>
            </a:r>
            <a:endParaRPr lang="ru-RU" dirty="0">
              <a:solidFill>
                <a:srgbClr val="FF000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3338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6</a:t>
            </a:r>
            <a:endParaRPr lang="ru-RU" dirty="0">
              <a:solidFill>
                <a:srgbClr val="FF000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02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7</a:t>
            </a:r>
            <a:endParaRPr lang="ru-RU" dirty="0">
              <a:solidFill>
                <a:srgbClr val="FF0000"/>
              </a:solidFill>
            </a:endParaRPr>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8657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a:xfrm>
            <a:off x="479425" y="597855"/>
            <a:ext cx="11229975" cy="1140459"/>
          </a:xfrm>
        </p:spPr>
        <p:txBody>
          <a:bodyPr/>
          <a:lstStyle/>
          <a:p>
            <a:r>
              <a:rPr lang="ru-RU" dirty="0"/>
              <a:t>Поиск в бинарном дереве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B050"/>
                </a:solidFill>
              </a:rPr>
              <a:t>7</a:t>
            </a:r>
            <a:endParaRPr lang="ru-RU" dirty="0">
              <a:solidFill>
                <a:srgbClr val="00B050"/>
              </a:solidFill>
            </a:endParaRPr>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Прямоугольник: скругленные углы 2">
            <a:extLst>
              <a:ext uri="{FF2B5EF4-FFF2-40B4-BE49-F238E27FC236}">
                <a16:creationId xmlns:a16="http://schemas.microsoft.com/office/drawing/2014/main" id="{43B83A8B-4518-4B58-94E9-FB3BA7DCAB79}"/>
              </a:ext>
            </a:extLst>
          </p:cNvPr>
          <p:cNvSpPr/>
          <p:nvPr/>
        </p:nvSpPr>
        <p:spPr>
          <a:xfrm>
            <a:off x="7956179" y="1507748"/>
            <a:ext cx="3388658" cy="114045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Сложность поиска</a:t>
            </a:r>
            <a:r>
              <a:rPr lang="en-US" dirty="0"/>
              <a:t>: O(log(n))</a:t>
            </a:r>
            <a:endParaRPr lang="ru-RU" dirty="0"/>
          </a:p>
        </p:txBody>
      </p:sp>
      <p:sp>
        <p:nvSpPr>
          <p:cNvPr id="24" name="Прямоугольник: скругленные углы 23">
            <a:extLst>
              <a:ext uri="{FF2B5EF4-FFF2-40B4-BE49-F238E27FC236}">
                <a16:creationId xmlns:a16="http://schemas.microsoft.com/office/drawing/2014/main" id="{7AD85D69-DB9A-4CFD-B1C6-C181146A7340}"/>
              </a:ext>
            </a:extLst>
          </p:cNvPr>
          <p:cNvSpPr/>
          <p:nvPr/>
        </p:nvSpPr>
        <p:spPr>
          <a:xfrm>
            <a:off x="7956179" y="2706483"/>
            <a:ext cx="3388658" cy="114045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Сложность поиска (худший случай)</a:t>
            </a:r>
            <a:r>
              <a:rPr lang="en-US" dirty="0"/>
              <a:t>: O(n)</a:t>
            </a:r>
            <a:endParaRPr lang="ru-RU" dirty="0"/>
          </a:p>
        </p:txBody>
      </p:sp>
    </p:spTree>
    <p:extLst>
      <p:ext uri="{BB962C8B-B14F-4D97-AF65-F5344CB8AC3E}">
        <p14:creationId xmlns:p14="http://schemas.microsoft.com/office/powerpoint/2010/main" val="23801302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Вставка в бинарное дерево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B050"/>
                </a:solidFill>
              </a:rPr>
              <a:t>8</a:t>
            </a:r>
            <a:endParaRPr lang="ru-RU" dirty="0">
              <a:solidFill>
                <a:srgbClr val="00B05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a:t>
            </a:r>
            <a:endParaRPr lang="ru-RU" dirty="0"/>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727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Вставка в бинарное дерево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B050"/>
                </a:solidFill>
              </a:rPr>
              <a:t>3</a:t>
            </a:r>
            <a:endParaRPr lang="ru-RU" dirty="0">
              <a:solidFill>
                <a:srgbClr val="00B05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04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Вставка в бинарное дерево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B050"/>
                </a:solidFill>
              </a:rPr>
              <a:t>6</a:t>
            </a:r>
            <a:endParaRPr lang="ru-RU" dirty="0">
              <a:solidFill>
                <a:srgbClr val="00B05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530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Вставка в бинарное дерево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B050"/>
                </a:solidFill>
              </a:rPr>
              <a:t>4</a:t>
            </a:r>
            <a:endParaRPr lang="ru-RU" dirty="0">
              <a:solidFill>
                <a:srgbClr val="00B050"/>
              </a:solidFill>
            </a:endParaRPr>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033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CA47D-927F-4360-B50D-29E5102C58C3}"/>
              </a:ext>
            </a:extLst>
          </p:cNvPr>
          <p:cNvSpPr>
            <a:spLocks noGrp="1"/>
          </p:cNvSpPr>
          <p:nvPr>
            <p:ph type="title"/>
          </p:nvPr>
        </p:nvSpPr>
        <p:spPr/>
        <p:txBody>
          <a:bodyPr/>
          <a:lstStyle/>
          <a:p>
            <a:r>
              <a:rPr lang="ru-RU" dirty="0"/>
              <a:t>Вставка в бинарное дерево поиска</a:t>
            </a:r>
          </a:p>
        </p:txBody>
      </p:sp>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2DA2D689-2436-4430-AED2-A4CC242E5673}"/>
              </a:ext>
            </a:extLst>
          </p:cNvPr>
          <p:cNvSpPr/>
          <p:nvPr/>
        </p:nvSpPr>
        <p:spPr>
          <a:xfrm>
            <a:off x="4944038"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9" name="Овал 8">
            <a:extLst>
              <a:ext uri="{FF2B5EF4-FFF2-40B4-BE49-F238E27FC236}">
                <a16:creationId xmlns:a16="http://schemas.microsoft.com/office/drawing/2014/main" id="{553CA87A-B4BE-4C62-96E1-DCD4BBECDCDE}"/>
              </a:ext>
            </a:extLst>
          </p:cNvPr>
          <p:cNvSpPr/>
          <p:nvPr/>
        </p:nvSpPr>
        <p:spPr>
          <a:xfrm>
            <a:off x="4029639"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0" name="Овал 9">
            <a:extLst>
              <a:ext uri="{FF2B5EF4-FFF2-40B4-BE49-F238E27FC236}">
                <a16:creationId xmlns:a16="http://schemas.microsoft.com/office/drawing/2014/main" id="{A05CEAA3-A504-440B-927D-777B8693E9A3}"/>
              </a:ext>
            </a:extLst>
          </p:cNvPr>
          <p:cNvSpPr/>
          <p:nvPr/>
        </p:nvSpPr>
        <p:spPr>
          <a:xfrm>
            <a:off x="585843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11" name="Овал 10">
            <a:extLst>
              <a:ext uri="{FF2B5EF4-FFF2-40B4-BE49-F238E27FC236}">
                <a16:creationId xmlns:a16="http://schemas.microsoft.com/office/drawing/2014/main" id="{3AAE9793-F506-4742-B897-F15FA326CB94}"/>
              </a:ext>
            </a:extLst>
          </p:cNvPr>
          <p:cNvSpPr/>
          <p:nvPr/>
        </p:nvSpPr>
        <p:spPr>
          <a:xfrm>
            <a:off x="2846296"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12" name="Овал 11">
            <a:extLst>
              <a:ext uri="{FF2B5EF4-FFF2-40B4-BE49-F238E27FC236}">
                <a16:creationId xmlns:a16="http://schemas.microsoft.com/office/drawing/2014/main" id="{D2BB80AF-221F-4E97-8AD3-DEB24DEB36FA}"/>
              </a:ext>
            </a:extLst>
          </p:cNvPr>
          <p:cNvSpPr/>
          <p:nvPr/>
        </p:nvSpPr>
        <p:spPr>
          <a:xfrm>
            <a:off x="4029639"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13" name="Овал 12">
            <a:extLst>
              <a:ext uri="{FF2B5EF4-FFF2-40B4-BE49-F238E27FC236}">
                <a16:creationId xmlns:a16="http://schemas.microsoft.com/office/drawing/2014/main" id="{12D86499-22F3-40BD-A7BC-7246B8161F60}"/>
              </a:ext>
            </a:extLst>
          </p:cNvPr>
          <p:cNvSpPr/>
          <p:nvPr/>
        </p:nvSpPr>
        <p:spPr>
          <a:xfrm>
            <a:off x="5858437" y="37799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14" name="Овал 13">
            <a:extLst>
              <a:ext uri="{FF2B5EF4-FFF2-40B4-BE49-F238E27FC236}">
                <a16:creationId xmlns:a16="http://schemas.microsoft.com/office/drawing/2014/main" id="{7D2CCC9E-3D34-49F4-A347-35DE03DB77DD}"/>
              </a:ext>
            </a:extLst>
          </p:cNvPr>
          <p:cNvSpPr/>
          <p:nvPr/>
        </p:nvSpPr>
        <p:spPr>
          <a:xfrm>
            <a:off x="7041780"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15" name="Прямая со стрелкой 14">
            <a:extLst>
              <a:ext uri="{FF2B5EF4-FFF2-40B4-BE49-F238E27FC236}">
                <a16:creationId xmlns:a16="http://schemas.microsoft.com/office/drawing/2014/main" id="{19C5FB29-260D-4B73-95EA-A551412ECFD7}"/>
              </a:ext>
            </a:extLst>
          </p:cNvPr>
          <p:cNvCxnSpPr>
            <a:stCxn id="8" idx="3"/>
            <a:endCxn id="9" idx="0"/>
          </p:cNvCxnSpPr>
          <p:nvPr/>
        </p:nvCxnSpPr>
        <p:spPr>
          <a:xfrm flipH="1">
            <a:off x="4486839"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011908A-2D57-443C-BAD9-22091DA187D5}"/>
              </a:ext>
            </a:extLst>
          </p:cNvPr>
          <p:cNvCxnSpPr>
            <a:cxnSpLocks/>
            <a:stCxn id="8" idx="5"/>
            <a:endCxn id="10" idx="0"/>
          </p:cNvCxnSpPr>
          <p:nvPr/>
        </p:nvCxnSpPr>
        <p:spPr>
          <a:xfrm>
            <a:off x="5724526" y="25188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C34FD507-71A0-45D7-A8A9-7C7BBAC59DBA}"/>
              </a:ext>
            </a:extLst>
          </p:cNvPr>
          <p:cNvCxnSpPr>
            <a:cxnSpLocks/>
            <a:stCxn id="9" idx="3"/>
            <a:endCxn id="11" idx="0"/>
          </p:cNvCxnSpPr>
          <p:nvPr/>
        </p:nvCxnSpPr>
        <p:spPr>
          <a:xfrm flipH="1">
            <a:off x="3303496"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5ACDC032-8BB4-4C2F-82F7-49365E76ED22}"/>
              </a:ext>
            </a:extLst>
          </p:cNvPr>
          <p:cNvCxnSpPr>
            <a:cxnSpLocks/>
            <a:stCxn id="9" idx="4"/>
            <a:endCxn id="12" idx="0"/>
          </p:cNvCxnSpPr>
          <p:nvPr/>
        </p:nvCxnSpPr>
        <p:spPr>
          <a:xfrm>
            <a:off x="4486839"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0EC59B05-FA56-4077-8102-40FF09132206}"/>
              </a:ext>
            </a:extLst>
          </p:cNvPr>
          <p:cNvCxnSpPr>
            <a:cxnSpLocks/>
            <a:stCxn id="10" idx="4"/>
            <a:endCxn id="13" idx="0"/>
          </p:cNvCxnSpPr>
          <p:nvPr/>
        </p:nvCxnSpPr>
        <p:spPr>
          <a:xfrm>
            <a:off x="6315637" y="35626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3663F8A-6F04-4487-B6EE-F002F28C6817}"/>
              </a:ext>
            </a:extLst>
          </p:cNvPr>
          <p:cNvCxnSpPr>
            <a:cxnSpLocks/>
            <a:stCxn id="10" idx="5"/>
            <a:endCxn id="14" idx="0"/>
          </p:cNvCxnSpPr>
          <p:nvPr/>
        </p:nvCxnSpPr>
        <p:spPr>
          <a:xfrm>
            <a:off x="6638925" y="34286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470EE994-9271-4BDE-9795-833C0DDDE501}"/>
              </a:ext>
            </a:extLst>
          </p:cNvPr>
          <p:cNvSpPr/>
          <p:nvPr/>
        </p:nvSpPr>
        <p:spPr>
          <a:xfrm>
            <a:off x="3288046" y="50456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a:t>
            </a:r>
            <a:endParaRPr lang="ru-RU" dirty="0">
              <a:solidFill>
                <a:srgbClr val="002060"/>
              </a:solidFill>
            </a:endParaRPr>
          </a:p>
        </p:txBody>
      </p:sp>
      <p:sp>
        <p:nvSpPr>
          <p:cNvPr id="22" name="Овал 21">
            <a:extLst>
              <a:ext uri="{FF2B5EF4-FFF2-40B4-BE49-F238E27FC236}">
                <a16:creationId xmlns:a16="http://schemas.microsoft.com/office/drawing/2014/main" id="{BF7D5103-6900-484C-8B78-8EBF5E9E8E30}"/>
              </a:ext>
            </a:extLst>
          </p:cNvPr>
          <p:cNvSpPr/>
          <p:nvPr/>
        </p:nvSpPr>
        <p:spPr>
          <a:xfrm>
            <a:off x="4584797" y="50456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25" name="Прямая со стрелкой 24">
            <a:extLst>
              <a:ext uri="{FF2B5EF4-FFF2-40B4-BE49-F238E27FC236}">
                <a16:creationId xmlns:a16="http://schemas.microsoft.com/office/drawing/2014/main" id="{D149D4A3-C581-478E-BD59-6EAF842E5233}"/>
              </a:ext>
            </a:extLst>
          </p:cNvPr>
          <p:cNvCxnSpPr>
            <a:cxnSpLocks/>
            <a:stCxn id="12" idx="3"/>
            <a:endCxn id="21" idx="0"/>
          </p:cNvCxnSpPr>
          <p:nvPr/>
        </p:nvCxnSpPr>
        <p:spPr>
          <a:xfrm flipH="1">
            <a:off x="3745246" y="45604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a:extLst>
              <a:ext uri="{FF2B5EF4-FFF2-40B4-BE49-F238E27FC236}">
                <a16:creationId xmlns:a16="http://schemas.microsoft.com/office/drawing/2014/main" id="{E486D79F-C69D-44D3-99EF-DC3732951076}"/>
              </a:ext>
            </a:extLst>
          </p:cNvPr>
          <p:cNvCxnSpPr>
            <a:cxnSpLocks/>
            <a:stCxn id="12" idx="5"/>
            <a:endCxn id="22" idx="0"/>
          </p:cNvCxnSpPr>
          <p:nvPr/>
        </p:nvCxnSpPr>
        <p:spPr>
          <a:xfrm>
            <a:off x="4810127" y="45604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99EE516A-5300-426B-A51F-EEDEC5755A9D}"/>
              </a:ext>
            </a:extLst>
          </p:cNvPr>
          <p:cNvSpPr/>
          <p:nvPr/>
        </p:nvSpPr>
        <p:spPr>
          <a:xfrm>
            <a:off x="7956179" y="50456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33" name="Прямая со стрелкой 32">
            <a:extLst>
              <a:ext uri="{FF2B5EF4-FFF2-40B4-BE49-F238E27FC236}">
                <a16:creationId xmlns:a16="http://schemas.microsoft.com/office/drawing/2014/main" id="{13C7FE66-15B3-4B46-810B-7329066E92A1}"/>
              </a:ext>
            </a:extLst>
          </p:cNvPr>
          <p:cNvCxnSpPr>
            <a:stCxn id="14" idx="5"/>
            <a:endCxn id="31" idx="0"/>
          </p:cNvCxnSpPr>
          <p:nvPr/>
        </p:nvCxnSpPr>
        <p:spPr>
          <a:xfrm>
            <a:off x="7822268" y="4560476"/>
            <a:ext cx="591111"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Овал 22">
            <a:extLst>
              <a:ext uri="{FF2B5EF4-FFF2-40B4-BE49-F238E27FC236}">
                <a16:creationId xmlns:a16="http://schemas.microsoft.com/office/drawing/2014/main" id="{FA7C4BD5-7D86-408F-B822-650833A59FA2}"/>
              </a:ext>
            </a:extLst>
          </p:cNvPr>
          <p:cNvSpPr/>
          <p:nvPr/>
        </p:nvSpPr>
        <p:spPr>
          <a:xfrm>
            <a:off x="1991295" y="580294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B050"/>
                </a:solidFill>
              </a:rPr>
              <a:t>5</a:t>
            </a:r>
          </a:p>
        </p:txBody>
      </p:sp>
      <p:cxnSp>
        <p:nvCxnSpPr>
          <p:cNvPr id="24" name="Прямая со стрелкой 23">
            <a:extLst>
              <a:ext uri="{FF2B5EF4-FFF2-40B4-BE49-F238E27FC236}">
                <a16:creationId xmlns:a16="http://schemas.microsoft.com/office/drawing/2014/main" id="{9E2611EF-BFA8-4D4E-9319-5CA80C24FDBA}"/>
              </a:ext>
            </a:extLst>
          </p:cNvPr>
          <p:cNvCxnSpPr>
            <a:cxnSpLocks/>
            <a:stCxn id="21" idx="3"/>
            <a:endCxn id="23" idx="7"/>
          </p:cNvCxnSpPr>
          <p:nvPr/>
        </p:nvCxnSpPr>
        <p:spPr>
          <a:xfrm flipH="1">
            <a:off x="2771783" y="5826165"/>
            <a:ext cx="650174" cy="1106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Прямоугольник: скругленные углы 26">
            <a:extLst>
              <a:ext uri="{FF2B5EF4-FFF2-40B4-BE49-F238E27FC236}">
                <a16:creationId xmlns:a16="http://schemas.microsoft.com/office/drawing/2014/main" id="{CBD49BCC-6BE3-4ED2-9EF4-A8F62D5D0A29}"/>
              </a:ext>
            </a:extLst>
          </p:cNvPr>
          <p:cNvSpPr/>
          <p:nvPr/>
        </p:nvSpPr>
        <p:spPr>
          <a:xfrm>
            <a:off x="7956179" y="1499276"/>
            <a:ext cx="3388658" cy="114045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Сложность вставки</a:t>
            </a:r>
            <a:r>
              <a:rPr lang="en-US" dirty="0"/>
              <a:t>: O(log(n))</a:t>
            </a:r>
            <a:endParaRPr lang="ru-RU" dirty="0"/>
          </a:p>
        </p:txBody>
      </p:sp>
      <p:sp>
        <p:nvSpPr>
          <p:cNvPr id="29" name="Прямоугольник: скругленные углы 28">
            <a:extLst>
              <a:ext uri="{FF2B5EF4-FFF2-40B4-BE49-F238E27FC236}">
                <a16:creationId xmlns:a16="http://schemas.microsoft.com/office/drawing/2014/main" id="{F1DAB34F-2348-46A1-AB7D-442A1EBD2B3E}"/>
              </a:ext>
            </a:extLst>
          </p:cNvPr>
          <p:cNvSpPr/>
          <p:nvPr/>
        </p:nvSpPr>
        <p:spPr>
          <a:xfrm>
            <a:off x="7956179" y="2706483"/>
            <a:ext cx="3388658" cy="114045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Сложность вставки (худший случай)</a:t>
            </a:r>
            <a:r>
              <a:rPr lang="en-US" dirty="0"/>
              <a:t>: O(n)</a:t>
            </a:r>
            <a:endParaRPr lang="ru-RU" dirty="0"/>
          </a:p>
        </p:txBody>
      </p:sp>
    </p:spTree>
    <p:extLst>
      <p:ext uri="{BB962C8B-B14F-4D97-AF65-F5344CB8AC3E}">
        <p14:creationId xmlns:p14="http://schemas.microsoft.com/office/powerpoint/2010/main" val="2628699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Удаление зависит от положения узла в дереве</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9" name="Прямоугольник: скругленные углы 8">
            <a:extLst>
              <a:ext uri="{FF2B5EF4-FFF2-40B4-BE49-F238E27FC236}">
                <a16:creationId xmlns:a16="http://schemas.microsoft.com/office/drawing/2014/main" id="{51F9CAAD-9977-4C1C-BCC8-30D3C466ED65}"/>
              </a:ext>
            </a:extLst>
          </p:cNvPr>
          <p:cNvSpPr/>
          <p:nvPr/>
        </p:nvSpPr>
        <p:spPr>
          <a:xfrm>
            <a:off x="6507256" y="1412855"/>
            <a:ext cx="4785286" cy="995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Удаление узла с одним потомком</a:t>
            </a:r>
          </a:p>
        </p:txBody>
      </p:sp>
      <p:sp>
        <p:nvSpPr>
          <p:cNvPr id="10" name="Прямоугольник: скругленные углы 9">
            <a:extLst>
              <a:ext uri="{FF2B5EF4-FFF2-40B4-BE49-F238E27FC236}">
                <a16:creationId xmlns:a16="http://schemas.microsoft.com/office/drawing/2014/main" id="{75EBB17F-9541-4BD4-9D31-EAF558CB6B64}"/>
              </a:ext>
            </a:extLst>
          </p:cNvPr>
          <p:cNvSpPr/>
          <p:nvPr/>
        </p:nvSpPr>
        <p:spPr>
          <a:xfrm>
            <a:off x="899458" y="1412854"/>
            <a:ext cx="4785286" cy="995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t>Удаление листа</a:t>
            </a:r>
          </a:p>
        </p:txBody>
      </p:sp>
      <p:sp>
        <p:nvSpPr>
          <p:cNvPr id="11" name="Овал 10">
            <a:extLst>
              <a:ext uri="{FF2B5EF4-FFF2-40B4-BE49-F238E27FC236}">
                <a16:creationId xmlns:a16="http://schemas.microsoft.com/office/drawing/2014/main" id="{15A6EA99-F6D6-4547-B2CA-1130B8FE6B20}"/>
              </a:ext>
            </a:extLst>
          </p:cNvPr>
          <p:cNvSpPr/>
          <p:nvPr/>
        </p:nvSpPr>
        <p:spPr>
          <a:xfrm>
            <a:off x="1127124" y="255331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12" name="Овал 11">
            <a:extLst>
              <a:ext uri="{FF2B5EF4-FFF2-40B4-BE49-F238E27FC236}">
                <a16:creationId xmlns:a16="http://schemas.microsoft.com/office/drawing/2014/main" id="{857A646F-9D93-48EA-99A1-9ACEE2D5FA8F}"/>
              </a:ext>
            </a:extLst>
          </p:cNvPr>
          <p:cNvSpPr/>
          <p:nvPr/>
        </p:nvSpPr>
        <p:spPr>
          <a:xfrm>
            <a:off x="413592" y="362710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13" name="Овал 12">
            <a:extLst>
              <a:ext uri="{FF2B5EF4-FFF2-40B4-BE49-F238E27FC236}">
                <a16:creationId xmlns:a16="http://schemas.microsoft.com/office/drawing/2014/main" id="{1AD68ABC-3B7D-45EF-A6CE-FCE1D225CB54}"/>
              </a:ext>
            </a:extLst>
          </p:cNvPr>
          <p:cNvSpPr/>
          <p:nvPr/>
        </p:nvSpPr>
        <p:spPr>
          <a:xfrm>
            <a:off x="1718235" y="362710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15</a:t>
            </a:r>
            <a:endParaRPr lang="ru-RU" dirty="0">
              <a:solidFill>
                <a:srgbClr val="FF0000"/>
              </a:solidFill>
            </a:endParaRPr>
          </a:p>
        </p:txBody>
      </p:sp>
      <p:cxnSp>
        <p:nvCxnSpPr>
          <p:cNvPr id="14" name="Прямая со стрелкой 13">
            <a:extLst>
              <a:ext uri="{FF2B5EF4-FFF2-40B4-BE49-F238E27FC236}">
                <a16:creationId xmlns:a16="http://schemas.microsoft.com/office/drawing/2014/main" id="{038E592A-1BFA-4BC5-A111-00FCC71586C0}"/>
              </a:ext>
            </a:extLst>
          </p:cNvPr>
          <p:cNvCxnSpPr>
            <a:stCxn id="11" idx="3"/>
            <a:endCxn id="12" idx="0"/>
          </p:cNvCxnSpPr>
          <p:nvPr/>
        </p:nvCxnSpPr>
        <p:spPr>
          <a:xfrm flipH="1">
            <a:off x="870792" y="3333801"/>
            <a:ext cx="39024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D9B73AA1-9344-48ED-8317-C849D76B1539}"/>
              </a:ext>
            </a:extLst>
          </p:cNvPr>
          <p:cNvCxnSpPr>
            <a:cxnSpLocks/>
            <a:stCxn id="11" idx="5"/>
            <a:endCxn id="13" idx="0"/>
          </p:cNvCxnSpPr>
          <p:nvPr/>
        </p:nvCxnSpPr>
        <p:spPr>
          <a:xfrm>
            <a:off x="1907612" y="3333801"/>
            <a:ext cx="26782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Овал 19">
            <a:extLst>
              <a:ext uri="{FF2B5EF4-FFF2-40B4-BE49-F238E27FC236}">
                <a16:creationId xmlns:a16="http://schemas.microsoft.com/office/drawing/2014/main" id="{8F0AB1BE-69FC-4E5D-A359-41779C464173}"/>
              </a:ext>
            </a:extLst>
          </p:cNvPr>
          <p:cNvSpPr/>
          <p:nvPr/>
        </p:nvSpPr>
        <p:spPr>
          <a:xfrm>
            <a:off x="4217705" y="255331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21" name="Овал 20">
            <a:extLst>
              <a:ext uri="{FF2B5EF4-FFF2-40B4-BE49-F238E27FC236}">
                <a16:creationId xmlns:a16="http://schemas.microsoft.com/office/drawing/2014/main" id="{6B57354E-7FF3-4F22-BC47-0FDDAFEC4179}"/>
              </a:ext>
            </a:extLst>
          </p:cNvPr>
          <p:cNvSpPr/>
          <p:nvPr/>
        </p:nvSpPr>
        <p:spPr>
          <a:xfrm>
            <a:off x="3504173" y="362710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cxnSp>
        <p:nvCxnSpPr>
          <p:cNvPr id="23" name="Прямая со стрелкой 22">
            <a:extLst>
              <a:ext uri="{FF2B5EF4-FFF2-40B4-BE49-F238E27FC236}">
                <a16:creationId xmlns:a16="http://schemas.microsoft.com/office/drawing/2014/main" id="{5ED38AF4-3F40-4117-8F27-6BF883607AC4}"/>
              </a:ext>
            </a:extLst>
          </p:cNvPr>
          <p:cNvCxnSpPr>
            <a:stCxn id="20" idx="3"/>
            <a:endCxn id="21" idx="0"/>
          </p:cNvCxnSpPr>
          <p:nvPr/>
        </p:nvCxnSpPr>
        <p:spPr>
          <a:xfrm flipH="1">
            <a:off x="3961373" y="3333801"/>
            <a:ext cx="39024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a:extLst>
              <a:ext uri="{FF2B5EF4-FFF2-40B4-BE49-F238E27FC236}">
                <a16:creationId xmlns:a16="http://schemas.microsoft.com/office/drawing/2014/main" id="{431BF2AC-F497-4C96-9478-960A36523446}"/>
              </a:ext>
            </a:extLst>
          </p:cNvPr>
          <p:cNvCxnSpPr/>
          <p:nvPr/>
        </p:nvCxnSpPr>
        <p:spPr>
          <a:xfrm>
            <a:off x="2632634" y="3333801"/>
            <a:ext cx="90095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Овал 26">
            <a:extLst>
              <a:ext uri="{FF2B5EF4-FFF2-40B4-BE49-F238E27FC236}">
                <a16:creationId xmlns:a16="http://schemas.microsoft.com/office/drawing/2014/main" id="{2A151311-06E8-4E97-83EF-B60A6F579D08}"/>
              </a:ext>
            </a:extLst>
          </p:cNvPr>
          <p:cNvSpPr/>
          <p:nvPr/>
        </p:nvSpPr>
        <p:spPr>
          <a:xfrm>
            <a:off x="7059898" y="251460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28" name="Овал 27">
            <a:extLst>
              <a:ext uri="{FF2B5EF4-FFF2-40B4-BE49-F238E27FC236}">
                <a16:creationId xmlns:a16="http://schemas.microsoft.com/office/drawing/2014/main" id="{5956BFD8-CF57-4F7B-A4AC-4573AD422884}"/>
              </a:ext>
            </a:extLst>
          </p:cNvPr>
          <p:cNvSpPr/>
          <p:nvPr/>
        </p:nvSpPr>
        <p:spPr>
          <a:xfrm>
            <a:off x="6346366" y="358839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3</a:t>
            </a:r>
            <a:endParaRPr lang="ru-RU" dirty="0">
              <a:solidFill>
                <a:srgbClr val="FF0000"/>
              </a:solidFill>
            </a:endParaRPr>
          </a:p>
        </p:txBody>
      </p:sp>
      <p:sp>
        <p:nvSpPr>
          <p:cNvPr id="29" name="Овал 28">
            <a:extLst>
              <a:ext uri="{FF2B5EF4-FFF2-40B4-BE49-F238E27FC236}">
                <a16:creationId xmlns:a16="http://schemas.microsoft.com/office/drawing/2014/main" id="{AFEAC969-45D3-4BF0-9FD7-186DE14E49AD}"/>
              </a:ext>
            </a:extLst>
          </p:cNvPr>
          <p:cNvSpPr/>
          <p:nvPr/>
        </p:nvSpPr>
        <p:spPr>
          <a:xfrm>
            <a:off x="7651009" y="358839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cxnSp>
        <p:nvCxnSpPr>
          <p:cNvPr id="30" name="Прямая со стрелкой 29">
            <a:extLst>
              <a:ext uri="{FF2B5EF4-FFF2-40B4-BE49-F238E27FC236}">
                <a16:creationId xmlns:a16="http://schemas.microsoft.com/office/drawing/2014/main" id="{501180CA-4D92-415A-8C5C-62C79232BABC}"/>
              </a:ext>
            </a:extLst>
          </p:cNvPr>
          <p:cNvCxnSpPr>
            <a:stCxn id="27" idx="3"/>
            <a:endCxn id="28" idx="0"/>
          </p:cNvCxnSpPr>
          <p:nvPr/>
        </p:nvCxnSpPr>
        <p:spPr>
          <a:xfrm flipH="1">
            <a:off x="6803566" y="3295089"/>
            <a:ext cx="39024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5289CC2D-D4D7-4D61-BC13-ECEFCC22F650}"/>
              </a:ext>
            </a:extLst>
          </p:cNvPr>
          <p:cNvCxnSpPr>
            <a:cxnSpLocks/>
            <a:stCxn id="27" idx="5"/>
            <a:endCxn id="29" idx="0"/>
          </p:cNvCxnSpPr>
          <p:nvPr/>
        </p:nvCxnSpPr>
        <p:spPr>
          <a:xfrm>
            <a:off x="7840386" y="3295089"/>
            <a:ext cx="26782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a:extLst>
              <a:ext uri="{FF2B5EF4-FFF2-40B4-BE49-F238E27FC236}">
                <a16:creationId xmlns:a16="http://schemas.microsoft.com/office/drawing/2014/main" id="{74888724-BE4B-45C8-8BAE-6EA5AF70C89C}"/>
              </a:ext>
            </a:extLst>
          </p:cNvPr>
          <p:cNvCxnSpPr>
            <a:cxnSpLocks/>
            <a:stCxn id="28" idx="4"/>
            <a:endCxn id="35" idx="0"/>
          </p:cNvCxnSpPr>
          <p:nvPr/>
        </p:nvCxnSpPr>
        <p:spPr>
          <a:xfrm flipH="1">
            <a:off x="6803565" y="4502790"/>
            <a:ext cx="1" cy="47847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A1657194-1843-435C-89C0-D07B74AA9A37}"/>
              </a:ext>
            </a:extLst>
          </p:cNvPr>
          <p:cNvSpPr/>
          <p:nvPr/>
        </p:nvSpPr>
        <p:spPr>
          <a:xfrm>
            <a:off x="6346365" y="498126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6</a:t>
            </a:r>
          </a:p>
        </p:txBody>
      </p:sp>
      <p:sp>
        <p:nvSpPr>
          <p:cNvPr id="38" name="Овал 37">
            <a:extLst>
              <a:ext uri="{FF2B5EF4-FFF2-40B4-BE49-F238E27FC236}">
                <a16:creationId xmlns:a16="http://schemas.microsoft.com/office/drawing/2014/main" id="{4E6E092D-89D0-4F52-8A87-56020EA4E39D}"/>
              </a:ext>
            </a:extLst>
          </p:cNvPr>
          <p:cNvSpPr/>
          <p:nvPr/>
        </p:nvSpPr>
        <p:spPr>
          <a:xfrm>
            <a:off x="10060098" y="255331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8</a:t>
            </a:r>
            <a:endParaRPr lang="ru-RU" dirty="0">
              <a:solidFill>
                <a:srgbClr val="002060"/>
              </a:solidFill>
            </a:endParaRPr>
          </a:p>
        </p:txBody>
      </p:sp>
      <p:sp>
        <p:nvSpPr>
          <p:cNvPr id="39" name="Овал 38">
            <a:extLst>
              <a:ext uri="{FF2B5EF4-FFF2-40B4-BE49-F238E27FC236}">
                <a16:creationId xmlns:a16="http://schemas.microsoft.com/office/drawing/2014/main" id="{449E02B6-7626-4D01-8052-91F1FBEAF85F}"/>
              </a:ext>
            </a:extLst>
          </p:cNvPr>
          <p:cNvSpPr/>
          <p:nvPr/>
        </p:nvSpPr>
        <p:spPr>
          <a:xfrm>
            <a:off x="9346566" y="362710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6</a:t>
            </a:r>
          </a:p>
        </p:txBody>
      </p:sp>
      <p:sp>
        <p:nvSpPr>
          <p:cNvPr id="40" name="Овал 39">
            <a:extLst>
              <a:ext uri="{FF2B5EF4-FFF2-40B4-BE49-F238E27FC236}">
                <a16:creationId xmlns:a16="http://schemas.microsoft.com/office/drawing/2014/main" id="{4727068C-3DB8-43EF-82F3-A167E308CC23}"/>
              </a:ext>
            </a:extLst>
          </p:cNvPr>
          <p:cNvSpPr/>
          <p:nvPr/>
        </p:nvSpPr>
        <p:spPr>
          <a:xfrm>
            <a:off x="10651209" y="362710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cxnSp>
        <p:nvCxnSpPr>
          <p:cNvPr id="41" name="Прямая со стрелкой 40">
            <a:extLst>
              <a:ext uri="{FF2B5EF4-FFF2-40B4-BE49-F238E27FC236}">
                <a16:creationId xmlns:a16="http://schemas.microsoft.com/office/drawing/2014/main" id="{D1624C15-2197-4A86-BF8F-E33D84F8C6FB}"/>
              </a:ext>
            </a:extLst>
          </p:cNvPr>
          <p:cNvCxnSpPr>
            <a:stCxn id="38" idx="3"/>
            <a:endCxn id="39" idx="0"/>
          </p:cNvCxnSpPr>
          <p:nvPr/>
        </p:nvCxnSpPr>
        <p:spPr>
          <a:xfrm flipH="1">
            <a:off x="9803766" y="3333801"/>
            <a:ext cx="39024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a:extLst>
              <a:ext uri="{FF2B5EF4-FFF2-40B4-BE49-F238E27FC236}">
                <a16:creationId xmlns:a16="http://schemas.microsoft.com/office/drawing/2014/main" id="{3C00A711-DF28-4D51-A380-94EC20535344}"/>
              </a:ext>
            </a:extLst>
          </p:cNvPr>
          <p:cNvCxnSpPr>
            <a:cxnSpLocks/>
            <a:stCxn id="38" idx="5"/>
            <a:endCxn id="40" idx="0"/>
          </p:cNvCxnSpPr>
          <p:nvPr/>
        </p:nvCxnSpPr>
        <p:spPr>
          <a:xfrm>
            <a:off x="10840586" y="3333801"/>
            <a:ext cx="267823" cy="2933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3D85D0F2-C41B-41A7-8D04-B73CFA5C477C}"/>
              </a:ext>
            </a:extLst>
          </p:cNvPr>
          <p:cNvCxnSpPr/>
          <p:nvPr/>
        </p:nvCxnSpPr>
        <p:spPr>
          <a:xfrm>
            <a:off x="8565408" y="3365177"/>
            <a:ext cx="90095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297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Как удалить узел с двумя потомками</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33" name="Овал 32">
            <a:extLst>
              <a:ext uri="{FF2B5EF4-FFF2-40B4-BE49-F238E27FC236}">
                <a16:creationId xmlns:a16="http://schemas.microsoft.com/office/drawing/2014/main" id="{40DF3A74-CF58-4E4A-A761-0AD762E31792}"/>
              </a:ext>
            </a:extLst>
          </p:cNvPr>
          <p:cNvSpPr/>
          <p:nvPr/>
        </p:nvSpPr>
        <p:spPr>
          <a:xfrm>
            <a:off x="2913532" y="12811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25AA1065-9AED-4FFD-B7B7-E883438311FF}"/>
              </a:ext>
            </a:extLst>
          </p:cNvPr>
          <p:cNvSpPr/>
          <p:nvPr/>
        </p:nvSpPr>
        <p:spPr>
          <a:xfrm>
            <a:off x="1999133"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3</a:t>
            </a:r>
            <a:endParaRPr lang="ru-RU" dirty="0">
              <a:solidFill>
                <a:srgbClr val="FF0000"/>
              </a:solidFill>
            </a:endParaRPr>
          </a:p>
        </p:txBody>
      </p:sp>
      <p:sp>
        <p:nvSpPr>
          <p:cNvPr id="36" name="Овал 35">
            <a:extLst>
              <a:ext uri="{FF2B5EF4-FFF2-40B4-BE49-F238E27FC236}">
                <a16:creationId xmlns:a16="http://schemas.microsoft.com/office/drawing/2014/main" id="{F03483CD-DD5B-47B6-8A8B-CEBAFCCC3E2A}"/>
              </a:ext>
            </a:extLst>
          </p:cNvPr>
          <p:cNvSpPr/>
          <p:nvPr/>
        </p:nvSpPr>
        <p:spPr>
          <a:xfrm>
            <a:off x="3827931"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7" name="Овал 36">
            <a:extLst>
              <a:ext uri="{FF2B5EF4-FFF2-40B4-BE49-F238E27FC236}">
                <a16:creationId xmlns:a16="http://schemas.microsoft.com/office/drawing/2014/main" id="{70C5A130-489A-4178-AF33-727CB587BDD3}"/>
              </a:ext>
            </a:extLst>
          </p:cNvPr>
          <p:cNvSpPr/>
          <p:nvPr/>
        </p:nvSpPr>
        <p:spPr>
          <a:xfrm>
            <a:off x="815790"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43" name="Овал 42">
            <a:extLst>
              <a:ext uri="{FF2B5EF4-FFF2-40B4-BE49-F238E27FC236}">
                <a16:creationId xmlns:a16="http://schemas.microsoft.com/office/drawing/2014/main" id="{3B741037-E257-4965-A4BB-4A4B1EEE2B6F}"/>
              </a:ext>
            </a:extLst>
          </p:cNvPr>
          <p:cNvSpPr/>
          <p:nvPr/>
        </p:nvSpPr>
        <p:spPr>
          <a:xfrm>
            <a:off x="1999133" y="33227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6</a:t>
            </a:r>
            <a:endParaRPr lang="ru-RU" dirty="0"/>
          </a:p>
        </p:txBody>
      </p:sp>
      <p:sp>
        <p:nvSpPr>
          <p:cNvPr id="44" name="Овал 43">
            <a:extLst>
              <a:ext uri="{FF2B5EF4-FFF2-40B4-BE49-F238E27FC236}">
                <a16:creationId xmlns:a16="http://schemas.microsoft.com/office/drawing/2014/main" id="{D1880912-7129-4292-9991-86AB0FCED375}"/>
              </a:ext>
            </a:extLst>
          </p:cNvPr>
          <p:cNvSpPr/>
          <p:nvPr/>
        </p:nvSpPr>
        <p:spPr>
          <a:xfrm>
            <a:off x="3827931" y="33227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46" name="Овал 45">
            <a:extLst>
              <a:ext uri="{FF2B5EF4-FFF2-40B4-BE49-F238E27FC236}">
                <a16:creationId xmlns:a16="http://schemas.microsoft.com/office/drawing/2014/main" id="{B8FAA7CA-BFC2-49F9-9717-0BECFA09B193}"/>
              </a:ext>
            </a:extLst>
          </p:cNvPr>
          <p:cNvSpPr/>
          <p:nvPr/>
        </p:nvSpPr>
        <p:spPr>
          <a:xfrm>
            <a:off x="5011274"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7" name="Прямая со стрелкой 46">
            <a:extLst>
              <a:ext uri="{FF2B5EF4-FFF2-40B4-BE49-F238E27FC236}">
                <a16:creationId xmlns:a16="http://schemas.microsoft.com/office/drawing/2014/main" id="{AFD94F96-7D00-415B-9719-D66771F102E0}"/>
              </a:ext>
            </a:extLst>
          </p:cNvPr>
          <p:cNvCxnSpPr>
            <a:stCxn id="33" idx="3"/>
            <a:endCxn id="34" idx="0"/>
          </p:cNvCxnSpPr>
          <p:nvPr/>
        </p:nvCxnSpPr>
        <p:spPr>
          <a:xfrm flipH="1">
            <a:off x="2456333" y="20616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BDC558F2-8F23-4538-BAE2-13F457917C77}"/>
              </a:ext>
            </a:extLst>
          </p:cNvPr>
          <p:cNvCxnSpPr>
            <a:cxnSpLocks/>
            <a:stCxn id="33" idx="5"/>
            <a:endCxn id="36" idx="0"/>
          </p:cNvCxnSpPr>
          <p:nvPr/>
        </p:nvCxnSpPr>
        <p:spPr>
          <a:xfrm>
            <a:off x="3694020" y="20616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F1810D46-6655-45EC-A6D5-A7C346E4ECD5}"/>
              </a:ext>
            </a:extLst>
          </p:cNvPr>
          <p:cNvCxnSpPr>
            <a:cxnSpLocks/>
            <a:stCxn id="34" idx="3"/>
            <a:endCxn id="37" idx="0"/>
          </p:cNvCxnSpPr>
          <p:nvPr/>
        </p:nvCxnSpPr>
        <p:spPr>
          <a:xfrm flipH="1">
            <a:off x="1272990" y="29714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4AAC6406-8687-44C7-8009-0D13C9C2FCB7}"/>
              </a:ext>
            </a:extLst>
          </p:cNvPr>
          <p:cNvCxnSpPr>
            <a:cxnSpLocks/>
            <a:stCxn id="34" idx="4"/>
            <a:endCxn id="43" idx="0"/>
          </p:cNvCxnSpPr>
          <p:nvPr/>
        </p:nvCxnSpPr>
        <p:spPr>
          <a:xfrm>
            <a:off x="2456333" y="31054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0C540E69-63D3-47BC-B946-E49AAC4558DD}"/>
              </a:ext>
            </a:extLst>
          </p:cNvPr>
          <p:cNvCxnSpPr>
            <a:cxnSpLocks/>
            <a:stCxn id="36" idx="4"/>
            <a:endCxn id="44" idx="0"/>
          </p:cNvCxnSpPr>
          <p:nvPr/>
        </p:nvCxnSpPr>
        <p:spPr>
          <a:xfrm>
            <a:off x="4285131" y="31054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1A9AD4C-F6D6-4E73-9488-1370A25FCC2E}"/>
              </a:ext>
            </a:extLst>
          </p:cNvPr>
          <p:cNvCxnSpPr>
            <a:cxnSpLocks/>
            <a:stCxn id="36" idx="5"/>
            <a:endCxn id="46" idx="0"/>
          </p:cNvCxnSpPr>
          <p:nvPr/>
        </p:nvCxnSpPr>
        <p:spPr>
          <a:xfrm>
            <a:off x="4608419" y="29714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Овал 52">
            <a:extLst>
              <a:ext uri="{FF2B5EF4-FFF2-40B4-BE49-F238E27FC236}">
                <a16:creationId xmlns:a16="http://schemas.microsoft.com/office/drawing/2014/main" id="{176A9C07-4317-4066-99DC-80328B57F1EA}"/>
              </a:ext>
            </a:extLst>
          </p:cNvPr>
          <p:cNvSpPr/>
          <p:nvPr/>
        </p:nvSpPr>
        <p:spPr>
          <a:xfrm>
            <a:off x="1257540" y="45884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a:t>
            </a:r>
            <a:endParaRPr lang="ru-RU" dirty="0"/>
          </a:p>
        </p:txBody>
      </p:sp>
      <p:sp>
        <p:nvSpPr>
          <p:cNvPr id="54" name="Овал 53">
            <a:extLst>
              <a:ext uri="{FF2B5EF4-FFF2-40B4-BE49-F238E27FC236}">
                <a16:creationId xmlns:a16="http://schemas.microsoft.com/office/drawing/2014/main" id="{8493AC91-7910-4AC2-BB0D-D70AED7C454C}"/>
              </a:ext>
            </a:extLst>
          </p:cNvPr>
          <p:cNvSpPr/>
          <p:nvPr/>
        </p:nvSpPr>
        <p:spPr>
          <a:xfrm>
            <a:off x="2554291" y="45884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a:t>
            </a:r>
            <a:endParaRPr lang="ru-RU" dirty="0"/>
          </a:p>
        </p:txBody>
      </p:sp>
      <p:cxnSp>
        <p:nvCxnSpPr>
          <p:cNvPr id="55" name="Прямая со стрелкой 54">
            <a:extLst>
              <a:ext uri="{FF2B5EF4-FFF2-40B4-BE49-F238E27FC236}">
                <a16:creationId xmlns:a16="http://schemas.microsoft.com/office/drawing/2014/main" id="{8D94E997-8C2F-4A89-AB9E-C739469C7C03}"/>
              </a:ext>
            </a:extLst>
          </p:cNvPr>
          <p:cNvCxnSpPr>
            <a:cxnSpLocks/>
            <a:stCxn id="43" idx="3"/>
            <a:endCxn id="53" idx="0"/>
          </p:cNvCxnSpPr>
          <p:nvPr/>
        </p:nvCxnSpPr>
        <p:spPr>
          <a:xfrm flipH="1">
            <a:off x="1714740" y="41032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a:extLst>
              <a:ext uri="{FF2B5EF4-FFF2-40B4-BE49-F238E27FC236}">
                <a16:creationId xmlns:a16="http://schemas.microsoft.com/office/drawing/2014/main" id="{164B8B43-FFAA-4308-A9B8-36BB632916D6}"/>
              </a:ext>
            </a:extLst>
          </p:cNvPr>
          <p:cNvCxnSpPr>
            <a:cxnSpLocks/>
            <a:stCxn id="43" idx="5"/>
            <a:endCxn id="54" idx="0"/>
          </p:cNvCxnSpPr>
          <p:nvPr/>
        </p:nvCxnSpPr>
        <p:spPr>
          <a:xfrm>
            <a:off x="2779621" y="41032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Овал 56">
            <a:extLst>
              <a:ext uri="{FF2B5EF4-FFF2-40B4-BE49-F238E27FC236}">
                <a16:creationId xmlns:a16="http://schemas.microsoft.com/office/drawing/2014/main" id="{F4F42673-BC0E-43E1-9FEA-86D74A54C59C}"/>
              </a:ext>
            </a:extLst>
          </p:cNvPr>
          <p:cNvSpPr/>
          <p:nvPr/>
        </p:nvSpPr>
        <p:spPr>
          <a:xfrm>
            <a:off x="5320555" y="45884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58" name="Прямая со стрелкой 57">
            <a:extLst>
              <a:ext uri="{FF2B5EF4-FFF2-40B4-BE49-F238E27FC236}">
                <a16:creationId xmlns:a16="http://schemas.microsoft.com/office/drawing/2014/main" id="{87A6ED7B-9059-429B-BF2B-FC1090EEA785}"/>
              </a:ext>
            </a:extLst>
          </p:cNvPr>
          <p:cNvCxnSpPr>
            <a:stCxn id="46" idx="5"/>
            <a:endCxn id="57" idx="0"/>
          </p:cNvCxnSpPr>
          <p:nvPr/>
        </p:nvCxnSpPr>
        <p:spPr>
          <a:xfrm flipH="1">
            <a:off x="5777755" y="4103276"/>
            <a:ext cx="14007"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Прямоугольник: скругленные углы 4">
            <a:extLst>
              <a:ext uri="{FF2B5EF4-FFF2-40B4-BE49-F238E27FC236}">
                <a16:creationId xmlns:a16="http://schemas.microsoft.com/office/drawing/2014/main" id="{11A66003-0056-477E-9A75-44C2CC852CE3}"/>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dirty="0">
                <a:solidFill>
                  <a:srgbClr val="FF0000"/>
                </a:solidFill>
              </a:rPr>
              <a:t>Находим удаляемый узел X.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Переходим в его правое поддерево.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Идём как можно дальше влево.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Получаем минимальный элемент правого поддерева.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Копируем его значение в удаляемый узел.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Удаляем найденный элемент из его старого места. </a:t>
            </a:r>
          </a:p>
          <a:p>
            <a:pPr algn="ctr"/>
            <a:endParaRPr lang="ru-RU" dirty="0"/>
          </a:p>
        </p:txBody>
      </p:sp>
      <p:sp>
        <p:nvSpPr>
          <p:cNvPr id="4" name="Прямоугольник: скругленные углы 3">
            <a:extLst>
              <a:ext uri="{FF2B5EF4-FFF2-40B4-BE49-F238E27FC236}">
                <a16:creationId xmlns:a16="http://schemas.microsoft.com/office/drawing/2014/main" id="{E0781B31-6DFA-457B-9550-49E375C13A6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через минимальный элемент справа</a:t>
            </a:r>
          </a:p>
        </p:txBody>
      </p:sp>
    </p:spTree>
    <p:extLst>
      <p:ext uri="{BB962C8B-B14F-4D97-AF65-F5344CB8AC3E}">
        <p14:creationId xmlns:p14="http://schemas.microsoft.com/office/powerpoint/2010/main" val="3736835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Как удалить узел с двумя потомками</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33" name="Овал 32">
            <a:extLst>
              <a:ext uri="{FF2B5EF4-FFF2-40B4-BE49-F238E27FC236}">
                <a16:creationId xmlns:a16="http://schemas.microsoft.com/office/drawing/2014/main" id="{40DF3A74-CF58-4E4A-A761-0AD762E31792}"/>
              </a:ext>
            </a:extLst>
          </p:cNvPr>
          <p:cNvSpPr/>
          <p:nvPr/>
        </p:nvSpPr>
        <p:spPr>
          <a:xfrm>
            <a:off x="2913532" y="12811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25AA1065-9AED-4FFD-B7B7-E883438311FF}"/>
              </a:ext>
            </a:extLst>
          </p:cNvPr>
          <p:cNvSpPr/>
          <p:nvPr/>
        </p:nvSpPr>
        <p:spPr>
          <a:xfrm>
            <a:off x="1999133"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36" name="Овал 35">
            <a:extLst>
              <a:ext uri="{FF2B5EF4-FFF2-40B4-BE49-F238E27FC236}">
                <a16:creationId xmlns:a16="http://schemas.microsoft.com/office/drawing/2014/main" id="{F03483CD-DD5B-47B6-8A8B-CEBAFCCC3E2A}"/>
              </a:ext>
            </a:extLst>
          </p:cNvPr>
          <p:cNvSpPr/>
          <p:nvPr/>
        </p:nvSpPr>
        <p:spPr>
          <a:xfrm>
            <a:off x="3827931"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7" name="Овал 36">
            <a:extLst>
              <a:ext uri="{FF2B5EF4-FFF2-40B4-BE49-F238E27FC236}">
                <a16:creationId xmlns:a16="http://schemas.microsoft.com/office/drawing/2014/main" id="{70C5A130-489A-4178-AF33-727CB587BDD3}"/>
              </a:ext>
            </a:extLst>
          </p:cNvPr>
          <p:cNvSpPr/>
          <p:nvPr/>
        </p:nvSpPr>
        <p:spPr>
          <a:xfrm>
            <a:off x="815790"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43" name="Овал 42">
            <a:extLst>
              <a:ext uri="{FF2B5EF4-FFF2-40B4-BE49-F238E27FC236}">
                <a16:creationId xmlns:a16="http://schemas.microsoft.com/office/drawing/2014/main" id="{3B741037-E257-4965-A4BB-4A4B1EEE2B6F}"/>
              </a:ext>
            </a:extLst>
          </p:cNvPr>
          <p:cNvSpPr/>
          <p:nvPr/>
        </p:nvSpPr>
        <p:spPr>
          <a:xfrm>
            <a:off x="1999133" y="33227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6</a:t>
            </a:r>
            <a:endParaRPr lang="ru-RU" dirty="0">
              <a:solidFill>
                <a:srgbClr val="FF0000"/>
              </a:solidFill>
            </a:endParaRPr>
          </a:p>
        </p:txBody>
      </p:sp>
      <p:sp>
        <p:nvSpPr>
          <p:cNvPr id="44" name="Овал 43">
            <a:extLst>
              <a:ext uri="{FF2B5EF4-FFF2-40B4-BE49-F238E27FC236}">
                <a16:creationId xmlns:a16="http://schemas.microsoft.com/office/drawing/2014/main" id="{D1880912-7129-4292-9991-86AB0FCED375}"/>
              </a:ext>
            </a:extLst>
          </p:cNvPr>
          <p:cNvSpPr/>
          <p:nvPr/>
        </p:nvSpPr>
        <p:spPr>
          <a:xfrm>
            <a:off x="3827931" y="33227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46" name="Овал 45">
            <a:extLst>
              <a:ext uri="{FF2B5EF4-FFF2-40B4-BE49-F238E27FC236}">
                <a16:creationId xmlns:a16="http://schemas.microsoft.com/office/drawing/2014/main" id="{B8FAA7CA-BFC2-49F9-9717-0BECFA09B193}"/>
              </a:ext>
            </a:extLst>
          </p:cNvPr>
          <p:cNvSpPr/>
          <p:nvPr/>
        </p:nvSpPr>
        <p:spPr>
          <a:xfrm>
            <a:off x="5011274"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7" name="Прямая со стрелкой 46">
            <a:extLst>
              <a:ext uri="{FF2B5EF4-FFF2-40B4-BE49-F238E27FC236}">
                <a16:creationId xmlns:a16="http://schemas.microsoft.com/office/drawing/2014/main" id="{AFD94F96-7D00-415B-9719-D66771F102E0}"/>
              </a:ext>
            </a:extLst>
          </p:cNvPr>
          <p:cNvCxnSpPr>
            <a:stCxn id="33" idx="3"/>
            <a:endCxn id="34" idx="0"/>
          </p:cNvCxnSpPr>
          <p:nvPr/>
        </p:nvCxnSpPr>
        <p:spPr>
          <a:xfrm flipH="1">
            <a:off x="2456333" y="20616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BDC558F2-8F23-4538-BAE2-13F457917C77}"/>
              </a:ext>
            </a:extLst>
          </p:cNvPr>
          <p:cNvCxnSpPr>
            <a:cxnSpLocks/>
            <a:stCxn id="33" idx="5"/>
            <a:endCxn id="36" idx="0"/>
          </p:cNvCxnSpPr>
          <p:nvPr/>
        </p:nvCxnSpPr>
        <p:spPr>
          <a:xfrm>
            <a:off x="3694020" y="20616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F1810D46-6655-45EC-A6D5-A7C346E4ECD5}"/>
              </a:ext>
            </a:extLst>
          </p:cNvPr>
          <p:cNvCxnSpPr>
            <a:cxnSpLocks/>
            <a:stCxn id="34" idx="3"/>
            <a:endCxn id="37" idx="0"/>
          </p:cNvCxnSpPr>
          <p:nvPr/>
        </p:nvCxnSpPr>
        <p:spPr>
          <a:xfrm flipH="1">
            <a:off x="1272990" y="29714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4AAC6406-8687-44C7-8009-0D13C9C2FCB7}"/>
              </a:ext>
            </a:extLst>
          </p:cNvPr>
          <p:cNvCxnSpPr>
            <a:cxnSpLocks/>
            <a:stCxn id="34" idx="4"/>
            <a:endCxn id="43" idx="0"/>
          </p:cNvCxnSpPr>
          <p:nvPr/>
        </p:nvCxnSpPr>
        <p:spPr>
          <a:xfrm>
            <a:off x="2456333" y="31054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0C540E69-63D3-47BC-B946-E49AAC4558DD}"/>
              </a:ext>
            </a:extLst>
          </p:cNvPr>
          <p:cNvCxnSpPr>
            <a:cxnSpLocks/>
            <a:stCxn id="36" idx="4"/>
            <a:endCxn id="44" idx="0"/>
          </p:cNvCxnSpPr>
          <p:nvPr/>
        </p:nvCxnSpPr>
        <p:spPr>
          <a:xfrm>
            <a:off x="4285131" y="31054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1A9AD4C-F6D6-4E73-9488-1370A25FCC2E}"/>
              </a:ext>
            </a:extLst>
          </p:cNvPr>
          <p:cNvCxnSpPr>
            <a:cxnSpLocks/>
            <a:stCxn id="36" idx="5"/>
            <a:endCxn id="46" idx="0"/>
          </p:cNvCxnSpPr>
          <p:nvPr/>
        </p:nvCxnSpPr>
        <p:spPr>
          <a:xfrm>
            <a:off x="4608419" y="29714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Овал 52">
            <a:extLst>
              <a:ext uri="{FF2B5EF4-FFF2-40B4-BE49-F238E27FC236}">
                <a16:creationId xmlns:a16="http://schemas.microsoft.com/office/drawing/2014/main" id="{176A9C07-4317-4066-99DC-80328B57F1EA}"/>
              </a:ext>
            </a:extLst>
          </p:cNvPr>
          <p:cNvSpPr/>
          <p:nvPr/>
        </p:nvSpPr>
        <p:spPr>
          <a:xfrm>
            <a:off x="1257540" y="45884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4</a:t>
            </a:r>
            <a:endParaRPr lang="ru-RU" dirty="0">
              <a:solidFill>
                <a:srgbClr val="FF0000"/>
              </a:solidFill>
            </a:endParaRPr>
          </a:p>
        </p:txBody>
      </p:sp>
      <p:sp>
        <p:nvSpPr>
          <p:cNvPr id="54" name="Овал 53">
            <a:extLst>
              <a:ext uri="{FF2B5EF4-FFF2-40B4-BE49-F238E27FC236}">
                <a16:creationId xmlns:a16="http://schemas.microsoft.com/office/drawing/2014/main" id="{8493AC91-7910-4AC2-BB0D-D70AED7C454C}"/>
              </a:ext>
            </a:extLst>
          </p:cNvPr>
          <p:cNvSpPr/>
          <p:nvPr/>
        </p:nvSpPr>
        <p:spPr>
          <a:xfrm>
            <a:off x="2554291" y="45884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7</a:t>
            </a:r>
            <a:endParaRPr lang="ru-RU" dirty="0">
              <a:solidFill>
                <a:srgbClr val="FF0000"/>
              </a:solidFill>
            </a:endParaRPr>
          </a:p>
        </p:txBody>
      </p:sp>
      <p:cxnSp>
        <p:nvCxnSpPr>
          <p:cNvPr id="55" name="Прямая со стрелкой 54">
            <a:extLst>
              <a:ext uri="{FF2B5EF4-FFF2-40B4-BE49-F238E27FC236}">
                <a16:creationId xmlns:a16="http://schemas.microsoft.com/office/drawing/2014/main" id="{8D94E997-8C2F-4A89-AB9E-C739469C7C03}"/>
              </a:ext>
            </a:extLst>
          </p:cNvPr>
          <p:cNvCxnSpPr>
            <a:cxnSpLocks/>
            <a:stCxn id="43" idx="3"/>
            <a:endCxn id="53" idx="0"/>
          </p:cNvCxnSpPr>
          <p:nvPr/>
        </p:nvCxnSpPr>
        <p:spPr>
          <a:xfrm flipH="1">
            <a:off x="1714740" y="41032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a:extLst>
              <a:ext uri="{FF2B5EF4-FFF2-40B4-BE49-F238E27FC236}">
                <a16:creationId xmlns:a16="http://schemas.microsoft.com/office/drawing/2014/main" id="{164B8B43-FFAA-4308-A9B8-36BB632916D6}"/>
              </a:ext>
            </a:extLst>
          </p:cNvPr>
          <p:cNvCxnSpPr>
            <a:cxnSpLocks/>
            <a:stCxn id="43" idx="5"/>
            <a:endCxn id="54" idx="0"/>
          </p:cNvCxnSpPr>
          <p:nvPr/>
        </p:nvCxnSpPr>
        <p:spPr>
          <a:xfrm>
            <a:off x="2779621" y="41032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Овал 56">
            <a:extLst>
              <a:ext uri="{FF2B5EF4-FFF2-40B4-BE49-F238E27FC236}">
                <a16:creationId xmlns:a16="http://schemas.microsoft.com/office/drawing/2014/main" id="{F4F42673-BC0E-43E1-9FEA-86D74A54C59C}"/>
              </a:ext>
            </a:extLst>
          </p:cNvPr>
          <p:cNvSpPr/>
          <p:nvPr/>
        </p:nvSpPr>
        <p:spPr>
          <a:xfrm>
            <a:off x="5320555" y="45884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58" name="Прямая со стрелкой 57">
            <a:extLst>
              <a:ext uri="{FF2B5EF4-FFF2-40B4-BE49-F238E27FC236}">
                <a16:creationId xmlns:a16="http://schemas.microsoft.com/office/drawing/2014/main" id="{87A6ED7B-9059-429B-BF2B-FC1090EEA785}"/>
              </a:ext>
            </a:extLst>
          </p:cNvPr>
          <p:cNvCxnSpPr>
            <a:stCxn id="46" idx="5"/>
            <a:endCxn id="57" idx="0"/>
          </p:cNvCxnSpPr>
          <p:nvPr/>
        </p:nvCxnSpPr>
        <p:spPr>
          <a:xfrm flipH="1">
            <a:off x="5777755" y="4103276"/>
            <a:ext cx="14007"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Прямоугольник: скругленные углы 4">
            <a:extLst>
              <a:ext uri="{FF2B5EF4-FFF2-40B4-BE49-F238E27FC236}">
                <a16:creationId xmlns:a16="http://schemas.microsoft.com/office/drawing/2014/main" id="{11A66003-0056-477E-9A75-44C2CC852CE3}"/>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Находим удаляемый узел X. </a:t>
            </a:r>
          </a:p>
          <a:p>
            <a:pPr marL="342900" lvl="0" indent="-342900" rtl="0" eaLnBrk="0" fontAlgn="base" hangingPunct="0">
              <a:spcBef>
                <a:spcPct val="0"/>
              </a:spcBef>
              <a:spcAft>
                <a:spcPct val="0"/>
              </a:spcAft>
              <a:buFont typeface="+mj-lt"/>
              <a:buAutoNum type="arabicPeriod"/>
            </a:pPr>
            <a:r>
              <a:rPr lang="ru-RU" altLang="ru-RU" dirty="0">
                <a:solidFill>
                  <a:srgbClr val="FF0000"/>
                </a:solidFill>
              </a:rPr>
              <a:t>Переходим в его правое поддерево.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Идём как можно дальше влево.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Получаем минимальный элемент правого поддерева.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Копируем его значение в удаляемый узел.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Удаляем найденный элемент из его старого места. </a:t>
            </a:r>
          </a:p>
          <a:p>
            <a:pPr algn="ctr"/>
            <a:endParaRPr lang="ru-RU" dirty="0"/>
          </a:p>
        </p:txBody>
      </p:sp>
      <p:sp>
        <p:nvSpPr>
          <p:cNvPr id="4" name="Прямоугольник: скругленные углы 3">
            <a:extLst>
              <a:ext uri="{FF2B5EF4-FFF2-40B4-BE49-F238E27FC236}">
                <a16:creationId xmlns:a16="http://schemas.microsoft.com/office/drawing/2014/main" id="{E0781B31-6DFA-457B-9550-49E375C13A6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через минимальный элемент справа</a:t>
            </a:r>
          </a:p>
        </p:txBody>
      </p:sp>
    </p:spTree>
    <p:extLst>
      <p:ext uri="{BB962C8B-B14F-4D97-AF65-F5344CB8AC3E}">
        <p14:creationId xmlns:p14="http://schemas.microsoft.com/office/powerpoint/2010/main" val="20173171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Как удалить узел с двумя потомками</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33" name="Овал 32">
            <a:extLst>
              <a:ext uri="{FF2B5EF4-FFF2-40B4-BE49-F238E27FC236}">
                <a16:creationId xmlns:a16="http://schemas.microsoft.com/office/drawing/2014/main" id="{40DF3A74-CF58-4E4A-A761-0AD762E31792}"/>
              </a:ext>
            </a:extLst>
          </p:cNvPr>
          <p:cNvSpPr/>
          <p:nvPr/>
        </p:nvSpPr>
        <p:spPr>
          <a:xfrm>
            <a:off x="2913532" y="12811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25AA1065-9AED-4FFD-B7B7-E883438311FF}"/>
              </a:ext>
            </a:extLst>
          </p:cNvPr>
          <p:cNvSpPr/>
          <p:nvPr/>
        </p:nvSpPr>
        <p:spPr>
          <a:xfrm>
            <a:off x="1999133"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a:t>
            </a:r>
            <a:endParaRPr lang="ru-RU" dirty="0">
              <a:solidFill>
                <a:srgbClr val="002060"/>
              </a:solidFill>
            </a:endParaRPr>
          </a:p>
        </p:txBody>
      </p:sp>
      <p:sp>
        <p:nvSpPr>
          <p:cNvPr id="36" name="Овал 35">
            <a:extLst>
              <a:ext uri="{FF2B5EF4-FFF2-40B4-BE49-F238E27FC236}">
                <a16:creationId xmlns:a16="http://schemas.microsoft.com/office/drawing/2014/main" id="{F03483CD-DD5B-47B6-8A8B-CEBAFCCC3E2A}"/>
              </a:ext>
            </a:extLst>
          </p:cNvPr>
          <p:cNvSpPr/>
          <p:nvPr/>
        </p:nvSpPr>
        <p:spPr>
          <a:xfrm>
            <a:off x="3827931"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7" name="Овал 36">
            <a:extLst>
              <a:ext uri="{FF2B5EF4-FFF2-40B4-BE49-F238E27FC236}">
                <a16:creationId xmlns:a16="http://schemas.microsoft.com/office/drawing/2014/main" id="{70C5A130-489A-4178-AF33-727CB587BDD3}"/>
              </a:ext>
            </a:extLst>
          </p:cNvPr>
          <p:cNvSpPr/>
          <p:nvPr/>
        </p:nvSpPr>
        <p:spPr>
          <a:xfrm>
            <a:off x="815790"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43" name="Овал 42">
            <a:extLst>
              <a:ext uri="{FF2B5EF4-FFF2-40B4-BE49-F238E27FC236}">
                <a16:creationId xmlns:a16="http://schemas.microsoft.com/office/drawing/2014/main" id="{3B741037-E257-4965-A4BB-4A4B1EEE2B6F}"/>
              </a:ext>
            </a:extLst>
          </p:cNvPr>
          <p:cNvSpPr/>
          <p:nvPr/>
        </p:nvSpPr>
        <p:spPr>
          <a:xfrm>
            <a:off x="1999133" y="33227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44" name="Овал 43">
            <a:extLst>
              <a:ext uri="{FF2B5EF4-FFF2-40B4-BE49-F238E27FC236}">
                <a16:creationId xmlns:a16="http://schemas.microsoft.com/office/drawing/2014/main" id="{D1880912-7129-4292-9991-86AB0FCED375}"/>
              </a:ext>
            </a:extLst>
          </p:cNvPr>
          <p:cNvSpPr/>
          <p:nvPr/>
        </p:nvSpPr>
        <p:spPr>
          <a:xfrm>
            <a:off x="3827931" y="33227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46" name="Овал 45">
            <a:extLst>
              <a:ext uri="{FF2B5EF4-FFF2-40B4-BE49-F238E27FC236}">
                <a16:creationId xmlns:a16="http://schemas.microsoft.com/office/drawing/2014/main" id="{B8FAA7CA-BFC2-49F9-9717-0BECFA09B193}"/>
              </a:ext>
            </a:extLst>
          </p:cNvPr>
          <p:cNvSpPr/>
          <p:nvPr/>
        </p:nvSpPr>
        <p:spPr>
          <a:xfrm>
            <a:off x="5011274"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7" name="Прямая со стрелкой 46">
            <a:extLst>
              <a:ext uri="{FF2B5EF4-FFF2-40B4-BE49-F238E27FC236}">
                <a16:creationId xmlns:a16="http://schemas.microsoft.com/office/drawing/2014/main" id="{AFD94F96-7D00-415B-9719-D66771F102E0}"/>
              </a:ext>
            </a:extLst>
          </p:cNvPr>
          <p:cNvCxnSpPr>
            <a:stCxn id="33" idx="3"/>
            <a:endCxn id="34" idx="0"/>
          </p:cNvCxnSpPr>
          <p:nvPr/>
        </p:nvCxnSpPr>
        <p:spPr>
          <a:xfrm flipH="1">
            <a:off x="2456333" y="20616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BDC558F2-8F23-4538-BAE2-13F457917C77}"/>
              </a:ext>
            </a:extLst>
          </p:cNvPr>
          <p:cNvCxnSpPr>
            <a:cxnSpLocks/>
            <a:stCxn id="33" idx="5"/>
            <a:endCxn id="36" idx="0"/>
          </p:cNvCxnSpPr>
          <p:nvPr/>
        </p:nvCxnSpPr>
        <p:spPr>
          <a:xfrm>
            <a:off x="3694020" y="20616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F1810D46-6655-45EC-A6D5-A7C346E4ECD5}"/>
              </a:ext>
            </a:extLst>
          </p:cNvPr>
          <p:cNvCxnSpPr>
            <a:cxnSpLocks/>
            <a:stCxn id="34" idx="3"/>
            <a:endCxn id="37" idx="0"/>
          </p:cNvCxnSpPr>
          <p:nvPr/>
        </p:nvCxnSpPr>
        <p:spPr>
          <a:xfrm flipH="1">
            <a:off x="1272990" y="29714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4AAC6406-8687-44C7-8009-0D13C9C2FCB7}"/>
              </a:ext>
            </a:extLst>
          </p:cNvPr>
          <p:cNvCxnSpPr>
            <a:cxnSpLocks/>
            <a:stCxn id="34" idx="4"/>
            <a:endCxn id="43" idx="0"/>
          </p:cNvCxnSpPr>
          <p:nvPr/>
        </p:nvCxnSpPr>
        <p:spPr>
          <a:xfrm>
            <a:off x="2456333" y="31054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0C540E69-63D3-47BC-B946-E49AAC4558DD}"/>
              </a:ext>
            </a:extLst>
          </p:cNvPr>
          <p:cNvCxnSpPr>
            <a:cxnSpLocks/>
            <a:stCxn id="36" idx="4"/>
            <a:endCxn id="44" idx="0"/>
          </p:cNvCxnSpPr>
          <p:nvPr/>
        </p:nvCxnSpPr>
        <p:spPr>
          <a:xfrm>
            <a:off x="4285131" y="31054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1A9AD4C-F6D6-4E73-9488-1370A25FCC2E}"/>
              </a:ext>
            </a:extLst>
          </p:cNvPr>
          <p:cNvCxnSpPr>
            <a:cxnSpLocks/>
            <a:stCxn id="36" idx="5"/>
            <a:endCxn id="46" idx="0"/>
          </p:cNvCxnSpPr>
          <p:nvPr/>
        </p:nvCxnSpPr>
        <p:spPr>
          <a:xfrm>
            <a:off x="4608419" y="29714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Овал 52">
            <a:extLst>
              <a:ext uri="{FF2B5EF4-FFF2-40B4-BE49-F238E27FC236}">
                <a16:creationId xmlns:a16="http://schemas.microsoft.com/office/drawing/2014/main" id="{176A9C07-4317-4066-99DC-80328B57F1EA}"/>
              </a:ext>
            </a:extLst>
          </p:cNvPr>
          <p:cNvSpPr/>
          <p:nvPr/>
        </p:nvSpPr>
        <p:spPr>
          <a:xfrm>
            <a:off x="1257540" y="45884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4</a:t>
            </a:r>
            <a:endParaRPr lang="ru-RU" dirty="0">
              <a:solidFill>
                <a:srgbClr val="FF0000"/>
              </a:solidFill>
            </a:endParaRPr>
          </a:p>
        </p:txBody>
      </p:sp>
      <p:sp>
        <p:nvSpPr>
          <p:cNvPr id="54" name="Овал 53">
            <a:extLst>
              <a:ext uri="{FF2B5EF4-FFF2-40B4-BE49-F238E27FC236}">
                <a16:creationId xmlns:a16="http://schemas.microsoft.com/office/drawing/2014/main" id="{8493AC91-7910-4AC2-BB0D-D70AED7C454C}"/>
              </a:ext>
            </a:extLst>
          </p:cNvPr>
          <p:cNvSpPr/>
          <p:nvPr/>
        </p:nvSpPr>
        <p:spPr>
          <a:xfrm>
            <a:off x="2554291" y="45884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7</a:t>
            </a:r>
            <a:endParaRPr lang="ru-RU" dirty="0">
              <a:solidFill>
                <a:srgbClr val="002060"/>
              </a:solidFill>
            </a:endParaRPr>
          </a:p>
        </p:txBody>
      </p:sp>
      <p:cxnSp>
        <p:nvCxnSpPr>
          <p:cNvPr id="55" name="Прямая со стрелкой 54">
            <a:extLst>
              <a:ext uri="{FF2B5EF4-FFF2-40B4-BE49-F238E27FC236}">
                <a16:creationId xmlns:a16="http://schemas.microsoft.com/office/drawing/2014/main" id="{8D94E997-8C2F-4A89-AB9E-C739469C7C03}"/>
              </a:ext>
            </a:extLst>
          </p:cNvPr>
          <p:cNvCxnSpPr>
            <a:cxnSpLocks/>
            <a:stCxn id="43" idx="3"/>
            <a:endCxn id="53" idx="0"/>
          </p:cNvCxnSpPr>
          <p:nvPr/>
        </p:nvCxnSpPr>
        <p:spPr>
          <a:xfrm flipH="1">
            <a:off x="1714740" y="41032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a:extLst>
              <a:ext uri="{FF2B5EF4-FFF2-40B4-BE49-F238E27FC236}">
                <a16:creationId xmlns:a16="http://schemas.microsoft.com/office/drawing/2014/main" id="{164B8B43-FFAA-4308-A9B8-36BB632916D6}"/>
              </a:ext>
            </a:extLst>
          </p:cNvPr>
          <p:cNvCxnSpPr>
            <a:cxnSpLocks/>
            <a:stCxn id="43" idx="5"/>
            <a:endCxn id="54" idx="0"/>
          </p:cNvCxnSpPr>
          <p:nvPr/>
        </p:nvCxnSpPr>
        <p:spPr>
          <a:xfrm>
            <a:off x="2779621" y="41032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Овал 56">
            <a:extLst>
              <a:ext uri="{FF2B5EF4-FFF2-40B4-BE49-F238E27FC236}">
                <a16:creationId xmlns:a16="http://schemas.microsoft.com/office/drawing/2014/main" id="{F4F42673-BC0E-43E1-9FEA-86D74A54C59C}"/>
              </a:ext>
            </a:extLst>
          </p:cNvPr>
          <p:cNvSpPr/>
          <p:nvPr/>
        </p:nvSpPr>
        <p:spPr>
          <a:xfrm>
            <a:off x="5320555" y="45884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58" name="Прямая со стрелкой 57">
            <a:extLst>
              <a:ext uri="{FF2B5EF4-FFF2-40B4-BE49-F238E27FC236}">
                <a16:creationId xmlns:a16="http://schemas.microsoft.com/office/drawing/2014/main" id="{87A6ED7B-9059-429B-BF2B-FC1090EEA785}"/>
              </a:ext>
            </a:extLst>
          </p:cNvPr>
          <p:cNvCxnSpPr>
            <a:stCxn id="46" idx="5"/>
            <a:endCxn id="57" idx="0"/>
          </p:cNvCxnSpPr>
          <p:nvPr/>
        </p:nvCxnSpPr>
        <p:spPr>
          <a:xfrm flipH="1">
            <a:off x="5777755" y="4103276"/>
            <a:ext cx="14007"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Прямоугольник: скругленные углы 4">
            <a:extLst>
              <a:ext uri="{FF2B5EF4-FFF2-40B4-BE49-F238E27FC236}">
                <a16:creationId xmlns:a16="http://schemas.microsoft.com/office/drawing/2014/main" id="{11A66003-0056-477E-9A75-44C2CC852CE3}"/>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Находим удаляемый узел X.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Переходим в его правое поддерево. </a:t>
            </a:r>
          </a:p>
          <a:p>
            <a:pPr marL="342900" lvl="0" indent="-342900" rtl="0" eaLnBrk="0" fontAlgn="base" hangingPunct="0">
              <a:spcBef>
                <a:spcPct val="0"/>
              </a:spcBef>
              <a:spcAft>
                <a:spcPct val="0"/>
              </a:spcAft>
              <a:buFont typeface="+mj-lt"/>
              <a:buAutoNum type="arabicPeriod"/>
            </a:pPr>
            <a:r>
              <a:rPr lang="ru-RU" altLang="ru-RU" dirty="0">
                <a:solidFill>
                  <a:srgbClr val="FF0000"/>
                </a:solidFill>
              </a:rPr>
              <a:t>Идём как можно дальше влево. </a:t>
            </a:r>
          </a:p>
          <a:p>
            <a:pPr marL="342900" lvl="0" indent="-342900" rtl="0" eaLnBrk="0" fontAlgn="base" hangingPunct="0">
              <a:spcBef>
                <a:spcPct val="0"/>
              </a:spcBef>
              <a:spcAft>
                <a:spcPct val="0"/>
              </a:spcAft>
              <a:buFont typeface="+mj-lt"/>
              <a:buAutoNum type="arabicPeriod"/>
            </a:pPr>
            <a:r>
              <a:rPr lang="ru-RU" altLang="ru-RU" dirty="0">
                <a:solidFill>
                  <a:srgbClr val="FF0000"/>
                </a:solidFill>
              </a:rPr>
              <a:t>Получаем минимальный элемент правого поддерева.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Копируем его значение в удаляемый узел.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Удаляем найденный элемент из его старого места. </a:t>
            </a:r>
          </a:p>
          <a:p>
            <a:pPr algn="ctr"/>
            <a:endParaRPr lang="ru-RU" dirty="0"/>
          </a:p>
        </p:txBody>
      </p:sp>
      <p:sp>
        <p:nvSpPr>
          <p:cNvPr id="4" name="Прямоугольник: скругленные углы 3">
            <a:extLst>
              <a:ext uri="{FF2B5EF4-FFF2-40B4-BE49-F238E27FC236}">
                <a16:creationId xmlns:a16="http://schemas.microsoft.com/office/drawing/2014/main" id="{E0781B31-6DFA-457B-9550-49E375C13A6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через минимальный элемент справа</a:t>
            </a:r>
          </a:p>
        </p:txBody>
      </p:sp>
    </p:spTree>
    <p:extLst>
      <p:ext uri="{BB962C8B-B14F-4D97-AF65-F5344CB8AC3E}">
        <p14:creationId xmlns:p14="http://schemas.microsoft.com/office/powerpoint/2010/main" val="708060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Как удалить узел с двумя потомками</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33" name="Овал 32">
            <a:extLst>
              <a:ext uri="{FF2B5EF4-FFF2-40B4-BE49-F238E27FC236}">
                <a16:creationId xmlns:a16="http://schemas.microsoft.com/office/drawing/2014/main" id="{40DF3A74-CF58-4E4A-A761-0AD762E31792}"/>
              </a:ext>
            </a:extLst>
          </p:cNvPr>
          <p:cNvSpPr/>
          <p:nvPr/>
        </p:nvSpPr>
        <p:spPr>
          <a:xfrm>
            <a:off x="2913532" y="12811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25AA1065-9AED-4FFD-B7B7-E883438311FF}"/>
              </a:ext>
            </a:extLst>
          </p:cNvPr>
          <p:cNvSpPr/>
          <p:nvPr/>
        </p:nvSpPr>
        <p:spPr>
          <a:xfrm>
            <a:off x="1999133"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4</a:t>
            </a:r>
          </a:p>
        </p:txBody>
      </p:sp>
      <p:sp>
        <p:nvSpPr>
          <p:cNvPr id="36" name="Овал 35">
            <a:extLst>
              <a:ext uri="{FF2B5EF4-FFF2-40B4-BE49-F238E27FC236}">
                <a16:creationId xmlns:a16="http://schemas.microsoft.com/office/drawing/2014/main" id="{F03483CD-DD5B-47B6-8A8B-CEBAFCCC3E2A}"/>
              </a:ext>
            </a:extLst>
          </p:cNvPr>
          <p:cNvSpPr/>
          <p:nvPr/>
        </p:nvSpPr>
        <p:spPr>
          <a:xfrm>
            <a:off x="3827931"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7" name="Овал 36">
            <a:extLst>
              <a:ext uri="{FF2B5EF4-FFF2-40B4-BE49-F238E27FC236}">
                <a16:creationId xmlns:a16="http://schemas.microsoft.com/office/drawing/2014/main" id="{70C5A130-489A-4178-AF33-727CB587BDD3}"/>
              </a:ext>
            </a:extLst>
          </p:cNvPr>
          <p:cNvSpPr/>
          <p:nvPr/>
        </p:nvSpPr>
        <p:spPr>
          <a:xfrm>
            <a:off x="815790"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43" name="Овал 42">
            <a:extLst>
              <a:ext uri="{FF2B5EF4-FFF2-40B4-BE49-F238E27FC236}">
                <a16:creationId xmlns:a16="http://schemas.microsoft.com/office/drawing/2014/main" id="{3B741037-E257-4965-A4BB-4A4B1EEE2B6F}"/>
              </a:ext>
            </a:extLst>
          </p:cNvPr>
          <p:cNvSpPr/>
          <p:nvPr/>
        </p:nvSpPr>
        <p:spPr>
          <a:xfrm>
            <a:off x="1999133" y="33227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44" name="Овал 43">
            <a:extLst>
              <a:ext uri="{FF2B5EF4-FFF2-40B4-BE49-F238E27FC236}">
                <a16:creationId xmlns:a16="http://schemas.microsoft.com/office/drawing/2014/main" id="{D1880912-7129-4292-9991-86AB0FCED375}"/>
              </a:ext>
            </a:extLst>
          </p:cNvPr>
          <p:cNvSpPr/>
          <p:nvPr/>
        </p:nvSpPr>
        <p:spPr>
          <a:xfrm>
            <a:off x="3827931" y="33227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46" name="Овал 45">
            <a:extLst>
              <a:ext uri="{FF2B5EF4-FFF2-40B4-BE49-F238E27FC236}">
                <a16:creationId xmlns:a16="http://schemas.microsoft.com/office/drawing/2014/main" id="{B8FAA7CA-BFC2-49F9-9717-0BECFA09B193}"/>
              </a:ext>
            </a:extLst>
          </p:cNvPr>
          <p:cNvSpPr/>
          <p:nvPr/>
        </p:nvSpPr>
        <p:spPr>
          <a:xfrm>
            <a:off x="5011274"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7" name="Прямая со стрелкой 46">
            <a:extLst>
              <a:ext uri="{FF2B5EF4-FFF2-40B4-BE49-F238E27FC236}">
                <a16:creationId xmlns:a16="http://schemas.microsoft.com/office/drawing/2014/main" id="{AFD94F96-7D00-415B-9719-D66771F102E0}"/>
              </a:ext>
            </a:extLst>
          </p:cNvPr>
          <p:cNvCxnSpPr>
            <a:stCxn id="33" idx="3"/>
            <a:endCxn id="34" idx="0"/>
          </p:cNvCxnSpPr>
          <p:nvPr/>
        </p:nvCxnSpPr>
        <p:spPr>
          <a:xfrm flipH="1">
            <a:off x="2456333" y="20616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BDC558F2-8F23-4538-BAE2-13F457917C77}"/>
              </a:ext>
            </a:extLst>
          </p:cNvPr>
          <p:cNvCxnSpPr>
            <a:cxnSpLocks/>
            <a:stCxn id="33" idx="5"/>
            <a:endCxn id="36" idx="0"/>
          </p:cNvCxnSpPr>
          <p:nvPr/>
        </p:nvCxnSpPr>
        <p:spPr>
          <a:xfrm>
            <a:off x="3694020" y="20616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F1810D46-6655-45EC-A6D5-A7C346E4ECD5}"/>
              </a:ext>
            </a:extLst>
          </p:cNvPr>
          <p:cNvCxnSpPr>
            <a:cxnSpLocks/>
            <a:stCxn id="34" idx="3"/>
            <a:endCxn id="37" idx="0"/>
          </p:cNvCxnSpPr>
          <p:nvPr/>
        </p:nvCxnSpPr>
        <p:spPr>
          <a:xfrm flipH="1">
            <a:off x="1272990" y="29714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4AAC6406-8687-44C7-8009-0D13C9C2FCB7}"/>
              </a:ext>
            </a:extLst>
          </p:cNvPr>
          <p:cNvCxnSpPr>
            <a:cxnSpLocks/>
            <a:stCxn id="34" idx="4"/>
            <a:endCxn id="43" idx="0"/>
          </p:cNvCxnSpPr>
          <p:nvPr/>
        </p:nvCxnSpPr>
        <p:spPr>
          <a:xfrm>
            <a:off x="2456333" y="31054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0C540E69-63D3-47BC-B946-E49AAC4558DD}"/>
              </a:ext>
            </a:extLst>
          </p:cNvPr>
          <p:cNvCxnSpPr>
            <a:cxnSpLocks/>
            <a:stCxn id="36" idx="4"/>
            <a:endCxn id="44" idx="0"/>
          </p:cNvCxnSpPr>
          <p:nvPr/>
        </p:nvCxnSpPr>
        <p:spPr>
          <a:xfrm>
            <a:off x="4285131" y="31054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1A9AD4C-F6D6-4E73-9488-1370A25FCC2E}"/>
              </a:ext>
            </a:extLst>
          </p:cNvPr>
          <p:cNvCxnSpPr>
            <a:cxnSpLocks/>
            <a:stCxn id="36" idx="5"/>
            <a:endCxn id="46" idx="0"/>
          </p:cNvCxnSpPr>
          <p:nvPr/>
        </p:nvCxnSpPr>
        <p:spPr>
          <a:xfrm>
            <a:off x="4608419" y="29714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Овал 52">
            <a:extLst>
              <a:ext uri="{FF2B5EF4-FFF2-40B4-BE49-F238E27FC236}">
                <a16:creationId xmlns:a16="http://schemas.microsoft.com/office/drawing/2014/main" id="{176A9C07-4317-4066-99DC-80328B57F1EA}"/>
              </a:ext>
            </a:extLst>
          </p:cNvPr>
          <p:cNvSpPr/>
          <p:nvPr/>
        </p:nvSpPr>
        <p:spPr>
          <a:xfrm>
            <a:off x="1257540" y="458847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4</a:t>
            </a:r>
            <a:endParaRPr lang="ru-RU" dirty="0">
              <a:solidFill>
                <a:srgbClr val="FF0000"/>
              </a:solidFill>
            </a:endParaRPr>
          </a:p>
        </p:txBody>
      </p:sp>
      <p:sp>
        <p:nvSpPr>
          <p:cNvPr id="54" name="Овал 53">
            <a:extLst>
              <a:ext uri="{FF2B5EF4-FFF2-40B4-BE49-F238E27FC236}">
                <a16:creationId xmlns:a16="http://schemas.microsoft.com/office/drawing/2014/main" id="{8493AC91-7910-4AC2-BB0D-D70AED7C454C}"/>
              </a:ext>
            </a:extLst>
          </p:cNvPr>
          <p:cNvSpPr/>
          <p:nvPr/>
        </p:nvSpPr>
        <p:spPr>
          <a:xfrm>
            <a:off x="2554291" y="45884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7</a:t>
            </a:r>
            <a:endParaRPr lang="ru-RU" dirty="0">
              <a:solidFill>
                <a:srgbClr val="002060"/>
              </a:solidFill>
            </a:endParaRPr>
          </a:p>
        </p:txBody>
      </p:sp>
      <p:cxnSp>
        <p:nvCxnSpPr>
          <p:cNvPr id="55" name="Прямая со стрелкой 54">
            <a:extLst>
              <a:ext uri="{FF2B5EF4-FFF2-40B4-BE49-F238E27FC236}">
                <a16:creationId xmlns:a16="http://schemas.microsoft.com/office/drawing/2014/main" id="{8D94E997-8C2F-4A89-AB9E-C739469C7C03}"/>
              </a:ext>
            </a:extLst>
          </p:cNvPr>
          <p:cNvCxnSpPr>
            <a:cxnSpLocks/>
            <a:stCxn id="43" idx="3"/>
            <a:endCxn id="53" idx="0"/>
          </p:cNvCxnSpPr>
          <p:nvPr/>
        </p:nvCxnSpPr>
        <p:spPr>
          <a:xfrm flipH="1">
            <a:off x="1714740" y="4103275"/>
            <a:ext cx="418304" cy="4852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a:extLst>
              <a:ext uri="{FF2B5EF4-FFF2-40B4-BE49-F238E27FC236}">
                <a16:creationId xmlns:a16="http://schemas.microsoft.com/office/drawing/2014/main" id="{164B8B43-FFAA-4308-A9B8-36BB632916D6}"/>
              </a:ext>
            </a:extLst>
          </p:cNvPr>
          <p:cNvCxnSpPr>
            <a:cxnSpLocks/>
            <a:stCxn id="43" idx="5"/>
            <a:endCxn id="54" idx="0"/>
          </p:cNvCxnSpPr>
          <p:nvPr/>
        </p:nvCxnSpPr>
        <p:spPr>
          <a:xfrm>
            <a:off x="2779621" y="41032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Овал 56">
            <a:extLst>
              <a:ext uri="{FF2B5EF4-FFF2-40B4-BE49-F238E27FC236}">
                <a16:creationId xmlns:a16="http://schemas.microsoft.com/office/drawing/2014/main" id="{F4F42673-BC0E-43E1-9FEA-86D74A54C59C}"/>
              </a:ext>
            </a:extLst>
          </p:cNvPr>
          <p:cNvSpPr/>
          <p:nvPr/>
        </p:nvSpPr>
        <p:spPr>
          <a:xfrm>
            <a:off x="5320555" y="45884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58" name="Прямая со стрелкой 57">
            <a:extLst>
              <a:ext uri="{FF2B5EF4-FFF2-40B4-BE49-F238E27FC236}">
                <a16:creationId xmlns:a16="http://schemas.microsoft.com/office/drawing/2014/main" id="{87A6ED7B-9059-429B-BF2B-FC1090EEA785}"/>
              </a:ext>
            </a:extLst>
          </p:cNvPr>
          <p:cNvCxnSpPr>
            <a:stCxn id="46" idx="5"/>
            <a:endCxn id="57" idx="0"/>
          </p:cNvCxnSpPr>
          <p:nvPr/>
        </p:nvCxnSpPr>
        <p:spPr>
          <a:xfrm flipH="1">
            <a:off x="5777755" y="4103276"/>
            <a:ext cx="14007"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Прямоугольник: скругленные углы 4">
            <a:extLst>
              <a:ext uri="{FF2B5EF4-FFF2-40B4-BE49-F238E27FC236}">
                <a16:creationId xmlns:a16="http://schemas.microsoft.com/office/drawing/2014/main" id="{11A66003-0056-477E-9A75-44C2CC852CE3}"/>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Находим удаляемый узел X.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Переходим в его правое поддерево.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Идём как можно дальше влево.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Получаем минимальный элемент правого поддерева. </a:t>
            </a:r>
          </a:p>
          <a:p>
            <a:pPr marL="342900" lvl="0" indent="-342900" rtl="0" eaLnBrk="0" fontAlgn="base" hangingPunct="0">
              <a:spcBef>
                <a:spcPct val="0"/>
              </a:spcBef>
              <a:spcAft>
                <a:spcPct val="0"/>
              </a:spcAft>
              <a:buFont typeface="+mj-lt"/>
              <a:buAutoNum type="arabicPeriod"/>
            </a:pPr>
            <a:r>
              <a:rPr lang="ru-RU" altLang="ru-RU" dirty="0">
                <a:solidFill>
                  <a:srgbClr val="FF0000"/>
                </a:solidFill>
              </a:rPr>
              <a:t>Копируем его значение в удаляемый узел. </a:t>
            </a:r>
          </a:p>
          <a:p>
            <a:pPr marL="342900" lvl="0" indent="-342900" rtl="0" eaLnBrk="0" fontAlgn="base" hangingPunct="0">
              <a:spcBef>
                <a:spcPct val="0"/>
              </a:spcBef>
              <a:spcAft>
                <a:spcPct val="0"/>
              </a:spcAft>
              <a:buFont typeface="+mj-lt"/>
              <a:buAutoNum type="arabicPeriod"/>
            </a:pPr>
            <a:r>
              <a:rPr lang="ru-RU" altLang="ru-RU" dirty="0">
                <a:solidFill>
                  <a:schemeClr val="tx1"/>
                </a:solidFill>
              </a:rPr>
              <a:t>Удаляем найденный элемент из его старого места. </a:t>
            </a:r>
          </a:p>
          <a:p>
            <a:pPr algn="ctr"/>
            <a:endParaRPr lang="ru-RU" dirty="0"/>
          </a:p>
        </p:txBody>
      </p:sp>
      <p:sp>
        <p:nvSpPr>
          <p:cNvPr id="4" name="Прямоугольник: скругленные углы 3">
            <a:extLst>
              <a:ext uri="{FF2B5EF4-FFF2-40B4-BE49-F238E27FC236}">
                <a16:creationId xmlns:a16="http://schemas.microsoft.com/office/drawing/2014/main" id="{E0781B31-6DFA-457B-9550-49E375C13A6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через минимальный элемент справа</a:t>
            </a:r>
          </a:p>
        </p:txBody>
      </p:sp>
    </p:spTree>
    <p:extLst>
      <p:ext uri="{BB962C8B-B14F-4D97-AF65-F5344CB8AC3E}">
        <p14:creationId xmlns:p14="http://schemas.microsoft.com/office/powerpoint/2010/main" val="28188381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5A67C2-298C-4443-AA22-BD2D0A1128D2}"/>
              </a:ext>
            </a:extLst>
          </p:cNvPr>
          <p:cNvSpPr>
            <a:spLocks noGrp="1"/>
          </p:cNvSpPr>
          <p:nvPr>
            <p:ph type="title"/>
          </p:nvPr>
        </p:nvSpPr>
        <p:spPr/>
        <p:txBody>
          <a:bodyPr/>
          <a:lstStyle/>
          <a:p>
            <a:r>
              <a:rPr lang="ru-RU" dirty="0"/>
              <a:t>Как удалить узел с двумя потомками</a:t>
            </a:r>
          </a:p>
        </p:txBody>
      </p:sp>
      <p:sp>
        <p:nvSpPr>
          <p:cNvPr id="7" name="Текст 6">
            <a:extLst>
              <a:ext uri="{FF2B5EF4-FFF2-40B4-BE49-F238E27FC236}">
                <a16:creationId xmlns:a16="http://schemas.microsoft.com/office/drawing/2014/main" id="{2EC9C83E-7D1C-4A32-8BAF-323EBB3C9134}"/>
              </a:ext>
            </a:extLst>
          </p:cNvPr>
          <p:cNvSpPr>
            <a:spLocks noGrp="1"/>
          </p:cNvSpPr>
          <p:nvPr>
            <p:ph type="body" sz="quarter" idx="19"/>
          </p:nvPr>
        </p:nvSpPr>
        <p:spPr/>
        <p:txBody>
          <a:bodyPr/>
          <a:lstStyle/>
          <a:p>
            <a:endParaRPr lang="ru-RU"/>
          </a:p>
        </p:txBody>
      </p:sp>
      <p:sp>
        <p:nvSpPr>
          <p:cNvPr id="33" name="Овал 32">
            <a:extLst>
              <a:ext uri="{FF2B5EF4-FFF2-40B4-BE49-F238E27FC236}">
                <a16:creationId xmlns:a16="http://schemas.microsoft.com/office/drawing/2014/main" id="{40DF3A74-CF58-4E4A-A761-0AD762E31792}"/>
              </a:ext>
            </a:extLst>
          </p:cNvPr>
          <p:cNvSpPr/>
          <p:nvPr/>
        </p:nvSpPr>
        <p:spPr>
          <a:xfrm>
            <a:off x="2913532" y="12811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a:t>
            </a:r>
            <a:endParaRPr lang="ru-RU" dirty="0"/>
          </a:p>
        </p:txBody>
      </p:sp>
      <p:sp>
        <p:nvSpPr>
          <p:cNvPr id="34" name="Овал 33">
            <a:extLst>
              <a:ext uri="{FF2B5EF4-FFF2-40B4-BE49-F238E27FC236}">
                <a16:creationId xmlns:a16="http://schemas.microsoft.com/office/drawing/2014/main" id="{25AA1065-9AED-4FFD-B7B7-E883438311FF}"/>
              </a:ext>
            </a:extLst>
          </p:cNvPr>
          <p:cNvSpPr/>
          <p:nvPr/>
        </p:nvSpPr>
        <p:spPr>
          <a:xfrm>
            <a:off x="1999133"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4</a:t>
            </a:r>
          </a:p>
        </p:txBody>
      </p:sp>
      <p:sp>
        <p:nvSpPr>
          <p:cNvPr id="36" name="Овал 35">
            <a:extLst>
              <a:ext uri="{FF2B5EF4-FFF2-40B4-BE49-F238E27FC236}">
                <a16:creationId xmlns:a16="http://schemas.microsoft.com/office/drawing/2014/main" id="{F03483CD-DD5B-47B6-8A8B-CEBAFCCC3E2A}"/>
              </a:ext>
            </a:extLst>
          </p:cNvPr>
          <p:cNvSpPr/>
          <p:nvPr/>
        </p:nvSpPr>
        <p:spPr>
          <a:xfrm>
            <a:off x="3827931" y="21910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15</a:t>
            </a:r>
            <a:endParaRPr lang="ru-RU" dirty="0"/>
          </a:p>
        </p:txBody>
      </p:sp>
      <p:sp>
        <p:nvSpPr>
          <p:cNvPr id="37" name="Овал 36">
            <a:extLst>
              <a:ext uri="{FF2B5EF4-FFF2-40B4-BE49-F238E27FC236}">
                <a16:creationId xmlns:a16="http://schemas.microsoft.com/office/drawing/2014/main" id="{70C5A130-489A-4178-AF33-727CB587BDD3}"/>
              </a:ext>
            </a:extLst>
          </p:cNvPr>
          <p:cNvSpPr/>
          <p:nvPr/>
        </p:nvSpPr>
        <p:spPr>
          <a:xfrm>
            <a:off x="815790"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a:t>
            </a:r>
            <a:endParaRPr lang="ru-RU" dirty="0"/>
          </a:p>
        </p:txBody>
      </p:sp>
      <p:sp>
        <p:nvSpPr>
          <p:cNvPr id="43" name="Овал 42">
            <a:extLst>
              <a:ext uri="{FF2B5EF4-FFF2-40B4-BE49-F238E27FC236}">
                <a16:creationId xmlns:a16="http://schemas.microsoft.com/office/drawing/2014/main" id="{3B741037-E257-4965-A4BB-4A4B1EEE2B6F}"/>
              </a:ext>
            </a:extLst>
          </p:cNvPr>
          <p:cNvSpPr/>
          <p:nvPr/>
        </p:nvSpPr>
        <p:spPr>
          <a:xfrm>
            <a:off x="1999133" y="33227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6</a:t>
            </a:r>
            <a:endParaRPr lang="ru-RU" dirty="0">
              <a:solidFill>
                <a:srgbClr val="002060"/>
              </a:solidFill>
            </a:endParaRPr>
          </a:p>
        </p:txBody>
      </p:sp>
      <p:sp>
        <p:nvSpPr>
          <p:cNvPr id="44" name="Овал 43">
            <a:extLst>
              <a:ext uri="{FF2B5EF4-FFF2-40B4-BE49-F238E27FC236}">
                <a16:creationId xmlns:a16="http://schemas.microsoft.com/office/drawing/2014/main" id="{D1880912-7129-4292-9991-86AB0FCED375}"/>
              </a:ext>
            </a:extLst>
          </p:cNvPr>
          <p:cNvSpPr/>
          <p:nvPr/>
        </p:nvSpPr>
        <p:spPr>
          <a:xfrm>
            <a:off x="3827931" y="332278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12</a:t>
            </a:r>
            <a:endParaRPr lang="ru-RU" dirty="0"/>
          </a:p>
        </p:txBody>
      </p:sp>
      <p:sp>
        <p:nvSpPr>
          <p:cNvPr id="46" name="Овал 45">
            <a:extLst>
              <a:ext uri="{FF2B5EF4-FFF2-40B4-BE49-F238E27FC236}">
                <a16:creationId xmlns:a16="http://schemas.microsoft.com/office/drawing/2014/main" id="{B8FAA7CA-BFC2-49F9-9717-0BECFA09B193}"/>
              </a:ext>
            </a:extLst>
          </p:cNvPr>
          <p:cNvSpPr/>
          <p:nvPr/>
        </p:nvSpPr>
        <p:spPr>
          <a:xfrm>
            <a:off x="5011274" y="33227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18</a:t>
            </a:r>
            <a:endParaRPr lang="ru-RU" dirty="0"/>
          </a:p>
        </p:txBody>
      </p:sp>
      <p:cxnSp>
        <p:nvCxnSpPr>
          <p:cNvPr id="47" name="Прямая со стрелкой 46">
            <a:extLst>
              <a:ext uri="{FF2B5EF4-FFF2-40B4-BE49-F238E27FC236}">
                <a16:creationId xmlns:a16="http://schemas.microsoft.com/office/drawing/2014/main" id="{AFD94F96-7D00-415B-9719-D66771F102E0}"/>
              </a:ext>
            </a:extLst>
          </p:cNvPr>
          <p:cNvCxnSpPr>
            <a:stCxn id="33" idx="3"/>
            <a:endCxn id="34" idx="0"/>
          </p:cNvCxnSpPr>
          <p:nvPr/>
        </p:nvCxnSpPr>
        <p:spPr>
          <a:xfrm flipH="1">
            <a:off x="2456333" y="20616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a:extLst>
              <a:ext uri="{FF2B5EF4-FFF2-40B4-BE49-F238E27FC236}">
                <a16:creationId xmlns:a16="http://schemas.microsoft.com/office/drawing/2014/main" id="{BDC558F2-8F23-4538-BAE2-13F457917C77}"/>
              </a:ext>
            </a:extLst>
          </p:cNvPr>
          <p:cNvCxnSpPr>
            <a:cxnSpLocks/>
            <a:stCxn id="33" idx="5"/>
            <a:endCxn id="36" idx="0"/>
          </p:cNvCxnSpPr>
          <p:nvPr/>
        </p:nvCxnSpPr>
        <p:spPr>
          <a:xfrm>
            <a:off x="3694020" y="2061602"/>
            <a:ext cx="591111"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a:extLst>
              <a:ext uri="{FF2B5EF4-FFF2-40B4-BE49-F238E27FC236}">
                <a16:creationId xmlns:a16="http://schemas.microsoft.com/office/drawing/2014/main" id="{F1810D46-6655-45EC-A6D5-A7C346E4ECD5}"/>
              </a:ext>
            </a:extLst>
          </p:cNvPr>
          <p:cNvCxnSpPr>
            <a:cxnSpLocks/>
            <a:stCxn id="34" idx="3"/>
            <a:endCxn id="37" idx="0"/>
          </p:cNvCxnSpPr>
          <p:nvPr/>
        </p:nvCxnSpPr>
        <p:spPr>
          <a:xfrm flipH="1">
            <a:off x="1272990" y="29714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4AAC6406-8687-44C7-8009-0D13C9C2FCB7}"/>
              </a:ext>
            </a:extLst>
          </p:cNvPr>
          <p:cNvCxnSpPr>
            <a:cxnSpLocks/>
            <a:stCxn id="34" idx="4"/>
            <a:endCxn id="43" idx="0"/>
          </p:cNvCxnSpPr>
          <p:nvPr/>
        </p:nvCxnSpPr>
        <p:spPr>
          <a:xfrm>
            <a:off x="2456333" y="31054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a:extLst>
              <a:ext uri="{FF2B5EF4-FFF2-40B4-BE49-F238E27FC236}">
                <a16:creationId xmlns:a16="http://schemas.microsoft.com/office/drawing/2014/main" id="{0C540E69-63D3-47BC-B946-E49AAC4558DD}"/>
              </a:ext>
            </a:extLst>
          </p:cNvPr>
          <p:cNvCxnSpPr>
            <a:cxnSpLocks/>
            <a:stCxn id="36" idx="4"/>
            <a:endCxn id="44" idx="0"/>
          </p:cNvCxnSpPr>
          <p:nvPr/>
        </p:nvCxnSpPr>
        <p:spPr>
          <a:xfrm>
            <a:off x="4285131" y="3105406"/>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a:extLst>
              <a:ext uri="{FF2B5EF4-FFF2-40B4-BE49-F238E27FC236}">
                <a16:creationId xmlns:a16="http://schemas.microsoft.com/office/drawing/2014/main" id="{71A9AD4C-F6D6-4E73-9488-1370A25FCC2E}"/>
              </a:ext>
            </a:extLst>
          </p:cNvPr>
          <p:cNvCxnSpPr>
            <a:cxnSpLocks/>
            <a:stCxn id="36" idx="5"/>
            <a:endCxn id="46" idx="0"/>
          </p:cNvCxnSpPr>
          <p:nvPr/>
        </p:nvCxnSpPr>
        <p:spPr>
          <a:xfrm>
            <a:off x="4608419" y="2971495"/>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4" name="Овал 53">
            <a:extLst>
              <a:ext uri="{FF2B5EF4-FFF2-40B4-BE49-F238E27FC236}">
                <a16:creationId xmlns:a16="http://schemas.microsoft.com/office/drawing/2014/main" id="{8493AC91-7910-4AC2-BB0D-D70AED7C454C}"/>
              </a:ext>
            </a:extLst>
          </p:cNvPr>
          <p:cNvSpPr/>
          <p:nvPr/>
        </p:nvSpPr>
        <p:spPr>
          <a:xfrm>
            <a:off x="2554291" y="458847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7</a:t>
            </a:r>
            <a:endParaRPr lang="ru-RU" dirty="0">
              <a:solidFill>
                <a:srgbClr val="002060"/>
              </a:solidFill>
            </a:endParaRPr>
          </a:p>
        </p:txBody>
      </p:sp>
      <p:cxnSp>
        <p:nvCxnSpPr>
          <p:cNvPr id="56" name="Прямая со стрелкой 55">
            <a:extLst>
              <a:ext uri="{FF2B5EF4-FFF2-40B4-BE49-F238E27FC236}">
                <a16:creationId xmlns:a16="http://schemas.microsoft.com/office/drawing/2014/main" id="{164B8B43-FFAA-4308-A9B8-36BB632916D6}"/>
              </a:ext>
            </a:extLst>
          </p:cNvPr>
          <p:cNvCxnSpPr>
            <a:cxnSpLocks/>
            <a:stCxn id="43" idx="5"/>
            <a:endCxn id="54" idx="0"/>
          </p:cNvCxnSpPr>
          <p:nvPr/>
        </p:nvCxnSpPr>
        <p:spPr>
          <a:xfrm>
            <a:off x="2779621" y="4103275"/>
            <a:ext cx="231870" cy="4852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7" name="Овал 56">
            <a:extLst>
              <a:ext uri="{FF2B5EF4-FFF2-40B4-BE49-F238E27FC236}">
                <a16:creationId xmlns:a16="http://schemas.microsoft.com/office/drawing/2014/main" id="{F4F42673-BC0E-43E1-9FEA-86D74A54C59C}"/>
              </a:ext>
            </a:extLst>
          </p:cNvPr>
          <p:cNvSpPr/>
          <p:nvPr/>
        </p:nvSpPr>
        <p:spPr>
          <a:xfrm>
            <a:off x="5320555" y="458847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24</a:t>
            </a:r>
            <a:endParaRPr lang="ru-RU" dirty="0"/>
          </a:p>
        </p:txBody>
      </p:sp>
      <p:cxnSp>
        <p:nvCxnSpPr>
          <p:cNvPr id="58" name="Прямая со стрелкой 57">
            <a:extLst>
              <a:ext uri="{FF2B5EF4-FFF2-40B4-BE49-F238E27FC236}">
                <a16:creationId xmlns:a16="http://schemas.microsoft.com/office/drawing/2014/main" id="{87A6ED7B-9059-429B-BF2B-FC1090EEA785}"/>
              </a:ext>
            </a:extLst>
          </p:cNvPr>
          <p:cNvCxnSpPr>
            <a:stCxn id="46" idx="5"/>
            <a:endCxn id="57" idx="0"/>
          </p:cNvCxnSpPr>
          <p:nvPr/>
        </p:nvCxnSpPr>
        <p:spPr>
          <a:xfrm flipH="1">
            <a:off x="5777755" y="4103276"/>
            <a:ext cx="14007" cy="485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Прямоугольник: скругленные углы 4">
            <a:extLst>
              <a:ext uri="{FF2B5EF4-FFF2-40B4-BE49-F238E27FC236}">
                <a16:creationId xmlns:a16="http://schemas.microsoft.com/office/drawing/2014/main" id="{11A66003-0056-477E-9A75-44C2CC852CE3}"/>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Находим удаляемый узел X.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Переходим в его правое поддерево.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Идём как можно дальше влево.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Получаем минимальный элемент правого поддерева. </a:t>
            </a:r>
          </a:p>
          <a:p>
            <a:pPr marL="342900" lvl="0" indent="-342900" rtl="0" eaLnBrk="0" fontAlgn="base" hangingPunct="0">
              <a:spcBef>
                <a:spcPct val="0"/>
              </a:spcBef>
              <a:spcAft>
                <a:spcPct val="0"/>
              </a:spcAft>
              <a:buFont typeface="+mj-lt"/>
              <a:buAutoNum type="arabicPeriod"/>
            </a:pPr>
            <a:r>
              <a:rPr lang="ru-RU" altLang="ru-RU" dirty="0">
                <a:solidFill>
                  <a:srgbClr val="002060"/>
                </a:solidFill>
              </a:rPr>
              <a:t>Копируем его значение в удаляемый узел. </a:t>
            </a:r>
          </a:p>
          <a:p>
            <a:pPr marL="342900" lvl="0" indent="-342900" rtl="0" eaLnBrk="0" fontAlgn="base" hangingPunct="0">
              <a:spcBef>
                <a:spcPct val="0"/>
              </a:spcBef>
              <a:spcAft>
                <a:spcPct val="0"/>
              </a:spcAft>
              <a:buFont typeface="+mj-lt"/>
              <a:buAutoNum type="arabicPeriod"/>
            </a:pPr>
            <a:r>
              <a:rPr lang="ru-RU" altLang="ru-RU" dirty="0">
                <a:solidFill>
                  <a:srgbClr val="FF0000"/>
                </a:solidFill>
              </a:rPr>
              <a:t>Удаляем найденный элемент из его старого места. </a:t>
            </a:r>
          </a:p>
          <a:p>
            <a:pPr algn="ctr"/>
            <a:endParaRPr lang="ru-RU" dirty="0"/>
          </a:p>
        </p:txBody>
      </p:sp>
      <p:sp>
        <p:nvSpPr>
          <p:cNvPr id="4" name="Прямоугольник: скругленные углы 3">
            <a:extLst>
              <a:ext uri="{FF2B5EF4-FFF2-40B4-BE49-F238E27FC236}">
                <a16:creationId xmlns:a16="http://schemas.microsoft.com/office/drawing/2014/main" id="{E0781B31-6DFA-457B-9550-49E375C13A6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через минимальный элемент справа</a:t>
            </a:r>
          </a:p>
        </p:txBody>
      </p:sp>
    </p:spTree>
    <p:extLst>
      <p:ext uri="{BB962C8B-B14F-4D97-AF65-F5344CB8AC3E}">
        <p14:creationId xmlns:p14="http://schemas.microsoft.com/office/powerpoint/2010/main" val="3015061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4C7749-7AA6-4527-9801-343E53F25ABA}"/>
              </a:ext>
            </a:extLst>
          </p:cNvPr>
          <p:cNvSpPr>
            <a:spLocks noGrp="1"/>
          </p:cNvSpPr>
          <p:nvPr>
            <p:ph type="title"/>
          </p:nvPr>
        </p:nvSpPr>
        <p:spPr/>
        <p:txBody>
          <a:bodyPr/>
          <a:lstStyle/>
          <a:p>
            <a:r>
              <a:rPr lang="ru-RU" dirty="0"/>
              <a:t>Как пройти по всем элементам дерева?</a:t>
            </a:r>
          </a:p>
        </p:txBody>
      </p:sp>
      <p:sp>
        <p:nvSpPr>
          <p:cNvPr id="7" name="Текст 6">
            <a:extLst>
              <a:ext uri="{FF2B5EF4-FFF2-40B4-BE49-F238E27FC236}">
                <a16:creationId xmlns:a16="http://schemas.microsoft.com/office/drawing/2014/main" id="{D5E804AD-63AE-45FA-AF71-1ED4B4BC9399}"/>
              </a:ext>
            </a:extLst>
          </p:cNvPr>
          <p:cNvSpPr>
            <a:spLocks noGrp="1"/>
          </p:cNvSpPr>
          <p:nvPr>
            <p:ph type="body" sz="quarter" idx="19"/>
          </p:nvPr>
        </p:nvSpPr>
        <p:spPr/>
        <p:txBody>
          <a:bodyPr/>
          <a:lstStyle/>
          <a:p>
            <a:endParaRPr lang="ru-RU"/>
          </a:p>
        </p:txBody>
      </p:sp>
      <p:pic>
        <p:nvPicPr>
          <p:cNvPr id="9" name="Рисунок 8">
            <a:extLst>
              <a:ext uri="{FF2B5EF4-FFF2-40B4-BE49-F238E27FC236}">
                <a16:creationId xmlns:a16="http://schemas.microsoft.com/office/drawing/2014/main" id="{87E70B6D-370E-489D-8E60-73418C007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4" y="1550056"/>
            <a:ext cx="7239000" cy="4095750"/>
          </a:xfrm>
          <a:prstGeom prst="rect">
            <a:avLst/>
          </a:prstGeom>
        </p:spPr>
      </p:pic>
      <p:sp>
        <p:nvSpPr>
          <p:cNvPr id="10" name="Прямоугольник: скругленные углы 9">
            <a:extLst>
              <a:ext uri="{FF2B5EF4-FFF2-40B4-BE49-F238E27FC236}">
                <a16:creationId xmlns:a16="http://schemas.microsoft.com/office/drawing/2014/main" id="{742A5B01-C63C-4F34-BF81-C531B960999F}"/>
              </a:ext>
            </a:extLst>
          </p:cNvPr>
          <p:cNvSpPr/>
          <p:nvPr/>
        </p:nvSpPr>
        <p:spPr>
          <a:xfrm>
            <a:off x="7974106" y="2288224"/>
            <a:ext cx="3896659" cy="301896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r>
              <a:rPr lang="ru-RU" dirty="0"/>
              <a:t>копирование структуры дерева;</a:t>
            </a:r>
          </a:p>
          <a:p>
            <a:pPr marL="285750" indent="-285750">
              <a:buFont typeface="Arial" panose="020B0604020202020204" pitchFamily="34" charset="0"/>
              <a:buChar char="•"/>
            </a:pPr>
            <a:r>
              <a:rPr lang="ru-RU" dirty="0" err="1"/>
              <a:t>сериализация</a:t>
            </a:r>
            <a:r>
              <a:rPr lang="ru-RU" dirty="0"/>
              <a:t>;</a:t>
            </a:r>
          </a:p>
          <a:p>
            <a:pPr marL="285750" indent="-285750">
              <a:buFont typeface="Arial" panose="020B0604020202020204" pitchFamily="34" charset="0"/>
              <a:buChar char="•"/>
            </a:pPr>
            <a:r>
              <a:rPr lang="ru-RU" dirty="0"/>
              <a:t>обработка узла до его потомков;</a:t>
            </a:r>
          </a:p>
          <a:p>
            <a:pPr marL="285750" indent="-285750">
              <a:buFont typeface="Arial" panose="020B0604020202020204" pitchFamily="34" charset="0"/>
              <a:buChar char="•"/>
            </a:pPr>
            <a:r>
              <a:rPr lang="ru-RU" dirty="0"/>
              <a:t>построение префиксной записи выражений.</a:t>
            </a:r>
          </a:p>
        </p:txBody>
      </p:sp>
      <p:sp>
        <p:nvSpPr>
          <p:cNvPr id="11" name="Прямоугольник: скругленные углы 10">
            <a:extLst>
              <a:ext uri="{FF2B5EF4-FFF2-40B4-BE49-F238E27FC236}">
                <a16:creationId xmlns:a16="http://schemas.microsoft.com/office/drawing/2014/main" id="{F7892A0F-F754-4CEA-9A37-64093B50D8D4}"/>
              </a:ext>
            </a:extLst>
          </p:cNvPr>
          <p:cNvSpPr/>
          <p:nvPr/>
        </p:nvSpPr>
        <p:spPr>
          <a:xfrm>
            <a:off x="7974106" y="1910398"/>
            <a:ext cx="3896659" cy="8679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Для чего нужен:</a:t>
            </a:r>
          </a:p>
        </p:txBody>
      </p:sp>
    </p:spTree>
    <p:extLst>
      <p:ext uri="{BB962C8B-B14F-4D97-AF65-F5344CB8AC3E}">
        <p14:creationId xmlns:p14="http://schemas.microsoft.com/office/powerpoint/2010/main" val="1813546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4C7749-7AA6-4527-9801-343E53F25ABA}"/>
              </a:ext>
            </a:extLst>
          </p:cNvPr>
          <p:cNvSpPr>
            <a:spLocks noGrp="1"/>
          </p:cNvSpPr>
          <p:nvPr>
            <p:ph type="title"/>
          </p:nvPr>
        </p:nvSpPr>
        <p:spPr/>
        <p:txBody>
          <a:bodyPr/>
          <a:lstStyle/>
          <a:p>
            <a:r>
              <a:rPr lang="ru-RU" dirty="0"/>
              <a:t>Как пройти по всем элементам дерева?</a:t>
            </a:r>
          </a:p>
        </p:txBody>
      </p:sp>
      <p:sp>
        <p:nvSpPr>
          <p:cNvPr id="7" name="Текст 6">
            <a:extLst>
              <a:ext uri="{FF2B5EF4-FFF2-40B4-BE49-F238E27FC236}">
                <a16:creationId xmlns:a16="http://schemas.microsoft.com/office/drawing/2014/main" id="{D5E804AD-63AE-45FA-AF71-1ED4B4BC9399}"/>
              </a:ext>
            </a:extLst>
          </p:cNvPr>
          <p:cNvSpPr>
            <a:spLocks noGrp="1"/>
          </p:cNvSpPr>
          <p:nvPr>
            <p:ph type="body" sz="quarter" idx="19"/>
          </p:nvPr>
        </p:nvSpPr>
        <p:spPr/>
        <p:txBody>
          <a:bodyPr/>
          <a:lstStyle/>
          <a:p>
            <a:endParaRPr lang="ru-RU"/>
          </a:p>
        </p:txBody>
      </p:sp>
      <p:sp>
        <p:nvSpPr>
          <p:cNvPr id="10" name="Прямоугольник: скругленные углы 9">
            <a:extLst>
              <a:ext uri="{FF2B5EF4-FFF2-40B4-BE49-F238E27FC236}">
                <a16:creationId xmlns:a16="http://schemas.microsoft.com/office/drawing/2014/main" id="{742A5B01-C63C-4F34-BF81-C531B960999F}"/>
              </a:ext>
            </a:extLst>
          </p:cNvPr>
          <p:cNvSpPr/>
          <p:nvPr/>
        </p:nvSpPr>
        <p:spPr>
          <a:xfrm>
            <a:off x="7974106" y="2288224"/>
            <a:ext cx="3896659" cy="301896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r>
              <a:rPr lang="ru-RU" dirty="0"/>
              <a:t>получить все элементы BST по возрастанию;</a:t>
            </a:r>
          </a:p>
          <a:p>
            <a:pPr marL="285750" indent="-285750">
              <a:buFont typeface="Arial" panose="020B0604020202020204" pitchFamily="34" charset="0"/>
              <a:buChar char="•"/>
            </a:pPr>
            <a:r>
              <a:rPr lang="ru-RU" dirty="0"/>
              <a:t>диапазонный вывод;</a:t>
            </a:r>
          </a:p>
          <a:p>
            <a:pPr marL="285750" indent="-285750">
              <a:buFont typeface="Arial" panose="020B0604020202020204" pitchFamily="34" charset="0"/>
              <a:buChar char="•"/>
            </a:pPr>
            <a:r>
              <a:rPr lang="ru-RU" dirty="0"/>
              <a:t>проверка порядка элементов;</a:t>
            </a:r>
          </a:p>
          <a:p>
            <a:pPr marL="285750" indent="-285750">
              <a:buFont typeface="Arial" panose="020B0604020202020204" pitchFamily="34" charset="0"/>
              <a:buChar char="•"/>
            </a:pPr>
            <a:r>
              <a:rPr lang="ru-RU" dirty="0"/>
              <a:t>построение инфиксной записи выражений.</a:t>
            </a:r>
          </a:p>
        </p:txBody>
      </p:sp>
      <p:sp>
        <p:nvSpPr>
          <p:cNvPr id="11" name="Прямоугольник: скругленные углы 10">
            <a:extLst>
              <a:ext uri="{FF2B5EF4-FFF2-40B4-BE49-F238E27FC236}">
                <a16:creationId xmlns:a16="http://schemas.microsoft.com/office/drawing/2014/main" id="{F7892A0F-F754-4CEA-9A37-64093B50D8D4}"/>
              </a:ext>
            </a:extLst>
          </p:cNvPr>
          <p:cNvSpPr/>
          <p:nvPr/>
        </p:nvSpPr>
        <p:spPr>
          <a:xfrm>
            <a:off x="7974106" y="1910398"/>
            <a:ext cx="3896659" cy="8679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Для чего нужен:</a:t>
            </a:r>
          </a:p>
        </p:txBody>
      </p:sp>
      <p:pic>
        <p:nvPicPr>
          <p:cNvPr id="4" name="Рисунок 3">
            <a:extLst>
              <a:ext uri="{FF2B5EF4-FFF2-40B4-BE49-F238E27FC236}">
                <a16:creationId xmlns:a16="http://schemas.microsoft.com/office/drawing/2014/main" id="{F6E5A2A0-FCB6-476A-8D91-5DFD195EF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4" y="1555936"/>
            <a:ext cx="7239000" cy="4095750"/>
          </a:xfrm>
          <a:prstGeom prst="rect">
            <a:avLst/>
          </a:prstGeom>
        </p:spPr>
      </p:pic>
    </p:spTree>
    <p:extLst>
      <p:ext uri="{BB962C8B-B14F-4D97-AF65-F5344CB8AC3E}">
        <p14:creationId xmlns:p14="http://schemas.microsoft.com/office/powerpoint/2010/main" val="1242913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EBEDF0B3-9395-4ABD-9C27-542F06739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4" y="1529042"/>
            <a:ext cx="7239000" cy="4095750"/>
          </a:xfrm>
          <a:prstGeom prst="rect">
            <a:avLst/>
          </a:prstGeom>
        </p:spPr>
      </p:pic>
      <p:sp>
        <p:nvSpPr>
          <p:cNvPr id="2" name="Заголовок 1">
            <a:extLst>
              <a:ext uri="{FF2B5EF4-FFF2-40B4-BE49-F238E27FC236}">
                <a16:creationId xmlns:a16="http://schemas.microsoft.com/office/drawing/2014/main" id="{5C4C7749-7AA6-4527-9801-343E53F25ABA}"/>
              </a:ext>
            </a:extLst>
          </p:cNvPr>
          <p:cNvSpPr>
            <a:spLocks noGrp="1"/>
          </p:cNvSpPr>
          <p:nvPr>
            <p:ph type="title"/>
          </p:nvPr>
        </p:nvSpPr>
        <p:spPr/>
        <p:txBody>
          <a:bodyPr/>
          <a:lstStyle/>
          <a:p>
            <a:r>
              <a:rPr lang="ru-RU" dirty="0"/>
              <a:t>Как пройти по всем элементам дерева?</a:t>
            </a:r>
          </a:p>
        </p:txBody>
      </p:sp>
      <p:sp>
        <p:nvSpPr>
          <p:cNvPr id="7" name="Текст 6">
            <a:extLst>
              <a:ext uri="{FF2B5EF4-FFF2-40B4-BE49-F238E27FC236}">
                <a16:creationId xmlns:a16="http://schemas.microsoft.com/office/drawing/2014/main" id="{D5E804AD-63AE-45FA-AF71-1ED4B4BC9399}"/>
              </a:ext>
            </a:extLst>
          </p:cNvPr>
          <p:cNvSpPr>
            <a:spLocks noGrp="1"/>
          </p:cNvSpPr>
          <p:nvPr>
            <p:ph type="body" sz="quarter" idx="19"/>
          </p:nvPr>
        </p:nvSpPr>
        <p:spPr/>
        <p:txBody>
          <a:bodyPr/>
          <a:lstStyle/>
          <a:p>
            <a:endParaRPr lang="ru-RU"/>
          </a:p>
        </p:txBody>
      </p:sp>
      <p:sp>
        <p:nvSpPr>
          <p:cNvPr id="10" name="Прямоугольник: скругленные углы 9">
            <a:extLst>
              <a:ext uri="{FF2B5EF4-FFF2-40B4-BE49-F238E27FC236}">
                <a16:creationId xmlns:a16="http://schemas.microsoft.com/office/drawing/2014/main" id="{742A5B01-C63C-4F34-BF81-C531B960999F}"/>
              </a:ext>
            </a:extLst>
          </p:cNvPr>
          <p:cNvSpPr/>
          <p:nvPr/>
        </p:nvSpPr>
        <p:spPr>
          <a:xfrm>
            <a:off x="7974106" y="2288224"/>
            <a:ext cx="3896659" cy="301896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r>
              <a:rPr lang="ru-RU" dirty="0"/>
              <a:t>удаление дерева;</a:t>
            </a:r>
          </a:p>
          <a:p>
            <a:pPr marL="285750" indent="-285750">
              <a:buFont typeface="Arial" panose="020B0604020202020204" pitchFamily="34" charset="0"/>
              <a:buChar char="•"/>
            </a:pPr>
            <a:r>
              <a:rPr lang="ru-RU" dirty="0"/>
              <a:t>обработка потомков до родителя;</a:t>
            </a:r>
          </a:p>
          <a:p>
            <a:pPr marL="285750" indent="-285750">
              <a:buFont typeface="Arial" panose="020B0604020202020204" pitchFamily="34" charset="0"/>
              <a:buChar char="•"/>
            </a:pPr>
            <a:r>
              <a:rPr lang="ru-RU" dirty="0"/>
              <a:t>вычисление выражений;</a:t>
            </a:r>
          </a:p>
          <a:p>
            <a:pPr marL="285750" indent="-285750">
              <a:buFont typeface="Arial" panose="020B0604020202020204" pitchFamily="34" charset="0"/>
              <a:buChar char="•"/>
            </a:pPr>
            <a:r>
              <a:rPr lang="ru-RU" dirty="0"/>
              <a:t>освобождение ресурсов снизу вверх.</a:t>
            </a:r>
          </a:p>
        </p:txBody>
      </p:sp>
      <p:sp>
        <p:nvSpPr>
          <p:cNvPr id="11" name="Прямоугольник: скругленные углы 10">
            <a:extLst>
              <a:ext uri="{FF2B5EF4-FFF2-40B4-BE49-F238E27FC236}">
                <a16:creationId xmlns:a16="http://schemas.microsoft.com/office/drawing/2014/main" id="{F7892A0F-F754-4CEA-9A37-64093B50D8D4}"/>
              </a:ext>
            </a:extLst>
          </p:cNvPr>
          <p:cNvSpPr/>
          <p:nvPr/>
        </p:nvSpPr>
        <p:spPr>
          <a:xfrm>
            <a:off x="7974106" y="1910398"/>
            <a:ext cx="3896659" cy="8679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Для чего нужен:</a:t>
            </a:r>
          </a:p>
        </p:txBody>
      </p:sp>
      <p:sp>
        <p:nvSpPr>
          <p:cNvPr id="6" name="Прямоугольник: скругленные углы 5">
            <a:extLst>
              <a:ext uri="{FF2B5EF4-FFF2-40B4-BE49-F238E27FC236}">
                <a16:creationId xmlns:a16="http://schemas.microsoft.com/office/drawing/2014/main" id="{2655F53B-4EB2-402D-BADC-A239E259019C}"/>
              </a:ext>
            </a:extLst>
          </p:cNvPr>
          <p:cNvSpPr/>
          <p:nvPr/>
        </p:nvSpPr>
        <p:spPr>
          <a:xfrm>
            <a:off x="639294" y="5759035"/>
            <a:ext cx="10910235" cy="8679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Одно и то же дерево можно обойти по-разному — порядок обхода выбирается под задачу.</a:t>
            </a:r>
          </a:p>
        </p:txBody>
      </p:sp>
    </p:spTree>
    <p:extLst>
      <p:ext uri="{BB962C8B-B14F-4D97-AF65-F5344CB8AC3E}">
        <p14:creationId xmlns:p14="http://schemas.microsoft.com/office/powerpoint/2010/main" val="2875007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F38C49-8F9E-4AD4-8A80-41FE3CE64B4E}"/>
              </a:ext>
            </a:extLst>
          </p:cNvPr>
          <p:cNvSpPr>
            <a:spLocks noGrp="1"/>
          </p:cNvSpPr>
          <p:nvPr>
            <p:ph type="title"/>
          </p:nvPr>
        </p:nvSpPr>
        <p:spPr/>
        <p:txBody>
          <a:bodyPr/>
          <a:lstStyle/>
          <a:p>
            <a:r>
              <a:rPr lang="ru-RU" dirty="0"/>
              <a:t>Дерево выражений и обходы</a:t>
            </a:r>
          </a:p>
        </p:txBody>
      </p:sp>
      <p:sp>
        <p:nvSpPr>
          <p:cNvPr id="7" name="Текст 6">
            <a:extLst>
              <a:ext uri="{FF2B5EF4-FFF2-40B4-BE49-F238E27FC236}">
                <a16:creationId xmlns:a16="http://schemas.microsoft.com/office/drawing/2014/main" id="{62F2ADE8-EED4-4545-8A19-B3F849B84F8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560ABBDB-AE28-4E4E-9C68-008BD702E988}"/>
              </a:ext>
            </a:extLst>
          </p:cNvPr>
          <p:cNvSpPr/>
          <p:nvPr/>
        </p:nvSpPr>
        <p:spPr>
          <a:xfrm>
            <a:off x="2577166" y="284097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a:t>
            </a:r>
          </a:p>
        </p:txBody>
      </p:sp>
      <p:sp>
        <p:nvSpPr>
          <p:cNvPr id="9" name="Овал 8">
            <a:extLst>
              <a:ext uri="{FF2B5EF4-FFF2-40B4-BE49-F238E27FC236}">
                <a16:creationId xmlns:a16="http://schemas.microsoft.com/office/drawing/2014/main" id="{88EAFBC0-D17D-4F26-93D5-E81BD392DE07}"/>
              </a:ext>
            </a:extLst>
          </p:cNvPr>
          <p:cNvSpPr/>
          <p:nvPr/>
        </p:nvSpPr>
        <p:spPr>
          <a:xfrm>
            <a:off x="1662767" y="375086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a:t>
            </a:r>
          </a:p>
        </p:txBody>
      </p:sp>
      <p:sp>
        <p:nvSpPr>
          <p:cNvPr id="10" name="Овал 9">
            <a:extLst>
              <a:ext uri="{FF2B5EF4-FFF2-40B4-BE49-F238E27FC236}">
                <a16:creationId xmlns:a16="http://schemas.microsoft.com/office/drawing/2014/main" id="{F24C9F02-0754-4AF7-8DC2-13A9AC821F36}"/>
              </a:ext>
            </a:extLst>
          </p:cNvPr>
          <p:cNvSpPr/>
          <p:nvPr/>
        </p:nvSpPr>
        <p:spPr>
          <a:xfrm>
            <a:off x="3155577" y="375086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a:t>
            </a:r>
          </a:p>
        </p:txBody>
      </p:sp>
      <p:sp>
        <p:nvSpPr>
          <p:cNvPr id="11" name="Овал 10">
            <a:extLst>
              <a:ext uri="{FF2B5EF4-FFF2-40B4-BE49-F238E27FC236}">
                <a16:creationId xmlns:a16="http://schemas.microsoft.com/office/drawing/2014/main" id="{ADDFA246-E355-406B-BC93-2470F1661A80}"/>
              </a:ext>
            </a:extLst>
          </p:cNvPr>
          <p:cNvSpPr/>
          <p:nvPr/>
        </p:nvSpPr>
        <p:spPr>
          <a:xfrm>
            <a:off x="479424" y="48826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a:t>
            </a:r>
          </a:p>
        </p:txBody>
      </p:sp>
      <p:sp>
        <p:nvSpPr>
          <p:cNvPr id="12" name="Овал 11">
            <a:extLst>
              <a:ext uri="{FF2B5EF4-FFF2-40B4-BE49-F238E27FC236}">
                <a16:creationId xmlns:a16="http://schemas.microsoft.com/office/drawing/2014/main" id="{B862CFBF-4AE5-4D45-9AD5-C2FD74CA26E8}"/>
              </a:ext>
            </a:extLst>
          </p:cNvPr>
          <p:cNvSpPr/>
          <p:nvPr/>
        </p:nvSpPr>
        <p:spPr>
          <a:xfrm>
            <a:off x="1662767" y="488264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3</a:t>
            </a:r>
          </a:p>
        </p:txBody>
      </p:sp>
      <p:sp>
        <p:nvSpPr>
          <p:cNvPr id="13" name="Овал 12">
            <a:extLst>
              <a:ext uri="{FF2B5EF4-FFF2-40B4-BE49-F238E27FC236}">
                <a16:creationId xmlns:a16="http://schemas.microsoft.com/office/drawing/2014/main" id="{A426F12C-1C84-4388-9DA0-6D8CAF6C3F50}"/>
              </a:ext>
            </a:extLst>
          </p:cNvPr>
          <p:cNvSpPr/>
          <p:nvPr/>
        </p:nvSpPr>
        <p:spPr>
          <a:xfrm>
            <a:off x="3155577" y="488264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a:t>
            </a:r>
          </a:p>
        </p:txBody>
      </p:sp>
      <p:sp>
        <p:nvSpPr>
          <p:cNvPr id="14" name="Овал 13">
            <a:extLst>
              <a:ext uri="{FF2B5EF4-FFF2-40B4-BE49-F238E27FC236}">
                <a16:creationId xmlns:a16="http://schemas.microsoft.com/office/drawing/2014/main" id="{67FF84C0-5662-4F2D-A2F7-4E1701B7A428}"/>
              </a:ext>
            </a:extLst>
          </p:cNvPr>
          <p:cNvSpPr/>
          <p:nvPr/>
        </p:nvSpPr>
        <p:spPr>
          <a:xfrm>
            <a:off x="4338920" y="488264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a:t>
            </a:r>
          </a:p>
        </p:txBody>
      </p:sp>
      <p:cxnSp>
        <p:nvCxnSpPr>
          <p:cNvPr id="15" name="Прямая со стрелкой 14">
            <a:extLst>
              <a:ext uri="{FF2B5EF4-FFF2-40B4-BE49-F238E27FC236}">
                <a16:creationId xmlns:a16="http://schemas.microsoft.com/office/drawing/2014/main" id="{6953DC4E-897E-49EF-A39A-5C668E4DA250}"/>
              </a:ext>
            </a:extLst>
          </p:cNvPr>
          <p:cNvCxnSpPr>
            <a:stCxn id="8" idx="3"/>
            <a:endCxn id="9" idx="0"/>
          </p:cNvCxnSpPr>
          <p:nvPr/>
        </p:nvCxnSpPr>
        <p:spPr>
          <a:xfrm flipH="1">
            <a:off x="2119967" y="3621461"/>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A91FF180-C552-43D2-9C8D-F0A7AB65F916}"/>
              </a:ext>
            </a:extLst>
          </p:cNvPr>
          <p:cNvCxnSpPr>
            <a:cxnSpLocks/>
            <a:stCxn id="8" idx="5"/>
            <a:endCxn id="10" idx="0"/>
          </p:cNvCxnSpPr>
          <p:nvPr/>
        </p:nvCxnSpPr>
        <p:spPr>
          <a:xfrm>
            <a:off x="3357654" y="3621461"/>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EE1B8D83-F02C-4CCC-BB73-873E3D166339}"/>
              </a:ext>
            </a:extLst>
          </p:cNvPr>
          <p:cNvCxnSpPr>
            <a:cxnSpLocks/>
            <a:stCxn id="9" idx="3"/>
            <a:endCxn id="11" idx="0"/>
          </p:cNvCxnSpPr>
          <p:nvPr/>
        </p:nvCxnSpPr>
        <p:spPr>
          <a:xfrm flipH="1">
            <a:off x="936624" y="4531354"/>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462DEDD4-A657-4955-9E99-32A9256F2B84}"/>
              </a:ext>
            </a:extLst>
          </p:cNvPr>
          <p:cNvCxnSpPr>
            <a:cxnSpLocks/>
            <a:stCxn id="10" idx="5"/>
            <a:endCxn id="14" idx="0"/>
          </p:cNvCxnSpPr>
          <p:nvPr/>
        </p:nvCxnSpPr>
        <p:spPr>
          <a:xfrm>
            <a:off x="3936065" y="4531352"/>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447E3264-284C-4AAA-802C-594DE29679B4}"/>
              </a:ext>
            </a:extLst>
          </p:cNvPr>
          <p:cNvCxnSpPr>
            <a:cxnSpLocks/>
            <a:stCxn id="9" idx="4"/>
            <a:endCxn id="12" idx="0"/>
          </p:cNvCxnSpPr>
          <p:nvPr/>
        </p:nvCxnSpPr>
        <p:spPr>
          <a:xfrm>
            <a:off x="2119967" y="4665265"/>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4043EDCE-822F-48B0-9016-B74F5709ED8D}"/>
              </a:ext>
            </a:extLst>
          </p:cNvPr>
          <p:cNvCxnSpPr>
            <a:cxnSpLocks/>
            <a:stCxn id="10" idx="4"/>
            <a:endCxn id="13" idx="0"/>
          </p:cNvCxnSpPr>
          <p:nvPr/>
        </p:nvCxnSpPr>
        <p:spPr>
          <a:xfrm>
            <a:off x="3612777" y="4665263"/>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Прямоугольник 26">
            <a:extLst>
              <a:ext uri="{FF2B5EF4-FFF2-40B4-BE49-F238E27FC236}">
                <a16:creationId xmlns:a16="http://schemas.microsoft.com/office/drawing/2014/main" id="{7B582517-7151-470B-8B9D-7EC0F268C6B6}"/>
              </a:ext>
            </a:extLst>
          </p:cNvPr>
          <p:cNvSpPr/>
          <p:nvPr/>
        </p:nvSpPr>
        <p:spPr>
          <a:xfrm>
            <a:off x="1896874" y="1603865"/>
            <a:ext cx="2274982" cy="461665"/>
          </a:xfrm>
          <a:prstGeom prst="rect">
            <a:avLst/>
          </a:prstGeom>
        </p:spPr>
        <p:txBody>
          <a:bodyPr wrap="none">
            <a:spAutoFit/>
          </a:bodyPr>
          <a:lstStyle/>
          <a:p>
            <a:r>
              <a:rPr lang="ru-RU" sz="2400" dirty="0"/>
              <a:t>(2 + 3) × (7 - 4)</a:t>
            </a:r>
          </a:p>
        </p:txBody>
      </p:sp>
      <p:sp>
        <p:nvSpPr>
          <p:cNvPr id="28" name="Прямоугольник 27">
            <a:extLst>
              <a:ext uri="{FF2B5EF4-FFF2-40B4-BE49-F238E27FC236}">
                <a16:creationId xmlns:a16="http://schemas.microsoft.com/office/drawing/2014/main" id="{1FB7566F-6E50-4158-95DE-8A74C519DD3E}"/>
              </a:ext>
            </a:extLst>
          </p:cNvPr>
          <p:cNvSpPr/>
          <p:nvPr/>
        </p:nvSpPr>
        <p:spPr>
          <a:xfrm>
            <a:off x="6803655" y="1768852"/>
            <a:ext cx="4851008" cy="1200329"/>
          </a:xfrm>
          <a:prstGeom prst="rect">
            <a:avLst/>
          </a:prstGeom>
        </p:spPr>
        <p:txBody>
          <a:bodyPr wrap="none">
            <a:spAutoFit/>
          </a:bodyPr>
          <a:lstStyle/>
          <a:p>
            <a:r>
              <a:rPr lang="en-US" sz="2400" b="1" dirty="0" err="1"/>
              <a:t>Inorder</a:t>
            </a:r>
            <a:r>
              <a:rPr lang="en-US" sz="2400" b="1" dirty="0"/>
              <a:t>:</a:t>
            </a:r>
          </a:p>
          <a:p>
            <a:r>
              <a:rPr lang="ru-RU" sz="2400" dirty="0"/>
              <a:t>(2 + 3) × (7 - 4)</a:t>
            </a:r>
            <a:r>
              <a:rPr lang="en-US" sz="2400" dirty="0"/>
              <a:t> </a:t>
            </a:r>
          </a:p>
          <a:p>
            <a:r>
              <a:rPr lang="en-US" sz="2400" dirty="0"/>
              <a:t>- </a:t>
            </a:r>
            <a:r>
              <a:rPr lang="ru-RU" sz="2400" dirty="0"/>
              <a:t>обычная инфиксная запись</a:t>
            </a:r>
          </a:p>
        </p:txBody>
      </p:sp>
      <p:sp>
        <p:nvSpPr>
          <p:cNvPr id="29" name="Прямоугольник 28">
            <a:extLst>
              <a:ext uri="{FF2B5EF4-FFF2-40B4-BE49-F238E27FC236}">
                <a16:creationId xmlns:a16="http://schemas.microsoft.com/office/drawing/2014/main" id="{4DBDDBF5-6607-4169-8084-7F911DC2C260}"/>
              </a:ext>
            </a:extLst>
          </p:cNvPr>
          <p:cNvSpPr/>
          <p:nvPr/>
        </p:nvSpPr>
        <p:spPr>
          <a:xfrm>
            <a:off x="6859760" y="3085997"/>
            <a:ext cx="3560590" cy="1200329"/>
          </a:xfrm>
          <a:prstGeom prst="rect">
            <a:avLst/>
          </a:prstGeom>
        </p:spPr>
        <p:txBody>
          <a:bodyPr wrap="none">
            <a:spAutoFit/>
          </a:bodyPr>
          <a:lstStyle/>
          <a:p>
            <a:r>
              <a:rPr lang="en-US" sz="2400" b="1" dirty="0"/>
              <a:t>Preorder:</a:t>
            </a:r>
          </a:p>
          <a:p>
            <a:r>
              <a:rPr lang="ru-RU" sz="2400" dirty="0"/>
              <a:t>× + 2 3 - 7 4</a:t>
            </a:r>
            <a:endParaRPr lang="en-US" sz="2400" dirty="0"/>
          </a:p>
          <a:p>
            <a:r>
              <a:rPr lang="en-US" sz="2400" dirty="0"/>
              <a:t>- </a:t>
            </a:r>
            <a:r>
              <a:rPr lang="ru-RU" sz="2400" dirty="0"/>
              <a:t>префиксная запись</a:t>
            </a:r>
          </a:p>
        </p:txBody>
      </p:sp>
      <p:sp>
        <p:nvSpPr>
          <p:cNvPr id="30" name="Прямоугольник 29">
            <a:extLst>
              <a:ext uri="{FF2B5EF4-FFF2-40B4-BE49-F238E27FC236}">
                <a16:creationId xmlns:a16="http://schemas.microsoft.com/office/drawing/2014/main" id="{157A4E31-E5A2-4049-B2F2-C565CFA149E9}"/>
              </a:ext>
            </a:extLst>
          </p:cNvPr>
          <p:cNvSpPr/>
          <p:nvPr/>
        </p:nvSpPr>
        <p:spPr>
          <a:xfrm>
            <a:off x="6803655" y="4403142"/>
            <a:ext cx="3672800" cy="1200329"/>
          </a:xfrm>
          <a:prstGeom prst="rect">
            <a:avLst/>
          </a:prstGeom>
        </p:spPr>
        <p:txBody>
          <a:bodyPr wrap="none">
            <a:spAutoFit/>
          </a:bodyPr>
          <a:lstStyle/>
          <a:p>
            <a:r>
              <a:rPr lang="en-US" sz="2400" b="1" dirty="0" err="1"/>
              <a:t>Postorder</a:t>
            </a:r>
            <a:r>
              <a:rPr lang="en-US" sz="2400" b="1" dirty="0"/>
              <a:t>:</a:t>
            </a:r>
          </a:p>
          <a:p>
            <a:r>
              <a:rPr lang="ru-RU" sz="2400" dirty="0"/>
              <a:t>2 3 + 7 4 - ×</a:t>
            </a:r>
            <a:endParaRPr lang="en-US" sz="2400" dirty="0"/>
          </a:p>
          <a:p>
            <a:r>
              <a:rPr lang="en-US" sz="2400" dirty="0"/>
              <a:t>- </a:t>
            </a:r>
            <a:r>
              <a:rPr lang="ru-RU" sz="2400" dirty="0"/>
              <a:t>постфиксная запись</a:t>
            </a:r>
          </a:p>
        </p:txBody>
      </p:sp>
    </p:spTree>
    <p:extLst>
      <p:ext uri="{BB962C8B-B14F-4D97-AF65-F5344CB8AC3E}">
        <p14:creationId xmlns:p14="http://schemas.microsoft.com/office/powerpoint/2010/main" val="190146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F38C49-8F9E-4AD4-8A80-41FE3CE64B4E}"/>
              </a:ext>
            </a:extLst>
          </p:cNvPr>
          <p:cNvSpPr>
            <a:spLocks noGrp="1"/>
          </p:cNvSpPr>
          <p:nvPr>
            <p:ph type="title"/>
          </p:nvPr>
        </p:nvSpPr>
        <p:spPr>
          <a:xfrm>
            <a:off x="479425" y="597855"/>
            <a:ext cx="11229975" cy="1140459"/>
          </a:xfrm>
        </p:spPr>
        <p:txBody>
          <a:bodyPr/>
          <a:lstStyle/>
          <a:p>
            <a:r>
              <a:rPr lang="ru-RU" b="1" dirty="0"/>
              <a:t>Где используются деревья выражений</a:t>
            </a:r>
            <a:endParaRPr lang="ru-RU" dirty="0"/>
          </a:p>
        </p:txBody>
      </p:sp>
      <p:sp>
        <p:nvSpPr>
          <p:cNvPr id="7" name="Текст 6">
            <a:extLst>
              <a:ext uri="{FF2B5EF4-FFF2-40B4-BE49-F238E27FC236}">
                <a16:creationId xmlns:a16="http://schemas.microsoft.com/office/drawing/2014/main" id="{62F2ADE8-EED4-4545-8A19-B3F849B84F80}"/>
              </a:ext>
            </a:extLst>
          </p:cNvPr>
          <p:cNvSpPr>
            <a:spLocks noGrp="1"/>
          </p:cNvSpPr>
          <p:nvPr>
            <p:ph type="body" sz="quarter" idx="19"/>
          </p:nvPr>
        </p:nvSpPr>
        <p:spPr/>
        <p:txBody>
          <a:bodyPr/>
          <a:lstStyle/>
          <a:p>
            <a:endParaRPr lang="ru-RU"/>
          </a:p>
        </p:txBody>
      </p:sp>
      <p:pic>
        <p:nvPicPr>
          <p:cNvPr id="6" name="Рисунок 5">
            <a:extLst>
              <a:ext uri="{FF2B5EF4-FFF2-40B4-BE49-F238E27FC236}">
                <a16:creationId xmlns:a16="http://schemas.microsoft.com/office/drawing/2014/main" id="{53EA6B5D-EC1C-41DD-A232-02762478E1A3}"/>
              </a:ext>
            </a:extLst>
          </p:cNvPr>
          <p:cNvPicPr>
            <a:picLocks noChangeAspect="1"/>
          </p:cNvPicPr>
          <p:nvPr/>
        </p:nvPicPr>
        <p:blipFill>
          <a:blip r:embed="rId2"/>
          <a:stretch>
            <a:fillRect/>
          </a:stretch>
        </p:blipFill>
        <p:spPr>
          <a:xfrm>
            <a:off x="1006941" y="1168084"/>
            <a:ext cx="10174941" cy="5385565"/>
          </a:xfrm>
          <a:prstGeom prst="rect">
            <a:avLst/>
          </a:prstGeom>
        </p:spPr>
      </p:pic>
    </p:spTree>
    <p:extLst>
      <p:ext uri="{BB962C8B-B14F-4D97-AF65-F5344CB8AC3E}">
        <p14:creationId xmlns:p14="http://schemas.microsoft.com/office/powerpoint/2010/main" val="3126502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1798C-E954-4ABF-AA56-D6F7F1CE22BB}"/>
              </a:ext>
            </a:extLst>
          </p:cNvPr>
          <p:cNvSpPr>
            <a:spLocks noGrp="1"/>
          </p:cNvSpPr>
          <p:nvPr>
            <p:ph type="title"/>
          </p:nvPr>
        </p:nvSpPr>
        <p:spPr/>
        <p:txBody>
          <a:bodyPr/>
          <a:lstStyle/>
          <a:p>
            <a:r>
              <a:rPr lang="ru-RU" dirty="0"/>
              <a:t>Форма дерева влияет на скорость поиска</a:t>
            </a:r>
          </a:p>
        </p:txBody>
      </p:sp>
      <p:sp>
        <p:nvSpPr>
          <p:cNvPr id="7" name="Текст 6">
            <a:extLst>
              <a:ext uri="{FF2B5EF4-FFF2-40B4-BE49-F238E27FC236}">
                <a16:creationId xmlns:a16="http://schemas.microsoft.com/office/drawing/2014/main" id="{B949DCCB-529A-49D0-9589-51F4DAAEC142}"/>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3542834C-C136-455E-B589-FE295DF148FA}"/>
              </a:ext>
            </a:extLst>
          </p:cNvPr>
          <p:cNvSpPr/>
          <p:nvPr/>
        </p:nvSpPr>
        <p:spPr>
          <a:xfrm>
            <a:off x="2577166" y="173831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sp>
        <p:nvSpPr>
          <p:cNvPr id="9" name="Овал 8">
            <a:extLst>
              <a:ext uri="{FF2B5EF4-FFF2-40B4-BE49-F238E27FC236}">
                <a16:creationId xmlns:a16="http://schemas.microsoft.com/office/drawing/2014/main" id="{94195E91-4279-4EB0-BBFB-9FA55C66A3D5}"/>
              </a:ext>
            </a:extLst>
          </p:cNvPr>
          <p:cNvSpPr/>
          <p:nvPr/>
        </p:nvSpPr>
        <p:spPr>
          <a:xfrm>
            <a:off x="1662767" y="264820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p>
        </p:txBody>
      </p:sp>
      <p:sp>
        <p:nvSpPr>
          <p:cNvPr id="10" name="Овал 9">
            <a:extLst>
              <a:ext uri="{FF2B5EF4-FFF2-40B4-BE49-F238E27FC236}">
                <a16:creationId xmlns:a16="http://schemas.microsoft.com/office/drawing/2014/main" id="{CF01BF45-FDBB-47CB-AA2B-EA7D34528595}"/>
              </a:ext>
            </a:extLst>
          </p:cNvPr>
          <p:cNvSpPr/>
          <p:nvPr/>
        </p:nvSpPr>
        <p:spPr>
          <a:xfrm>
            <a:off x="3155577" y="264820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60</a:t>
            </a:r>
          </a:p>
        </p:txBody>
      </p:sp>
      <p:sp>
        <p:nvSpPr>
          <p:cNvPr id="11" name="Овал 10">
            <a:extLst>
              <a:ext uri="{FF2B5EF4-FFF2-40B4-BE49-F238E27FC236}">
                <a16:creationId xmlns:a16="http://schemas.microsoft.com/office/drawing/2014/main" id="{3F6EEA4A-569E-4007-B14F-6EFED8F12069}"/>
              </a:ext>
            </a:extLst>
          </p:cNvPr>
          <p:cNvSpPr/>
          <p:nvPr/>
        </p:nvSpPr>
        <p:spPr>
          <a:xfrm>
            <a:off x="479424" y="377998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10</a:t>
            </a:r>
          </a:p>
        </p:txBody>
      </p:sp>
      <p:sp>
        <p:nvSpPr>
          <p:cNvPr id="12" name="Овал 11">
            <a:extLst>
              <a:ext uri="{FF2B5EF4-FFF2-40B4-BE49-F238E27FC236}">
                <a16:creationId xmlns:a16="http://schemas.microsoft.com/office/drawing/2014/main" id="{82D3D5C0-CFBB-44EA-B66A-FF1FDE633C5D}"/>
              </a:ext>
            </a:extLst>
          </p:cNvPr>
          <p:cNvSpPr/>
          <p:nvPr/>
        </p:nvSpPr>
        <p:spPr>
          <a:xfrm>
            <a:off x="1662767"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30</a:t>
            </a:r>
          </a:p>
        </p:txBody>
      </p:sp>
      <p:sp>
        <p:nvSpPr>
          <p:cNvPr id="13" name="Овал 12">
            <a:extLst>
              <a:ext uri="{FF2B5EF4-FFF2-40B4-BE49-F238E27FC236}">
                <a16:creationId xmlns:a16="http://schemas.microsoft.com/office/drawing/2014/main" id="{58C76878-7B13-4D50-B5DF-416A57686B27}"/>
              </a:ext>
            </a:extLst>
          </p:cNvPr>
          <p:cNvSpPr/>
          <p:nvPr/>
        </p:nvSpPr>
        <p:spPr>
          <a:xfrm>
            <a:off x="3155577" y="377998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p>
        </p:txBody>
      </p:sp>
      <p:sp>
        <p:nvSpPr>
          <p:cNvPr id="14" name="Овал 13">
            <a:extLst>
              <a:ext uri="{FF2B5EF4-FFF2-40B4-BE49-F238E27FC236}">
                <a16:creationId xmlns:a16="http://schemas.microsoft.com/office/drawing/2014/main" id="{32606A38-B2E5-4EF5-BB9F-05E1544CF747}"/>
              </a:ext>
            </a:extLst>
          </p:cNvPr>
          <p:cNvSpPr/>
          <p:nvPr/>
        </p:nvSpPr>
        <p:spPr>
          <a:xfrm>
            <a:off x="4338920" y="377998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cxnSp>
        <p:nvCxnSpPr>
          <p:cNvPr id="15" name="Прямая со стрелкой 14">
            <a:extLst>
              <a:ext uri="{FF2B5EF4-FFF2-40B4-BE49-F238E27FC236}">
                <a16:creationId xmlns:a16="http://schemas.microsoft.com/office/drawing/2014/main" id="{84B60C44-A71A-4DAD-A70F-D0BA8E3DB914}"/>
              </a:ext>
            </a:extLst>
          </p:cNvPr>
          <p:cNvCxnSpPr>
            <a:stCxn id="8" idx="3"/>
            <a:endCxn id="9" idx="0"/>
          </p:cNvCxnSpPr>
          <p:nvPr/>
        </p:nvCxnSpPr>
        <p:spPr>
          <a:xfrm flipH="1">
            <a:off x="2119967" y="2518802"/>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790D380D-0546-4EA4-BE92-8E1B049FB822}"/>
              </a:ext>
            </a:extLst>
          </p:cNvPr>
          <p:cNvCxnSpPr>
            <a:cxnSpLocks/>
            <a:stCxn id="8" idx="5"/>
            <a:endCxn id="10" idx="0"/>
          </p:cNvCxnSpPr>
          <p:nvPr/>
        </p:nvCxnSpPr>
        <p:spPr>
          <a:xfrm>
            <a:off x="3357654" y="2518802"/>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1A3946CE-62DC-4C0B-8B20-78E6F50F4D59}"/>
              </a:ext>
            </a:extLst>
          </p:cNvPr>
          <p:cNvCxnSpPr>
            <a:cxnSpLocks/>
            <a:stCxn id="9" idx="3"/>
            <a:endCxn id="11" idx="0"/>
          </p:cNvCxnSpPr>
          <p:nvPr/>
        </p:nvCxnSpPr>
        <p:spPr>
          <a:xfrm flipH="1">
            <a:off x="936624" y="3428695"/>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8712F29F-74CB-4FBE-A328-AA4F5D722579}"/>
              </a:ext>
            </a:extLst>
          </p:cNvPr>
          <p:cNvCxnSpPr>
            <a:cxnSpLocks/>
            <a:stCxn id="10" idx="5"/>
            <a:endCxn id="14" idx="0"/>
          </p:cNvCxnSpPr>
          <p:nvPr/>
        </p:nvCxnSpPr>
        <p:spPr>
          <a:xfrm>
            <a:off x="3936065" y="3428693"/>
            <a:ext cx="860055"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DEE2395F-5A86-4219-AD9C-C9E6BCC3D8BC}"/>
              </a:ext>
            </a:extLst>
          </p:cNvPr>
          <p:cNvCxnSpPr>
            <a:cxnSpLocks/>
            <a:stCxn id="9" idx="4"/>
            <a:endCxn id="12" idx="0"/>
          </p:cNvCxnSpPr>
          <p:nvPr/>
        </p:nvCxnSpPr>
        <p:spPr>
          <a:xfrm>
            <a:off x="2119967" y="3562606"/>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1041C35F-2F7C-4948-8EDA-B5B28934AE14}"/>
              </a:ext>
            </a:extLst>
          </p:cNvPr>
          <p:cNvCxnSpPr>
            <a:cxnSpLocks/>
            <a:stCxn id="10" idx="4"/>
            <a:endCxn id="13" idx="0"/>
          </p:cNvCxnSpPr>
          <p:nvPr/>
        </p:nvCxnSpPr>
        <p:spPr>
          <a:xfrm>
            <a:off x="3612777" y="3562604"/>
            <a:ext cx="0" cy="217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3D501941-8C99-4F8B-9C23-6CEB98C11A1E}"/>
              </a:ext>
            </a:extLst>
          </p:cNvPr>
          <p:cNvSpPr/>
          <p:nvPr/>
        </p:nvSpPr>
        <p:spPr>
          <a:xfrm>
            <a:off x="211507" y="5088628"/>
            <a:ext cx="2679611" cy="8172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Высота небольшая</a:t>
            </a:r>
          </a:p>
        </p:txBody>
      </p:sp>
      <p:sp>
        <p:nvSpPr>
          <p:cNvPr id="23" name="Прямоугольник: скругленные углы 22">
            <a:extLst>
              <a:ext uri="{FF2B5EF4-FFF2-40B4-BE49-F238E27FC236}">
                <a16:creationId xmlns:a16="http://schemas.microsoft.com/office/drawing/2014/main" id="{BBBFEB60-21C3-472F-BEFF-389E7B0C0FE8}"/>
              </a:ext>
            </a:extLst>
          </p:cNvPr>
          <p:cNvSpPr/>
          <p:nvPr/>
        </p:nvSpPr>
        <p:spPr>
          <a:xfrm>
            <a:off x="3174158" y="5087212"/>
            <a:ext cx="2679610" cy="8172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O(log(n))</a:t>
            </a:r>
            <a:endParaRPr lang="ru-RU" dirty="0"/>
          </a:p>
        </p:txBody>
      </p:sp>
      <p:sp>
        <p:nvSpPr>
          <p:cNvPr id="24" name="Овал 23">
            <a:extLst>
              <a:ext uri="{FF2B5EF4-FFF2-40B4-BE49-F238E27FC236}">
                <a16:creationId xmlns:a16="http://schemas.microsoft.com/office/drawing/2014/main" id="{703D9392-9A79-4718-A70F-4802DF154280}"/>
              </a:ext>
            </a:extLst>
          </p:cNvPr>
          <p:cNvSpPr/>
          <p:nvPr/>
        </p:nvSpPr>
        <p:spPr>
          <a:xfrm>
            <a:off x="7207626" y="118852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sp>
        <p:nvSpPr>
          <p:cNvPr id="25" name="Овал 24">
            <a:extLst>
              <a:ext uri="{FF2B5EF4-FFF2-40B4-BE49-F238E27FC236}">
                <a16:creationId xmlns:a16="http://schemas.microsoft.com/office/drawing/2014/main" id="{4D1FFB02-A1A4-47A6-ABC4-AEF575C5016B}"/>
              </a:ext>
            </a:extLst>
          </p:cNvPr>
          <p:cNvSpPr/>
          <p:nvPr/>
        </p:nvSpPr>
        <p:spPr>
          <a:xfrm>
            <a:off x="8122025" y="206160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20</a:t>
            </a:r>
            <a:endParaRPr lang="ru-RU" dirty="0"/>
          </a:p>
        </p:txBody>
      </p:sp>
      <p:sp>
        <p:nvSpPr>
          <p:cNvPr id="26" name="Овал 25">
            <a:extLst>
              <a:ext uri="{FF2B5EF4-FFF2-40B4-BE49-F238E27FC236}">
                <a16:creationId xmlns:a16="http://schemas.microsoft.com/office/drawing/2014/main" id="{1DCFD3C8-687E-4316-8AEB-2C7A465FDAA8}"/>
              </a:ext>
            </a:extLst>
          </p:cNvPr>
          <p:cNvSpPr/>
          <p:nvPr/>
        </p:nvSpPr>
        <p:spPr>
          <a:xfrm>
            <a:off x="9036424" y="303804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30</a:t>
            </a:r>
            <a:endParaRPr lang="ru-RU" dirty="0"/>
          </a:p>
        </p:txBody>
      </p:sp>
      <p:sp>
        <p:nvSpPr>
          <p:cNvPr id="27" name="Овал 26">
            <a:extLst>
              <a:ext uri="{FF2B5EF4-FFF2-40B4-BE49-F238E27FC236}">
                <a16:creationId xmlns:a16="http://schemas.microsoft.com/office/drawing/2014/main" id="{B95EBE64-1C0B-4CFB-BAF7-9054C31B0A3D}"/>
              </a:ext>
            </a:extLst>
          </p:cNvPr>
          <p:cNvSpPr/>
          <p:nvPr/>
        </p:nvSpPr>
        <p:spPr>
          <a:xfrm>
            <a:off x="9963149" y="394061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cxnSp>
        <p:nvCxnSpPr>
          <p:cNvPr id="28" name="Прямая со стрелкой 27">
            <a:extLst>
              <a:ext uri="{FF2B5EF4-FFF2-40B4-BE49-F238E27FC236}">
                <a16:creationId xmlns:a16="http://schemas.microsoft.com/office/drawing/2014/main" id="{38950CE7-C145-45D8-83CB-C670B544F232}"/>
              </a:ext>
            </a:extLst>
          </p:cNvPr>
          <p:cNvCxnSpPr>
            <a:cxnSpLocks/>
            <a:stCxn id="24" idx="5"/>
            <a:endCxn id="25" idx="1"/>
          </p:cNvCxnSpPr>
          <p:nvPr/>
        </p:nvCxnSpPr>
        <p:spPr>
          <a:xfrm>
            <a:off x="7988114" y="1969009"/>
            <a:ext cx="267822" cy="2265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C94B7F5E-C34C-4BA6-9EC6-3C54546EEF1C}"/>
              </a:ext>
            </a:extLst>
          </p:cNvPr>
          <p:cNvCxnSpPr>
            <a:cxnSpLocks/>
            <a:stCxn id="25" idx="5"/>
            <a:endCxn id="26" idx="1"/>
          </p:cNvCxnSpPr>
          <p:nvPr/>
        </p:nvCxnSpPr>
        <p:spPr>
          <a:xfrm>
            <a:off x="8902513" y="2842090"/>
            <a:ext cx="267822" cy="32986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a:extLst>
              <a:ext uri="{FF2B5EF4-FFF2-40B4-BE49-F238E27FC236}">
                <a16:creationId xmlns:a16="http://schemas.microsoft.com/office/drawing/2014/main" id="{11156798-F75B-46DD-AC9D-E19554311785}"/>
              </a:ext>
            </a:extLst>
          </p:cNvPr>
          <p:cNvCxnSpPr>
            <a:cxnSpLocks/>
            <a:stCxn id="26" idx="5"/>
            <a:endCxn id="27" idx="1"/>
          </p:cNvCxnSpPr>
          <p:nvPr/>
        </p:nvCxnSpPr>
        <p:spPr>
          <a:xfrm>
            <a:off x="9816912" y="3818530"/>
            <a:ext cx="280148" cy="25599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1" name="Прямоугольник: скругленные углы 40">
            <a:extLst>
              <a:ext uri="{FF2B5EF4-FFF2-40B4-BE49-F238E27FC236}">
                <a16:creationId xmlns:a16="http://schemas.microsoft.com/office/drawing/2014/main" id="{BD503C90-1736-4C95-87B9-2EB0428E3C7E}"/>
              </a:ext>
            </a:extLst>
          </p:cNvPr>
          <p:cNvSpPr/>
          <p:nvPr/>
        </p:nvSpPr>
        <p:spPr>
          <a:xfrm>
            <a:off x="6320862" y="5121103"/>
            <a:ext cx="2679611" cy="8172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Дерево вытянуто</a:t>
            </a:r>
          </a:p>
        </p:txBody>
      </p:sp>
      <p:sp>
        <p:nvSpPr>
          <p:cNvPr id="42" name="Прямоугольник: скругленные углы 41">
            <a:extLst>
              <a:ext uri="{FF2B5EF4-FFF2-40B4-BE49-F238E27FC236}">
                <a16:creationId xmlns:a16="http://schemas.microsoft.com/office/drawing/2014/main" id="{DFDFB778-47AD-4B1E-9C35-4D4EA3968BDC}"/>
              </a:ext>
            </a:extLst>
          </p:cNvPr>
          <p:cNvSpPr/>
          <p:nvPr/>
        </p:nvSpPr>
        <p:spPr>
          <a:xfrm>
            <a:off x="9283513" y="5119687"/>
            <a:ext cx="2679610" cy="8172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a:t>
            </a:r>
            <a:endParaRPr lang="ru-RU" dirty="0"/>
          </a:p>
        </p:txBody>
      </p:sp>
    </p:spTree>
    <p:extLst>
      <p:ext uri="{BB962C8B-B14F-4D97-AF65-F5344CB8AC3E}">
        <p14:creationId xmlns:p14="http://schemas.microsoft.com/office/powerpoint/2010/main" val="1775408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5C7A2-DBC1-43D9-9AFA-8CBE07E1BF9B}"/>
              </a:ext>
            </a:extLst>
          </p:cNvPr>
          <p:cNvSpPr>
            <a:spLocks noGrp="1"/>
          </p:cNvSpPr>
          <p:nvPr>
            <p:ph type="title"/>
          </p:nvPr>
        </p:nvSpPr>
        <p:spPr/>
        <p:txBody>
          <a:bodyPr/>
          <a:lstStyle/>
          <a:p>
            <a:r>
              <a:rPr lang="ru-RU" dirty="0"/>
              <a:t>Почему дерево вырождается</a:t>
            </a:r>
          </a:p>
        </p:txBody>
      </p:sp>
      <p:sp>
        <p:nvSpPr>
          <p:cNvPr id="7" name="Текст 6">
            <a:extLst>
              <a:ext uri="{FF2B5EF4-FFF2-40B4-BE49-F238E27FC236}">
                <a16:creationId xmlns:a16="http://schemas.microsoft.com/office/drawing/2014/main" id="{973DAF98-CFCE-4797-A43B-454B0369BB9A}"/>
              </a:ext>
            </a:extLst>
          </p:cNvPr>
          <p:cNvSpPr>
            <a:spLocks noGrp="1"/>
          </p:cNvSpPr>
          <p:nvPr>
            <p:ph type="body" sz="quarter" idx="19"/>
          </p:nvPr>
        </p:nvSpPr>
        <p:spPr/>
        <p:txBody>
          <a:bodyPr/>
          <a:lstStyle/>
          <a:p>
            <a:endParaRPr lang="ru-RU"/>
          </a:p>
        </p:txBody>
      </p:sp>
      <p:pic>
        <p:nvPicPr>
          <p:cNvPr id="10" name="Рисунок 9">
            <a:extLst>
              <a:ext uri="{FF2B5EF4-FFF2-40B4-BE49-F238E27FC236}">
                <a16:creationId xmlns:a16="http://schemas.microsoft.com/office/drawing/2014/main" id="{3D8C2A9B-39CB-4E4E-A131-2C74718AF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4" y="2020421"/>
            <a:ext cx="6667500" cy="4000500"/>
          </a:xfrm>
          <a:prstGeom prst="rect">
            <a:avLst/>
          </a:prstGeom>
        </p:spPr>
      </p:pic>
      <p:sp>
        <p:nvSpPr>
          <p:cNvPr id="11" name="Прямоугольник: скругленные углы 10">
            <a:extLst>
              <a:ext uri="{FF2B5EF4-FFF2-40B4-BE49-F238E27FC236}">
                <a16:creationId xmlns:a16="http://schemas.microsoft.com/office/drawing/2014/main" id="{C3A3B4D9-2BF5-4F15-A067-F67B6A6593A1}"/>
              </a:ext>
            </a:extLst>
          </p:cNvPr>
          <p:cNvSpPr/>
          <p:nvPr/>
        </p:nvSpPr>
        <p:spPr>
          <a:xfrm>
            <a:off x="8001000" y="1910399"/>
            <a:ext cx="3708400" cy="2177508"/>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Почему это происходит</a:t>
            </a:r>
            <a:r>
              <a:rPr lang="en-US" dirty="0"/>
              <a:t>:</a:t>
            </a:r>
          </a:p>
          <a:p>
            <a:pPr marL="285750" indent="-285750">
              <a:buFont typeface="Arial" panose="020B0604020202020204" pitchFamily="34" charset="0"/>
              <a:buChar char="•"/>
            </a:pPr>
            <a:r>
              <a:rPr lang="ru-RU" dirty="0"/>
              <a:t>каждый новый элемент больше предыдущего;</a:t>
            </a:r>
            <a:endParaRPr lang="en-US" dirty="0"/>
          </a:p>
          <a:p>
            <a:pPr marL="285750" indent="-285750">
              <a:buFont typeface="Arial" panose="020B0604020202020204" pitchFamily="34" charset="0"/>
              <a:buChar char="•"/>
            </a:pPr>
            <a:r>
              <a:rPr lang="ru-RU" dirty="0"/>
              <a:t>поэтому вставка каждый раз идёт только вправо;</a:t>
            </a:r>
            <a:endParaRPr lang="en-US" dirty="0"/>
          </a:p>
          <a:p>
            <a:pPr marL="285750" indent="-285750">
              <a:buFont typeface="Arial" panose="020B0604020202020204" pitchFamily="34" charset="0"/>
              <a:buChar char="•"/>
            </a:pPr>
            <a:r>
              <a:rPr lang="ru-RU" dirty="0"/>
              <a:t>дерево постепенно превращается в цепочку.</a:t>
            </a:r>
          </a:p>
        </p:txBody>
      </p:sp>
      <p:sp>
        <p:nvSpPr>
          <p:cNvPr id="12" name="Прямоугольник: скругленные углы 11">
            <a:extLst>
              <a:ext uri="{FF2B5EF4-FFF2-40B4-BE49-F238E27FC236}">
                <a16:creationId xmlns:a16="http://schemas.microsoft.com/office/drawing/2014/main" id="{94955CF7-16FC-4288-B976-A8E1A3BF721D}"/>
              </a:ext>
            </a:extLst>
          </p:cNvPr>
          <p:cNvSpPr/>
          <p:nvPr/>
        </p:nvSpPr>
        <p:spPr>
          <a:xfrm>
            <a:off x="8001000" y="5096434"/>
            <a:ext cx="1600200" cy="766483"/>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a:t>O(log n)</a:t>
            </a:r>
            <a:endParaRPr lang="ru-RU"/>
          </a:p>
        </p:txBody>
      </p:sp>
      <p:sp>
        <p:nvSpPr>
          <p:cNvPr id="13" name="Прямоугольник: скругленные углы 12">
            <a:extLst>
              <a:ext uri="{FF2B5EF4-FFF2-40B4-BE49-F238E27FC236}">
                <a16:creationId xmlns:a16="http://schemas.microsoft.com/office/drawing/2014/main" id="{EDFF69AE-3763-4FBE-A01F-C28DE1659C82}"/>
              </a:ext>
            </a:extLst>
          </p:cNvPr>
          <p:cNvSpPr/>
          <p:nvPr/>
        </p:nvSpPr>
        <p:spPr>
          <a:xfrm>
            <a:off x="10109200" y="5096433"/>
            <a:ext cx="1600200" cy="766483"/>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dirty="0"/>
              <a:t>O(n)</a:t>
            </a:r>
            <a:endParaRPr lang="ru-RU" dirty="0"/>
          </a:p>
        </p:txBody>
      </p:sp>
      <p:cxnSp>
        <p:nvCxnSpPr>
          <p:cNvPr id="15" name="Прямая со стрелкой 14">
            <a:extLst>
              <a:ext uri="{FF2B5EF4-FFF2-40B4-BE49-F238E27FC236}">
                <a16:creationId xmlns:a16="http://schemas.microsoft.com/office/drawing/2014/main" id="{83E6E1C7-5D79-4EC1-8415-7D186FABEF6B}"/>
              </a:ext>
            </a:extLst>
          </p:cNvPr>
          <p:cNvCxnSpPr>
            <a:stCxn id="12" idx="3"/>
            <a:endCxn id="13" idx="1"/>
          </p:cNvCxnSpPr>
          <p:nvPr/>
        </p:nvCxnSpPr>
        <p:spPr>
          <a:xfrm flipV="1">
            <a:off x="9601200" y="5479675"/>
            <a:ext cx="508000"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658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C6957B-714A-4332-8EAD-66AC9DA6E456}"/>
              </a:ext>
            </a:extLst>
          </p:cNvPr>
          <p:cNvSpPr>
            <a:spLocks noGrp="1"/>
          </p:cNvSpPr>
          <p:nvPr>
            <p:ph type="title"/>
          </p:nvPr>
        </p:nvSpPr>
        <p:spPr/>
        <p:txBody>
          <a:bodyPr/>
          <a:lstStyle/>
          <a:p>
            <a:r>
              <a:rPr lang="ru-RU" dirty="0"/>
              <a:t>Балансировка дерева</a:t>
            </a:r>
          </a:p>
        </p:txBody>
      </p:sp>
      <p:sp>
        <p:nvSpPr>
          <p:cNvPr id="7" name="Текст 6">
            <a:extLst>
              <a:ext uri="{FF2B5EF4-FFF2-40B4-BE49-F238E27FC236}">
                <a16:creationId xmlns:a16="http://schemas.microsoft.com/office/drawing/2014/main" id="{BE5E99FD-34C9-444A-BFAA-758B0FBB03A8}"/>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461358E0-D67F-4965-BB54-B16D4AEFAF5D}"/>
              </a:ext>
            </a:extLst>
          </p:cNvPr>
          <p:cNvSpPr/>
          <p:nvPr/>
        </p:nvSpPr>
        <p:spPr>
          <a:xfrm>
            <a:off x="479424" y="1320353"/>
            <a:ext cx="11229975" cy="114045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ru-RU" sz="2400" b="1" dirty="0"/>
              <a:t>Балансировка</a:t>
            </a:r>
            <a:r>
              <a:rPr lang="ru-RU" sz="2400" dirty="0"/>
              <a:t> — это изменение структуры дерева с целью ограничить его высоту и сохранить эффективность операций.</a:t>
            </a:r>
          </a:p>
        </p:txBody>
      </p:sp>
      <p:sp>
        <p:nvSpPr>
          <p:cNvPr id="9" name="Прямоугольник: скругленные углы 8">
            <a:extLst>
              <a:ext uri="{FF2B5EF4-FFF2-40B4-BE49-F238E27FC236}">
                <a16:creationId xmlns:a16="http://schemas.microsoft.com/office/drawing/2014/main" id="{611CFC19-FD17-4BE9-A7E5-8DEBFAC5D792}"/>
              </a:ext>
            </a:extLst>
          </p:cNvPr>
          <p:cNvSpPr/>
          <p:nvPr/>
        </p:nvSpPr>
        <p:spPr>
          <a:xfrm>
            <a:off x="479424" y="2632896"/>
            <a:ext cx="5390869" cy="218115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285750" indent="-285750">
              <a:buFont typeface="Arial" panose="020B0604020202020204" pitchFamily="34" charset="0"/>
              <a:buChar char="•"/>
            </a:pPr>
            <a:r>
              <a:rPr lang="ru-RU" dirty="0"/>
              <a:t>правило </a:t>
            </a:r>
            <a:r>
              <a:rPr lang="en-US" dirty="0"/>
              <a:t>BST </a:t>
            </a:r>
            <a:r>
              <a:rPr lang="ru-RU" dirty="0"/>
              <a:t>должно сохраняться;</a:t>
            </a:r>
          </a:p>
          <a:p>
            <a:pPr marL="285750" indent="-285750">
              <a:buFont typeface="Arial" panose="020B0604020202020204" pitchFamily="34" charset="0"/>
              <a:buChar char="•"/>
            </a:pPr>
            <a:r>
              <a:rPr lang="ru-RU" dirty="0"/>
              <a:t>высота дерева не должна расти слишком быстро;</a:t>
            </a:r>
          </a:p>
          <a:p>
            <a:pPr marL="285750" indent="-285750">
              <a:buFont typeface="Arial" panose="020B0604020202020204" pitchFamily="34" charset="0"/>
              <a:buChar char="•"/>
            </a:pPr>
            <a:r>
              <a:rPr lang="ru-RU" dirty="0"/>
              <a:t>поиск, вставка и удаление должны оставаться близкими к </a:t>
            </a:r>
            <a:r>
              <a:rPr lang="en-US" dirty="0"/>
              <a:t>O(log(n))</a:t>
            </a:r>
            <a:endParaRPr lang="ru-RU" dirty="0"/>
          </a:p>
        </p:txBody>
      </p:sp>
      <p:sp>
        <p:nvSpPr>
          <p:cNvPr id="10" name="Прямоугольник: скругленные углы 9">
            <a:extLst>
              <a:ext uri="{FF2B5EF4-FFF2-40B4-BE49-F238E27FC236}">
                <a16:creationId xmlns:a16="http://schemas.microsoft.com/office/drawing/2014/main" id="{D0CA7489-315D-46B6-B962-50F33ADDE324}"/>
              </a:ext>
            </a:extLst>
          </p:cNvPr>
          <p:cNvSpPr/>
          <p:nvPr/>
        </p:nvSpPr>
        <p:spPr>
          <a:xfrm>
            <a:off x="6318530" y="2632895"/>
            <a:ext cx="5390869" cy="218115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dirty="0"/>
              <a:t>Высота большая</a:t>
            </a:r>
            <a:r>
              <a:rPr lang="en-US" dirty="0"/>
              <a:t> </a:t>
            </a:r>
          </a:p>
          <a:p>
            <a:pPr algn="ctr"/>
            <a:r>
              <a:rPr lang="ru-RU" dirty="0"/>
              <a:t>↓</a:t>
            </a:r>
            <a:endParaRPr lang="en-US" dirty="0"/>
          </a:p>
          <a:p>
            <a:pPr algn="ctr"/>
            <a:r>
              <a:rPr lang="ru-RU" dirty="0"/>
              <a:t>Балансировка</a:t>
            </a:r>
            <a:endParaRPr lang="en-US" dirty="0"/>
          </a:p>
          <a:p>
            <a:pPr algn="ctr"/>
            <a:r>
              <a:rPr lang="ru-RU" dirty="0"/>
              <a:t>↓</a:t>
            </a:r>
            <a:endParaRPr lang="en-US" dirty="0"/>
          </a:p>
          <a:p>
            <a:pPr algn="ctr"/>
            <a:r>
              <a:rPr lang="ru-RU" dirty="0"/>
              <a:t>Более компактная форма</a:t>
            </a:r>
          </a:p>
        </p:txBody>
      </p:sp>
    </p:spTree>
    <p:extLst>
      <p:ext uri="{BB962C8B-B14F-4D97-AF65-F5344CB8AC3E}">
        <p14:creationId xmlns:p14="http://schemas.microsoft.com/office/powerpoint/2010/main" val="2724466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E0F0C7-E232-446E-9F47-A4D43A426DE0}"/>
              </a:ext>
            </a:extLst>
          </p:cNvPr>
          <p:cNvSpPr>
            <a:spLocks noGrp="1"/>
          </p:cNvSpPr>
          <p:nvPr>
            <p:ph type="title"/>
          </p:nvPr>
        </p:nvSpPr>
        <p:spPr/>
        <p:txBody>
          <a:bodyPr/>
          <a:lstStyle/>
          <a:p>
            <a:r>
              <a:rPr lang="en-US" dirty="0"/>
              <a:t>AVL-</a:t>
            </a:r>
            <a:r>
              <a:rPr lang="ru-RU" dirty="0"/>
              <a:t>дерево: балансировка по высоте</a:t>
            </a:r>
          </a:p>
        </p:txBody>
      </p:sp>
      <p:sp>
        <p:nvSpPr>
          <p:cNvPr id="7" name="Текст 6">
            <a:extLst>
              <a:ext uri="{FF2B5EF4-FFF2-40B4-BE49-F238E27FC236}">
                <a16:creationId xmlns:a16="http://schemas.microsoft.com/office/drawing/2014/main" id="{ACC8478C-088B-4E96-A328-7D5E19C36201}"/>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B2ABBAD0-96C7-4C33-A3B6-7DF96F985692}"/>
              </a:ext>
            </a:extLst>
          </p:cNvPr>
          <p:cNvSpPr/>
          <p:nvPr/>
        </p:nvSpPr>
        <p:spPr>
          <a:xfrm>
            <a:off x="479424" y="1222788"/>
            <a:ext cx="11353988" cy="114045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400" b="1" dirty="0"/>
              <a:t>AVL-дерево</a:t>
            </a:r>
            <a:r>
              <a:rPr lang="ru-RU" sz="2400" dirty="0"/>
              <a:t> — это бинарное дерево поиска, в котором для каждого узла высоты левого и правого поддеревьев отличаются не более чем на 1.</a:t>
            </a:r>
          </a:p>
        </p:txBody>
      </p:sp>
      <p:graphicFrame>
        <p:nvGraphicFramePr>
          <p:cNvPr id="11" name="Объект 10">
            <a:extLst>
              <a:ext uri="{FF2B5EF4-FFF2-40B4-BE49-F238E27FC236}">
                <a16:creationId xmlns:a16="http://schemas.microsoft.com/office/drawing/2014/main" id="{953408FD-A984-4CD6-A9E3-353B711E15DC}"/>
              </a:ext>
            </a:extLst>
          </p:cNvPr>
          <p:cNvGraphicFramePr>
            <a:graphicFrameLocks noChangeAspect="1"/>
          </p:cNvGraphicFramePr>
          <p:nvPr>
            <p:extLst>
              <p:ext uri="{D42A27DB-BD31-4B8C-83A1-F6EECF244321}">
                <p14:modId xmlns:p14="http://schemas.microsoft.com/office/powerpoint/2010/main" val="3793561197"/>
              </p:ext>
            </p:extLst>
          </p:nvPr>
        </p:nvGraphicFramePr>
        <p:xfrm>
          <a:off x="1566068" y="2535331"/>
          <a:ext cx="9056688" cy="800100"/>
        </p:xfrm>
        <a:graphic>
          <a:graphicData uri="http://schemas.openxmlformats.org/presentationml/2006/ole">
            <mc:AlternateContent xmlns:mc="http://schemas.openxmlformats.org/markup-compatibility/2006">
              <mc:Choice xmlns:v="urn:schemas-microsoft-com:vml" Requires="v">
                <p:oleObj spid="_x0000_s25608" name="Equation" r:id="rId3" imgW="2298600" imgH="203040" progId="Equation.DSMT4">
                  <p:embed/>
                </p:oleObj>
              </mc:Choice>
              <mc:Fallback>
                <p:oleObj name="Equation" r:id="rId3" imgW="2298600" imgH="203040" progId="Equation.DSMT4">
                  <p:embed/>
                  <p:pic>
                    <p:nvPicPr>
                      <p:cNvPr id="0" name=""/>
                      <p:cNvPicPr/>
                      <p:nvPr/>
                    </p:nvPicPr>
                    <p:blipFill>
                      <a:blip r:embed="rId4"/>
                      <a:stretch>
                        <a:fillRect/>
                      </a:stretch>
                    </p:blipFill>
                    <p:spPr>
                      <a:xfrm>
                        <a:off x="1566068" y="2535331"/>
                        <a:ext cx="9056688" cy="800100"/>
                      </a:xfrm>
                      <a:prstGeom prst="rect">
                        <a:avLst/>
                      </a:prstGeom>
                    </p:spPr>
                  </p:pic>
                </p:oleObj>
              </mc:Fallback>
            </mc:AlternateContent>
          </a:graphicData>
        </a:graphic>
      </p:graphicFrame>
      <p:sp>
        <p:nvSpPr>
          <p:cNvPr id="15" name="Овал 14">
            <a:extLst>
              <a:ext uri="{FF2B5EF4-FFF2-40B4-BE49-F238E27FC236}">
                <a16:creationId xmlns:a16="http://schemas.microsoft.com/office/drawing/2014/main" id="{970438C2-1B85-4004-A91A-C91082267919}"/>
              </a:ext>
            </a:extLst>
          </p:cNvPr>
          <p:cNvSpPr/>
          <p:nvPr/>
        </p:nvSpPr>
        <p:spPr>
          <a:xfrm>
            <a:off x="1393824" y="381092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sp>
        <p:nvSpPr>
          <p:cNvPr id="16" name="Овал 15">
            <a:extLst>
              <a:ext uri="{FF2B5EF4-FFF2-40B4-BE49-F238E27FC236}">
                <a16:creationId xmlns:a16="http://schemas.microsoft.com/office/drawing/2014/main" id="{374431AE-831A-452F-8F4A-CFA7234C51D3}"/>
              </a:ext>
            </a:extLst>
          </p:cNvPr>
          <p:cNvSpPr/>
          <p:nvPr/>
        </p:nvSpPr>
        <p:spPr>
          <a:xfrm>
            <a:off x="869669" y="472081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p>
        </p:txBody>
      </p:sp>
      <p:sp>
        <p:nvSpPr>
          <p:cNvPr id="17" name="Овал 16">
            <a:extLst>
              <a:ext uri="{FF2B5EF4-FFF2-40B4-BE49-F238E27FC236}">
                <a16:creationId xmlns:a16="http://schemas.microsoft.com/office/drawing/2014/main" id="{415BF1DD-6AD8-4060-9D7C-10F716DADBE2}"/>
              </a:ext>
            </a:extLst>
          </p:cNvPr>
          <p:cNvSpPr/>
          <p:nvPr/>
        </p:nvSpPr>
        <p:spPr>
          <a:xfrm>
            <a:off x="1972235" y="472081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60</a:t>
            </a:r>
          </a:p>
        </p:txBody>
      </p:sp>
      <p:cxnSp>
        <p:nvCxnSpPr>
          <p:cNvPr id="18" name="Прямая со стрелкой 17">
            <a:extLst>
              <a:ext uri="{FF2B5EF4-FFF2-40B4-BE49-F238E27FC236}">
                <a16:creationId xmlns:a16="http://schemas.microsoft.com/office/drawing/2014/main" id="{AFA9D2C0-CC9E-4448-8A1A-E9E1A3926B94}"/>
              </a:ext>
            </a:extLst>
          </p:cNvPr>
          <p:cNvCxnSpPr>
            <a:stCxn id="15" idx="3"/>
            <a:endCxn id="16" idx="0"/>
          </p:cNvCxnSpPr>
          <p:nvPr/>
        </p:nvCxnSpPr>
        <p:spPr>
          <a:xfrm flipH="1">
            <a:off x="1326869" y="4591410"/>
            <a:ext cx="200866" cy="1294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141C20BF-4387-4701-91FF-476F2076B06D}"/>
              </a:ext>
            </a:extLst>
          </p:cNvPr>
          <p:cNvCxnSpPr>
            <a:cxnSpLocks/>
            <a:stCxn id="15" idx="5"/>
            <a:endCxn id="17" idx="0"/>
          </p:cNvCxnSpPr>
          <p:nvPr/>
        </p:nvCxnSpPr>
        <p:spPr>
          <a:xfrm>
            <a:off x="2174312" y="4591410"/>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Овал 20">
            <a:extLst>
              <a:ext uri="{FF2B5EF4-FFF2-40B4-BE49-F238E27FC236}">
                <a16:creationId xmlns:a16="http://schemas.microsoft.com/office/drawing/2014/main" id="{FC36D31A-F615-463D-88A0-B368DB1FD118}"/>
              </a:ext>
            </a:extLst>
          </p:cNvPr>
          <p:cNvSpPr/>
          <p:nvPr/>
        </p:nvSpPr>
        <p:spPr>
          <a:xfrm>
            <a:off x="5432424" y="381092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sp>
        <p:nvSpPr>
          <p:cNvPr id="22" name="Овал 21">
            <a:extLst>
              <a:ext uri="{FF2B5EF4-FFF2-40B4-BE49-F238E27FC236}">
                <a16:creationId xmlns:a16="http://schemas.microsoft.com/office/drawing/2014/main" id="{18749F07-E72A-45B3-AC3A-7BB8E947FAA7}"/>
              </a:ext>
            </a:extLst>
          </p:cNvPr>
          <p:cNvSpPr/>
          <p:nvPr/>
        </p:nvSpPr>
        <p:spPr>
          <a:xfrm>
            <a:off x="4908269" y="472081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p>
        </p:txBody>
      </p:sp>
      <p:cxnSp>
        <p:nvCxnSpPr>
          <p:cNvPr id="24" name="Прямая со стрелкой 23">
            <a:extLst>
              <a:ext uri="{FF2B5EF4-FFF2-40B4-BE49-F238E27FC236}">
                <a16:creationId xmlns:a16="http://schemas.microsoft.com/office/drawing/2014/main" id="{E5E7264C-6F72-4DD1-90A0-46E26941196F}"/>
              </a:ext>
            </a:extLst>
          </p:cNvPr>
          <p:cNvCxnSpPr>
            <a:stCxn id="21" idx="3"/>
            <a:endCxn id="22" idx="0"/>
          </p:cNvCxnSpPr>
          <p:nvPr/>
        </p:nvCxnSpPr>
        <p:spPr>
          <a:xfrm flipH="1">
            <a:off x="5365469" y="4591410"/>
            <a:ext cx="200866" cy="1294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Овал 25">
            <a:extLst>
              <a:ext uri="{FF2B5EF4-FFF2-40B4-BE49-F238E27FC236}">
                <a16:creationId xmlns:a16="http://schemas.microsoft.com/office/drawing/2014/main" id="{C3B6F406-9E3E-457F-9BE5-1EDD1F86E0EE}"/>
              </a:ext>
            </a:extLst>
          </p:cNvPr>
          <p:cNvSpPr/>
          <p:nvPr/>
        </p:nvSpPr>
        <p:spPr>
          <a:xfrm>
            <a:off x="9471024" y="352257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sp>
        <p:nvSpPr>
          <p:cNvPr id="27" name="Овал 26">
            <a:extLst>
              <a:ext uri="{FF2B5EF4-FFF2-40B4-BE49-F238E27FC236}">
                <a16:creationId xmlns:a16="http://schemas.microsoft.com/office/drawing/2014/main" id="{EDBAD6ED-A9DD-414B-8E46-089184F253E3}"/>
              </a:ext>
            </a:extLst>
          </p:cNvPr>
          <p:cNvSpPr/>
          <p:nvPr/>
        </p:nvSpPr>
        <p:spPr>
          <a:xfrm>
            <a:off x="8946869" y="443246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p>
        </p:txBody>
      </p:sp>
      <p:sp>
        <p:nvSpPr>
          <p:cNvPr id="28" name="Овал 27">
            <a:extLst>
              <a:ext uri="{FF2B5EF4-FFF2-40B4-BE49-F238E27FC236}">
                <a16:creationId xmlns:a16="http://schemas.microsoft.com/office/drawing/2014/main" id="{639D60E5-6CBD-43A7-9A30-EA6497470150}"/>
              </a:ext>
            </a:extLst>
          </p:cNvPr>
          <p:cNvSpPr/>
          <p:nvPr/>
        </p:nvSpPr>
        <p:spPr>
          <a:xfrm>
            <a:off x="10049435" y="443246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60</a:t>
            </a:r>
          </a:p>
        </p:txBody>
      </p:sp>
      <p:cxnSp>
        <p:nvCxnSpPr>
          <p:cNvPr id="29" name="Прямая со стрелкой 28">
            <a:extLst>
              <a:ext uri="{FF2B5EF4-FFF2-40B4-BE49-F238E27FC236}">
                <a16:creationId xmlns:a16="http://schemas.microsoft.com/office/drawing/2014/main" id="{79360661-8F90-4249-886B-5FF605C28176}"/>
              </a:ext>
            </a:extLst>
          </p:cNvPr>
          <p:cNvCxnSpPr>
            <a:stCxn id="26" idx="3"/>
            <a:endCxn id="27" idx="0"/>
          </p:cNvCxnSpPr>
          <p:nvPr/>
        </p:nvCxnSpPr>
        <p:spPr>
          <a:xfrm flipH="1">
            <a:off x="9404069" y="4303058"/>
            <a:ext cx="200866" cy="12940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a:extLst>
              <a:ext uri="{FF2B5EF4-FFF2-40B4-BE49-F238E27FC236}">
                <a16:creationId xmlns:a16="http://schemas.microsoft.com/office/drawing/2014/main" id="{8E1C9B42-6402-4F9E-9558-CA092DC9A916}"/>
              </a:ext>
            </a:extLst>
          </p:cNvPr>
          <p:cNvCxnSpPr>
            <a:cxnSpLocks/>
            <a:stCxn id="26" idx="5"/>
            <a:endCxn id="28" idx="0"/>
          </p:cNvCxnSpPr>
          <p:nvPr/>
        </p:nvCxnSpPr>
        <p:spPr>
          <a:xfrm>
            <a:off x="10251512" y="4303058"/>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Овал 30">
            <a:extLst>
              <a:ext uri="{FF2B5EF4-FFF2-40B4-BE49-F238E27FC236}">
                <a16:creationId xmlns:a16="http://schemas.microsoft.com/office/drawing/2014/main" id="{6D95CA62-9C19-4251-B2BA-0B22F9A151CA}"/>
              </a:ext>
            </a:extLst>
          </p:cNvPr>
          <p:cNvSpPr/>
          <p:nvPr/>
        </p:nvSpPr>
        <p:spPr>
          <a:xfrm>
            <a:off x="10694801" y="534235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80</a:t>
            </a:r>
            <a:endParaRPr lang="ru-RU" dirty="0"/>
          </a:p>
        </p:txBody>
      </p:sp>
      <p:cxnSp>
        <p:nvCxnSpPr>
          <p:cNvPr id="32" name="Прямая со стрелкой 31">
            <a:extLst>
              <a:ext uri="{FF2B5EF4-FFF2-40B4-BE49-F238E27FC236}">
                <a16:creationId xmlns:a16="http://schemas.microsoft.com/office/drawing/2014/main" id="{E9EBA072-D3D1-4C84-93F5-46CAA29513D1}"/>
              </a:ext>
            </a:extLst>
          </p:cNvPr>
          <p:cNvCxnSpPr>
            <a:cxnSpLocks/>
            <a:stCxn id="28" idx="4"/>
            <a:endCxn id="31" idx="1"/>
          </p:cNvCxnSpPr>
          <p:nvPr/>
        </p:nvCxnSpPr>
        <p:spPr>
          <a:xfrm>
            <a:off x="10506635" y="5346860"/>
            <a:ext cx="322077"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0BC6F50-1A8F-43AB-9F78-75923411566B}"/>
              </a:ext>
            </a:extLst>
          </p:cNvPr>
          <p:cNvSpPr txBox="1"/>
          <p:nvPr/>
        </p:nvSpPr>
        <p:spPr bwMode="auto">
          <a:xfrm>
            <a:off x="1326868" y="5803664"/>
            <a:ext cx="1035611" cy="369332"/>
          </a:xfrm>
          <a:prstGeom prst="rect">
            <a:avLst/>
          </a:prstGeom>
        </p:spPr>
        <p:txBody>
          <a:bodyPr wrap="square" rtlCol="0">
            <a:spAutoFit/>
          </a:bodyPr>
          <a:lstStyle/>
          <a:p>
            <a:pPr algn="ctr"/>
            <a:r>
              <a:rPr lang="en-US" dirty="0"/>
              <a:t>BF = 0</a:t>
            </a:r>
            <a:endParaRPr lang="ru-RU" dirty="0"/>
          </a:p>
        </p:txBody>
      </p:sp>
      <p:sp>
        <p:nvSpPr>
          <p:cNvPr id="38" name="TextBox 37">
            <a:extLst>
              <a:ext uri="{FF2B5EF4-FFF2-40B4-BE49-F238E27FC236}">
                <a16:creationId xmlns:a16="http://schemas.microsoft.com/office/drawing/2014/main" id="{0B8E0A82-9E33-4242-A40F-EBD92BDE15CF}"/>
              </a:ext>
            </a:extLst>
          </p:cNvPr>
          <p:cNvSpPr txBox="1"/>
          <p:nvPr/>
        </p:nvSpPr>
        <p:spPr bwMode="auto">
          <a:xfrm>
            <a:off x="5304862" y="5792125"/>
            <a:ext cx="1035611" cy="369332"/>
          </a:xfrm>
          <a:prstGeom prst="rect">
            <a:avLst/>
          </a:prstGeom>
        </p:spPr>
        <p:txBody>
          <a:bodyPr wrap="square" rtlCol="0">
            <a:spAutoFit/>
          </a:bodyPr>
          <a:lstStyle/>
          <a:p>
            <a:pPr algn="ctr"/>
            <a:r>
              <a:rPr lang="en-US" dirty="0"/>
              <a:t>BF = 1</a:t>
            </a:r>
            <a:endParaRPr lang="ru-RU" dirty="0"/>
          </a:p>
        </p:txBody>
      </p:sp>
      <p:sp>
        <p:nvSpPr>
          <p:cNvPr id="39" name="TextBox 38">
            <a:extLst>
              <a:ext uri="{FF2B5EF4-FFF2-40B4-BE49-F238E27FC236}">
                <a16:creationId xmlns:a16="http://schemas.microsoft.com/office/drawing/2014/main" id="{FC1F23F0-39DD-4CC3-BB20-BB74C7A8AE85}"/>
              </a:ext>
            </a:extLst>
          </p:cNvPr>
          <p:cNvSpPr txBox="1"/>
          <p:nvPr/>
        </p:nvSpPr>
        <p:spPr bwMode="auto">
          <a:xfrm>
            <a:off x="9282856" y="5576127"/>
            <a:ext cx="1035611" cy="369332"/>
          </a:xfrm>
          <a:prstGeom prst="rect">
            <a:avLst/>
          </a:prstGeom>
        </p:spPr>
        <p:txBody>
          <a:bodyPr wrap="square" rtlCol="0">
            <a:spAutoFit/>
          </a:bodyPr>
          <a:lstStyle/>
          <a:p>
            <a:pPr algn="ctr"/>
            <a:r>
              <a:rPr lang="en-US" dirty="0"/>
              <a:t>BF = -1</a:t>
            </a:r>
            <a:endParaRPr lang="ru-RU" dirty="0"/>
          </a:p>
        </p:txBody>
      </p:sp>
    </p:spTree>
    <p:extLst>
      <p:ext uri="{BB962C8B-B14F-4D97-AF65-F5344CB8AC3E}">
        <p14:creationId xmlns:p14="http://schemas.microsoft.com/office/powerpoint/2010/main" val="201503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8E4BDD-6A27-4958-8102-BEAB64BA65B3}"/>
              </a:ext>
            </a:extLst>
          </p:cNvPr>
          <p:cNvSpPr>
            <a:spLocks noGrp="1"/>
          </p:cNvSpPr>
          <p:nvPr>
            <p:ph type="title"/>
          </p:nvPr>
        </p:nvSpPr>
        <p:spPr/>
        <p:txBody>
          <a:bodyPr/>
          <a:lstStyle/>
          <a:p>
            <a:r>
              <a:rPr lang="ru-RU" dirty="0"/>
              <a:t>Как </a:t>
            </a:r>
            <a:r>
              <a:rPr lang="en-US" dirty="0"/>
              <a:t>AVL-</a:t>
            </a:r>
            <a:r>
              <a:rPr lang="ru-RU" dirty="0"/>
              <a:t>дерево восстанавливает баланс?</a:t>
            </a:r>
          </a:p>
        </p:txBody>
      </p:sp>
      <p:sp>
        <p:nvSpPr>
          <p:cNvPr id="7" name="Текст 6">
            <a:extLst>
              <a:ext uri="{FF2B5EF4-FFF2-40B4-BE49-F238E27FC236}">
                <a16:creationId xmlns:a16="http://schemas.microsoft.com/office/drawing/2014/main" id="{FD3BDE21-5861-4D6A-BD03-F0D26249EF45}"/>
              </a:ext>
            </a:extLst>
          </p:cNvPr>
          <p:cNvSpPr>
            <a:spLocks noGrp="1"/>
          </p:cNvSpPr>
          <p:nvPr>
            <p:ph type="body" sz="quarter" idx="19"/>
          </p:nvPr>
        </p:nvSpPr>
        <p:spPr/>
        <p:txBody>
          <a:bodyPr/>
          <a:lstStyle/>
          <a:p>
            <a:endParaRPr lang="ru-RU"/>
          </a:p>
        </p:txBody>
      </p:sp>
      <p:sp>
        <p:nvSpPr>
          <p:cNvPr id="10" name="Прямоугольник: скругленные углы 9">
            <a:extLst>
              <a:ext uri="{FF2B5EF4-FFF2-40B4-BE49-F238E27FC236}">
                <a16:creationId xmlns:a16="http://schemas.microsoft.com/office/drawing/2014/main" id="{37C8DCAE-4B3E-480E-BF96-4CDBBF6B66D2}"/>
              </a:ext>
            </a:extLst>
          </p:cNvPr>
          <p:cNvSpPr/>
          <p:nvPr/>
        </p:nvSpPr>
        <p:spPr>
          <a:xfrm>
            <a:off x="479423" y="1253118"/>
            <a:ext cx="11229975" cy="868942"/>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400" dirty="0"/>
              <a:t>При нарушении баланса AVL-дерево локально перестраивает связи между узлами с помощью поворотов.</a:t>
            </a:r>
          </a:p>
        </p:txBody>
      </p:sp>
      <p:sp>
        <p:nvSpPr>
          <p:cNvPr id="11" name="Прямоугольник: скругленные углы 10">
            <a:extLst>
              <a:ext uri="{FF2B5EF4-FFF2-40B4-BE49-F238E27FC236}">
                <a16:creationId xmlns:a16="http://schemas.microsoft.com/office/drawing/2014/main" id="{DD8DA70E-525D-4019-B000-1BE23A944B8D}"/>
              </a:ext>
            </a:extLst>
          </p:cNvPr>
          <p:cNvSpPr/>
          <p:nvPr/>
        </p:nvSpPr>
        <p:spPr>
          <a:xfrm>
            <a:off x="470882" y="2324211"/>
            <a:ext cx="4267389" cy="1947882"/>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285750" lvl="0" indent="-285750" rtl="0" eaLnBrk="0" fontAlgn="base" hangingPunct="0">
              <a:spcBef>
                <a:spcPct val="0"/>
              </a:spcBef>
              <a:spcAft>
                <a:spcPct val="0"/>
              </a:spcAft>
              <a:buFont typeface="Arial" panose="020B0604020202020204" pitchFamily="34" charset="0"/>
              <a:buChar char="•"/>
            </a:pPr>
            <a:endParaRPr lang="ru-RU" altLang="ru-RU" dirty="0">
              <a:solidFill>
                <a:schemeClr val="tx1"/>
              </a:solidFill>
            </a:endParaRP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поворот выполняется только в проблемной части дерева; </a:t>
            </a: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значения не вставляются заново; </a:t>
            </a: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порядок BST сохраняется. </a:t>
            </a:r>
          </a:p>
        </p:txBody>
      </p:sp>
      <p:sp>
        <p:nvSpPr>
          <p:cNvPr id="15" name="AutoShape 5" descr="Сформированное изображение: Правый поворот AVL-дерева">
            <a:extLst>
              <a:ext uri="{FF2B5EF4-FFF2-40B4-BE49-F238E27FC236}">
                <a16:creationId xmlns:a16="http://schemas.microsoft.com/office/drawing/2014/main" id="{F7FBE900-F80D-46AC-B66A-8CB4ED12133C}"/>
              </a:ext>
            </a:extLst>
          </p:cNvPr>
          <p:cNvSpPr>
            <a:spLocks noChangeAspect="1" noChangeArrowheads="1"/>
          </p:cNvSpPr>
          <p:nvPr/>
        </p:nvSpPr>
        <p:spPr bwMode="auto">
          <a:xfrm>
            <a:off x="5025142" y="396729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8" name="Рисунок 17">
            <a:extLst>
              <a:ext uri="{FF2B5EF4-FFF2-40B4-BE49-F238E27FC236}">
                <a16:creationId xmlns:a16="http://schemas.microsoft.com/office/drawing/2014/main" id="{BE34D19C-A117-468E-BC31-F45655E3C1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6483" y="2447774"/>
            <a:ext cx="5710473" cy="3090285"/>
          </a:xfrm>
          <a:prstGeom prst="rect">
            <a:avLst/>
          </a:prstGeom>
        </p:spPr>
      </p:pic>
      <p:sp>
        <p:nvSpPr>
          <p:cNvPr id="19" name="Прямоугольник: скругленные углы 18">
            <a:extLst>
              <a:ext uri="{FF2B5EF4-FFF2-40B4-BE49-F238E27FC236}">
                <a16:creationId xmlns:a16="http://schemas.microsoft.com/office/drawing/2014/main" id="{1D8C0A99-54B2-468E-9662-27CD82460F22}"/>
              </a:ext>
            </a:extLst>
          </p:cNvPr>
          <p:cNvSpPr/>
          <p:nvPr/>
        </p:nvSpPr>
        <p:spPr>
          <a:xfrm>
            <a:off x="5141683" y="2324211"/>
            <a:ext cx="6567715" cy="3213848"/>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285750" lvl="0" indent="-285750" rtl="0" eaLnBrk="0" fontAlgn="base" hangingPunct="0">
              <a:spcBef>
                <a:spcPct val="0"/>
              </a:spcBef>
              <a:spcAft>
                <a:spcPct val="0"/>
              </a:spcAft>
              <a:buFont typeface="Arial" panose="020B0604020202020204" pitchFamily="34" charset="0"/>
              <a:buChar char="•"/>
            </a:pPr>
            <a:endParaRPr lang="ru-RU" altLang="ru-RU" dirty="0">
              <a:solidFill>
                <a:schemeClr val="tx1"/>
              </a:solidFill>
            </a:endParaRPr>
          </a:p>
        </p:txBody>
      </p:sp>
      <p:sp>
        <p:nvSpPr>
          <p:cNvPr id="20" name="Прямоугольник: скругленные углы 19">
            <a:extLst>
              <a:ext uri="{FF2B5EF4-FFF2-40B4-BE49-F238E27FC236}">
                <a16:creationId xmlns:a16="http://schemas.microsoft.com/office/drawing/2014/main" id="{4E77BB2B-E5DF-4D8A-A750-3961BE3D05A3}"/>
              </a:ext>
            </a:extLst>
          </p:cNvPr>
          <p:cNvSpPr/>
          <p:nvPr/>
        </p:nvSpPr>
        <p:spPr>
          <a:xfrm>
            <a:off x="470882" y="4468059"/>
            <a:ext cx="4267389" cy="2062503"/>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marL="285750" lvl="0" indent="-285750" rtl="0" eaLnBrk="0" fontAlgn="base" hangingPunct="0">
              <a:spcBef>
                <a:spcPct val="0"/>
              </a:spcBef>
              <a:spcAft>
                <a:spcPct val="0"/>
              </a:spcAft>
              <a:buFont typeface="Arial" panose="020B0604020202020204" pitchFamily="34" charset="0"/>
              <a:buChar char="•"/>
            </a:pPr>
            <a:r>
              <a:rPr lang="en-US" dirty="0"/>
              <a:t>Left → Left = </a:t>
            </a:r>
            <a:r>
              <a:rPr lang="en-US" b="1" dirty="0"/>
              <a:t>LL</a:t>
            </a:r>
            <a:endParaRPr lang="ru-RU" b="1" dirty="0"/>
          </a:p>
          <a:p>
            <a:pPr marL="285750" lvl="0" indent="-285750" rtl="0" eaLnBrk="0" fontAlgn="base" hangingPunct="0">
              <a:spcBef>
                <a:spcPct val="0"/>
              </a:spcBef>
              <a:spcAft>
                <a:spcPct val="0"/>
              </a:spcAft>
              <a:buFont typeface="Arial" panose="020B0604020202020204" pitchFamily="34" charset="0"/>
              <a:buChar char="•"/>
            </a:pPr>
            <a:r>
              <a:rPr lang="en-US" dirty="0"/>
              <a:t>Right → Right = </a:t>
            </a:r>
            <a:r>
              <a:rPr lang="en-US" b="1" dirty="0"/>
              <a:t>RR</a:t>
            </a:r>
            <a:endParaRPr lang="ru-RU" b="1" dirty="0"/>
          </a:p>
          <a:p>
            <a:pPr marL="285750" lvl="0" indent="-285750" rtl="0" eaLnBrk="0" fontAlgn="base" hangingPunct="0">
              <a:spcBef>
                <a:spcPct val="0"/>
              </a:spcBef>
              <a:spcAft>
                <a:spcPct val="0"/>
              </a:spcAft>
              <a:buFont typeface="Arial" panose="020B0604020202020204" pitchFamily="34" charset="0"/>
              <a:buChar char="•"/>
            </a:pPr>
            <a:r>
              <a:rPr lang="en-US" dirty="0"/>
              <a:t>Left → Right = </a:t>
            </a:r>
            <a:r>
              <a:rPr lang="en-US" b="1" dirty="0"/>
              <a:t>LR</a:t>
            </a:r>
            <a:endParaRPr lang="ru-RU" b="1" dirty="0"/>
          </a:p>
          <a:p>
            <a:pPr marL="285750" lvl="0" indent="-285750" rtl="0" eaLnBrk="0" fontAlgn="base" hangingPunct="0">
              <a:spcBef>
                <a:spcPct val="0"/>
              </a:spcBef>
              <a:spcAft>
                <a:spcPct val="0"/>
              </a:spcAft>
              <a:buFont typeface="Arial" panose="020B0604020202020204" pitchFamily="34" charset="0"/>
              <a:buChar char="•"/>
            </a:pPr>
            <a:r>
              <a:rPr lang="en-US" dirty="0"/>
              <a:t>Right → Left = </a:t>
            </a:r>
            <a:r>
              <a:rPr lang="en-US" b="1" dirty="0"/>
              <a:t>RL</a:t>
            </a:r>
            <a:endParaRPr lang="ru-RU" altLang="ru-RU" dirty="0">
              <a:solidFill>
                <a:schemeClr val="tx1"/>
              </a:solidFill>
            </a:endParaRPr>
          </a:p>
        </p:txBody>
      </p:sp>
      <p:sp>
        <p:nvSpPr>
          <p:cNvPr id="22" name="Прямоугольник: скругленные углы 21">
            <a:extLst>
              <a:ext uri="{FF2B5EF4-FFF2-40B4-BE49-F238E27FC236}">
                <a16:creationId xmlns:a16="http://schemas.microsoft.com/office/drawing/2014/main" id="{9157DC0A-33F8-4382-B20B-7610BF877804}"/>
              </a:ext>
            </a:extLst>
          </p:cNvPr>
          <p:cNvSpPr/>
          <p:nvPr/>
        </p:nvSpPr>
        <p:spPr>
          <a:xfrm>
            <a:off x="5141683" y="5661621"/>
            <a:ext cx="6579435" cy="868942"/>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lvl="0" rtl="0" eaLnBrk="0" fontAlgn="base" hangingPunct="0">
              <a:spcBef>
                <a:spcPct val="0"/>
              </a:spcBef>
              <a:spcAft>
                <a:spcPct val="0"/>
              </a:spcAft>
            </a:pPr>
            <a:r>
              <a:rPr lang="ru-RU" dirty="0"/>
              <a:t>Для выбора поворота достаточно определить, в какую сторону идёт «тяжёлая» ветвь на первых двух уровнях.</a:t>
            </a:r>
            <a:endParaRPr lang="ru-RU" altLang="ru-RU" dirty="0">
              <a:solidFill>
                <a:schemeClr val="tx1"/>
              </a:solidFill>
            </a:endParaRPr>
          </a:p>
        </p:txBody>
      </p:sp>
    </p:spTree>
    <p:extLst>
      <p:ext uri="{BB962C8B-B14F-4D97-AF65-F5344CB8AC3E}">
        <p14:creationId xmlns:p14="http://schemas.microsoft.com/office/powerpoint/2010/main" val="3886206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Правый поворот — пошагово</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96485" y="346692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cxnSp>
        <p:nvCxnSpPr>
          <p:cNvPr id="15" name="Прямая со стрелкой 14">
            <a:extLst>
              <a:ext uri="{FF2B5EF4-FFF2-40B4-BE49-F238E27FC236}">
                <a16:creationId xmlns:a16="http://schemas.microsoft.com/office/drawing/2014/main" id="{B2CFF049-5450-40F6-A7D5-E28ED3C04691}"/>
              </a:ext>
            </a:extLst>
          </p:cNvPr>
          <p:cNvCxnSpPr>
            <a:stCxn id="8" idx="3"/>
            <a:endCxn id="9" idx="0"/>
          </p:cNvCxnSpPr>
          <p:nvPr/>
        </p:nvCxnSpPr>
        <p:spPr>
          <a:xfrm flipH="1">
            <a:off x="2953685" y="2205735"/>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4"/>
            <a:endCxn id="12" idx="0"/>
          </p:cNvCxnSpPr>
          <p:nvPr/>
        </p:nvCxnSpPr>
        <p:spPr>
          <a:xfrm>
            <a:off x="2953685" y="3249539"/>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lvl="0" rtl="0" eaLnBrk="0" fontAlgn="base" hangingPunct="0">
              <a:spcBef>
                <a:spcPct val="0"/>
              </a:spcBef>
              <a:spcAft>
                <a:spcPct val="0"/>
              </a:spcAft>
            </a:pPr>
            <a:r>
              <a:rPr lang="en-US" altLang="ru-RU" dirty="0">
                <a:solidFill>
                  <a:srgbClr val="002060"/>
                </a:solidFill>
              </a:rPr>
              <a:t>1. x = </a:t>
            </a:r>
            <a:r>
              <a:rPr lang="en-US" altLang="ru-RU" dirty="0" err="1">
                <a:solidFill>
                  <a:srgbClr val="002060"/>
                </a:solidFill>
              </a:rPr>
              <a:t>y.left</a:t>
            </a:r>
            <a:endParaRPr lang="en-US" altLang="ru-RU" dirty="0">
              <a:solidFill>
                <a:srgbClr val="002060"/>
              </a:solidFill>
            </a:endParaRPr>
          </a:p>
          <a:p>
            <a:pPr lvl="0" rtl="0" eaLnBrk="0" fontAlgn="base" hangingPunct="0">
              <a:spcBef>
                <a:spcPct val="0"/>
              </a:spcBef>
              <a:spcAft>
                <a:spcPct val="0"/>
              </a:spcAft>
            </a:pPr>
            <a:r>
              <a:rPr lang="en-US" altLang="ru-RU" dirty="0">
                <a:solidFill>
                  <a:srgbClr val="002060"/>
                </a:solidFill>
              </a:rPr>
              <a:t>2. B = </a:t>
            </a:r>
            <a:r>
              <a:rPr lang="en-US" altLang="ru-RU" dirty="0" err="1">
                <a:solidFill>
                  <a:srgbClr val="002060"/>
                </a:solidFill>
              </a:rPr>
              <a:t>x.right</a:t>
            </a:r>
            <a:endParaRPr lang="en-US" altLang="ru-RU" dirty="0">
              <a:solidFill>
                <a:srgbClr val="002060"/>
              </a:solidFill>
            </a:endParaRPr>
          </a:p>
          <a:p>
            <a:pPr lvl="0" rtl="0" eaLnBrk="0" fontAlgn="base" hangingPunct="0">
              <a:spcBef>
                <a:spcPct val="0"/>
              </a:spcBef>
              <a:spcAft>
                <a:spcPct val="0"/>
              </a:spcAft>
            </a:pPr>
            <a:r>
              <a:rPr lang="en-US" altLang="ru-RU" dirty="0">
                <a:solidFill>
                  <a:srgbClr val="002060"/>
                </a:solidFill>
              </a:rPr>
              <a:t>3. </a:t>
            </a:r>
            <a:r>
              <a:rPr lang="en-US" altLang="ru-RU" dirty="0" err="1">
                <a:solidFill>
                  <a:srgbClr val="002060"/>
                </a:solidFill>
              </a:rPr>
              <a:t>x.right</a:t>
            </a:r>
            <a:r>
              <a:rPr lang="en-US" altLang="ru-RU" dirty="0">
                <a:solidFill>
                  <a:srgbClr val="002060"/>
                </a:solidFill>
              </a:rPr>
              <a:t> = y</a:t>
            </a:r>
          </a:p>
          <a:p>
            <a:pPr lvl="0" rtl="0" eaLnBrk="0" fontAlgn="base" hangingPunct="0">
              <a:spcBef>
                <a:spcPct val="0"/>
              </a:spcBef>
              <a:spcAft>
                <a:spcPct val="0"/>
              </a:spcAft>
            </a:pPr>
            <a:r>
              <a:rPr lang="en-US" altLang="ru-RU" dirty="0">
                <a:solidFill>
                  <a:srgbClr val="002060"/>
                </a:solidFill>
              </a:rPr>
              <a:t>4. </a:t>
            </a:r>
            <a:r>
              <a:rPr lang="en-US" altLang="ru-RU" dirty="0" err="1">
                <a:solidFill>
                  <a:srgbClr val="002060"/>
                </a:solidFill>
              </a:rPr>
              <a:t>y.left</a:t>
            </a:r>
            <a:r>
              <a:rPr lang="en-US" altLang="ru-RU" dirty="0">
                <a:solidFill>
                  <a:srgbClr val="002060"/>
                </a:solidFill>
              </a:rPr>
              <a:t> = B</a:t>
            </a:r>
          </a:p>
          <a:p>
            <a:pPr lvl="0" rtl="0" eaLnBrk="0" fontAlgn="base" hangingPunct="0">
              <a:spcBef>
                <a:spcPct val="0"/>
              </a:spcBef>
              <a:spcAft>
                <a:spcPct val="0"/>
              </a:spcAft>
            </a:pPr>
            <a:r>
              <a:rPr lang="en-US" altLang="ru-RU" dirty="0">
                <a:solidFill>
                  <a:srgbClr val="002060"/>
                </a:solidFill>
              </a:rPr>
              <a:t>5. </a:t>
            </a:r>
            <a:r>
              <a:rPr lang="ru-RU" altLang="ru-RU" dirty="0">
                <a:solidFill>
                  <a:srgbClr val="002060"/>
                </a:solidFill>
              </a:rPr>
              <a:t>вернуть </a:t>
            </a:r>
            <a:r>
              <a:rPr lang="en-US" altLang="ru-RU" dirty="0">
                <a:solidFill>
                  <a:srgbClr val="002060"/>
                </a:solidFill>
              </a:rPr>
              <a:t>x</a:t>
            </a:r>
            <a:endParaRPr lang="ru-RU" dirty="0"/>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правого поворота</a:t>
            </a:r>
          </a:p>
        </p:txBody>
      </p:sp>
      <p:sp>
        <p:nvSpPr>
          <p:cNvPr id="23" name="Овал 22">
            <a:extLst>
              <a:ext uri="{FF2B5EF4-FFF2-40B4-BE49-F238E27FC236}">
                <a16:creationId xmlns:a16="http://schemas.microsoft.com/office/drawing/2014/main" id="{B3B46E09-A961-44BA-8030-538BF7F7CF90}"/>
              </a:ext>
            </a:extLst>
          </p:cNvPr>
          <p:cNvSpPr/>
          <p:nvPr/>
        </p:nvSpPr>
        <p:spPr>
          <a:xfrm>
            <a:off x="855942" y="470010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cxnSp>
        <p:nvCxnSpPr>
          <p:cNvPr id="24" name="Прямая со стрелкой 23">
            <a:extLst>
              <a:ext uri="{FF2B5EF4-FFF2-40B4-BE49-F238E27FC236}">
                <a16:creationId xmlns:a16="http://schemas.microsoft.com/office/drawing/2014/main" id="{EA61579C-C4F5-4598-A284-37E446C9DFE1}"/>
              </a:ext>
            </a:extLst>
          </p:cNvPr>
          <p:cNvCxnSpPr>
            <a:cxnSpLocks/>
            <a:stCxn id="11" idx="3"/>
            <a:endCxn id="23" idx="0"/>
          </p:cNvCxnSpPr>
          <p:nvPr/>
        </p:nvCxnSpPr>
        <p:spPr>
          <a:xfrm flipH="1">
            <a:off x="1313142" y="4247409"/>
            <a:ext cx="133911" cy="452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565B2E6-4B4A-4B2C-904E-2F93AB8CEE14}"/>
              </a:ext>
            </a:extLst>
          </p:cNvPr>
          <p:cNvSpPr txBox="1"/>
          <p:nvPr/>
        </p:nvSpPr>
        <p:spPr bwMode="auto">
          <a:xfrm>
            <a:off x="2028171" y="1276608"/>
            <a:ext cx="1506071" cy="369332"/>
          </a:xfrm>
          <a:prstGeom prst="rect">
            <a:avLst/>
          </a:prstGeom>
        </p:spPr>
        <p:txBody>
          <a:bodyPr wrap="square" rtlCol="0">
            <a:spAutoFit/>
          </a:bodyPr>
          <a:lstStyle/>
          <a:p>
            <a:r>
              <a:rPr lang="en-US" dirty="0"/>
              <a:t>BF(50) = 2</a:t>
            </a:r>
            <a:endParaRPr lang="ru-RU" dirty="0"/>
          </a:p>
        </p:txBody>
      </p:sp>
      <p:sp>
        <p:nvSpPr>
          <p:cNvPr id="28" name="TextBox 27">
            <a:extLst>
              <a:ext uri="{FF2B5EF4-FFF2-40B4-BE49-F238E27FC236}">
                <a16:creationId xmlns:a16="http://schemas.microsoft.com/office/drawing/2014/main" id="{AFBCBBD2-0341-4AC5-A92E-E47A0DB7233F}"/>
              </a:ext>
            </a:extLst>
          </p:cNvPr>
          <p:cNvSpPr txBox="1"/>
          <p:nvPr/>
        </p:nvSpPr>
        <p:spPr bwMode="auto">
          <a:xfrm>
            <a:off x="2943038" y="1857118"/>
            <a:ext cx="506131" cy="369332"/>
          </a:xfrm>
          <a:prstGeom prst="rect">
            <a:avLst/>
          </a:prstGeom>
        </p:spPr>
        <p:txBody>
          <a:bodyPr wrap="square" rtlCol="0">
            <a:spAutoFit/>
          </a:bodyPr>
          <a:lstStyle/>
          <a:p>
            <a:r>
              <a:rPr lang="ru-RU" dirty="0"/>
              <a:t> </a:t>
            </a:r>
            <a:r>
              <a:rPr lang="en-US" dirty="0"/>
              <a:t>L</a:t>
            </a:r>
            <a:endParaRPr lang="ru-RU" dirty="0"/>
          </a:p>
        </p:txBody>
      </p:sp>
      <p:sp>
        <p:nvSpPr>
          <p:cNvPr id="29" name="TextBox 28">
            <a:extLst>
              <a:ext uri="{FF2B5EF4-FFF2-40B4-BE49-F238E27FC236}">
                <a16:creationId xmlns:a16="http://schemas.microsoft.com/office/drawing/2014/main" id="{91876929-A93F-46A2-8A86-1653C2CC0F66}"/>
              </a:ext>
            </a:extLst>
          </p:cNvPr>
          <p:cNvSpPr txBox="1"/>
          <p:nvPr/>
        </p:nvSpPr>
        <p:spPr bwMode="auto">
          <a:xfrm>
            <a:off x="1880348" y="2838588"/>
            <a:ext cx="506131" cy="369332"/>
          </a:xfrm>
          <a:prstGeom prst="rect">
            <a:avLst/>
          </a:prstGeom>
        </p:spPr>
        <p:txBody>
          <a:bodyPr wrap="square" rtlCol="0">
            <a:spAutoFit/>
          </a:bodyPr>
          <a:lstStyle/>
          <a:p>
            <a:r>
              <a:rPr lang="ru-RU" dirty="0"/>
              <a:t> </a:t>
            </a:r>
            <a:r>
              <a:rPr lang="en-US" dirty="0"/>
              <a:t>L</a:t>
            </a:r>
            <a:endParaRPr lang="ru-RU" dirty="0"/>
          </a:p>
        </p:txBody>
      </p:sp>
    </p:spTree>
    <p:extLst>
      <p:ext uri="{BB962C8B-B14F-4D97-AF65-F5344CB8AC3E}">
        <p14:creationId xmlns:p14="http://schemas.microsoft.com/office/powerpoint/2010/main" val="389651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Правый поворот — пошагово</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96485" y="346692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40</a:t>
            </a:r>
          </a:p>
        </p:txBody>
      </p:sp>
      <p:cxnSp>
        <p:nvCxnSpPr>
          <p:cNvPr id="15" name="Прямая со стрелкой 14">
            <a:extLst>
              <a:ext uri="{FF2B5EF4-FFF2-40B4-BE49-F238E27FC236}">
                <a16:creationId xmlns:a16="http://schemas.microsoft.com/office/drawing/2014/main" id="{B2CFF049-5450-40F6-A7D5-E28ED3C04691}"/>
              </a:ext>
            </a:extLst>
          </p:cNvPr>
          <p:cNvCxnSpPr>
            <a:stCxn id="8" idx="3"/>
            <a:endCxn id="9" idx="0"/>
          </p:cNvCxnSpPr>
          <p:nvPr/>
        </p:nvCxnSpPr>
        <p:spPr>
          <a:xfrm flipH="1">
            <a:off x="2953685" y="2205735"/>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4"/>
            <a:endCxn id="12" idx="0"/>
          </p:cNvCxnSpPr>
          <p:nvPr/>
        </p:nvCxnSpPr>
        <p:spPr>
          <a:xfrm>
            <a:off x="2953685" y="3249539"/>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lvl="0" rtl="0" eaLnBrk="0" fontAlgn="base" hangingPunct="0">
              <a:spcBef>
                <a:spcPct val="0"/>
              </a:spcBef>
              <a:spcAft>
                <a:spcPct val="0"/>
              </a:spcAft>
            </a:pPr>
            <a:r>
              <a:rPr lang="en-US" altLang="ru-RU" dirty="0">
                <a:solidFill>
                  <a:srgbClr val="002060"/>
                </a:solidFill>
              </a:rPr>
              <a:t>1. x = </a:t>
            </a:r>
            <a:r>
              <a:rPr lang="en-US" altLang="ru-RU" dirty="0" err="1">
                <a:solidFill>
                  <a:srgbClr val="002060"/>
                </a:solidFill>
              </a:rPr>
              <a:t>y.left</a:t>
            </a:r>
            <a:endParaRPr lang="en-US" altLang="ru-RU" dirty="0">
              <a:solidFill>
                <a:srgbClr val="002060"/>
              </a:solidFill>
            </a:endParaRPr>
          </a:p>
          <a:p>
            <a:pPr lvl="0" rtl="0" eaLnBrk="0" fontAlgn="base" hangingPunct="0">
              <a:spcBef>
                <a:spcPct val="0"/>
              </a:spcBef>
              <a:spcAft>
                <a:spcPct val="0"/>
              </a:spcAft>
            </a:pPr>
            <a:r>
              <a:rPr lang="en-US" altLang="ru-RU" dirty="0">
                <a:solidFill>
                  <a:srgbClr val="002060"/>
                </a:solidFill>
              </a:rPr>
              <a:t>2. B = </a:t>
            </a:r>
            <a:r>
              <a:rPr lang="en-US" altLang="ru-RU" dirty="0" err="1">
                <a:solidFill>
                  <a:srgbClr val="002060"/>
                </a:solidFill>
              </a:rPr>
              <a:t>x.right</a:t>
            </a:r>
            <a:endParaRPr lang="en-US" altLang="ru-RU" dirty="0">
              <a:solidFill>
                <a:srgbClr val="002060"/>
              </a:solidFill>
            </a:endParaRPr>
          </a:p>
          <a:p>
            <a:pPr lvl="0" rtl="0" eaLnBrk="0" fontAlgn="base" hangingPunct="0">
              <a:spcBef>
                <a:spcPct val="0"/>
              </a:spcBef>
              <a:spcAft>
                <a:spcPct val="0"/>
              </a:spcAft>
            </a:pPr>
            <a:r>
              <a:rPr lang="en-US" altLang="ru-RU" dirty="0">
                <a:solidFill>
                  <a:srgbClr val="002060"/>
                </a:solidFill>
              </a:rPr>
              <a:t>3. </a:t>
            </a:r>
            <a:r>
              <a:rPr lang="en-US" altLang="ru-RU" dirty="0" err="1">
                <a:solidFill>
                  <a:srgbClr val="002060"/>
                </a:solidFill>
              </a:rPr>
              <a:t>x.right</a:t>
            </a:r>
            <a:r>
              <a:rPr lang="en-US" altLang="ru-RU" dirty="0">
                <a:solidFill>
                  <a:srgbClr val="002060"/>
                </a:solidFill>
              </a:rPr>
              <a:t> = y</a:t>
            </a:r>
          </a:p>
          <a:p>
            <a:pPr lvl="0" rtl="0" eaLnBrk="0" fontAlgn="base" hangingPunct="0">
              <a:spcBef>
                <a:spcPct val="0"/>
              </a:spcBef>
              <a:spcAft>
                <a:spcPct val="0"/>
              </a:spcAft>
            </a:pPr>
            <a:r>
              <a:rPr lang="en-US" altLang="ru-RU" dirty="0">
                <a:solidFill>
                  <a:srgbClr val="002060"/>
                </a:solidFill>
              </a:rPr>
              <a:t>4. </a:t>
            </a:r>
            <a:r>
              <a:rPr lang="en-US" altLang="ru-RU" dirty="0" err="1">
                <a:solidFill>
                  <a:srgbClr val="002060"/>
                </a:solidFill>
              </a:rPr>
              <a:t>y.left</a:t>
            </a:r>
            <a:r>
              <a:rPr lang="en-US" altLang="ru-RU" dirty="0">
                <a:solidFill>
                  <a:srgbClr val="002060"/>
                </a:solidFill>
              </a:rPr>
              <a:t> = B</a:t>
            </a:r>
          </a:p>
          <a:p>
            <a:pPr lvl="0" rtl="0" eaLnBrk="0" fontAlgn="base" hangingPunct="0">
              <a:spcBef>
                <a:spcPct val="0"/>
              </a:spcBef>
              <a:spcAft>
                <a:spcPct val="0"/>
              </a:spcAft>
            </a:pPr>
            <a:r>
              <a:rPr lang="en-US" altLang="ru-RU" dirty="0">
                <a:solidFill>
                  <a:srgbClr val="002060"/>
                </a:solidFill>
              </a:rPr>
              <a:t>5. </a:t>
            </a:r>
            <a:r>
              <a:rPr lang="ru-RU" altLang="ru-RU" dirty="0">
                <a:solidFill>
                  <a:srgbClr val="002060"/>
                </a:solidFill>
              </a:rPr>
              <a:t>вернуть </a:t>
            </a:r>
            <a:r>
              <a:rPr lang="en-US" altLang="ru-RU" dirty="0">
                <a:solidFill>
                  <a:srgbClr val="002060"/>
                </a:solidFill>
              </a:rPr>
              <a:t>x</a:t>
            </a:r>
            <a:endParaRPr lang="ru-RU" dirty="0"/>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правого поворота</a:t>
            </a:r>
          </a:p>
        </p:txBody>
      </p:sp>
      <p:sp>
        <p:nvSpPr>
          <p:cNvPr id="23" name="Овал 22">
            <a:extLst>
              <a:ext uri="{FF2B5EF4-FFF2-40B4-BE49-F238E27FC236}">
                <a16:creationId xmlns:a16="http://schemas.microsoft.com/office/drawing/2014/main" id="{B3B46E09-A961-44BA-8030-538BF7F7CF90}"/>
              </a:ext>
            </a:extLst>
          </p:cNvPr>
          <p:cNvSpPr/>
          <p:nvPr/>
        </p:nvSpPr>
        <p:spPr>
          <a:xfrm>
            <a:off x="855942" y="4700102"/>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cxnSp>
        <p:nvCxnSpPr>
          <p:cNvPr id="24" name="Прямая со стрелкой 23">
            <a:extLst>
              <a:ext uri="{FF2B5EF4-FFF2-40B4-BE49-F238E27FC236}">
                <a16:creationId xmlns:a16="http://schemas.microsoft.com/office/drawing/2014/main" id="{EA61579C-C4F5-4598-A284-37E446C9DFE1}"/>
              </a:ext>
            </a:extLst>
          </p:cNvPr>
          <p:cNvCxnSpPr>
            <a:cxnSpLocks/>
            <a:stCxn id="11" idx="3"/>
            <a:endCxn id="23" idx="0"/>
          </p:cNvCxnSpPr>
          <p:nvPr/>
        </p:nvCxnSpPr>
        <p:spPr>
          <a:xfrm flipH="1">
            <a:off x="1313142" y="4247409"/>
            <a:ext cx="133911" cy="4526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1AD5CFA-142C-428F-9661-1B0633B6CCC9}"/>
              </a:ext>
            </a:extLst>
          </p:cNvPr>
          <p:cNvSpPr txBox="1"/>
          <p:nvPr/>
        </p:nvSpPr>
        <p:spPr bwMode="auto">
          <a:xfrm>
            <a:off x="3544795" y="5248087"/>
            <a:ext cx="2801656" cy="369332"/>
          </a:xfrm>
          <a:prstGeom prst="rect">
            <a:avLst/>
          </a:prstGeom>
        </p:spPr>
        <p:txBody>
          <a:bodyPr wrap="square" rtlCol="0">
            <a:spAutoFit/>
          </a:bodyPr>
          <a:lstStyle/>
          <a:p>
            <a:r>
              <a:rPr lang="en-US" dirty="0"/>
              <a:t>X = 30, y = 50</a:t>
            </a:r>
            <a:endParaRPr lang="ru-RU" dirty="0"/>
          </a:p>
        </p:txBody>
      </p:sp>
    </p:spTree>
    <p:extLst>
      <p:ext uri="{BB962C8B-B14F-4D97-AF65-F5344CB8AC3E}">
        <p14:creationId xmlns:p14="http://schemas.microsoft.com/office/powerpoint/2010/main" val="41078459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Правый поворот — пошагово</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B05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96485" y="346692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FF00"/>
                </a:solidFill>
              </a:rPr>
              <a:t>40</a:t>
            </a:r>
          </a:p>
        </p:txBody>
      </p:sp>
      <p:cxnSp>
        <p:nvCxnSpPr>
          <p:cNvPr id="15" name="Прямая со стрелкой 14">
            <a:extLst>
              <a:ext uri="{FF2B5EF4-FFF2-40B4-BE49-F238E27FC236}">
                <a16:creationId xmlns:a16="http://schemas.microsoft.com/office/drawing/2014/main" id="{B2CFF049-5450-40F6-A7D5-E28ED3C04691}"/>
              </a:ext>
            </a:extLst>
          </p:cNvPr>
          <p:cNvCxnSpPr>
            <a:cxnSpLocks/>
            <a:stCxn id="8" idx="3"/>
            <a:endCxn id="9" idx="0"/>
          </p:cNvCxnSpPr>
          <p:nvPr/>
        </p:nvCxnSpPr>
        <p:spPr>
          <a:xfrm flipH="1">
            <a:off x="2953685" y="2205735"/>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4"/>
            <a:endCxn id="12" idx="0"/>
          </p:cNvCxnSpPr>
          <p:nvPr/>
        </p:nvCxnSpPr>
        <p:spPr>
          <a:xfrm>
            <a:off x="2953685" y="3249539"/>
            <a:ext cx="0" cy="21738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lvl="0" rtl="0" eaLnBrk="0" fontAlgn="base" hangingPunct="0">
              <a:spcBef>
                <a:spcPct val="0"/>
              </a:spcBef>
              <a:spcAft>
                <a:spcPct val="0"/>
              </a:spcAft>
            </a:pPr>
            <a:r>
              <a:rPr lang="en-US" altLang="ru-RU" dirty="0">
                <a:solidFill>
                  <a:srgbClr val="002060"/>
                </a:solidFill>
              </a:rPr>
              <a:t>1. </a:t>
            </a:r>
            <a:r>
              <a:rPr lang="en-US" altLang="ru-RU" dirty="0">
                <a:solidFill>
                  <a:srgbClr val="00B050"/>
                </a:solidFill>
              </a:rPr>
              <a:t>x = </a:t>
            </a:r>
            <a:r>
              <a:rPr lang="en-US" altLang="ru-RU" dirty="0" err="1">
                <a:solidFill>
                  <a:srgbClr val="00B050"/>
                </a:solidFill>
              </a:rPr>
              <a:t>y.left</a:t>
            </a:r>
            <a:endParaRPr lang="en-US" altLang="ru-RU" dirty="0">
              <a:solidFill>
                <a:srgbClr val="00B050"/>
              </a:solidFill>
            </a:endParaRPr>
          </a:p>
          <a:p>
            <a:pPr lvl="0" rtl="0" eaLnBrk="0" fontAlgn="base" hangingPunct="0">
              <a:spcBef>
                <a:spcPct val="0"/>
              </a:spcBef>
              <a:spcAft>
                <a:spcPct val="0"/>
              </a:spcAft>
            </a:pPr>
            <a:r>
              <a:rPr lang="en-US" altLang="ru-RU" dirty="0">
                <a:solidFill>
                  <a:srgbClr val="002060"/>
                </a:solidFill>
              </a:rPr>
              <a:t>2. </a:t>
            </a:r>
            <a:r>
              <a:rPr lang="en-US" altLang="ru-RU" dirty="0">
                <a:solidFill>
                  <a:srgbClr val="FFFF00"/>
                </a:solidFill>
              </a:rPr>
              <a:t>B = </a:t>
            </a:r>
            <a:r>
              <a:rPr lang="en-US" altLang="ru-RU" dirty="0" err="1">
                <a:solidFill>
                  <a:srgbClr val="FFFF00"/>
                </a:solidFill>
              </a:rPr>
              <a:t>x.right</a:t>
            </a:r>
            <a:endParaRPr lang="en-US" altLang="ru-RU" dirty="0">
              <a:solidFill>
                <a:srgbClr val="FFFF00"/>
              </a:solidFill>
            </a:endParaRPr>
          </a:p>
          <a:p>
            <a:pPr lvl="0" rtl="0" eaLnBrk="0" fontAlgn="base" hangingPunct="0">
              <a:spcBef>
                <a:spcPct val="0"/>
              </a:spcBef>
              <a:spcAft>
                <a:spcPct val="0"/>
              </a:spcAft>
            </a:pPr>
            <a:r>
              <a:rPr lang="en-US" altLang="ru-RU" dirty="0">
                <a:solidFill>
                  <a:srgbClr val="002060"/>
                </a:solidFill>
              </a:rPr>
              <a:t>3. </a:t>
            </a:r>
            <a:r>
              <a:rPr lang="en-US" altLang="ru-RU" dirty="0" err="1">
                <a:solidFill>
                  <a:srgbClr val="002060"/>
                </a:solidFill>
              </a:rPr>
              <a:t>x.right</a:t>
            </a:r>
            <a:r>
              <a:rPr lang="en-US" altLang="ru-RU" dirty="0">
                <a:solidFill>
                  <a:srgbClr val="002060"/>
                </a:solidFill>
              </a:rPr>
              <a:t> = y</a:t>
            </a:r>
          </a:p>
          <a:p>
            <a:pPr lvl="0" rtl="0" eaLnBrk="0" fontAlgn="base" hangingPunct="0">
              <a:spcBef>
                <a:spcPct val="0"/>
              </a:spcBef>
              <a:spcAft>
                <a:spcPct val="0"/>
              </a:spcAft>
            </a:pPr>
            <a:r>
              <a:rPr lang="en-US" altLang="ru-RU" dirty="0">
                <a:solidFill>
                  <a:srgbClr val="002060"/>
                </a:solidFill>
              </a:rPr>
              <a:t>4. </a:t>
            </a:r>
            <a:r>
              <a:rPr lang="en-US" altLang="ru-RU" dirty="0" err="1">
                <a:solidFill>
                  <a:srgbClr val="002060"/>
                </a:solidFill>
              </a:rPr>
              <a:t>y.left</a:t>
            </a:r>
            <a:r>
              <a:rPr lang="en-US" altLang="ru-RU" dirty="0">
                <a:solidFill>
                  <a:srgbClr val="002060"/>
                </a:solidFill>
              </a:rPr>
              <a:t> = B</a:t>
            </a:r>
          </a:p>
          <a:p>
            <a:pPr lvl="0" rtl="0" eaLnBrk="0" fontAlgn="base" hangingPunct="0">
              <a:spcBef>
                <a:spcPct val="0"/>
              </a:spcBef>
              <a:spcAft>
                <a:spcPct val="0"/>
              </a:spcAft>
            </a:pPr>
            <a:r>
              <a:rPr lang="en-US" altLang="ru-RU" dirty="0">
                <a:solidFill>
                  <a:srgbClr val="002060"/>
                </a:solidFill>
              </a:rPr>
              <a:t>5. </a:t>
            </a:r>
            <a:r>
              <a:rPr lang="ru-RU" altLang="ru-RU" dirty="0">
                <a:solidFill>
                  <a:srgbClr val="002060"/>
                </a:solidFill>
              </a:rPr>
              <a:t>вернуть </a:t>
            </a:r>
            <a:r>
              <a:rPr lang="en-US" altLang="ru-RU" dirty="0">
                <a:solidFill>
                  <a:srgbClr val="002060"/>
                </a:solidFill>
              </a:rPr>
              <a:t>x</a:t>
            </a:r>
            <a:endParaRPr lang="ru-RU" dirty="0"/>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правого поворота</a:t>
            </a:r>
          </a:p>
        </p:txBody>
      </p:sp>
      <p:sp>
        <p:nvSpPr>
          <p:cNvPr id="23" name="Овал 22">
            <a:extLst>
              <a:ext uri="{FF2B5EF4-FFF2-40B4-BE49-F238E27FC236}">
                <a16:creationId xmlns:a16="http://schemas.microsoft.com/office/drawing/2014/main" id="{B3B46E09-A961-44BA-8030-538BF7F7CF90}"/>
              </a:ext>
            </a:extLst>
          </p:cNvPr>
          <p:cNvSpPr/>
          <p:nvPr/>
        </p:nvSpPr>
        <p:spPr>
          <a:xfrm>
            <a:off x="855942" y="4700102"/>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cxnSp>
        <p:nvCxnSpPr>
          <p:cNvPr id="24" name="Прямая со стрелкой 23">
            <a:extLst>
              <a:ext uri="{FF2B5EF4-FFF2-40B4-BE49-F238E27FC236}">
                <a16:creationId xmlns:a16="http://schemas.microsoft.com/office/drawing/2014/main" id="{EA61579C-C4F5-4598-A284-37E446C9DFE1}"/>
              </a:ext>
            </a:extLst>
          </p:cNvPr>
          <p:cNvCxnSpPr>
            <a:cxnSpLocks/>
            <a:stCxn id="11" idx="3"/>
            <a:endCxn id="23" idx="0"/>
          </p:cNvCxnSpPr>
          <p:nvPr/>
        </p:nvCxnSpPr>
        <p:spPr>
          <a:xfrm flipH="1">
            <a:off x="1313142" y="4247409"/>
            <a:ext cx="133911" cy="4526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1AD5CFA-142C-428F-9661-1B0633B6CCC9}"/>
              </a:ext>
            </a:extLst>
          </p:cNvPr>
          <p:cNvSpPr txBox="1"/>
          <p:nvPr/>
        </p:nvSpPr>
        <p:spPr bwMode="auto">
          <a:xfrm>
            <a:off x="3544795" y="5248087"/>
            <a:ext cx="2801656" cy="369332"/>
          </a:xfrm>
          <a:prstGeom prst="rect">
            <a:avLst/>
          </a:prstGeom>
        </p:spPr>
        <p:txBody>
          <a:bodyPr wrap="square" rtlCol="0">
            <a:spAutoFit/>
          </a:bodyPr>
          <a:lstStyle/>
          <a:p>
            <a:r>
              <a:rPr lang="en-US" dirty="0"/>
              <a:t>X = 30, y = 50</a:t>
            </a:r>
            <a:endParaRPr lang="ru-RU" dirty="0"/>
          </a:p>
        </p:txBody>
      </p:sp>
    </p:spTree>
    <p:extLst>
      <p:ext uri="{BB962C8B-B14F-4D97-AF65-F5344CB8AC3E}">
        <p14:creationId xmlns:p14="http://schemas.microsoft.com/office/powerpoint/2010/main" val="32629523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Правый поворот — пошагово</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B05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96485" y="346692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FF00"/>
                </a:solidFill>
              </a:rPr>
              <a:t>40</a:t>
            </a:r>
          </a:p>
        </p:txBody>
      </p: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lvl="0" rtl="0" eaLnBrk="0" fontAlgn="base" hangingPunct="0">
              <a:spcBef>
                <a:spcPct val="0"/>
              </a:spcBef>
              <a:spcAft>
                <a:spcPct val="0"/>
              </a:spcAft>
            </a:pPr>
            <a:r>
              <a:rPr lang="en-US" altLang="ru-RU" dirty="0">
                <a:solidFill>
                  <a:srgbClr val="002060"/>
                </a:solidFill>
              </a:rPr>
              <a:t>1. </a:t>
            </a:r>
            <a:r>
              <a:rPr lang="en-US" altLang="ru-RU" dirty="0">
                <a:solidFill>
                  <a:srgbClr val="00B050"/>
                </a:solidFill>
              </a:rPr>
              <a:t>x = </a:t>
            </a:r>
            <a:r>
              <a:rPr lang="en-US" altLang="ru-RU" dirty="0" err="1">
                <a:solidFill>
                  <a:srgbClr val="00B050"/>
                </a:solidFill>
              </a:rPr>
              <a:t>y.left</a:t>
            </a:r>
            <a:endParaRPr lang="en-US" altLang="ru-RU" dirty="0">
              <a:solidFill>
                <a:srgbClr val="00B050"/>
              </a:solidFill>
            </a:endParaRPr>
          </a:p>
          <a:p>
            <a:pPr lvl="0" rtl="0" eaLnBrk="0" fontAlgn="base" hangingPunct="0">
              <a:spcBef>
                <a:spcPct val="0"/>
              </a:spcBef>
              <a:spcAft>
                <a:spcPct val="0"/>
              </a:spcAft>
            </a:pPr>
            <a:r>
              <a:rPr lang="en-US" altLang="ru-RU" dirty="0">
                <a:solidFill>
                  <a:srgbClr val="002060"/>
                </a:solidFill>
              </a:rPr>
              <a:t>2. </a:t>
            </a:r>
            <a:r>
              <a:rPr lang="en-US" altLang="ru-RU" dirty="0">
                <a:solidFill>
                  <a:srgbClr val="FFFF00"/>
                </a:solidFill>
              </a:rPr>
              <a:t>B = </a:t>
            </a:r>
            <a:r>
              <a:rPr lang="en-US" altLang="ru-RU" dirty="0" err="1">
                <a:solidFill>
                  <a:srgbClr val="FFFF00"/>
                </a:solidFill>
              </a:rPr>
              <a:t>x.right</a:t>
            </a:r>
            <a:endParaRPr lang="en-US" altLang="ru-RU" dirty="0">
              <a:solidFill>
                <a:srgbClr val="FFFF00"/>
              </a:solidFill>
            </a:endParaRPr>
          </a:p>
          <a:p>
            <a:pPr lvl="0" rtl="0" eaLnBrk="0" fontAlgn="base" hangingPunct="0">
              <a:spcBef>
                <a:spcPct val="0"/>
              </a:spcBef>
              <a:spcAft>
                <a:spcPct val="0"/>
              </a:spcAft>
            </a:pPr>
            <a:r>
              <a:rPr lang="en-US" altLang="ru-RU" dirty="0">
                <a:solidFill>
                  <a:srgbClr val="002060"/>
                </a:solidFill>
              </a:rPr>
              <a:t>3.</a:t>
            </a:r>
            <a:r>
              <a:rPr lang="en-US" altLang="ru-RU" dirty="0">
                <a:solidFill>
                  <a:srgbClr val="00B0F0"/>
                </a:solidFill>
              </a:rPr>
              <a:t> </a:t>
            </a:r>
            <a:r>
              <a:rPr lang="en-US" altLang="ru-RU" dirty="0" err="1">
                <a:solidFill>
                  <a:srgbClr val="00B0F0"/>
                </a:solidFill>
              </a:rPr>
              <a:t>x.right</a:t>
            </a:r>
            <a:r>
              <a:rPr lang="en-US" altLang="ru-RU" dirty="0">
                <a:solidFill>
                  <a:srgbClr val="00B0F0"/>
                </a:solidFill>
              </a:rPr>
              <a:t> = y</a:t>
            </a:r>
          </a:p>
          <a:p>
            <a:pPr lvl="0" rtl="0" eaLnBrk="0" fontAlgn="base" hangingPunct="0">
              <a:spcBef>
                <a:spcPct val="0"/>
              </a:spcBef>
              <a:spcAft>
                <a:spcPct val="0"/>
              </a:spcAft>
            </a:pPr>
            <a:r>
              <a:rPr lang="en-US" altLang="ru-RU" dirty="0">
                <a:solidFill>
                  <a:srgbClr val="002060"/>
                </a:solidFill>
              </a:rPr>
              <a:t>4</a:t>
            </a:r>
            <a:r>
              <a:rPr lang="en-US" altLang="ru-RU" dirty="0">
                <a:solidFill>
                  <a:srgbClr val="FFC000"/>
                </a:solidFill>
              </a:rPr>
              <a:t>. </a:t>
            </a:r>
            <a:r>
              <a:rPr lang="en-US" altLang="ru-RU" dirty="0" err="1">
                <a:solidFill>
                  <a:srgbClr val="FFC000"/>
                </a:solidFill>
              </a:rPr>
              <a:t>y.left</a:t>
            </a:r>
            <a:r>
              <a:rPr lang="en-US" altLang="ru-RU" dirty="0">
                <a:solidFill>
                  <a:srgbClr val="FFC000"/>
                </a:solidFill>
              </a:rPr>
              <a:t> = B</a:t>
            </a:r>
          </a:p>
          <a:p>
            <a:pPr lvl="0" rtl="0" eaLnBrk="0" fontAlgn="base" hangingPunct="0">
              <a:spcBef>
                <a:spcPct val="0"/>
              </a:spcBef>
              <a:spcAft>
                <a:spcPct val="0"/>
              </a:spcAft>
            </a:pPr>
            <a:r>
              <a:rPr lang="en-US" altLang="ru-RU" dirty="0">
                <a:solidFill>
                  <a:srgbClr val="002060"/>
                </a:solidFill>
              </a:rPr>
              <a:t>5. </a:t>
            </a:r>
            <a:r>
              <a:rPr lang="ru-RU" altLang="ru-RU" dirty="0">
                <a:solidFill>
                  <a:srgbClr val="002060"/>
                </a:solidFill>
              </a:rPr>
              <a:t>вернуть </a:t>
            </a:r>
            <a:r>
              <a:rPr lang="en-US" altLang="ru-RU" dirty="0">
                <a:solidFill>
                  <a:srgbClr val="002060"/>
                </a:solidFill>
              </a:rPr>
              <a:t>x</a:t>
            </a:r>
            <a:endParaRPr lang="ru-RU" dirty="0"/>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правого поворота</a:t>
            </a:r>
          </a:p>
        </p:txBody>
      </p:sp>
      <p:sp>
        <p:nvSpPr>
          <p:cNvPr id="23" name="Овал 22">
            <a:extLst>
              <a:ext uri="{FF2B5EF4-FFF2-40B4-BE49-F238E27FC236}">
                <a16:creationId xmlns:a16="http://schemas.microsoft.com/office/drawing/2014/main" id="{B3B46E09-A961-44BA-8030-538BF7F7CF90}"/>
              </a:ext>
            </a:extLst>
          </p:cNvPr>
          <p:cNvSpPr/>
          <p:nvPr/>
        </p:nvSpPr>
        <p:spPr>
          <a:xfrm>
            <a:off x="855942" y="4700102"/>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cxnSp>
        <p:nvCxnSpPr>
          <p:cNvPr id="24" name="Прямая со стрелкой 23">
            <a:extLst>
              <a:ext uri="{FF2B5EF4-FFF2-40B4-BE49-F238E27FC236}">
                <a16:creationId xmlns:a16="http://schemas.microsoft.com/office/drawing/2014/main" id="{EA61579C-C4F5-4598-A284-37E446C9DFE1}"/>
              </a:ext>
            </a:extLst>
          </p:cNvPr>
          <p:cNvCxnSpPr>
            <a:cxnSpLocks/>
            <a:stCxn id="11" idx="3"/>
            <a:endCxn id="23" idx="0"/>
          </p:cNvCxnSpPr>
          <p:nvPr/>
        </p:nvCxnSpPr>
        <p:spPr>
          <a:xfrm flipH="1">
            <a:off x="1313142" y="4247409"/>
            <a:ext cx="133911" cy="4526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1AD5CFA-142C-428F-9661-1B0633B6CCC9}"/>
              </a:ext>
            </a:extLst>
          </p:cNvPr>
          <p:cNvSpPr txBox="1"/>
          <p:nvPr/>
        </p:nvSpPr>
        <p:spPr bwMode="auto">
          <a:xfrm>
            <a:off x="3544795" y="5248087"/>
            <a:ext cx="2801656" cy="369332"/>
          </a:xfrm>
          <a:prstGeom prst="rect">
            <a:avLst/>
          </a:prstGeom>
        </p:spPr>
        <p:txBody>
          <a:bodyPr wrap="square" rtlCol="0">
            <a:spAutoFit/>
          </a:bodyPr>
          <a:lstStyle/>
          <a:p>
            <a:r>
              <a:rPr lang="en-US" dirty="0"/>
              <a:t>X = 30, y = 50</a:t>
            </a:r>
            <a:endParaRPr lang="ru-RU" dirty="0"/>
          </a:p>
        </p:txBody>
      </p:sp>
      <p:cxnSp>
        <p:nvCxnSpPr>
          <p:cNvPr id="5" name="Прямая со стрелкой 4">
            <a:extLst>
              <a:ext uri="{FF2B5EF4-FFF2-40B4-BE49-F238E27FC236}">
                <a16:creationId xmlns:a16="http://schemas.microsoft.com/office/drawing/2014/main" id="{AEDE2121-BD0B-4650-9352-AF21C1293F9E}"/>
              </a:ext>
            </a:extLst>
          </p:cNvPr>
          <p:cNvCxnSpPr>
            <a:cxnSpLocks/>
            <a:stCxn id="9" idx="7"/>
            <a:endCxn id="8" idx="2"/>
          </p:cNvCxnSpPr>
          <p:nvPr/>
        </p:nvCxnSpPr>
        <p:spPr>
          <a:xfrm flipV="1">
            <a:off x="3276973" y="1882447"/>
            <a:ext cx="133911" cy="58660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3C0025C6-AADC-472E-9815-F64804B915A5}"/>
              </a:ext>
            </a:extLst>
          </p:cNvPr>
          <p:cNvCxnSpPr>
            <a:stCxn id="8" idx="4"/>
            <a:endCxn id="12" idx="7"/>
          </p:cNvCxnSpPr>
          <p:nvPr/>
        </p:nvCxnSpPr>
        <p:spPr>
          <a:xfrm flipH="1">
            <a:off x="3276973" y="2339646"/>
            <a:ext cx="591111" cy="1261185"/>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9815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Правый поворот — пошагово</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628373" y="324953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B05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4194317" y="4260083"/>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630396" y="424290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FF00"/>
                </a:solidFill>
              </a:rPr>
              <a:t>40</a:t>
            </a:r>
          </a:p>
        </p:txBody>
      </p: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6"/>
            <a:endCxn id="10" idx="0"/>
          </p:cNvCxnSpPr>
          <p:nvPr/>
        </p:nvCxnSpPr>
        <p:spPr>
          <a:xfrm>
            <a:off x="4542772" y="3706737"/>
            <a:ext cx="108745" cy="553346"/>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lvl="0" rtl="0" eaLnBrk="0" fontAlgn="base" hangingPunct="0">
              <a:spcBef>
                <a:spcPct val="0"/>
              </a:spcBef>
              <a:spcAft>
                <a:spcPct val="0"/>
              </a:spcAft>
            </a:pPr>
            <a:r>
              <a:rPr lang="en-US" altLang="ru-RU" dirty="0">
                <a:solidFill>
                  <a:srgbClr val="002060"/>
                </a:solidFill>
              </a:rPr>
              <a:t>1. </a:t>
            </a:r>
            <a:r>
              <a:rPr lang="en-US" altLang="ru-RU" dirty="0">
                <a:solidFill>
                  <a:srgbClr val="00B050"/>
                </a:solidFill>
              </a:rPr>
              <a:t>x = </a:t>
            </a:r>
            <a:r>
              <a:rPr lang="en-US" altLang="ru-RU" dirty="0" err="1">
                <a:solidFill>
                  <a:srgbClr val="00B050"/>
                </a:solidFill>
              </a:rPr>
              <a:t>y.left</a:t>
            </a:r>
            <a:endParaRPr lang="en-US" altLang="ru-RU" dirty="0">
              <a:solidFill>
                <a:srgbClr val="00B050"/>
              </a:solidFill>
            </a:endParaRPr>
          </a:p>
          <a:p>
            <a:pPr lvl="0" rtl="0" eaLnBrk="0" fontAlgn="base" hangingPunct="0">
              <a:spcBef>
                <a:spcPct val="0"/>
              </a:spcBef>
              <a:spcAft>
                <a:spcPct val="0"/>
              </a:spcAft>
            </a:pPr>
            <a:r>
              <a:rPr lang="en-US" altLang="ru-RU" dirty="0">
                <a:solidFill>
                  <a:srgbClr val="002060"/>
                </a:solidFill>
              </a:rPr>
              <a:t>2. </a:t>
            </a:r>
            <a:r>
              <a:rPr lang="en-US" altLang="ru-RU" dirty="0">
                <a:solidFill>
                  <a:srgbClr val="FFFF00"/>
                </a:solidFill>
              </a:rPr>
              <a:t>B = </a:t>
            </a:r>
            <a:r>
              <a:rPr lang="en-US" altLang="ru-RU" dirty="0" err="1">
                <a:solidFill>
                  <a:srgbClr val="FFFF00"/>
                </a:solidFill>
              </a:rPr>
              <a:t>x.right</a:t>
            </a:r>
            <a:endParaRPr lang="en-US" altLang="ru-RU" dirty="0">
              <a:solidFill>
                <a:srgbClr val="FFFF00"/>
              </a:solidFill>
            </a:endParaRPr>
          </a:p>
          <a:p>
            <a:pPr lvl="0" rtl="0" eaLnBrk="0" fontAlgn="base" hangingPunct="0">
              <a:spcBef>
                <a:spcPct val="0"/>
              </a:spcBef>
              <a:spcAft>
                <a:spcPct val="0"/>
              </a:spcAft>
            </a:pPr>
            <a:r>
              <a:rPr lang="en-US" altLang="ru-RU" dirty="0">
                <a:solidFill>
                  <a:srgbClr val="002060"/>
                </a:solidFill>
              </a:rPr>
              <a:t>3.</a:t>
            </a:r>
            <a:r>
              <a:rPr lang="en-US" altLang="ru-RU" dirty="0">
                <a:solidFill>
                  <a:srgbClr val="00B0F0"/>
                </a:solidFill>
              </a:rPr>
              <a:t> </a:t>
            </a:r>
            <a:r>
              <a:rPr lang="en-US" altLang="ru-RU" dirty="0" err="1">
                <a:solidFill>
                  <a:srgbClr val="00B0F0"/>
                </a:solidFill>
              </a:rPr>
              <a:t>x.right</a:t>
            </a:r>
            <a:r>
              <a:rPr lang="en-US" altLang="ru-RU" dirty="0">
                <a:solidFill>
                  <a:srgbClr val="00B0F0"/>
                </a:solidFill>
              </a:rPr>
              <a:t> = y</a:t>
            </a:r>
          </a:p>
          <a:p>
            <a:pPr lvl="0" rtl="0" eaLnBrk="0" fontAlgn="base" hangingPunct="0">
              <a:spcBef>
                <a:spcPct val="0"/>
              </a:spcBef>
              <a:spcAft>
                <a:spcPct val="0"/>
              </a:spcAft>
            </a:pPr>
            <a:r>
              <a:rPr lang="en-US" altLang="ru-RU" dirty="0">
                <a:solidFill>
                  <a:srgbClr val="002060"/>
                </a:solidFill>
              </a:rPr>
              <a:t>4</a:t>
            </a:r>
            <a:r>
              <a:rPr lang="en-US" altLang="ru-RU" dirty="0">
                <a:solidFill>
                  <a:srgbClr val="FFC000"/>
                </a:solidFill>
              </a:rPr>
              <a:t>. </a:t>
            </a:r>
            <a:r>
              <a:rPr lang="en-US" altLang="ru-RU" dirty="0" err="1">
                <a:solidFill>
                  <a:srgbClr val="FFC000"/>
                </a:solidFill>
              </a:rPr>
              <a:t>y.left</a:t>
            </a:r>
            <a:r>
              <a:rPr lang="en-US" altLang="ru-RU" dirty="0">
                <a:solidFill>
                  <a:srgbClr val="FFC000"/>
                </a:solidFill>
              </a:rPr>
              <a:t> = B</a:t>
            </a:r>
          </a:p>
          <a:p>
            <a:pPr lvl="0" rtl="0" eaLnBrk="0" fontAlgn="base" hangingPunct="0">
              <a:spcBef>
                <a:spcPct val="0"/>
              </a:spcBef>
              <a:spcAft>
                <a:spcPct val="0"/>
              </a:spcAft>
            </a:pPr>
            <a:r>
              <a:rPr lang="en-US" altLang="ru-RU" dirty="0">
                <a:solidFill>
                  <a:srgbClr val="002060"/>
                </a:solidFill>
              </a:rPr>
              <a:t>5. </a:t>
            </a:r>
            <a:r>
              <a:rPr lang="ru-RU" altLang="ru-RU" dirty="0">
                <a:solidFill>
                  <a:srgbClr val="002060"/>
                </a:solidFill>
              </a:rPr>
              <a:t>вернуть </a:t>
            </a:r>
            <a:r>
              <a:rPr lang="en-US" altLang="ru-RU" dirty="0">
                <a:solidFill>
                  <a:srgbClr val="002060"/>
                </a:solidFill>
              </a:rPr>
              <a:t>x</a:t>
            </a:r>
            <a:endParaRPr lang="ru-RU" dirty="0"/>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правого поворота</a:t>
            </a:r>
          </a:p>
        </p:txBody>
      </p:sp>
      <p:sp>
        <p:nvSpPr>
          <p:cNvPr id="23" name="Овал 22">
            <a:extLst>
              <a:ext uri="{FF2B5EF4-FFF2-40B4-BE49-F238E27FC236}">
                <a16:creationId xmlns:a16="http://schemas.microsoft.com/office/drawing/2014/main" id="{B3B46E09-A961-44BA-8030-538BF7F7CF90}"/>
              </a:ext>
            </a:extLst>
          </p:cNvPr>
          <p:cNvSpPr/>
          <p:nvPr/>
        </p:nvSpPr>
        <p:spPr>
          <a:xfrm>
            <a:off x="855942" y="4700102"/>
            <a:ext cx="914399" cy="914399"/>
          </a:xfrm>
          <a:prstGeom prst="ellipse">
            <a:avLst/>
          </a:prstGeom>
          <a:ln>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10</a:t>
            </a:r>
            <a:endParaRPr lang="ru-RU" dirty="0"/>
          </a:p>
        </p:txBody>
      </p:sp>
      <p:cxnSp>
        <p:nvCxnSpPr>
          <p:cNvPr id="24" name="Прямая со стрелкой 23">
            <a:extLst>
              <a:ext uri="{FF2B5EF4-FFF2-40B4-BE49-F238E27FC236}">
                <a16:creationId xmlns:a16="http://schemas.microsoft.com/office/drawing/2014/main" id="{EA61579C-C4F5-4598-A284-37E446C9DFE1}"/>
              </a:ext>
            </a:extLst>
          </p:cNvPr>
          <p:cNvCxnSpPr>
            <a:cxnSpLocks/>
            <a:stCxn id="11" idx="3"/>
            <a:endCxn id="23" idx="0"/>
          </p:cNvCxnSpPr>
          <p:nvPr/>
        </p:nvCxnSpPr>
        <p:spPr>
          <a:xfrm flipH="1">
            <a:off x="1313142" y="4247409"/>
            <a:ext cx="133911" cy="452693"/>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1AD5CFA-142C-428F-9661-1B0633B6CCC9}"/>
              </a:ext>
            </a:extLst>
          </p:cNvPr>
          <p:cNvSpPr txBox="1"/>
          <p:nvPr/>
        </p:nvSpPr>
        <p:spPr bwMode="auto">
          <a:xfrm>
            <a:off x="3544795" y="5248087"/>
            <a:ext cx="2801656" cy="369332"/>
          </a:xfrm>
          <a:prstGeom prst="rect">
            <a:avLst/>
          </a:prstGeom>
        </p:spPr>
        <p:txBody>
          <a:bodyPr wrap="square" rtlCol="0">
            <a:spAutoFit/>
          </a:bodyPr>
          <a:lstStyle/>
          <a:p>
            <a:r>
              <a:rPr lang="en-US" dirty="0"/>
              <a:t>X = 30, y = 50</a:t>
            </a:r>
            <a:endParaRPr lang="ru-RU" dirty="0"/>
          </a:p>
        </p:txBody>
      </p:sp>
      <p:cxnSp>
        <p:nvCxnSpPr>
          <p:cNvPr id="5" name="Прямая со стрелкой 4">
            <a:extLst>
              <a:ext uri="{FF2B5EF4-FFF2-40B4-BE49-F238E27FC236}">
                <a16:creationId xmlns:a16="http://schemas.microsoft.com/office/drawing/2014/main" id="{AEDE2121-BD0B-4650-9352-AF21C1293F9E}"/>
              </a:ext>
            </a:extLst>
          </p:cNvPr>
          <p:cNvCxnSpPr>
            <a:cxnSpLocks/>
            <a:stCxn id="9" idx="6"/>
            <a:endCxn id="8" idx="0"/>
          </p:cNvCxnSpPr>
          <p:nvPr/>
        </p:nvCxnSpPr>
        <p:spPr>
          <a:xfrm>
            <a:off x="3410884" y="2792340"/>
            <a:ext cx="674689" cy="457197"/>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3C0025C6-AADC-472E-9815-F64804B915A5}"/>
              </a:ext>
            </a:extLst>
          </p:cNvPr>
          <p:cNvCxnSpPr>
            <a:cxnSpLocks/>
            <a:stCxn id="8" idx="2"/>
            <a:endCxn id="12" idx="7"/>
          </p:cNvCxnSpPr>
          <p:nvPr/>
        </p:nvCxnSpPr>
        <p:spPr>
          <a:xfrm flipH="1">
            <a:off x="3410884" y="3706737"/>
            <a:ext cx="217489" cy="670076"/>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9185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Двойной поворот</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85838" y="362931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40</a:t>
            </a:r>
          </a:p>
        </p:txBody>
      </p:sp>
      <p:cxnSp>
        <p:nvCxnSpPr>
          <p:cNvPr id="15" name="Прямая со стрелкой 14">
            <a:extLst>
              <a:ext uri="{FF2B5EF4-FFF2-40B4-BE49-F238E27FC236}">
                <a16:creationId xmlns:a16="http://schemas.microsoft.com/office/drawing/2014/main" id="{B2CFF049-5450-40F6-A7D5-E28ED3C04691}"/>
              </a:ext>
            </a:extLst>
          </p:cNvPr>
          <p:cNvCxnSpPr>
            <a:stCxn id="8" idx="3"/>
            <a:endCxn id="9" idx="0"/>
          </p:cNvCxnSpPr>
          <p:nvPr/>
        </p:nvCxnSpPr>
        <p:spPr>
          <a:xfrm flipH="1">
            <a:off x="2953685" y="2205735"/>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4"/>
            <a:endCxn id="12" idx="0"/>
          </p:cNvCxnSpPr>
          <p:nvPr/>
        </p:nvCxnSpPr>
        <p:spPr>
          <a:xfrm flipH="1">
            <a:off x="2943038" y="3249539"/>
            <a:ext cx="10647" cy="37977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AutoNum type="arabicPeriod"/>
            </a:pPr>
            <a:r>
              <a:rPr lang="ru-RU" dirty="0"/>
              <a:t>левый поворот вокруг левого потомка;</a:t>
            </a:r>
          </a:p>
          <a:p>
            <a:pPr marL="342900" lvl="0" indent="-342900" rtl="0" eaLnBrk="0" fontAlgn="base" hangingPunct="0">
              <a:spcBef>
                <a:spcPct val="0"/>
              </a:spcBef>
              <a:spcAft>
                <a:spcPct val="0"/>
              </a:spcAft>
              <a:buAutoNum type="arabicPeriod"/>
            </a:pPr>
            <a:r>
              <a:rPr lang="ru-RU" dirty="0"/>
              <a:t>правый поворот вокруг несбалансированного узла.</a:t>
            </a:r>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двойного поворота</a:t>
            </a:r>
          </a:p>
        </p:txBody>
      </p:sp>
      <p:sp>
        <p:nvSpPr>
          <p:cNvPr id="27" name="TextBox 26">
            <a:extLst>
              <a:ext uri="{FF2B5EF4-FFF2-40B4-BE49-F238E27FC236}">
                <a16:creationId xmlns:a16="http://schemas.microsoft.com/office/drawing/2014/main" id="{F565B2E6-4B4A-4B2C-904E-2F93AB8CEE14}"/>
              </a:ext>
            </a:extLst>
          </p:cNvPr>
          <p:cNvSpPr txBox="1"/>
          <p:nvPr/>
        </p:nvSpPr>
        <p:spPr bwMode="auto">
          <a:xfrm>
            <a:off x="2028171" y="1276608"/>
            <a:ext cx="1506071" cy="369332"/>
          </a:xfrm>
          <a:prstGeom prst="rect">
            <a:avLst/>
          </a:prstGeom>
        </p:spPr>
        <p:txBody>
          <a:bodyPr wrap="square" rtlCol="0">
            <a:spAutoFit/>
          </a:bodyPr>
          <a:lstStyle/>
          <a:p>
            <a:r>
              <a:rPr lang="en-US" dirty="0"/>
              <a:t>BF(50) = 2</a:t>
            </a:r>
            <a:endParaRPr lang="ru-RU" dirty="0"/>
          </a:p>
        </p:txBody>
      </p:sp>
      <p:sp>
        <p:nvSpPr>
          <p:cNvPr id="28" name="TextBox 27">
            <a:extLst>
              <a:ext uri="{FF2B5EF4-FFF2-40B4-BE49-F238E27FC236}">
                <a16:creationId xmlns:a16="http://schemas.microsoft.com/office/drawing/2014/main" id="{AFBCBBD2-0341-4AC5-A92E-E47A0DB7233F}"/>
              </a:ext>
            </a:extLst>
          </p:cNvPr>
          <p:cNvSpPr txBox="1"/>
          <p:nvPr/>
        </p:nvSpPr>
        <p:spPr bwMode="auto">
          <a:xfrm>
            <a:off x="2943038" y="1857118"/>
            <a:ext cx="506131" cy="369332"/>
          </a:xfrm>
          <a:prstGeom prst="rect">
            <a:avLst/>
          </a:prstGeom>
        </p:spPr>
        <p:txBody>
          <a:bodyPr wrap="square" rtlCol="0">
            <a:spAutoFit/>
          </a:bodyPr>
          <a:lstStyle/>
          <a:p>
            <a:r>
              <a:rPr lang="ru-RU" dirty="0"/>
              <a:t> </a:t>
            </a:r>
            <a:r>
              <a:rPr lang="en-US" dirty="0"/>
              <a:t>L</a:t>
            </a:r>
            <a:endParaRPr lang="ru-RU" dirty="0"/>
          </a:p>
        </p:txBody>
      </p:sp>
      <p:sp>
        <p:nvSpPr>
          <p:cNvPr id="29" name="TextBox 28">
            <a:extLst>
              <a:ext uri="{FF2B5EF4-FFF2-40B4-BE49-F238E27FC236}">
                <a16:creationId xmlns:a16="http://schemas.microsoft.com/office/drawing/2014/main" id="{91876929-A93F-46A2-8A86-1653C2CC0F66}"/>
              </a:ext>
            </a:extLst>
          </p:cNvPr>
          <p:cNvSpPr txBox="1"/>
          <p:nvPr/>
        </p:nvSpPr>
        <p:spPr bwMode="auto">
          <a:xfrm>
            <a:off x="3082370" y="3307909"/>
            <a:ext cx="506131" cy="369332"/>
          </a:xfrm>
          <a:prstGeom prst="rect">
            <a:avLst/>
          </a:prstGeom>
        </p:spPr>
        <p:txBody>
          <a:bodyPr wrap="square" rtlCol="0">
            <a:spAutoFit/>
          </a:bodyPr>
          <a:lstStyle/>
          <a:p>
            <a:r>
              <a:rPr lang="ru-RU" dirty="0"/>
              <a:t> </a:t>
            </a:r>
            <a:r>
              <a:rPr lang="en-US" dirty="0"/>
              <a:t>R</a:t>
            </a:r>
            <a:endParaRPr lang="ru-RU" dirty="0"/>
          </a:p>
        </p:txBody>
      </p:sp>
      <p:sp>
        <p:nvSpPr>
          <p:cNvPr id="20" name="Овал 19">
            <a:extLst>
              <a:ext uri="{FF2B5EF4-FFF2-40B4-BE49-F238E27FC236}">
                <a16:creationId xmlns:a16="http://schemas.microsoft.com/office/drawing/2014/main" id="{C3BE5DE7-3ECA-49AA-93A0-0C1E9BB92AE1}"/>
              </a:ext>
            </a:extLst>
          </p:cNvPr>
          <p:cNvSpPr/>
          <p:nvPr/>
        </p:nvSpPr>
        <p:spPr>
          <a:xfrm>
            <a:off x="1931707" y="482007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35</a:t>
            </a:r>
            <a:endParaRPr lang="ru-RU" dirty="0"/>
          </a:p>
        </p:txBody>
      </p:sp>
      <p:cxnSp>
        <p:nvCxnSpPr>
          <p:cNvPr id="4" name="Прямая со стрелкой 3">
            <a:extLst>
              <a:ext uri="{FF2B5EF4-FFF2-40B4-BE49-F238E27FC236}">
                <a16:creationId xmlns:a16="http://schemas.microsoft.com/office/drawing/2014/main" id="{5C9ACB50-ECAC-466A-9563-5FE694F8A9FD}"/>
              </a:ext>
            </a:extLst>
          </p:cNvPr>
          <p:cNvCxnSpPr>
            <a:stCxn id="12" idx="4"/>
            <a:endCxn id="20" idx="0"/>
          </p:cNvCxnSpPr>
          <p:nvPr/>
        </p:nvCxnSpPr>
        <p:spPr>
          <a:xfrm flipH="1">
            <a:off x="2388907" y="4543717"/>
            <a:ext cx="554131" cy="276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65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Двойной поворот</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496485" y="23351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30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1313142" y="3466921"/>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2485838" y="362931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FF0000"/>
                </a:solidFill>
              </a:rPr>
              <a:t>40</a:t>
            </a:r>
          </a:p>
        </p:txBody>
      </p:sp>
      <p:cxnSp>
        <p:nvCxnSpPr>
          <p:cNvPr id="15" name="Прямая со стрелкой 14">
            <a:extLst>
              <a:ext uri="{FF2B5EF4-FFF2-40B4-BE49-F238E27FC236}">
                <a16:creationId xmlns:a16="http://schemas.microsoft.com/office/drawing/2014/main" id="{B2CFF049-5450-40F6-A7D5-E28ED3C04691}"/>
              </a:ext>
            </a:extLst>
          </p:cNvPr>
          <p:cNvCxnSpPr>
            <a:stCxn id="8" idx="3"/>
            <a:endCxn id="9" idx="0"/>
          </p:cNvCxnSpPr>
          <p:nvPr/>
        </p:nvCxnSpPr>
        <p:spPr>
          <a:xfrm flipH="1">
            <a:off x="2953685" y="2205735"/>
            <a:ext cx="591110" cy="129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9" idx="3"/>
            <a:endCxn id="11" idx="0"/>
          </p:cNvCxnSpPr>
          <p:nvPr/>
        </p:nvCxnSpPr>
        <p:spPr>
          <a:xfrm flipH="1">
            <a:off x="1770342" y="3115628"/>
            <a:ext cx="860054" cy="3512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4"/>
            <a:endCxn id="12" idx="0"/>
          </p:cNvCxnSpPr>
          <p:nvPr/>
        </p:nvCxnSpPr>
        <p:spPr>
          <a:xfrm flipH="1">
            <a:off x="2943038" y="3249539"/>
            <a:ext cx="10647" cy="37977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AutoNum type="arabicPeriod"/>
            </a:pPr>
            <a:r>
              <a:rPr lang="ru-RU" dirty="0"/>
              <a:t>левый поворот вокруг левого потомка;</a:t>
            </a:r>
          </a:p>
          <a:p>
            <a:pPr marL="342900" lvl="0" indent="-342900" rtl="0" eaLnBrk="0" fontAlgn="base" hangingPunct="0">
              <a:spcBef>
                <a:spcPct val="0"/>
              </a:spcBef>
              <a:spcAft>
                <a:spcPct val="0"/>
              </a:spcAft>
              <a:buAutoNum type="arabicPeriod"/>
            </a:pPr>
            <a:r>
              <a:rPr lang="ru-RU" dirty="0"/>
              <a:t>правый поворот вокруг несбалансированного узла.</a:t>
            </a:r>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двойного поворота</a:t>
            </a:r>
          </a:p>
        </p:txBody>
      </p:sp>
      <p:sp>
        <p:nvSpPr>
          <p:cNvPr id="28" name="TextBox 27">
            <a:extLst>
              <a:ext uri="{FF2B5EF4-FFF2-40B4-BE49-F238E27FC236}">
                <a16:creationId xmlns:a16="http://schemas.microsoft.com/office/drawing/2014/main" id="{AFBCBBD2-0341-4AC5-A92E-E47A0DB7233F}"/>
              </a:ext>
            </a:extLst>
          </p:cNvPr>
          <p:cNvSpPr txBox="1"/>
          <p:nvPr/>
        </p:nvSpPr>
        <p:spPr bwMode="auto">
          <a:xfrm>
            <a:off x="2943038" y="1857118"/>
            <a:ext cx="506131" cy="369332"/>
          </a:xfrm>
          <a:prstGeom prst="rect">
            <a:avLst/>
          </a:prstGeom>
        </p:spPr>
        <p:txBody>
          <a:bodyPr wrap="square" rtlCol="0">
            <a:spAutoFit/>
          </a:bodyPr>
          <a:lstStyle/>
          <a:p>
            <a:r>
              <a:rPr lang="ru-RU" dirty="0"/>
              <a:t> </a:t>
            </a:r>
            <a:r>
              <a:rPr lang="en-US" dirty="0"/>
              <a:t>L</a:t>
            </a:r>
            <a:endParaRPr lang="ru-RU" dirty="0"/>
          </a:p>
        </p:txBody>
      </p:sp>
      <p:sp>
        <p:nvSpPr>
          <p:cNvPr id="29" name="TextBox 28">
            <a:extLst>
              <a:ext uri="{FF2B5EF4-FFF2-40B4-BE49-F238E27FC236}">
                <a16:creationId xmlns:a16="http://schemas.microsoft.com/office/drawing/2014/main" id="{91876929-A93F-46A2-8A86-1653C2CC0F66}"/>
              </a:ext>
            </a:extLst>
          </p:cNvPr>
          <p:cNvSpPr txBox="1"/>
          <p:nvPr/>
        </p:nvSpPr>
        <p:spPr bwMode="auto">
          <a:xfrm>
            <a:off x="3082370" y="3307909"/>
            <a:ext cx="506131" cy="369332"/>
          </a:xfrm>
          <a:prstGeom prst="rect">
            <a:avLst/>
          </a:prstGeom>
        </p:spPr>
        <p:txBody>
          <a:bodyPr wrap="square" rtlCol="0">
            <a:spAutoFit/>
          </a:bodyPr>
          <a:lstStyle/>
          <a:p>
            <a:r>
              <a:rPr lang="ru-RU" dirty="0"/>
              <a:t> </a:t>
            </a:r>
            <a:r>
              <a:rPr lang="en-US" dirty="0"/>
              <a:t>R</a:t>
            </a:r>
            <a:endParaRPr lang="ru-RU" dirty="0"/>
          </a:p>
        </p:txBody>
      </p:sp>
      <p:sp>
        <p:nvSpPr>
          <p:cNvPr id="20" name="Овал 19">
            <a:extLst>
              <a:ext uri="{FF2B5EF4-FFF2-40B4-BE49-F238E27FC236}">
                <a16:creationId xmlns:a16="http://schemas.microsoft.com/office/drawing/2014/main" id="{C3BE5DE7-3ECA-49AA-93A0-0C1E9BB92AE1}"/>
              </a:ext>
            </a:extLst>
          </p:cNvPr>
          <p:cNvSpPr/>
          <p:nvPr/>
        </p:nvSpPr>
        <p:spPr>
          <a:xfrm>
            <a:off x="1866807" y="4865126"/>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35</a:t>
            </a:r>
            <a:endParaRPr lang="ru-RU" dirty="0">
              <a:solidFill>
                <a:srgbClr val="FF0000"/>
              </a:solidFill>
            </a:endParaRPr>
          </a:p>
        </p:txBody>
      </p:sp>
      <p:cxnSp>
        <p:nvCxnSpPr>
          <p:cNvPr id="4" name="Прямая со стрелкой 3">
            <a:extLst>
              <a:ext uri="{FF2B5EF4-FFF2-40B4-BE49-F238E27FC236}">
                <a16:creationId xmlns:a16="http://schemas.microsoft.com/office/drawing/2014/main" id="{5C9ACB50-ECAC-466A-9563-5FE694F8A9FD}"/>
              </a:ext>
            </a:extLst>
          </p:cNvPr>
          <p:cNvCxnSpPr>
            <a:stCxn id="12" idx="4"/>
            <a:endCxn id="20" idx="0"/>
          </p:cNvCxnSpPr>
          <p:nvPr/>
        </p:nvCxnSpPr>
        <p:spPr>
          <a:xfrm flipH="1">
            <a:off x="2324007" y="4543717"/>
            <a:ext cx="619031" cy="321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8276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Двойной поворот</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410884" y="1425247"/>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362012" y="236257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40</a:t>
            </a:r>
          </a:p>
        </p:txBody>
      </p:sp>
      <p:sp>
        <p:nvSpPr>
          <p:cNvPr id="10" name="Овал 9">
            <a:extLst>
              <a:ext uri="{FF2B5EF4-FFF2-40B4-BE49-F238E27FC236}">
                <a16:creationId xmlns:a16="http://schemas.microsoft.com/office/drawing/2014/main" id="{2D4461F6-6D26-45CB-A267-5D287EF4F6AD}"/>
              </a:ext>
            </a:extLst>
          </p:cNvPr>
          <p:cNvSpPr/>
          <p:nvPr/>
        </p:nvSpPr>
        <p:spPr>
          <a:xfrm>
            <a:off x="3989295" y="233513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868089" y="470444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1782488" y="344543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30</a:t>
            </a:r>
          </a:p>
        </p:txBody>
      </p:sp>
      <p:cxnSp>
        <p:nvCxnSpPr>
          <p:cNvPr id="15" name="Прямая со стрелкой 14">
            <a:extLst>
              <a:ext uri="{FF2B5EF4-FFF2-40B4-BE49-F238E27FC236}">
                <a16:creationId xmlns:a16="http://schemas.microsoft.com/office/drawing/2014/main" id="{B2CFF049-5450-40F6-A7D5-E28ED3C04691}"/>
              </a:ext>
            </a:extLst>
          </p:cNvPr>
          <p:cNvCxnSpPr>
            <a:cxnSpLocks/>
            <a:stCxn id="8" idx="3"/>
            <a:endCxn id="9" idx="0"/>
          </p:cNvCxnSpPr>
          <p:nvPr/>
        </p:nvCxnSpPr>
        <p:spPr>
          <a:xfrm flipH="1">
            <a:off x="2819212" y="2205735"/>
            <a:ext cx="725583" cy="15683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191372" y="2205735"/>
            <a:ext cx="255123" cy="1294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12" idx="2"/>
            <a:endCxn id="11" idx="0"/>
          </p:cNvCxnSpPr>
          <p:nvPr/>
        </p:nvCxnSpPr>
        <p:spPr>
          <a:xfrm flipH="1">
            <a:off x="1325289" y="3902639"/>
            <a:ext cx="457199" cy="80181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2"/>
            <a:endCxn id="12" idx="0"/>
          </p:cNvCxnSpPr>
          <p:nvPr/>
        </p:nvCxnSpPr>
        <p:spPr>
          <a:xfrm flipH="1">
            <a:off x="2239688" y="2819773"/>
            <a:ext cx="122324" cy="6256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AutoNum type="arabicPeriod"/>
            </a:pPr>
            <a:r>
              <a:rPr lang="ru-RU" dirty="0"/>
              <a:t>левый поворот вокруг левого потомка;</a:t>
            </a:r>
          </a:p>
          <a:p>
            <a:pPr marL="342900" lvl="0" indent="-342900" rtl="0" eaLnBrk="0" fontAlgn="base" hangingPunct="0">
              <a:spcBef>
                <a:spcPct val="0"/>
              </a:spcBef>
              <a:spcAft>
                <a:spcPct val="0"/>
              </a:spcAft>
              <a:buAutoNum type="arabicPeriod"/>
            </a:pPr>
            <a:r>
              <a:rPr lang="ru-RU" dirty="0"/>
              <a:t>правый поворот вокруг несбалансированного узла.</a:t>
            </a:r>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двойного поворота</a:t>
            </a:r>
          </a:p>
        </p:txBody>
      </p:sp>
      <p:sp>
        <p:nvSpPr>
          <p:cNvPr id="28" name="TextBox 27">
            <a:extLst>
              <a:ext uri="{FF2B5EF4-FFF2-40B4-BE49-F238E27FC236}">
                <a16:creationId xmlns:a16="http://schemas.microsoft.com/office/drawing/2014/main" id="{AFBCBBD2-0341-4AC5-A92E-E47A0DB7233F}"/>
              </a:ext>
            </a:extLst>
          </p:cNvPr>
          <p:cNvSpPr txBox="1"/>
          <p:nvPr/>
        </p:nvSpPr>
        <p:spPr bwMode="auto">
          <a:xfrm>
            <a:off x="2943038" y="1857118"/>
            <a:ext cx="506131" cy="369332"/>
          </a:xfrm>
          <a:prstGeom prst="rect">
            <a:avLst/>
          </a:prstGeom>
        </p:spPr>
        <p:txBody>
          <a:bodyPr wrap="square" rtlCol="0">
            <a:spAutoFit/>
          </a:bodyPr>
          <a:lstStyle/>
          <a:p>
            <a:r>
              <a:rPr lang="ru-RU" dirty="0"/>
              <a:t> </a:t>
            </a:r>
            <a:r>
              <a:rPr lang="en-US" dirty="0"/>
              <a:t>L</a:t>
            </a:r>
            <a:endParaRPr lang="ru-RU" dirty="0"/>
          </a:p>
        </p:txBody>
      </p:sp>
      <p:sp>
        <p:nvSpPr>
          <p:cNvPr id="20" name="Овал 19">
            <a:extLst>
              <a:ext uri="{FF2B5EF4-FFF2-40B4-BE49-F238E27FC236}">
                <a16:creationId xmlns:a16="http://schemas.microsoft.com/office/drawing/2014/main" id="{C3BE5DE7-3ECA-49AA-93A0-0C1E9BB92AE1}"/>
              </a:ext>
            </a:extLst>
          </p:cNvPr>
          <p:cNvSpPr/>
          <p:nvPr/>
        </p:nvSpPr>
        <p:spPr>
          <a:xfrm>
            <a:off x="2324006" y="476638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35</a:t>
            </a:r>
            <a:endParaRPr lang="ru-RU" dirty="0">
              <a:solidFill>
                <a:srgbClr val="002060"/>
              </a:solidFill>
            </a:endParaRPr>
          </a:p>
        </p:txBody>
      </p:sp>
      <p:cxnSp>
        <p:nvCxnSpPr>
          <p:cNvPr id="4" name="Прямая со стрелкой 3">
            <a:extLst>
              <a:ext uri="{FF2B5EF4-FFF2-40B4-BE49-F238E27FC236}">
                <a16:creationId xmlns:a16="http://schemas.microsoft.com/office/drawing/2014/main" id="{5C9ACB50-ECAC-466A-9563-5FE694F8A9FD}"/>
              </a:ext>
            </a:extLst>
          </p:cNvPr>
          <p:cNvCxnSpPr>
            <a:cxnSpLocks/>
            <a:stCxn id="12" idx="6"/>
            <a:endCxn id="20" idx="0"/>
          </p:cNvCxnSpPr>
          <p:nvPr/>
        </p:nvCxnSpPr>
        <p:spPr>
          <a:xfrm>
            <a:off x="2696887" y="3902639"/>
            <a:ext cx="84319" cy="863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F38B964-DCA7-46B4-A59B-867EAD9059BF}"/>
              </a:ext>
            </a:extLst>
          </p:cNvPr>
          <p:cNvSpPr txBox="1"/>
          <p:nvPr/>
        </p:nvSpPr>
        <p:spPr bwMode="auto">
          <a:xfrm>
            <a:off x="1764373" y="2907640"/>
            <a:ext cx="506131" cy="369332"/>
          </a:xfrm>
          <a:prstGeom prst="rect">
            <a:avLst/>
          </a:prstGeom>
        </p:spPr>
        <p:txBody>
          <a:bodyPr wrap="square" rtlCol="0">
            <a:spAutoFit/>
          </a:bodyPr>
          <a:lstStyle/>
          <a:p>
            <a:r>
              <a:rPr lang="ru-RU" dirty="0"/>
              <a:t> </a:t>
            </a:r>
            <a:r>
              <a:rPr lang="en-US" dirty="0"/>
              <a:t>L</a:t>
            </a:r>
            <a:endParaRPr lang="ru-RU" dirty="0"/>
          </a:p>
        </p:txBody>
      </p:sp>
    </p:spTree>
    <p:extLst>
      <p:ext uri="{BB962C8B-B14F-4D97-AF65-F5344CB8AC3E}">
        <p14:creationId xmlns:p14="http://schemas.microsoft.com/office/powerpoint/2010/main" val="30787214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07175-C253-4B78-A384-FFBAACD79731}"/>
              </a:ext>
            </a:extLst>
          </p:cNvPr>
          <p:cNvSpPr>
            <a:spLocks noGrp="1"/>
          </p:cNvSpPr>
          <p:nvPr>
            <p:ph type="title"/>
          </p:nvPr>
        </p:nvSpPr>
        <p:spPr/>
        <p:txBody>
          <a:bodyPr/>
          <a:lstStyle/>
          <a:p>
            <a:r>
              <a:rPr lang="ru-RU" dirty="0"/>
              <a:t>Двойной поворот</a:t>
            </a:r>
          </a:p>
        </p:txBody>
      </p:sp>
      <p:sp>
        <p:nvSpPr>
          <p:cNvPr id="7" name="Текст 6">
            <a:extLst>
              <a:ext uri="{FF2B5EF4-FFF2-40B4-BE49-F238E27FC236}">
                <a16:creationId xmlns:a16="http://schemas.microsoft.com/office/drawing/2014/main" id="{17C14936-6DB2-4926-8BDA-DA69110709B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EFA07AB-D0B7-431F-B20F-EF5F55A35DCD}"/>
              </a:ext>
            </a:extLst>
          </p:cNvPr>
          <p:cNvSpPr/>
          <p:nvPr/>
        </p:nvSpPr>
        <p:spPr>
          <a:xfrm>
            <a:off x="3542134" y="290764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50</a:t>
            </a:r>
          </a:p>
        </p:txBody>
      </p:sp>
      <p:sp>
        <p:nvSpPr>
          <p:cNvPr id="9" name="Овал 8">
            <a:extLst>
              <a:ext uri="{FF2B5EF4-FFF2-40B4-BE49-F238E27FC236}">
                <a16:creationId xmlns:a16="http://schemas.microsoft.com/office/drawing/2014/main" id="{DDAFB55B-3655-48C4-AB1A-8A4E6422A3D1}"/>
              </a:ext>
            </a:extLst>
          </p:cNvPr>
          <p:cNvSpPr/>
          <p:nvPr/>
        </p:nvSpPr>
        <p:spPr>
          <a:xfrm>
            <a:off x="2362012" y="236257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40</a:t>
            </a:r>
          </a:p>
        </p:txBody>
      </p:sp>
      <p:sp>
        <p:nvSpPr>
          <p:cNvPr id="10" name="Овал 9">
            <a:extLst>
              <a:ext uri="{FF2B5EF4-FFF2-40B4-BE49-F238E27FC236}">
                <a16:creationId xmlns:a16="http://schemas.microsoft.com/office/drawing/2014/main" id="{2D4461F6-6D26-45CB-A267-5D287EF4F6AD}"/>
              </a:ext>
            </a:extLst>
          </p:cNvPr>
          <p:cNvSpPr/>
          <p:nvPr/>
        </p:nvSpPr>
        <p:spPr>
          <a:xfrm>
            <a:off x="4325283" y="4518354"/>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70</a:t>
            </a:r>
          </a:p>
        </p:txBody>
      </p:sp>
      <p:sp>
        <p:nvSpPr>
          <p:cNvPr id="11" name="Овал 10">
            <a:extLst>
              <a:ext uri="{FF2B5EF4-FFF2-40B4-BE49-F238E27FC236}">
                <a16:creationId xmlns:a16="http://schemas.microsoft.com/office/drawing/2014/main" id="{5565C55D-308E-4259-B984-9A90A625A0B6}"/>
              </a:ext>
            </a:extLst>
          </p:cNvPr>
          <p:cNvSpPr/>
          <p:nvPr/>
        </p:nvSpPr>
        <p:spPr>
          <a:xfrm>
            <a:off x="868089" y="470444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2" name="Овал 11">
            <a:extLst>
              <a:ext uri="{FF2B5EF4-FFF2-40B4-BE49-F238E27FC236}">
                <a16:creationId xmlns:a16="http://schemas.microsoft.com/office/drawing/2014/main" id="{975B0A96-B060-47FA-B334-9C52E574BD36}"/>
              </a:ext>
            </a:extLst>
          </p:cNvPr>
          <p:cNvSpPr/>
          <p:nvPr/>
        </p:nvSpPr>
        <p:spPr>
          <a:xfrm>
            <a:off x="1782488" y="3445439"/>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30</a:t>
            </a:r>
          </a:p>
        </p:txBody>
      </p:sp>
      <p:cxnSp>
        <p:nvCxnSpPr>
          <p:cNvPr id="16" name="Прямая со стрелкой 15">
            <a:extLst>
              <a:ext uri="{FF2B5EF4-FFF2-40B4-BE49-F238E27FC236}">
                <a16:creationId xmlns:a16="http://schemas.microsoft.com/office/drawing/2014/main" id="{18BB64BA-DA66-40B0-B43A-67A8B8DD5F08}"/>
              </a:ext>
            </a:extLst>
          </p:cNvPr>
          <p:cNvCxnSpPr>
            <a:cxnSpLocks/>
            <a:stCxn id="8" idx="5"/>
            <a:endCxn id="10" idx="0"/>
          </p:cNvCxnSpPr>
          <p:nvPr/>
        </p:nvCxnSpPr>
        <p:spPr>
          <a:xfrm>
            <a:off x="4322622" y="3688128"/>
            <a:ext cx="459861" cy="8302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9F1F5331-E97C-4C9A-9333-D81E452EC81E}"/>
              </a:ext>
            </a:extLst>
          </p:cNvPr>
          <p:cNvCxnSpPr>
            <a:cxnSpLocks/>
            <a:stCxn id="12" idx="2"/>
            <a:endCxn id="11" idx="0"/>
          </p:cNvCxnSpPr>
          <p:nvPr/>
        </p:nvCxnSpPr>
        <p:spPr>
          <a:xfrm flipH="1">
            <a:off x="1325289" y="3902639"/>
            <a:ext cx="457199" cy="80181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5D56F884-71F0-48F8-9637-80B89319F917}"/>
              </a:ext>
            </a:extLst>
          </p:cNvPr>
          <p:cNvCxnSpPr>
            <a:cxnSpLocks/>
            <a:stCxn id="9" idx="2"/>
            <a:endCxn id="12" idx="0"/>
          </p:cNvCxnSpPr>
          <p:nvPr/>
        </p:nvCxnSpPr>
        <p:spPr>
          <a:xfrm flipH="1">
            <a:off x="2239688" y="2819773"/>
            <a:ext cx="122324" cy="6256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Прямоугольник: скругленные углы 20">
            <a:extLst>
              <a:ext uri="{FF2B5EF4-FFF2-40B4-BE49-F238E27FC236}">
                <a16:creationId xmlns:a16="http://schemas.microsoft.com/office/drawing/2014/main" id="{DC80529B-46EC-49FA-BBBF-766C3AFE5500}"/>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lvl="0" rtl="0" eaLnBrk="0" fontAlgn="base" hangingPunct="0">
              <a:spcBef>
                <a:spcPct val="0"/>
              </a:spcBef>
              <a:spcAft>
                <a:spcPct val="0"/>
              </a:spcAft>
            </a:pPr>
            <a:endParaRPr lang="ru-RU" altLang="ru-RU" dirty="0">
              <a:solidFill>
                <a:schemeClr val="tx1"/>
              </a:solidFill>
            </a:endParaRPr>
          </a:p>
          <a:p>
            <a:pPr marL="342900" lvl="0" indent="-342900" rtl="0" eaLnBrk="0" fontAlgn="base" hangingPunct="0">
              <a:spcBef>
                <a:spcPct val="0"/>
              </a:spcBef>
              <a:spcAft>
                <a:spcPct val="0"/>
              </a:spcAft>
              <a:buAutoNum type="arabicPeriod"/>
            </a:pPr>
            <a:r>
              <a:rPr lang="ru-RU" dirty="0"/>
              <a:t>левый поворот вокруг левого потомка;</a:t>
            </a:r>
          </a:p>
          <a:p>
            <a:pPr marL="342900" lvl="0" indent="-342900" rtl="0" eaLnBrk="0" fontAlgn="base" hangingPunct="0">
              <a:spcBef>
                <a:spcPct val="0"/>
              </a:spcBef>
              <a:spcAft>
                <a:spcPct val="0"/>
              </a:spcAft>
              <a:buAutoNum type="arabicPeriod"/>
            </a:pPr>
            <a:r>
              <a:rPr lang="ru-RU" dirty="0"/>
              <a:t>правый поворот вокруг несбалансированного узла.</a:t>
            </a:r>
          </a:p>
        </p:txBody>
      </p:sp>
      <p:sp>
        <p:nvSpPr>
          <p:cNvPr id="22" name="Прямоугольник: скругленные углы 21">
            <a:extLst>
              <a:ext uri="{FF2B5EF4-FFF2-40B4-BE49-F238E27FC236}">
                <a16:creationId xmlns:a16="http://schemas.microsoft.com/office/drawing/2014/main" id="{4878CB89-CC36-4B93-B751-607EAB1EA66B}"/>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двойного поворота</a:t>
            </a:r>
          </a:p>
        </p:txBody>
      </p:sp>
      <p:sp>
        <p:nvSpPr>
          <p:cNvPr id="28" name="TextBox 27">
            <a:extLst>
              <a:ext uri="{FF2B5EF4-FFF2-40B4-BE49-F238E27FC236}">
                <a16:creationId xmlns:a16="http://schemas.microsoft.com/office/drawing/2014/main" id="{AFBCBBD2-0341-4AC5-A92E-E47A0DB7233F}"/>
              </a:ext>
            </a:extLst>
          </p:cNvPr>
          <p:cNvSpPr txBox="1"/>
          <p:nvPr/>
        </p:nvSpPr>
        <p:spPr bwMode="auto">
          <a:xfrm>
            <a:off x="2943038" y="1857118"/>
            <a:ext cx="506131" cy="369332"/>
          </a:xfrm>
          <a:prstGeom prst="rect">
            <a:avLst/>
          </a:prstGeom>
        </p:spPr>
        <p:txBody>
          <a:bodyPr wrap="square" rtlCol="0">
            <a:spAutoFit/>
          </a:bodyPr>
          <a:lstStyle/>
          <a:p>
            <a:r>
              <a:rPr lang="ru-RU" dirty="0"/>
              <a:t> </a:t>
            </a:r>
            <a:r>
              <a:rPr lang="en-US" dirty="0"/>
              <a:t>L</a:t>
            </a:r>
            <a:endParaRPr lang="ru-RU" dirty="0"/>
          </a:p>
        </p:txBody>
      </p:sp>
      <p:sp>
        <p:nvSpPr>
          <p:cNvPr id="20" name="Овал 19">
            <a:extLst>
              <a:ext uri="{FF2B5EF4-FFF2-40B4-BE49-F238E27FC236}">
                <a16:creationId xmlns:a16="http://schemas.microsoft.com/office/drawing/2014/main" id="{C3BE5DE7-3ECA-49AA-93A0-0C1E9BB92AE1}"/>
              </a:ext>
            </a:extLst>
          </p:cNvPr>
          <p:cNvSpPr/>
          <p:nvPr/>
        </p:nvSpPr>
        <p:spPr>
          <a:xfrm>
            <a:off x="2324006" y="4766382"/>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35</a:t>
            </a:r>
            <a:endParaRPr lang="ru-RU" dirty="0">
              <a:solidFill>
                <a:srgbClr val="002060"/>
              </a:solidFill>
            </a:endParaRPr>
          </a:p>
        </p:txBody>
      </p:sp>
      <p:cxnSp>
        <p:nvCxnSpPr>
          <p:cNvPr id="4" name="Прямая со стрелкой 3">
            <a:extLst>
              <a:ext uri="{FF2B5EF4-FFF2-40B4-BE49-F238E27FC236}">
                <a16:creationId xmlns:a16="http://schemas.microsoft.com/office/drawing/2014/main" id="{5C9ACB50-ECAC-466A-9563-5FE694F8A9FD}"/>
              </a:ext>
            </a:extLst>
          </p:cNvPr>
          <p:cNvCxnSpPr>
            <a:cxnSpLocks/>
            <a:stCxn id="12" idx="6"/>
            <a:endCxn id="20" idx="0"/>
          </p:cNvCxnSpPr>
          <p:nvPr/>
        </p:nvCxnSpPr>
        <p:spPr>
          <a:xfrm>
            <a:off x="2696887" y="3902639"/>
            <a:ext cx="84319" cy="863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F38B964-DCA7-46B4-A59B-867EAD9059BF}"/>
              </a:ext>
            </a:extLst>
          </p:cNvPr>
          <p:cNvSpPr txBox="1"/>
          <p:nvPr/>
        </p:nvSpPr>
        <p:spPr bwMode="auto">
          <a:xfrm>
            <a:off x="1764373" y="2907640"/>
            <a:ext cx="506131" cy="369332"/>
          </a:xfrm>
          <a:prstGeom prst="rect">
            <a:avLst/>
          </a:prstGeom>
        </p:spPr>
        <p:txBody>
          <a:bodyPr wrap="square" rtlCol="0">
            <a:spAutoFit/>
          </a:bodyPr>
          <a:lstStyle/>
          <a:p>
            <a:r>
              <a:rPr lang="ru-RU" dirty="0"/>
              <a:t> </a:t>
            </a:r>
            <a:r>
              <a:rPr lang="en-US" dirty="0"/>
              <a:t>L</a:t>
            </a:r>
            <a:endParaRPr lang="ru-RU" dirty="0"/>
          </a:p>
        </p:txBody>
      </p:sp>
      <p:cxnSp>
        <p:nvCxnSpPr>
          <p:cNvPr id="5" name="Прямая со стрелкой 4">
            <a:extLst>
              <a:ext uri="{FF2B5EF4-FFF2-40B4-BE49-F238E27FC236}">
                <a16:creationId xmlns:a16="http://schemas.microsoft.com/office/drawing/2014/main" id="{76432AE6-574C-44A5-9B12-30DADBAC594C}"/>
              </a:ext>
            </a:extLst>
          </p:cNvPr>
          <p:cNvCxnSpPr>
            <a:cxnSpLocks/>
            <a:stCxn id="9" idx="6"/>
            <a:endCxn id="8" idx="2"/>
          </p:cNvCxnSpPr>
          <p:nvPr/>
        </p:nvCxnSpPr>
        <p:spPr>
          <a:xfrm>
            <a:off x="3276411" y="2819773"/>
            <a:ext cx="265723" cy="545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12160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скругленные углы 8">
            <a:extLst>
              <a:ext uri="{FF2B5EF4-FFF2-40B4-BE49-F238E27FC236}">
                <a16:creationId xmlns:a16="http://schemas.microsoft.com/office/drawing/2014/main" id="{4914BA81-7C8E-48C8-A2EA-812D3195FD8A}"/>
              </a:ext>
            </a:extLst>
          </p:cNvPr>
          <p:cNvSpPr/>
          <p:nvPr/>
        </p:nvSpPr>
        <p:spPr>
          <a:xfrm>
            <a:off x="479424" y="2299447"/>
            <a:ext cx="3917764" cy="3697941"/>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lvl="0" indent="-285750" rtl="0" eaLnBrk="0" fontAlgn="base" hangingPunct="0">
              <a:spcBef>
                <a:spcPct val="0"/>
              </a:spcBef>
              <a:spcAft>
                <a:spcPct val="0"/>
              </a:spcAft>
              <a:buFont typeface="Arial" panose="020B0604020202020204" pitchFamily="34" charset="0"/>
              <a:buChar char="•"/>
            </a:pPr>
            <a:endParaRPr lang="ru-RU" altLang="ru-RU" dirty="0">
              <a:solidFill>
                <a:schemeClr val="tx1"/>
              </a:solidFill>
            </a:endParaRP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каждый узел имеет цвет: красный или чёрный; </a:t>
            </a: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корень — чёрный; </a:t>
            </a: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у красного узла не может быть красного потомка; </a:t>
            </a:r>
          </a:p>
          <a:p>
            <a:pPr marL="285750" lvl="0" indent="-285750" rtl="0" eaLnBrk="0" fontAlgn="base" hangingPunct="0">
              <a:spcBef>
                <a:spcPct val="0"/>
              </a:spcBef>
              <a:spcAft>
                <a:spcPct val="0"/>
              </a:spcAft>
              <a:buFont typeface="Arial" panose="020B0604020202020204" pitchFamily="34" charset="0"/>
              <a:buChar char="•"/>
            </a:pPr>
            <a:r>
              <a:rPr lang="ru-RU" altLang="ru-RU" dirty="0">
                <a:solidFill>
                  <a:schemeClr val="tx1"/>
                </a:solidFill>
              </a:rPr>
              <a:t>на всех путях от узла до пустых листьев должно быть одинаковое число чёрных узлов. </a:t>
            </a:r>
          </a:p>
        </p:txBody>
      </p:sp>
      <p:sp>
        <p:nvSpPr>
          <p:cNvPr id="2" name="Заголовок 1">
            <a:extLst>
              <a:ext uri="{FF2B5EF4-FFF2-40B4-BE49-F238E27FC236}">
                <a16:creationId xmlns:a16="http://schemas.microsoft.com/office/drawing/2014/main" id="{268B22D0-C50F-4B65-A4D3-3FEC1DB3FBED}"/>
              </a:ext>
            </a:extLst>
          </p:cNvPr>
          <p:cNvSpPr>
            <a:spLocks noGrp="1"/>
          </p:cNvSpPr>
          <p:nvPr>
            <p:ph type="title"/>
          </p:nvPr>
        </p:nvSpPr>
        <p:spPr/>
        <p:txBody>
          <a:bodyPr/>
          <a:lstStyle/>
          <a:p>
            <a:r>
              <a:rPr lang="ru-RU" dirty="0"/>
              <a:t>Красно-чёрное дерево: менее строгая балансировка</a:t>
            </a:r>
          </a:p>
        </p:txBody>
      </p:sp>
      <p:sp>
        <p:nvSpPr>
          <p:cNvPr id="7" name="Текст 6">
            <a:extLst>
              <a:ext uri="{FF2B5EF4-FFF2-40B4-BE49-F238E27FC236}">
                <a16:creationId xmlns:a16="http://schemas.microsoft.com/office/drawing/2014/main" id="{A7DA03F1-0503-4C6E-998E-04D7E7D95CF6}"/>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C34DC44E-1196-408C-B471-A43C873B1176}"/>
              </a:ext>
            </a:extLst>
          </p:cNvPr>
          <p:cNvSpPr/>
          <p:nvPr/>
        </p:nvSpPr>
        <p:spPr>
          <a:xfrm>
            <a:off x="479424" y="1910398"/>
            <a:ext cx="3917764" cy="9941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Основные правила</a:t>
            </a:r>
          </a:p>
        </p:txBody>
      </p:sp>
      <p:pic>
        <p:nvPicPr>
          <p:cNvPr id="14" name="Рисунок 13">
            <a:extLst>
              <a:ext uri="{FF2B5EF4-FFF2-40B4-BE49-F238E27FC236}">
                <a16:creationId xmlns:a16="http://schemas.microsoft.com/office/drawing/2014/main" id="{2FD5C433-FF2F-4F3D-AFDD-3EEDF2B12A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2112" y="1738314"/>
            <a:ext cx="6255124" cy="4170083"/>
          </a:xfrm>
          <a:prstGeom prst="rect">
            <a:avLst/>
          </a:prstGeom>
        </p:spPr>
      </p:pic>
    </p:spTree>
    <p:extLst>
      <p:ext uri="{BB962C8B-B14F-4D97-AF65-F5344CB8AC3E}">
        <p14:creationId xmlns:p14="http://schemas.microsoft.com/office/powerpoint/2010/main" val="2077202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D09FBF-3DCA-4773-B9A5-E9CD36ADE95C}"/>
              </a:ext>
            </a:extLst>
          </p:cNvPr>
          <p:cNvSpPr>
            <a:spLocks noGrp="1"/>
          </p:cNvSpPr>
          <p:nvPr>
            <p:ph type="title"/>
          </p:nvPr>
        </p:nvSpPr>
        <p:spPr/>
        <p:txBody>
          <a:bodyPr/>
          <a:lstStyle/>
          <a:p>
            <a:r>
              <a:rPr lang="ru-RU" dirty="0"/>
              <a:t>AVL и </a:t>
            </a:r>
            <a:r>
              <a:rPr lang="ru-RU" dirty="0" err="1"/>
              <a:t>Red-Black</a:t>
            </a:r>
            <a:r>
              <a:rPr lang="ru-RU" dirty="0"/>
              <a:t>: когда начинается балансировка</a:t>
            </a:r>
          </a:p>
        </p:txBody>
      </p:sp>
      <p:sp>
        <p:nvSpPr>
          <p:cNvPr id="7" name="Текст 6">
            <a:extLst>
              <a:ext uri="{FF2B5EF4-FFF2-40B4-BE49-F238E27FC236}">
                <a16:creationId xmlns:a16="http://schemas.microsoft.com/office/drawing/2014/main" id="{B036E375-A26F-44DD-A689-1A28D5E95406}"/>
              </a:ext>
            </a:extLst>
          </p:cNvPr>
          <p:cNvSpPr>
            <a:spLocks noGrp="1"/>
          </p:cNvSpPr>
          <p:nvPr>
            <p:ph type="body" sz="quarter" idx="19"/>
          </p:nvPr>
        </p:nvSpPr>
        <p:spPr/>
        <p:txBody>
          <a:bodyPr/>
          <a:lstStyle/>
          <a:p>
            <a:endParaRPr lang="ru-RU"/>
          </a:p>
        </p:txBody>
      </p:sp>
      <p:pic>
        <p:nvPicPr>
          <p:cNvPr id="9" name="Рисунок 8">
            <a:extLst>
              <a:ext uri="{FF2B5EF4-FFF2-40B4-BE49-F238E27FC236}">
                <a16:creationId xmlns:a16="http://schemas.microsoft.com/office/drawing/2014/main" id="{9E538EF2-08E3-486C-BC2E-F8093A7425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4" y="1690687"/>
            <a:ext cx="5402279" cy="3136807"/>
          </a:xfrm>
          <a:prstGeom prst="rect">
            <a:avLst/>
          </a:prstGeom>
        </p:spPr>
      </p:pic>
      <p:pic>
        <p:nvPicPr>
          <p:cNvPr id="11" name="Рисунок 10">
            <a:extLst>
              <a:ext uri="{FF2B5EF4-FFF2-40B4-BE49-F238E27FC236}">
                <a16:creationId xmlns:a16="http://schemas.microsoft.com/office/drawing/2014/main" id="{C9CEF5B1-1E9B-4105-9092-914C7C8D3B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412" y="1690687"/>
            <a:ext cx="5402279" cy="3136807"/>
          </a:xfrm>
          <a:prstGeom prst="rect">
            <a:avLst/>
          </a:prstGeom>
        </p:spPr>
      </p:pic>
      <p:sp>
        <p:nvSpPr>
          <p:cNvPr id="12" name="Прямоугольник: скругленные углы 11">
            <a:extLst>
              <a:ext uri="{FF2B5EF4-FFF2-40B4-BE49-F238E27FC236}">
                <a16:creationId xmlns:a16="http://schemas.microsoft.com/office/drawing/2014/main" id="{2095CDDC-C6B7-4462-ABDC-92243F71E1E1}"/>
              </a:ext>
            </a:extLst>
          </p:cNvPr>
          <p:cNvSpPr/>
          <p:nvPr/>
        </p:nvSpPr>
        <p:spPr>
          <a:xfrm>
            <a:off x="479424" y="5167313"/>
            <a:ext cx="11017267" cy="13276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a:t>AVL ограничивает разницу высот напрямую, а Red-Black допускает больший перекос, пока выполняются правила окраски.</a:t>
            </a:r>
          </a:p>
        </p:txBody>
      </p:sp>
    </p:spTree>
    <p:extLst>
      <p:ext uri="{BB962C8B-B14F-4D97-AF65-F5344CB8AC3E}">
        <p14:creationId xmlns:p14="http://schemas.microsoft.com/office/powerpoint/2010/main" val="1147395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Прямоугольник: скругленные углы 26">
            <a:extLst>
              <a:ext uri="{FF2B5EF4-FFF2-40B4-BE49-F238E27FC236}">
                <a16:creationId xmlns:a16="http://schemas.microsoft.com/office/drawing/2014/main" id="{05657107-008C-459C-BAC9-E1787BA15125}"/>
              </a:ext>
            </a:extLst>
          </p:cNvPr>
          <p:cNvSpPr/>
          <p:nvPr/>
        </p:nvSpPr>
        <p:spPr>
          <a:xfrm>
            <a:off x="479423" y="2674658"/>
            <a:ext cx="4778376" cy="403411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CBABE2BD-AF13-4B66-A92D-F1234610299F}"/>
              </a:ext>
            </a:extLst>
          </p:cNvPr>
          <p:cNvSpPr>
            <a:spLocks noGrp="1"/>
          </p:cNvSpPr>
          <p:nvPr>
            <p:ph type="title"/>
          </p:nvPr>
        </p:nvSpPr>
        <p:spPr>
          <a:xfrm>
            <a:off x="479425" y="597855"/>
            <a:ext cx="11229975" cy="1140459"/>
          </a:xfrm>
        </p:spPr>
        <p:txBody>
          <a:bodyPr/>
          <a:lstStyle/>
          <a:p>
            <a:r>
              <a:rPr lang="ru-RU" dirty="0"/>
              <a:t>Почему обычное бинарное дерево неудобно на диске</a:t>
            </a:r>
          </a:p>
        </p:txBody>
      </p:sp>
      <p:sp>
        <p:nvSpPr>
          <p:cNvPr id="7" name="Текст 6">
            <a:extLst>
              <a:ext uri="{FF2B5EF4-FFF2-40B4-BE49-F238E27FC236}">
                <a16:creationId xmlns:a16="http://schemas.microsoft.com/office/drawing/2014/main" id="{FA0AAB9C-04B0-42A3-9A94-096AF5AFB587}"/>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AC2AE3F7-293A-4525-9363-B63FADD211FC}"/>
              </a:ext>
            </a:extLst>
          </p:cNvPr>
          <p:cNvSpPr/>
          <p:nvPr/>
        </p:nvSpPr>
        <p:spPr>
          <a:xfrm>
            <a:off x="706721" y="2942693"/>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40</a:t>
            </a:r>
          </a:p>
        </p:txBody>
      </p:sp>
      <p:sp>
        <p:nvSpPr>
          <p:cNvPr id="9" name="Овал 8">
            <a:extLst>
              <a:ext uri="{FF2B5EF4-FFF2-40B4-BE49-F238E27FC236}">
                <a16:creationId xmlns:a16="http://schemas.microsoft.com/office/drawing/2014/main" id="{0B325019-483B-4786-A5C9-5D9C9B31A8A0}"/>
              </a:ext>
            </a:extLst>
          </p:cNvPr>
          <p:cNvSpPr/>
          <p:nvPr/>
        </p:nvSpPr>
        <p:spPr>
          <a:xfrm>
            <a:off x="706722" y="5525235"/>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p>
        </p:txBody>
      </p:sp>
      <p:sp>
        <p:nvSpPr>
          <p:cNvPr id="10" name="Овал 9">
            <a:extLst>
              <a:ext uri="{FF2B5EF4-FFF2-40B4-BE49-F238E27FC236}">
                <a16:creationId xmlns:a16="http://schemas.microsoft.com/office/drawing/2014/main" id="{EA4CCEEC-C4B4-485F-A171-7CFC859BE971}"/>
              </a:ext>
            </a:extLst>
          </p:cNvPr>
          <p:cNvSpPr/>
          <p:nvPr/>
        </p:nvSpPr>
        <p:spPr>
          <a:xfrm>
            <a:off x="706723" y="4198720"/>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30</a:t>
            </a:r>
          </a:p>
        </p:txBody>
      </p:sp>
      <p:cxnSp>
        <p:nvCxnSpPr>
          <p:cNvPr id="11" name="Прямая со стрелкой 10">
            <a:extLst>
              <a:ext uri="{FF2B5EF4-FFF2-40B4-BE49-F238E27FC236}">
                <a16:creationId xmlns:a16="http://schemas.microsoft.com/office/drawing/2014/main" id="{95416F0A-1C1A-4D26-992B-B9F66BE6478F}"/>
              </a:ext>
            </a:extLst>
          </p:cNvPr>
          <p:cNvCxnSpPr>
            <a:cxnSpLocks/>
            <a:stCxn id="10" idx="4"/>
            <a:endCxn id="9" idx="0"/>
          </p:cNvCxnSpPr>
          <p:nvPr/>
        </p:nvCxnSpPr>
        <p:spPr>
          <a:xfrm flipH="1">
            <a:off x="1163922" y="5113119"/>
            <a:ext cx="1" cy="4121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263E2E8-E848-41AB-82BA-5615172B3C9B}"/>
              </a:ext>
            </a:extLst>
          </p:cNvPr>
          <p:cNvCxnSpPr>
            <a:cxnSpLocks/>
            <a:stCxn id="8" idx="4"/>
            <a:endCxn id="10" idx="0"/>
          </p:cNvCxnSpPr>
          <p:nvPr/>
        </p:nvCxnSpPr>
        <p:spPr>
          <a:xfrm>
            <a:off x="1163921" y="3857092"/>
            <a:ext cx="2" cy="3416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Прямоугольник: скругленные углы 27">
            <a:extLst>
              <a:ext uri="{FF2B5EF4-FFF2-40B4-BE49-F238E27FC236}">
                <a16:creationId xmlns:a16="http://schemas.microsoft.com/office/drawing/2014/main" id="{2C6C9EBA-256F-4EFD-AEC4-607626E26A5D}"/>
              </a:ext>
            </a:extLst>
          </p:cNvPr>
          <p:cNvSpPr/>
          <p:nvPr/>
        </p:nvSpPr>
        <p:spPr>
          <a:xfrm>
            <a:off x="2017059" y="2987528"/>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один ключ в узле;</a:t>
            </a:r>
          </a:p>
        </p:txBody>
      </p:sp>
      <p:sp>
        <p:nvSpPr>
          <p:cNvPr id="29" name="Прямоугольник: скругленные углы 28">
            <a:extLst>
              <a:ext uri="{FF2B5EF4-FFF2-40B4-BE49-F238E27FC236}">
                <a16:creationId xmlns:a16="http://schemas.microsoft.com/office/drawing/2014/main" id="{E5C3F073-FC68-4DE3-9FB4-982C36F34FF2}"/>
              </a:ext>
            </a:extLst>
          </p:cNvPr>
          <p:cNvSpPr/>
          <p:nvPr/>
        </p:nvSpPr>
        <p:spPr>
          <a:xfrm>
            <a:off x="2017059" y="4198719"/>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дерево получается выше;</a:t>
            </a:r>
          </a:p>
        </p:txBody>
      </p:sp>
      <p:sp>
        <p:nvSpPr>
          <p:cNvPr id="30" name="Прямоугольник: скругленные углы 29">
            <a:extLst>
              <a:ext uri="{FF2B5EF4-FFF2-40B4-BE49-F238E27FC236}">
                <a16:creationId xmlns:a16="http://schemas.microsoft.com/office/drawing/2014/main" id="{1171C928-9904-4809-B7CC-6A516E8FC96B}"/>
              </a:ext>
            </a:extLst>
          </p:cNvPr>
          <p:cNvSpPr/>
          <p:nvPr/>
        </p:nvSpPr>
        <p:spPr>
          <a:xfrm>
            <a:off x="2017059" y="5409910"/>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больше переходов между узлами;</a:t>
            </a:r>
          </a:p>
        </p:txBody>
      </p:sp>
      <p:sp>
        <p:nvSpPr>
          <p:cNvPr id="40" name="Прямоугольник: скругленные углы 39">
            <a:extLst>
              <a:ext uri="{FF2B5EF4-FFF2-40B4-BE49-F238E27FC236}">
                <a16:creationId xmlns:a16="http://schemas.microsoft.com/office/drawing/2014/main" id="{142D2178-ED95-4EC5-AFE4-0998BE6E8DA9}"/>
              </a:ext>
            </a:extLst>
          </p:cNvPr>
          <p:cNvSpPr/>
          <p:nvPr/>
        </p:nvSpPr>
        <p:spPr>
          <a:xfrm>
            <a:off x="5485097" y="2674658"/>
            <a:ext cx="6224303" cy="4034117"/>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ru-RU"/>
          </a:p>
        </p:txBody>
      </p:sp>
      <p:sp>
        <p:nvSpPr>
          <p:cNvPr id="41" name="Овал 40">
            <a:extLst>
              <a:ext uri="{FF2B5EF4-FFF2-40B4-BE49-F238E27FC236}">
                <a16:creationId xmlns:a16="http://schemas.microsoft.com/office/drawing/2014/main" id="{2B9839B2-66EA-40B8-ABD3-0B8206530464}"/>
              </a:ext>
            </a:extLst>
          </p:cNvPr>
          <p:cNvSpPr/>
          <p:nvPr/>
        </p:nvSpPr>
        <p:spPr>
          <a:xfrm>
            <a:off x="5714997" y="2942693"/>
            <a:ext cx="2466272"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20 | 40 | 70</a:t>
            </a:r>
            <a:endParaRPr lang="ru-RU" dirty="0">
              <a:solidFill>
                <a:srgbClr val="002060"/>
              </a:solidFill>
            </a:endParaRPr>
          </a:p>
        </p:txBody>
      </p:sp>
      <p:sp>
        <p:nvSpPr>
          <p:cNvPr id="46" name="Прямоугольник: скругленные углы 45">
            <a:extLst>
              <a:ext uri="{FF2B5EF4-FFF2-40B4-BE49-F238E27FC236}">
                <a16:creationId xmlns:a16="http://schemas.microsoft.com/office/drawing/2014/main" id="{8912BB48-A36A-4449-A584-CA11A7F4E366}"/>
              </a:ext>
            </a:extLst>
          </p:cNvPr>
          <p:cNvSpPr/>
          <p:nvPr/>
        </p:nvSpPr>
        <p:spPr>
          <a:xfrm>
            <a:off x="8468660" y="2987528"/>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 одном узле хранится несколько ключей;</a:t>
            </a:r>
          </a:p>
        </p:txBody>
      </p:sp>
      <p:sp>
        <p:nvSpPr>
          <p:cNvPr id="54" name="Овал 53">
            <a:extLst>
              <a:ext uri="{FF2B5EF4-FFF2-40B4-BE49-F238E27FC236}">
                <a16:creationId xmlns:a16="http://schemas.microsoft.com/office/drawing/2014/main" id="{EF53F5B1-7A23-47A3-9B4B-CD5A37A54939}"/>
              </a:ext>
            </a:extLst>
          </p:cNvPr>
          <p:cNvSpPr/>
          <p:nvPr/>
        </p:nvSpPr>
        <p:spPr>
          <a:xfrm>
            <a:off x="5507946" y="420190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&lt;20</a:t>
            </a:r>
            <a:endParaRPr lang="ru-RU" dirty="0">
              <a:solidFill>
                <a:srgbClr val="002060"/>
              </a:solidFill>
            </a:endParaRPr>
          </a:p>
        </p:txBody>
      </p:sp>
      <p:sp>
        <p:nvSpPr>
          <p:cNvPr id="55" name="Овал 54">
            <a:extLst>
              <a:ext uri="{FF2B5EF4-FFF2-40B4-BE49-F238E27FC236}">
                <a16:creationId xmlns:a16="http://schemas.microsoft.com/office/drawing/2014/main" id="{38377381-9B48-40AC-A279-CFB48A9485A4}"/>
              </a:ext>
            </a:extLst>
          </p:cNvPr>
          <p:cNvSpPr/>
          <p:nvPr/>
        </p:nvSpPr>
        <p:spPr>
          <a:xfrm>
            <a:off x="5652929" y="5239401"/>
            <a:ext cx="1278773"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20-40</a:t>
            </a:r>
            <a:endParaRPr lang="ru-RU" dirty="0">
              <a:solidFill>
                <a:srgbClr val="002060"/>
              </a:solidFill>
            </a:endParaRPr>
          </a:p>
        </p:txBody>
      </p:sp>
      <p:sp>
        <p:nvSpPr>
          <p:cNvPr id="56" name="Овал 55">
            <a:extLst>
              <a:ext uri="{FF2B5EF4-FFF2-40B4-BE49-F238E27FC236}">
                <a16:creationId xmlns:a16="http://schemas.microsoft.com/office/drawing/2014/main" id="{4862CFCA-46A3-4CEE-9A76-5CE7BBBBC92C}"/>
              </a:ext>
            </a:extLst>
          </p:cNvPr>
          <p:cNvSpPr/>
          <p:nvPr/>
        </p:nvSpPr>
        <p:spPr>
          <a:xfrm>
            <a:off x="7025873" y="5239401"/>
            <a:ext cx="1278773"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40-70</a:t>
            </a:r>
          </a:p>
        </p:txBody>
      </p:sp>
      <p:sp>
        <p:nvSpPr>
          <p:cNvPr id="57" name="Овал 56">
            <a:extLst>
              <a:ext uri="{FF2B5EF4-FFF2-40B4-BE49-F238E27FC236}">
                <a16:creationId xmlns:a16="http://schemas.microsoft.com/office/drawing/2014/main" id="{E8C43AF5-7C40-4104-8C3A-2290B5C74299}"/>
              </a:ext>
            </a:extLst>
          </p:cNvPr>
          <p:cNvSpPr/>
          <p:nvPr/>
        </p:nvSpPr>
        <p:spPr>
          <a:xfrm>
            <a:off x="7486414" y="4198718"/>
            <a:ext cx="91439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&gt;70</a:t>
            </a:r>
            <a:endParaRPr lang="ru-RU" dirty="0">
              <a:solidFill>
                <a:srgbClr val="002060"/>
              </a:solidFill>
            </a:endParaRPr>
          </a:p>
        </p:txBody>
      </p:sp>
      <p:cxnSp>
        <p:nvCxnSpPr>
          <p:cNvPr id="58" name="Прямая со стрелкой 57">
            <a:extLst>
              <a:ext uri="{FF2B5EF4-FFF2-40B4-BE49-F238E27FC236}">
                <a16:creationId xmlns:a16="http://schemas.microsoft.com/office/drawing/2014/main" id="{6CBB4835-F2EF-4A74-93C6-B08FBB3650D3}"/>
              </a:ext>
            </a:extLst>
          </p:cNvPr>
          <p:cNvCxnSpPr>
            <a:cxnSpLocks/>
            <a:stCxn id="41" idx="4"/>
            <a:endCxn id="54" idx="0"/>
          </p:cNvCxnSpPr>
          <p:nvPr/>
        </p:nvCxnSpPr>
        <p:spPr>
          <a:xfrm flipH="1">
            <a:off x="5965146" y="3857092"/>
            <a:ext cx="982987" cy="3448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a:extLst>
              <a:ext uri="{FF2B5EF4-FFF2-40B4-BE49-F238E27FC236}">
                <a16:creationId xmlns:a16="http://schemas.microsoft.com/office/drawing/2014/main" id="{250820FF-24C3-4CE8-B56C-5B253842D1B1}"/>
              </a:ext>
            </a:extLst>
          </p:cNvPr>
          <p:cNvCxnSpPr>
            <a:cxnSpLocks/>
            <a:stCxn id="41" idx="4"/>
            <a:endCxn id="55" idx="0"/>
          </p:cNvCxnSpPr>
          <p:nvPr/>
        </p:nvCxnSpPr>
        <p:spPr>
          <a:xfrm flipH="1">
            <a:off x="6292316" y="3857092"/>
            <a:ext cx="655817" cy="13823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Прямая со стрелкой 64">
            <a:extLst>
              <a:ext uri="{FF2B5EF4-FFF2-40B4-BE49-F238E27FC236}">
                <a16:creationId xmlns:a16="http://schemas.microsoft.com/office/drawing/2014/main" id="{608B1BD3-8B9F-4D1D-A676-FB72C6E99BC7}"/>
              </a:ext>
            </a:extLst>
          </p:cNvPr>
          <p:cNvCxnSpPr>
            <a:cxnSpLocks/>
            <a:stCxn id="41" idx="4"/>
            <a:endCxn id="56" idx="0"/>
          </p:cNvCxnSpPr>
          <p:nvPr/>
        </p:nvCxnSpPr>
        <p:spPr>
          <a:xfrm>
            <a:off x="6948133" y="3857092"/>
            <a:ext cx="717127" cy="138230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8" name="Прямая со стрелкой 67">
            <a:extLst>
              <a:ext uri="{FF2B5EF4-FFF2-40B4-BE49-F238E27FC236}">
                <a16:creationId xmlns:a16="http://schemas.microsoft.com/office/drawing/2014/main" id="{CE9148A9-BB7F-4B21-9E70-9BA4F08A8A84}"/>
              </a:ext>
            </a:extLst>
          </p:cNvPr>
          <p:cNvCxnSpPr>
            <a:cxnSpLocks/>
            <a:stCxn id="41" idx="4"/>
            <a:endCxn id="57" idx="0"/>
          </p:cNvCxnSpPr>
          <p:nvPr/>
        </p:nvCxnSpPr>
        <p:spPr>
          <a:xfrm>
            <a:off x="6948133" y="3857092"/>
            <a:ext cx="995481" cy="3416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2" name="Прямоугольник: скругленные углы 71">
            <a:extLst>
              <a:ext uri="{FF2B5EF4-FFF2-40B4-BE49-F238E27FC236}">
                <a16:creationId xmlns:a16="http://schemas.microsoft.com/office/drawing/2014/main" id="{97AEDC14-00D8-4AAE-BEED-E28B92CED21B}"/>
              </a:ext>
            </a:extLst>
          </p:cNvPr>
          <p:cNvSpPr/>
          <p:nvPr/>
        </p:nvSpPr>
        <p:spPr>
          <a:xfrm>
            <a:off x="8518284" y="4118846"/>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узел имеет несколько потомков;</a:t>
            </a:r>
          </a:p>
        </p:txBody>
      </p:sp>
      <p:sp>
        <p:nvSpPr>
          <p:cNvPr id="73" name="Прямоугольник: скругленные углы 72">
            <a:extLst>
              <a:ext uri="{FF2B5EF4-FFF2-40B4-BE49-F238E27FC236}">
                <a16:creationId xmlns:a16="http://schemas.microsoft.com/office/drawing/2014/main" id="{45AF97FA-4A47-481C-BB3C-E7D5ACD36162}"/>
              </a:ext>
            </a:extLst>
          </p:cNvPr>
          <p:cNvSpPr/>
          <p:nvPr/>
        </p:nvSpPr>
        <p:spPr>
          <a:xfrm>
            <a:off x="8595082" y="5333533"/>
            <a:ext cx="2823882" cy="9143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дерево становится шире и заметно ниже;</a:t>
            </a:r>
          </a:p>
        </p:txBody>
      </p:sp>
      <p:sp>
        <p:nvSpPr>
          <p:cNvPr id="74" name="Прямоугольник: скругленные углы 73">
            <a:extLst>
              <a:ext uri="{FF2B5EF4-FFF2-40B4-BE49-F238E27FC236}">
                <a16:creationId xmlns:a16="http://schemas.microsoft.com/office/drawing/2014/main" id="{028A70EF-BB39-4A3F-8A03-07E662AF74FE}"/>
              </a:ext>
            </a:extLst>
          </p:cNvPr>
          <p:cNvSpPr/>
          <p:nvPr/>
        </p:nvSpPr>
        <p:spPr>
          <a:xfrm>
            <a:off x="479420" y="1738314"/>
            <a:ext cx="11229975" cy="84357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dirty="0"/>
              <a:t>B-</a:t>
            </a:r>
            <a:r>
              <a:rPr lang="ru-RU" sz="2000" b="1" dirty="0" err="1"/>
              <a:t>Tree</a:t>
            </a:r>
            <a:r>
              <a:rPr lang="ru-RU" sz="2000" dirty="0"/>
              <a:t> — сбалансированное поисковое дерево, в котором один узел может хранить несколько ключей и иметь несколько потомков.</a:t>
            </a:r>
          </a:p>
        </p:txBody>
      </p:sp>
    </p:spTree>
    <p:extLst>
      <p:ext uri="{BB962C8B-B14F-4D97-AF65-F5344CB8AC3E}">
        <p14:creationId xmlns:p14="http://schemas.microsoft.com/office/powerpoint/2010/main" val="2865546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E42C3-FBD7-4603-B6AD-EF5F8F93E9DD}"/>
              </a:ext>
            </a:extLst>
          </p:cNvPr>
          <p:cNvSpPr>
            <a:spLocks noGrp="1"/>
          </p:cNvSpPr>
          <p:nvPr>
            <p:ph type="title"/>
          </p:nvPr>
        </p:nvSpPr>
        <p:spPr/>
        <p:txBody>
          <a:bodyPr/>
          <a:lstStyle/>
          <a:p>
            <a:r>
              <a:rPr lang="ru-RU" dirty="0"/>
              <a:t>Поиск в </a:t>
            </a:r>
            <a:r>
              <a:rPr lang="en-US" dirty="0"/>
              <a:t>B-Tree</a:t>
            </a:r>
            <a:endParaRPr lang="ru-RU" dirty="0"/>
          </a:p>
        </p:txBody>
      </p:sp>
      <p:sp>
        <p:nvSpPr>
          <p:cNvPr id="7" name="Текст 6">
            <a:extLst>
              <a:ext uri="{FF2B5EF4-FFF2-40B4-BE49-F238E27FC236}">
                <a16:creationId xmlns:a16="http://schemas.microsoft.com/office/drawing/2014/main" id="{5567E92D-7EC5-4092-B3A4-A3F272CD914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58FC235-80A8-475D-991E-796890A54B82}"/>
              </a:ext>
            </a:extLst>
          </p:cNvPr>
          <p:cNvSpPr/>
          <p:nvPr/>
        </p:nvSpPr>
        <p:spPr>
          <a:xfrm>
            <a:off x="1443133" y="149345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20| 40| 70</a:t>
            </a:r>
            <a:endParaRPr lang="ru-RU" dirty="0"/>
          </a:p>
        </p:txBody>
      </p:sp>
      <p:sp>
        <p:nvSpPr>
          <p:cNvPr id="9" name="Овал 8">
            <a:extLst>
              <a:ext uri="{FF2B5EF4-FFF2-40B4-BE49-F238E27FC236}">
                <a16:creationId xmlns:a16="http://schemas.microsoft.com/office/drawing/2014/main" id="{6CB6D3DB-805B-4A31-8157-761B97AB2F50}"/>
              </a:ext>
            </a:extLst>
          </p:cNvPr>
          <p:cNvSpPr/>
          <p:nvPr/>
        </p:nvSpPr>
        <p:spPr>
          <a:xfrm>
            <a:off x="134471" y="3303460"/>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5" name="Прямая со стрелкой 14">
            <a:extLst>
              <a:ext uri="{FF2B5EF4-FFF2-40B4-BE49-F238E27FC236}">
                <a16:creationId xmlns:a16="http://schemas.microsoft.com/office/drawing/2014/main" id="{52A86F69-52C0-4B31-AD23-0D41B739C119}"/>
              </a:ext>
            </a:extLst>
          </p:cNvPr>
          <p:cNvCxnSpPr>
            <a:cxnSpLocks/>
            <a:stCxn id="8" idx="3"/>
            <a:endCxn id="9" idx="0"/>
          </p:cNvCxnSpPr>
          <p:nvPr/>
        </p:nvCxnSpPr>
        <p:spPr>
          <a:xfrm flipH="1">
            <a:off x="959316" y="2273946"/>
            <a:ext cx="766764" cy="1029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138F28A9-6C84-4985-B4F4-41C2903C63AE}"/>
              </a:ext>
            </a:extLst>
          </p:cNvPr>
          <p:cNvSpPr/>
          <p:nvPr/>
        </p:nvSpPr>
        <p:spPr>
          <a:xfrm>
            <a:off x="1114098" y="4199063"/>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25 | 35</a:t>
            </a:r>
            <a:endParaRPr lang="ru-RU" dirty="0"/>
          </a:p>
        </p:txBody>
      </p:sp>
      <p:sp>
        <p:nvSpPr>
          <p:cNvPr id="36" name="Овал 35">
            <a:extLst>
              <a:ext uri="{FF2B5EF4-FFF2-40B4-BE49-F238E27FC236}">
                <a16:creationId xmlns:a16="http://schemas.microsoft.com/office/drawing/2014/main" id="{218C63FE-47CF-407A-A27A-7C71E65B3978}"/>
              </a:ext>
            </a:extLst>
          </p:cNvPr>
          <p:cNvSpPr/>
          <p:nvPr/>
        </p:nvSpPr>
        <p:spPr>
          <a:xfrm>
            <a:off x="2918569" y="4217859"/>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41 | 55</a:t>
            </a:r>
            <a:endParaRPr lang="ru-RU" dirty="0"/>
          </a:p>
        </p:txBody>
      </p:sp>
      <p:sp>
        <p:nvSpPr>
          <p:cNvPr id="37" name="Овал 36">
            <a:extLst>
              <a:ext uri="{FF2B5EF4-FFF2-40B4-BE49-F238E27FC236}">
                <a16:creationId xmlns:a16="http://schemas.microsoft.com/office/drawing/2014/main" id="{1655ED4E-8668-4072-88AE-614D9AA49693}"/>
              </a:ext>
            </a:extLst>
          </p:cNvPr>
          <p:cNvSpPr/>
          <p:nvPr/>
        </p:nvSpPr>
        <p:spPr>
          <a:xfrm>
            <a:off x="3680475" y="309111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75 | 95</a:t>
            </a:r>
            <a:endParaRPr lang="ru-RU" dirty="0"/>
          </a:p>
        </p:txBody>
      </p:sp>
      <p:cxnSp>
        <p:nvCxnSpPr>
          <p:cNvPr id="38" name="Прямая со стрелкой 37">
            <a:extLst>
              <a:ext uri="{FF2B5EF4-FFF2-40B4-BE49-F238E27FC236}">
                <a16:creationId xmlns:a16="http://schemas.microsoft.com/office/drawing/2014/main" id="{C6A9C876-8EE1-465B-8AD7-7B92C25C2F8B}"/>
              </a:ext>
            </a:extLst>
          </p:cNvPr>
          <p:cNvCxnSpPr>
            <a:cxnSpLocks/>
            <a:endCxn id="35" idx="0"/>
          </p:cNvCxnSpPr>
          <p:nvPr/>
        </p:nvCxnSpPr>
        <p:spPr>
          <a:xfrm flipH="1">
            <a:off x="1938943" y="2407857"/>
            <a:ext cx="228322" cy="179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A5AC5EB6-A1C1-4A6D-A7C6-21D91BB1F2FA}"/>
              </a:ext>
            </a:extLst>
          </p:cNvPr>
          <p:cNvCxnSpPr>
            <a:cxnSpLocks/>
            <a:endCxn id="36" idx="0"/>
          </p:cNvCxnSpPr>
          <p:nvPr/>
        </p:nvCxnSpPr>
        <p:spPr>
          <a:xfrm>
            <a:off x="2763787" y="2398459"/>
            <a:ext cx="979627" cy="1819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EFC676BA-FD7B-40CF-A014-824C96F8E590}"/>
              </a:ext>
            </a:extLst>
          </p:cNvPr>
          <p:cNvCxnSpPr>
            <a:cxnSpLocks/>
            <a:stCxn id="8" idx="5"/>
            <a:endCxn id="37" idx="0"/>
          </p:cNvCxnSpPr>
          <p:nvPr/>
        </p:nvCxnSpPr>
        <p:spPr>
          <a:xfrm>
            <a:off x="3092266" y="2273946"/>
            <a:ext cx="1413054" cy="817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Прямоугольник: скругленные углы 47">
            <a:extLst>
              <a:ext uri="{FF2B5EF4-FFF2-40B4-BE49-F238E27FC236}">
                <a16:creationId xmlns:a16="http://schemas.microsoft.com/office/drawing/2014/main" id="{FFBF24ED-91B8-490C-8094-CAAF0CBB3FE1}"/>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сравниваем внутри корня;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выбираем нужный диапазон;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переходим к соответствующему потомку;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находим ключ в листе.</a:t>
            </a:r>
            <a:endParaRPr lang="ru-RU" sz="2400" dirty="0"/>
          </a:p>
        </p:txBody>
      </p:sp>
      <p:sp>
        <p:nvSpPr>
          <p:cNvPr id="49" name="Прямоугольник: скругленные углы 48">
            <a:extLst>
              <a:ext uri="{FF2B5EF4-FFF2-40B4-BE49-F238E27FC236}">
                <a16:creationId xmlns:a16="http://schemas.microsoft.com/office/drawing/2014/main" id="{85772A42-ADE7-4C06-B6D6-DE19C7DB2DB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Алгоритм поиска в </a:t>
            </a:r>
            <a:r>
              <a:rPr lang="en-US" sz="2400" dirty="0"/>
              <a:t>B-Tree</a:t>
            </a:r>
            <a:endParaRPr lang="ru-RU" sz="2400" dirty="0"/>
          </a:p>
        </p:txBody>
      </p:sp>
    </p:spTree>
    <p:extLst>
      <p:ext uri="{BB962C8B-B14F-4D97-AF65-F5344CB8AC3E}">
        <p14:creationId xmlns:p14="http://schemas.microsoft.com/office/powerpoint/2010/main" val="467568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E42C3-FBD7-4603-B6AD-EF5F8F93E9DD}"/>
              </a:ext>
            </a:extLst>
          </p:cNvPr>
          <p:cNvSpPr>
            <a:spLocks noGrp="1"/>
          </p:cNvSpPr>
          <p:nvPr>
            <p:ph type="title"/>
          </p:nvPr>
        </p:nvSpPr>
        <p:spPr/>
        <p:txBody>
          <a:bodyPr/>
          <a:lstStyle/>
          <a:p>
            <a:r>
              <a:rPr lang="ru-RU" dirty="0"/>
              <a:t>Поиск в </a:t>
            </a:r>
            <a:r>
              <a:rPr lang="en-US" dirty="0"/>
              <a:t>B-Tree</a:t>
            </a:r>
            <a:endParaRPr lang="ru-RU" dirty="0"/>
          </a:p>
        </p:txBody>
      </p:sp>
      <p:sp>
        <p:nvSpPr>
          <p:cNvPr id="7" name="Текст 6">
            <a:extLst>
              <a:ext uri="{FF2B5EF4-FFF2-40B4-BE49-F238E27FC236}">
                <a16:creationId xmlns:a16="http://schemas.microsoft.com/office/drawing/2014/main" id="{5567E92D-7EC5-4092-B3A4-A3F272CD914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58FC235-80A8-475D-991E-796890A54B82}"/>
              </a:ext>
            </a:extLst>
          </p:cNvPr>
          <p:cNvSpPr/>
          <p:nvPr/>
        </p:nvSpPr>
        <p:spPr>
          <a:xfrm>
            <a:off x="1443133" y="149345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FF0000"/>
                </a:solidFill>
              </a:rPr>
              <a:t>20| 40| 70</a:t>
            </a:r>
            <a:endParaRPr lang="ru-RU" dirty="0">
              <a:solidFill>
                <a:srgbClr val="FF0000"/>
              </a:solidFill>
            </a:endParaRPr>
          </a:p>
        </p:txBody>
      </p:sp>
      <p:sp>
        <p:nvSpPr>
          <p:cNvPr id="9" name="Овал 8">
            <a:extLst>
              <a:ext uri="{FF2B5EF4-FFF2-40B4-BE49-F238E27FC236}">
                <a16:creationId xmlns:a16="http://schemas.microsoft.com/office/drawing/2014/main" id="{6CB6D3DB-805B-4A31-8157-761B97AB2F50}"/>
              </a:ext>
            </a:extLst>
          </p:cNvPr>
          <p:cNvSpPr/>
          <p:nvPr/>
        </p:nvSpPr>
        <p:spPr>
          <a:xfrm>
            <a:off x="134471" y="3303460"/>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5" name="Прямая со стрелкой 14">
            <a:extLst>
              <a:ext uri="{FF2B5EF4-FFF2-40B4-BE49-F238E27FC236}">
                <a16:creationId xmlns:a16="http://schemas.microsoft.com/office/drawing/2014/main" id="{52A86F69-52C0-4B31-AD23-0D41B739C119}"/>
              </a:ext>
            </a:extLst>
          </p:cNvPr>
          <p:cNvCxnSpPr>
            <a:cxnSpLocks/>
            <a:stCxn id="8" idx="3"/>
            <a:endCxn id="9" idx="0"/>
          </p:cNvCxnSpPr>
          <p:nvPr/>
        </p:nvCxnSpPr>
        <p:spPr>
          <a:xfrm flipH="1">
            <a:off x="959316" y="2273946"/>
            <a:ext cx="766764" cy="1029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138F28A9-6C84-4985-B4F4-41C2903C63AE}"/>
              </a:ext>
            </a:extLst>
          </p:cNvPr>
          <p:cNvSpPr/>
          <p:nvPr/>
        </p:nvSpPr>
        <p:spPr>
          <a:xfrm>
            <a:off x="1114098" y="4199063"/>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25 | 35</a:t>
            </a:r>
            <a:endParaRPr lang="ru-RU" dirty="0"/>
          </a:p>
        </p:txBody>
      </p:sp>
      <p:sp>
        <p:nvSpPr>
          <p:cNvPr id="36" name="Овал 35">
            <a:extLst>
              <a:ext uri="{FF2B5EF4-FFF2-40B4-BE49-F238E27FC236}">
                <a16:creationId xmlns:a16="http://schemas.microsoft.com/office/drawing/2014/main" id="{218C63FE-47CF-407A-A27A-7C71E65B3978}"/>
              </a:ext>
            </a:extLst>
          </p:cNvPr>
          <p:cNvSpPr/>
          <p:nvPr/>
        </p:nvSpPr>
        <p:spPr>
          <a:xfrm>
            <a:off x="2918569" y="4217859"/>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41 | 55</a:t>
            </a:r>
            <a:endParaRPr lang="ru-RU" dirty="0"/>
          </a:p>
        </p:txBody>
      </p:sp>
      <p:sp>
        <p:nvSpPr>
          <p:cNvPr id="37" name="Овал 36">
            <a:extLst>
              <a:ext uri="{FF2B5EF4-FFF2-40B4-BE49-F238E27FC236}">
                <a16:creationId xmlns:a16="http://schemas.microsoft.com/office/drawing/2014/main" id="{1655ED4E-8668-4072-88AE-614D9AA49693}"/>
              </a:ext>
            </a:extLst>
          </p:cNvPr>
          <p:cNvSpPr/>
          <p:nvPr/>
        </p:nvSpPr>
        <p:spPr>
          <a:xfrm>
            <a:off x="3680475" y="309111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75 | 95</a:t>
            </a:r>
            <a:endParaRPr lang="ru-RU" dirty="0"/>
          </a:p>
        </p:txBody>
      </p:sp>
      <p:cxnSp>
        <p:nvCxnSpPr>
          <p:cNvPr id="38" name="Прямая со стрелкой 37">
            <a:extLst>
              <a:ext uri="{FF2B5EF4-FFF2-40B4-BE49-F238E27FC236}">
                <a16:creationId xmlns:a16="http://schemas.microsoft.com/office/drawing/2014/main" id="{C6A9C876-8EE1-465B-8AD7-7B92C25C2F8B}"/>
              </a:ext>
            </a:extLst>
          </p:cNvPr>
          <p:cNvCxnSpPr>
            <a:cxnSpLocks/>
            <a:endCxn id="35" idx="0"/>
          </p:cNvCxnSpPr>
          <p:nvPr/>
        </p:nvCxnSpPr>
        <p:spPr>
          <a:xfrm flipH="1">
            <a:off x="1938943" y="2407857"/>
            <a:ext cx="228322" cy="179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A5AC5EB6-A1C1-4A6D-A7C6-21D91BB1F2FA}"/>
              </a:ext>
            </a:extLst>
          </p:cNvPr>
          <p:cNvCxnSpPr>
            <a:cxnSpLocks/>
            <a:endCxn id="36" idx="0"/>
          </p:cNvCxnSpPr>
          <p:nvPr/>
        </p:nvCxnSpPr>
        <p:spPr>
          <a:xfrm>
            <a:off x="2763787" y="2398459"/>
            <a:ext cx="979627" cy="18194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EFC676BA-FD7B-40CF-A014-824C96F8E590}"/>
              </a:ext>
            </a:extLst>
          </p:cNvPr>
          <p:cNvCxnSpPr>
            <a:cxnSpLocks/>
            <a:stCxn id="8" idx="5"/>
            <a:endCxn id="37" idx="0"/>
          </p:cNvCxnSpPr>
          <p:nvPr/>
        </p:nvCxnSpPr>
        <p:spPr>
          <a:xfrm>
            <a:off x="3092266" y="2273946"/>
            <a:ext cx="1413054" cy="817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Прямоугольник: скругленные углы 47">
            <a:extLst>
              <a:ext uri="{FF2B5EF4-FFF2-40B4-BE49-F238E27FC236}">
                <a16:creationId xmlns:a16="http://schemas.microsoft.com/office/drawing/2014/main" id="{FFBF24ED-91B8-490C-8094-CAAF0CBB3FE1}"/>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altLang="ru-RU" sz="2400" dirty="0">
                <a:solidFill>
                  <a:srgbClr val="FF0000"/>
                </a:solidFill>
              </a:rPr>
              <a:t>сравниваем внутри корня; </a:t>
            </a:r>
            <a:endParaRPr lang="en-US" altLang="ru-RU" sz="2400" dirty="0">
              <a:solidFill>
                <a:srgbClr val="FF0000"/>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выбираем нужный диапазон;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переходим к соответствующему потомку;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находим ключ в листе.</a:t>
            </a:r>
            <a:endParaRPr lang="ru-RU" sz="2400" dirty="0"/>
          </a:p>
        </p:txBody>
      </p:sp>
      <p:sp>
        <p:nvSpPr>
          <p:cNvPr id="49" name="Прямоугольник: скругленные углы 48">
            <a:extLst>
              <a:ext uri="{FF2B5EF4-FFF2-40B4-BE49-F238E27FC236}">
                <a16:creationId xmlns:a16="http://schemas.microsoft.com/office/drawing/2014/main" id="{85772A42-ADE7-4C06-B6D6-DE19C7DB2DB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Алгоритм поиска в </a:t>
            </a:r>
            <a:r>
              <a:rPr lang="en-US" sz="2400" dirty="0"/>
              <a:t>B-Tree</a:t>
            </a:r>
            <a:endParaRPr lang="ru-RU" sz="2400" dirty="0"/>
          </a:p>
        </p:txBody>
      </p:sp>
      <p:sp>
        <p:nvSpPr>
          <p:cNvPr id="3" name="TextBox 2">
            <a:extLst>
              <a:ext uri="{FF2B5EF4-FFF2-40B4-BE49-F238E27FC236}">
                <a16:creationId xmlns:a16="http://schemas.microsoft.com/office/drawing/2014/main" id="{97ED4285-8E6C-4B46-870C-2D77B8396ECB}"/>
              </a:ext>
            </a:extLst>
          </p:cNvPr>
          <p:cNvSpPr txBox="1"/>
          <p:nvPr/>
        </p:nvSpPr>
        <p:spPr bwMode="auto">
          <a:xfrm>
            <a:off x="4047565" y="1214685"/>
            <a:ext cx="1716650" cy="369332"/>
          </a:xfrm>
          <a:prstGeom prst="rect">
            <a:avLst/>
          </a:prstGeom>
        </p:spPr>
        <p:txBody>
          <a:bodyPr wrap="square" rtlCol="0">
            <a:spAutoFit/>
          </a:bodyPr>
          <a:lstStyle/>
          <a:p>
            <a:r>
              <a:rPr lang="ru-RU" dirty="0"/>
              <a:t>Ищем</a:t>
            </a:r>
            <a:r>
              <a:rPr lang="en-US" dirty="0"/>
              <a:t>: 55</a:t>
            </a:r>
            <a:endParaRPr lang="ru-RU" dirty="0"/>
          </a:p>
        </p:txBody>
      </p:sp>
      <p:sp>
        <p:nvSpPr>
          <p:cNvPr id="4" name="TextBox 3">
            <a:extLst>
              <a:ext uri="{FF2B5EF4-FFF2-40B4-BE49-F238E27FC236}">
                <a16:creationId xmlns:a16="http://schemas.microsoft.com/office/drawing/2014/main" id="{72D78964-84A2-4C5D-A144-CE95C8754504}"/>
              </a:ext>
            </a:extLst>
          </p:cNvPr>
          <p:cNvSpPr txBox="1"/>
          <p:nvPr/>
        </p:nvSpPr>
        <p:spPr bwMode="auto">
          <a:xfrm>
            <a:off x="670434" y="5458649"/>
            <a:ext cx="4186705" cy="369332"/>
          </a:xfrm>
          <a:prstGeom prst="rect">
            <a:avLst/>
          </a:prstGeom>
        </p:spPr>
        <p:txBody>
          <a:bodyPr wrap="square" rtlCol="0">
            <a:spAutoFit/>
          </a:bodyPr>
          <a:lstStyle/>
          <a:p>
            <a:pPr algn="ctr"/>
            <a:r>
              <a:rPr lang="en-US" dirty="0"/>
              <a:t>55 &gt; 20, 55 &gt; 20, 55 &lt; 70</a:t>
            </a:r>
            <a:endParaRPr lang="ru-RU" dirty="0"/>
          </a:p>
        </p:txBody>
      </p:sp>
    </p:spTree>
    <p:extLst>
      <p:ext uri="{BB962C8B-B14F-4D97-AF65-F5344CB8AC3E}">
        <p14:creationId xmlns:p14="http://schemas.microsoft.com/office/powerpoint/2010/main" val="7163327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E42C3-FBD7-4603-B6AD-EF5F8F93E9DD}"/>
              </a:ext>
            </a:extLst>
          </p:cNvPr>
          <p:cNvSpPr>
            <a:spLocks noGrp="1"/>
          </p:cNvSpPr>
          <p:nvPr>
            <p:ph type="title"/>
          </p:nvPr>
        </p:nvSpPr>
        <p:spPr/>
        <p:txBody>
          <a:bodyPr/>
          <a:lstStyle/>
          <a:p>
            <a:r>
              <a:rPr lang="ru-RU" dirty="0"/>
              <a:t>Поиск в </a:t>
            </a:r>
            <a:r>
              <a:rPr lang="en-US" dirty="0"/>
              <a:t>B-Tree</a:t>
            </a:r>
            <a:endParaRPr lang="ru-RU" dirty="0"/>
          </a:p>
        </p:txBody>
      </p:sp>
      <p:sp>
        <p:nvSpPr>
          <p:cNvPr id="7" name="Текст 6">
            <a:extLst>
              <a:ext uri="{FF2B5EF4-FFF2-40B4-BE49-F238E27FC236}">
                <a16:creationId xmlns:a16="http://schemas.microsoft.com/office/drawing/2014/main" id="{5567E92D-7EC5-4092-B3A4-A3F272CD914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58FC235-80A8-475D-991E-796890A54B82}"/>
              </a:ext>
            </a:extLst>
          </p:cNvPr>
          <p:cNvSpPr/>
          <p:nvPr/>
        </p:nvSpPr>
        <p:spPr>
          <a:xfrm>
            <a:off x="1443133" y="149345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20| 40| 70</a:t>
            </a:r>
            <a:endParaRPr lang="ru-RU" dirty="0">
              <a:solidFill>
                <a:srgbClr val="002060"/>
              </a:solidFill>
            </a:endParaRPr>
          </a:p>
        </p:txBody>
      </p:sp>
      <p:sp>
        <p:nvSpPr>
          <p:cNvPr id="9" name="Овал 8">
            <a:extLst>
              <a:ext uri="{FF2B5EF4-FFF2-40B4-BE49-F238E27FC236}">
                <a16:creationId xmlns:a16="http://schemas.microsoft.com/office/drawing/2014/main" id="{6CB6D3DB-805B-4A31-8157-761B97AB2F50}"/>
              </a:ext>
            </a:extLst>
          </p:cNvPr>
          <p:cNvSpPr/>
          <p:nvPr/>
        </p:nvSpPr>
        <p:spPr>
          <a:xfrm>
            <a:off x="134471" y="3303460"/>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5" name="Прямая со стрелкой 14">
            <a:extLst>
              <a:ext uri="{FF2B5EF4-FFF2-40B4-BE49-F238E27FC236}">
                <a16:creationId xmlns:a16="http://schemas.microsoft.com/office/drawing/2014/main" id="{52A86F69-52C0-4B31-AD23-0D41B739C119}"/>
              </a:ext>
            </a:extLst>
          </p:cNvPr>
          <p:cNvCxnSpPr>
            <a:cxnSpLocks/>
            <a:stCxn id="8" idx="3"/>
            <a:endCxn id="9" idx="0"/>
          </p:cNvCxnSpPr>
          <p:nvPr/>
        </p:nvCxnSpPr>
        <p:spPr>
          <a:xfrm flipH="1">
            <a:off x="959316" y="2273946"/>
            <a:ext cx="766764" cy="1029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138F28A9-6C84-4985-B4F4-41C2903C63AE}"/>
              </a:ext>
            </a:extLst>
          </p:cNvPr>
          <p:cNvSpPr/>
          <p:nvPr/>
        </p:nvSpPr>
        <p:spPr>
          <a:xfrm>
            <a:off x="1114098" y="4199063"/>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25 | 35</a:t>
            </a:r>
            <a:endParaRPr lang="ru-RU" dirty="0"/>
          </a:p>
        </p:txBody>
      </p:sp>
      <p:sp>
        <p:nvSpPr>
          <p:cNvPr id="36" name="Овал 35">
            <a:extLst>
              <a:ext uri="{FF2B5EF4-FFF2-40B4-BE49-F238E27FC236}">
                <a16:creationId xmlns:a16="http://schemas.microsoft.com/office/drawing/2014/main" id="{218C63FE-47CF-407A-A27A-7C71E65B3978}"/>
              </a:ext>
            </a:extLst>
          </p:cNvPr>
          <p:cNvSpPr/>
          <p:nvPr/>
        </p:nvSpPr>
        <p:spPr>
          <a:xfrm>
            <a:off x="2918569" y="4217859"/>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41 | 55</a:t>
            </a:r>
            <a:endParaRPr lang="ru-RU" dirty="0"/>
          </a:p>
        </p:txBody>
      </p:sp>
      <p:sp>
        <p:nvSpPr>
          <p:cNvPr id="37" name="Овал 36">
            <a:extLst>
              <a:ext uri="{FF2B5EF4-FFF2-40B4-BE49-F238E27FC236}">
                <a16:creationId xmlns:a16="http://schemas.microsoft.com/office/drawing/2014/main" id="{1655ED4E-8668-4072-88AE-614D9AA49693}"/>
              </a:ext>
            </a:extLst>
          </p:cNvPr>
          <p:cNvSpPr/>
          <p:nvPr/>
        </p:nvSpPr>
        <p:spPr>
          <a:xfrm>
            <a:off x="3680475" y="309111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75 | 95</a:t>
            </a:r>
            <a:endParaRPr lang="ru-RU" dirty="0"/>
          </a:p>
        </p:txBody>
      </p:sp>
      <p:cxnSp>
        <p:nvCxnSpPr>
          <p:cNvPr id="38" name="Прямая со стрелкой 37">
            <a:extLst>
              <a:ext uri="{FF2B5EF4-FFF2-40B4-BE49-F238E27FC236}">
                <a16:creationId xmlns:a16="http://schemas.microsoft.com/office/drawing/2014/main" id="{C6A9C876-8EE1-465B-8AD7-7B92C25C2F8B}"/>
              </a:ext>
            </a:extLst>
          </p:cNvPr>
          <p:cNvCxnSpPr>
            <a:cxnSpLocks/>
            <a:endCxn id="35" idx="0"/>
          </p:cNvCxnSpPr>
          <p:nvPr/>
        </p:nvCxnSpPr>
        <p:spPr>
          <a:xfrm flipH="1">
            <a:off x="1938943" y="2407857"/>
            <a:ext cx="228322" cy="179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A5AC5EB6-A1C1-4A6D-A7C6-21D91BB1F2FA}"/>
              </a:ext>
            </a:extLst>
          </p:cNvPr>
          <p:cNvCxnSpPr>
            <a:cxnSpLocks/>
            <a:endCxn id="36" idx="0"/>
          </p:cNvCxnSpPr>
          <p:nvPr/>
        </p:nvCxnSpPr>
        <p:spPr>
          <a:xfrm>
            <a:off x="2763787" y="2398459"/>
            <a:ext cx="979627" cy="18194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EFC676BA-FD7B-40CF-A014-824C96F8E590}"/>
              </a:ext>
            </a:extLst>
          </p:cNvPr>
          <p:cNvCxnSpPr>
            <a:cxnSpLocks/>
            <a:stCxn id="8" idx="5"/>
            <a:endCxn id="37" idx="0"/>
          </p:cNvCxnSpPr>
          <p:nvPr/>
        </p:nvCxnSpPr>
        <p:spPr>
          <a:xfrm>
            <a:off x="3092266" y="2273946"/>
            <a:ext cx="1413054" cy="817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Прямоугольник: скругленные углы 47">
            <a:extLst>
              <a:ext uri="{FF2B5EF4-FFF2-40B4-BE49-F238E27FC236}">
                <a16:creationId xmlns:a16="http://schemas.microsoft.com/office/drawing/2014/main" id="{FFBF24ED-91B8-490C-8094-CAAF0CBB3FE1}"/>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сравниваем внутри корня;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FF0000"/>
                </a:solidFill>
              </a:rPr>
              <a:t>выбираем нужный диапазон; </a:t>
            </a:r>
            <a:endParaRPr lang="en-US" altLang="ru-RU" sz="2400" dirty="0">
              <a:solidFill>
                <a:srgbClr val="FF0000"/>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переходим к соответствующему потомку; </a:t>
            </a:r>
            <a:endParaRPr lang="en-US" altLang="ru-RU" sz="2400" dirty="0">
              <a:solidFill>
                <a:schemeClr val="tx1"/>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находим ключ в листе.</a:t>
            </a:r>
            <a:endParaRPr lang="ru-RU" sz="2400" dirty="0"/>
          </a:p>
        </p:txBody>
      </p:sp>
      <p:sp>
        <p:nvSpPr>
          <p:cNvPr id="49" name="Прямоугольник: скругленные углы 48">
            <a:extLst>
              <a:ext uri="{FF2B5EF4-FFF2-40B4-BE49-F238E27FC236}">
                <a16:creationId xmlns:a16="http://schemas.microsoft.com/office/drawing/2014/main" id="{85772A42-ADE7-4C06-B6D6-DE19C7DB2DB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Алгоритм поиска в </a:t>
            </a:r>
            <a:r>
              <a:rPr lang="en-US" sz="2400" dirty="0"/>
              <a:t>B-Tree</a:t>
            </a:r>
            <a:endParaRPr lang="ru-RU" sz="2400" dirty="0"/>
          </a:p>
        </p:txBody>
      </p:sp>
      <p:sp>
        <p:nvSpPr>
          <p:cNvPr id="3" name="TextBox 2">
            <a:extLst>
              <a:ext uri="{FF2B5EF4-FFF2-40B4-BE49-F238E27FC236}">
                <a16:creationId xmlns:a16="http://schemas.microsoft.com/office/drawing/2014/main" id="{97ED4285-8E6C-4B46-870C-2D77B8396ECB}"/>
              </a:ext>
            </a:extLst>
          </p:cNvPr>
          <p:cNvSpPr txBox="1"/>
          <p:nvPr/>
        </p:nvSpPr>
        <p:spPr bwMode="auto">
          <a:xfrm>
            <a:off x="4047565" y="1214685"/>
            <a:ext cx="1716650" cy="369332"/>
          </a:xfrm>
          <a:prstGeom prst="rect">
            <a:avLst/>
          </a:prstGeom>
        </p:spPr>
        <p:txBody>
          <a:bodyPr wrap="square" rtlCol="0">
            <a:spAutoFit/>
          </a:bodyPr>
          <a:lstStyle/>
          <a:p>
            <a:r>
              <a:rPr lang="ru-RU" dirty="0"/>
              <a:t>Ищем</a:t>
            </a:r>
            <a:r>
              <a:rPr lang="en-US" dirty="0"/>
              <a:t>: 55</a:t>
            </a:r>
            <a:endParaRPr lang="ru-RU" dirty="0"/>
          </a:p>
        </p:txBody>
      </p:sp>
      <p:sp>
        <p:nvSpPr>
          <p:cNvPr id="4" name="TextBox 3">
            <a:extLst>
              <a:ext uri="{FF2B5EF4-FFF2-40B4-BE49-F238E27FC236}">
                <a16:creationId xmlns:a16="http://schemas.microsoft.com/office/drawing/2014/main" id="{72D78964-84A2-4C5D-A144-CE95C8754504}"/>
              </a:ext>
            </a:extLst>
          </p:cNvPr>
          <p:cNvSpPr txBox="1"/>
          <p:nvPr/>
        </p:nvSpPr>
        <p:spPr bwMode="auto">
          <a:xfrm>
            <a:off x="670434" y="5458649"/>
            <a:ext cx="4186705" cy="369332"/>
          </a:xfrm>
          <a:prstGeom prst="rect">
            <a:avLst/>
          </a:prstGeom>
        </p:spPr>
        <p:txBody>
          <a:bodyPr wrap="square" rtlCol="0">
            <a:spAutoFit/>
          </a:bodyPr>
          <a:lstStyle/>
          <a:p>
            <a:pPr algn="ctr"/>
            <a:r>
              <a:rPr lang="en-US" dirty="0"/>
              <a:t>55 &gt; 20, 55 &gt; 20, 55 &lt; 70</a:t>
            </a:r>
            <a:endParaRPr lang="ru-RU" dirty="0"/>
          </a:p>
        </p:txBody>
      </p:sp>
    </p:spTree>
    <p:extLst>
      <p:ext uri="{BB962C8B-B14F-4D97-AF65-F5344CB8AC3E}">
        <p14:creationId xmlns:p14="http://schemas.microsoft.com/office/powerpoint/2010/main" val="32658599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E42C3-FBD7-4603-B6AD-EF5F8F93E9DD}"/>
              </a:ext>
            </a:extLst>
          </p:cNvPr>
          <p:cNvSpPr>
            <a:spLocks noGrp="1"/>
          </p:cNvSpPr>
          <p:nvPr>
            <p:ph type="title"/>
          </p:nvPr>
        </p:nvSpPr>
        <p:spPr/>
        <p:txBody>
          <a:bodyPr/>
          <a:lstStyle/>
          <a:p>
            <a:r>
              <a:rPr lang="ru-RU" dirty="0"/>
              <a:t>Поиск в </a:t>
            </a:r>
            <a:r>
              <a:rPr lang="en-US" dirty="0"/>
              <a:t>B-Tree</a:t>
            </a:r>
            <a:endParaRPr lang="ru-RU" dirty="0"/>
          </a:p>
        </p:txBody>
      </p:sp>
      <p:sp>
        <p:nvSpPr>
          <p:cNvPr id="7" name="Текст 6">
            <a:extLst>
              <a:ext uri="{FF2B5EF4-FFF2-40B4-BE49-F238E27FC236}">
                <a16:creationId xmlns:a16="http://schemas.microsoft.com/office/drawing/2014/main" id="{5567E92D-7EC5-4092-B3A4-A3F272CD914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58FC235-80A8-475D-991E-796890A54B82}"/>
              </a:ext>
            </a:extLst>
          </p:cNvPr>
          <p:cNvSpPr/>
          <p:nvPr/>
        </p:nvSpPr>
        <p:spPr>
          <a:xfrm>
            <a:off x="1443133" y="149345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20| 40| 70</a:t>
            </a:r>
            <a:endParaRPr lang="ru-RU" dirty="0">
              <a:solidFill>
                <a:srgbClr val="002060"/>
              </a:solidFill>
            </a:endParaRPr>
          </a:p>
        </p:txBody>
      </p:sp>
      <p:sp>
        <p:nvSpPr>
          <p:cNvPr id="9" name="Овал 8">
            <a:extLst>
              <a:ext uri="{FF2B5EF4-FFF2-40B4-BE49-F238E27FC236}">
                <a16:creationId xmlns:a16="http://schemas.microsoft.com/office/drawing/2014/main" id="{6CB6D3DB-805B-4A31-8157-761B97AB2F50}"/>
              </a:ext>
            </a:extLst>
          </p:cNvPr>
          <p:cNvSpPr/>
          <p:nvPr/>
        </p:nvSpPr>
        <p:spPr>
          <a:xfrm>
            <a:off x="134471" y="3303460"/>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5" name="Прямая со стрелкой 14">
            <a:extLst>
              <a:ext uri="{FF2B5EF4-FFF2-40B4-BE49-F238E27FC236}">
                <a16:creationId xmlns:a16="http://schemas.microsoft.com/office/drawing/2014/main" id="{52A86F69-52C0-4B31-AD23-0D41B739C119}"/>
              </a:ext>
            </a:extLst>
          </p:cNvPr>
          <p:cNvCxnSpPr>
            <a:cxnSpLocks/>
            <a:stCxn id="8" idx="3"/>
            <a:endCxn id="9" idx="0"/>
          </p:cNvCxnSpPr>
          <p:nvPr/>
        </p:nvCxnSpPr>
        <p:spPr>
          <a:xfrm flipH="1">
            <a:off x="959316" y="2273946"/>
            <a:ext cx="766764" cy="1029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138F28A9-6C84-4985-B4F4-41C2903C63AE}"/>
              </a:ext>
            </a:extLst>
          </p:cNvPr>
          <p:cNvSpPr/>
          <p:nvPr/>
        </p:nvSpPr>
        <p:spPr>
          <a:xfrm>
            <a:off x="1114098" y="4199063"/>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25 | 35</a:t>
            </a:r>
            <a:endParaRPr lang="ru-RU" dirty="0"/>
          </a:p>
        </p:txBody>
      </p:sp>
      <p:sp>
        <p:nvSpPr>
          <p:cNvPr id="36" name="Овал 35">
            <a:extLst>
              <a:ext uri="{FF2B5EF4-FFF2-40B4-BE49-F238E27FC236}">
                <a16:creationId xmlns:a16="http://schemas.microsoft.com/office/drawing/2014/main" id="{218C63FE-47CF-407A-A27A-7C71E65B3978}"/>
              </a:ext>
            </a:extLst>
          </p:cNvPr>
          <p:cNvSpPr/>
          <p:nvPr/>
        </p:nvSpPr>
        <p:spPr>
          <a:xfrm>
            <a:off x="2918569" y="4217859"/>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41 | 55</a:t>
            </a:r>
            <a:endParaRPr lang="ru-RU" dirty="0"/>
          </a:p>
        </p:txBody>
      </p:sp>
      <p:sp>
        <p:nvSpPr>
          <p:cNvPr id="37" name="Овал 36">
            <a:extLst>
              <a:ext uri="{FF2B5EF4-FFF2-40B4-BE49-F238E27FC236}">
                <a16:creationId xmlns:a16="http://schemas.microsoft.com/office/drawing/2014/main" id="{1655ED4E-8668-4072-88AE-614D9AA49693}"/>
              </a:ext>
            </a:extLst>
          </p:cNvPr>
          <p:cNvSpPr/>
          <p:nvPr/>
        </p:nvSpPr>
        <p:spPr>
          <a:xfrm>
            <a:off x="3680475" y="309111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75 | 95</a:t>
            </a:r>
            <a:endParaRPr lang="ru-RU" dirty="0"/>
          </a:p>
        </p:txBody>
      </p:sp>
      <p:cxnSp>
        <p:nvCxnSpPr>
          <p:cNvPr id="38" name="Прямая со стрелкой 37">
            <a:extLst>
              <a:ext uri="{FF2B5EF4-FFF2-40B4-BE49-F238E27FC236}">
                <a16:creationId xmlns:a16="http://schemas.microsoft.com/office/drawing/2014/main" id="{C6A9C876-8EE1-465B-8AD7-7B92C25C2F8B}"/>
              </a:ext>
            </a:extLst>
          </p:cNvPr>
          <p:cNvCxnSpPr>
            <a:cxnSpLocks/>
            <a:endCxn id="35" idx="0"/>
          </p:cNvCxnSpPr>
          <p:nvPr/>
        </p:nvCxnSpPr>
        <p:spPr>
          <a:xfrm flipH="1">
            <a:off x="1938943" y="2407857"/>
            <a:ext cx="228322" cy="179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A5AC5EB6-A1C1-4A6D-A7C6-21D91BB1F2FA}"/>
              </a:ext>
            </a:extLst>
          </p:cNvPr>
          <p:cNvCxnSpPr>
            <a:cxnSpLocks/>
            <a:endCxn id="36" idx="0"/>
          </p:cNvCxnSpPr>
          <p:nvPr/>
        </p:nvCxnSpPr>
        <p:spPr>
          <a:xfrm>
            <a:off x="2763787" y="2398459"/>
            <a:ext cx="979627" cy="18194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EFC676BA-FD7B-40CF-A014-824C96F8E590}"/>
              </a:ext>
            </a:extLst>
          </p:cNvPr>
          <p:cNvCxnSpPr>
            <a:cxnSpLocks/>
            <a:stCxn id="8" idx="5"/>
            <a:endCxn id="37" idx="0"/>
          </p:cNvCxnSpPr>
          <p:nvPr/>
        </p:nvCxnSpPr>
        <p:spPr>
          <a:xfrm>
            <a:off x="3092266" y="2273946"/>
            <a:ext cx="1413054" cy="817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Прямоугольник: скругленные углы 47">
            <a:extLst>
              <a:ext uri="{FF2B5EF4-FFF2-40B4-BE49-F238E27FC236}">
                <a16:creationId xmlns:a16="http://schemas.microsoft.com/office/drawing/2014/main" id="{FFBF24ED-91B8-490C-8094-CAAF0CBB3FE1}"/>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сравниваем внутри корня;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выбираем нужный диапазон;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FF0000"/>
                </a:solidFill>
              </a:rPr>
              <a:t>переходим к соответствующему потомку; </a:t>
            </a:r>
            <a:endParaRPr lang="en-US" altLang="ru-RU" sz="2400" dirty="0">
              <a:solidFill>
                <a:srgbClr val="FF0000"/>
              </a:solidFill>
            </a:endParaRPr>
          </a:p>
          <a:p>
            <a:pPr marL="342900" lvl="0" indent="-342900" rtl="0" eaLnBrk="0" fontAlgn="base" hangingPunct="0">
              <a:spcBef>
                <a:spcPct val="0"/>
              </a:spcBef>
              <a:spcAft>
                <a:spcPct val="0"/>
              </a:spcAft>
              <a:buFont typeface="+mj-lt"/>
              <a:buAutoNum type="arabicPeriod"/>
            </a:pPr>
            <a:r>
              <a:rPr lang="ru-RU" altLang="ru-RU" sz="2400" dirty="0">
                <a:solidFill>
                  <a:schemeClr val="tx1"/>
                </a:solidFill>
              </a:rPr>
              <a:t>находим ключ в листе.</a:t>
            </a:r>
            <a:endParaRPr lang="ru-RU" sz="2400" dirty="0"/>
          </a:p>
        </p:txBody>
      </p:sp>
      <p:sp>
        <p:nvSpPr>
          <p:cNvPr id="49" name="Прямоугольник: скругленные углы 48">
            <a:extLst>
              <a:ext uri="{FF2B5EF4-FFF2-40B4-BE49-F238E27FC236}">
                <a16:creationId xmlns:a16="http://schemas.microsoft.com/office/drawing/2014/main" id="{85772A42-ADE7-4C06-B6D6-DE19C7DB2DB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Алгоритм поиска в </a:t>
            </a:r>
            <a:r>
              <a:rPr lang="en-US" sz="2400" dirty="0"/>
              <a:t>B-Tree</a:t>
            </a:r>
            <a:endParaRPr lang="ru-RU" sz="2400" dirty="0"/>
          </a:p>
        </p:txBody>
      </p:sp>
      <p:sp>
        <p:nvSpPr>
          <p:cNvPr id="3" name="TextBox 2">
            <a:extLst>
              <a:ext uri="{FF2B5EF4-FFF2-40B4-BE49-F238E27FC236}">
                <a16:creationId xmlns:a16="http://schemas.microsoft.com/office/drawing/2014/main" id="{97ED4285-8E6C-4B46-870C-2D77B8396ECB}"/>
              </a:ext>
            </a:extLst>
          </p:cNvPr>
          <p:cNvSpPr txBox="1"/>
          <p:nvPr/>
        </p:nvSpPr>
        <p:spPr bwMode="auto">
          <a:xfrm>
            <a:off x="4047565" y="1214685"/>
            <a:ext cx="1716650" cy="369332"/>
          </a:xfrm>
          <a:prstGeom prst="rect">
            <a:avLst/>
          </a:prstGeom>
        </p:spPr>
        <p:txBody>
          <a:bodyPr wrap="square" rtlCol="0">
            <a:spAutoFit/>
          </a:bodyPr>
          <a:lstStyle/>
          <a:p>
            <a:r>
              <a:rPr lang="ru-RU" dirty="0"/>
              <a:t>Ищем</a:t>
            </a:r>
            <a:r>
              <a:rPr lang="en-US" dirty="0"/>
              <a:t>: 55</a:t>
            </a:r>
            <a:endParaRPr lang="ru-RU" dirty="0"/>
          </a:p>
        </p:txBody>
      </p:sp>
      <p:sp>
        <p:nvSpPr>
          <p:cNvPr id="4" name="TextBox 3">
            <a:extLst>
              <a:ext uri="{FF2B5EF4-FFF2-40B4-BE49-F238E27FC236}">
                <a16:creationId xmlns:a16="http://schemas.microsoft.com/office/drawing/2014/main" id="{72D78964-84A2-4C5D-A144-CE95C8754504}"/>
              </a:ext>
            </a:extLst>
          </p:cNvPr>
          <p:cNvSpPr txBox="1"/>
          <p:nvPr/>
        </p:nvSpPr>
        <p:spPr bwMode="auto">
          <a:xfrm>
            <a:off x="670434" y="5458649"/>
            <a:ext cx="4186705" cy="369332"/>
          </a:xfrm>
          <a:prstGeom prst="rect">
            <a:avLst/>
          </a:prstGeom>
        </p:spPr>
        <p:txBody>
          <a:bodyPr wrap="square" rtlCol="0">
            <a:spAutoFit/>
          </a:bodyPr>
          <a:lstStyle/>
          <a:p>
            <a:pPr algn="ctr"/>
            <a:r>
              <a:rPr lang="en-US" dirty="0"/>
              <a:t>55 &gt; 20, 55 &gt; 20, 55 &lt; 70</a:t>
            </a:r>
            <a:endParaRPr lang="ru-RU" dirty="0"/>
          </a:p>
        </p:txBody>
      </p:sp>
    </p:spTree>
    <p:extLst>
      <p:ext uri="{BB962C8B-B14F-4D97-AF65-F5344CB8AC3E}">
        <p14:creationId xmlns:p14="http://schemas.microsoft.com/office/powerpoint/2010/main" val="16690120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E42C3-FBD7-4603-B6AD-EF5F8F93E9DD}"/>
              </a:ext>
            </a:extLst>
          </p:cNvPr>
          <p:cNvSpPr>
            <a:spLocks noGrp="1"/>
          </p:cNvSpPr>
          <p:nvPr>
            <p:ph type="title"/>
          </p:nvPr>
        </p:nvSpPr>
        <p:spPr/>
        <p:txBody>
          <a:bodyPr/>
          <a:lstStyle/>
          <a:p>
            <a:r>
              <a:rPr lang="ru-RU" dirty="0"/>
              <a:t>Поиск в </a:t>
            </a:r>
            <a:r>
              <a:rPr lang="en-US" dirty="0"/>
              <a:t>B-Tree</a:t>
            </a:r>
            <a:endParaRPr lang="ru-RU" dirty="0"/>
          </a:p>
        </p:txBody>
      </p:sp>
      <p:sp>
        <p:nvSpPr>
          <p:cNvPr id="7" name="Текст 6">
            <a:extLst>
              <a:ext uri="{FF2B5EF4-FFF2-40B4-BE49-F238E27FC236}">
                <a16:creationId xmlns:a16="http://schemas.microsoft.com/office/drawing/2014/main" id="{5567E92D-7EC5-4092-B3A4-A3F272CD9140}"/>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C58FC235-80A8-475D-991E-796890A54B82}"/>
              </a:ext>
            </a:extLst>
          </p:cNvPr>
          <p:cNvSpPr/>
          <p:nvPr/>
        </p:nvSpPr>
        <p:spPr>
          <a:xfrm>
            <a:off x="1443133" y="149345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20| 40| 70</a:t>
            </a:r>
            <a:endParaRPr lang="ru-RU" dirty="0">
              <a:solidFill>
                <a:srgbClr val="002060"/>
              </a:solidFill>
            </a:endParaRPr>
          </a:p>
        </p:txBody>
      </p:sp>
      <p:sp>
        <p:nvSpPr>
          <p:cNvPr id="9" name="Овал 8">
            <a:extLst>
              <a:ext uri="{FF2B5EF4-FFF2-40B4-BE49-F238E27FC236}">
                <a16:creationId xmlns:a16="http://schemas.microsoft.com/office/drawing/2014/main" id="{6CB6D3DB-805B-4A31-8157-761B97AB2F50}"/>
              </a:ext>
            </a:extLst>
          </p:cNvPr>
          <p:cNvSpPr/>
          <p:nvPr/>
        </p:nvSpPr>
        <p:spPr>
          <a:xfrm>
            <a:off x="134471" y="3303460"/>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5" name="Прямая со стрелкой 14">
            <a:extLst>
              <a:ext uri="{FF2B5EF4-FFF2-40B4-BE49-F238E27FC236}">
                <a16:creationId xmlns:a16="http://schemas.microsoft.com/office/drawing/2014/main" id="{52A86F69-52C0-4B31-AD23-0D41B739C119}"/>
              </a:ext>
            </a:extLst>
          </p:cNvPr>
          <p:cNvCxnSpPr>
            <a:cxnSpLocks/>
            <a:stCxn id="8" idx="3"/>
            <a:endCxn id="9" idx="0"/>
          </p:cNvCxnSpPr>
          <p:nvPr/>
        </p:nvCxnSpPr>
        <p:spPr>
          <a:xfrm flipH="1">
            <a:off x="959316" y="2273946"/>
            <a:ext cx="766764" cy="10295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Овал 34">
            <a:extLst>
              <a:ext uri="{FF2B5EF4-FFF2-40B4-BE49-F238E27FC236}">
                <a16:creationId xmlns:a16="http://schemas.microsoft.com/office/drawing/2014/main" id="{138F28A9-6C84-4985-B4F4-41C2903C63AE}"/>
              </a:ext>
            </a:extLst>
          </p:cNvPr>
          <p:cNvSpPr/>
          <p:nvPr/>
        </p:nvSpPr>
        <p:spPr>
          <a:xfrm>
            <a:off x="1114098" y="4199063"/>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25 | 35</a:t>
            </a:r>
            <a:endParaRPr lang="ru-RU" dirty="0"/>
          </a:p>
        </p:txBody>
      </p:sp>
      <p:sp>
        <p:nvSpPr>
          <p:cNvPr id="36" name="Овал 35">
            <a:extLst>
              <a:ext uri="{FF2B5EF4-FFF2-40B4-BE49-F238E27FC236}">
                <a16:creationId xmlns:a16="http://schemas.microsoft.com/office/drawing/2014/main" id="{218C63FE-47CF-407A-A27A-7C71E65B3978}"/>
              </a:ext>
            </a:extLst>
          </p:cNvPr>
          <p:cNvSpPr/>
          <p:nvPr/>
        </p:nvSpPr>
        <p:spPr>
          <a:xfrm>
            <a:off x="2918569" y="4217859"/>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41 | </a:t>
            </a:r>
            <a:r>
              <a:rPr lang="en-US" dirty="0">
                <a:solidFill>
                  <a:srgbClr val="FF0000"/>
                </a:solidFill>
              </a:rPr>
              <a:t>55</a:t>
            </a:r>
            <a:endParaRPr lang="ru-RU" dirty="0">
              <a:solidFill>
                <a:srgbClr val="FF0000"/>
              </a:solidFill>
            </a:endParaRPr>
          </a:p>
        </p:txBody>
      </p:sp>
      <p:sp>
        <p:nvSpPr>
          <p:cNvPr id="37" name="Овал 36">
            <a:extLst>
              <a:ext uri="{FF2B5EF4-FFF2-40B4-BE49-F238E27FC236}">
                <a16:creationId xmlns:a16="http://schemas.microsoft.com/office/drawing/2014/main" id="{1655ED4E-8668-4072-88AE-614D9AA49693}"/>
              </a:ext>
            </a:extLst>
          </p:cNvPr>
          <p:cNvSpPr/>
          <p:nvPr/>
        </p:nvSpPr>
        <p:spPr>
          <a:xfrm>
            <a:off x="3680475" y="309111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75 | 95</a:t>
            </a:r>
            <a:endParaRPr lang="ru-RU" dirty="0"/>
          </a:p>
        </p:txBody>
      </p:sp>
      <p:cxnSp>
        <p:nvCxnSpPr>
          <p:cNvPr id="38" name="Прямая со стрелкой 37">
            <a:extLst>
              <a:ext uri="{FF2B5EF4-FFF2-40B4-BE49-F238E27FC236}">
                <a16:creationId xmlns:a16="http://schemas.microsoft.com/office/drawing/2014/main" id="{C6A9C876-8EE1-465B-8AD7-7B92C25C2F8B}"/>
              </a:ext>
            </a:extLst>
          </p:cNvPr>
          <p:cNvCxnSpPr>
            <a:cxnSpLocks/>
            <a:endCxn id="35" idx="0"/>
          </p:cNvCxnSpPr>
          <p:nvPr/>
        </p:nvCxnSpPr>
        <p:spPr>
          <a:xfrm flipH="1">
            <a:off x="1938943" y="2407857"/>
            <a:ext cx="228322" cy="179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a:extLst>
              <a:ext uri="{FF2B5EF4-FFF2-40B4-BE49-F238E27FC236}">
                <a16:creationId xmlns:a16="http://schemas.microsoft.com/office/drawing/2014/main" id="{A5AC5EB6-A1C1-4A6D-A7C6-21D91BB1F2FA}"/>
              </a:ext>
            </a:extLst>
          </p:cNvPr>
          <p:cNvCxnSpPr>
            <a:cxnSpLocks/>
            <a:endCxn id="36" idx="0"/>
          </p:cNvCxnSpPr>
          <p:nvPr/>
        </p:nvCxnSpPr>
        <p:spPr>
          <a:xfrm>
            <a:off x="2763787" y="2398459"/>
            <a:ext cx="979627" cy="181940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a:extLst>
              <a:ext uri="{FF2B5EF4-FFF2-40B4-BE49-F238E27FC236}">
                <a16:creationId xmlns:a16="http://schemas.microsoft.com/office/drawing/2014/main" id="{EFC676BA-FD7B-40CF-A014-824C96F8E590}"/>
              </a:ext>
            </a:extLst>
          </p:cNvPr>
          <p:cNvCxnSpPr>
            <a:cxnSpLocks/>
            <a:stCxn id="8" idx="5"/>
            <a:endCxn id="37" idx="0"/>
          </p:cNvCxnSpPr>
          <p:nvPr/>
        </p:nvCxnSpPr>
        <p:spPr>
          <a:xfrm>
            <a:off x="3092266" y="2273946"/>
            <a:ext cx="1413054" cy="817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Прямоугольник: скругленные углы 47">
            <a:extLst>
              <a:ext uri="{FF2B5EF4-FFF2-40B4-BE49-F238E27FC236}">
                <a16:creationId xmlns:a16="http://schemas.microsoft.com/office/drawing/2014/main" id="{FFBF24ED-91B8-490C-8094-CAAF0CBB3FE1}"/>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сравниваем внутри корня;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выбираем нужный диапазон;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002060"/>
                </a:solidFill>
              </a:rPr>
              <a:t>переходим к соответствующему потомку; </a:t>
            </a:r>
            <a:endParaRPr lang="en-US" altLang="ru-RU" sz="2400" dirty="0">
              <a:solidFill>
                <a:srgbClr val="002060"/>
              </a:solidFill>
            </a:endParaRPr>
          </a:p>
          <a:p>
            <a:pPr marL="342900" lvl="0" indent="-342900" rtl="0" eaLnBrk="0" fontAlgn="base" hangingPunct="0">
              <a:spcBef>
                <a:spcPct val="0"/>
              </a:spcBef>
              <a:spcAft>
                <a:spcPct val="0"/>
              </a:spcAft>
              <a:buFont typeface="+mj-lt"/>
              <a:buAutoNum type="arabicPeriod"/>
            </a:pPr>
            <a:r>
              <a:rPr lang="ru-RU" altLang="ru-RU" sz="2400" dirty="0">
                <a:solidFill>
                  <a:srgbClr val="FF0000"/>
                </a:solidFill>
              </a:rPr>
              <a:t>находим ключ в листе.</a:t>
            </a:r>
            <a:endParaRPr lang="ru-RU" sz="2400" dirty="0">
              <a:solidFill>
                <a:srgbClr val="FF0000"/>
              </a:solidFill>
            </a:endParaRPr>
          </a:p>
        </p:txBody>
      </p:sp>
      <p:sp>
        <p:nvSpPr>
          <p:cNvPr id="49" name="Прямоугольник: скругленные углы 48">
            <a:extLst>
              <a:ext uri="{FF2B5EF4-FFF2-40B4-BE49-F238E27FC236}">
                <a16:creationId xmlns:a16="http://schemas.microsoft.com/office/drawing/2014/main" id="{85772A42-ADE7-4C06-B6D6-DE19C7DB2DB6}"/>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Алгоритм поиска в </a:t>
            </a:r>
            <a:r>
              <a:rPr lang="en-US" sz="2400" dirty="0"/>
              <a:t>B-Tree</a:t>
            </a:r>
            <a:endParaRPr lang="ru-RU" sz="2400" dirty="0"/>
          </a:p>
        </p:txBody>
      </p:sp>
      <p:sp>
        <p:nvSpPr>
          <p:cNvPr id="3" name="TextBox 2">
            <a:extLst>
              <a:ext uri="{FF2B5EF4-FFF2-40B4-BE49-F238E27FC236}">
                <a16:creationId xmlns:a16="http://schemas.microsoft.com/office/drawing/2014/main" id="{97ED4285-8E6C-4B46-870C-2D77B8396ECB}"/>
              </a:ext>
            </a:extLst>
          </p:cNvPr>
          <p:cNvSpPr txBox="1"/>
          <p:nvPr/>
        </p:nvSpPr>
        <p:spPr bwMode="auto">
          <a:xfrm>
            <a:off x="4047565" y="1214685"/>
            <a:ext cx="1716650" cy="369332"/>
          </a:xfrm>
          <a:prstGeom prst="rect">
            <a:avLst/>
          </a:prstGeom>
        </p:spPr>
        <p:txBody>
          <a:bodyPr wrap="square" rtlCol="0">
            <a:spAutoFit/>
          </a:bodyPr>
          <a:lstStyle/>
          <a:p>
            <a:r>
              <a:rPr lang="ru-RU" dirty="0"/>
              <a:t>Ищем</a:t>
            </a:r>
            <a:r>
              <a:rPr lang="en-US" dirty="0"/>
              <a:t>: 55</a:t>
            </a:r>
            <a:endParaRPr lang="ru-RU" dirty="0"/>
          </a:p>
        </p:txBody>
      </p:sp>
      <p:sp>
        <p:nvSpPr>
          <p:cNvPr id="4" name="TextBox 3">
            <a:extLst>
              <a:ext uri="{FF2B5EF4-FFF2-40B4-BE49-F238E27FC236}">
                <a16:creationId xmlns:a16="http://schemas.microsoft.com/office/drawing/2014/main" id="{72D78964-84A2-4C5D-A144-CE95C8754504}"/>
              </a:ext>
            </a:extLst>
          </p:cNvPr>
          <p:cNvSpPr txBox="1"/>
          <p:nvPr/>
        </p:nvSpPr>
        <p:spPr bwMode="auto">
          <a:xfrm>
            <a:off x="670434" y="5458649"/>
            <a:ext cx="4186705" cy="369332"/>
          </a:xfrm>
          <a:prstGeom prst="rect">
            <a:avLst/>
          </a:prstGeom>
        </p:spPr>
        <p:txBody>
          <a:bodyPr wrap="square" rtlCol="0">
            <a:spAutoFit/>
          </a:bodyPr>
          <a:lstStyle/>
          <a:p>
            <a:pPr algn="ctr"/>
            <a:r>
              <a:rPr lang="en-US" dirty="0"/>
              <a:t>55 &gt; 20, 55 &gt; 20, 55 &lt; 70</a:t>
            </a:r>
            <a:endParaRPr lang="ru-RU" dirty="0"/>
          </a:p>
        </p:txBody>
      </p:sp>
    </p:spTree>
    <p:extLst>
      <p:ext uri="{BB962C8B-B14F-4D97-AF65-F5344CB8AC3E}">
        <p14:creationId xmlns:p14="http://schemas.microsoft.com/office/powerpoint/2010/main" val="2619579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155664" y="3548315"/>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r>
              <a:rPr lang="en-US" dirty="0"/>
              <a:t> | </a:t>
            </a:r>
            <a:r>
              <a:rPr lang="ru-RU" dirty="0"/>
              <a:t>70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stCxn id="8" idx="5"/>
            <a:endCxn id="11" idx="0"/>
          </p:cNvCxnSpPr>
          <p:nvPr/>
        </p:nvCxnSpPr>
        <p:spPr>
          <a:xfrm>
            <a:off x="3638925" y="2518802"/>
            <a:ext cx="341584" cy="102951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6" name="TextBox 15">
            <a:extLst>
              <a:ext uri="{FF2B5EF4-FFF2-40B4-BE49-F238E27FC236}">
                <a16:creationId xmlns:a16="http://schemas.microsoft.com/office/drawing/2014/main" id="{49856BB3-2F65-46D4-BF88-FA6E614E66F8}"/>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Tree>
    <p:extLst>
      <p:ext uri="{BB962C8B-B14F-4D97-AF65-F5344CB8AC3E}">
        <p14:creationId xmlns:p14="http://schemas.microsoft.com/office/powerpoint/2010/main" val="2274660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155664" y="3548315"/>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r>
              <a:rPr lang="en-US" dirty="0"/>
              <a:t> | </a:t>
            </a:r>
            <a:r>
              <a:rPr lang="ru-RU" dirty="0"/>
              <a:t>70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stCxn id="8" idx="5"/>
            <a:endCxn id="11" idx="0"/>
          </p:cNvCxnSpPr>
          <p:nvPr/>
        </p:nvCxnSpPr>
        <p:spPr>
          <a:xfrm>
            <a:off x="3638925" y="2518802"/>
            <a:ext cx="341584" cy="102951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dirty="0"/>
              <a:t>Найти лист, куда должен попасть новый ключ.</a:t>
            </a: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
        <p:nvSpPr>
          <p:cNvPr id="13" name="TextBox 12">
            <a:extLst>
              <a:ext uri="{FF2B5EF4-FFF2-40B4-BE49-F238E27FC236}">
                <a16:creationId xmlns:a16="http://schemas.microsoft.com/office/drawing/2014/main" id="{F553B8EC-344F-43E3-ADBB-FAA4D2D96195}"/>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
        <p:nvSpPr>
          <p:cNvPr id="3" name="Прямоугольник: скругленные углы 2">
            <a:extLst>
              <a:ext uri="{FF2B5EF4-FFF2-40B4-BE49-F238E27FC236}">
                <a16:creationId xmlns:a16="http://schemas.microsoft.com/office/drawing/2014/main" id="{940F0DB1-C5AF-4BB8-8192-B7D7C8BB79D2}"/>
              </a:ext>
            </a:extLst>
          </p:cNvPr>
          <p:cNvSpPr/>
          <p:nvPr/>
        </p:nvSpPr>
        <p:spPr>
          <a:xfrm>
            <a:off x="2010172" y="4822143"/>
            <a:ext cx="1990716" cy="10085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60 </a:t>
            </a:r>
            <a:r>
              <a:rPr lang="en-US" dirty="0"/>
              <a:t>&lt; | &gt; 40</a:t>
            </a:r>
            <a:r>
              <a:rPr lang="ru-RU" dirty="0"/>
              <a:t>?</a:t>
            </a:r>
          </a:p>
        </p:txBody>
      </p:sp>
    </p:spTree>
    <p:extLst>
      <p:ext uri="{BB962C8B-B14F-4D97-AF65-F5344CB8AC3E}">
        <p14:creationId xmlns:p14="http://schemas.microsoft.com/office/powerpoint/2010/main" val="33249496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155664" y="3548315"/>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r>
              <a:rPr lang="en-US" dirty="0"/>
              <a:t> | </a:t>
            </a:r>
            <a:r>
              <a:rPr lang="ru-RU" dirty="0"/>
              <a:t>70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stCxn id="8" idx="5"/>
            <a:endCxn id="11" idx="0"/>
          </p:cNvCxnSpPr>
          <p:nvPr/>
        </p:nvCxnSpPr>
        <p:spPr>
          <a:xfrm>
            <a:off x="3638925" y="2518802"/>
            <a:ext cx="341584" cy="102951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dirty="0"/>
              <a:t>Найти лист, куда должен попасть новый ключ.</a:t>
            </a:r>
          </a:p>
          <a:p>
            <a:pPr marL="342900" lvl="0" indent="-342900" rtl="0" eaLnBrk="0" fontAlgn="base" hangingPunct="0">
              <a:spcBef>
                <a:spcPct val="0"/>
              </a:spcBef>
              <a:spcAft>
                <a:spcPct val="0"/>
              </a:spcAft>
              <a:buFont typeface="+mj-lt"/>
              <a:buAutoNum type="arabicPeriod"/>
            </a:pPr>
            <a:r>
              <a:rPr lang="ru-RU" dirty="0"/>
              <a:t>Вставить ключ в отсортированном порядке.</a:t>
            </a: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
        <p:nvSpPr>
          <p:cNvPr id="13" name="TextBox 12">
            <a:extLst>
              <a:ext uri="{FF2B5EF4-FFF2-40B4-BE49-F238E27FC236}">
                <a16:creationId xmlns:a16="http://schemas.microsoft.com/office/drawing/2014/main" id="{BA34AD7E-2182-4AFA-88C5-3E0C12FA4390}"/>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Tree>
    <p:extLst>
      <p:ext uri="{BB962C8B-B14F-4D97-AF65-F5344CB8AC3E}">
        <p14:creationId xmlns:p14="http://schemas.microsoft.com/office/powerpoint/2010/main" val="10942364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155664" y="3548315"/>
            <a:ext cx="2209712"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r>
              <a:rPr lang="en-US" dirty="0"/>
              <a:t> | </a:t>
            </a:r>
            <a:r>
              <a:rPr lang="en-US" dirty="0">
                <a:solidFill>
                  <a:srgbClr val="FF0000"/>
                </a:solidFill>
              </a:rPr>
              <a:t>60</a:t>
            </a:r>
            <a:r>
              <a:rPr lang="en-US" dirty="0"/>
              <a:t> | </a:t>
            </a:r>
            <a:r>
              <a:rPr lang="ru-RU" dirty="0"/>
              <a:t>70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stCxn id="8" idx="5"/>
            <a:endCxn id="11" idx="0"/>
          </p:cNvCxnSpPr>
          <p:nvPr/>
        </p:nvCxnSpPr>
        <p:spPr>
          <a:xfrm>
            <a:off x="3638925" y="2518802"/>
            <a:ext cx="621595" cy="102951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dirty="0"/>
              <a:t>Найти лист, куда должен попасть новый ключ.</a:t>
            </a:r>
          </a:p>
          <a:p>
            <a:pPr marL="342900" lvl="0" indent="-342900" rtl="0" eaLnBrk="0" fontAlgn="base" hangingPunct="0">
              <a:spcBef>
                <a:spcPct val="0"/>
              </a:spcBef>
              <a:spcAft>
                <a:spcPct val="0"/>
              </a:spcAft>
              <a:buFont typeface="+mj-lt"/>
              <a:buAutoNum type="arabicPeriod"/>
            </a:pPr>
            <a:r>
              <a:rPr lang="ru-RU" dirty="0"/>
              <a:t>Вставить ключ в отсортированном порядке.</a:t>
            </a:r>
            <a:endParaRPr lang="en-US" dirty="0"/>
          </a:p>
          <a:p>
            <a:pPr marL="342900" lvl="0" indent="-342900" rtl="0" eaLnBrk="0" fontAlgn="base" hangingPunct="0">
              <a:spcBef>
                <a:spcPct val="0"/>
              </a:spcBef>
              <a:spcAft>
                <a:spcPct val="0"/>
              </a:spcAft>
              <a:buFont typeface="+mj-lt"/>
              <a:buAutoNum type="arabicPeriod"/>
            </a:pPr>
            <a:r>
              <a:rPr lang="ru-RU" dirty="0"/>
              <a:t>Если узел переполнен — разделить его на два.</a:t>
            </a:r>
            <a:endParaRPr lang="en-US" dirty="0"/>
          </a:p>
          <a:p>
            <a:pPr marL="342900" lvl="0" indent="-342900" rtl="0" eaLnBrk="0" fontAlgn="base" hangingPunct="0">
              <a:spcBef>
                <a:spcPct val="0"/>
              </a:spcBef>
              <a:spcAft>
                <a:spcPct val="0"/>
              </a:spcAft>
              <a:buFont typeface="+mj-lt"/>
              <a:buAutoNum type="arabicPeriod"/>
            </a:pPr>
            <a:r>
              <a:rPr lang="ru-RU" dirty="0"/>
              <a:t>Средний ключ поднять в родительский узел.</a:t>
            </a:r>
          </a:p>
          <a:p>
            <a:pPr marL="342900" lvl="0" indent="-342900" rtl="0" eaLnBrk="0" fontAlgn="base" hangingPunct="0">
              <a:spcBef>
                <a:spcPct val="0"/>
              </a:spcBef>
              <a:spcAft>
                <a:spcPct val="0"/>
              </a:spcAft>
              <a:buFont typeface="+mj-lt"/>
              <a:buAutoNum type="arabicPeriod"/>
            </a:pPr>
            <a:r>
              <a:rPr lang="ru-RU" dirty="0"/>
              <a:t>Если переполнился родитель — повторить расщепление выше.</a:t>
            </a: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
        <p:nvSpPr>
          <p:cNvPr id="13" name="TextBox 12">
            <a:extLst>
              <a:ext uri="{FF2B5EF4-FFF2-40B4-BE49-F238E27FC236}">
                <a16:creationId xmlns:a16="http://schemas.microsoft.com/office/drawing/2014/main" id="{BA34AD7E-2182-4AFA-88C5-3E0C12FA4390}"/>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Tree>
    <p:extLst>
      <p:ext uri="{BB962C8B-B14F-4D97-AF65-F5344CB8AC3E}">
        <p14:creationId xmlns:p14="http://schemas.microsoft.com/office/powerpoint/2010/main" val="13468491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 | 60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083493" y="3548315"/>
            <a:ext cx="986030" cy="9144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endCxn id="11" idx="0"/>
          </p:cNvCxnSpPr>
          <p:nvPr/>
        </p:nvCxnSpPr>
        <p:spPr>
          <a:xfrm>
            <a:off x="3147778" y="2652713"/>
            <a:ext cx="428730" cy="89560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dirty="0"/>
              <a:t>Найти лист, куда должен попасть новый ключ.</a:t>
            </a:r>
          </a:p>
          <a:p>
            <a:pPr marL="342900" lvl="0" indent="-342900" rtl="0" eaLnBrk="0" fontAlgn="base" hangingPunct="0">
              <a:spcBef>
                <a:spcPct val="0"/>
              </a:spcBef>
              <a:spcAft>
                <a:spcPct val="0"/>
              </a:spcAft>
              <a:buFont typeface="+mj-lt"/>
              <a:buAutoNum type="arabicPeriod"/>
            </a:pPr>
            <a:r>
              <a:rPr lang="ru-RU" dirty="0"/>
              <a:t>Вставить ключ в отсортированном порядке.</a:t>
            </a:r>
            <a:endParaRPr lang="en-US" dirty="0"/>
          </a:p>
          <a:p>
            <a:pPr marL="342900" lvl="0" indent="-342900" rtl="0" eaLnBrk="0" fontAlgn="base" hangingPunct="0">
              <a:spcBef>
                <a:spcPct val="0"/>
              </a:spcBef>
              <a:spcAft>
                <a:spcPct val="0"/>
              </a:spcAft>
              <a:buFont typeface="+mj-lt"/>
              <a:buAutoNum type="arabicPeriod"/>
            </a:pPr>
            <a:r>
              <a:rPr lang="ru-RU" dirty="0"/>
              <a:t>Если узел переполнен — разделить его на два.</a:t>
            </a:r>
            <a:endParaRPr lang="en-US" dirty="0"/>
          </a:p>
          <a:p>
            <a:pPr marL="342900" lvl="0" indent="-342900" rtl="0" eaLnBrk="0" fontAlgn="base" hangingPunct="0">
              <a:spcBef>
                <a:spcPct val="0"/>
              </a:spcBef>
              <a:spcAft>
                <a:spcPct val="0"/>
              </a:spcAft>
              <a:buFont typeface="+mj-lt"/>
              <a:buAutoNum type="arabicPeriod"/>
            </a:pPr>
            <a:r>
              <a:rPr lang="ru-RU" dirty="0"/>
              <a:t>Средний ключ поднять в родительский узел.</a:t>
            </a:r>
          </a:p>
          <a:p>
            <a:pPr marL="342900" lvl="0" indent="-342900" rtl="0" eaLnBrk="0" fontAlgn="base" hangingPunct="0">
              <a:spcBef>
                <a:spcPct val="0"/>
              </a:spcBef>
              <a:spcAft>
                <a:spcPct val="0"/>
              </a:spcAft>
              <a:buFont typeface="+mj-lt"/>
              <a:buAutoNum type="arabicPeriod"/>
            </a:pPr>
            <a:r>
              <a:rPr lang="ru-RU" dirty="0"/>
              <a:t>Если переполнился родитель — повторить расщепление выше.</a:t>
            </a: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
        <p:nvSpPr>
          <p:cNvPr id="13" name="TextBox 12">
            <a:extLst>
              <a:ext uri="{FF2B5EF4-FFF2-40B4-BE49-F238E27FC236}">
                <a16:creationId xmlns:a16="http://schemas.microsoft.com/office/drawing/2014/main" id="{BA34AD7E-2182-4AFA-88C5-3E0C12FA4390}"/>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
        <p:nvSpPr>
          <p:cNvPr id="14" name="Овал 13">
            <a:extLst>
              <a:ext uri="{FF2B5EF4-FFF2-40B4-BE49-F238E27FC236}">
                <a16:creationId xmlns:a16="http://schemas.microsoft.com/office/drawing/2014/main" id="{C402D65C-B093-433F-B96B-D821CE9C24B5}"/>
              </a:ext>
            </a:extLst>
          </p:cNvPr>
          <p:cNvSpPr/>
          <p:nvPr/>
        </p:nvSpPr>
        <p:spPr>
          <a:xfrm>
            <a:off x="4277587" y="3548314"/>
            <a:ext cx="936813"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70</a:t>
            </a:r>
            <a:endParaRPr lang="ru-RU" dirty="0"/>
          </a:p>
        </p:txBody>
      </p:sp>
      <p:cxnSp>
        <p:nvCxnSpPr>
          <p:cNvPr id="16" name="Прямая со стрелкой 15">
            <a:extLst>
              <a:ext uri="{FF2B5EF4-FFF2-40B4-BE49-F238E27FC236}">
                <a16:creationId xmlns:a16="http://schemas.microsoft.com/office/drawing/2014/main" id="{AE903F97-CF26-4917-A086-1181D8F14C43}"/>
              </a:ext>
            </a:extLst>
          </p:cNvPr>
          <p:cNvCxnSpPr>
            <a:cxnSpLocks/>
            <a:stCxn id="8" idx="5"/>
            <a:endCxn id="14" idx="0"/>
          </p:cNvCxnSpPr>
          <p:nvPr/>
        </p:nvCxnSpPr>
        <p:spPr>
          <a:xfrm>
            <a:off x="3638925" y="2518802"/>
            <a:ext cx="1107069" cy="102951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4081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8D46C-248C-4E63-8E6C-A78E6515B4DA}"/>
              </a:ext>
            </a:extLst>
          </p:cNvPr>
          <p:cNvSpPr>
            <a:spLocks noGrp="1"/>
          </p:cNvSpPr>
          <p:nvPr>
            <p:ph type="title"/>
          </p:nvPr>
        </p:nvSpPr>
        <p:spPr/>
        <p:txBody>
          <a:bodyPr/>
          <a:lstStyle/>
          <a:p>
            <a:r>
              <a:rPr lang="ru-RU" dirty="0"/>
              <a:t>Вставка и расщепление узла</a:t>
            </a:r>
          </a:p>
        </p:txBody>
      </p:sp>
      <p:sp>
        <p:nvSpPr>
          <p:cNvPr id="7" name="Текст 6">
            <a:extLst>
              <a:ext uri="{FF2B5EF4-FFF2-40B4-BE49-F238E27FC236}">
                <a16:creationId xmlns:a16="http://schemas.microsoft.com/office/drawing/2014/main" id="{158EB3CF-8154-47CD-8A6E-D40A5F27E4EB}"/>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D714E5F3-4FF4-408E-89A3-997A6D73E273}"/>
              </a:ext>
            </a:extLst>
          </p:cNvPr>
          <p:cNvSpPr/>
          <p:nvPr/>
        </p:nvSpPr>
        <p:spPr>
          <a:xfrm>
            <a:off x="1989792" y="1738314"/>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2060"/>
                </a:solidFill>
              </a:rPr>
              <a:t>40 | 60</a:t>
            </a:r>
            <a:endParaRPr lang="ru-RU" dirty="0">
              <a:solidFill>
                <a:srgbClr val="002060"/>
              </a:solidFill>
            </a:endParaRPr>
          </a:p>
        </p:txBody>
      </p:sp>
      <p:sp>
        <p:nvSpPr>
          <p:cNvPr id="9" name="Овал 8">
            <a:extLst>
              <a:ext uri="{FF2B5EF4-FFF2-40B4-BE49-F238E27FC236}">
                <a16:creationId xmlns:a16="http://schemas.microsoft.com/office/drawing/2014/main" id="{0DB8DDC0-633F-4301-B183-0A5483063B31}"/>
              </a:ext>
            </a:extLst>
          </p:cNvPr>
          <p:cNvSpPr/>
          <p:nvPr/>
        </p:nvSpPr>
        <p:spPr>
          <a:xfrm>
            <a:off x="922761" y="3548314"/>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20</a:t>
            </a:r>
            <a:r>
              <a:rPr lang="en-US" dirty="0"/>
              <a:t> | </a:t>
            </a:r>
            <a:r>
              <a:rPr lang="ru-RU" dirty="0"/>
              <a:t>30</a:t>
            </a:r>
          </a:p>
        </p:txBody>
      </p:sp>
      <p:cxnSp>
        <p:nvCxnSpPr>
          <p:cNvPr id="10" name="Прямая со стрелкой 9">
            <a:extLst>
              <a:ext uri="{FF2B5EF4-FFF2-40B4-BE49-F238E27FC236}">
                <a16:creationId xmlns:a16="http://schemas.microsoft.com/office/drawing/2014/main" id="{FD635596-A6EC-4ADD-9E82-45CA6FBFBCE1}"/>
              </a:ext>
            </a:extLst>
          </p:cNvPr>
          <p:cNvCxnSpPr>
            <a:cxnSpLocks/>
            <a:stCxn id="8" idx="3"/>
            <a:endCxn id="9" idx="0"/>
          </p:cNvCxnSpPr>
          <p:nvPr/>
        </p:nvCxnSpPr>
        <p:spPr>
          <a:xfrm flipH="1">
            <a:off x="1747606" y="2518802"/>
            <a:ext cx="525133" cy="102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0C22E65-E8A4-4C6C-8B14-5434B595F303}"/>
              </a:ext>
            </a:extLst>
          </p:cNvPr>
          <p:cNvSpPr/>
          <p:nvPr/>
        </p:nvSpPr>
        <p:spPr>
          <a:xfrm>
            <a:off x="3083493" y="3548315"/>
            <a:ext cx="986030" cy="9144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t>50</a:t>
            </a:r>
          </a:p>
        </p:txBody>
      </p:sp>
      <p:cxnSp>
        <p:nvCxnSpPr>
          <p:cNvPr id="12" name="Прямая со стрелкой 11">
            <a:extLst>
              <a:ext uri="{FF2B5EF4-FFF2-40B4-BE49-F238E27FC236}">
                <a16:creationId xmlns:a16="http://schemas.microsoft.com/office/drawing/2014/main" id="{3390B757-6697-4375-9CBD-69589754AA15}"/>
              </a:ext>
            </a:extLst>
          </p:cNvPr>
          <p:cNvCxnSpPr>
            <a:cxnSpLocks/>
            <a:endCxn id="11" idx="0"/>
          </p:cNvCxnSpPr>
          <p:nvPr/>
        </p:nvCxnSpPr>
        <p:spPr>
          <a:xfrm>
            <a:off x="3147778" y="2652713"/>
            <a:ext cx="428730" cy="89560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7C08A86-92B8-404A-8ADD-2215516747C5}"/>
              </a:ext>
            </a:extLst>
          </p:cNvPr>
          <p:cNvSpPr txBox="1"/>
          <p:nvPr/>
        </p:nvSpPr>
        <p:spPr bwMode="auto">
          <a:xfrm>
            <a:off x="3980508" y="1236155"/>
            <a:ext cx="1820022" cy="646331"/>
          </a:xfrm>
          <a:prstGeom prst="rect">
            <a:avLst/>
          </a:prstGeom>
        </p:spPr>
        <p:txBody>
          <a:bodyPr wrap="square" rtlCol="0">
            <a:spAutoFit/>
          </a:bodyPr>
          <a:lstStyle/>
          <a:p>
            <a:r>
              <a:rPr lang="ru-RU" dirty="0"/>
              <a:t>Нужно вставить</a:t>
            </a:r>
            <a:r>
              <a:rPr lang="en-US" dirty="0"/>
              <a:t>:</a:t>
            </a:r>
            <a:r>
              <a:rPr lang="ru-RU" dirty="0"/>
              <a:t> 60</a:t>
            </a:r>
          </a:p>
        </p:txBody>
      </p:sp>
      <p:sp>
        <p:nvSpPr>
          <p:cNvPr id="17" name="Прямоугольник: скругленные углы 16">
            <a:extLst>
              <a:ext uri="{FF2B5EF4-FFF2-40B4-BE49-F238E27FC236}">
                <a16:creationId xmlns:a16="http://schemas.microsoft.com/office/drawing/2014/main" id="{0BC4EC36-8E8C-4023-9BF7-46A18E34D2A5}"/>
              </a:ext>
            </a:extLst>
          </p:cNvPr>
          <p:cNvSpPr/>
          <p:nvPr/>
        </p:nvSpPr>
        <p:spPr>
          <a:xfrm>
            <a:off x="6589059" y="1882447"/>
            <a:ext cx="5120341" cy="3967023"/>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342900" lvl="0" indent="-342900" rtl="0" eaLnBrk="0" fontAlgn="base" hangingPunct="0">
              <a:spcBef>
                <a:spcPct val="0"/>
              </a:spcBef>
              <a:spcAft>
                <a:spcPct val="0"/>
              </a:spcAft>
              <a:buFont typeface="+mj-lt"/>
              <a:buAutoNum type="arabicPeriod"/>
            </a:pPr>
            <a:r>
              <a:rPr lang="ru-RU" dirty="0"/>
              <a:t>Найти лист, куда должен попасть новый ключ.</a:t>
            </a:r>
          </a:p>
          <a:p>
            <a:pPr marL="342900" lvl="0" indent="-342900" rtl="0" eaLnBrk="0" fontAlgn="base" hangingPunct="0">
              <a:spcBef>
                <a:spcPct val="0"/>
              </a:spcBef>
              <a:spcAft>
                <a:spcPct val="0"/>
              </a:spcAft>
              <a:buFont typeface="+mj-lt"/>
              <a:buAutoNum type="arabicPeriod"/>
            </a:pPr>
            <a:r>
              <a:rPr lang="ru-RU" dirty="0"/>
              <a:t>Вставить ключ в отсортированном порядке.</a:t>
            </a:r>
            <a:endParaRPr lang="en-US" dirty="0"/>
          </a:p>
          <a:p>
            <a:pPr marL="342900" lvl="0" indent="-342900" rtl="0" eaLnBrk="0" fontAlgn="base" hangingPunct="0">
              <a:spcBef>
                <a:spcPct val="0"/>
              </a:spcBef>
              <a:spcAft>
                <a:spcPct val="0"/>
              </a:spcAft>
              <a:buFont typeface="+mj-lt"/>
              <a:buAutoNum type="arabicPeriod"/>
            </a:pPr>
            <a:r>
              <a:rPr lang="ru-RU" dirty="0"/>
              <a:t>Если узел переполнен — разделить его на два.</a:t>
            </a:r>
            <a:endParaRPr lang="en-US" dirty="0"/>
          </a:p>
          <a:p>
            <a:pPr marL="342900" lvl="0" indent="-342900" rtl="0" eaLnBrk="0" fontAlgn="base" hangingPunct="0">
              <a:spcBef>
                <a:spcPct val="0"/>
              </a:spcBef>
              <a:spcAft>
                <a:spcPct val="0"/>
              </a:spcAft>
              <a:buFont typeface="+mj-lt"/>
              <a:buAutoNum type="arabicPeriod"/>
            </a:pPr>
            <a:r>
              <a:rPr lang="ru-RU" dirty="0"/>
              <a:t>Средний ключ поднять в родительский узел.</a:t>
            </a:r>
          </a:p>
          <a:p>
            <a:pPr marL="342900" lvl="0" indent="-342900" rtl="0" eaLnBrk="0" fontAlgn="base" hangingPunct="0">
              <a:spcBef>
                <a:spcPct val="0"/>
              </a:spcBef>
              <a:spcAft>
                <a:spcPct val="0"/>
              </a:spcAft>
              <a:buFont typeface="+mj-lt"/>
              <a:buAutoNum type="arabicPeriod"/>
            </a:pPr>
            <a:r>
              <a:rPr lang="ru-RU" dirty="0"/>
              <a:t>Если переполнился родитель — повторить расщепление выше.</a:t>
            </a:r>
            <a:endParaRPr lang="ru-RU" dirty="0">
              <a:solidFill>
                <a:srgbClr val="FF0000"/>
              </a:solidFill>
            </a:endParaRPr>
          </a:p>
        </p:txBody>
      </p:sp>
      <p:sp>
        <p:nvSpPr>
          <p:cNvPr id="18" name="Прямоугольник: скругленные углы 17">
            <a:extLst>
              <a:ext uri="{FF2B5EF4-FFF2-40B4-BE49-F238E27FC236}">
                <a16:creationId xmlns:a16="http://schemas.microsoft.com/office/drawing/2014/main" id="{E75E0B51-7C09-4271-9687-FECA9E931C00}"/>
              </a:ext>
            </a:extLst>
          </p:cNvPr>
          <p:cNvSpPr/>
          <p:nvPr/>
        </p:nvSpPr>
        <p:spPr>
          <a:xfrm>
            <a:off x="6589059" y="1312219"/>
            <a:ext cx="5120341"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Алгоритм вставки и расщепления</a:t>
            </a:r>
          </a:p>
        </p:txBody>
      </p:sp>
      <p:sp>
        <p:nvSpPr>
          <p:cNvPr id="13" name="TextBox 12">
            <a:extLst>
              <a:ext uri="{FF2B5EF4-FFF2-40B4-BE49-F238E27FC236}">
                <a16:creationId xmlns:a16="http://schemas.microsoft.com/office/drawing/2014/main" id="{BA34AD7E-2182-4AFA-88C5-3E0C12FA4390}"/>
              </a:ext>
            </a:extLst>
          </p:cNvPr>
          <p:cNvSpPr txBox="1"/>
          <p:nvPr/>
        </p:nvSpPr>
        <p:spPr bwMode="auto">
          <a:xfrm>
            <a:off x="3980508" y="1987585"/>
            <a:ext cx="1932080" cy="646331"/>
          </a:xfrm>
          <a:prstGeom prst="rect">
            <a:avLst/>
          </a:prstGeom>
        </p:spPr>
        <p:txBody>
          <a:bodyPr wrap="square" rtlCol="0">
            <a:spAutoFit/>
          </a:bodyPr>
          <a:lstStyle/>
          <a:p>
            <a:r>
              <a:rPr lang="ru-RU" dirty="0"/>
              <a:t>Ограничение</a:t>
            </a:r>
            <a:r>
              <a:rPr lang="en-US" dirty="0"/>
              <a:t>:</a:t>
            </a:r>
            <a:r>
              <a:rPr lang="ru-RU" dirty="0"/>
              <a:t>2 узла</a:t>
            </a:r>
          </a:p>
        </p:txBody>
      </p:sp>
      <p:sp>
        <p:nvSpPr>
          <p:cNvPr id="14" name="Овал 13">
            <a:extLst>
              <a:ext uri="{FF2B5EF4-FFF2-40B4-BE49-F238E27FC236}">
                <a16:creationId xmlns:a16="http://schemas.microsoft.com/office/drawing/2014/main" id="{C402D65C-B093-433F-B96B-D821CE9C24B5}"/>
              </a:ext>
            </a:extLst>
          </p:cNvPr>
          <p:cNvSpPr/>
          <p:nvPr/>
        </p:nvSpPr>
        <p:spPr>
          <a:xfrm>
            <a:off x="4277587" y="3548314"/>
            <a:ext cx="936813"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70</a:t>
            </a:r>
            <a:endParaRPr lang="ru-RU" dirty="0"/>
          </a:p>
        </p:txBody>
      </p:sp>
      <p:cxnSp>
        <p:nvCxnSpPr>
          <p:cNvPr id="16" name="Прямая со стрелкой 15">
            <a:extLst>
              <a:ext uri="{FF2B5EF4-FFF2-40B4-BE49-F238E27FC236}">
                <a16:creationId xmlns:a16="http://schemas.microsoft.com/office/drawing/2014/main" id="{AE903F97-CF26-4917-A086-1181D8F14C43}"/>
              </a:ext>
            </a:extLst>
          </p:cNvPr>
          <p:cNvCxnSpPr>
            <a:cxnSpLocks/>
            <a:stCxn id="8" idx="5"/>
            <a:endCxn id="14" idx="0"/>
          </p:cNvCxnSpPr>
          <p:nvPr/>
        </p:nvCxnSpPr>
        <p:spPr>
          <a:xfrm>
            <a:off x="3638925" y="2518802"/>
            <a:ext cx="1107069" cy="102951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 name="Прямоугольник: скругленные углы 2">
            <a:extLst>
              <a:ext uri="{FF2B5EF4-FFF2-40B4-BE49-F238E27FC236}">
                <a16:creationId xmlns:a16="http://schemas.microsoft.com/office/drawing/2014/main" id="{3AF8D3DA-ABB6-463A-BA96-3DD1856244A8}"/>
              </a:ext>
            </a:extLst>
          </p:cNvPr>
          <p:cNvSpPr/>
          <p:nvPr/>
        </p:nvSpPr>
        <p:spPr>
          <a:xfrm>
            <a:off x="921173" y="4709011"/>
            <a:ext cx="5173239" cy="11404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Если переполнение дошло до корня, создаётся новый корень, и дерево увеличивается в высоту на 1.</a:t>
            </a:r>
          </a:p>
        </p:txBody>
      </p:sp>
    </p:spTree>
    <p:extLst>
      <p:ext uri="{BB962C8B-B14F-4D97-AF65-F5344CB8AC3E}">
        <p14:creationId xmlns:p14="http://schemas.microsoft.com/office/powerpoint/2010/main" val="1938022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6CBA42-A6DC-496A-AE67-04B8595047F4}"/>
              </a:ext>
            </a:extLst>
          </p:cNvPr>
          <p:cNvSpPr>
            <a:spLocks noGrp="1"/>
          </p:cNvSpPr>
          <p:nvPr>
            <p:ph type="title"/>
          </p:nvPr>
        </p:nvSpPr>
        <p:spPr>
          <a:xfrm>
            <a:off x="479425" y="597855"/>
            <a:ext cx="11229975" cy="1140459"/>
          </a:xfrm>
        </p:spPr>
        <p:txBody>
          <a:bodyPr/>
          <a:lstStyle/>
          <a:p>
            <a:r>
              <a:rPr lang="ru-RU" dirty="0" err="1"/>
              <a:t>B+Tree</a:t>
            </a:r>
            <a:r>
              <a:rPr lang="ru-RU" dirty="0"/>
              <a:t>: индекс отдельно, данные — в листьях</a:t>
            </a:r>
          </a:p>
        </p:txBody>
      </p:sp>
      <p:sp>
        <p:nvSpPr>
          <p:cNvPr id="7" name="Текст 6">
            <a:extLst>
              <a:ext uri="{FF2B5EF4-FFF2-40B4-BE49-F238E27FC236}">
                <a16:creationId xmlns:a16="http://schemas.microsoft.com/office/drawing/2014/main" id="{22716BB5-07AF-4280-9862-D3980300BA5E}"/>
              </a:ext>
            </a:extLst>
          </p:cNvPr>
          <p:cNvSpPr>
            <a:spLocks noGrp="1"/>
          </p:cNvSpPr>
          <p:nvPr>
            <p:ph type="body" sz="quarter" idx="19"/>
          </p:nvPr>
        </p:nvSpPr>
        <p:spPr/>
        <p:txBody>
          <a:bodyPr/>
          <a:lstStyle/>
          <a:p>
            <a:endParaRPr lang="ru-RU"/>
          </a:p>
        </p:txBody>
      </p:sp>
      <p:sp>
        <p:nvSpPr>
          <p:cNvPr id="8" name="Овал 7">
            <a:extLst>
              <a:ext uri="{FF2B5EF4-FFF2-40B4-BE49-F238E27FC236}">
                <a16:creationId xmlns:a16="http://schemas.microsoft.com/office/drawing/2014/main" id="{E6EDF803-301A-45BE-BBF4-191061A5EA5D}"/>
              </a:ext>
            </a:extLst>
          </p:cNvPr>
          <p:cNvSpPr/>
          <p:nvPr/>
        </p:nvSpPr>
        <p:spPr>
          <a:xfrm>
            <a:off x="1742355" y="1453198"/>
            <a:ext cx="193208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dirty="0">
                <a:solidFill>
                  <a:srgbClr val="002060"/>
                </a:solidFill>
              </a:rPr>
              <a:t>20</a:t>
            </a:r>
            <a:r>
              <a:rPr lang="en-US" dirty="0">
                <a:solidFill>
                  <a:srgbClr val="002060"/>
                </a:solidFill>
              </a:rPr>
              <a:t>|40 | 70</a:t>
            </a:r>
            <a:endParaRPr lang="ru-RU" dirty="0">
              <a:solidFill>
                <a:srgbClr val="002060"/>
              </a:solidFill>
            </a:endParaRPr>
          </a:p>
        </p:txBody>
      </p:sp>
      <p:sp>
        <p:nvSpPr>
          <p:cNvPr id="9" name="Овал 8">
            <a:extLst>
              <a:ext uri="{FF2B5EF4-FFF2-40B4-BE49-F238E27FC236}">
                <a16:creationId xmlns:a16="http://schemas.microsoft.com/office/drawing/2014/main" id="{73F4F2CC-B0CD-4606-8EA2-16BB809703B7}"/>
              </a:ext>
            </a:extLst>
          </p:cNvPr>
          <p:cNvSpPr/>
          <p:nvPr/>
        </p:nvSpPr>
        <p:spPr>
          <a:xfrm>
            <a:off x="479424" y="2420646"/>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5 | 12</a:t>
            </a:r>
            <a:endParaRPr lang="ru-RU" dirty="0"/>
          </a:p>
        </p:txBody>
      </p:sp>
      <p:cxnSp>
        <p:nvCxnSpPr>
          <p:cNvPr id="10" name="Прямая со стрелкой 9">
            <a:extLst>
              <a:ext uri="{FF2B5EF4-FFF2-40B4-BE49-F238E27FC236}">
                <a16:creationId xmlns:a16="http://schemas.microsoft.com/office/drawing/2014/main" id="{AAFD74E0-57B4-4F9B-959C-D641F6ED6647}"/>
              </a:ext>
            </a:extLst>
          </p:cNvPr>
          <p:cNvCxnSpPr>
            <a:cxnSpLocks/>
            <a:stCxn id="8" idx="3"/>
            <a:endCxn id="9" idx="0"/>
          </p:cNvCxnSpPr>
          <p:nvPr/>
        </p:nvCxnSpPr>
        <p:spPr>
          <a:xfrm flipH="1">
            <a:off x="1304269" y="2233686"/>
            <a:ext cx="721033" cy="1869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Овал 10">
            <a:extLst>
              <a:ext uri="{FF2B5EF4-FFF2-40B4-BE49-F238E27FC236}">
                <a16:creationId xmlns:a16="http://schemas.microsoft.com/office/drawing/2014/main" id="{8C19FAD9-0B99-4964-B8B0-D7017C915DA0}"/>
              </a:ext>
            </a:extLst>
          </p:cNvPr>
          <p:cNvSpPr/>
          <p:nvPr/>
        </p:nvSpPr>
        <p:spPr>
          <a:xfrm>
            <a:off x="3132176" y="3414625"/>
            <a:ext cx="1605700" cy="9144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40| </a:t>
            </a:r>
            <a:r>
              <a:rPr lang="ru-RU" dirty="0"/>
              <a:t>50</a:t>
            </a:r>
          </a:p>
        </p:txBody>
      </p:sp>
      <p:cxnSp>
        <p:nvCxnSpPr>
          <p:cNvPr id="12" name="Прямая со стрелкой 11">
            <a:extLst>
              <a:ext uri="{FF2B5EF4-FFF2-40B4-BE49-F238E27FC236}">
                <a16:creationId xmlns:a16="http://schemas.microsoft.com/office/drawing/2014/main" id="{DE7BDE08-D4D8-45E1-A362-08C1B4881EAF}"/>
              </a:ext>
            </a:extLst>
          </p:cNvPr>
          <p:cNvCxnSpPr>
            <a:cxnSpLocks/>
            <a:stCxn id="8" idx="4"/>
            <a:endCxn id="11" idx="0"/>
          </p:cNvCxnSpPr>
          <p:nvPr/>
        </p:nvCxnSpPr>
        <p:spPr>
          <a:xfrm>
            <a:off x="2708395" y="2367597"/>
            <a:ext cx="1226631" cy="104702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Овал 12">
            <a:extLst>
              <a:ext uri="{FF2B5EF4-FFF2-40B4-BE49-F238E27FC236}">
                <a16:creationId xmlns:a16="http://schemas.microsoft.com/office/drawing/2014/main" id="{8F1A9753-6C20-4416-96B3-9FB43E3ADBC9}"/>
              </a:ext>
            </a:extLst>
          </p:cNvPr>
          <p:cNvSpPr/>
          <p:nvPr/>
        </p:nvSpPr>
        <p:spPr>
          <a:xfrm>
            <a:off x="3654593" y="2229485"/>
            <a:ext cx="1605700"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70 | 80</a:t>
            </a:r>
            <a:endParaRPr lang="ru-RU" dirty="0"/>
          </a:p>
        </p:txBody>
      </p:sp>
      <p:cxnSp>
        <p:nvCxnSpPr>
          <p:cNvPr id="14" name="Прямая со стрелкой 13">
            <a:extLst>
              <a:ext uri="{FF2B5EF4-FFF2-40B4-BE49-F238E27FC236}">
                <a16:creationId xmlns:a16="http://schemas.microsoft.com/office/drawing/2014/main" id="{F35F8281-10D6-468F-9CE9-0CD6DB5645FD}"/>
              </a:ext>
            </a:extLst>
          </p:cNvPr>
          <p:cNvCxnSpPr>
            <a:cxnSpLocks/>
            <a:stCxn id="8" idx="5"/>
            <a:endCxn id="13" idx="0"/>
          </p:cNvCxnSpPr>
          <p:nvPr/>
        </p:nvCxnSpPr>
        <p:spPr>
          <a:xfrm flipV="1">
            <a:off x="3391488" y="2229485"/>
            <a:ext cx="1065955" cy="420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2" name="Овал 21">
            <a:extLst>
              <a:ext uri="{FF2B5EF4-FFF2-40B4-BE49-F238E27FC236}">
                <a16:creationId xmlns:a16="http://schemas.microsoft.com/office/drawing/2014/main" id="{DC829223-8144-4BD1-88AB-1CCEB78CB4D7}"/>
              </a:ext>
            </a:extLst>
          </p:cNvPr>
          <p:cNvSpPr/>
          <p:nvPr/>
        </p:nvSpPr>
        <p:spPr>
          <a:xfrm>
            <a:off x="1009410" y="3455508"/>
            <a:ext cx="1649689" cy="91439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20 | 36</a:t>
            </a:r>
            <a:endParaRPr lang="ru-RU" dirty="0"/>
          </a:p>
        </p:txBody>
      </p:sp>
      <p:cxnSp>
        <p:nvCxnSpPr>
          <p:cNvPr id="28" name="Прямая со стрелкой 27">
            <a:extLst>
              <a:ext uri="{FF2B5EF4-FFF2-40B4-BE49-F238E27FC236}">
                <a16:creationId xmlns:a16="http://schemas.microsoft.com/office/drawing/2014/main" id="{BF3F08B4-4EA9-4CBD-AB19-561B4ABC46BE}"/>
              </a:ext>
            </a:extLst>
          </p:cNvPr>
          <p:cNvCxnSpPr>
            <a:cxnSpLocks/>
            <a:stCxn id="8" idx="4"/>
            <a:endCxn id="22" idx="0"/>
          </p:cNvCxnSpPr>
          <p:nvPr/>
        </p:nvCxnSpPr>
        <p:spPr>
          <a:xfrm flipH="1">
            <a:off x="1834255" y="2367597"/>
            <a:ext cx="874140" cy="10879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a:extLst>
              <a:ext uri="{FF2B5EF4-FFF2-40B4-BE49-F238E27FC236}">
                <a16:creationId xmlns:a16="http://schemas.microsoft.com/office/drawing/2014/main" id="{8D9E6323-4190-48FB-96C5-1F62DB6ED2CB}"/>
              </a:ext>
            </a:extLst>
          </p:cNvPr>
          <p:cNvCxnSpPr>
            <a:stCxn id="9" idx="4"/>
            <a:endCxn id="22" idx="1"/>
          </p:cNvCxnSpPr>
          <p:nvPr/>
        </p:nvCxnSpPr>
        <p:spPr>
          <a:xfrm flipH="1">
            <a:off x="1251001" y="3335045"/>
            <a:ext cx="53268" cy="25437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33">
            <a:extLst>
              <a:ext uri="{FF2B5EF4-FFF2-40B4-BE49-F238E27FC236}">
                <a16:creationId xmlns:a16="http://schemas.microsoft.com/office/drawing/2014/main" id="{D93462BA-B0C0-4F86-814B-FD57A5224733}"/>
              </a:ext>
            </a:extLst>
          </p:cNvPr>
          <p:cNvCxnSpPr>
            <a:stCxn id="22" idx="6"/>
            <a:endCxn id="11" idx="2"/>
          </p:cNvCxnSpPr>
          <p:nvPr/>
        </p:nvCxnSpPr>
        <p:spPr>
          <a:xfrm flipV="1">
            <a:off x="2659099" y="3871825"/>
            <a:ext cx="473077" cy="408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a:extLst>
              <a:ext uri="{FF2B5EF4-FFF2-40B4-BE49-F238E27FC236}">
                <a16:creationId xmlns:a16="http://schemas.microsoft.com/office/drawing/2014/main" id="{FF765B58-AE1E-436C-A204-F94096D12DB9}"/>
              </a:ext>
            </a:extLst>
          </p:cNvPr>
          <p:cNvCxnSpPr>
            <a:stCxn id="11" idx="7"/>
            <a:endCxn id="13" idx="4"/>
          </p:cNvCxnSpPr>
          <p:nvPr/>
        </p:nvCxnSpPr>
        <p:spPr>
          <a:xfrm flipH="1" flipV="1">
            <a:off x="4457443" y="3143884"/>
            <a:ext cx="45284" cy="4046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Прямоугольник: скругленные углы 39">
            <a:extLst>
              <a:ext uri="{FF2B5EF4-FFF2-40B4-BE49-F238E27FC236}">
                <a16:creationId xmlns:a16="http://schemas.microsoft.com/office/drawing/2014/main" id="{A228B5DA-E9E4-477A-AEFF-899B4031B9BB}"/>
              </a:ext>
            </a:extLst>
          </p:cNvPr>
          <p:cNvSpPr/>
          <p:nvPr/>
        </p:nvSpPr>
        <p:spPr>
          <a:xfrm>
            <a:off x="6517715" y="1317813"/>
            <a:ext cx="4707110" cy="2013031"/>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endParaRPr lang="ru-RU" dirty="0"/>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содержат ключи для выбора направления поиска;</a:t>
            </a:r>
          </a:p>
          <a:p>
            <a:pPr marL="285750" indent="-285750">
              <a:buFont typeface="Arial" panose="020B0604020202020204" pitchFamily="34" charset="0"/>
              <a:buChar char="•"/>
            </a:pPr>
            <a:r>
              <a:rPr lang="ru-RU" dirty="0"/>
              <a:t>помогают быстро перейти к нужному листу.</a:t>
            </a:r>
          </a:p>
        </p:txBody>
      </p:sp>
      <p:sp>
        <p:nvSpPr>
          <p:cNvPr id="60" name="Прямоугольник: скругленные углы 59">
            <a:extLst>
              <a:ext uri="{FF2B5EF4-FFF2-40B4-BE49-F238E27FC236}">
                <a16:creationId xmlns:a16="http://schemas.microsoft.com/office/drawing/2014/main" id="{87B75427-7E00-4E5F-92B7-7F6391F01750}"/>
              </a:ext>
            </a:extLst>
          </p:cNvPr>
          <p:cNvSpPr/>
          <p:nvPr/>
        </p:nvSpPr>
        <p:spPr>
          <a:xfrm>
            <a:off x="6517715" y="1145729"/>
            <a:ext cx="4707110" cy="8982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Внутренние узлы</a:t>
            </a:r>
          </a:p>
        </p:txBody>
      </p:sp>
      <p:sp>
        <p:nvSpPr>
          <p:cNvPr id="62" name="Прямоугольник: скругленные углы 61">
            <a:extLst>
              <a:ext uri="{FF2B5EF4-FFF2-40B4-BE49-F238E27FC236}">
                <a16:creationId xmlns:a16="http://schemas.microsoft.com/office/drawing/2014/main" id="{0160223D-14BD-4C04-B6D5-785E5B063192}"/>
              </a:ext>
            </a:extLst>
          </p:cNvPr>
          <p:cNvSpPr/>
          <p:nvPr/>
        </p:nvSpPr>
        <p:spPr>
          <a:xfrm>
            <a:off x="6517715" y="3823743"/>
            <a:ext cx="4707110" cy="2436402"/>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285750" indent="-285750">
              <a:buFont typeface="Arial" panose="020B0604020202020204" pitchFamily="34" charset="0"/>
              <a:buChar char="•"/>
            </a:pPr>
            <a:endParaRPr lang="ru-RU" dirty="0"/>
          </a:p>
          <a:p>
            <a:pPr marL="285750" indent="-285750">
              <a:buFont typeface="Arial" panose="020B0604020202020204" pitchFamily="34" charset="0"/>
              <a:buChar char="•"/>
            </a:pPr>
            <a:endParaRPr lang="ru-RU" dirty="0"/>
          </a:p>
          <a:p>
            <a:pPr marL="285750" indent="-285750">
              <a:buFont typeface="Arial" panose="020B0604020202020204" pitchFamily="34" charset="0"/>
              <a:buChar char="•"/>
            </a:pPr>
            <a:r>
              <a:rPr lang="ru-RU" dirty="0"/>
              <a:t>содержат сами данные или ссылки на записи;</a:t>
            </a:r>
          </a:p>
          <a:p>
            <a:pPr marL="285750" indent="-285750">
              <a:buFont typeface="Arial" panose="020B0604020202020204" pitchFamily="34" charset="0"/>
              <a:buChar char="•"/>
            </a:pPr>
            <a:r>
              <a:rPr lang="ru-RU" dirty="0"/>
              <a:t>связаны между собой;</a:t>
            </a:r>
          </a:p>
          <a:p>
            <a:pPr marL="285750" indent="-285750">
              <a:buFont typeface="Arial" panose="020B0604020202020204" pitchFamily="34" charset="0"/>
              <a:buChar char="•"/>
            </a:pPr>
            <a:r>
              <a:rPr lang="ru-RU" dirty="0"/>
              <a:t>позволяют идти по данным последовательно.</a:t>
            </a:r>
          </a:p>
        </p:txBody>
      </p:sp>
      <p:sp>
        <p:nvSpPr>
          <p:cNvPr id="63" name="Прямоугольник: скругленные углы 62">
            <a:extLst>
              <a:ext uri="{FF2B5EF4-FFF2-40B4-BE49-F238E27FC236}">
                <a16:creationId xmlns:a16="http://schemas.microsoft.com/office/drawing/2014/main" id="{DB79F82E-0D76-4E1D-9AC8-85B6B5F88D68}"/>
              </a:ext>
            </a:extLst>
          </p:cNvPr>
          <p:cNvSpPr/>
          <p:nvPr/>
        </p:nvSpPr>
        <p:spPr>
          <a:xfrm>
            <a:off x="6517715" y="3651659"/>
            <a:ext cx="4707110" cy="8982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a:t>Листья</a:t>
            </a:r>
          </a:p>
        </p:txBody>
      </p:sp>
      <p:sp>
        <p:nvSpPr>
          <p:cNvPr id="64" name="Прямоугольник: скругленные углы 63">
            <a:extLst>
              <a:ext uri="{FF2B5EF4-FFF2-40B4-BE49-F238E27FC236}">
                <a16:creationId xmlns:a16="http://schemas.microsoft.com/office/drawing/2014/main" id="{3FC663C2-1275-4670-B498-30653C013E0C}"/>
              </a:ext>
            </a:extLst>
          </p:cNvPr>
          <p:cNvSpPr/>
          <p:nvPr/>
        </p:nvSpPr>
        <p:spPr>
          <a:xfrm>
            <a:off x="348463" y="4502536"/>
            <a:ext cx="5946494" cy="17167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 </a:t>
            </a:r>
            <a:r>
              <a:rPr lang="ru-RU" dirty="0" err="1"/>
              <a:t>B+Tree</a:t>
            </a:r>
            <a:r>
              <a:rPr lang="ru-RU" dirty="0"/>
              <a:t> внутренние узлы используются в основном для навигации, а все записи хранятся в листьях.</a:t>
            </a:r>
          </a:p>
        </p:txBody>
      </p:sp>
    </p:spTree>
    <p:extLst>
      <p:ext uri="{BB962C8B-B14F-4D97-AF65-F5344CB8AC3E}">
        <p14:creationId xmlns:p14="http://schemas.microsoft.com/office/powerpoint/2010/main" val="2870044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6BB56D-C0A5-4992-BC72-92ABA81C42FC}"/>
              </a:ext>
            </a:extLst>
          </p:cNvPr>
          <p:cNvSpPr>
            <a:spLocks noGrp="1"/>
          </p:cNvSpPr>
          <p:nvPr>
            <p:ph type="title"/>
          </p:nvPr>
        </p:nvSpPr>
        <p:spPr/>
        <p:txBody>
          <a:bodyPr/>
          <a:lstStyle/>
          <a:p>
            <a:r>
              <a:rPr lang="ru-RU" dirty="0"/>
              <a:t>Прикладное применение</a:t>
            </a:r>
          </a:p>
        </p:txBody>
      </p:sp>
      <p:sp>
        <p:nvSpPr>
          <p:cNvPr id="7" name="Текст 6">
            <a:extLst>
              <a:ext uri="{FF2B5EF4-FFF2-40B4-BE49-F238E27FC236}">
                <a16:creationId xmlns:a16="http://schemas.microsoft.com/office/drawing/2014/main" id="{AFE15E98-ADBE-4E45-A45F-9D13126E4031}"/>
              </a:ext>
            </a:extLst>
          </p:cNvPr>
          <p:cNvSpPr>
            <a:spLocks noGrp="1"/>
          </p:cNvSpPr>
          <p:nvPr>
            <p:ph type="body" sz="quarter" idx="19"/>
          </p:nvPr>
        </p:nvSpPr>
        <p:spPr/>
        <p:txBody>
          <a:bodyPr/>
          <a:lstStyle/>
          <a:p>
            <a:endParaRPr lang="ru-RU"/>
          </a:p>
        </p:txBody>
      </p:sp>
      <p:pic>
        <p:nvPicPr>
          <p:cNvPr id="12" name="Рисунок 11">
            <a:extLst>
              <a:ext uri="{FF2B5EF4-FFF2-40B4-BE49-F238E27FC236}">
                <a16:creationId xmlns:a16="http://schemas.microsoft.com/office/drawing/2014/main" id="{23D04305-A426-4E95-8929-92263E990406}"/>
              </a:ext>
            </a:extLst>
          </p:cNvPr>
          <p:cNvPicPr>
            <a:picLocks noChangeAspect="1"/>
          </p:cNvPicPr>
          <p:nvPr/>
        </p:nvPicPr>
        <p:blipFill>
          <a:blip r:embed="rId2"/>
          <a:stretch>
            <a:fillRect/>
          </a:stretch>
        </p:blipFill>
        <p:spPr>
          <a:xfrm>
            <a:off x="393879" y="1168084"/>
            <a:ext cx="11401066" cy="5461547"/>
          </a:xfrm>
          <a:prstGeom prst="rect">
            <a:avLst/>
          </a:prstGeom>
        </p:spPr>
      </p:pic>
    </p:spTree>
    <p:extLst>
      <p:ext uri="{BB962C8B-B14F-4D97-AF65-F5344CB8AC3E}">
        <p14:creationId xmlns:p14="http://schemas.microsoft.com/office/powerpoint/2010/main" val="34956252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EE47E8-738E-44E8-BD45-B6F255E57D7A}"/>
              </a:ext>
            </a:extLst>
          </p:cNvPr>
          <p:cNvSpPr>
            <a:spLocks noGrp="1"/>
          </p:cNvSpPr>
          <p:nvPr>
            <p:ph type="title"/>
          </p:nvPr>
        </p:nvSpPr>
        <p:spPr/>
        <p:txBody>
          <a:bodyPr/>
          <a:lstStyle/>
          <a:p>
            <a:r>
              <a:rPr lang="ru-RU" dirty="0"/>
              <a:t>Итоги</a:t>
            </a:r>
          </a:p>
        </p:txBody>
      </p:sp>
      <p:sp>
        <p:nvSpPr>
          <p:cNvPr id="7" name="Текст 6">
            <a:extLst>
              <a:ext uri="{FF2B5EF4-FFF2-40B4-BE49-F238E27FC236}">
                <a16:creationId xmlns:a16="http://schemas.microsoft.com/office/drawing/2014/main" id="{C7F4EC58-7562-4C56-B578-9FFDA13703C3}"/>
              </a:ext>
            </a:extLst>
          </p:cNvPr>
          <p:cNvSpPr>
            <a:spLocks noGrp="1"/>
          </p:cNvSpPr>
          <p:nvPr>
            <p:ph type="body" sz="quarter" idx="19"/>
          </p:nvPr>
        </p:nvSpPr>
        <p:spPr/>
        <p:txBody>
          <a:bodyPr/>
          <a:lstStyle/>
          <a:p>
            <a:endParaRPr lang="ru-RU"/>
          </a:p>
        </p:txBody>
      </p:sp>
      <p:sp>
        <p:nvSpPr>
          <p:cNvPr id="8" name="Прямоугольник: скругленные углы 7">
            <a:extLst>
              <a:ext uri="{FF2B5EF4-FFF2-40B4-BE49-F238E27FC236}">
                <a16:creationId xmlns:a16="http://schemas.microsoft.com/office/drawing/2014/main" id="{9FCCB2D3-BDE1-4B43-94B4-81F78E86EBC3}"/>
              </a:ext>
            </a:extLst>
          </p:cNvPr>
          <p:cNvSpPr/>
          <p:nvPr/>
        </p:nvSpPr>
        <p:spPr>
          <a:xfrm>
            <a:off x="642386" y="1479994"/>
            <a:ext cx="10629178" cy="1027815"/>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Форма дерева напрямую влияет на скорость операций.</a:t>
            </a:r>
          </a:p>
        </p:txBody>
      </p:sp>
      <p:sp>
        <p:nvSpPr>
          <p:cNvPr id="9" name="Прямоугольник: скругленные углы 8">
            <a:extLst>
              <a:ext uri="{FF2B5EF4-FFF2-40B4-BE49-F238E27FC236}">
                <a16:creationId xmlns:a16="http://schemas.microsoft.com/office/drawing/2014/main" id="{0559A2A5-C4CD-42BA-A71B-04C939E2A343}"/>
              </a:ext>
            </a:extLst>
          </p:cNvPr>
          <p:cNvSpPr/>
          <p:nvPr/>
        </p:nvSpPr>
        <p:spPr>
          <a:xfrm>
            <a:off x="642386" y="2688879"/>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Балансировка нужна, чтобы дерево не вырождалось.</a:t>
            </a:r>
          </a:p>
        </p:txBody>
      </p:sp>
      <p:sp>
        <p:nvSpPr>
          <p:cNvPr id="10" name="Прямоугольник: скругленные углы 9">
            <a:extLst>
              <a:ext uri="{FF2B5EF4-FFF2-40B4-BE49-F238E27FC236}">
                <a16:creationId xmlns:a16="http://schemas.microsoft.com/office/drawing/2014/main" id="{479BA594-0750-415B-82A4-8F22D8D4FD64}"/>
              </a:ext>
            </a:extLst>
          </p:cNvPr>
          <p:cNvSpPr/>
          <p:nvPr/>
        </p:nvSpPr>
        <p:spPr>
          <a:xfrm>
            <a:off x="642386" y="3829338"/>
            <a:ext cx="10629178" cy="959389"/>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ru-RU" sz="2800" dirty="0"/>
              <a:t>Разные деревья оптимизированы под разные условия работы.</a:t>
            </a:r>
          </a:p>
        </p:txBody>
      </p:sp>
      <p:sp>
        <p:nvSpPr>
          <p:cNvPr id="11" name="Прямоугольник: скругленные углы 10">
            <a:extLst>
              <a:ext uri="{FF2B5EF4-FFF2-40B4-BE49-F238E27FC236}">
                <a16:creationId xmlns:a16="http://schemas.microsoft.com/office/drawing/2014/main" id="{01579EAB-B5B0-49AB-A0FA-381A178C4AD1}"/>
              </a:ext>
            </a:extLst>
          </p:cNvPr>
          <p:cNvSpPr/>
          <p:nvPr/>
        </p:nvSpPr>
        <p:spPr>
          <a:xfrm>
            <a:off x="642386" y="5119687"/>
            <a:ext cx="10719713" cy="12539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a:t>Выбирают не «лучшее дерево», а дерево, подходящее под способ хранения и тип операций.</a:t>
            </a:r>
            <a:endParaRPr lang="ru-RU" sz="2800" dirty="0"/>
          </a:p>
        </p:txBody>
      </p:sp>
    </p:spTree>
    <p:extLst>
      <p:ext uri="{BB962C8B-B14F-4D97-AF65-F5344CB8AC3E}">
        <p14:creationId xmlns:p14="http://schemas.microsoft.com/office/powerpoint/2010/main" val="19042017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3C8C16-CDAE-4110-998A-AA5F2453A752}"/>
              </a:ext>
            </a:extLst>
          </p:cNvPr>
          <p:cNvSpPr>
            <a:spLocks noGrp="1"/>
          </p:cNvSpPr>
          <p:nvPr>
            <p:ph type="title"/>
          </p:nvPr>
        </p:nvSpPr>
        <p:spPr>
          <a:xfrm>
            <a:off x="479424" y="728553"/>
            <a:ext cx="11229975" cy="814486"/>
          </a:xfrm>
        </p:spPr>
        <p:txBody>
          <a:bodyPr/>
          <a:lstStyle/>
          <a:p>
            <a:r>
              <a:rPr lang="ru-RU" dirty="0"/>
              <a:t>Пароль для теста</a:t>
            </a:r>
          </a:p>
        </p:txBody>
      </p:sp>
      <p:sp>
        <p:nvSpPr>
          <p:cNvPr id="7" name="Текст 6">
            <a:extLst>
              <a:ext uri="{FF2B5EF4-FFF2-40B4-BE49-F238E27FC236}">
                <a16:creationId xmlns:a16="http://schemas.microsoft.com/office/drawing/2014/main" id="{E0DD9A40-8298-4417-8524-24F518938BC0}"/>
              </a:ext>
            </a:extLst>
          </p:cNvPr>
          <p:cNvSpPr>
            <a:spLocks noGrp="1"/>
          </p:cNvSpPr>
          <p:nvPr>
            <p:ph type="body" sz="quarter" idx="19"/>
          </p:nvPr>
        </p:nvSpPr>
        <p:spPr/>
        <p:txBody>
          <a:bodyPr/>
          <a:lstStyle/>
          <a:p>
            <a:endParaRPr lang="ru-RU"/>
          </a:p>
        </p:txBody>
      </p:sp>
      <p:sp>
        <p:nvSpPr>
          <p:cNvPr id="8" name="TextBox 7">
            <a:extLst>
              <a:ext uri="{FF2B5EF4-FFF2-40B4-BE49-F238E27FC236}">
                <a16:creationId xmlns:a16="http://schemas.microsoft.com/office/drawing/2014/main" id="{1873DF5E-D02B-4CC4-B969-AF4C59439265}"/>
              </a:ext>
            </a:extLst>
          </p:cNvPr>
          <p:cNvSpPr txBox="1"/>
          <p:nvPr/>
        </p:nvSpPr>
        <p:spPr bwMode="auto">
          <a:xfrm>
            <a:off x="1718058" y="1697903"/>
            <a:ext cx="9537130" cy="3770263"/>
          </a:xfrm>
          <a:prstGeom prst="rect">
            <a:avLst/>
          </a:prstGeom>
        </p:spPr>
        <p:txBody>
          <a:bodyPr wrap="square" rtlCol="0">
            <a:spAutoFit/>
          </a:bodyPr>
          <a:lstStyle/>
          <a:p>
            <a:r>
              <a:rPr lang="ru-RU" sz="23900" dirty="0"/>
              <a:t>25560</a:t>
            </a:r>
          </a:p>
        </p:txBody>
      </p:sp>
    </p:spTree>
    <p:extLst>
      <p:ext uri="{BB962C8B-B14F-4D97-AF65-F5344CB8AC3E}">
        <p14:creationId xmlns:p14="http://schemas.microsoft.com/office/powerpoint/2010/main" val="1484687000"/>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2229</TotalTime>
  <Words>2368</Words>
  <Application>Microsoft Office PowerPoint</Application>
  <DocSecurity>0</DocSecurity>
  <PresentationFormat>Широкоэкранный</PresentationFormat>
  <Paragraphs>710</Paragraphs>
  <Slides>61</Slides>
  <Notes>0</Notes>
  <HiddenSlides>0</HiddenSlides>
  <MMClips>0</MMClips>
  <ScaleCrop>false</ScaleCrop>
  <HeadingPairs>
    <vt:vector size="8" baseType="variant">
      <vt:variant>
        <vt:lpstr>Использованные шрифты</vt:lpstr>
      </vt:variant>
      <vt:variant>
        <vt:i4>4</vt:i4>
      </vt:variant>
      <vt:variant>
        <vt:lpstr>Тема</vt:lpstr>
      </vt:variant>
      <vt:variant>
        <vt:i4>1</vt:i4>
      </vt:variant>
      <vt:variant>
        <vt:lpstr>Внедренные серверы OLE</vt:lpstr>
      </vt:variant>
      <vt:variant>
        <vt:i4>1</vt:i4>
      </vt:variant>
      <vt:variant>
        <vt:lpstr>Заголовки слайдов</vt:lpstr>
      </vt:variant>
      <vt:variant>
        <vt:i4>61</vt:i4>
      </vt:variant>
    </vt:vector>
  </HeadingPairs>
  <TitlesOfParts>
    <vt:vector size="67" baseType="lpstr">
      <vt:lpstr>Arial</vt:lpstr>
      <vt:lpstr>Montserrat</vt:lpstr>
      <vt:lpstr>Montserrat SemiBold</vt:lpstr>
      <vt:lpstr>Calibri</vt:lpstr>
      <vt:lpstr>Тема Office</vt:lpstr>
      <vt:lpstr>MathType 7.0 Equation</vt:lpstr>
      <vt:lpstr>Лекция 2. Деревья и быстрый поиск в упорядоченных данных</vt:lpstr>
      <vt:lpstr>Одни данные – разные задачи</vt:lpstr>
      <vt:lpstr>Отсортированный массив уже умеет искать быстро</vt:lpstr>
      <vt:lpstr>Доступ по индексу: самый простой случай</vt:lpstr>
      <vt:lpstr>Что такое дерево</vt:lpstr>
      <vt:lpstr>Основные понятия дерева</vt:lpstr>
      <vt:lpstr>Бинарное дерево и BST</vt:lpstr>
      <vt:lpstr>Поиск в бинарном дереве поиска</vt:lpstr>
      <vt:lpstr>Поиск в бинарном дереве поиска</vt:lpstr>
      <vt:lpstr>Поиск в бинарном дереве поиска</vt:lpstr>
      <vt:lpstr>Поиск в бинарном дереве поиска</vt:lpstr>
      <vt:lpstr>Поиск в бинарном дереве поиска</vt:lpstr>
      <vt:lpstr>Поиск в бинарном дереве поиска</vt:lpstr>
      <vt:lpstr>Вставка в бинарное дерево поиска</vt:lpstr>
      <vt:lpstr>Вставка в бинарное дерево поиска</vt:lpstr>
      <vt:lpstr>Вставка в бинарное дерево поиска</vt:lpstr>
      <vt:lpstr>Вставка в бинарное дерево поиска</vt:lpstr>
      <vt:lpstr>Вставка в бинарное дерево поиска</vt:lpstr>
      <vt:lpstr>Удаление зависит от положения узла в дереве</vt:lpstr>
      <vt:lpstr>Как удалить узел с двумя потомками</vt:lpstr>
      <vt:lpstr>Как удалить узел с двумя потомками</vt:lpstr>
      <vt:lpstr>Как удалить узел с двумя потомками</vt:lpstr>
      <vt:lpstr>Как удалить узел с двумя потомками</vt:lpstr>
      <vt:lpstr>Как удалить узел с двумя потомками</vt:lpstr>
      <vt:lpstr>Как пройти по всем элементам дерева?</vt:lpstr>
      <vt:lpstr>Как пройти по всем элементам дерева?</vt:lpstr>
      <vt:lpstr>Как пройти по всем элементам дерева?</vt:lpstr>
      <vt:lpstr>Дерево выражений и обходы</vt:lpstr>
      <vt:lpstr>Где используются деревья выражений</vt:lpstr>
      <vt:lpstr>Форма дерева влияет на скорость поиска</vt:lpstr>
      <vt:lpstr>Почему дерево вырождается</vt:lpstr>
      <vt:lpstr>Балансировка дерева</vt:lpstr>
      <vt:lpstr>AVL-дерево: балансировка по высоте</vt:lpstr>
      <vt:lpstr>Как AVL-дерево восстанавливает баланс?</vt:lpstr>
      <vt:lpstr>Правый поворот — пошагово</vt:lpstr>
      <vt:lpstr>Правый поворот — пошагово</vt:lpstr>
      <vt:lpstr>Правый поворот — пошагово</vt:lpstr>
      <vt:lpstr>Правый поворот — пошагово</vt:lpstr>
      <vt:lpstr>Правый поворот — пошагово</vt:lpstr>
      <vt:lpstr>Двойной поворот</vt:lpstr>
      <vt:lpstr>Двойной поворот</vt:lpstr>
      <vt:lpstr>Двойной поворот</vt:lpstr>
      <vt:lpstr>Двойной поворот</vt:lpstr>
      <vt:lpstr>Красно-чёрное дерево: менее строгая балансировка</vt:lpstr>
      <vt:lpstr>AVL и Red-Black: когда начинается балансировка</vt:lpstr>
      <vt:lpstr>Почему обычное бинарное дерево неудобно на диске</vt:lpstr>
      <vt:lpstr>Поиск в B-Tree</vt:lpstr>
      <vt:lpstr>Поиск в B-Tree</vt:lpstr>
      <vt:lpstr>Поиск в B-Tree</vt:lpstr>
      <vt:lpstr>Поиск в B-Tree</vt:lpstr>
      <vt:lpstr>Поиск в B-Tree</vt:lpstr>
      <vt:lpstr>Вставка и расщепление узла</vt:lpstr>
      <vt:lpstr>Вставка и расщепление узла</vt:lpstr>
      <vt:lpstr>Вставка и расщепление узла</vt:lpstr>
      <vt:lpstr>Вставка и расщепление узла</vt:lpstr>
      <vt:lpstr>Вставка и расщепление узла</vt:lpstr>
      <vt:lpstr>Вставка и расщепление узла</vt:lpstr>
      <vt:lpstr>B+Tree: индекс отдельно, данные — в листьях</vt:lpstr>
      <vt:lpstr>Прикладное применение</vt:lpstr>
      <vt:lpstr>Итоги</vt:lpstr>
      <vt:lpstr>Пароль для теста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88</cp:revision>
  <dcterms:created xsi:type="dcterms:W3CDTF">2023-04-19T21:39:12Z</dcterms:created>
  <dcterms:modified xsi:type="dcterms:W3CDTF">2026-09-08T12:12:01Z</dcterms:modified>
  <cp:category/>
  <dc:identifier/>
  <cp:contentStatus/>
  <dc:language/>
  <cp:version/>
</cp:coreProperties>
</file>