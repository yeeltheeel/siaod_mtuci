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66"/>
  </p:notesMasterIdLst>
  <p:sldIdLst>
    <p:sldId id="256" r:id="rId2"/>
    <p:sldId id="292" r:id="rId3"/>
    <p:sldId id="293" r:id="rId4"/>
    <p:sldId id="294" r:id="rId5"/>
    <p:sldId id="295" r:id="rId6"/>
    <p:sldId id="296" r:id="rId7"/>
    <p:sldId id="297" r:id="rId8"/>
    <p:sldId id="298" r:id="rId9"/>
    <p:sldId id="299" r:id="rId10"/>
    <p:sldId id="300" r:id="rId11"/>
    <p:sldId id="301"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4" r:id="rId25"/>
    <p:sldId id="315" r:id="rId26"/>
    <p:sldId id="316" r:id="rId27"/>
    <p:sldId id="317" r:id="rId28"/>
    <p:sldId id="318" r:id="rId29"/>
    <p:sldId id="319" r:id="rId30"/>
    <p:sldId id="320" r:id="rId31"/>
    <p:sldId id="321" r:id="rId32"/>
    <p:sldId id="322" r:id="rId33"/>
    <p:sldId id="323" r:id="rId34"/>
    <p:sldId id="324" r:id="rId35"/>
    <p:sldId id="325" r:id="rId36"/>
    <p:sldId id="326" r:id="rId37"/>
    <p:sldId id="327" r:id="rId38"/>
    <p:sldId id="328" r:id="rId39"/>
    <p:sldId id="329" r:id="rId40"/>
    <p:sldId id="330" r:id="rId41"/>
    <p:sldId id="331" r:id="rId42"/>
    <p:sldId id="332" r:id="rId43"/>
    <p:sldId id="333" r:id="rId44"/>
    <p:sldId id="334" r:id="rId45"/>
    <p:sldId id="335" r:id="rId46"/>
    <p:sldId id="336" r:id="rId47"/>
    <p:sldId id="337" r:id="rId48"/>
    <p:sldId id="338" r:id="rId49"/>
    <p:sldId id="339" r:id="rId50"/>
    <p:sldId id="340" r:id="rId51"/>
    <p:sldId id="341" r:id="rId52"/>
    <p:sldId id="342" r:id="rId53"/>
    <p:sldId id="343" r:id="rId54"/>
    <p:sldId id="344" r:id="rId55"/>
    <p:sldId id="345" r:id="rId56"/>
    <p:sldId id="346" r:id="rId57"/>
    <p:sldId id="347" r:id="rId58"/>
    <p:sldId id="348" r:id="rId59"/>
    <p:sldId id="349" r:id="rId60"/>
    <p:sldId id="350" r:id="rId61"/>
    <p:sldId id="351" r:id="rId62"/>
    <p:sldId id="353" r:id="rId63"/>
    <p:sldId id="354" r:id="rId64"/>
    <p:sldId id="290" r:id="rId65"/>
  </p:sldIdLst>
  <p:sldSz cx="12192000" cy="6858000"/>
  <p:notesSz cx="12192000" cy="6858000"/>
  <p:embeddedFontLst>
    <p:embeddedFont>
      <p:font typeface="Calibri" panose="020F0502020204030204" pitchFamily="34" charset="0"/>
      <p:regular r:id="rId67"/>
      <p:bold r:id="rId68"/>
      <p:italic r:id="rId69"/>
      <p:boldItalic r:id="rId70"/>
    </p:embeddedFont>
    <p:embeddedFont>
      <p:font typeface="Montserrat"/>
      <p:regular r:id="rId71"/>
      <p:bold r:id="rId72"/>
      <p:italic r:id="rId73"/>
      <p:boldItalic r:id="rId74"/>
    </p:embeddedFont>
    <p:embeddedFont>
      <p:font typeface="Montserrat SemiBold"/>
      <p:bold r:id="rId75"/>
      <p:boldItalic r:id="rId76"/>
    </p:embeddedFont>
  </p:embeddedFontLst>
  <p:defaultText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88">
          <p15:clr>
            <a:srgbClr val="A4A3A4"/>
          </p15:clr>
        </p15:guide>
        <p15:guide id="2" pos="3863">
          <p15:clr>
            <a:srgbClr val="A4A3A4"/>
          </p15:clr>
        </p15:guide>
        <p15:guide id="3" orient="horz" pos="125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E3FDE45-AF77-4B5C-9715-49D594BDF05E}">
  <a:tblStyle styleId="{0E3FDE45-AF77-4B5C-9715-49D594BDF05E}" styleName="Светлый стиль 1 — акцент 2">
    <a:wholeTbl>
      <a:tcTxStyle>
        <a:fontRef idx="minor">
          <a:srgbClr val="000000"/>
        </a:fontRef>
        <a:schemeClr val="tx1"/>
      </a:tcTxStyle>
      <a:tcStyle>
        <a:tcBdr>
          <a:left>
            <a:ln w="12700">
              <a:noFill/>
            </a:ln>
          </a:left>
          <a:right>
            <a:ln w="12700">
              <a:noFill/>
            </a:ln>
          </a:right>
          <a:top>
            <a:ln w="12700">
              <a:solidFill>
                <a:schemeClr val="accent2"/>
              </a:solidFill>
            </a:ln>
          </a:top>
          <a:bottom>
            <a:ln w="12700">
              <a:solidFill>
                <a:schemeClr val="accent2"/>
              </a:solidFill>
            </a:ln>
          </a:bottom>
          <a:insideH>
            <a:ln w="12700">
              <a:noFill/>
            </a:ln>
          </a:insideH>
          <a:insideV>
            <a:ln w="12700">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band2V>
      <a:tcStyle>
        <a:tcBdr/>
        <a:fill>
          <a:solidFill>
            <a:schemeClr val="accent2">
              <a:alpha val="20000"/>
            </a:schemeClr>
          </a:solidFill>
        </a:fill>
      </a:tcStyle>
    </a:band2V>
    <a:lastCol>
      <a:tcStyle>
        <a:tcBdr/>
      </a:tcStyle>
    </a:lastCol>
    <a:firstCol>
      <a:tcStyle>
        <a:tcBdr/>
      </a:tcStyle>
    </a:firstCol>
    <a:lastRow>
      <a:tcStyle>
        <a:tcBdr>
          <a:top>
            <a:ln w="12700">
              <a:solidFill>
                <a:schemeClr val="accent2"/>
              </a:solidFill>
            </a:ln>
          </a:top>
        </a:tcBdr>
        <a:fill>
          <a:noFill/>
        </a:fill>
      </a:tcStyle>
    </a:lastRow>
    <a:seCell>
      <a:tcStyle>
        <a:tcBdr/>
      </a:tcStyle>
    </a:seCell>
    <a:swCell>
      <a:tcStyle>
        <a:tcBdr/>
      </a:tcStyle>
    </a:swCell>
    <a:firstRow>
      <a:tcStyle>
        <a:tcBdr>
          <a:bottom>
            <a:ln w="12700">
              <a:solidFill>
                <a:schemeClr val="accent2"/>
              </a:solidFill>
            </a:ln>
          </a:bottom>
        </a:tcBdr>
        <a:fill>
          <a:noFill/>
        </a:fill>
      </a:tcStyle>
    </a:firstRow>
    <a:neCell>
      <a:tcStyle>
        <a:tcBdr/>
      </a:tcStyle>
    </a:neCell>
    <a:nwCell>
      <a:tcStyle>
        <a:tcBdr/>
      </a:tcStyle>
    </a:nwCell>
  </a:tblStyle>
  <a:tblStyle styleId="{7E9639D4-E3E2-4D34-9284-5A2195B3D0D7}" styleName="Светлый стиль 2">
    <a:wholeTbl>
      <a:tcTxStyle>
        <a:fontRef idx="minor">
          <a:srgbClr val="000000"/>
        </a:fontRef>
        <a:schemeClr val="tx1"/>
      </a:tcTxStyle>
      <a:tcStyle>
        <a:tcBdr>
          <a:left>
            <a:lnRef idx="1">
              <a:schemeClr val="tx1"/>
            </a:lnRef>
          </a:left>
          <a:right>
            <a:lnRef idx="1">
              <a:schemeClr val="tx1"/>
            </a:lnRef>
          </a:right>
          <a:top>
            <a:lnRef idx="1">
              <a:schemeClr val="tx1"/>
            </a:lnRef>
          </a:top>
          <a:bottom>
            <a:lnRef idx="1">
              <a:schemeClr val="tx1"/>
            </a:lnRef>
          </a:bottom>
          <a:insideH>
            <a:ln w="12700">
              <a:noFill/>
            </a:ln>
          </a:insideH>
          <a:insideV>
            <a:ln w="12700">
              <a:noFill/>
            </a:ln>
          </a:insideV>
        </a:tcBdr>
        <a:fill>
          <a:noFill/>
        </a:fill>
      </a:tcStyle>
    </a:wholeTbl>
    <a:band1H>
      <a:tcStyle>
        <a:tcBdr>
          <a:top>
            <a:lnRef idx="1">
              <a:schemeClr val="tx1"/>
            </a:lnRef>
          </a:top>
          <a:bottom>
            <a:lnRef idx="1">
              <a:schemeClr val="tx1"/>
            </a:lnRef>
          </a:bottom>
        </a:tcBdr>
      </a:tcStyle>
    </a:band1H>
    <a:band2H>
      <a:tcStyle>
        <a:tcBdr/>
      </a:tcStyle>
    </a:band2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Style>
        <a:tcBdr/>
      </a:tcStyle>
    </a:lastCol>
    <a:firstCol>
      <a:tcStyle>
        <a:tcBdr/>
      </a:tcStyle>
    </a:firstCol>
    <a:lastRow>
      <a:tcStyle>
        <a:tcBdr>
          <a:top>
            <a:ln w="50800">
              <a:solidFill>
                <a:schemeClr val="tx1"/>
              </a:solidFill>
            </a:ln>
          </a:top>
        </a:tcBdr>
      </a:tcStyle>
    </a:lastRow>
    <a:seCell>
      <a:tcStyle>
        <a:tcBdr/>
      </a:tcStyle>
    </a:seCell>
    <a:swCell>
      <a:tcStyle>
        <a:tcBdr/>
      </a:tcStyle>
    </a:swCell>
    <a:firstRow>
      <a:tcTxStyle b="on">
        <a:fontRef idx="minor">
          <a:srgbClr val="000000"/>
        </a:fontRef>
        <a:schemeClr val="bg1"/>
      </a:tcTxStyle>
      <a:tcStyle>
        <a:tcBdr/>
        <a:fillRef idx="1">
          <a:schemeClr val="tx1"/>
        </a:fillRef>
      </a:tcStyle>
    </a:firstRow>
    <a:neCell>
      <a:tcStyle>
        <a:tcBdr/>
      </a:tcStyle>
    </a:neCell>
    <a:nwCell>
      <a:tcStyle>
        <a:tcBdr/>
      </a:tcStyle>
    </a:nwCell>
  </a:tblStyle>
  <a:tblStyle styleId="{616DA210-FB5B-4158-B5E0-FEB733F419BA}" styleName="Светлый стиль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816" autoAdjust="0"/>
  </p:normalViewPr>
  <p:slideViewPr>
    <p:cSldViewPr snapToGrid="0" showGuides="1">
      <p:cViewPr varScale="1">
        <p:scale>
          <a:sx n="105" d="100"/>
          <a:sy n="105" d="100"/>
        </p:scale>
        <p:origin x="792" y="90"/>
      </p:cViewPr>
      <p:guideLst>
        <p:guide orient="horz" pos="4088"/>
        <p:guide pos="3863"/>
        <p:guide orient="horz" pos="125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2.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74" Type="http://schemas.openxmlformats.org/officeDocument/2006/relationships/font" Target="fonts/font8.fntdata"/><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3.fntdata"/><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6.fntdata"/><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4.fntdata"/><Relationship Id="rId75"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7.fntdata"/><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0.fntdata"/><Relationship Id="rId7" Type="http://schemas.openxmlformats.org/officeDocument/2006/relationships/slide" Target="slides/slide6.xml"/><Relationship Id="rId71" Type="http://schemas.openxmlformats.org/officeDocument/2006/relationships/font" Target="fonts/font5.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DFDF331-AEE9-4187-8642-DBB3BDF28E90}" type="datetimeFigureOut">
              <a:rPr lang="ru-RU" smtClean="0"/>
              <a:t>08.10.2026</a:t>
            </a:fld>
            <a:endParaRPr lang="ru-RU"/>
          </a:p>
        </p:txBody>
      </p:sp>
      <p:sp>
        <p:nvSpPr>
          <p:cNvPr id="4" name="Образ слайда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28093857-F793-4960-89DF-D50C2129606D}" type="slidenum">
              <a:rPr lang="ru-RU" smtClean="0"/>
              <a:t>‹#›</a:t>
            </a:fld>
            <a:endParaRPr lang="ru-RU"/>
          </a:p>
        </p:txBody>
      </p:sp>
    </p:spTree>
    <p:extLst>
      <p:ext uri="{BB962C8B-B14F-4D97-AF65-F5344CB8AC3E}">
        <p14:creationId xmlns:p14="http://schemas.microsoft.com/office/powerpoint/2010/main" val="1370318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Обозначьте задачу лекции: выбирать лучший маршрут с учётом стоимости переходов. Напомните, что студенты уже умеют хранить граф и выполнять BFS. Сегодня будем менять свойства весов и наблюдать, как это меняет алгоритм. Основное время уделим Дейкстре, затем обсудим два его естественных продолжения.</a:t>
            </a:r>
          </a:p>
        </p:txBody>
      </p:sp>
      <p:sp>
        <p:nvSpPr>
          <p:cNvPr id="4" name="Номер слайда 3"/>
          <p:cNvSpPr>
            <a:spLocks noGrp="1"/>
          </p:cNvSpPr>
          <p:nvPr>
            <p:ph type="sldNum" sz="quarter" idx="5"/>
          </p:nvPr>
        </p:nvSpPr>
        <p:spPr/>
        <p:txBody>
          <a:bodyPr/>
          <a:lstStyle/>
          <a:p>
            <a:fld id="{28093857-F793-4960-89DF-D50C2129606D}" type="slidenum">
              <a:rPr lang="ru-RU" smtClean="0"/>
              <a:t>1</a:t>
            </a:fld>
            <a:endParaRPr lang="ru-RU"/>
          </a:p>
        </p:txBody>
      </p:sp>
    </p:spTree>
    <p:extLst>
      <p:ext uri="{BB962C8B-B14F-4D97-AF65-F5344CB8AC3E}">
        <p14:creationId xmlns:p14="http://schemas.microsoft.com/office/powerpoint/2010/main" val="3976764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Восстановите связь с прошлой лекцией без повторения определений графа. Структурный анализ отвечает, можно ли вообще добраться и что в сети критично. Теперь считаем цену движения внутри этой структуры. Спросите, достаточно ли для навигатора узнать только факт достижимости. Подведите к тому, что среди многих маршрутов нужен лучший по выбранной метрике.</a:t>
            </a:r>
          </a:p>
        </p:txBody>
      </p:sp>
      <p:sp>
        <p:nvSpPr>
          <p:cNvPr id="4" name="Номер слайда 3"/>
          <p:cNvSpPr>
            <a:spLocks noGrp="1"/>
          </p:cNvSpPr>
          <p:nvPr>
            <p:ph type="sldNum" sz="quarter" idx="5"/>
          </p:nvPr>
        </p:nvSpPr>
        <p:spPr/>
        <p:txBody>
          <a:bodyPr/>
          <a:lstStyle/>
          <a:p>
            <a:fld id="{28093857-F793-4960-89DF-D50C2129606D}" type="slidenum">
              <a:rPr lang="ru-RU" smtClean="0"/>
              <a:t>2</a:t>
            </a:fld>
            <a:endParaRPr lang="ru-RU"/>
          </a:p>
        </p:txBody>
      </p:sp>
    </p:spTree>
    <p:extLst>
      <p:ext uri="{BB962C8B-B14F-4D97-AF65-F5344CB8AC3E}">
        <p14:creationId xmlns:p14="http://schemas.microsoft.com/office/powerpoint/2010/main" val="26195077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Предложите два маршрута: короткий через пробку и более длинный по свободной дороге. Уточните, что оптимальность зависит от метрики. Аналогично пакет в компьютерной сети может искать минимальную задержку, а доставка минимальную стоимость. Здесь рассматриваем аддитивную цену: стоимость полного маршрута складывается из стоимостей отдельных переходов. Спросите, какие ещё метрики студенты встречали.</a:t>
            </a:r>
          </a:p>
        </p:txBody>
      </p:sp>
      <p:sp>
        <p:nvSpPr>
          <p:cNvPr id="4" name="Номер слайда 3"/>
          <p:cNvSpPr>
            <a:spLocks noGrp="1"/>
          </p:cNvSpPr>
          <p:nvPr>
            <p:ph type="sldNum" sz="quarter" idx="5"/>
          </p:nvPr>
        </p:nvSpPr>
        <p:spPr/>
        <p:txBody>
          <a:bodyPr/>
          <a:lstStyle/>
          <a:p>
            <a:fld id="{28093857-F793-4960-89DF-D50C2129606D}" type="slidenum">
              <a:rPr lang="ru-RU" smtClean="0"/>
              <a:t>3</a:t>
            </a:fld>
            <a:endParaRPr lang="ru-RU"/>
          </a:p>
        </p:txBody>
      </p:sp>
    </p:spTree>
    <p:extLst>
      <p:ext uri="{BB962C8B-B14F-4D97-AF65-F5344CB8AC3E}">
        <p14:creationId xmlns:p14="http://schemas.microsoft.com/office/powerpoint/2010/main" val="3640452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Дайте два определения вслух, опираясь на формулировки на слайде. Сначала посмотрите на граф без чисел: он задаёт допустимые переходы. Затем добавьте веса к тем же рёбрам. Число может иметь единицы минут, километров или рублей, но в пределах одной задачи используем одну метрику. В ориентированном графе цена обратного перехода может отличаться или самого перехода может не быть.</a:t>
            </a:r>
          </a:p>
        </p:txBody>
      </p:sp>
      <p:sp>
        <p:nvSpPr>
          <p:cNvPr id="4" name="Номер слайда 3"/>
          <p:cNvSpPr>
            <a:spLocks noGrp="1"/>
          </p:cNvSpPr>
          <p:nvPr>
            <p:ph type="sldNum" sz="quarter" idx="5"/>
          </p:nvPr>
        </p:nvSpPr>
        <p:spPr/>
        <p:txBody>
          <a:bodyPr/>
          <a:lstStyle/>
          <a:p>
            <a:fld id="{28093857-F793-4960-89DF-D50C2129606D}" type="slidenum">
              <a:rPr lang="ru-RU" smtClean="0"/>
              <a:t>4</a:t>
            </a:fld>
            <a:endParaRPr lang="ru-RU"/>
          </a:p>
        </p:txBody>
      </p:sp>
    </p:spTree>
    <p:extLst>
      <p:ext uri="{BB962C8B-B14F-4D97-AF65-F5344CB8AC3E}">
        <p14:creationId xmlns:p14="http://schemas.microsoft.com/office/powerpoint/2010/main" val="1735770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Проведите пальцем по маршруту A, B, D, F. Каждый переход добавляет свой вес: четыре, два и три. Спросите, что изменится, если заменить стоимость одного ребра. Предупредите, что веса вершин здесь не участвуют. Формула суммы кратко записывает именно тот расчёт, который выполнили на рисунке. Далее будем сравнивать такие суммы у разных маршрутов.</a:t>
            </a:r>
          </a:p>
        </p:txBody>
      </p:sp>
      <p:sp>
        <p:nvSpPr>
          <p:cNvPr id="4" name="Номер слайда 3"/>
          <p:cNvSpPr>
            <a:spLocks noGrp="1"/>
          </p:cNvSpPr>
          <p:nvPr>
            <p:ph type="sldNum" sz="quarter" idx="5"/>
          </p:nvPr>
        </p:nvSpPr>
        <p:spPr/>
        <p:txBody>
          <a:bodyPr/>
          <a:lstStyle/>
          <a:p>
            <a:fld id="{28093857-F793-4960-89DF-D50C2129606D}" type="slidenum">
              <a:rPr lang="ru-RU" smtClean="0"/>
              <a:t>5</a:t>
            </a:fld>
            <a:endParaRPr lang="ru-RU"/>
          </a:p>
        </p:txBody>
      </p:sp>
    </p:spTree>
    <p:extLst>
      <p:ext uri="{BB962C8B-B14F-4D97-AF65-F5344CB8AC3E}">
        <p14:creationId xmlns:p14="http://schemas.microsoft.com/office/powerpoint/2010/main" val="3522917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Попросите студентов отделить геометрическую длину рисунка от числовых весов. Определение использует сумму весов и допустимые маршруты, а не вид диаграммы. Кратчайших путей может быть несколько с одинаковой стоимостью. Пока будем работать с неотрицательными весами, где задача хорошо определена. Спросите, какой маршрут лучше: один переход за десять или два перехода по одному.</a:t>
            </a:r>
          </a:p>
        </p:txBody>
      </p:sp>
      <p:sp>
        <p:nvSpPr>
          <p:cNvPr id="4" name="Номер слайда 3"/>
          <p:cNvSpPr>
            <a:spLocks noGrp="1"/>
          </p:cNvSpPr>
          <p:nvPr>
            <p:ph type="sldNum" sz="quarter" idx="5"/>
          </p:nvPr>
        </p:nvSpPr>
        <p:spPr/>
        <p:txBody>
          <a:bodyPr/>
          <a:lstStyle/>
          <a:p>
            <a:fld id="{28093857-F793-4960-89DF-D50C2129606D}" type="slidenum">
              <a:rPr lang="ru-RU" smtClean="0"/>
              <a:t>6</a:t>
            </a:fld>
            <a:endParaRPr lang="ru-RU"/>
          </a:p>
        </p:txBody>
      </p:sp>
    </p:spTree>
    <p:extLst>
      <p:ext uri="{BB962C8B-B14F-4D97-AF65-F5344CB8AC3E}">
        <p14:creationId xmlns:p14="http://schemas.microsoft.com/office/powerpoint/2010/main" val="494928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Дайте аудитории около тридцати секунд. На графе предложены три конкретных маршрута, поэтому задача пока сводится к сложению, а не поиску всех путей. Попросите объяснить ответ суммой: первый маршрут стоит четырнадцать, второй одиннадцать, третий тринадцать. Щелчок раскрывает ответ. Уточните, что из предложенных маршрутов выбираем второй, а позже алгоритм подтвердит глобальный минимум.</a:t>
            </a:r>
          </a:p>
          <a:p>
            <a:endParaRPr lang="ru-RU"/>
          </a:p>
          <a:p>
            <a:r>
              <a:rPr lang="ru-RU"/>
              <a:t>Щелчки на этом слайде: ответ на вопрос.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7</a:t>
            </a:fld>
            <a:endParaRPr lang="ru-RU"/>
          </a:p>
        </p:txBody>
      </p:sp>
    </p:spTree>
    <p:extLst>
      <p:ext uri="{BB962C8B-B14F-4D97-AF65-F5344CB8AC3E}">
        <p14:creationId xmlns:p14="http://schemas.microsoft.com/office/powerpoint/2010/main" val="2244111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Различайте запрос к алгоритму и свойства графа. Навигатор часто ищет один маршрут к цели. Анализ доступности из склада требует расстояний до всех пунктов. Предварительная таблица для небольшой сети требует всех пар. Дейкстра и Беллман–Форд естественно решают задачу одного источника, Флойд–Уоршелл вычисляет матрицу. Для Дейкстры можно остановиться, когда цель извлечена с актуальным минимальным расстоянием.</a:t>
            </a:r>
          </a:p>
        </p:txBody>
      </p:sp>
      <p:sp>
        <p:nvSpPr>
          <p:cNvPr id="4" name="Номер слайда 3"/>
          <p:cNvSpPr>
            <a:spLocks noGrp="1"/>
          </p:cNvSpPr>
          <p:nvPr>
            <p:ph type="sldNum" sz="quarter" idx="5"/>
          </p:nvPr>
        </p:nvSpPr>
        <p:spPr/>
        <p:txBody>
          <a:bodyPr/>
          <a:lstStyle/>
          <a:p>
            <a:fld id="{28093857-F793-4960-89DF-D50C2129606D}" type="slidenum">
              <a:rPr lang="ru-RU" smtClean="0"/>
              <a:t>8</a:t>
            </a:fld>
            <a:endParaRPr lang="ru-RU"/>
          </a:p>
        </p:txBody>
      </p:sp>
    </p:spTree>
    <p:extLst>
      <p:ext uri="{BB962C8B-B14F-4D97-AF65-F5344CB8AC3E}">
        <p14:creationId xmlns:p14="http://schemas.microsoft.com/office/powerpoint/2010/main" val="210655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Вспомните очередь FIFO: сначала вершины в одном переходе, потом в двух, затем в трёх. При весе каждого ребра, равном единице, номер слоя и есть стоимость кратчайшего пути. Если все веса равны положительному c, расстояние по рёбрам достаточно умножить на c. Спросите, почему FIFO обеспечивает порядок слоёв. Не повторяйте весь код BFS, он знаком по предыдущей лекции.</a:t>
            </a:r>
          </a:p>
        </p:txBody>
      </p:sp>
      <p:sp>
        <p:nvSpPr>
          <p:cNvPr id="4" name="Номер слайда 3"/>
          <p:cNvSpPr>
            <a:spLocks noGrp="1"/>
          </p:cNvSpPr>
          <p:nvPr>
            <p:ph type="sldNum" sz="quarter" idx="5"/>
          </p:nvPr>
        </p:nvSpPr>
        <p:spPr/>
        <p:txBody>
          <a:bodyPr/>
          <a:lstStyle/>
          <a:p>
            <a:fld id="{28093857-F793-4960-89DF-D50C2129606D}" type="slidenum">
              <a:rPr lang="ru-RU" smtClean="0"/>
              <a:t>9</a:t>
            </a:fld>
            <a:endParaRPr lang="ru-RU"/>
          </a:p>
        </p:txBody>
      </p:sp>
    </p:spTree>
    <p:extLst>
      <p:ext uri="{BB962C8B-B14F-4D97-AF65-F5344CB8AC3E}">
        <p14:creationId xmlns:p14="http://schemas.microsoft.com/office/powerpoint/2010/main" val="1884182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Начните из A. BFS видит B уже на первом слое и фиксирует путь из одного ребра. Через C путь содержит два ребра, поэтому обычный BFS не заменяет им найденный. Но по стоимости это два вместо десяти. Предупредите, что перестановка соседей не превращает BFS в алгоритм для произвольных весов. Нужен новый порядок выбора вершины, основанный на расстоянии.</a:t>
            </a:r>
          </a:p>
          <a:p>
            <a:endParaRPr lang="ru-RU"/>
          </a:p>
          <a:p>
            <a:r>
              <a:rPr lang="ru-RU"/>
              <a:t>Щелчки на этом слайде: следующий элемент объяснения.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10</a:t>
            </a:fld>
            <a:endParaRPr lang="ru-RU"/>
          </a:p>
        </p:txBody>
      </p:sp>
    </p:spTree>
    <p:extLst>
      <p:ext uri="{BB962C8B-B14F-4D97-AF65-F5344CB8AC3E}">
        <p14:creationId xmlns:p14="http://schemas.microsoft.com/office/powerpoint/2010/main" val="37733982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Назовите алгоритм и автора. Главная перемена относительно BFS заключается в приоритете: вместо первого пришедшего выбираем самого дешёвого. Нулевые веса разрешены, строго положительные не требуются. Выбор минимума позволяет зафиксировать расстояние, потому что остальные продолжения с неотрицательными весами не сделают его меньше. Строгое доказательство сейчас не нужно, важнее увидеть эту логику на примере.</a:t>
            </a:r>
          </a:p>
        </p:txBody>
      </p:sp>
      <p:sp>
        <p:nvSpPr>
          <p:cNvPr id="4" name="Номер слайда 3"/>
          <p:cNvSpPr>
            <a:spLocks noGrp="1"/>
          </p:cNvSpPr>
          <p:nvPr>
            <p:ph type="sldNum" sz="quarter" idx="5"/>
          </p:nvPr>
        </p:nvSpPr>
        <p:spPr/>
        <p:txBody>
          <a:bodyPr/>
          <a:lstStyle/>
          <a:p>
            <a:fld id="{28093857-F793-4960-89DF-D50C2129606D}" type="slidenum">
              <a:rPr lang="ru-RU" smtClean="0"/>
              <a:t>11</a:t>
            </a:fld>
            <a:endParaRPr lang="ru-RU"/>
          </a:p>
        </p:txBody>
      </p:sp>
    </p:spTree>
    <p:extLst>
      <p:ext uri="{BB962C8B-B14F-4D97-AF65-F5344CB8AC3E}">
        <p14:creationId xmlns:p14="http://schemas.microsoft.com/office/powerpoint/2010/main" val="3018152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Разделите истинное расстояние и переменную программы. Истинный минимум существует независимо от того, нашли ли мы его. dist хранит лучшую из уже обнаруженных возможностей и вначале обычно больше истинного расстояния. Ноль у источника соответствует пустому пути. Бесконечность означает отсутствие известного маршрута, а не очень большое число. К концу работы достижимые оценки станут точными.</a:t>
            </a:r>
          </a:p>
        </p:txBody>
      </p:sp>
      <p:sp>
        <p:nvSpPr>
          <p:cNvPr id="4" name="Номер слайда 3"/>
          <p:cNvSpPr>
            <a:spLocks noGrp="1"/>
          </p:cNvSpPr>
          <p:nvPr>
            <p:ph type="sldNum" sz="quarter" idx="5"/>
          </p:nvPr>
        </p:nvSpPr>
        <p:spPr/>
        <p:txBody>
          <a:bodyPr/>
          <a:lstStyle/>
          <a:p>
            <a:fld id="{28093857-F793-4960-89DF-D50C2129606D}" type="slidenum">
              <a:rPr lang="ru-RU" smtClean="0"/>
              <a:t>12</a:t>
            </a:fld>
            <a:endParaRPr lang="ru-RU"/>
          </a:p>
        </p:txBody>
      </p:sp>
    </p:spTree>
    <p:extLst>
      <p:ext uri="{BB962C8B-B14F-4D97-AF65-F5344CB8AC3E}">
        <p14:creationId xmlns:p14="http://schemas.microsoft.com/office/powerpoint/2010/main" val="14960778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Подчеркните две фазы шага. Вершину выбираем по минимальному текущему расстоянию, затем изучаем её исходящие рёбра. Обработанность не равна обнаружению: вершина может уже иметь конечную оценку и всё ещё ждать своей очереди. Для неотрицательных весов выбранный минимум окончателен. Попросите аудиторию представить, что текущая оценка соседней вершины улучшается несколько раз до обработки.</a:t>
            </a:r>
          </a:p>
        </p:txBody>
      </p:sp>
      <p:sp>
        <p:nvSpPr>
          <p:cNvPr id="4" name="Номер слайда 3"/>
          <p:cNvSpPr>
            <a:spLocks noGrp="1"/>
          </p:cNvSpPr>
          <p:nvPr>
            <p:ph type="sldNum" sz="quarter" idx="5"/>
          </p:nvPr>
        </p:nvSpPr>
        <p:spPr/>
        <p:txBody>
          <a:bodyPr/>
          <a:lstStyle/>
          <a:p>
            <a:fld id="{28093857-F793-4960-89DF-D50C2129606D}" type="slidenum">
              <a:rPr lang="ru-RU" smtClean="0"/>
              <a:t>13</a:t>
            </a:fld>
            <a:endParaRPr lang="ru-RU"/>
          </a:p>
        </p:txBody>
      </p:sp>
    </p:spTree>
    <p:extLst>
      <p:ext uri="{BB962C8B-B14F-4D97-AF65-F5344CB8AC3E}">
        <p14:creationId xmlns:p14="http://schemas.microsoft.com/office/powerpoint/2010/main" val="4179045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Разберите формулу по частям. До u у нас уже есть найденный путь, затем добавляем одно ребро. Сравниваем этот кандидат со старой оценкой v и оставляем меньшую. В коде используем строгое сравнение, чтобы не добавлять одинаковые записи и не менять parent при равенстве. Слово релаксация обозначает проверку, поэтому проверка без обновления тоже часть алгоритма. Далее покажем конкретные числа.</a:t>
            </a:r>
          </a:p>
        </p:txBody>
      </p:sp>
      <p:sp>
        <p:nvSpPr>
          <p:cNvPr id="4" name="Номер слайда 3"/>
          <p:cNvSpPr>
            <a:spLocks noGrp="1"/>
          </p:cNvSpPr>
          <p:nvPr>
            <p:ph type="sldNum" sz="quarter" idx="5"/>
          </p:nvPr>
        </p:nvSpPr>
        <p:spPr/>
        <p:txBody>
          <a:bodyPr/>
          <a:lstStyle/>
          <a:p>
            <a:fld id="{28093857-F793-4960-89DF-D50C2129606D}" type="slidenum">
              <a:rPr lang="ru-RU" smtClean="0"/>
              <a:t>14</a:t>
            </a:fld>
            <a:endParaRPr lang="ru-RU"/>
          </a:p>
        </p:txBody>
      </p:sp>
    </p:spTree>
    <p:extLst>
      <p:ext uri="{BB962C8B-B14F-4D97-AF65-F5344CB8AC3E}">
        <p14:creationId xmlns:p14="http://schemas.microsoft.com/office/powerpoint/2010/main" val="5538541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Сначала назовите исходные данные: оценка A четыре, ребро весит три, оценка B десять. Первый щелчок показывает кандидат семь. Второй показывает обновление оценки. Предупредите, что число четыре не является весом ребра: это уже накопленная стоимость маршрута до A. Спросите, что записать в parent[B], если хотим восстановить маршрут. Ответ A.</a:t>
            </a:r>
          </a:p>
          <a:p>
            <a:endParaRPr lang="ru-RU"/>
          </a:p>
          <a:p>
            <a:r>
              <a:rPr lang="ru-RU"/>
              <a:t>Щелчки на этом слайде: новый кандидат, затем результат сравнения.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15</a:t>
            </a:fld>
            <a:endParaRPr lang="ru-RU"/>
          </a:p>
        </p:txBody>
      </p:sp>
    </p:spTree>
    <p:extLst>
      <p:ext uri="{BB962C8B-B14F-4D97-AF65-F5344CB8AC3E}">
        <p14:creationId xmlns:p14="http://schemas.microsoft.com/office/powerpoint/2010/main" val="32826630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60 секунд.</a:t>
            </a:r>
          </a:p>
          <a:p>
            <a:endParaRPr lang="ru-RU"/>
          </a:p>
          <a:p>
            <a:r>
              <a:rPr lang="ru-RU"/>
              <a:t>Попросите вычислить кандидата до ответа. Дайте около двадцати секунд, затем щелчком откройте сравнение. Здесь улучшения нет: тринадцать больше одиннадцати. Спросите дополнительно, что произойдёт при кандидате ровно одиннадцать. При строгом сравнении оценка и parent остаются прежними. Переходим к большому примеру, где эти операции будут повторяться на одном графе.</a:t>
            </a:r>
          </a:p>
          <a:p>
            <a:endParaRPr lang="ru-RU"/>
          </a:p>
          <a:p>
            <a:r>
              <a:rPr lang="ru-RU"/>
              <a:t>Щелчки на этом слайде: ответ на вопрос.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16</a:t>
            </a:fld>
            <a:endParaRPr lang="ru-RU"/>
          </a:p>
        </p:txBody>
      </p:sp>
    </p:spTree>
    <p:extLst>
      <p:ext uri="{BB962C8B-B14F-4D97-AF65-F5344CB8AC3E}">
        <p14:creationId xmlns:p14="http://schemas.microsoft.com/office/powerpoint/2010/main" val="40546345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Объясните легенду цветов и таблицу справа. Граф неориентированный, поэтому каждое ребро можно проходить в обе стороны с одной ценой. Источник A имеет нулевую оценку, остальные пока недостижимы по известным маршрутам. Очередь показывает записи в порядке приоритета, это не массив внутреннего представления heapq. Попросите предсказать первую выбранную вершину.</a:t>
            </a:r>
          </a:p>
        </p:txBody>
      </p:sp>
      <p:sp>
        <p:nvSpPr>
          <p:cNvPr id="4" name="Номер слайда 3"/>
          <p:cNvSpPr>
            <a:spLocks noGrp="1"/>
          </p:cNvSpPr>
          <p:nvPr>
            <p:ph type="sldNum" sz="quarter" idx="5"/>
          </p:nvPr>
        </p:nvSpPr>
        <p:spPr/>
        <p:txBody>
          <a:bodyPr/>
          <a:lstStyle/>
          <a:p>
            <a:fld id="{28093857-F793-4960-89DF-D50C2129606D}" type="slidenum">
              <a:rPr lang="ru-RU" smtClean="0"/>
              <a:t>17</a:t>
            </a:fld>
            <a:endParaRPr lang="ru-RU"/>
          </a:p>
        </p:txBody>
      </p:sp>
    </p:spTree>
    <p:extLst>
      <p:ext uri="{BB962C8B-B14F-4D97-AF65-F5344CB8AC3E}">
        <p14:creationId xmlns:p14="http://schemas.microsoft.com/office/powerpoint/2010/main" val="1707162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На переходе Morph выделяется A, остальные объекты сохраняются. Щелчок открывает пояснение выбора, затем таблицу состояния очереди. Поскольку A единственная с конечной оценкой, выбор однозначен. Рассматриваем только её два ребра, не пытаемся немедленно пройти весь маршрут. Попросите студентов вычислить новые оценки B и C до следующих слайдов.</a:t>
            </a:r>
          </a:p>
          <a:p>
            <a:endParaRPr lang="ru-RU"/>
          </a:p>
          <a:p>
            <a:r>
              <a:rPr lang="ru-RU"/>
              <a:t>Щелчки на этом слайде: вычисление и объяснение шага, затем новое состояние очереди.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18</a:t>
            </a:fld>
            <a:endParaRPr lang="ru-RU"/>
          </a:p>
        </p:txBody>
      </p:sp>
    </p:spTree>
    <p:extLst>
      <p:ext uri="{BB962C8B-B14F-4D97-AF65-F5344CB8AC3E}">
        <p14:creationId xmlns:p14="http://schemas.microsoft.com/office/powerpoint/2010/main" val="25562857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Сопоставьте подсвеченное ребро и строку B. Первый щелчок показывает арифметику, следующий новую запись очереди. В таблице сохраняется цена полного пути из A, здесь она совпала с весом одного ребра. B лишь обнаружена, её оценка ещё может улучшиться. Обработку A ещё не завершили, впереди её второй сосед.</a:t>
            </a:r>
          </a:p>
          <a:p>
            <a:endParaRPr lang="ru-RU"/>
          </a:p>
          <a:p>
            <a:r>
              <a:rPr lang="ru-RU"/>
              <a:t>Щелчки на этом слайде: вычисление и объяснение шага, затем новое состояние очереди.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19</a:t>
            </a:fld>
            <a:endParaRPr lang="ru-RU"/>
          </a:p>
        </p:txBody>
      </p:sp>
    </p:spTree>
    <p:extLst>
      <p:ext uri="{BB962C8B-B14F-4D97-AF65-F5344CB8AC3E}">
        <p14:creationId xmlns:p14="http://schemas.microsoft.com/office/powerpoint/2010/main" val="624278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Покажите обновление C и появление записи с меньшим приоритетом. После проверки всех соседей A считаем обработанной и закрашиваем. Спросите, кого выберем теперь: B была обнаружена первой, но C дешевле. Этот момент отделяет Дейкстру от FIFO. Последовательность анимаций: вычисление кандидата, затем очередь.</a:t>
            </a:r>
          </a:p>
          <a:p>
            <a:endParaRPr lang="ru-RU"/>
          </a:p>
          <a:p>
            <a:r>
              <a:rPr lang="ru-RU"/>
              <a:t>Щелчки на этом слайде: вычисление и объяснение шага, затем новое состояние очереди.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20</a:t>
            </a:fld>
            <a:endParaRPr lang="ru-RU"/>
          </a:p>
        </p:txBody>
      </p:sp>
    </p:spTree>
    <p:extLst>
      <p:ext uri="{BB962C8B-B14F-4D97-AF65-F5344CB8AC3E}">
        <p14:creationId xmlns:p14="http://schemas.microsoft.com/office/powerpoint/2010/main" val="35329595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Сравните конечные оценки необработанных вершин. C выбирается по трём, B пока семь. Обратное ребро к A не улучшает уже точный ноль, поэтому акцент на B, D и E. Попросите вычислить кандидат до B: три плюс два. Это первое улучшение уже конечной оценки в нашем примере, а не замена бесконечности.</a:t>
            </a:r>
          </a:p>
          <a:p>
            <a:endParaRPr lang="ru-RU"/>
          </a:p>
          <a:p>
            <a:r>
              <a:rPr lang="ru-RU"/>
              <a:t>Щелчки на этом слайде: вычисление и объяснение шага, затем новое состояние очереди.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21</a:t>
            </a:fld>
            <a:endParaRPr lang="ru-RU"/>
          </a:p>
        </p:txBody>
      </p:sp>
    </p:spTree>
    <p:extLst>
      <p:ext uri="{BB962C8B-B14F-4D97-AF65-F5344CB8AC3E}">
        <p14:creationId xmlns:p14="http://schemas.microsoft.com/office/powerpoint/2010/main" val="24705537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Покажите, что путь A, C, B дешевле прямого A, B. Старую запись с семью из heapq не удаляем, просто добавляем новую с пятью. Это нормальная учебная реализация без decrease-key. После щелчков аудитория видит арифметику и обе записи. Спросите, как позже отличить старую запись от актуальной. Детально ответим в блоке про очередь.</a:t>
            </a:r>
          </a:p>
          <a:p>
            <a:endParaRPr lang="ru-RU"/>
          </a:p>
          <a:p>
            <a:r>
              <a:rPr lang="ru-RU"/>
              <a:t>Щелчки на этом слайде: вычисление и объяснение шага, затем новое состояние очереди.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22</a:t>
            </a:fld>
            <a:endParaRPr lang="ru-RU"/>
          </a:p>
        </p:txBody>
      </p:sp>
    </p:spTree>
    <p:extLst>
      <p:ext uri="{BB962C8B-B14F-4D97-AF65-F5344CB8AC3E}">
        <p14:creationId xmlns:p14="http://schemas.microsoft.com/office/powerpoint/2010/main" val="6330972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Рассмотрите два оставшихся ребра C отдельно. D получает восемь, E одиннадцать. Эти значения являются найденными оценками и не обещают окончательного результата для обеих вершин. После проверки всех соседей C обработана. Спросите, кто следующий среди актуальных записей. B с пятью. В очереди всё ещё присутствует её устаревшая семёрка.</a:t>
            </a:r>
          </a:p>
          <a:p>
            <a:endParaRPr lang="ru-RU"/>
          </a:p>
          <a:p>
            <a:r>
              <a:rPr lang="ru-RU"/>
              <a:t>Щелчки на этом слайде: вычисление и объяснение шага, затем новое состояние очереди.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23</a:t>
            </a:fld>
            <a:endParaRPr lang="ru-RU"/>
          </a:p>
        </p:txBody>
      </p:sp>
    </p:spTree>
    <p:extLst>
      <p:ext uri="{BB962C8B-B14F-4D97-AF65-F5344CB8AC3E}">
        <p14:creationId xmlns:p14="http://schemas.microsoft.com/office/powerpoint/2010/main" val="24118777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B извлекаем по актуальной пятёрке. Через ребро B, D кандидат девять, но уже найдено восемь через C. Поэтому очередь не получает новую запись D и parent[D] не меняется. Эта проверка иллюстрирует неуспешную релаксацию. После рассмотрения соседей B обработана. Следующая физическая запись кучи семь, но она уже устарела.</a:t>
            </a:r>
          </a:p>
          <a:p>
            <a:endParaRPr lang="ru-RU"/>
          </a:p>
          <a:p>
            <a:r>
              <a:rPr lang="ru-RU"/>
              <a:t>Щелчки на этом слайде: вычисление и объяснение шага, затем новое состояние очереди.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24</a:t>
            </a:fld>
            <a:endParaRPr lang="ru-RU"/>
          </a:p>
        </p:txBody>
      </p:sp>
    </p:spTree>
    <p:extLst>
      <p:ext uri="{BB962C8B-B14F-4D97-AF65-F5344CB8AC3E}">
        <p14:creationId xmlns:p14="http://schemas.microsoft.com/office/powerpoint/2010/main" val="17418784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Сначала извлеките семёрку B и сравните с dist[B], равным пяти. Щелчком покажите причину пропуска. Не надо снова обходить соседей B. Затем выбираем актуальную восьмёрку D. Обратите внимание на разницу между минимальной записью кучи и минимальной актуальной оценкой. Защита от старых записей сохраняет эффективную работу реализации.</a:t>
            </a:r>
          </a:p>
          <a:p>
            <a:endParaRPr lang="ru-RU"/>
          </a:p>
          <a:p>
            <a:r>
              <a:rPr lang="ru-RU"/>
              <a:t>Щелчки на этом слайде: вычисление и объяснение шага, затем новое состояние очереди.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25</a:t>
            </a:fld>
            <a:endParaRPr lang="ru-RU"/>
          </a:p>
        </p:txBody>
      </p:sp>
    </p:spTree>
    <p:extLst>
      <p:ext uri="{BB962C8B-B14F-4D97-AF65-F5344CB8AC3E}">
        <p14:creationId xmlns:p14="http://schemas.microsoft.com/office/powerpoint/2010/main" val="19589823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Два обновления: E теперь выгоднее достигать через D, а F впервые получает конечное расстояние. Покажите вычисления по очереди и новые записи. Для E снова остаётся старая запись. Спросите, означает ли найденное расстояние F, что можно уже закончить при поиске только F. Нет: безопасно заканчивать после извлечения актуальной F с минимумом, а не при первом обнаружении.</a:t>
            </a:r>
          </a:p>
          <a:p>
            <a:endParaRPr lang="ru-RU"/>
          </a:p>
          <a:p>
            <a:r>
              <a:rPr lang="ru-RU"/>
              <a:t>Щелчки на этом слайде: вычисление и объяснение шага, затем новое состояние очереди.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26</a:t>
            </a:fld>
            <a:endParaRPr lang="ru-RU"/>
          </a:p>
        </p:txBody>
      </p:sp>
    </p:spTree>
    <p:extLst>
      <p:ext uri="{BB962C8B-B14F-4D97-AF65-F5344CB8AC3E}">
        <p14:creationId xmlns:p14="http://schemas.microsoft.com/office/powerpoint/2010/main" val="16271455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Выбираем E с девятью, проверяем ребро к F. Стоимость одиннадцать равна уже известной, поэтому при строгом сравнении ничего не обновляем. Так в графе проявляются два разных кратчайших маршрута до F. Мы сохраняем первый найденный через D. Затем устаревшая запись E с одиннадцатью будет пропущена, а актуальная F завершит обработку.</a:t>
            </a:r>
          </a:p>
          <a:p>
            <a:endParaRPr lang="ru-RU"/>
          </a:p>
          <a:p>
            <a:r>
              <a:rPr lang="ru-RU"/>
              <a:t>Щелчки на этом слайде: вычисление и объяснение шага, затем новое состояние очереди.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27</a:t>
            </a:fld>
            <a:endParaRPr lang="ru-RU"/>
          </a:p>
        </p:txBody>
      </p:sp>
    </p:spTree>
    <p:extLst>
      <p:ext uri="{BB962C8B-B14F-4D97-AF65-F5344CB8AC3E}">
        <p14:creationId xmlns:p14="http://schemas.microsoft.com/office/powerpoint/2010/main" val="12771832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Соберите итоговую таблицу. Порядок обработки A, C, B, D, E, F соответствует неубывающим расстояниям. Спросите, почему значения разных вершин не обязательно растут в алфавитном порядке. Все вершины примера достижимы, но в другом графе бесконечности могут сохраниться. Теперь выделим общую схему и заменим ручной выбор эффективной структурой данных.</a:t>
            </a:r>
          </a:p>
          <a:p>
            <a:endParaRPr lang="ru-RU"/>
          </a:p>
          <a:p>
            <a:r>
              <a:rPr lang="ru-RU"/>
              <a:t>Щелчки на этом слайде: вычисление и объяснение шага, затем новое состояние очереди.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28</a:t>
            </a:fld>
            <a:endParaRPr lang="ru-RU"/>
          </a:p>
        </p:txBody>
      </p:sp>
    </p:spTree>
    <p:extLst>
      <p:ext uri="{BB962C8B-B14F-4D97-AF65-F5344CB8AC3E}">
        <p14:creationId xmlns:p14="http://schemas.microsoft.com/office/powerpoint/2010/main" val="4506165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Попросите студентов пересказать один шаг на своём языке. Здесь уже не нужно перечислять все вершины примера. Сопоставьте четыре действия с увиденной последовательностью слайдов. Главная операция изменения состояния релаксация, а главная операция управления выбор минимума. Переходите к вопросу, как выполнять выбор, если вершин тысячи.</a:t>
            </a:r>
          </a:p>
          <a:p>
            <a:endParaRPr lang="ru-RU"/>
          </a:p>
          <a:p>
            <a:r>
              <a:rPr lang="ru-RU"/>
              <a:t>Щелчки на этом слайде: следующий элемент объяснения, затем следующий элемент объяснения, затем следующий элемент объяснения, затем следующий элемент объяснения.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29</a:t>
            </a:fld>
            <a:endParaRPr lang="ru-RU"/>
          </a:p>
        </p:txBody>
      </p:sp>
    </p:spTree>
    <p:extLst>
      <p:ext uri="{BB962C8B-B14F-4D97-AF65-F5344CB8AC3E}">
        <p14:creationId xmlns:p14="http://schemas.microsoft.com/office/powerpoint/2010/main" val="3249829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Простой просмотр понятен и полезен для плотных графов, но на разреженном графе тратит много времени на выбор. Напомните минимальную кучу из первой лекции. На вершине кучи минимальный приоритет, а остальные элементы не обязаны быть отсортированы. N здесь число записей в куче. В ленивой реализации их может быть больше числа вершин. Далее уточним, что именно хранится в записи.</a:t>
            </a:r>
          </a:p>
        </p:txBody>
      </p:sp>
      <p:sp>
        <p:nvSpPr>
          <p:cNvPr id="4" name="Номер слайда 3"/>
          <p:cNvSpPr>
            <a:spLocks noGrp="1"/>
          </p:cNvSpPr>
          <p:nvPr>
            <p:ph type="sldNum" sz="quarter" idx="5"/>
          </p:nvPr>
        </p:nvSpPr>
        <p:spPr/>
        <p:txBody>
          <a:bodyPr/>
          <a:lstStyle/>
          <a:p>
            <a:fld id="{28093857-F793-4960-89DF-D50C2129606D}" type="slidenum">
              <a:rPr lang="ru-RU" smtClean="0"/>
              <a:t>30</a:t>
            </a:fld>
            <a:endParaRPr lang="ru-RU"/>
          </a:p>
        </p:txBody>
      </p:sp>
    </p:spTree>
    <p:extLst>
      <p:ext uri="{BB962C8B-B14F-4D97-AF65-F5344CB8AC3E}">
        <p14:creationId xmlns:p14="http://schemas.microsoft.com/office/powerpoint/2010/main" val="40534011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Пара состоит из расстояния и имени вершины. Приоритет определяет первый элемент. На нашем графе сначала добавили B с семью, затем B с пятью. Вершина одна, записей две, но актуальное значение только dist[B], равное пяти. Строка с семью не является вторым расстоянием результата. Покажите щелчками сначала новую запись, затем подпись об устаревшей.</a:t>
            </a:r>
          </a:p>
          <a:p>
            <a:endParaRPr lang="ru-RU"/>
          </a:p>
          <a:p>
            <a:r>
              <a:rPr lang="ru-RU"/>
              <a:t>Щелчки на этом слайде: следующий элемент объяснения.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31</a:t>
            </a:fld>
            <a:endParaRPr lang="ru-RU"/>
          </a:p>
        </p:txBody>
      </p:sp>
    </p:spTree>
    <p:extLst>
      <p:ext uri="{BB962C8B-B14F-4D97-AF65-F5344CB8AC3E}">
        <p14:creationId xmlns:p14="http://schemas.microsoft.com/office/powerpoint/2010/main" val="19333535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60 секунд.</a:t>
            </a:r>
          </a:p>
          <a:p>
            <a:endParaRPr lang="ru-RU"/>
          </a:p>
          <a:p>
            <a:r>
              <a:rPr lang="ru-RU"/>
              <a:t>Прочитайте проверку как правило, а не синтаксис. Извлечённая запись дороже лучшей известной оценки, значит она больше не нужна. В данной реализации оценки только уменьшаются, поэтому сравнение больше достаточно. Вариант с неравенством тоже распространён. Предупредите, что проверка должна стоять до обхода соседей. Это не запрет повторных записей, а способ безопасно их пропускать.</a:t>
            </a:r>
          </a:p>
        </p:txBody>
      </p:sp>
      <p:sp>
        <p:nvSpPr>
          <p:cNvPr id="4" name="Номер слайда 3"/>
          <p:cNvSpPr>
            <a:spLocks noGrp="1"/>
          </p:cNvSpPr>
          <p:nvPr>
            <p:ph type="sldNum" sz="quarter" idx="5"/>
          </p:nvPr>
        </p:nvSpPr>
        <p:spPr/>
        <p:txBody>
          <a:bodyPr/>
          <a:lstStyle/>
          <a:p>
            <a:fld id="{28093857-F793-4960-89DF-D50C2129606D}" type="slidenum">
              <a:rPr lang="ru-RU" smtClean="0"/>
              <a:t>32</a:t>
            </a:fld>
            <a:endParaRPr lang="ru-RU"/>
          </a:p>
        </p:txBody>
      </p:sp>
    </p:spTree>
    <p:extLst>
      <p:ext uri="{BB962C8B-B14F-4D97-AF65-F5344CB8AC3E}">
        <p14:creationId xmlns:p14="http://schemas.microsoft.com/office/powerpoint/2010/main" val="19572024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60 секунд.</a:t>
            </a:r>
          </a:p>
          <a:p>
            <a:endParaRPr lang="ru-RU"/>
          </a:p>
          <a:p>
            <a:r>
              <a:rPr lang="ru-RU"/>
              <a:t>Разберите псевдокод сверху вниз, сопоставляя с ручным примером. Начальное состояние должно быть настроено до цикла. Каждая успешная релаксация создаёт новую запись. Объясните, что parent понадобится для маршрута и пока хранит предшественника лучшего пути. Спросите, какую строку нужно изменить, чтобы получить обычную FIFO. Замена структуры сама по себе не даст корректный алгоритм для весов.</a:t>
            </a:r>
          </a:p>
        </p:txBody>
      </p:sp>
      <p:sp>
        <p:nvSpPr>
          <p:cNvPr id="4" name="Номер слайда 3"/>
          <p:cNvSpPr>
            <a:spLocks noGrp="1"/>
          </p:cNvSpPr>
          <p:nvPr>
            <p:ph type="sldNum" sz="quarter" idx="5"/>
          </p:nvPr>
        </p:nvSpPr>
        <p:spPr/>
        <p:txBody>
          <a:bodyPr/>
          <a:lstStyle/>
          <a:p>
            <a:fld id="{28093857-F793-4960-89DF-D50C2129606D}" type="slidenum">
              <a:rPr lang="ru-RU" smtClean="0"/>
              <a:t>33</a:t>
            </a:fld>
            <a:endParaRPr lang="ru-RU"/>
          </a:p>
        </p:txBody>
      </p:sp>
    </p:spTree>
    <p:extLst>
      <p:ext uri="{BB962C8B-B14F-4D97-AF65-F5344CB8AC3E}">
        <p14:creationId xmlns:p14="http://schemas.microsoft.com/office/powerpoint/2010/main" val="3609442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60 секунд.</a:t>
            </a:r>
          </a:p>
          <a:p>
            <a:endParaRPr lang="ru-RU"/>
          </a:p>
          <a:p>
            <a:r>
              <a:rPr lang="ru-RU"/>
              <a:t>Уточните контракт списка смежности: ключ должен быть у каждой вершины, даже у стока. Значение ключа список пар сосед, вес. Покажите инициализацию двух словарей и кучи. Источник должен присутствовать в graph, веса по условию неотрицательны. Для учебного примера имена вершин строки одного типа, чтобы heapq мог сравнить их при равных расстояниях. Следующий слайд продолжает тело этой же функции.</a:t>
            </a:r>
          </a:p>
        </p:txBody>
      </p:sp>
      <p:sp>
        <p:nvSpPr>
          <p:cNvPr id="4" name="Номер слайда 3"/>
          <p:cNvSpPr>
            <a:spLocks noGrp="1"/>
          </p:cNvSpPr>
          <p:nvPr>
            <p:ph type="sldNum" sz="quarter" idx="5"/>
          </p:nvPr>
        </p:nvSpPr>
        <p:spPr/>
        <p:txBody>
          <a:bodyPr/>
          <a:lstStyle/>
          <a:p>
            <a:fld id="{28093857-F793-4960-89DF-D50C2129606D}" type="slidenum">
              <a:rPr lang="ru-RU" smtClean="0"/>
              <a:t>34</a:t>
            </a:fld>
            <a:endParaRPr lang="ru-RU"/>
          </a:p>
        </p:txBody>
      </p:sp>
    </p:spTree>
    <p:extLst>
      <p:ext uri="{BB962C8B-B14F-4D97-AF65-F5344CB8AC3E}">
        <p14:creationId xmlns:p14="http://schemas.microsoft.com/office/powerpoint/2010/main" val="1637826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60 секунд.</a:t>
            </a:r>
          </a:p>
          <a:p>
            <a:endParaRPr lang="ru-RU"/>
          </a:p>
          <a:p>
            <a:r>
              <a:rPr lang="ru-RU"/>
              <a:t>Первый щелчок выделяет извлечение, второй раскрывает пояснение к релаксации. Не переписывайте вслух каждую строку: укажите, где выбор минимума, где защита от старых записей и где обновление. parent меняем только вместе со строго лучшим расстоянием. Возвращаем оба словаря. В неориентированном графе каждое ребро нужно занести в оба списка смежности. Это завершённая функция вместе с предыдущим слайдом.</a:t>
            </a:r>
          </a:p>
          <a:p>
            <a:endParaRPr lang="ru-RU"/>
          </a:p>
          <a:p>
            <a:r>
              <a:rPr lang="ru-RU"/>
              <a:t>Щелчки на этом слайде: следующий элемент объяснения.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35</a:t>
            </a:fld>
            <a:endParaRPr lang="ru-RU"/>
          </a:p>
        </p:txBody>
      </p:sp>
    </p:spTree>
    <p:extLst>
      <p:ext uri="{BB962C8B-B14F-4D97-AF65-F5344CB8AC3E}">
        <p14:creationId xmlns:p14="http://schemas.microsoft.com/office/powerpoint/2010/main" val="23101221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Объясните происхождение формулы, а не только её вид. Рёбра просматриваются при актуальной обработке вершин. Каждая успешная релаксация может добавить запись, поэтому ленивый heap использует до порядка E памяти. Для простого графа E не превосходит квадратичного числа рёбер, значит логарифмы E и V имеют один порядок. При наличии многих параллельных рёбер удобнее точная оценка с log E. Предупредите, что память кучи не всегда O(V).</a:t>
            </a:r>
          </a:p>
        </p:txBody>
      </p:sp>
      <p:sp>
        <p:nvSpPr>
          <p:cNvPr id="4" name="Номер слайда 3"/>
          <p:cNvSpPr>
            <a:spLocks noGrp="1"/>
          </p:cNvSpPr>
          <p:nvPr>
            <p:ph type="sldNum" sz="quarter" idx="5"/>
          </p:nvPr>
        </p:nvSpPr>
        <p:spPr/>
        <p:txBody>
          <a:bodyPr/>
          <a:lstStyle/>
          <a:p>
            <a:fld id="{28093857-F793-4960-89DF-D50C2129606D}" type="slidenum">
              <a:rPr lang="ru-RU" smtClean="0"/>
              <a:t>36</a:t>
            </a:fld>
            <a:endParaRPr lang="ru-RU"/>
          </a:p>
        </p:txBody>
      </p:sp>
    </p:spTree>
    <p:extLst>
      <p:ext uri="{BB962C8B-B14F-4D97-AF65-F5344CB8AC3E}">
        <p14:creationId xmlns:p14="http://schemas.microsoft.com/office/powerpoint/2010/main" val="7251984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Одного расстояния одиннадцать навигатору мало, нужны повороты или последовательность вершин. parent запоминает, из какой вершины пришло последнее строгое улучшение. В нашем примере B меняет предшественника с A на C, а E с C на D. D остаётся с C, поскольку путь через B дороже. Пройдите по итоговой таблице и спросите, какой будет первый шаг назад из F.</a:t>
            </a:r>
          </a:p>
        </p:txBody>
      </p:sp>
      <p:sp>
        <p:nvSpPr>
          <p:cNvPr id="4" name="Номер слайда 3"/>
          <p:cNvSpPr>
            <a:spLocks noGrp="1"/>
          </p:cNvSpPr>
          <p:nvPr>
            <p:ph type="sldNum" sz="quarter" idx="5"/>
          </p:nvPr>
        </p:nvSpPr>
        <p:spPr/>
        <p:txBody>
          <a:bodyPr/>
          <a:lstStyle/>
          <a:p>
            <a:fld id="{28093857-F793-4960-89DF-D50C2129606D}" type="slidenum">
              <a:rPr lang="ru-RU" smtClean="0"/>
              <a:t>37</a:t>
            </a:fld>
            <a:endParaRPr lang="ru-RU"/>
          </a:p>
        </p:txBody>
      </p:sp>
    </p:spTree>
    <p:extLst>
      <p:ext uri="{BB962C8B-B14F-4D97-AF65-F5344CB8AC3E}">
        <p14:creationId xmlns:p14="http://schemas.microsoft.com/office/powerpoint/2010/main" val="37204854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60 секунд.</a:t>
            </a:r>
          </a:p>
          <a:p>
            <a:endParaRPr lang="ru-RU"/>
          </a:p>
          <a:p>
            <a:r>
              <a:rPr lang="ru-RU"/>
              <a:t>Начинайте с F, потому что parent указывает назад. Последовательность сначала получится в обратном порядке. Функция возвращает путь только когда действительно дошла до start. Если цепочка закончилась None раньше, цель недостижима из источника и результат пуст. Если цель совпадает с источником, получится одноэлементный путь. Здесь предполагаем корректный parent из алгоритма без отрицательного цикла.</a:t>
            </a:r>
          </a:p>
        </p:txBody>
      </p:sp>
      <p:sp>
        <p:nvSpPr>
          <p:cNvPr id="4" name="Номер слайда 3"/>
          <p:cNvSpPr>
            <a:spLocks noGrp="1"/>
          </p:cNvSpPr>
          <p:nvPr>
            <p:ph type="sldNum" sz="quarter" idx="5"/>
          </p:nvPr>
        </p:nvSpPr>
        <p:spPr/>
        <p:txBody>
          <a:bodyPr/>
          <a:lstStyle/>
          <a:p>
            <a:fld id="{28093857-F793-4960-89DF-D50C2129606D}" type="slidenum">
              <a:rPr lang="ru-RU" smtClean="0"/>
              <a:t>38</a:t>
            </a:fld>
            <a:endParaRPr lang="ru-RU"/>
          </a:p>
        </p:txBody>
      </p:sp>
    </p:spTree>
    <p:extLst>
      <p:ext uri="{BB962C8B-B14F-4D97-AF65-F5344CB8AC3E}">
        <p14:creationId xmlns:p14="http://schemas.microsoft.com/office/powerpoint/2010/main" val="9849366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На исходном графе выделен маршрут, восстановленный через parent. Спросите, есть ли ещё один путь той же стоимости. A, C, D, E, F также стоит одиннадцать, но наш строгий алгоритм сохранил маршрут через D напрямую в F. Это не ошибка и не уникальность кратчайшего пути. Сверьте сумму с dist[F]. Переходим к условию, которое позволило фиксировать вершины.</a:t>
            </a:r>
          </a:p>
        </p:txBody>
      </p:sp>
      <p:sp>
        <p:nvSpPr>
          <p:cNvPr id="4" name="Номер слайда 3"/>
          <p:cNvSpPr>
            <a:spLocks noGrp="1"/>
          </p:cNvSpPr>
          <p:nvPr>
            <p:ph type="sldNum" sz="quarter" idx="5"/>
          </p:nvPr>
        </p:nvSpPr>
        <p:spPr/>
        <p:txBody>
          <a:bodyPr/>
          <a:lstStyle/>
          <a:p>
            <a:fld id="{28093857-F793-4960-89DF-D50C2129606D}" type="slidenum">
              <a:rPr lang="ru-RU" smtClean="0"/>
              <a:t>39</a:t>
            </a:fld>
            <a:endParaRPr lang="ru-RU"/>
          </a:p>
        </p:txBody>
      </p:sp>
    </p:spTree>
    <p:extLst>
      <p:ext uri="{BB962C8B-B14F-4D97-AF65-F5344CB8AC3E}">
        <p14:creationId xmlns:p14="http://schemas.microsoft.com/office/powerpoint/2010/main" val="23601749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Дайте явное определение отрицательного ребра. Оно не обязательно означает физическую отрицательную длину: вес может моделировать прибыль или скидку. Дейкстра опирается на то, что продолжение маршрута не уменьшает его цену. Отрицательное ребро разрушает эту гарантию. Уточните, что ноль безопасен. В неориентированной сети отрицательное ребро позволяет бесконечно уменьшать цену, если повторять проход туда и обратно.</a:t>
            </a:r>
          </a:p>
        </p:txBody>
      </p:sp>
      <p:sp>
        <p:nvSpPr>
          <p:cNvPr id="4" name="Номер слайда 3"/>
          <p:cNvSpPr>
            <a:spLocks noGrp="1"/>
          </p:cNvSpPr>
          <p:nvPr>
            <p:ph type="sldNum" sz="quarter" idx="5"/>
          </p:nvPr>
        </p:nvSpPr>
        <p:spPr/>
        <p:txBody>
          <a:bodyPr/>
          <a:lstStyle/>
          <a:p>
            <a:fld id="{28093857-F793-4960-89DF-D50C2129606D}" type="slidenum">
              <a:rPr lang="ru-RU" smtClean="0"/>
              <a:t>40</a:t>
            </a:fld>
            <a:endParaRPr lang="ru-RU"/>
          </a:p>
        </p:txBody>
      </p:sp>
    </p:spTree>
    <p:extLst>
      <p:ext uri="{BB962C8B-B14F-4D97-AF65-F5344CB8AC3E}">
        <p14:creationId xmlns:p14="http://schemas.microsoft.com/office/powerpoint/2010/main" val="24249072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Граф ориентирован: A в B два, A в C пять, C в B минус четыре. Сначала выбрана B, потому что два меньше пяти. Позже обнаруживается маршрут с ценой один. Классический вариант с окончательной фиксацией или ранней остановкой вернёт ошибку. Показанный heapq код без visited иногда заново обрабатывает вершину и может исправить этот пример, но гарантия Дейкстры и его оценка сложности уже не действуют. Не представляем такой код как алгоритм для отрицательных весов.</a:t>
            </a:r>
          </a:p>
          <a:p>
            <a:endParaRPr lang="ru-RU"/>
          </a:p>
          <a:p>
            <a:r>
              <a:rPr lang="ru-RU"/>
              <a:t>Щелчки на этом слайде: следующий элемент объяснения.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41</a:t>
            </a:fld>
            <a:endParaRPr lang="ru-RU"/>
          </a:p>
        </p:txBody>
      </p:sp>
    </p:spTree>
    <p:extLst>
      <p:ext uri="{BB962C8B-B14F-4D97-AF65-F5344CB8AC3E}">
        <p14:creationId xmlns:p14="http://schemas.microsoft.com/office/powerpoint/2010/main" val="3856403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Поставьте новую задачу: оставляем релаксацию, но отказываемся от жадной фиксации. Беллман–Форд допускает отрицательные рёбра, однако отрицательный цикл может сделать минимум несуществующим. Рассматриваем достижимость от выбранного источника. Отрицательный цикл в другом компоненте не влияет на результат для этого источника. Ценой универсальности станет больше повторных просмотров рёбер.</a:t>
            </a:r>
          </a:p>
        </p:txBody>
      </p:sp>
      <p:sp>
        <p:nvSpPr>
          <p:cNvPr id="4" name="Номер слайда 3"/>
          <p:cNvSpPr>
            <a:spLocks noGrp="1"/>
          </p:cNvSpPr>
          <p:nvPr>
            <p:ph type="sldNum" sz="quarter" idx="5"/>
          </p:nvPr>
        </p:nvSpPr>
        <p:spPr/>
        <p:txBody>
          <a:bodyPr/>
          <a:lstStyle/>
          <a:p>
            <a:fld id="{28093857-F793-4960-89DF-D50C2129606D}" type="slidenum">
              <a:rPr lang="ru-RU" smtClean="0"/>
              <a:t>42</a:t>
            </a:fld>
            <a:endParaRPr lang="ru-RU"/>
          </a:p>
        </p:txBody>
      </p:sp>
    </p:spTree>
    <p:extLst>
      <p:ext uri="{BB962C8B-B14F-4D97-AF65-F5344CB8AC3E}">
        <p14:creationId xmlns:p14="http://schemas.microsoft.com/office/powerpoint/2010/main" val="19921040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Покажите цепочку четырёх вершин: три ребра. При отсутствии достижимого отрицательного цикла существует кратчайший маршрут без повторов вершин: повторяющийся цикл можно убрать без увеличения цены. Один полный проход гарантирует продвижение информации хотя бы на одно ребро, хотя при удачном порядке может на несколько. Поэтому V минус один проходов достаточно. Порядок рёбер влияет на промежуточные состояния, но не на корректный итог.</a:t>
            </a:r>
          </a:p>
        </p:txBody>
      </p:sp>
      <p:sp>
        <p:nvSpPr>
          <p:cNvPr id="4" name="Номер слайда 3"/>
          <p:cNvSpPr>
            <a:spLocks noGrp="1"/>
          </p:cNvSpPr>
          <p:nvPr>
            <p:ph type="sldNum" sz="quarter" idx="5"/>
          </p:nvPr>
        </p:nvSpPr>
        <p:spPr/>
        <p:txBody>
          <a:bodyPr/>
          <a:lstStyle/>
          <a:p>
            <a:fld id="{28093857-F793-4960-89DF-D50C2129606D}" type="slidenum">
              <a:rPr lang="ru-RU" smtClean="0"/>
              <a:t>43</a:t>
            </a:fld>
            <a:endParaRPr lang="ru-RU"/>
          </a:p>
        </p:txBody>
      </p:sp>
    </p:spTree>
    <p:extLst>
      <p:ext uri="{BB962C8B-B14F-4D97-AF65-F5344CB8AC3E}">
        <p14:creationId xmlns:p14="http://schemas.microsoft.com/office/powerpoint/2010/main" val="42636953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60 секунд.</a:t>
            </a:r>
          </a:p>
          <a:p>
            <a:endParaRPr lang="ru-RU"/>
          </a:p>
          <a:p>
            <a:r>
              <a:rPr lang="ru-RU"/>
              <a:t>Начинаем с нуля у A и бесконечностей. Порядок рёбер специально направлен против распространения по цепочке. C в D и B в C пока ничего не дают, их начала недостижимы. A в B даёт четыре, A в D десять. Щелчками раскрываем оба обновления и итоговую таблицу. Не переносите найденную четвёрку назад к уже просмотренному B в C в этом же проходе.</a:t>
            </a:r>
          </a:p>
          <a:p>
            <a:endParaRPr lang="ru-RU"/>
          </a:p>
          <a:p>
            <a:r>
              <a:rPr lang="ru-RU"/>
              <a:t>Щелчки на этом слайде: вычисления обновлённых расстояний, затем таблица после прохода.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44</a:t>
            </a:fld>
            <a:endParaRPr lang="ru-RU"/>
          </a:p>
        </p:txBody>
      </p:sp>
    </p:spTree>
    <p:extLst>
      <p:ext uri="{BB962C8B-B14F-4D97-AF65-F5344CB8AC3E}">
        <p14:creationId xmlns:p14="http://schemas.microsoft.com/office/powerpoint/2010/main" val="296065502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60 секунд.</a:t>
            </a:r>
          </a:p>
          <a:p>
            <a:endParaRPr lang="ru-RU"/>
          </a:p>
          <a:p>
            <a:r>
              <a:rPr lang="ru-RU"/>
              <a:t>На втором проходе C в D пока снова не работает. Затем B в C даёт четыре минус два, то есть два. Рёбра из A ничего не улучшают. Поэтому D ещё остаётся десять: ребро C в D было рассмотрено раньше обновления C. Спросите, что изменилось бы при прямом порядке рёбер. Расстояние до D могло бы улучшиться раньше, но окончательный результат был бы тем же.</a:t>
            </a:r>
          </a:p>
          <a:p>
            <a:endParaRPr lang="ru-RU"/>
          </a:p>
          <a:p>
            <a:r>
              <a:rPr lang="ru-RU"/>
              <a:t>Щелчки на этом слайде: вычисления обновлённых расстояний, затем таблица после прохода.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45</a:t>
            </a:fld>
            <a:endParaRPr lang="ru-RU"/>
          </a:p>
        </p:txBody>
      </p:sp>
    </p:spTree>
    <p:extLst>
      <p:ext uri="{BB962C8B-B14F-4D97-AF65-F5344CB8AC3E}">
        <p14:creationId xmlns:p14="http://schemas.microsoft.com/office/powerpoint/2010/main" val="19845245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60 секунд.</a:t>
            </a:r>
          </a:p>
          <a:p>
            <a:endParaRPr lang="ru-RU"/>
          </a:p>
          <a:p>
            <a:r>
              <a:rPr lang="ru-RU"/>
              <a:t>Теперь в начале третьего прохода C уже имеет два. Ребро C в D даёт пять и заменяет десять. Остальные рёбра улучшений не дают. Получили A ноль, B четыре, C два, D пять. Отрицательное ребро не мешает алгоритму, оно просто участвует в сложении. Для четырёх вершин выполнили три прохода, далее ещё одна проверка понадобится для цикла.</a:t>
            </a:r>
          </a:p>
          <a:p>
            <a:endParaRPr lang="ru-RU"/>
          </a:p>
          <a:p>
            <a:r>
              <a:rPr lang="ru-RU"/>
              <a:t>Щелчки на этом слайде: вычисления обновлённых расстояний, затем таблица после прохода.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46</a:t>
            </a:fld>
            <a:endParaRPr lang="ru-RU"/>
          </a:p>
        </p:txBody>
      </p:sp>
    </p:spTree>
    <p:extLst>
      <p:ext uri="{BB962C8B-B14F-4D97-AF65-F5344CB8AC3E}">
        <p14:creationId xmlns:p14="http://schemas.microsoft.com/office/powerpoint/2010/main" val="11716119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60 секунд.</a:t>
            </a:r>
          </a:p>
          <a:p>
            <a:endParaRPr lang="ru-RU"/>
          </a:p>
          <a:p>
            <a:r>
              <a:rPr lang="ru-RU"/>
              <a:t>Покажите внешний цикл проходов и внутренний цикл всех рёбер. Проверка достижимости не позволяет использовать исходящие рёбра из неизвестной вершины. Флаг changed экономит проходы, когда оценки стабилизировались. Представленный код ещё не возвращает результат: его завершение с проверкой отрицательного цикла будет показано после определения цикла. Для восстановления пути можно аналогично записывать parent при успешном улучшении.</a:t>
            </a:r>
          </a:p>
        </p:txBody>
      </p:sp>
      <p:sp>
        <p:nvSpPr>
          <p:cNvPr id="4" name="Номер слайда 3"/>
          <p:cNvSpPr>
            <a:spLocks noGrp="1"/>
          </p:cNvSpPr>
          <p:nvPr>
            <p:ph type="sldNum" sz="quarter" idx="5"/>
          </p:nvPr>
        </p:nvSpPr>
        <p:spPr/>
        <p:txBody>
          <a:bodyPr/>
          <a:lstStyle/>
          <a:p>
            <a:fld id="{28093857-F793-4960-89DF-D50C2129606D}" type="slidenum">
              <a:rPr lang="ru-RU" smtClean="0"/>
              <a:t>47</a:t>
            </a:fld>
            <a:endParaRPr lang="ru-RU"/>
          </a:p>
        </p:txBody>
      </p:sp>
    </p:spTree>
    <p:extLst>
      <p:ext uri="{BB962C8B-B14F-4D97-AF65-F5344CB8AC3E}">
        <p14:creationId xmlns:p14="http://schemas.microsoft.com/office/powerpoint/2010/main" val="23012731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Дайте определение: отрицателен суммарный вес замкнутого обхода. Одного отрицательного ребра для отрицательного цикла недостаточно, важна сумма и направление. Здесь цикл A, B, C, A имеет минус два. Проведите по стрелкам полный круг. Спросите, как изменится цена, если пройти этот цикл ещё раз. Это подводит к отсутствию конечного минимума для затронутых вершин.</a:t>
            </a:r>
          </a:p>
        </p:txBody>
      </p:sp>
      <p:sp>
        <p:nvSpPr>
          <p:cNvPr id="4" name="Номер слайда 3"/>
          <p:cNvSpPr>
            <a:spLocks noGrp="1"/>
          </p:cNvSpPr>
          <p:nvPr>
            <p:ph type="sldNum" sz="quarter" idx="5"/>
          </p:nvPr>
        </p:nvSpPr>
        <p:spPr/>
        <p:txBody>
          <a:bodyPr/>
          <a:lstStyle/>
          <a:p>
            <a:fld id="{28093857-F793-4960-89DF-D50C2129606D}" type="slidenum">
              <a:rPr lang="ru-RU" smtClean="0"/>
              <a:t>48</a:t>
            </a:fld>
            <a:endParaRPr lang="ru-RU"/>
          </a:p>
        </p:txBody>
      </p:sp>
    </p:spTree>
    <p:extLst>
      <p:ext uri="{BB962C8B-B14F-4D97-AF65-F5344CB8AC3E}">
        <p14:creationId xmlns:p14="http://schemas.microsoft.com/office/powerpoint/2010/main" val="154153082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После каждого полного круга цена уменьшается на два. Любой предложенный маршрут можно сделать дешевле ещё одним повтором. Уточните условия: цикл достижим из источника, а из цикла можно добраться до цели. Для вершин вне этого влияния конечное расстояние может существовать. В лекции разрешаем повторные проходы при поиске стоимости, поэтому отрицательный цикл является существенной проблемой, а не запрещённой фигурой на рисунке.</a:t>
            </a:r>
          </a:p>
        </p:txBody>
      </p:sp>
      <p:sp>
        <p:nvSpPr>
          <p:cNvPr id="4" name="Номер слайда 3"/>
          <p:cNvSpPr>
            <a:spLocks noGrp="1"/>
          </p:cNvSpPr>
          <p:nvPr>
            <p:ph type="sldNum" sz="quarter" idx="5"/>
          </p:nvPr>
        </p:nvSpPr>
        <p:spPr/>
        <p:txBody>
          <a:bodyPr/>
          <a:lstStyle/>
          <a:p>
            <a:fld id="{28093857-F793-4960-89DF-D50C2129606D}" type="slidenum">
              <a:rPr lang="ru-RU" smtClean="0"/>
              <a:t>49</a:t>
            </a:fld>
            <a:endParaRPr lang="ru-RU"/>
          </a:p>
        </p:txBody>
      </p:sp>
    </p:spTree>
    <p:extLst>
      <p:ext uri="{BB962C8B-B14F-4D97-AF65-F5344CB8AC3E}">
        <p14:creationId xmlns:p14="http://schemas.microsoft.com/office/powerpoint/2010/main" val="144875126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60 секунд.</a:t>
            </a:r>
          </a:p>
          <a:p>
            <a:endParaRPr lang="ru-RU"/>
          </a:p>
          <a:p>
            <a:r>
              <a:rPr lang="ru-RU"/>
              <a:t>Теперь завершите функцию с предыдущего листинга. После гарантированного числа проходов любое оставшееся строгое улучшение свидетельствует о достижимом отрицательном цикле. Проверка бесконечности исключает циклы вне достижимой части. None здесь сообщает наличие проблемы, но не перечисляет затронутые вершины. Временная сложность число проходов на число рёбер, память словаря расстояний линейная. Сравните с более быстрым Дейкстрой при неотрицательных весах.</a:t>
            </a:r>
          </a:p>
        </p:txBody>
      </p:sp>
      <p:sp>
        <p:nvSpPr>
          <p:cNvPr id="4" name="Номер слайда 3"/>
          <p:cNvSpPr>
            <a:spLocks noGrp="1"/>
          </p:cNvSpPr>
          <p:nvPr>
            <p:ph type="sldNum" sz="quarter" idx="5"/>
          </p:nvPr>
        </p:nvSpPr>
        <p:spPr/>
        <p:txBody>
          <a:bodyPr/>
          <a:lstStyle/>
          <a:p>
            <a:fld id="{28093857-F793-4960-89DF-D50C2129606D}" type="slidenum">
              <a:rPr lang="ru-RU" smtClean="0"/>
              <a:t>50</a:t>
            </a:fld>
            <a:endParaRPr lang="ru-RU"/>
          </a:p>
        </p:txBody>
      </p:sp>
    </p:spTree>
    <p:extLst>
      <p:ext uri="{BB962C8B-B14F-4D97-AF65-F5344CB8AC3E}">
        <p14:creationId xmlns:p14="http://schemas.microsoft.com/office/powerpoint/2010/main" val="22174462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60 секунд.</a:t>
            </a:r>
          </a:p>
          <a:p>
            <a:endParaRPr lang="ru-RU"/>
          </a:p>
          <a:p>
            <a:r>
              <a:rPr lang="ru-RU"/>
              <a:t>Смените постановку: теперь нужен результат для всех источников одновременно. Дайте явное определение алгоритма. Строка матрицы источник, столбец цель. Граф ориентирован, поэтому матрица не обязана быть симметричной. При нескольких параллельных рёбрах берут минимальный вес, диагональ задают минимумом нуля и веса петли. На примере отрицательных циклов нет. Стартовая матрица описывает только прямые переходы и пустой путь.</a:t>
            </a:r>
          </a:p>
        </p:txBody>
      </p:sp>
      <p:sp>
        <p:nvSpPr>
          <p:cNvPr id="4" name="Номер слайда 3"/>
          <p:cNvSpPr>
            <a:spLocks noGrp="1"/>
          </p:cNvSpPr>
          <p:nvPr>
            <p:ph type="sldNum" sz="quarter" idx="5"/>
          </p:nvPr>
        </p:nvSpPr>
        <p:spPr/>
        <p:txBody>
          <a:bodyPr/>
          <a:lstStyle/>
          <a:p>
            <a:fld id="{28093857-F793-4960-89DF-D50C2129606D}" type="slidenum">
              <a:rPr lang="ru-RU" smtClean="0"/>
              <a:t>51</a:t>
            </a:fld>
            <a:endParaRPr lang="ru-RU"/>
          </a:p>
        </p:txBody>
      </p:sp>
    </p:spTree>
    <p:extLst>
      <p:ext uri="{BB962C8B-B14F-4D97-AF65-F5344CB8AC3E}">
        <p14:creationId xmlns:p14="http://schemas.microsoft.com/office/powerpoint/2010/main" val="284431498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Объясните две альтернативы: уже известный путь и соединение двух путей через разрешённую промежуточную вершину k. Это та же идея релаксации, теперь для пары вершин. На числах A в C десять, A в B три, B в C четыре получаем семь. k должен идти внешним циклом, чтобы после этапа матрица учитывала один и тот же набор разрешённых промежуточных вершин. Начальные и конечные вершины этим ограничением не запрещаются.</a:t>
            </a:r>
          </a:p>
          <a:p>
            <a:endParaRPr lang="ru-RU"/>
          </a:p>
          <a:p>
            <a:r>
              <a:rPr lang="ru-RU"/>
              <a:t>Щелчки на этом слайде: результат вычисления через промежуточную вершину.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52</a:t>
            </a:fld>
            <a:endParaRPr lang="ru-RU"/>
          </a:p>
        </p:txBody>
      </p:sp>
    </p:spTree>
    <p:extLst>
      <p:ext uri="{BB962C8B-B14F-4D97-AF65-F5344CB8AC3E}">
        <p14:creationId xmlns:p14="http://schemas.microsoft.com/office/powerpoint/2010/main" val="40027702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60 секунд.</a:t>
            </a:r>
          </a:p>
          <a:p>
            <a:endParaRPr lang="ru-RU"/>
          </a:p>
          <a:p>
            <a:r>
              <a:rPr lang="ru-RU"/>
              <a:t>Разрешаем промежуточную A. Из D можно пройти через A в B за один плюс три, то есть четыре. Из D через A в C пока получается один плюс десять, то есть одиннадцать. Щелчки раскрывают вычисления и обновления в матрице. Остальные ячейки не улучшаются. Спросите, почему D в C ещё не равно восьми: промежуточная B пока не разрешена.</a:t>
            </a:r>
          </a:p>
          <a:p>
            <a:endParaRPr lang="ru-RU"/>
          </a:p>
          <a:p>
            <a:r>
              <a:rPr lang="ru-RU"/>
              <a:t>Щелчки на этом слайде: изменённые пары вершин.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53</a:t>
            </a:fld>
            <a:endParaRPr lang="ru-RU"/>
          </a:p>
        </p:txBody>
      </p:sp>
    </p:spTree>
    <p:extLst>
      <p:ext uri="{BB962C8B-B14F-4D97-AF65-F5344CB8AC3E}">
        <p14:creationId xmlns:p14="http://schemas.microsoft.com/office/powerpoint/2010/main" val="4041135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60 секунд.</a:t>
            </a:r>
          </a:p>
          <a:p>
            <a:endParaRPr lang="ru-RU"/>
          </a:p>
          <a:p>
            <a:r>
              <a:rPr lang="ru-RU"/>
              <a:t>Разрешаем B дополнительно к A. A в C улучшается с десяти до трёх плюс четырёх, то есть семи. D в C улучшается с одиннадцати до четырёх плюс четырёх, то есть восьми, путь D, A, B, C. Обратите внимание: d[D][B] уже содержит результат предыдущего этапа. Это не только маршруты из двух исходных рёбер, а соединение уже найденных путей.</a:t>
            </a:r>
          </a:p>
          <a:p>
            <a:endParaRPr lang="ru-RU"/>
          </a:p>
          <a:p>
            <a:r>
              <a:rPr lang="ru-RU"/>
              <a:t>Щелчки на этом слайде: изменённые пары вершин.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54</a:t>
            </a:fld>
            <a:endParaRPr lang="ru-RU"/>
          </a:p>
        </p:txBody>
      </p:sp>
    </p:spTree>
    <p:extLst>
      <p:ext uri="{BB962C8B-B14F-4D97-AF65-F5344CB8AC3E}">
        <p14:creationId xmlns:p14="http://schemas.microsoft.com/office/powerpoint/2010/main" val="9230306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60 секунд.</a:t>
            </a:r>
          </a:p>
          <a:p>
            <a:endParaRPr lang="ru-RU"/>
          </a:p>
          <a:p>
            <a:r>
              <a:rPr lang="ru-RU"/>
              <a:t>Разрешаем C. Через неё появляется A в D за семь плюс два, то есть девять, и B в D за четыре плюс два, то есть шесть. D в D через C имеет цену десять и не улучшает нулевую диагональ. Только две ячейки выделены. Попросите восстановить словами путь A в D: A, B, C, D. Следующий этап разрешит D и замкнёт возможности нашего графа.</a:t>
            </a:r>
          </a:p>
          <a:p>
            <a:endParaRPr lang="ru-RU"/>
          </a:p>
          <a:p>
            <a:r>
              <a:rPr lang="ru-RU"/>
              <a:t>Щелчки на этом слайде: изменённые пары вершин.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55</a:t>
            </a:fld>
            <a:endParaRPr lang="ru-RU"/>
          </a:p>
        </p:txBody>
      </p:sp>
    </p:spTree>
    <p:extLst>
      <p:ext uri="{BB962C8B-B14F-4D97-AF65-F5344CB8AC3E}">
        <p14:creationId xmlns:p14="http://schemas.microsoft.com/office/powerpoint/2010/main" val="211700512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60 секунд.</a:t>
            </a:r>
          </a:p>
          <a:p>
            <a:endParaRPr lang="ru-RU"/>
          </a:p>
          <a:p>
            <a:r>
              <a:rPr lang="ru-RU"/>
              <a:t>Разрешаем D. B в A становится шесть плюс один, то есть семь. C в A становится два плюс один, то есть три. C в B становится два плюс четыре, то есть шесть. Остальные значения не улучшаются. Матрица теперь содержит все кратчайшие расстояния. Проверьте по рисунку, что каждая показанная сумма соответствует направленным переходам, и обратите внимание на нули диагонали.</a:t>
            </a:r>
          </a:p>
          <a:p>
            <a:endParaRPr lang="ru-RU"/>
          </a:p>
          <a:p>
            <a:r>
              <a:rPr lang="ru-RU"/>
              <a:t>Щелчки на этом слайде: изменённые пары вершин.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56</a:t>
            </a:fld>
            <a:endParaRPr lang="ru-RU"/>
          </a:p>
        </p:txBody>
      </p:sp>
    </p:spTree>
    <p:extLst>
      <p:ext uri="{BB962C8B-B14F-4D97-AF65-F5344CB8AC3E}">
        <p14:creationId xmlns:p14="http://schemas.microsoft.com/office/powerpoint/2010/main" val="415908620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60 секунд.</a:t>
            </a:r>
          </a:p>
          <a:p>
            <a:endParaRPr lang="ru-RU"/>
          </a:p>
          <a:p>
            <a:r>
              <a:rPr lang="ru-RU"/>
              <a:t>Начальную матрицу готовим по правилам первого слайда блока. Копируем строки, чтобы не менять переданный аргумент. Порядок k, i, j обеспечивает смысл промежуточных этапов. float inf безопасно участвует в сложении для обычных конечных весов. При отрицательной диагонали есть отрицательный цикл, и матрицу нельзя интерпретировать как конечные минимумы для затронутых пар. Кубическая сложность быстро растёт: десятикратный рост вершин увеличивает число проверок в тысячу раз.</a:t>
            </a:r>
          </a:p>
        </p:txBody>
      </p:sp>
      <p:sp>
        <p:nvSpPr>
          <p:cNvPr id="4" name="Номер слайда 3"/>
          <p:cNvSpPr>
            <a:spLocks noGrp="1"/>
          </p:cNvSpPr>
          <p:nvPr>
            <p:ph type="sldNum" sz="quarter" idx="5"/>
          </p:nvPr>
        </p:nvSpPr>
        <p:spPr/>
        <p:txBody>
          <a:bodyPr/>
          <a:lstStyle/>
          <a:p>
            <a:fld id="{28093857-F793-4960-89DF-D50C2129606D}" type="slidenum">
              <a:rPr lang="ru-RU" smtClean="0"/>
              <a:t>57</a:t>
            </a:fld>
            <a:endParaRPr lang="ru-RU"/>
          </a:p>
        </p:txBody>
      </p:sp>
    </p:spTree>
    <p:extLst>
      <p:ext uri="{BB962C8B-B14F-4D97-AF65-F5344CB8AC3E}">
        <p14:creationId xmlns:p14="http://schemas.microsoft.com/office/powerpoint/2010/main" val="5869410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Прочитайте таблицу по условиям выбора, не по строкам подряд. BFS использует одинаковую положительную цену перехода и FIFO. Дейкстра один источник, неотрицательные веса, куча. Беллман–Форд один источник, любые веса и проверка достижимого отрицательного цикла. Флойд–Уоршелл все пары и матрица. Для него отрицательная диагональ обнаруживает цикл в любой части графа. Наличие цикла лишает затронутые расстояния конечного смысла.</a:t>
            </a:r>
          </a:p>
        </p:txBody>
      </p:sp>
      <p:sp>
        <p:nvSpPr>
          <p:cNvPr id="4" name="Номер слайда 3"/>
          <p:cNvSpPr>
            <a:spLocks noGrp="1"/>
          </p:cNvSpPr>
          <p:nvPr>
            <p:ph type="sldNum" sz="quarter" idx="5"/>
          </p:nvPr>
        </p:nvSpPr>
        <p:spPr/>
        <p:txBody>
          <a:bodyPr/>
          <a:lstStyle/>
          <a:p>
            <a:fld id="{28093857-F793-4960-89DF-D50C2129606D}" type="slidenum">
              <a:rPr lang="ru-RU" smtClean="0"/>
              <a:t>58</a:t>
            </a:fld>
            <a:endParaRPr lang="ru-RU"/>
          </a:p>
        </p:txBody>
      </p:sp>
    </p:spTree>
    <p:extLst>
      <p:ext uri="{BB962C8B-B14F-4D97-AF65-F5344CB8AC3E}">
        <p14:creationId xmlns:p14="http://schemas.microsoft.com/office/powerpoint/2010/main" val="93352329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Пройдите дерево от корня. Для всех пар в умеренном по размеру графе в рамках лекции выбираем Флойда–Уоршелла. Для одного источника одинаковые положительные веса ведут к BFS, отрицательные к Беллману–Форду, остальные неотрицательные к Дейкстре. Порядок вопросов важен: отрицательные веса не отменяют постановку всех пар. Не углубляйтесь в альтернативные методы вне программы. Если граф большой, кубическая стоимость требует отдельного обсуждения.</a:t>
            </a:r>
          </a:p>
        </p:txBody>
      </p:sp>
      <p:sp>
        <p:nvSpPr>
          <p:cNvPr id="4" name="Номер слайда 3"/>
          <p:cNvSpPr>
            <a:spLocks noGrp="1"/>
          </p:cNvSpPr>
          <p:nvPr>
            <p:ph type="sldNum" sz="quarter" idx="5"/>
          </p:nvPr>
        </p:nvSpPr>
        <p:spPr/>
        <p:txBody>
          <a:bodyPr/>
          <a:lstStyle/>
          <a:p>
            <a:fld id="{28093857-F793-4960-89DF-D50C2129606D}" type="slidenum">
              <a:rPr lang="ru-RU" smtClean="0"/>
              <a:t>59</a:t>
            </a:fld>
            <a:endParaRPr lang="ru-RU"/>
          </a:p>
        </p:txBody>
      </p:sp>
    </p:spTree>
    <p:extLst>
      <p:ext uri="{BB962C8B-B14F-4D97-AF65-F5344CB8AC3E}">
        <p14:creationId xmlns:p14="http://schemas.microsoft.com/office/powerpoint/2010/main" val="62559546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60 секунд.</a:t>
            </a:r>
          </a:p>
          <a:p>
            <a:endParaRPr lang="ru-RU"/>
          </a:p>
          <a:p>
            <a:r>
              <a:rPr lang="ru-RU"/>
              <a:t>Дайте двадцать секунд на ответ и попросите назвать оба условия. Нельзя выбирать только по слову дороги, важны один источник и неотрицательная стоимость. После щелчка раскрываем Дейкстру. Если все ребра равны, BFS тоже достаточно, но это дополнительное условие здесь не задано. Попросите одного студента объяснить, почему Флойд–Уоршелл сделал бы избыточную работу.</a:t>
            </a:r>
          </a:p>
          <a:p>
            <a:endParaRPr lang="ru-RU"/>
          </a:p>
          <a:p>
            <a:r>
              <a:rPr lang="ru-RU"/>
              <a:t>Щелчки на этом слайде: ответ на вопрос.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60</a:t>
            </a:fld>
            <a:endParaRPr lang="ru-RU"/>
          </a:p>
        </p:txBody>
      </p:sp>
    </p:spTree>
    <p:extLst>
      <p:ext uri="{BB962C8B-B14F-4D97-AF65-F5344CB8AC3E}">
        <p14:creationId xmlns:p14="http://schemas.microsoft.com/office/powerpoint/2010/main" val="165824948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60 секунд.</a:t>
            </a:r>
          </a:p>
          <a:p>
            <a:endParaRPr lang="ru-RU"/>
          </a:p>
          <a:p>
            <a:r>
              <a:rPr lang="ru-RU"/>
              <a:t>Первый вопрос проверяет отличие отрицательного ребра от цикла. Здесь Беллман–Форд корректно вычислит расстояния. Откройте первый ответ и попросите объяснение. Затем отдельно обсудите все пары для ста вершин: Флойд–Уоршелл удобен по постановке и умеренному размеру. Второй щелчок открывает второй ответ. Число миллион является количеством внутренних проверок, а не обещанием конкретного времени исполнения.</a:t>
            </a:r>
          </a:p>
          <a:p>
            <a:endParaRPr lang="ru-RU"/>
          </a:p>
          <a:p>
            <a:r>
              <a:rPr lang="ru-RU"/>
              <a:t>Щелчки на этом слайде: ответ на первую задачу, затем ответ на вторую задачу. Дайте аудитории время предсказать результат перед раскрытием.</a:t>
            </a:r>
          </a:p>
        </p:txBody>
      </p:sp>
      <p:sp>
        <p:nvSpPr>
          <p:cNvPr id="4" name="Номер слайда 3"/>
          <p:cNvSpPr>
            <a:spLocks noGrp="1"/>
          </p:cNvSpPr>
          <p:nvPr>
            <p:ph type="sldNum" sz="quarter" idx="5"/>
          </p:nvPr>
        </p:nvSpPr>
        <p:spPr/>
        <p:txBody>
          <a:bodyPr/>
          <a:lstStyle/>
          <a:p>
            <a:fld id="{28093857-F793-4960-89DF-D50C2129606D}" type="slidenum">
              <a:rPr lang="ru-RU" smtClean="0"/>
              <a:t>61</a:t>
            </a:fld>
            <a:endParaRPr lang="ru-RU"/>
          </a:p>
        </p:txBody>
      </p:sp>
    </p:spTree>
    <p:extLst>
      <p:ext uri="{BB962C8B-B14F-4D97-AF65-F5344CB8AC3E}">
        <p14:creationId xmlns:p14="http://schemas.microsoft.com/office/powerpoint/2010/main" val="245929869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Попросите студентов назвать условия трёх алгоритмов до чтения списка. Затем соберите восемь ключевых идей. BFS минимизирует число рёбер при одинаковой положительной цене. Дейкстра выбирает минимум и использует кучy, parent восстанавливает путь. Беллман–Форд снимает ограничение отрицательных рёбер и проверяет цикл. Флойд–Уоршелл расширяет задачу до всех пар. Закончите различием между стоимостью одного маршрута и стоимостью соединения всей сети.</a:t>
            </a:r>
          </a:p>
        </p:txBody>
      </p:sp>
      <p:sp>
        <p:nvSpPr>
          <p:cNvPr id="4" name="Номер слайда 3"/>
          <p:cNvSpPr>
            <a:spLocks noGrp="1"/>
          </p:cNvSpPr>
          <p:nvPr>
            <p:ph type="sldNum" sz="quarter" idx="5"/>
          </p:nvPr>
        </p:nvSpPr>
        <p:spPr/>
        <p:txBody>
          <a:bodyPr/>
          <a:lstStyle/>
          <a:p>
            <a:fld id="{28093857-F793-4960-89DF-D50C2129606D}" type="slidenum">
              <a:rPr lang="ru-RU" smtClean="0"/>
              <a:t>62</a:t>
            </a:fld>
            <a:endParaRPr lang="ru-RU"/>
          </a:p>
        </p:txBody>
      </p:sp>
    </p:spTree>
    <p:extLst>
      <p:ext uri="{BB962C8B-B14F-4D97-AF65-F5344CB8AC3E}">
        <p14:creationId xmlns:p14="http://schemas.microsoft.com/office/powerpoint/2010/main" val="52428709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Ориентир: 45 секунд.</a:t>
            </a:r>
          </a:p>
          <a:p>
            <a:endParaRPr lang="ru-RU"/>
          </a:p>
          <a:p>
            <a:r>
              <a:rPr lang="ru-RU"/>
              <a:t>Покажите тот же взвешенный граф, но поставьте другой вопрос: требуется дешёво соединить все вершины в одну сеть. Это не маршруты из A и не объединение кратчайших путей, а минимум суммарного веса выбранных рёбер при связности. Не называйте конкретное дерево ответом, его найдём в следующей лекции. Спросите, почему дерево естественно для такой цели: цикл даёт избыточное соединение. Подведите к минимальным остовным деревьям и DSU.</a:t>
            </a:r>
          </a:p>
        </p:txBody>
      </p:sp>
      <p:sp>
        <p:nvSpPr>
          <p:cNvPr id="4" name="Номер слайда 3"/>
          <p:cNvSpPr>
            <a:spLocks noGrp="1"/>
          </p:cNvSpPr>
          <p:nvPr>
            <p:ph type="sldNum" sz="quarter" idx="5"/>
          </p:nvPr>
        </p:nvSpPr>
        <p:spPr/>
        <p:txBody>
          <a:bodyPr/>
          <a:lstStyle/>
          <a:p>
            <a:fld id="{28093857-F793-4960-89DF-D50C2129606D}" type="slidenum">
              <a:rPr lang="ru-RU" smtClean="0"/>
              <a:t>63</a:t>
            </a:fld>
            <a:endParaRPr lang="ru-RU"/>
          </a:p>
        </p:txBody>
      </p:sp>
    </p:spTree>
    <p:extLst>
      <p:ext uri="{BB962C8B-B14F-4D97-AF65-F5344CB8AC3E}">
        <p14:creationId xmlns:p14="http://schemas.microsoft.com/office/powerpoint/2010/main" val="26935876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Титульный слайд">
    <p:spTree>
      <p:nvGrpSpPr>
        <p:cNvPr id="1" name=""/>
        <p:cNvGrpSpPr/>
        <p:nvPr/>
      </p:nvGrpSpPr>
      <p:grpSpPr bwMode="auto">
        <a:xfrm>
          <a:off x="0" y="0"/>
          <a:ext cx="0" cy="0"/>
          <a:chOff x="0" y="0"/>
          <a:chExt cx="0" cy="0"/>
        </a:xfrm>
      </p:grpSpPr>
      <p:pic>
        <p:nvPicPr>
          <p:cNvPr id="12" name="Рисунок 11"/>
          <p:cNvPicPr>
            <a:picLocks noChangeAspect="1"/>
          </p:cNvPicPr>
          <p:nvPr userDrawn="1"/>
        </p:nvPicPr>
        <p:blipFill>
          <a:blip r:embed="rId2"/>
          <a:srcRect t="2573" b="2572"/>
          <a:stretch/>
        </p:blipFill>
        <p:spPr bwMode="auto">
          <a:xfrm>
            <a:off x="-35560" y="-31900"/>
            <a:ext cx="3650615" cy="6925460"/>
          </a:xfrm>
          <a:prstGeom prst="rect">
            <a:avLst/>
          </a:prstGeom>
        </p:spPr>
      </p:pic>
      <p:sp>
        <p:nvSpPr>
          <p:cNvPr id="13" name="Прямоугольник 12"/>
          <p:cNvSpPr/>
          <p:nvPr userDrawn="1"/>
        </p:nvSpPr>
        <p:spPr bwMode="auto">
          <a:xfrm>
            <a:off x="3615054" y="-31900"/>
            <a:ext cx="8576945" cy="6889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35" name="Текст 34"/>
          <p:cNvSpPr>
            <a:spLocks noGrp="1"/>
          </p:cNvSpPr>
          <p:nvPr>
            <p:ph type="body" sz="quarter" idx="12" hasCustomPrompt="1"/>
          </p:nvPr>
        </p:nvSpPr>
        <p:spPr bwMode="auto">
          <a:xfrm>
            <a:off x="3800791" y="6024880"/>
            <a:ext cx="8056247" cy="746760"/>
          </a:xfrm>
        </p:spPr>
        <p:txBody>
          <a:bodyPr>
            <a:noAutofit/>
          </a:bodyPr>
          <a:lstStyle>
            <a:lvl1pPr marL="0" indent="0" algn="l">
              <a:lnSpc>
                <a:spcPct val="100000"/>
              </a:lnSpc>
              <a:spcBef>
                <a:spcPts val="0"/>
              </a:spcBef>
              <a:buNone/>
              <a:defRPr sz="1600">
                <a:solidFill>
                  <a:schemeClr val="accent6"/>
                </a:solidFill>
              </a:defRPr>
            </a:lvl1pPr>
          </a:lstStyle>
          <a:p>
            <a:pPr algn="l">
              <a:defRPr/>
            </a:pPr>
            <a:r>
              <a:rPr lang="ru-RU"/>
              <a:t>Поле для дополнительной информации (16</a:t>
            </a:r>
            <a:r>
              <a:rPr lang="en-US"/>
              <a:t>pt</a:t>
            </a:r>
            <a:r>
              <a:rPr lang="ru-RU"/>
              <a:t>)</a:t>
            </a:r>
            <a:br>
              <a:rPr lang="ru-RU"/>
            </a:br>
            <a:r>
              <a:rPr lang="ru-RU"/>
              <a:t>(пример: Фамилия Имя Отчество; Должность; Место проведения)</a:t>
            </a:r>
            <a:endParaRPr/>
          </a:p>
        </p:txBody>
      </p:sp>
      <p:sp>
        <p:nvSpPr>
          <p:cNvPr id="40" name="Текст 39"/>
          <p:cNvSpPr>
            <a:spLocks noGrp="1"/>
          </p:cNvSpPr>
          <p:nvPr>
            <p:ph type="body" sz="quarter" idx="13" hasCustomPrompt="1"/>
          </p:nvPr>
        </p:nvSpPr>
        <p:spPr bwMode="auto">
          <a:xfrm>
            <a:off x="3800791" y="4003199"/>
            <a:ext cx="8050849" cy="1655762"/>
          </a:xfrm>
        </p:spPr>
        <p:txBody>
          <a:bodyPr/>
          <a:lstStyle>
            <a:lvl1pPr marL="0" indent="0">
              <a:buNone/>
              <a:defRPr sz="2400"/>
            </a:lvl1pPr>
          </a:lstStyle>
          <a:p>
            <a:pPr marL="0" marR="0" lvl="0" indent="0" algn="l" defTabSz="914400">
              <a:lnSpc>
                <a:spcPct val="90000"/>
              </a:lnSpc>
              <a:spcBef>
                <a:spcPts val="1000"/>
              </a:spcBef>
              <a:spcAft>
                <a:spcPts val="0"/>
              </a:spcAft>
              <a:buClrTx/>
              <a:buSzTx/>
              <a:buFont typeface="Arial"/>
              <a:buNone/>
              <a:defRPr/>
            </a:pPr>
            <a:r>
              <a:rPr lang="ru-RU">
                <a:latin typeface="Montserrat"/>
              </a:rPr>
              <a:t>Если информации много, то</a:t>
            </a:r>
            <a:r>
              <a:rPr lang="en-US">
                <a:latin typeface="Montserrat"/>
              </a:rPr>
              <a:t> </a:t>
            </a:r>
            <a:r>
              <a:rPr lang="ru-RU">
                <a:latin typeface="Montserrat"/>
              </a:rPr>
              <a:t>рекомендуется </a:t>
            </a:r>
            <a:r>
              <a:rPr lang="en-US">
                <a:latin typeface="Montserrat"/>
              </a:rPr>
              <a:t> </a:t>
            </a:r>
            <a:r>
              <a:rPr lang="ru-RU">
                <a:latin typeface="Montserrat"/>
              </a:rPr>
              <a:t> использовать подзаголовок (24</a:t>
            </a:r>
            <a:r>
              <a:rPr lang="en-US">
                <a:latin typeface="Montserrat"/>
              </a:rPr>
              <a:t>pt</a:t>
            </a:r>
            <a:r>
              <a:rPr lang="ru-RU">
                <a:latin typeface="Montserrat"/>
              </a:rPr>
              <a:t>)</a:t>
            </a:r>
            <a:endParaRPr/>
          </a:p>
          <a:p>
            <a:pPr lvl="0">
              <a:defRPr/>
            </a:pPr>
            <a:endParaRPr lang="ru-RU"/>
          </a:p>
        </p:txBody>
      </p:sp>
      <p:sp>
        <p:nvSpPr>
          <p:cNvPr id="42" name="Текст 41"/>
          <p:cNvSpPr>
            <a:spLocks noGrp="1"/>
          </p:cNvSpPr>
          <p:nvPr>
            <p:ph type="body" sz="quarter" idx="14" hasCustomPrompt="1"/>
          </p:nvPr>
        </p:nvSpPr>
        <p:spPr bwMode="auto">
          <a:xfrm>
            <a:off x="488435" y="6024880"/>
            <a:ext cx="2638182" cy="335280"/>
          </a:xfrm>
        </p:spPr>
        <p:txBody>
          <a:bodyPr anchor="t">
            <a:noAutofit/>
          </a:bodyPr>
          <a:lstStyle>
            <a:lvl1pPr marL="0" indent="0" algn="ctr">
              <a:buNone/>
              <a:defRPr sz="1600" b="0">
                <a:solidFill>
                  <a:schemeClr val="bg1"/>
                </a:solidFill>
                <a:latin typeface="+mj-lt"/>
              </a:defRPr>
            </a:lvl1pPr>
            <a:lvl2pPr algn="ctr">
              <a:defRPr sz="1600" b="1">
                <a:solidFill>
                  <a:schemeClr val="bg1"/>
                </a:solidFill>
                <a:latin typeface="+mn-lt"/>
              </a:defRPr>
            </a:lvl2pPr>
          </a:lstStyle>
          <a:p>
            <a:pPr marL="0" marR="0" lvl="0" indent="0" algn="l" defTabSz="914400">
              <a:lnSpc>
                <a:spcPct val="90000"/>
              </a:lnSpc>
              <a:spcBef>
                <a:spcPts val="1000"/>
              </a:spcBef>
              <a:spcAft>
                <a:spcPts val="0"/>
              </a:spcAft>
              <a:buClrTx/>
              <a:buSzTx/>
              <a:buFont typeface="Arial"/>
              <a:buNone/>
              <a:defRPr/>
            </a:pPr>
            <a:r>
              <a:rPr lang="ru-RU"/>
              <a:t>Дата (хх.хх.хххх г.)</a:t>
            </a:r>
            <a:endParaRPr/>
          </a:p>
        </p:txBody>
      </p:sp>
      <p:sp>
        <p:nvSpPr>
          <p:cNvPr id="47" name="Заголовок 46"/>
          <p:cNvSpPr>
            <a:spLocks noGrp="1"/>
          </p:cNvSpPr>
          <p:nvPr>
            <p:ph type="title" hasCustomPrompt="1"/>
          </p:nvPr>
        </p:nvSpPr>
        <p:spPr bwMode="auto">
          <a:xfrm>
            <a:off x="3806188" y="1396366"/>
            <a:ext cx="8045451" cy="2032634"/>
          </a:xfrm>
        </p:spPr>
        <p:txBody>
          <a:bodyPr/>
          <a:lstStyle>
            <a:lvl1pPr>
              <a:defRPr sz="4000" b="0">
                <a:latin typeface="Montserrat SemiBold"/>
              </a:defRPr>
            </a:lvl1pPr>
          </a:lstStyle>
          <a:p>
            <a:pPr>
              <a:defRPr/>
            </a:pPr>
            <a:r>
              <a:rPr lang="ru-RU" sz="4000">
                <a:latin typeface="Montserrat"/>
              </a:rPr>
              <a:t>Название презентации может быть набрано </a:t>
            </a:r>
            <a:br>
              <a:rPr lang="ru-RU" sz="4000">
                <a:latin typeface="Montserrat"/>
              </a:rPr>
            </a:br>
            <a:r>
              <a:rPr lang="ru-RU" sz="4000">
                <a:latin typeface="Montserrat"/>
              </a:rPr>
              <a:t>в две или три строки</a:t>
            </a:r>
            <a:r>
              <a:rPr lang="en-US" sz="4000">
                <a:latin typeface="Montserrat"/>
              </a:rPr>
              <a:t> (</a:t>
            </a:r>
            <a:r>
              <a:rPr lang="ru-RU" sz="4000">
                <a:latin typeface="Montserrat"/>
              </a:rPr>
              <a:t>40</a:t>
            </a:r>
            <a:r>
              <a:rPr lang="en-US" sz="4000">
                <a:latin typeface="Montserrat"/>
              </a:rPr>
              <a:t>pt)</a:t>
            </a:r>
            <a:endParaRPr lang="ru-RU"/>
          </a:p>
        </p:txBody>
      </p:sp>
      <p:pic>
        <p:nvPicPr>
          <p:cNvPr id="9" name="Рисунок 8"/>
          <p:cNvPicPr>
            <a:picLocks noChangeAspect="1"/>
          </p:cNvPicPr>
          <p:nvPr userDrawn="1"/>
        </p:nvPicPr>
        <p:blipFill>
          <a:blip r:embed="rId3"/>
          <a:stretch/>
        </p:blipFill>
        <p:spPr bwMode="auto">
          <a:xfrm>
            <a:off x="697047" y="404842"/>
            <a:ext cx="2185400" cy="67339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a:xfrm>
            <a:off x="479424" y="6356350"/>
            <a:ext cx="7673976" cy="365125"/>
          </a:xfrm>
        </p:spPr>
        <p:txBody>
          <a:bodyPr/>
          <a:lstStyle>
            <a:lvl1pPr algn="l">
              <a:defRPr/>
            </a:lvl1p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524375" y="1798320"/>
            <a:ext cx="7185025"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38925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6" y="2763520"/>
            <a:ext cx="389255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6" y="5603240"/>
            <a:ext cx="3892550"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4"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6309042" y="1798320"/>
            <a:ext cx="5400358"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5616576" cy="853440"/>
          </a:xfrm>
        </p:spPr>
        <p:txBody>
          <a:bodyPr>
            <a:noAutofit/>
          </a:bodyPr>
          <a:lstStyle>
            <a:lvl1pPr algn="l">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7781926" y="1798320"/>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3" y="1798320"/>
            <a:ext cx="70548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7054850"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7054849"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9" name="Рисунок 12"/>
          <p:cNvSpPr>
            <a:spLocks noGrp="1"/>
          </p:cNvSpPr>
          <p:nvPr>
            <p:ph type="pic" sz="quarter" idx="19" hasCustomPrompt="1"/>
          </p:nvPr>
        </p:nvSpPr>
        <p:spPr bwMode="auto">
          <a:xfrm>
            <a:off x="7781926" y="4057332"/>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5"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3" name="Рисунок 12"/>
          <p:cNvSpPr>
            <a:spLocks noGrp="1"/>
          </p:cNvSpPr>
          <p:nvPr>
            <p:ph type="pic" sz="quarter" idx="18" hasCustomPrompt="1"/>
          </p:nvPr>
        </p:nvSpPr>
        <p:spPr bwMode="auto">
          <a:xfrm>
            <a:off x="6280470"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6280470"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5">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3544247"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p:txBody>
      </p:sp>
      <p:sp>
        <p:nvSpPr>
          <p:cNvPr id="3" name="Рисунок 12"/>
          <p:cNvSpPr>
            <a:spLocks noGrp="1"/>
          </p:cNvSpPr>
          <p:nvPr>
            <p:ph type="pic" sz="quarter" idx="18" hasCustomPrompt="1"/>
          </p:nvPr>
        </p:nvSpPr>
        <p:spPr bwMode="auto">
          <a:xfrm>
            <a:off x="4316413"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3510280"/>
            <a:ext cx="3544249"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5" name="Рисунок 12"/>
          <p:cNvSpPr>
            <a:spLocks noGrp="1"/>
          </p:cNvSpPr>
          <p:nvPr>
            <p:ph type="pic" sz="quarter" idx="20" hasCustomPrompt="1"/>
          </p:nvPr>
        </p:nvSpPr>
        <p:spPr bwMode="auto">
          <a:xfrm>
            <a:off x="8153399"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3510280"/>
            <a:ext cx="355600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6">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3" name="Рисунок 12"/>
          <p:cNvSpPr>
            <a:spLocks noGrp="1"/>
          </p:cNvSpPr>
          <p:nvPr>
            <p:ph type="pic" sz="quarter" idx="18" hasCustomPrompt="1"/>
          </p:nvPr>
        </p:nvSpPr>
        <p:spPr bwMode="auto">
          <a:xfrm>
            <a:off x="4316413"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5" name="Рисунок 12"/>
          <p:cNvSpPr>
            <a:spLocks noGrp="1"/>
          </p:cNvSpPr>
          <p:nvPr>
            <p:ph type="pic" sz="quarter" idx="20" hasCustomPrompt="1"/>
          </p:nvPr>
        </p:nvSpPr>
        <p:spPr bwMode="auto">
          <a:xfrm>
            <a:off x="8153399" y="1686558"/>
            <a:ext cx="3544250" cy="271875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7">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2" name="Рисунок 12"/>
          <p:cNvSpPr>
            <a:spLocks noGrp="1"/>
          </p:cNvSpPr>
          <p:nvPr>
            <p:ph type="pic" sz="quarter" idx="22" hasCustomPrompt="1"/>
          </p:nvPr>
        </p:nvSpPr>
        <p:spPr bwMode="auto">
          <a:xfrm>
            <a:off x="479426"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4" name="Рисунок 12"/>
          <p:cNvSpPr>
            <a:spLocks noGrp="1"/>
          </p:cNvSpPr>
          <p:nvPr>
            <p:ph type="pic" sz="quarter" idx="23" hasCustomPrompt="1"/>
          </p:nvPr>
        </p:nvSpPr>
        <p:spPr bwMode="auto">
          <a:xfrm>
            <a:off x="4323875"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Рисунок 12"/>
          <p:cNvSpPr>
            <a:spLocks noGrp="1"/>
          </p:cNvSpPr>
          <p:nvPr>
            <p:ph type="pic" sz="quarter" idx="24" hasCustomPrompt="1"/>
          </p:nvPr>
        </p:nvSpPr>
        <p:spPr bwMode="auto">
          <a:xfrm>
            <a:off x="4323875"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Рисунок 12"/>
          <p:cNvSpPr>
            <a:spLocks noGrp="1"/>
          </p:cNvSpPr>
          <p:nvPr>
            <p:ph type="pic" sz="quarter" idx="25" hasCustomPrompt="1"/>
          </p:nvPr>
        </p:nvSpPr>
        <p:spPr bwMode="auto">
          <a:xfrm>
            <a:off x="8165150"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7" name="Рисунок 12"/>
          <p:cNvSpPr>
            <a:spLocks noGrp="1"/>
          </p:cNvSpPr>
          <p:nvPr>
            <p:ph type="pic" sz="quarter" idx="26" hasCustomPrompt="1"/>
          </p:nvPr>
        </p:nvSpPr>
        <p:spPr bwMode="auto">
          <a:xfrm>
            <a:off x="8165150"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9"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МТУСИ_Иллюстрация процесса">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3" y="2735265"/>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5" name="Текст 14"/>
          <p:cNvSpPr>
            <a:spLocks noGrp="1"/>
          </p:cNvSpPr>
          <p:nvPr>
            <p:ph type="body" sz="quarter" idx="14" hasCustomPrompt="1"/>
          </p:nvPr>
        </p:nvSpPr>
        <p:spPr bwMode="auto">
          <a:xfrm>
            <a:off x="479423" y="1798320"/>
            <a:ext cx="11233152"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1971675" y="2735266"/>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24" name="Текст 23"/>
          <p:cNvSpPr>
            <a:spLocks noGrp="1"/>
          </p:cNvSpPr>
          <p:nvPr>
            <p:ph type="body" sz="quarter" idx="18" hasCustomPrompt="1"/>
          </p:nvPr>
        </p:nvSpPr>
        <p:spPr bwMode="auto">
          <a:xfrm>
            <a:off x="479425" y="5603240"/>
            <a:ext cx="11229974"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12" name="Рисунок 12"/>
          <p:cNvSpPr>
            <a:spLocks noGrp="1"/>
          </p:cNvSpPr>
          <p:nvPr>
            <p:ph type="pic" sz="quarter" idx="19" hasCustomPrompt="1"/>
          </p:nvPr>
        </p:nvSpPr>
        <p:spPr bwMode="auto">
          <a:xfrm>
            <a:off x="479423" y="3702060"/>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4" name="Рисунок 12"/>
          <p:cNvSpPr>
            <a:spLocks noGrp="1"/>
          </p:cNvSpPr>
          <p:nvPr>
            <p:ph type="pic" sz="quarter" idx="20" hasCustomPrompt="1"/>
          </p:nvPr>
        </p:nvSpPr>
        <p:spPr bwMode="auto">
          <a:xfrm>
            <a:off x="479423" y="4638039"/>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7" name="Текст 21"/>
          <p:cNvSpPr>
            <a:spLocks noGrp="1"/>
          </p:cNvSpPr>
          <p:nvPr>
            <p:ph type="body" sz="quarter" idx="21" hasCustomPrompt="1"/>
          </p:nvPr>
        </p:nvSpPr>
        <p:spPr bwMode="auto">
          <a:xfrm>
            <a:off x="1971674" y="3699500"/>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8" name="Текст 21"/>
          <p:cNvSpPr>
            <a:spLocks noGrp="1"/>
          </p:cNvSpPr>
          <p:nvPr>
            <p:ph type="body" sz="quarter" idx="22" hasCustomPrompt="1"/>
          </p:nvPr>
        </p:nvSpPr>
        <p:spPr bwMode="auto">
          <a:xfrm>
            <a:off x="1971673" y="4636445"/>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9" name="Текст 3"/>
          <p:cNvSpPr>
            <a:spLocks noGrp="1"/>
          </p:cNvSpPr>
          <p:nvPr>
            <p:ph type="body" sz="quarter" idx="23"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6375" cy="365125"/>
          </a:xfrm>
        </p:spPr>
        <p:txBody>
          <a:bodyPr/>
          <a:lstStyle/>
          <a:p>
            <a:pPr>
              <a:defRPr/>
            </a:pPr>
            <a:fld id="{56DCE2C9-06B9-4058-BEBD-6FDE8D61F8A0}" type="slidenum">
              <a:rPr lang="ru-RU"/>
              <a:t>‹#›</a:t>
            </a:fld>
            <a:endParaRPr lang="ru-RU"/>
          </a:p>
        </p:txBody>
      </p:sp>
      <p:sp>
        <p:nvSpPr>
          <p:cNvPr id="15" name="Текст 14"/>
          <p:cNvSpPr>
            <a:spLocks noGrp="1"/>
          </p:cNvSpPr>
          <p:nvPr>
            <p:ph type="body" sz="quarter" idx="14" hasCustomPrompt="1"/>
          </p:nvPr>
        </p:nvSpPr>
        <p:spPr bwMode="auto">
          <a:xfrm>
            <a:off x="479424" y="1922465"/>
            <a:ext cx="5616576" cy="729294"/>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графика может быть набрано в две или три строки</a:t>
            </a:r>
            <a:r>
              <a:rPr lang="ru-RU" sz="1600">
                <a:latin typeface="Montserrat"/>
              </a:rPr>
              <a:t> </a:t>
            </a:r>
            <a:r>
              <a:rPr lang="ru-RU"/>
              <a:t>(16</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33" name="Диаграмма 32"/>
          <p:cNvSpPr>
            <a:spLocks noGrp="1"/>
          </p:cNvSpPr>
          <p:nvPr>
            <p:ph type="chart" sz="quarter" idx="19" hasCustomPrompt="1"/>
          </p:nvPr>
        </p:nvSpPr>
        <p:spPr bwMode="auto">
          <a:xfrm>
            <a:off x="6356350" y="1923100"/>
            <a:ext cx="5353050" cy="4249100"/>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4" name="Текст 21"/>
          <p:cNvSpPr>
            <a:spLocks noGrp="1"/>
          </p:cNvSpPr>
          <p:nvPr>
            <p:ph type="body" sz="quarter" idx="19" hasCustomPrompt="1"/>
          </p:nvPr>
        </p:nvSpPr>
        <p:spPr bwMode="auto">
          <a:xfrm>
            <a:off x="6280470"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Диаграмма 32"/>
          <p:cNvSpPr>
            <a:spLocks noGrp="1"/>
          </p:cNvSpPr>
          <p:nvPr>
            <p:ph type="chart" sz="quarter" idx="22" hasCustomPrompt="1"/>
          </p:nvPr>
        </p:nvSpPr>
        <p:spPr bwMode="auto">
          <a:xfrm>
            <a:off x="482600" y="1746941"/>
            <a:ext cx="5430519"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2" name="Диаграмма 32"/>
          <p:cNvSpPr>
            <a:spLocks noGrp="1"/>
          </p:cNvSpPr>
          <p:nvPr>
            <p:ph type="chart" sz="quarter" idx="23" hasCustomPrompt="1"/>
          </p:nvPr>
        </p:nvSpPr>
        <p:spPr bwMode="auto">
          <a:xfrm>
            <a:off x="6275704" y="1746941"/>
            <a:ext cx="5433695"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Текст 3"/>
          <p:cNvSpPr>
            <a:spLocks noGrp="1"/>
          </p:cNvSpPr>
          <p:nvPr>
            <p:ph type="body" sz="quarter" idx="24"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6" name="Текст 21"/>
          <p:cNvSpPr>
            <a:spLocks noGrp="1"/>
          </p:cNvSpPr>
          <p:nvPr>
            <p:ph type="body" sz="quarter" idx="21" hasCustomPrompt="1"/>
          </p:nvPr>
        </p:nvSpPr>
        <p:spPr bwMode="auto">
          <a:xfrm>
            <a:off x="8153399" y="1705608"/>
            <a:ext cx="3544246" cy="45326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Если диаграмма содержит цветовое кодирование или условные обозначения, убедитесь, что вы объяснили их значение. Дайте краткий вывод о том, что показывает диаграмма и что можно сделать на основе ее данных.</a:t>
            </a:r>
            <a:endParaRPr/>
          </a:p>
        </p:txBody>
      </p:sp>
      <p:sp>
        <p:nvSpPr>
          <p:cNvPr id="12" name="Диаграмма 32"/>
          <p:cNvSpPr>
            <a:spLocks noGrp="1"/>
          </p:cNvSpPr>
          <p:nvPr>
            <p:ph type="chart" sz="quarter" idx="22" hasCustomPrompt="1"/>
          </p:nvPr>
        </p:nvSpPr>
        <p:spPr bwMode="auto">
          <a:xfrm>
            <a:off x="479425"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21"/>
          <p:cNvSpPr>
            <a:spLocks noGrp="1"/>
          </p:cNvSpPr>
          <p:nvPr>
            <p:ph type="body" sz="quarter" idx="24" hasCustomPrompt="1"/>
          </p:nvPr>
        </p:nvSpPr>
        <p:spPr bwMode="auto">
          <a:xfrm>
            <a:off x="479425" y="5296534"/>
            <a:ext cx="3544245"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Изучите диаграмму, чтобы дать ее точное описание.</a:t>
            </a:r>
            <a:endParaRPr/>
          </a:p>
        </p:txBody>
      </p:sp>
      <p:sp>
        <p:nvSpPr>
          <p:cNvPr id="16" name="Текст 21"/>
          <p:cNvSpPr>
            <a:spLocks noGrp="1"/>
          </p:cNvSpPr>
          <p:nvPr>
            <p:ph type="body" sz="quarter" idx="25" hasCustomPrompt="1"/>
          </p:nvPr>
        </p:nvSpPr>
        <p:spPr bwMode="auto">
          <a:xfrm>
            <a:off x="4316412" y="5290183"/>
            <a:ext cx="3544247"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Изучите диаграмму, чтобы дать ее точное описание.</a:t>
            </a:r>
            <a:endParaRPr/>
          </a:p>
        </p:txBody>
      </p:sp>
      <p:sp>
        <p:nvSpPr>
          <p:cNvPr id="1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2" name="Диаграмма 32"/>
          <p:cNvSpPr>
            <a:spLocks noGrp="1"/>
          </p:cNvSpPr>
          <p:nvPr>
            <p:ph type="chart" sz="quarter" idx="22" hasCustomPrompt="1"/>
          </p:nvPr>
        </p:nvSpPr>
        <p:spPr bwMode="auto">
          <a:xfrm>
            <a:off x="479425"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5" name="Диаграмма 32"/>
          <p:cNvSpPr>
            <a:spLocks noGrp="1"/>
          </p:cNvSpPr>
          <p:nvPr>
            <p:ph type="chart" sz="quarter" idx="24" hasCustomPrompt="1"/>
          </p:nvPr>
        </p:nvSpPr>
        <p:spPr bwMode="auto">
          <a:xfrm>
            <a:off x="8153399"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6" name="Текст 3"/>
          <p:cNvSpPr>
            <a:spLocks noGrp="1"/>
          </p:cNvSpPr>
          <p:nvPr>
            <p:ph type="body" sz="quarter" idx="25"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МТУСИ_Цифры для определения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84506"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21"/>
          <p:cNvSpPr>
            <a:spLocks noGrp="1"/>
          </p:cNvSpPr>
          <p:nvPr>
            <p:ph type="body" sz="quarter" idx="27" hasCustomPrompt="1"/>
          </p:nvPr>
        </p:nvSpPr>
        <p:spPr bwMode="auto">
          <a:xfrm>
            <a:off x="482600"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7" name="Текст 21"/>
          <p:cNvSpPr>
            <a:spLocks noGrp="1"/>
          </p:cNvSpPr>
          <p:nvPr>
            <p:ph type="body" sz="quarter" idx="28" hasCustomPrompt="1"/>
          </p:nvPr>
        </p:nvSpPr>
        <p:spPr bwMode="auto">
          <a:xfrm>
            <a:off x="482600"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18" name="Текст 21"/>
          <p:cNvSpPr>
            <a:spLocks noGrp="1"/>
          </p:cNvSpPr>
          <p:nvPr>
            <p:ph type="body" sz="quarter" idx="29" hasCustomPrompt="1"/>
          </p:nvPr>
        </p:nvSpPr>
        <p:spPr bwMode="auto">
          <a:xfrm>
            <a:off x="4327052"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9" name="Текст 21"/>
          <p:cNvSpPr>
            <a:spLocks noGrp="1"/>
          </p:cNvSpPr>
          <p:nvPr>
            <p:ph type="body" sz="quarter" idx="30" hasCustomPrompt="1"/>
          </p:nvPr>
        </p:nvSpPr>
        <p:spPr bwMode="auto">
          <a:xfrm>
            <a:off x="4327051"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20" name="Текст 21"/>
          <p:cNvSpPr>
            <a:spLocks noGrp="1"/>
          </p:cNvSpPr>
          <p:nvPr>
            <p:ph type="body" sz="quarter" idx="31" hasCustomPrompt="1"/>
          </p:nvPr>
        </p:nvSpPr>
        <p:spPr bwMode="auto">
          <a:xfrm>
            <a:off x="8168328"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21" name="Текст 21"/>
          <p:cNvSpPr>
            <a:spLocks noGrp="1"/>
          </p:cNvSpPr>
          <p:nvPr>
            <p:ph type="body" sz="quarter" idx="32" hasCustomPrompt="1"/>
          </p:nvPr>
        </p:nvSpPr>
        <p:spPr bwMode="auto">
          <a:xfrm>
            <a:off x="8168327"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23"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МТУСИ_Цифры для определения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84506"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МТУСИ_Текст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1828799"/>
            <a:ext cx="3544247"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4" name="Текст 21"/>
          <p:cNvSpPr>
            <a:spLocks noGrp="1"/>
          </p:cNvSpPr>
          <p:nvPr>
            <p:ph type="body" sz="quarter" idx="19" hasCustomPrompt="1"/>
          </p:nvPr>
        </p:nvSpPr>
        <p:spPr bwMode="auto">
          <a:xfrm>
            <a:off x="4316412" y="1828637"/>
            <a:ext cx="3544249" cy="440452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6" name="Текст 21"/>
          <p:cNvSpPr>
            <a:spLocks noGrp="1"/>
          </p:cNvSpPr>
          <p:nvPr>
            <p:ph type="body" sz="quarter" idx="21" hasCustomPrompt="1"/>
          </p:nvPr>
        </p:nvSpPr>
        <p:spPr bwMode="auto">
          <a:xfrm>
            <a:off x="8153399" y="1828799"/>
            <a:ext cx="3556000"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preserve="1" userDrawn="1">
  <p:cSld name="МТУСИ_Текст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1738315"/>
            <a:ext cx="11233150" cy="4499924"/>
          </a:xfrm>
        </p:spPr>
        <p:txBody>
          <a:bodyPr numCol="3" spcCol="360000"/>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ru-RU"/>
            </a:br>
            <a:br>
              <a:rPr lang="ru-RU"/>
            </a:br>
            <a:br>
              <a:rPr lang="ru-RU"/>
            </a:b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br>
              <a:rPr lang="ru-RU"/>
            </a:br>
            <a:br>
              <a:rPr lang="ru-RU"/>
            </a:b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8"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preserve="1" userDrawn="1">
  <p:cSld name="МТУСИ_Таблица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2" name="Текст 21"/>
          <p:cNvSpPr>
            <a:spLocks noGrp="1"/>
          </p:cNvSpPr>
          <p:nvPr>
            <p:ph type="body" sz="quarter" idx="21" hasCustomPrompt="1"/>
          </p:nvPr>
        </p:nvSpPr>
        <p:spPr bwMode="auto">
          <a:xfrm>
            <a:off x="8255479" y="2440089"/>
            <a:ext cx="3457096" cy="3123949"/>
          </a:xfrm>
        </p:spPr>
        <p:txBody>
          <a:bodyPr/>
          <a:lstStyle>
            <a:lvl1pPr algn="l">
              <a:defRPr sz="1200" b="0">
                <a:latin typeface="+mn-lt"/>
              </a:defRPr>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(12pt). Несколько рекомендаций для описания таблицы:</a:t>
            </a:r>
            <a:br>
              <a:rPr lang="ru-RU"/>
            </a:br>
            <a:r>
              <a:rPr lang="ru-RU"/>
              <a:t> 1. Перед тем, как описывать таблицу, убедитесь, что в ней содержится достаточно информации, и она действительно необходима для вашей аудитории. </a:t>
            </a:r>
            <a:br>
              <a:rPr lang="ru-RU"/>
            </a:br>
            <a:r>
              <a:rPr lang="ru-RU"/>
              <a:t>2. Хорошее описание таблицы должно включать в себя не только факты и данные, но и основные выводы, которые можно сделать на основе этих данных. </a:t>
            </a:r>
            <a:br>
              <a:rPr lang="ru-RU"/>
            </a:br>
            <a:r>
              <a:rPr lang="ru-RU"/>
              <a:t>3. Используйте ясный и простой язык, чтобы ваше описание было понятно всем пользователям.</a:t>
            </a:r>
            <a:endParaRPr/>
          </a:p>
          <a:p>
            <a:pPr marL="0" marR="0" lvl="0" indent="0" algn="just" defTabSz="914400">
              <a:lnSpc>
                <a:spcPct val="90000"/>
              </a:lnSpc>
              <a:spcBef>
                <a:spcPts val="1000"/>
              </a:spcBef>
              <a:spcAft>
                <a:spcPts val="0"/>
              </a:spcAft>
              <a:buClrTx/>
              <a:buSzTx/>
              <a:buFontTx/>
              <a:buNone/>
              <a:defRPr/>
            </a:pPr>
            <a:endParaRPr lang="ru-RU"/>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7673975" cy="3123949"/>
          </a:xfrm>
        </p:spPr>
        <p:txBody>
          <a:bodyPr anchor="ctr"/>
          <a:lstStyle>
            <a:lvl1pPr algn="ctr">
              <a:defRPr/>
            </a:lvl1pPr>
          </a:lstStyle>
          <a:p>
            <a:pPr>
              <a:defRPr/>
            </a:pPr>
            <a:r>
              <a:rPr lang="ru-RU"/>
              <a:t>Таблица</a:t>
            </a:r>
            <a:endParaRPr/>
          </a:p>
        </p:txBody>
      </p:sp>
      <p:sp>
        <p:nvSpPr>
          <p:cNvPr id="15"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preserve="1" userDrawn="1">
  <p:cSld name="МТУСИ_Таблица_вид2">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11228385" cy="3123949"/>
          </a:xfrm>
        </p:spPr>
        <p:txBody>
          <a:bodyPr anchor="ctr"/>
          <a:lstStyle>
            <a:lvl1pPr algn="ctr">
              <a:defRPr/>
            </a:lvl1pPr>
          </a:lstStyle>
          <a:p>
            <a:pPr>
              <a:defRPr/>
            </a:pPr>
            <a:r>
              <a:rPr lang="ru-RU"/>
              <a:t>Таблица</a:t>
            </a:r>
            <a:endParaRPr/>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preserve="1" userDrawn="1">
  <p:cSld name="МТУСИ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pic>
        <p:nvPicPr>
          <p:cNvPr id="9" name="Рисунок 8"/>
          <p:cNvPicPr>
            <a:picLocks noChangeAspect="1"/>
          </p:cNvPicPr>
          <p:nvPr userDrawn="1"/>
        </p:nvPicPr>
        <p:blipFill>
          <a:blip r:embed="rId22"/>
          <a:stretch/>
        </p:blipFill>
        <p:spPr bwMode="auto">
          <a:xfrm>
            <a:off x="96520" y="0"/>
            <a:ext cx="12038470" cy="6771640"/>
          </a:xfrm>
          <a:prstGeom prst="rect">
            <a:avLst/>
          </a:prstGeom>
        </p:spPr>
      </p:pic>
      <p:pic>
        <p:nvPicPr>
          <p:cNvPr id="12" name="Рисунок 11"/>
          <p:cNvPicPr>
            <a:picLocks noChangeAspect="1"/>
          </p:cNvPicPr>
          <p:nvPr userDrawn="1"/>
        </p:nvPicPr>
        <p:blipFill>
          <a:blip r:embed="rId23"/>
          <a:stretch/>
        </p:blipFill>
        <p:spPr bwMode="auto">
          <a:xfrm>
            <a:off x="0" y="-20571"/>
            <a:ext cx="12192000" cy="606711"/>
          </a:xfrm>
          <a:prstGeom prst="rect">
            <a:avLst/>
          </a:prstGeom>
        </p:spPr>
      </p:pic>
      <p:sp>
        <p:nvSpPr>
          <p:cNvPr id="2" name="Заголовок 1"/>
          <p:cNvSpPr>
            <a:spLocks noGrp="1"/>
          </p:cNvSpPr>
          <p:nvPr>
            <p:ph type="title"/>
          </p:nvPr>
        </p:nvSpPr>
        <p:spPr bwMode="auto">
          <a:xfrm>
            <a:off x="952500" y="2425748"/>
            <a:ext cx="10899140" cy="1003252"/>
          </a:xfrm>
          <a:prstGeom prst="rect">
            <a:avLst/>
          </a:prstGeom>
        </p:spPr>
        <p:txBody>
          <a:bodyPr vert="horz" lIns="91440" tIns="45720" rIns="91440" bIns="45720" rtlCol="0" anchor="t">
            <a:noAutofit/>
          </a:bodyPr>
          <a:lstStyle/>
          <a:p>
            <a:pPr>
              <a:defRPr/>
            </a:pPr>
            <a:r>
              <a:rPr lang="ru-RU" sz="4400">
                <a:latin typeface="Montserrat"/>
              </a:rPr>
              <a:t>Название </a:t>
            </a:r>
            <a:r>
              <a:rPr lang="en-US" sz="4400">
                <a:latin typeface="Montserrat"/>
              </a:rPr>
              <a:t>(</a:t>
            </a:r>
            <a:r>
              <a:rPr lang="ru-RU" sz="4400">
                <a:latin typeface="Montserrat"/>
              </a:rPr>
              <a:t>44</a:t>
            </a:r>
            <a:r>
              <a:rPr lang="en-US" sz="4400">
                <a:latin typeface="Montserrat"/>
              </a:rPr>
              <a:t>pt)</a:t>
            </a:r>
            <a:endParaRPr lang="ru-RU"/>
          </a:p>
        </p:txBody>
      </p:sp>
      <p:sp>
        <p:nvSpPr>
          <p:cNvPr id="3" name="Текст 2"/>
          <p:cNvSpPr>
            <a:spLocks noGrp="1"/>
          </p:cNvSpPr>
          <p:nvPr>
            <p:ph type="body" idx="1"/>
          </p:nvPr>
        </p:nvSpPr>
        <p:spPr bwMode="auto">
          <a:xfrm>
            <a:off x="952500" y="3676650"/>
            <a:ext cx="10401300" cy="2679700"/>
          </a:xfrm>
          <a:prstGeom prst="rect">
            <a:avLst/>
          </a:prstGeom>
        </p:spPr>
        <p:txBody>
          <a:bodyPr vert="horz" lIns="91440" tIns="45720" rIns="91440" bIns="45720" rtlCol="0" anchor="t">
            <a:normAutofit/>
          </a:bodyPr>
          <a:lstStyle/>
          <a:p>
            <a:pPr lvl="0">
              <a:defRPr/>
            </a:pPr>
            <a:r>
              <a:rPr lang="ru-RU"/>
              <a:t>Образец текст40</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 </a:t>
            </a:r>
            <a:endParaRPr/>
          </a:p>
          <a:p>
            <a:pPr lvl="4">
              <a:defRPr/>
            </a:pPr>
            <a:endParaRPr lang="ru-RU"/>
          </a:p>
          <a:p>
            <a:pPr lvl="4">
              <a:defRPr/>
            </a:pPr>
            <a:endParaRPr lang="ru-RU"/>
          </a:p>
        </p:txBody>
      </p:sp>
      <p:sp>
        <p:nvSpPr>
          <p:cNvPr id="4" name="Дата 3"/>
          <p:cNvSpPr>
            <a:spLocks noGrp="1"/>
          </p:cNvSpPr>
          <p:nvPr>
            <p:ph type="dt" sz="half" idx="2"/>
          </p:nvPr>
        </p:nvSpPr>
        <p:spPr bwMode="auto">
          <a:xfrm>
            <a:off x="479425" y="6352540"/>
            <a:ext cx="2743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fld id="{D2412498-5A2D-41B1-86A5-AAA3110F9D9B}" type="datetimeFigureOut">
              <a:rPr lang="ru-RU"/>
              <a:t>08.10.2026</a:t>
            </a:fld>
            <a:endParaRPr lang="ru-RU"/>
          </a:p>
        </p:txBody>
      </p:sp>
      <p:sp>
        <p:nvSpPr>
          <p:cNvPr id="5" name="Нижний колонтитул 4"/>
          <p:cNvSpPr>
            <a:spLocks noGrp="1"/>
          </p:cNvSpPr>
          <p:nvPr>
            <p:ph type="ftr" sz="quarter" idx="3"/>
          </p:nvPr>
        </p:nvSpPr>
        <p:spPr bwMode="auto">
          <a:xfrm>
            <a:off x="479425" y="6356350"/>
            <a:ext cx="7673975"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ru-RU"/>
          </a:p>
        </p:txBody>
      </p:sp>
      <p:sp>
        <p:nvSpPr>
          <p:cNvPr id="6" name="Номер слайда 5"/>
          <p:cNvSpPr>
            <a:spLocks noGrp="1"/>
          </p:cNvSpPr>
          <p:nvPr>
            <p:ph type="sldNum" sz="quarter" idx="4"/>
          </p:nvPr>
        </p:nvSpPr>
        <p:spPr bwMode="auto">
          <a:xfrm>
            <a:off x="8969375" y="6350687"/>
            <a:ext cx="2857500" cy="365125"/>
          </a:xfrm>
          <a:prstGeom prst="rect">
            <a:avLst/>
          </a:prstGeom>
        </p:spPr>
        <p:txBody>
          <a:bodyPr vert="horz" lIns="91440" tIns="45720" rIns="91440" bIns="45720" rtlCol="0" anchor="ctr"/>
          <a:lstStyle>
            <a:lvl1pPr algn="r">
              <a:defRPr sz="1600" b="1">
                <a:solidFill>
                  <a:schemeClr val="tx1">
                    <a:tint val="75000"/>
                  </a:schemeClr>
                </a:solidFill>
              </a:defRPr>
            </a:lvl1pPr>
          </a:lstStyle>
          <a:p>
            <a:pPr>
              <a:defRPr/>
            </a:pPr>
            <a:fld id="{56DCE2C9-06B9-4058-BEBD-6FDE8D61F8A0}" type="slidenum">
              <a:rPr lang="ru-RU"/>
              <a:t>‹#›</a:t>
            </a:fld>
            <a:endParaRPr lang="ru-RU"/>
          </a:p>
        </p:txBody>
      </p:sp>
      <p:pic>
        <p:nvPicPr>
          <p:cNvPr id="16" name="Рисунок 15"/>
          <p:cNvPicPr>
            <a:picLocks noChangeAspect="1"/>
          </p:cNvPicPr>
          <p:nvPr userDrawn="1"/>
        </p:nvPicPr>
        <p:blipFill>
          <a:blip r:embed="rId24"/>
          <a:stretch/>
        </p:blipFill>
        <p:spPr bwMode="auto">
          <a:xfrm>
            <a:off x="10760167" y="142188"/>
            <a:ext cx="952406" cy="29346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a:lnSpc>
          <a:spcPct val="100000"/>
        </a:lnSpc>
        <a:spcBef>
          <a:spcPts val="0"/>
        </a:spcBef>
        <a:buNone/>
        <a:defRPr sz="3600" b="0">
          <a:solidFill>
            <a:schemeClr val="tx1"/>
          </a:solidFill>
          <a:latin typeface="Montserrat SemiBold"/>
          <a:ea typeface="+mj-ea"/>
          <a:cs typeface="+mj-cs"/>
        </a:defRPr>
      </a:lvl1pPr>
    </p:titleStyle>
    <p:body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 name="Текст 6"/>
          <p:cNvSpPr>
            <a:spLocks noGrp="1"/>
          </p:cNvSpPr>
          <p:nvPr>
            <p:ph type="body" sz="quarter" idx="12"/>
          </p:nvPr>
        </p:nvSpPr>
        <p:spPr bwMode="auto"/>
        <p:txBody>
          <a:bodyPr/>
          <a:lstStyle/>
          <a:p>
            <a:pPr>
              <a:defRPr/>
            </a:pPr>
            <a:r>
              <a:rPr lang="ru-RU" dirty="0"/>
              <a:t>Лектор</a:t>
            </a:r>
            <a:r>
              <a:rPr lang="en-US" dirty="0"/>
              <a:t>: </a:t>
            </a:r>
            <a:r>
              <a:rPr lang="ru-RU" dirty="0"/>
              <a:t>Борзов Вадим Максимович</a:t>
            </a:r>
          </a:p>
        </p:txBody>
      </p:sp>
      <p:sp>
        <p:nvSpPr>
          <p:cNvPr id="8" name="Текст 7"/>
          <p:cNvSpPr>
            <a:spLocks noGrp="1"/>
          </p:cNvSpPr>
          <p:nvPr>
            <p:ph type="body" sz="quarter" idx="13"/>
          </p:nvPr>
        </p:nvSpPr>
        <p:spPr bwMode="auto">
          <a:xfrm>
            <a:off x="3800791" y="4003199"/>
            <a:ext cx="8050849" cy="1655762"/>
          </a:xfrm>
        </p:spPr>
        <p:txBody>
          <a:bodyPr>
            <a:normAutofit/>
          </a:bodyPr>
          <a:lstStyle/>
          <a:p>
            <a:pPr>
              <a:defRPr/>
            </a:pPr>
            <a:r>
              <a:rPr lang="en-US"/>
              <a:t>Dijkstra, Bellman–Ford</a:t>
            </a:r>
          </a:p>
          <a:p>
            <a:pPr>
              <a:defRPr/>
            </a:pPr>
            <a:r>
              <a:rPr lang="ru-RU"/>
              <a:t>и </a:t>
            </a:r>
            <a:r>
              <a:rPr lang="en-US"/>
              <a:t>Floyd–Warshall</a:t>
            </a:r>
            <a:endParaRPr lang="ru-RU" dirty="0"/>
          </a:p>
        </p:txBody>
      </p:sp>
      <p:sp>
        <p:nvSpPr>
          <p:cNvPr id="9" name="Текст 8"/>
          <p:cNvSpPr>
            <a:spLocks noGrp="1"/>
          </p:cNvSpPr>
          <p:nvPr>
            <p:ph type="body" sz="quarter" idx="14"/>
          </p:nvPr>
        </p:nvSpPr>
        <p:spPr bwMode="auto">
          <a:xfrm>
            <a:off x="488435" y="6024880"/>
            <a:ext cx="2638182" cy="335280"/>
          </a:xfrm>
        </p:spPr>
        <p:txBody>
          <a:bodyPr/>
          <a:lstStyle/>
          <a:p>
            <a:pPr>
              <a:defRPr/>
            </a:pPr>
            <a:r>
              <a:rPr lang="ru-RU"/>
              <a:t>07.10.2026</a:t>
            </a:r>
            <a:endParaRPr lang="ru-RU" dirty="0"/>
          </a:p>
        </p:txBody>
      </p:sp>
      <p:sp>
        <p:nvSpPr>
          <p:cNvPr id="6" name="Заголовок 5"/>
          <p:cNvSpPr>
            <a:spLocks noGrp="1"/>
          </p:cNvSpPr>
          <p:nvPr>
            <p:ph type="title"/>
          </p:nvPr>
        </p:nvSpPr>
        <p:spPr bwMode="auto">
          <a:xfrm>
            <a:off x="3806188" y="1396366"/>
            <a:ext cx="8045451" cy="2032634"/>
          </a:xfrm>
        </p:spPr>
        <p:txBody>
          <a:bodyPr/>
          <a:lstStyle/>
          <a:p>
            <a:pPr>
              <a:defRPr/>
            </a:pPr>
            <a:r>
              <a:rPr lang="ru-RU"/>
              <a:t>Лекция 5. Кратчайшие пути</a:t>
            </a:r>
            <a:br>
              <a:rPr lang="ru-RU"/>
            </a:br>
            <a:r>
              <a:rPr lang="ru-RU"/>
              <a:t>во взвешенных графах</a:t>
            </a:r>
            <a:endParaRPr lang="ru-RU" dirty="0"/>
          </a:p>
        </p:txBody>
      </p:sp>
    </p:spTree>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889000"/>
          </a:xfrm>
        </p:spPr>
        <p:txBody>
          <a:bodyPr/>
          <a:lstStyle/>
          <a:p>
            <a:r>
              <a:rPr lang="ru-RU">
                <a:latin typeface="Montserrat SemiBold"/>
              </a:rPr>
              <a:t>Где мы остановились</a:t>
            </a:r>
            <a:endParaRPr lang="ru-RU" dirty="0">
              <a:latin typeface="Montserrat SemiBold"/>
            </a:endParaRP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p:spPr>
        <p:txBody>
          <a:bodyPr wrap="square" lIns="38100" tIns="25400" rIns="38100" bIns="25400" anchor="ctr"/>
          <a:lstStyle/>
          <a:p>
            <a:pPr>
              <a:spcBef>
                <a:spcPts val="0"/>
              </a:spcBef>
            </a:pPr>
            <a:r>
              <a:rPr lang="ru-RU" sz="1200">
                <a:solidFill>
                  <a:srgbClr val="FFFFFF"/>
                </a:solidFill>
                <a:latin typeface="Montserrat"/>
              </a:rPr>
              <a:t>Лекция 5. Кратчайшие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2</a:t>
            </a: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A0BDE42C-67BF-428D-B0AC-8ED50E7A6D3E}"/>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en-US" sz="2000">
                <a:solidFill>
                  <a:srgbClr val="FFFFFF"/>
                </a:solidFill>
                <a:latin typeface="Montserrat"/>
              </a:rPr>
              <a:t>BFS → </a:t>
            </a:r>
            <a:r>
              <a:rPr lang="ru-RU" sz="2000">
                <a:solidFill>
                  <a:srgbClr val="FFFFFF"/>
                </a:solidFill>
                <a:latin typeface="Montserrat"/>
              </a:rPr>
              <a:t>веса → </a:t>
            </a:r>
            <a:r>
              <a:rPr lang="en-US" sz="2000">
                <a:solidFill>
                  <a:srgbClr val="FFFFFF"/>
                </a:solidFill>
                <a:latin typeface="Montserrat"/>
              </a:rPr>
              <a:t>Dijkstra → </a:t>
            </a:r>
            <a:r>
              <a:rPr lang="ru-RU" sz="2000">
                <a:solidFill>
                  <a:srgbClr val="FFFFFF"/>
                </a:solidFill>
                <a:latin typeface="Montserrat"/>
              </a:rPr>
              <a:t>отрицательные веса → </a:t>
            </a:r>
            <a:r>
              <a:rPr lang="en-US" sz="2000">
                <a:solidFill>
                  <a:srgbClr val="FFFFFF"/>
                </a:solidFill>
                <a:latin typeface="Montserrat"/>
              </a:rPr>
              <a:t>Bellman–Ford → </a:t>
            </a:r>
            <a:r>
              <a:rPr lang="ru-RU" sz="2000">
                <a:solidFill>
                  <a:srgbClr val="FFFFFF"/>
                </a:solidFill>
                <a:latin typeface="Montserrat"/>
              </a:rPr>
              <a:t>все пары</a:t>
            </a:r>
          </a:p>
        </p:txBody>
      </p:sp>
      <p:sp>
        <p:nvSpPr>
          <p:cNvPr id="12" name="left-body">
            <a:extLst>
              <a:ext uri="{FF2B5EF4-FFF2-40B4-BE49-F238E27FC236}">
                <a16:creationId xmlns:a16="http://schemas.microsoft.com/office/drawing/2014/main" id="{B427D7E1-FC56-4E5A-9D09-41407D75EEFF}"/>
              </a:ext>
            </a:extLst>
          </p:cNvPr>
          <p:cNvSpPr/>
          <p:nvPr/>
        </p:nvSpPr>
        <p:spPr>
          <a:xfrm>
            <a:off x="698500" y="1816100"/>
            <a:ext cx="5207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left-head">
            <a:extLst>
              <a:ext uri="{FF2B5EF4-FFF2-40B4-BE49-F238E27FC236}">
                <a16:creationId xmlns:a16="http://schemas.microsoft.com/office/drawing/2014/main" id="{F78140F5-DBB5-47DC-AAE1-37B94D038D27}"/>
              </a:ext>
            </a:extLst>
          </p:cNvPr>
          <p:cNvSpPr/>
          <p:nvPr/>
        </p:nvSpPr>
        <p:spPr>
          <a:xfrm>
            <a:off x="6985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left-heading">
            <a:extLst>
              <a:ext uri="{FF2B5EF4-FFF2-40B4-BE49-F238E27FC236}">
                <a16:creationId xmlns:a16="http://schemas.microsoft.com/office/drawing/2014/main" id="{E0E22F18-0D8B-40D2-A132-1EDA2F0C3FBF}"/>
              </a:ext>
            </a:extLst>
          </p:cNvPr>
          <p:cNvSpPr txBox="1"/>
          <p:nvPr/>
        </p:nvSpPr>
        <p:spPr bwMode="auto">
          <a:xfrm>
            <a:off x="8890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Лекция 4</a:t>
            </a:r>
          </a:p>
        </p:txBody>
      </p:sp>
      <p:sp>
        <p:nvSpPr>
          <p:cNvPr id="15" name="left-text">
            <a:extLst>
              <a:ext uri="{FF2B5EF4-FFF2-40B4-BE49-F238E27FC236}">
                <a16:creationId xmlns:a16="http://schemas.microsoft.com/office/drawing/2014/main" id="{BEC355E4-3E61-471F-87E9-99E12695EF14}"/>
              </a:ext>
            </a:extLst>
          </p:cNvPr>
          <p:cNvSpPr txBox="1"/>
          <p:nvPr/>
        </p:nvSpPr>
        <p:spPr bwMode="auto">
          <a:xfrm>
            <a:off x="914400" y="2641599"/>
            <a:ext cx="4775200" cy="2717800"/>
          </a:xfrm>
          <a:prstGeom prst="rect">
            <a:avLst/>
          </a:prstGeom>
        </p:spPr>
        <p:txBody>
          <a:bodyPr vert="horz" wrap="square" lIns="0" tIns="0" rIns="0" bIns="0" rtlCol="0">
            <a:noAutofit/>
          </a:bodyPr>
          <a:lstStyle/>
          <a:p>
            <a:r>
              <a:rPr lang="ru-RU" sz="2300">
                <a:solidFill>
                  <a:srgbClr val="352379"/>
                </a:solidFill>
                <a:latin typeface="Montserrat"/>
              </a:rPr>
              <a:t>Структура графа</a:t>
            </a:r>
          </a:p>
          <a:p>
            <a:endParaRPr lang="ru-RU" sz="2300">
              <a:solidFill>
                <a:srgbClr val="352379"/>
              </a:solidFill>
              <a:latin typeface="Montserrat"/>
            </a:endParaRPr>
          </a:p>
          <a:p>
            <a:r>
              <a:rPr lang="ru-RU" sz="2300">
                <a:solidFill>
                  <a:srgbClr val="352379"/>
                </a:solidFill>
                <a:latin typeface="Montserrat"/>
              </a:rPr>
              <a:t>Связность и SCC</a:t>
            </a:r>
          </a:p>
          <a:p>
            <a:r>
              <a:rPr lang="ru-RU" sz="2300">
                <a:solidFill>
                  <a:srgbClr val="352379"/>
                </a:solidFill>
                <a:latin typeface="Montserrat"/>
              </a:rPr>
              <a:t>Критические объекты</a:t>
            </a:r>
          </a:p>
          <a:p>
            <a:r>
              <a:rPr lang="ru-RU" sz="2300">
                <a:solidFill>
                  <a:srgbClr val="352379"/>
                </a:solidFill>
                <a:latin typeface="Montserrat"/>
              </a:rPr>
              <a:t>Порядок зависимостей</a:t>
            </a:r>
          </a:p>
        </p:txBody>
      </p:sp>
      <p:sp>
        <p:nvSpPr>
          <p:cNvPr id="16" name="right-body">
            <a:extLst>
              <a:ext uri="{FF2B5EF4-FFF2-40B4-BE49-F238E27FC236}">
                <a16:creationId xmlns:a16="http://schemas.microsoft.com/office/drawing/2014/main" id="{4B5FD0C5-6868-4D4F-8853-C7DE8ABA78A5}"/>
              </a:ext>
            </a:extLst>
          </p:cNvPr>
          <p:cNvSpPr/>
          <p:nvPr/>
        </p:nvSpPr>
        <p:spPr>
          <a:xfrm>
            <a:off x="6477000" y="1816100"/>
            <a:ext cx="5207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right-head">
            <a:extLst>
              <a:ext uri="{FF2B5EF4-FFF2-40B4-BE49-F238E27FC236}">
                <a16:creationId xmlns:a16="http://schemas.microsoft.com/office/drawing/2014/main" id="{650DF461-1035-4FDF-ADD6-D6D4AD348CF6}"/>
              </a:ext>
            </a:extLst>
          </p:cNvPr>
          <p:cNvSpPr/>
          <p:nvPr/>
        </p:nvSpPr>
        <p:spPr>
          <a:xfrm>
            <a:off x="64770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right-heading">
            <a:extLst>
              <a:ext uri="{FF2B5EF4-FFF2-40B4-BE49-F238E27FC236}">
                <a16:creationId xmlns:a16="http://schemas.microsoft.com/office/drawing/2014/main" id="{A7C478AB-1F4E-4C7B-8B11-0EA2DE8DC40D}"/>
              </a:ext>
            </a:extLst>
          </p:cNvPr>
          <p:cNvSpPr txBox="1"/>
          <p:nvPr/>
        </p:nvSpPr>
        <p:spPr bwMode="auto">
          <a:xfrm>
            <a:off x="66675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Лекция 5</a:t>
            </a:r>
          </a:p>
        </p:txBody>
      </p:sp>
      <p:sp>
        <p:nvSpPr>
          <p:cNvPr id="19" name="right-text">
            <a:extLst>
              <a:ext uri="{FF2B5EF4-FFF2-40B4-BE49-F238E27FC236}">
                <a16:creationId xmlns:a16="http://schemas.microsoft.com/office/drawing/2014/main" id="{3D88ACCB-68FC-4EC4-BC09-B692EBA3963E}"/>
              </a:ext>
            </a:extLst>
          </p:cNvPr>
          <p:cNvSpPr txBox="1"/>
          <p:nvPr/>
        </p:nvSpPr>
        <p:spPr bwMode="auto">
          <a:xfrm>
            <a:off x="6692900" y="2641599"/>
            <a:ext cx="4775200" cy="2717800"/>
          </a:xfrm>
          <a:prstGeom prst="rect">
            <a:avLst/>
          </a:prstGeom>
        </p:spPr>
        <p:txBody>
          <a:bodyPr vert="horz" wrap="square" lIns="0" tIns="0" rIns="0" bIns="0" rtlCol="0">
            <a:noAutofit/>
          </a:bodyPr>
          <a:lstStyle/>
          <a:p>
            <a:r>
              <a:rPr lang="ru-RU" sz="2300">
                <a:solidFill>
                  <a:srgbClr val="352379"/>
                </a:solidFill>
                <a:latin typeface="Montserrat"/>
              </a:rPr>
              <a:t>Маршруты в графе</a:t>
            </a:r>
          </a:p>
          <a:p>
            <a:endParaRPr lang="ru-RU" sz="2300">
              <a:solidFill>
                <a:srgbClr val="352379"/>
              </a:solidFill>
              <a:latin typeface="Montserrat"/>
            </a:endParaRPr>
          </a:p>
          <a:p>
            <a:r>
              <a:rPr lang="ru-RU" sz="2300">
                <a:solidFill>
                  <a:srgbClr val="352379"/>
                </a:solidFill>
                <a:latin typeface="Montserrat"/>
              </a:rPr>
              <a:t>Стоимость пути</a:t>
            </a:r>
          </a:p>
          <a:p>
            <a:r>
              <a:rPr lang="ru-RU" sz="2300">
                <a:solidFill>
                  <a:srgbClr val="352379"/>
                </a:solidFill>
                <a:latin typeface="Montserrat"/>
              </a:rPr>
              <a:t>Кратчайшие расстояния</a:t>
            </a:r>
          </a:p>
          <a:p>
            <a:r>
              <a:rPr lang="ru-RU" sz="2300">
                <a:solidFill>
                  <a:srgbClr val="352379"/>
                </a:solidFill>
                <a:latin typeface="Montserrat"/>
              </a:rPr>
              <a:t>Восстановление маршрута</a:t>
            </a:r>
          </a:p>
        </p:txBody>
      </p:sp>
    </p:spTree>
    <p:extLst>
      <p:ext uri="{BB962C8B-B14F-4D97-AF65-F5344CB8AC3E}">
        <p14:creationId xmlns:p14="http://schemas.microsoft.com/office/powerpoint/2010/main" val="4288566682"/>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3277123-20C7-4A11-8721-081346707126}"/>
              </a:ext>
            </a:extLst>
          </p:cNvPr>
          <p:cNvSpPr>
            <a:spLocks noGrp="1"/>
          </p:cNvSpPr>
          <p:nvPr>
            <p:ph type="title"/>
          </p:nvPr>
        </p:nvSpPr>
        <p:spPr>
          <a:xfrm>
            <a:off x="479425" y="597855"/>
            <a:ext cx="11229975" cy="1140459"/>
          </a:xfrm>
        </p:spPr>
        <p:txBody>
          <a:bodyPr/>
          <a:lstStyle/>
          <a:p>
            <a:r>
              <a:rPr lang="ru-RU"/>
              <a:t>Нам нужен лучший маршрут</a:t>
            </a:r>
          </a:p>
        </p:txBody>
      </p:sp>
      <p:sp>
        <p:nvSpPr>
          <p:cNvPr id="7" name="Текст 6">
            <a:extLst>
              <a:ext uri="{FF2B5EF4-FFF2-40B4-BE49-F238E27FC236}">
                <a16:creationId xmlns:a16="http://schemas.microsoft.com/office/drawing/2014/main" id="{5A94C064-2DE7-46DC-AF80-7D6A025397C9}"/>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049C93B2-D1CF-4FBC-8B69-F0CE08C4C4BD}"/>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88BED833-E95F-4407-AB23-4485BBB790B3}"/>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3</a:t>
            </a:r>
          </a:p>
        </p:txBody>
      </p:sp>
      <p:sp>
        <p:nvSpPr>
          <p:cNvPr id="10" name="bottom-band">
            <a:extLst>
              <a:ext uri="{FF2B5EF4-FFF2-40B4-BE49-F238E27FC236}">
                <a16:creationId xmlns:a16="http://schemas.microsoft.com/office/drawing/2014/main" id="{C2A40C2E-92EF-40D0-94B8-85B060EEE835}"/>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8D132DBD-A580-4B03-8617-EFD82262E739}"/>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Один граф, разные веса, разные оптимальные маршруты</a:t>
            </a:r>
          </a:p>
        </p:txBody>
      </p:sp>
      <p:sp>
        <p:nvSpPr>
          <p:cNvPr id="12" name="left-body">
            <a:extLst>
              <a:ext uri="{FF2B5EF4-FFF2-40B4-BE49-F238E27FC236}">
                <a16:creationId xmlns:a16="http://schemas.microsoft.com/office/drawing/2014/main" id="{EBB66518-56CF-4663-ADA0-3ABB9D676AEE}"/>
              </a:ext>
            </a:extLst>
          </p:cNvPr>
          <p:cNvSpPr/>
          <p:nvPr/>
        </p:nvSpPr>
        <p:spPr>
          <a:xfrm>
            <a:off x="698500" y="1816100"/>
            <a:ext cx="5207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left-head">
            <a:extLst>
              <a:ext uri="{FF2B5EF4-FFF2-40B4-BE49-F238E27FC236}">
                <a16:creationId xmlns:a16="http://schemas.microsoft.com/office/drawing/2014/main" id="{B56EC825-7841-4483-9951-8CFD7638F225}"/>
              </a:ext>
            </a:extLst>
          </p:cNvPr>
          <p:cNvSpPr/>
          <p:nvPr/>
        </p:nvSpPr>
        <p:spPr>
          <a:xfrm>
            <a:off x="6985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left-heading">
            <a:extLst>
              <a:ext uri="{FF2B5EF4-FFF2-40B4-BE49-F238E27FC236}">
                <a16:creationId xmlns:a16="http://schemas.microsoft.com/office/drawing/2014/main" id="{8E6D2CE6-C40D-4011-B4A2-6E445ADAD4FA}"/>
              </a:ext>
            </a:extLst>
          </p:cNvPr>
          <p:cNvSpPr txBox="1"/>
          <p:nvPr/>
        </p:nvSpPr>
        <p:spPr bwMode="auto">
          <a:xfrm>
            <a:off x="8890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Дорожная сеть</a:t>
            </a:r>
          </a:p>
        </p:txBody>
      </p:sp>
      <p:sp>
        <p:nvSpPr>
          <p:cNvPr id="15" name="left-text">
            <a:extLst>
              <a:ext uri="{FF2B5EF4-FFF2-40B4-BE49-F238E27FC236}">
                <a16:creationId xmlns:a16="http://schemas.microsoft.com/office/drawing/2014/main" id="{ACEA66BD-3585-4A90-AA74-AA648651E8BE}"/>
              </a:ext>
            </a:extLst>
          </p:cNvPr>
          <p:cNvSpPr txBox="1"/>
          <p:nvPr/>
        </p:nvSpPr>
        <p:spPr bwMode="auto">
          <a:xfrm>
            <a:off x="914400" y="2641599"/>
            <a:ext cx="4775200" cy="2717800"/>
          </a:xfrm>
          <a:prstGeom prst="rect">
            <a:avLst/>
          </a:prstGeom>
        </p:spPr>
        <p:txBody>
          <a:bodyPr vert="horz" wrap="square" lIns="0" tIns="0" rIns="0" bIns="0" rtlCol="0">
            <a:noAutofit/>
          </a:bodyPr>
          <a:lstStyle/>
          <a:p>
            <a:r>
              <a:rPr lang="ru-RU" sz="2300">
                <a:solidFill>
                  <a:srgbClr val="352379"/>
                </a:solidFill>
                <a:latin typeface="Montserrat"/>
              </a:rPr>
              <a:t>Время поездки</a:t>
            </a:r>
          </a:p>
          <a:p>
            <a:r>
              <a:rPr lang="ru-RU" sz="2300">
                <a:solidFill>
                  <a:srgbClr val="352379"/>
                </a:solidFill>
                <a:latin typeface="Montserrat"/>
              </a:rPr>
              <a:t>Расстояние</a:t>
            </a:r>
          </a:p>
          <a:p>
            <a:r>
              <a:rPr lang="ru-RU" sz="2300">
                <a:solidFill>
                  <a:srgbClr val="352379"/>
                </a:solidFill>
                <a:latin typeface="Montserrat"/>
              </a:rPr>
              <a:t>Расход топлива</a:t>
            </a:r>
          </a:p>
        </p:txBody>
      </p:sp>
      <p:sp>
        <p:nvSpPr>
          <p:cNvPr id="16" name="right-body">
            <a:extLst>
              <a:ext uri="{FF2B5EF4-FFF2-40B4-BE49-F238E27FC236}">
                <a16:creationId xmlns:a16="http://schemas.microsoft.com/office/drawing/2014/main" id="{EC5264D2-8E61-40C5-8861-9B1A88377363}"/>
              </a:ext>
            </a:extLst>
          </p:cNvPr>
          <p:cNvSpPr/>
          <p:nvPr/>
        </p:nvSpPr>
        <p:spPr>
          <a:xfrm>
            <a:off x="6477000" y="1816100"/>
            <a:ext cx="5207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right-head">
            <a:extLst>
              <a:ext uri="{FF2B5EF4-FFF2-40B4-BE49-F238E27FC236}">
                <a16:creationId xmlns:a16="http://schemas.microsoft.com/office/drawing/2014/main" id="{5E1B6BCA-01F9-4DF2-A45D-4D7734D14B1D}"/>
              </a:ext>
            </a:extLst>
          </p:cNvPr>
          <p:cNvSpPr/>
          <p:nvPr/>
        </p:nvSpPr>
        <p:spPr>
          <a:xfrm>
            <a:off x="64770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right-heading">
            <a:extLst>
              <a:ext uri="{FF2B5EF4-FFF2-40B4-BE49-F238E27FC236}">
                <a16:creationId xmlns:a16="http://schemas.microsoft.com/office/drawing/2014/main" id="{53DF5CC0-561A-4127-B661-AD4DDAC8021D}"/>
              </a:ext>
            </a:extLst>
          </p:cNvPr>
          <p:cNvSpPr txBox="1"/>
          <p:nvPr/>
        </p:nvSpPr>
        <p:spPr bwMode="auto">
          <a:xfrm>
            <a:off x="66675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Другие задачи</a:t>
            </a:r>
          </a:p>
        </p:txBody>
      </p:sp>
      <p:sp>
        <p:nvSpPr>
          <p:cNvPr id="19" name="right-text">
            <a:extLst>
              <a:ext uri="{FF2B5EF4-FFF2-40B4-BE49-F238E27FC236}">
                <a16:creationId xmlns:a16="http://schemas.microsoft.com/office/drawing/2014/main" id="{0700260E-F3D4-4F60-8D87-2BE686DA0B46}"/>
              </a:ext>
            </a:extLst>
          </p:cNvPr>
          <p:cNvSpPr txBox="1"/>
          <p:nvPr/>
        </p:nvSpPr>
        <p:spPr bwMode="auto">
          <a:xfrm>
            <a:off x="6692900" y="2641599"/>
            <a:ext cx="4775200" cy="2717800"/>
          </a:xfrm>
          <a:prstGeom prst="rect">
            <a:avLst/>
          </a:prstGeom>
        </p:spPr>
        <p:txBody>
          <a:bodyPr vert="horz" wrap="square" lIns="0" tIns="0" rIns="0" bIns="0" rtlCol="0">
            <a:noAutofit/>
          </a:bodyPr>
          <a:lstStyle/>
          <a:p>
            <a:r>
              <a:rPr lang="ru-RU" sz="2300">
                <a:solidFill>
                  <a:srgbClr val="352379"/>
                </a:solidFill>
                <a:latin typeface="Montserrat"/>
              </a:rPr>
              <a:t>Задержка в сети</a:t>
            </a:r>
          </a:p>
          <a:p>
            <a:r>
              <a:rPr lang="ru-RU" sz="2300">
                <a:solidFill>
                  <a:srgbClr val="352379"/>
                </a:solidFill>
                <a:latin typeface="Montserrat"/>
              </a:rPr>
              <a:t>Стоимость доставки</a:t>
            </a:r>
          </a:p>
          <a:p>
            <a:r>
              <a:rPr lang="ru-RU" sz="2300">
                <a:solidFill>
                  <a:srgbClr val="352379"/>
                </a:solidFill>
                <a:latin typeface="Montserrat"/>
              </a:rPr>
              <a:t>Цена перехода состояния</a:t>
            </a:r>
          </a:p>
        </p:txBody>
      </p:sp>
    </p:spTree>
    <p:extLst>
      <p:ext uri="{BB962C8B-B14F-4D97-AF65-F5344CB8AC3E}">
        <p14:creationId xmlns:p14="http://schemas.microsoft.com/office/powerpoint/2010/main" val="2905363866"/>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DCFB5B-76BC-4FDA-93F7-1B98355F3B00}"/>
              </a:ext>
            </a:extLst>
          </p:cNvPr>
          <p:cNvSpPr>
            <a:spLocks noGrp="1"/>
          </p:cNvSpPr>
          <p:nvPr>
            <p:ph type="title"/>
          </p:nvPr>
        </p:nvSpPr>
        <p:spPr>
          <a:xfrm>
            <a:off x="479425" y="597855"/>
            <a:ext cx="11229975" cy="1140459"/>
          </a:xfrm>
        </p:spPr>
        <p:txBody>
          <a:bodyPr/>
          <a:lstStyle/>
          <a:p>
            <a:r>
              <a:rPr lang="ru-RU"/>
              <a:t>Вес ребра и взвешенный граф</a:t>
            </a:r>
          </a:p>
        </p:txBody>
      </p:sp>
      <p:sp>
        <p:nvSpPr>
          <p:cNvPr id="7" name="Текст 6">
            <a:extLst>
              <a:ext uri="{FF2B5EF4-FFF2-40B4-BE49-F238E27FC236}">
                <a16:creationId xmlns:a16="http://schemas.microsoft.com/office/drawing/2014/main" id="{0C66051A-896D-4553-B363-75BA32377C9A}"/>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777A1FFC-A524-423A-BFDD-B5C8D43BB0F8}"/>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9A425A21-E715-4800-9869-3B6600CA2A86}"/>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4</a:t>
            </a:r>
          </a:p>
        </p:txBody>
      </p:sp>
      <p:sp>
        <p:nvSpPr>
          <p:cNvPr id="10" name="bottom-band">
            <a:extLst>
              <a:ext uri="{FF2B5EF4-FFF2-40B4-BE49-F238E27FC236}">
                <a16:creationId xmlns:a16="http://schemas.microsoft.com/office/drawing/2014/main" id="{7769EC81-CF12-4C84-990D-33B6CB0E338A}"/>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7FA0C9EB-A013-4DE4-922F-B5FC30713712}"/>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Вес задаёт цену одного перехода, а не всего маршрута</a:t>
            </a:r>
          </a:p>
        </p:txBody>
      </p:sp>
      <p:cxnSp>
        <p:nvCxnSpPr>
          <p:cNvPr id="12" name="!!unweighted-edge-AB">
            <a:extLst>
              <a:ext uri="{FF2B5EF4-FFF2-40B4-BE49-F238E27FC236}">
                <a16:creationId xmlns:a16="http://schemas.microsoft.com/office/drawing/2014/main" id="{85D77602-0DD4-4293-AC6A-9B21A3265E4F}"/>
              </a:ext>
            </a:extLst>
          </p:cNvPr>
          <p:cNvCxnSpPr/>
          <p:nvPr/>
        </p:nvCxnSpPr>
        <p:spPr>
          <a:xfrm flipV="1">
            <a:off x="1389982" y="3003038"/>
            <a:ext cx="1411036" cy="661424"/>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3" name="!!unweighted-edge-AC">
            <a:extLst>
              <a:ext uri="{FF2B5EF4-FFF2-40B4-BE49-F238E27FC236}">
                <a16:creationId xmlns:a16="http://schemas.microsoft.com/office/drawing/2014/main" id="{8067F4DC-4C06-40CC-9B6C-9F2D49C902D4}"/>
              </a:ext>
            </a:extLst>
          </p:cNvPr>
          <p:cNvCxnSpPr/>
          <p:nvPr/>
        </p:nvCxnSpPr>
        <p:spPr>
          <a:xfrm>
            <a:off x="1389982" y="3955538"/>
            <a:ext cx="1411036" cy="661424"/>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4" name="!!unweighted-edge-BC">
            <a:extLst>
              <a:ext uri="{FF2B5EF4-FFF2-40B4-BE49-F238E27FC236}">
                <a16:creationId xmlns:a16="http://schemas.microsoft.com/office/drawing/2014/main" id="{56E00700-FB84-4019-9A6F-E68C8E360955}"/>
              </a:ext>
            </a:extLst>
          </p:cNvPr>
          <p:cNvCxnSpPr/>
          <p:nvPr/>
        </p:nvCxnSpPr>
        <p:spPr>
          <a:xfrm>
            <a:off x="3111500" y="3200400"/>
            <a:ext cx="0" cy="1219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5" name="!!unweighted-node-A">
            <a:extLst>
              <a:ext uri="{FF2B5EF4-FFF2-40B4-BE49-F238E27FC236}">
                <a16:creationId xmlns:a16="http://schemas.microsoft.com/office/drawing/2014/main" id="{E9826BA3-88E5-40A0-AD79-D27064C0DAE5}"/>
              </a:ext>
            </a:extLst>
          </p:cNvPr>
          <p:cNvSpPr/>
          <p:nvPr/>
        </p:nvSpPr>
        <p:spPr>
          <a:xfrm>
            <a:off x="762000" y="3492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6" name="!!unweighted-node-B">
            <a:extLst>
              <a:ext uri="{FF2B5EF4-FFF2-40B4-BE49-F238E27FC236}">
                <a16:creationId xmlns:a16="http://schemas.microsoft.com/office/drawing/2014/main" id="{4155A59C-62F0-4139-BF15-70278447BA63}"/>
              </a:ext>
            </a:extLst>
          </p:cNvPr>
          <p:cNvSpPr/>
          <p:nvPr/>
        </p:nvSpPr>
        <p:spPr>
          <a:xfrm>
            <a:off x="2794000" y="2540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7" name="!!unweighted-node-C">
            <a:extLst>
              <a:ext uri="{FF2B5EF4-FFF2-40B4-BE49-F238E27FC236}">
                <a16:creationId xmlns:a16="http://schemas.microsoft.com/office/drawing/2014/main" id="{A73B1208-6E6C-49B1-A21B-22855DDE913E}"/>
              </a:ext>
            </a:extLst>
          </p:cNvPr>
          <p:cNvSpPr/>
          <p:nvPr/>
        </p:nvSpPr>
        <p:spPr>
          <a:xfrm>
            <a:off x="2794000" y="4445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cxnSp>
        <p:nvCxnSpPr>
          <p:cNvPr id="18" name="!!weighted-edge-AB">
            <a:extLst>
              <a:ext uri="{FF2B5EF4-FFF2-40B4-BE49-F238E27FC236}">
                <a16:creationId xmlns:a16="http://schemas.microsoft.com/office/drawing/2014/main" id="{5DD84E30-0B74-4989-8913-E194390634CA}"/>
              </a:ext>
            </a:extLst>
          </p:cNvPr>
          <p:cNvCxnSpPr/>
          <p:nvPr/>
        </p:nvCxnSpPr>
        <p:spPr>
          <a:xfrm flipV="1">
            <a:off x="5390482" y="3003038"/>
            <a:ext cx="1411036" cy="661424"/>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9" name="!!weighted-weight-AB">
            <a:extLst>
              <a:ext uri="{FF2B5EF4-FFF2-40B4-BE49-F238E27FC236}">
                <a16:creationId xmlns:a16="http://schemas.microsoft.com/office/drawing/2014/main" id="{D617FA0B-36BD-44DF-9437-E32727AD32EE}"/>
              </a:ext>
            </a:extLst>
          </p:cNvPr>
          <p:cNvSpPr txBox="1"/>
          <p:nvPr/>
        </p:nvSpPr>
        <p:spPr bwMode="auto">
          <a:xfrm>
            <a:off x="5992929" y="3452530"/>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20" name="!!weighted-edge-AC">
            <a:extLst>
              <a:ext uri="{FF2B5EF4-FFF2-40B4-BE49-F238E27FC236}">
                <a16:creationId xmlns:a16="http://schemas.microsoft.com/office/drawing/2014/main" id="{37F41745-B49E-4E3C-8680-DE519A35861C}"/>
              </a:ext>
            </a:extLst>
          </p:cNvPr>
          <p:cNvCxnSpPr/>
          <p:nvPr/>
        </p:nvCxnSpPr>
        <p:spPr>
          <a:xfrm>
            <a:off x="5390482" y="3955538"/>
            <a:ext cx="1411036" cy="661424"/>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1" name="!!weighted-weight-AC">
            <a:extLst>
              <a:ext uri="{FF2B5EF4-FFF2-40B4-BE49-F238E27FC236}">
                <a16:creationId xmlns:a16="http://schemas.microsoft.com/office/drawing/2014/main" id="{7E59DE49-7D14-481F-ABAF-A17BB39286E8}"/>
              </a:ext>
            </a:extLst>
          </p:cNvPr>
          <p:cNvSpPr txBox="1"/>
          <p:nvPr/>
        </p:nvSpPr>
        <p:spPr bwMode="auto">
          <a:xfrm>
            <a:off x="5691071" y="4405030"/>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22" name="!!weighted-edge-BC">
            <a:extLst>
              <a:ext uri="{FF2B5EF4-FFF2-40B4-BE49-F238E27FC236}">
                <a16:creationId xmlns:a16="http://schemas.microsoft.com/office/drawing/2014/main" id="{800E8FB5-1C3F-41EB-84F9-DCB979886C78}"/>
              </a:ext>
            </a:extLst>
          </p:cNvPr>
          <p:cNvCxnSpPr/>
          <p:nvPr/>
        </p:nvCxnSpPr>
        <p:spPr>
          <a:xfrm>
            <a:off x="7112000" y="3200400"/>
            <a:ext cx="0" cy="1219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3" name="!!weighted-weight-BC">
            <a:extLst>
              <a:ext uri="{FF2B5EF4-FFF2-40B4-BE49-F238E27FC236}">
                <a16:creationId xmlns:a16="http://schemas.microsoft.com/office/drawing/2014/main" id="{46429436-015C-45E7-9E03-FDEACE4EB91C}"/>
              </a:ext>
            </a:extLst>
          </p:cNvPr>
          <p:cNvSpPr txBox="1"/>
          <p:nvPr/>
        </p:nvSpPr>
        <p:spPr bwMode="auto">
          <a:xfrm>
            <a:off x="6502400" y="36067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sp>
        <p:nvSpPr>
          <p:cNvPr id="24" name="!!weighted-node-A">
            <a:extLst>
              <a:ext uri="{FF2B5EF4-FFF2-40B4-BE49-F238E27FC236}">
                <a16:creationId xmlns:a16="http://schemas.microsoft.com/office/drawing/2014/main" id="{48240EC5-41B0-46CD-83CE-B8F4F2F9BABA}"/>
              </a:ext>
            </a:extLst>
          </p:cNvPr>
          <p:cNvSpPr/>
          <p:nvPr/>
        </p:nvSpPr>
        <p:spPr>
          <a:xfrm>
            <a:off x="4762500" y="3492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25" name="!!weighted-node-B">
            <a:extLst>
              <a:ext uri="{FF2B5EF4-FFF2-40B4-BE49-F238E27FC236}">
                <a16:creationId xmlns:a16="http://schemas.microsoft.com/office/drawing/2014/main" id="{2D2F9E93-9E07-4B9E-9AF7-B65D0DDDA2D2}"/>
              </a:ext>
            </a:extLst>
          </p:cNvPr>
          <p:cNvSpPr/>
          <p:nvPr/>
        </p:nvSpPr>
        <p:spPr>
          <a:xfrm>
            <a:off x="6794500" y="2540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26" name="!!weighted-node-C">
            <a:extLst>
              <a:ext uri="{FF2B5EF4-FFF2-40B4-BE49-F238E27FC236}">
                <a16:creationId xmlns:a16="http://schemas.microsoft.com/office/drawing/2014/main" id="{0E1326CE-8A89-46EE-8501-CFE7084A2791}"/>
              </a:ext>
            </a:extLst>
          </p:cNvPr>
          <p:cNvSpPr/>
          <p:nvPr/>
        </p:nvSpPr>
        <p:spPr>
          <a:xfrm>
            <a:off x="6794500" y="4445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27" name="graph-before">
            <a:extLst>
              <a:ext uri="{FF2B5EF4-FFF2-40B4-BE49-F238E27FC236}">
                <a16:creationId xmlns:a16="http://schemas.microsoft.com/office/drawing/2014/main" id="{F975DB91-4275-471E-AF35-1208D048FEE0}"/>
              </a:ext>
            </a:extLst>
          </p:cNvPr>
          <p:cNvSpPr txBox="1"/>
          <p:nvPr/>
        </p:nvSpPr>
        <p:spPr bwMode="auto">
          <a:xfrm>
            <a:off x="762000" y="1854199"/>
            <a:ext cx="2667000" cy="444500"/>
          </a:xfrm>
          <a:prstGeom prst="rect">
            <a:avLst/>
          </a:prstGeom>
        </p:spPr>
        <p:txBody>
          <a:bodyPr vert="horz" wrap="square" lIns="0" tIns="0" rIns="0" bIns="0" rtlCol="0">
            <a:noAutofit/>
          </a:bodyPr>
          <a:lstStyle/>
          <a:p>
            <a:pPr algn="ctr"/>
            <a:r>
              <a:rPr lang="ru-RU" sz="2400">
                <a:solidFill>
                  <a:srgbClr val="352379"/>
                </a:solidFill>
                <a:latin typeface="Montserrat"/>
              </a:rPr>
              <a:t>Граф</a:t>
            </a:r>
          </a:p>
        </p:txBody>
      </p:sp>
      <p:sp>
        <p:nvSpPr>
          <p:cNvPr id="28" name="graph-after">
            <a:extLst>
              <a:ext uri="{FF2B5EF4-FFF2-40B4-BE49-F238E27FC236}">
                <a16:creationId xmlns:a16="http://schemas.microsoft.com/office/drawing/2014/main" id="{FBB53D29-5C38-4B53-B8A2-8C957F9CB024}"/>
              </a:ext>
            </a:extLst>
          </p:cNvPr>
          <p:cNvSpPr txBox="1"/>
          <p:nvPr/>
        </p:nvSpPr>
        <p:spPr bwMode="auto">
          <a:xfrm>
            <a:off x="4445000" y="1854199"/>
            <a:ext cx="3302000" cy="444500"/>
          </a:xfrm>
          <a:prstGeom prst="rect">
            <a:avLst/>
          </a:prstGeom>
        </p:spPr>
        <p:txBody>
          <a:bodyPr vert="horz" wrap="square" lIns="0" tIns="0" rIns="0" bIns="0" rtlCol="0">
            <a:noAutofit/>
          </a:bodyPr>
          <a:lstStyle/>
          <a:p>
            <a:pPr algn="ctr"/>
            <a:r>
              <a:rPr lang="ru-RU" sz="2400">
                <a:solidFill>
                  <a:srgbClr val="352379"/>
                </a:solidFill>
                <a:latin typeface="Montserrat"/>
              </a:rPr>
              <a:t>Взвешенный граф</a:t>
            </a:r>
          </a:p>
        </p:txBody>
      </p:sp>
      <p:sp>
        <p:nvSpPr>
          <p:cNvPr id="29" name="definitions-body">
            <a:extLst>
              <a:ext uri="{FF2B5EF4-FFF2-40B4-BE49-F238E27FC236}">
                <a16:creationId xmlns:a16="http://schemas.microsoft.com/office/drawing/2014/main" id="{355A7757-4F41-4AD1-9D38-DF2CE5D3739F}"/>
              </a:ext>
            </a:extLst>
          </p:cNvPr>
          <p:cNvSpPr/>
          <p:nvPr/>
        </p:nvSpPr>
        <p:spPr>
          <a:xfrm>
            <a:off x="8229600" y="1816100"/>
            <a:ext cx="3479800" cy="38735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definitions-head">
            <a:extLst>
              <a:ext uri="{FF2B5EF4-FFF2-40B4-BE49-F238E27FC236}">
                <a16:creationId xmlns:a16="http://schemas.microsoft.com/office/drawing/2014/main" id="{A40230C0-9596-40D9-9E55-12481BFAC843}"/>
              </a:ext>
            </a:extLst>
          </p:cNvPr>
          <p:cNvSpPr/>
          <p:nvPr/>
        </p:nvSpPr>
        <p:spPr>
          <a:xfrm>
            <a:off x="8229600" y="1816100"/>
            <a:ext cx="34798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definitions-heading">
            <a:extLst>
              <a:ext uri="{FF2B5EF4-FFF2-40B4-BE49-F238E27FC236}">
                <a16:creationId xmlns:a16="http://schemas.microsoft.com/office/drawing/2014/main" id="{06C624DB-0B4E-428F-8B99-B9F9DB5C34E4}"/>
              </a:ext>
            </a:extLst>
          </p:cNvPr>
          <p:cNvSpPr txBox="1"/>
          <p:nvPr/>
        </p:nvSpPr>
        <p:spPr bwMode="auto">
          <a:xfrm>
            <a:off x="8420100" y="1930399"/>
            <a:ext cx="3098800" cy="381000"/>
          </a:xfrm>
          <a:prstGeom prst="rect">
            <a:avLst/>
          </a:prstGeom>
        </p:spPr>
        <p:txBody>
          <a:bodyPr vert="horz" wrap="square" lIns="0" tIns="0" rIns="0" bIns="0" rtlCol="0">
            <a:noAutofit/>
          </a:bodyPr>
          <a:lstStyle/>
          <a:p>
            <a:r>
              <a:rPr lang="ru-RU" sz="2100">
                <a:solidFill>
                  <a:srgbClr val="FFFFFF"/>
                </a:solidFill>
                <a:latin typeface="Montserrat"/>
              </a:rPr>
              <a:t>Определения</a:t>
            </a:r>
          </a:p>
        </p:txBody>
      </p:sp>
      <p:sp>
        <p:nvSpPr>
          <p:cNvPr id="32" name="definitions-text">
            <a:extLst>
              <a:ext uri="{FF2B5EF4-FFF2-40B4-BE49-F238E27FC236}">
                <a16:creationId xmlns:a16="http://schemas.microsoft.com/office/drawing/2014/main" id="{C20A2C5D-B66E-4135-AB5C-E51D9FDB9F96}"/>
              </a:ext>
            </a:extLst>
          </p:cNvPr>
          <p:cNvSpPr txBox="1"/>
          <p:nvPr/>
        </p:nvSpPr>
        <p:spPr bwMode="auto">
          <a:xfrm>
            <a:off x="8445500" y="2641599"/>
            <a:ext cx="3048000" cy="2908300"/>
          </a:xfrm>
          <a:prstGeom prst="rect">
            <a:avLst/>
          </a:prstGeom>
        </p:spPr>
        <p:txBody>
          <a:bodyPr vert="horz" wrap="square" lIns="0" tIns="0" rIns="0" bIns="0" rtlCol="0">
            <a:noAutofit/>
          </a:bodyPr>
          <a:lstStyle/>
          <a:p>
            <a:r>
              <a:rPr lang="ru-RU" sz="2100">
                <a:solidFill>
                  <a:srgbClr val="352379"/>
                </a:solidFill>
                <a:latin typeface="Montserrat"/>
              </a:rPr>
              <a:t>Вес ребра — число, задающее цену перехода.</a:t>
            </a:r>
          </a:p>
          <a:p>
            <a:endParaRPr lang="ru-RU" sz="2100">
              <a:solidFill>
                <a:srgbClr val="352379"/>
              </a:solidFill>
              <a:latin typeface="Montserrat"/>
            </a:endParaRPr>
          </a:p>
          <a:p>
            <a:r>
              <a:rPr lang="ru-RU" sz="2100">
                <a:solidFill>
                  <a:srgbClr val="352379"/>
                </a:solidFill>
                <a:latin typeface="Montserrat"/>
              </a:rPr>
              <a:t>Взвешенный граф — граф с числовым весом каждого ребра.</a:t>
            </a:r>
          </a:p>
        </p:txBody>
      </p:sp>
    </p:spTree>
    <p:extLst>
      <p:ext uri="{BB962C8B-B14F-4D97-AF65-F5344CB8AC3E}">
        <p14:creationId xmlns:p14="http://schemas.microsoft.com/office/powerpoint/2010/main" val="2003257859"/>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30EA048-19F3-44C2-87FE-2D51F7D81372}"/>
              </a:ext>
            </a:extLst>
          </p:cNvPr>
          <p:cNvSpPr>
            <a:spLocks noGrp="1"/>
          </p:cNvSpPr>
          <p:nvPr>
            <p:ph type="title"/>
          </p:nvPr>
        </p:nvSpPr>
        <p:spPr>
          <a:xfrm>
            <a:off x="479425" y="597855"/>
            <a:ext cx="11229975" cy="1140459"/>
          </a:xfrm>
        </p:spPr>
        <p:txBody>
          <a:bodyPr/>
          <a:lstStyle/>
          <a:p>
            <a:r>
              <a:rPr lang="ru-RU"/>
              <a:t>Стоимость пути</a:t>
            </a:r>
          </a:p>
        </p:txBody>
      </p:sp>
      <p:sp>
        <p:nvSpPr>
          <p:cNvPr id="7" name="Текст 6">
            <a:extLst>
              <a:ext uri="{FF2B5EF4-FFF2-40B4-BE49-F238E27FC236}">
                <a16:creationId xmlns:a16="http://schemas.microsoft.com/office/drawing/2014/main" id="{E6AB7AA1-6BD0-46F5-9FCA-E7BE5FF83BD6}"/>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7A866734-2976-49F4-B7D7-FBAFF3B39588}"/>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D46BF8AE-0341-41B4-B0FD-3D1F17A9D34B}"/>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5</a:t>
            </a:r>
          </a:p>
        </p:txBody>
      </p:sp>
      <p:sp>
        <p:nvSpPr>
          <p:cNvPr id="10" name="bottom-band">
            <a:extLst>
              <a:ext uri="{FF2B5EF4-FFF2-40B4-BE49-F238E27FC236}">
                <a16:creationId xmlns:a16="http://schemas.microsoft.com/office/drawing/2014/main" id="{14CB6118-CE66-490D-B7E2-B0F4D6B1BF70}"/>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A728857D-1DED-46A8-9403-FB87E9D425B1}"/>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w(P) = Σ w(e), где сумма берётся по рёбрам пути</a:t>
            </a:r>
          </a:p>
        </p:txBody>
      </p:sp>
      <p:cxnSp>
        <p:nvCxnSpPr>
          <p:cNvPr id="12" name="!!cost-edge-AB">
            <a:extLst>
              <a:ext uri="{FF2B5EF4-FFF2-40B4-BE49-F238E27FC236}">
                <a16:creationId xmlns:a16="http://schemas.microsoft.com/office/drawing/2014/main" id="{5B594DC8-C57D-42E2-B1E1-3F70E7E8DE83}"/>
              </a:ext>
            </a:extLst>
          </p:cNvPr>
          <p:cNvCxnSpPr/>
          <p:nvPr/>
        </p:nvCxnSpPr>
        <p:spPr>
          <a:xfrm>
            <a:off x="1803400" y="3619500"/>
            <a:ext cx="2108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3" name="!!cost-weight-AB">
            <a:extLst>
              <a:ext uri="{FF2B5EF4-FFF2-40B4-BE49-F238E27FC236}">
                <a16:creationId xmlns:a16="http://schemas.microsoft.com/office/drawing/2014/main" id="{41E5A4AA-7475-4FCE-B113-02321164D28F}"/>
              </a:ext>
            </a:extLst>
          </p:cNvPr>
          <p:cNvSpPr txBox="1"/>
          <p:nvPr/>
        </p:nvSpPr>
        <p:spPr bwMode="auto">
          <a:xfrm>
            <a:off x="2603500" y="3771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14" name="!!cost-edge-BD">
            <a:extLst>
              <a:ext uri="{FF2B5EF4-FFF2-40B4-BE49-F238E27FC236}">
                <a16:creationId xmlns:a16="http://schemas.microsoft.com/office/drawing/2014/main" id="{10521930-D398-40A5-AC14-63D05D7BCEF5}"/>
              </a:ext>
            </a:extLst>
          </p:cNvPr>
          <p:cNvCxnSpPr/>
          <p:nvPr/>
        </p:nvCxnSpPr>
        <p:spPr>
          <a:xfrm>
            <a:off x="4597400" y="3619500"/>
            <a:ext cx="2108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5" name="!!cost-weight-BD">
            <a:extLst>
              <a:ext uri="{FF2B5EF4-FFF2-40B4-BE49-F238E27FC236}">
                <a16:creationId xmlns:a16="http://schemas.microsoft.com/office/drawing/2014/main" id="{3A9F2F78-B122-4015-A34F-D4B2C6D7E99A}"/>
              </a:ext>
            </a:extLst>
          </p:cNvPr>
          <p:cNvSpPr txBox="1"/>
          <p:nvPr/>
        </p:nvSpPr>
        <p:spPr bwMode="auto">
          <a:xfrm>
            <a:off x="5397500" y="3771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16" name="!!cost-edge-DF">
            <a:extLst>
              <a:ext uri="{FF2B5EF4-FFF2-40B4-BE49-F238E27FC236}">
                <a16:creationId xmlns:a16="http://schemas.microsoft.com/office/drawing/2014/main" id="{F5179132-6AE4-4A3E-BE57-8B46DF2C2CC7}"/>
              </a:ext>
            </a:extLst>
          </p:cNvPr>
          <p:cNvCxnSpPr/>
          <p:nvPr/>
        </p:nvCxnSpPr>
        <p:spPr>
          <a:xfrm>
            <a:off x="7391400" y="3619500"/>
            <a:ext cx="2108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7" name="!!cost-weight-DF">
            <a:extLst>
              <a:ext uri="{FF2B5EF4-FFF2-40B4-BE49-F238E27FC236}">
                <a16:creationId xmlns:a16="http://schemas.microsoft.com/office/drawing/2014/main" id="{8D67D854-3809-46D7-9C73-B89140F17B1A}"/>
              </a:ext>
            </a:extLst>
          </p:cNvPr>
          <p:cNvSpPr txBox="1"/>
          <p:nvPr/>
        </p:nvSpPr>
        <p:spPr bwMode="auto">
          <a:xfrm>
            <a:off x="8191500" y="3771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sp>
        <p:nvSpPr>
          <p:cNvPr id="18" name="!!cost-node-A">
            <a:extLst>
              <a:ext uri="{FF2B5EF4-FFF2-40B4-BE49-F238E27FC236}">
                <a16:creationId xmlns:a16="http://schemas.microsoft.com/office/drawing/2014/main" id="{260EF0DF-2927-43C3-ABB2-5839C7ADE562}"/>
              </a:ext>
            </a:extLst>
          </p:cNvPr>
          <p:cNvSpPr/>
          <p:nvPr/>
        </p:nvSpPr>
        <p:spPr>
          <a:xfrm>
            <a:off x="1143000" y="330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9" name="!!cost-node-B">
            <a:extLst>
              <a:ext uri="{FF2B5EF4-FFF2-40B4-BE49-F238E27FC236}">
                <a16:creationId xmlns:a16="http://schemas.microsoft.com/office/drawing/2014/main" id="{E0804CCD-64D0-4081-9414-8794C92E1539}"/>
              </a:ext>
            </a:extLst>
          </p:cNvPr>
          <p:cNvSpPr/>
          <p:nvPr/>
        </p:nvSpPr>
        <p:spPr>
          <a:xfrm>
            <a:off x="3937000" y="330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20" name="!!cost-node-D">
            <a:extLst>
              <a:ext uri="{FF2B5EF4-FFF2-40B4-BE49-F238E27FC236}">
                <a16:creationId xmlns:a16="http://schemas.microsoft.com/office/drawing/2014/main" id="{923D0FF0-97EC-4AB4-870A-7F655E7909FF}"/>
              </a:ext>
            </a:extLst>
          </p:cNvPr>
          <p:cNvSpPr/>
          <p:nvPr/>
        </p:nvSpPr>
        <p:spPr>
          <a:xfrm>
            <a:off x="6731000" y="330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21" name="!!cost-node-F">
            <a:extLst>
              <a:ext uri="{FF2B5EF4-FFF2-40B4-BE49-F238E27FC236}">
                <a16:creationId xmlns:a16="http://schemas.microsoft.com/office/drawing/2014/main" id="{17363537-22BB-41E3-849E-4ACDCFE04C2E}"/>
              </a:ext>
            </a:extLst>
          </p:cNvPr>
          <p:cNvSpPr/>
          <p:nvPr/>
        </p:nvSpPr>
        <p:spPr>
          <a:xfrm>
            <a:off x="9525000" y="330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F</a:t>
            </a:r>
            <a:endParaRPr lang="ru-RU" sz="2200">
              <a:solidFill>
                <a:srgbClr val="352379"/>
              </a:solidFill>
              <a:latin typeface="Montserrat"/>
            </a:endParaRPr>
          </a:p>
        </p:txBody>
      </p:sp>
      <p:sp>
        <p:nvSpPr>
          <p:cNvPr id="22" name="path-definition">
            <a:extLst>
              <a:ext uri="{FF2B5EF4-FFF2-40B4-BE49-F238E27FC236}">
                <a16:creationId xmlns:a16="http://schemas.microsoft.com/office/drawing/2014/main" id="{71881763-F131-48F2-9685-62ADBCE05C04}"/>
              </a:ext>
            </a:extLst>
          </p:cNvPr>
          <p:cNvSpPr txBox="1"/>
          <p:nvPr/>
        </p:nvSpPr>
        <p:spPr bwMode="auto">
          <a:xfrm>
            <a:off x="698500" y="1854199"/>
            <a:ext cx="10985500" cy="762000"/>
          </a:xfrm>
          <a:prstGeom prst="rect">
            <a:avLst/>
          </a:prstGeom>
        </p:spPr>
        <p:txBody>
          <a:bodyPr vert="horz" wrap="square" lIns="0" tIns="0" rIns="0" bIns="0" rtlCol="0">
            <a:noAutofit/>
          </a:bodyPr>
          <a:lstStyle/>
          <a:p>
            <a:r>
              <a:rPr lang="ru-RU" sz="2600">
                <a:solidFill>
                  <a:srgbClr val="352379"/>
                </a:solidFill>
                <a:latin typeface="Montserrat"/>
              </a:rPr>
              <a:t>Стоимость пути — сумма весов рёбер этого пути.</a:t>
            </a:r>
          </a:p>
        </p:txBody>
      </p:sp>
      <p:sp>
        <p:nvSpPr>
          <p:cNvPr id="23" name="path-sum">
            <a:extLst>
              <a:ext uri="{FF2B5EF4-FFF2-40B4-BE49-F238E27FC236}">
                <a16:creationId xmlns:a16="http://schemas.microsoft.com/office/drawing/2014/main" id="{2891D53F-3C81-4038-917B-7A69A7F19672}"/>
              </a:ext>
            </a:extLst>
          </p:cNvPr>
          <p:cNvSpPr txBox="1"/>
          <p:nvPr/>
        </p:nvSpPr>
        <p:spPr bwMode="auto">
          <a:xfrm>
            <a:off x="1524000" y="4635499"/>
            <a:ext cx="9144000" cy="736600"/>
          </a:xfrm>
          <a:prstGeom prst="rect">
            <a:avLst/>
          </a:prstGeom>
        </p:spPr>
        <p:txBody>
          <a:bodyPr vert="horz" wrap="square" lIns="0" tIns="0" rIns="0" bIns="0" rtlCol="0">
            <a:noAutofit/>
          </a:bodyPr>
          <a:lstStyle/>
          <a:p>
            <a:pPr algn="ctr"/>
            <a:r>
              <a:rPr lang="ru-RU" sz="3600" b="1">
                <a:solidFill>
                  <a:srgbClr val="352379"/>
                </a:solidFill>
                <a:latin typeface="Montserrat"/>
              </a:rPr>
              <a:t>4 + 2 + 3 = 9</a:t>
            </a:r>
          </a:p>
        </p:txBody>
      </p:sp>
    </p:spTree>
    <p:extLst>
      <p:ext uri="{BB962C8B-B14F-4D97-AF65-F5344CB8AC3E}">
        <p14:creationId xmlns:p14="http://schemas.microsoft.com/office/powerpoint/2010/main" val="1568944812"/>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E64A0EF-79EE-4A95-BE54-0D2BCA6DC3B9}"/>
              </a:ext>
            </a:extLst>
          </p:cNvPr>
          <p:cNvSpPr>
            <a:spLocks noGrp="1"/>
          </p:cNvSpPr>
          <p:nvPr>
            <p:ph type="title"/>
          </p:nvPr>
        </p:nvSpPr>
        <p:spPr>
          <a:xfrm>
            <a:off x="479425" y="597855"/>
            <a:ext cx="11229975" cy="1140459"/>
          </a:xfrm>
        </p:spPr>
        <p:txBody>
          <a:bodyPr/>
          <a:lstStyle/>
          <a:p>
            <a:r>
              <a:rPr lang="ru-RU"/>
              <a:t>Кратчайший путь</a:t>
            </a:r>
          </a:p>
        </p:txBody>
      </p:sp>
      <p:sp>
        <p:nvSpPr>
          <p:cNvPr id="7" name="Текст 6">
            <a:extLst>
              <a:ext uri="{FF2B5EF4-FFF2-40B4-BE49-F238E27FC236}">
                <a16:creationId xmlns:a16="http://schemas.microsoft.com/office/drawing/2014/main" id="{5022F493-EEC2-452E-9D78-0656F6E4DAF8}"/>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050DB104-AB18-4684-BF8A-72F5466A9817}"/>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72862ACE-EDE0-4FC2-B9C3-77316EE2C92B}"/>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6</a:t>
            </a:r>
          </a:p>
        </p:txBody>
      </p:sp>
      <p:sp>
        <p:nvSpPr>
          <p:cNvPr id="10" name="bottom-band">
            <a:extLst>
              <a:ext uri="{FF2B5EF4-FFF2-40B4-BE49-F238E27FC236}">
                <a16:creationId xmlns:a16="http://schemas.microsoft.com/office/drawing/2014/main" id="{283AF044-DFAC-4429-8533-1A0B092D4A9C}"/>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BEEA9904-1943-4A16-A8AF-064C482EDB96}"/>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Кратчайший означает минимальный по выбранной стоимости</a:t>
            </a:r>
          </a:p>
        </p:txBody>
      </p:sp>
      <p:sp>
        <p:nvSpPr>
          <p:cNvPr id="12" name="left-body">
            <a:extLst>
              <a:ext uri="{FF2B5EF4-FFF2-40B4-BE49-F238E27FC236}">
                <a16:creationId xmlns:a16="http://schemas.microsoft.com/office/drawing/2014/main" id="{9063731E-53DE-4EB4-BD28-82C20DBA3CBE}"/>
              </a:ext>
            </a:extLst>
          </p:cNvPr>
          <p:cNvSpPr/>
          <p:nvPr/>
        </p:nvSpPr>
        <p:spPr>
          <a:xfrm>
            <a:off x="698500" y="1816100"/>
            <a:ext cx="5207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left-head">
            <a:extLst>
              <a:ext uri="{FF2B5EF4-FFF2-40B4-BE49-F238E27FC236}">
                <a16:creationId xmlns:a16="http://schemas.microsoft.com/office/drawing/2014/main" id="{D7C94553-5C29-40DE-BD60-3505D437DD55}"/>
              </a:ext>
            </a:extLst>
          </p:cNvPr>
          <p:cNvSpPr/>
          <p:nvPr/>
        </p:nvSpPr>
        <p:spPr>
          <a:xfrm>
            <a:off x="6985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left-heading">
            <a:extLst>
              <a:ext uri="{FF2B5EF4-FFF2-40B4-BE49-F238E27FC236}">
                <a16:creationId xmlns:a16="http://schemas.microsoft.com/office/drawing/2014/main" id="{B6950D5A-30CE-4D28-8FF5-E92E262250C9}"/>
              </a:ext>
            </a:extLst>
          </p:cNvPr>
          <p:cNvSpPr txBox="1"/>
          <p:nvPr/>
        </p:nvSpPr>
        <p:spPr bwMode="auto">
          <a:xfrm>
            <a:off x="8890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Определение</a:t>
            </a:r>
          </a:p>
        </p:txBody>
      </p:sp>
      <p:sp>
        <p:nvSpPr>
          <p:cNvPr id="15" name="left-text">
            <a:extLst>
              <a:ext uri="{FF2B5EF4-FFF2-40B4-BE49-F238E27FC236}">
                <a16:creationId xmlns:a16="http://schemas.microsoft.com/office/drawing/2014/main" id="{07FEBE87-11BD-4707-A663-286B63F440FE}"/>
              </a:ext>
            </a:extLst>
          </p:cNvPr>
          <p:cNvSpPr txBox="1"/>
          <p:nvPr/>
        </p:nvSpPr>
        <p:spPr bwMode="auto">
          <a:xfrm>
            <a:off x="914400" y="2641599"/>
            <a:ext cx="4775200" cy="2717800"/>
          </a:xfrm>
          <a:prstGeom prst="rect">
            <a:avLst/>
          </a:prstGeom>
        </p:spPr>
        <p:txBody>
          <a:bodyPr vert="horz" wrap="square" lIns="0" tIns="0" rIns="0" bIns="0" rtlCol="0">
            <a:noAutofit/>
          </a:bodyPr>
          <a:lstStyle/>
          <a:p>
            <a:r>
              <a:rPr lang="ru-RU" sz="2300">
                <a:solidFill>
                  <a:srgbClr val="352379"/>
                </a:solidFill>
                <a:latin typeface="Montserrat"/>
              </a:rPr>
              <a:t>Кратчайший путь между вершинами имеет минимальную суммарную стоимость среди допустимых маршрутов.</a:t>
            </a:r>
          </a:p>
        </p:txBody>
      </p:sp>
      <p:sp>
        <p:nvSpPr>
          <p:cNvPr id="16" name="right-body">
            <a:extLst>
              <a:ext uri="{FF2B5EF4-FFF2-40B4-BE49-F238E27FC236}">
                <a16:creationId xmlns:a16="http://schemas.microsoft.com/office/drawing/2014/main" id="{694DE9D7-B6A8-4071-A019-04C04120D637}"/>
              </a:ext>
            </a:extLst>
          </p:cNvPr>
          <p:cNvSpPr/>
          <p:nvPr/>
        </p:nvSpPr>
        <p:spPr>
          <a:xfrm>
            <a:off x="6477000" y="1816100"/>
            <a:ext cx="5207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right-head">
            <a:extLst>
              <a:ext uri="{FF2B5EF4-FFF2-40B4-BE49-F238E27FC236}">
                <a16:creationId xmlns:a16="http://schemas.microsoft.com/office/drawing/2014/main" id="{7FCBA26F-A60C-451C-BE40-2DB425955816}"/>
              </a:ext>
            </a:extLst>
          </p:cNvPr>
          <p:cNvSpPr/>
          <p:nvPr/>
        </p:nvSpPr>
        <p:spPr>
          <a:xfrm>
            <a:off x="64770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right-heading">
            <a:extLst>
              <a:ext uri="{FF2B5EF4-FFF2-40B4-BE49-F238E27FC236}">
                <a16:creationId xmlns:a16="http://schemas.microsoft.com/office/drawing/2014/main" id="{F9987866-A0FE-4909-8669-55444CB172EB}"/>
              </a:ext>
            </a:extLst>
          </p:cNvPr>
          <p:cNvSpPr txBox="1"/>
          <p:nvPr/>
        </p:nvSpPr>
        <p:spPr bwMode="auto">
          <a:xfrm>
            <a:off x="66675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Важное различие</a:t>
            </a:r>
          </a:p>
        </p:txBody>
      </p:sp>
      <p:sp>
        <p:nvSpPr>
          <p:cNvPr id="19" name="right-text">
            <a:extLst>
              <a:ext uri="{FF2B5EF4-FFF2-40B4-BE49-F238E27FC236}">
                <a16:creationId xmlns:a16="http://schemas.microsoft.com/office/drawing/2014/main" id="{B2BC61FE-45F5-4B00-9296-5085EA075154}"/>
              </a:ext>
            </a:extLst>
          </p:cNvPr>
          <p:cNvSpPr txBox="1"/>
          <p:nvPr/>
        </p:nvSpPr>
        <p:spPr bwMode="auto">
          <a:xfrm>
            <a:off x="6692900" y="2641599"/>
            <a:ext cx="4775200" cy="2717800"/>
          </a:xfrm>
          <a:prstGeom prst="rect">
            <a:avLst/>
          </a:prstGeom>
        </p:spPr>
        <p:txBody>
          <a:bodyPr vert="horz" wrap="square" lIns="0" tIns="0" rIns="0" bIns="0" rtlCol="0">
            <a:noAutofit/>
          </a:bodyPr>
          <a:lstStyle/>
          <a:p>
            <a:r>
              <a:rPr lang="ru-RU" sz="2300">
                <a:solidFill>
                  <a:srgbClr val="352379"/>
                </a:solidFill>
                <a:latin typeface="Montserrat"/>
              </a:rPr>
              <a:t>Меньше рёбер</a:t>
            </a:r>
          </a:p>
          <a:p>
            <a:r>
              <a:rPr lang="ru-RU" sz="2300">
                <a:solidFill>
                  <a:srgbClr val="352379"/>
                </a:solidFill>
                <a:latin typeface="Montserrat"/>
              </a:rPr>
              <a:t>не означает дешевле</a:t>
            </a:r>
          </a:p>
          <a:p>
            <a:endParaRPr lang="ru-RU" sz="2300">
              <a:solidFill>
                <a:srgbClr val="352379"/>
              </a:solidFill>
              <a:latin typeface="Montserrat"/>
            </a:endParaRPr>
          </a:p>
          <a:p>
            <a:r>
              <a:rPr lang="ru-RU" sz="2300">
                <a:solidFill>
                  <a:srgbClr val="352379"/>
                </a:solidFill>
                <a:latin typeface="Montserrat"/>
              </a:rPr>
              <a:t>1 ребро с весом 10</a:t>
            </a:r>
          </a:p>
          <a:p>
            <a:r>
              <a:rPr lang="ru-RU" sz="2300">
                <a:solidFill>
                  <a:srgbClr val="352379"/>
                </a:solidFill>
                <a:latin typeface="Montserrat"/>
              </a:rPr>
              <a:t>дороже 2 рёбер с весом 1</a:t>
            </a:r>
          </a:p>
        </p:txBody>
      </p:sp>
    </p:spTree>
    <p:extLst>
      <p:ext uri="{BB962C8B-B14F-4D97-AF65-F5344CB8AC3E}">
        <p14:creationId xmlns:p14="http://schemas.microsoft.com/office/powerpoint/2010/main" val="429722629"/>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559214E-FBF5-4F27-9040-B96F47A7F900}"/>
              </a:ext>
            </a:extLst>
          </p:cNvPr>
          <p:cNvSpPr>
            <a:spLocks noGrp="1"/>
          </p:cNvSpPr>
          <p:nvPr>
            <p:ph type="title"/>
          </p:nvPr>
        </p:nvSpPr>
        <p:spPr>
          <a:xfrm>
            <a:off x="479425" y="597855"/>
            <a:ext cx="11229975" cy="1140459"/>
          </a:xfrm>
        </p:spPr>
        <p:txBody>
          <a:bodyPr/>
          <a:lstStyle/>
          <a:p>
            <a:r>
              <a:rPr lang="ru-RU" dirty="0"/>
              <a:t>Какой путь дешевле?</a:t>
            </a:r>
          </a:p>
        </p:txBody>
      </p:sp>
      <p:sp>
        <p:nvSpPr>
          <p:cNvPr id="7" name="Текст 6">
            <a:extLst>
              <a:ext uri="{FF2B5EF4-FFF2-40B4-BE49-F238E27FC236}">
                <a16:creationId xmlns:a16="http://schemas.microsoft.com/office/drawing/2014/main" id="{C755FFC1-806F-451D-A345-9E665D1C3761}"/>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29E3E17A-D344-46A1-BC07-0016B2299147}"/>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F66B5A42-FFE0-4568-97B4-8759F09B89F5}"/>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7</a:t>
            </a:r>
          </a:p>
        </p:txBody>
      </p:sp>
      <p:sp>
        <p:nvSpPr>
          <p:cNvPr id="10" name="bottom-band">
            <a:extLst>
              <a:ext uri="{FF2B5EF4-FFF2-40B4-BE49-F238E27FC236}">
                <a16:creationId xmlns:a16="http://schemas.microsoft.com/office/drawing/2014/main" id="{6A1FAFF0-5619-4688-B655-910CB3688CC0}"/>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3ED4AF58-BFB8-4F19-92A1-DB7D03926527}"/>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Сначала сложите веса каждого предложенного маршрута</a:t>
            </a:r>
          </a:p>
        </p:txBody>
      </p:sp>
      <p:cxnSp>
        <p:nvCxnSpPr>
          <p:cNvPr id="12" name="!!g-edge-AB">
            <a:extLst>
              <a:ext uri="{FF2B5EF4-FFF2-40B4-BE49-F238E27FC236}">
                <a16:creationId xmlns:a16="http://schemas.microsoft.com/office/drawing/2014/main" id="{4B7CDB5E-C1C4-49FB-ABAA-6C8F208A1C4D}"/>
              </a:ext>
            </a:extLst>
          </p:cNvPr>
          <p:cNvCxnSpPr/>
          <p:nvPr/>
        </p:nvCxnSpPr>
        <p:spPr>
          <a:xfrm flipV="1">
            <a:off x="1425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3" name="!!g-weight-AB">
            <a:extLst>
              <a:ext uri="{FF2B5EF4-FFF2-40B4-BE49-F238E27FC236}">
                <a16:creationId xmlns:a16="http://schemas.microsoft.com/office/drawing/2014/main" id="{523AD82E-F84A-4D4E-9B87-14C3E0E68C4E}"/>
              </a:ext>
            </a:extLst>
          </p:cNvPr>
          <p:cNvSpPr txBox="1"/>
          <p:nvPr/>
        </p:nvSpPr>
        <p:spPr bwMode="auto">
          <a:xfrm>
            <a:off x="2011636"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7</a:t>
            </a:r>
          </a:p>
        </p:txBody>
      </p:sp>
      <p:cxnSp>
        <p:nvCxnSpPr>
          <p:cNvPr id="14" name="!!g-edge-AC">
            <a:extLst>
              <a:ext uri="{FF2B5EF4-FFF2-40B4-BE49-F238E27FC236}">
                <a16:creationId xmlns:a16="http://schemas.microsoft.com/office/drawing/2014/main" id="{8DBF3165-B765-4964-A31F-C86A10631025}"/>
              </a:ext>
            </a:extLst>
          </p:cNvPr>
          <p:cNvCxnSpPr/>
          <p:nvPr/>
        </p:nvCxnSpPr>
        <p:spPr>
          <a:xfrm>
            <a:off x="1425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5" name="!!g-weight-AC">
            <a:extLst>
              <a:ext uri="{FF2B5EF4-FFF2-40B4-BE49-F238E27FC236}">
                <a16:creationId xmlns:a16="http://schemas.microsoft.com/office/drawing/2014/main" id="{B4568478-573F-41F0-BADD-B902351A1B8C}"/>
              </a:ext>
            </a:extLst>
          </p:cNvPr>
          <p:cNvSpPr txBox="1"/>
          <p:nvPr/>
        </p:nvSpPr>
        <p:spPr bwMode="auto">
          <a:xfrm>
            <a:off x="1607864"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6" name="!!g-edge-BC">
            <a:extLst>
              <a:ext uri="{FF2B5EF4-FFF2-40B4-BE49-F238E27FC236}">
                <a16:creationId xmlns:a16="http://schemas.microsoft.com/office/drawing/2014/main" id="{A915DD6A-24F6-4B50-A819-607D88ABAF83}"/>
              </a:ext>
            </a:extLst>
          </p:cNvPr>
          <p:cNvCxnSpPr/>
          <p:nvPr/>
        </p:nvCxnSpPr>
        <p:spPr>
          <a:xfrm>
            <a:off x="29845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7" name="!!g-weight-BC">
            <a:extLst>
              <a:ext uri="{FF2B5EF4-FFF2-40B4-BE49-F238E27FC236}">
                <a16:creationId xmlns:a16="http://schemas.microsoft.com/office/drawing/2014/main" id="{9778E228-007E-4CEF-BE28-9C6A47DEE8D4}"/>
              </a:ext>
            </a:extLst>
          </p:cNvPr>
          <p:cNvSpPr txBox="1"/>
          <p:nvPr/>
        </p:nvSpPr>
        <p:spPr bwMode="auto">
          <a:xfrm>
            <a:off x="23749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18" name="!!g-edge-BD">
            <a:extLst>
              <a:ext uri="{FF2B5EF4-FFF2-40B4-BE49-F238E27FC236}">
                <a16:creationId xmlns:a16="http://schemas.microsoft.com/office/drawing/2014/main" id="{752587B5-BBD2-47ED-9866-24C3A5D81EEC}"/>
              </a:ext>
            </a:extLst>
          </p:cNvPr>
          <p:cNvCxnSpPr/>
          <p:nvPr/>
        </p:nvCxnSpPr>
        <p:spPr>
          <a:xfrm>
            <a:off x="3327400" y="273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9" name="!!g-weight-BD">
            <a:extLst>
              <a:ext uri="{FF2B5EF4-FFF2-40B4-BE49-F238E27FC236}">
                <a16:creationId xmlns:a16="http://schemas.microsoft.com/office/drawing/2014/main" id="{F2CB9DBA-C8AC-47E6-9156-DBFD213D6E7B}"/>
              </a:ext>
            </a:extLst>
          </p:cNvPr>
          <p:cNvSpPr txBox="1"/>
          <p:nvPr/>
        </p:nvSpPr>
        <p:spPr bwMode="auto">
          <a:xfrm>
            <a:off x="3778250" y="288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20" name="!!g-edge-CD">
            <a:extLst>
              <a:ext uri="{FF2B5EF4-FFF2-40B4-BE49-F238E27FC236}">
                <a16:creationId xmlns:a16="http://schemas.microsoft.com/office/drawing/2014/main" id="{CFA5D82E-5A15-4504-BBAE-5724693C5DEA}"/>
              </a:ext>
            </a:extLst>
          </p:cNvPr>
          <p:cNvCxnSpPr/>
          <p:nvPr/>
        </p:nvCxnSpPr>
        <p:spPr>
          <a:xfrm flipV="1">
            <a:off x="3202716" y="2995004"/>
            <a:ext cx="1659068" cy="2010992"/>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1" name="!!g-weight-CD">
            <a:extLst>
              <a:ext uri="{FF2B5EF4-FFF2-40B4-BE49-F238E27FC236}">
                <a16:creationId xmlns:a16="http://schemas.microsoft.com/office/drawing/2014/main" id="{925D1CC5-BE81-4804-85A7-2F3FBFF65677}"/>
              </a:ext>
            </a:extLst>
          </p:cNvPr>
          <p:cNvSpPr txBox="1"/>
          <p:nvPr/>
        </p:nvSpPr>
        <p:spPr bwMode="auto">
          <a:xfrm>
            <a:off x="4052550" y="4023597"/>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5</a:t>
            </a:r>
          </a:p>
        </p:txBody>
      </p:sp>
      <p:cxnSp>
        <p:nvCxnSpPr>
          <p:cNvPr id="22" name="!!g-edge-CE">
            <a:extLst>
              <a:ext uri="{FF2B5EF4-FFF2-40B4-BE49-F238E27FC236}">
                <a16:creationId xmlns:a16="http://schemas.microsoft.com/office/drawing/2014/main" id="{DE5494E2-4D92-4855-8852-43E92B5C3641}"/>
              </a:ext>
            </a:extLst>
          </p:cNvPr>
          <p:cNvCxnSpPr/>
          <p:nvPr/>
        </p:nvCxnSpPr>
        <p:spPr>
          <a:xfrm>
            <a:off x="3327400" y="527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3" name="!!g-weight-CE">
            <a:extLst>
              <a:ext uri="{FF2B5EF4-FFF2-40B4-BE49-F238E27FC236}">
                <a16:creationId xmlns:a16="http://schemas.microsoft.com/office/drawing/2014/main" id="{48EC0A9B-6FE5-4EB0-AD27-369631F217DC}"/>
              </a:ext>
            </a:extLst>
          </p:cNvPr>
          <p:cNvSpPr txBox="1"/>
          <p:nvPr/>
        </p:nvSpPr>
        <p:spPr bwMode="auto">
          <a:xfrm>
            <a:off x="3778250" y="542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8</a:t>
            </a:r>
          </a:p>
        </p:txBody>
      </p:sp>
      <p:cxnSp>
        <p:nvCxnSpPr>
          <p:cNvPr id="24" name="!!g-edge-DE">
            <a:extLst>
              <a:ext uri="{FF2B5EF4-FFF2-40B4-BE49-F238E27FC236}">
                <a16:creationId xmlns:a16="http://schemas.microsoft.com/office/drawing/2014/main" id="{453C7EB9-C505-4643-B985-D675F53F423A}"/>
              </a:ext>
            </a:extLst>
          </p:cNvPr>
          <p:cNvCxnSpPr/>
          <p:nvPr/>
        </p:nvCxnSpPr>
        <p:spPr>
          <a:xfrm>
            <a:off x="50800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5" name="!!g-weight-DE">
            <a:extLst>
              <a:ext uri="{FF2B5EF4-FFF2-40B4-BE49-F238E27FC236}">
                <a16:creationId xmlns:a16="http://schemas.microsoft.com/office/drawing/2014/main" id="{6CDDBC17-4E34-4075-AC28-80C0D5D2B33A}"/>
              </a:ext>
            </a:extLst>
          </p:cNvPr>
          <p:cNvSpPr txBox="1"/>
          <p:nvPr/>
        </p:nvSpPr>
        <p:spPr bwMode="auto">
          <a:xfrm>
            <a:off x="44704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cxnSp>
        <p:nvCxnSpPr>
          <p:cNvPr id="26" name="!!g-edge-DF">
            <a:extLst>
              <a:ext uri="{FF2B5EF4-FFF2-40B4-BE49-F238E27FC236}">
                <a16:creationId xmlns:a16="http://schemas.microsoft.com/office/drawing/2014/main" id="{0464C212-6187-40C1-8310-EC30DF6A5031}"/>
              </a:ext>
            </a:extLst>
          </p:cNvPr>
          <p:cNvCxnSpPr/>
          <p:nvPr/>
        </p:nvCxnSpPr>
        <p:spPr>
          <a:xfrm>
            <a:off x="5362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7" name="!!g-weight-DF">
            <a:extLst>
              <a:ext uri="{FF2B5EF4-FFF2-40B4-BE49-F238E27FC236}">
                <a16:creationId xmlns:a16="http://schemas.microsoft.com/office/drawing/2014/main" id="{1146A98C-557A-4015-B4AA-EFF65DAA65B8}"/>
              </a:ext>
            </a:extLst>
          </p:cNvPr>
          <p:cNvSpPr txBox="1"/>
          <p:nvPr/>
        </p:nvSpPr>
        <p:spPr bwMode="auto">
          <a:xfrm>
            <a:off x="5544864"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28" name="!!g-edge-EF">
            <a:extLst>
              <a:ext uri="{FF2B5EF4-FFF2-40B4-BE49-F238E27FC236}">
                <a16:creationId xmlns:a16="http://schemas.microsoft.com/office/drawing/2014/main" id="{680556EA-093F-44EE-B252-88DEBF15C231}"/>
              </a:ext>
            </a:extLst>
          </p:cNvPr>
          <p:cNvCxnSpPr/>
          <p:nvPr/>
        </p:nvCxnSpPr>
        <p:spPr>
          <a:xfrm flipV="1">
            <a:off x="5362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9" name="!!g-weight-EF">
            <a:extLst>
              <a:ext uri="{FF2B5EF4-FFF2-40B4-BE49-F238E27FC236}">
                <a16:creationId xmlns:a16="http://schemas.microsoft.com/office/drawing/2014/main" id="{9DB0F39D-8E3D-4522-B050-6740737D16C7}"/>
              </a:ext>
            </a:extLst>
          </p:cNvPr>
          <p:cNvSpPr txBox="1"/>
          <p:nvPr/>
        </p:nvSpPr>
        <p:spPr bwMode="auto">
          <a:xfrm>
            <a:off x="5948636"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sp>
        <p:nvSpPr>
          <p:cNvPr id="30" name="!!g-node-A">
            <a:extLst>
              <a:ext uri="{FF2B5EF4-FFF2-40B4-BE49-F238E27FC236}">
                <a16:creationId xmlns:a16="http://schemas.microsoft.com/office/drawing/2014/main" id="{44BED211-97EF-4296-9F97-C66C2D48C6E7}"/>
              </a:ext>
            </a:extLst>
          </p:cNvPr>
          <p:cNvSpPr/>
          <p:nvPr/>
        </p:nvSpPr>
        <p:spPr>
          <a:xfrm>
            <a:off x="825500" y="368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31" name="!!g-node-B">
            <a:extLst>
              <a:ext uri="{FF2B5EF4-FFF2-40B4-BE49-F238E27FC236}">
                <a16:creationId xmlns:a16="http://schemas.microsoft.com/office/drawing/2014/main" id="{2E143389-1660-411C-AE89-90E39B9569A5}"/>
              </a:ext>
            </a:extLst>
          </p:cNvPr>
          <p:cNvSpPr/>
          <p:nvPr/>
        </p:nvSpPr>
        <p:spPr>
          <a:xfrm>
            <a:off x="26670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32" name="!!g-node-C">
            <a:extLst>
              <a:ext uri="{FF2B5EF4-FFF2-40B4-BE49-F238E27FC236}">
                <a16:creationId xmlns:a16="http://schemas.microsoft.com/office/drawing/2014/main" id="{D5148232-D439-4A0A-913B-8471B9BC2164}"/>
              </a:ext>
            </a:extLst>
          </p:cNvPr>
          <p:cNvSpPr/>
          <p:nvPr/>
        </p:nvSpPr>
        <p:spPr>
          <a:xfrm>
            <a:off x="26670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33" name="!!g-node-D">
            <a:extLst>
              <a:ext uri="{FF2B5EF4-FFF2-40B4-BE49-F238E27FC236}">
                <a16:creationId xmlns:a16="http://schemas.microsoft.com/office/drawing/2014/main" id="{EE93AA8D-6578-46D3-83F5-9C65706B54E2}"/>
              </a:ext>
            </a:extLst>
          </p:cNvPr>
          <p:cNvSpPr/>
          <p:nvPr/>
        </p:nvSpPr>
        <p:spPr>
          <a:xfrm>
            <a:off x="47625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34" name="!!g-node-E">
            <a:extLst>
              <a:ext uri="{FF2B5EF4-FFF2-40B4-BE49-F238E27FC236}">
                <a16:creationId xmlns:a16="http://schemas.microsoft.com/office/drawing/2014/main" id="{38B29F6E-BF80-49E8-995C-716850605804}"/>
              </a:ext>
            </a:extLst>
          </p:cNvPr>
          <p:cNvSpPr/>
          <p:nvPr/>
        </p:nvSpPr>
        <p:spPr>
          <a:xfrm>
            <a:off x="47625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35" name="!!g-node-F">
            <a:extLst>
              <a:ext uri="{FF2B5EF4-FFF2-40B4-BE49-F238E27FC236}">
                <a16:creationId xmlns:a16="http://schemas.microsoft.com/office/drawing/2014/main" id="{3446A73D-64FA-4681-B14D-20E5064770D2}"/>
              </a:ext>
            </a:extLst>
          </p:cNvPr>
          <p:cNvSpPr/>
          <p:nvPr/>
        </p:nvSpPr>
        <p:spPr>
          <a:xfrm>
            <a:off x="6604000" y="368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F</a:t>
            </a:r>
            <a:endParaRPr lang="ru-RU" sz="2200">
              <a:solidFill>
                <a:srgbClr val="352379"/>
              </a:solidFill>
              <a:latin typeface="Montserrat"/>
            </a:endParaRPr>
          </a:p>
        </p:txBody>
      </p:sp>
      <p:sp>
        <p:nvSpPr>
          <p:cNvPr id="36" name="options-body">
            <a:extLst>
              <a:ext uri="{FF2B5EF4-FFF2-40B4-BE49-F238E27FC236}">
                <a16:creationId xmlns:a16="http://schemas.microsoft.com/office/drawing/2014/main" id="{FBCC7B28-5E9C-462B-AF5D-29088A4F51BC}"/>
              </a:ext>
            </a:extLst>
          </p:cNvPr>
          <p:cNvSpPr/>
          <p:nvPr/>
        </p:nvSpPr>
        <p:spPr>
          <a:xfrm>
            <a:off x="7874000" y="1816100"/>
            <a:ext cx="3835400" cy="32258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options-head">
            <a:extLst>
              <a:ext uri="{FF2B5EF4-FFF2-40B4-BE49-F238E27FC236}">
                <a16:creationId xmlns:a16="http://schemas.microsoft.com/office/drawing/2014/main" id="{4ED112AD-D62E-4684-996B-19A7111C467D}"/>
              </a:ext>
            </a:extLst>
          </p:cNvPr>
          <p:cNvSpPr/>
          <p:nvPr/>
        </p:nvSpPr>
        <p:spPr>
          <a:xfrm>
            <a:off x="7874000" y="1816100"/>
            <a:ext cx="38354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options-heading">
            <a:extLst>
              <a:ext uri="{FF2B5EF4-FFF2-40B4-BE49-F238E27FC236}">
                <a16:creationId xmlns:a16="http://schemas.microsoft.com/office/drawing/2014/main" id="{F1FBA42B-7567-4B98-9798-03C5329B9494}"/>
              </a:ext>
            </a:extLst>
          </p:cNvPr>
          <p:cNvSpPr txBox="1"/>
          <p:nvPr/>
        </p:nvSpPr>
        <p:spPr bwMode="auto">
          <a:xfrm>
            <a:off x="8064500" y="1930399"/>
            <a:ext cx="3454400" cy="381000"/>
          </a:xfrm>
          <a:prstGeom prst="rect">
            <a:avLst/>
          </a:prstGeom>
        </p:spPr>
        <p:txBody>
          <a:bodyPr vert="horz" wrap="square" lIns="0" tIns="0" rIns="0" bIns="0" rtlCol="0">
            <a:noAutofit/>
          </a:bodyPr>
          <a:lstStyle/>
          <a:p>
            <a:r>
              <a:rPr lang="ru-RU" sz="2100">
                <a:solidFill>
                  <a:srgbClr val="FFFFFF"/>
                </a:solidFill>
                <a:latin typeface="Montserrat"/>
              </a:rPr>
              <a:t>Маршруты из A в F</a:t>
            </a:r>
          </a:p>
        </p:txBody>
      </p:sp>
      <p:sp>
        <p:nvSpPr>
          <p:cNvPr id="39" name="options-text">
            <a:extLst>
              <a:ext uri="{FF2B5EF4-FFF2-40B4-BE49-F238E27FC236}">
                <a16:creationId xmlns:a16="http://schemas.microsoft.com/office/drawing/2014/main" id="{2A51C7EA-3A83-4816-9E9A-153C9B48F7A7}"/>
              </a:ext>
            </a:extLst>
          </p:cNvPr>
          <p:cNvSpPr txBox="1"/>
          <p:nvPr/>
        </p:nvSpPr>
        <p:spPr bwMode="auto">
          <a:xfrm>
            <a:off x="8089900" y="2641599"/>
            <a:ext cx="3403600" cy="2260600"/>
          </a:xfrm>
          <a:prstGeom prst="rect">
            <a:avLst/>
          </a:prstGeom>
        </p:spPr>
        <p:txBody>
          <a:bodyPr vert="horz" wrap="square" lIns="0" tIns="0" rIns="0" bIns="0" rtlCol="0">
            <a:noAutofit/>
          </a:bodyPr>
          <a:lstStyle/>
          <a:p>
            <a:r>
              <a:rPr lang="pt-BR" sz="2000">
                <a:solidFill>
                  <a:srgbClr val="352379"/>
                </a:solidFill>
                <a:latin typeface="Montserrat"/>
              </a:rPr>
              <a:t>A → B → D → F</a:t>
            </a:r>
          </a:p>
          <a:p>
            <a:endParaRPr lang="pt-BR" sz="2000">
              <a:solidFill>
                <a:srgbClr val="352379"/>
              </a:solidFill>
              <a:latin typeface="Montserrat"/>
            </a:endParaRPr>
          </a:p>
          <a:p>
            <a:r>
              <a:rPr lang="pt-BR" sz="2000">
                <a:solidFill>
                  <a:srgbClr val="352379"/>
                </a:solidFill>
                <a:latin typeface="Montserrat"/>
              </a:rPr>
              <a:t>A → C → D → F</a:t>
            </a:r>
          </a:p>
          <a:p>
            <a:endParaRPr lang="pt-BR" sz="2000">
              <a:solidFill>
                <a:srgbClr val="352379"/>
              </a:solidFill>
              <a:latin typeface="Montserrat"/>
            </a:endParaRPr>
          </a:p>
          <a:p>
            <a:r>
              <a:rPr lang="pt-BR" sz="2000">
                <a:solidFill>
                  <a:srgbClr val="352379"/>
                </a:solidFill>
                <a:latin typeface="Montserrat"/>
              </a:rPr>
              <a:t>A → C → E → F</a:t>
            </a:r>
            <a:endParaRPr lang="ru-RU" sz="2000">
              <a:solidFill>
                <a:srgbClr val="352379"/>
              </a:solidFill>
              <a:latin typeface="Montserrat"/>
            </a:endParaRPr>
          </a:p>
        </p:txBody>
      </p:sp>
      <p:sp>
        <p:nvSpPr>
          <p:cNvPr id="40" name="quiz-answer">
            <a:extLst>
              <a:ext uri="{FF2B5EF4-FFF2-40B4-BE49-F238E27FC236}">
                <a16:creationId xmlns:a16="http://schemas.microsoft.com/office/drawing/2014/main" id="{2E2F8894-0053-43B0-996B-BA93C6C3ECBB}"/>
              </a:ext>
            </a:extLst>
          </p:cNvPr>
          <p:cNvSpPr txBox="1"/>
          <p:nvPr/>
        </p:nvSpPr>
        <p:spPr bwMode="auto">
          <a:xfrm>
            <a:off x="7874000" y="5232399"/>
            <a:ext cx="3835400" cy="533400"/>
          </a:xfrm>
          <a:prstGeom prst="rect">
            <a:avLst/>
          </a:prstGeom>
        </p:spPr>
        <p:txBody>
          <a:bodyPr vert="horz" wrap="square" lIns="0" tIns="0" rIns="0" bIns="0" rtlCol="0">
            <a:noAutofit/>
          </a:bodyPr>
          <a:lstStyle/>
          <a:p>
            <a:r>
              <a:rPr lang="en-US" sz="1700" b="1">
                <a:solidFill>
                  <a:srgbClr val="352379"/>
                </a:solidFill>
                <a:latin typeface="Montserrat"/>
              </a:rPr>
              <a:t>A → C → D → F: 3 + 5 + 3 = 11</a:t>
            </a:r>
            <a:endParaRPr lang="ru-RU" sz="1700" b="1">
              <a:solidFill>
                <a:srgbClr val="352379"/>
              </a:solidFill>
              <a:latin typeface="Montserrat"/>
            </a:endParaRPr>
          </a:p>
        </p:txBody>
      </p:sp>
    </p:spTree>
    <p:extLst>
      <p:ext uri="{BB962C8B-B14F-4D97-AF65-F5344CB8AC3E}">
        <p14:creationId xmlns:p14="http://schemas.microsoft.com/office/powerpoint/2010/main" val="2767107421"/>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944F77-8E98-4013-A3E7-9C7D66F5FD28}"/>
              </a:ext>
            </a:extLst>
          </p:cNvPr>
          <p:cNvSpPr>
            <a:spLocks noGrp="1"/>
          </p:cNvSpPr>
          <p:nvPr>
            <p:ph type="title"/>
          </p:nvPr>
        </p:nvSpPr>
        <p:spPr>
          <a:xfrm>
            <a:off x="479425" y="597855"/>
            <a:ext cx="11229975" cy="1140459"/>
          </a:xfrm>
        </p:spPr>
        <p:txBody>
          <a:bodyPr/>
          <a:lstStyle/>
          <a:p>
            <a:r>
              <a:rPr lang="ru-RU"/>
              <a:t>Три задачи кратчайшего пути</a:t>
            </a:r>
          </a:p>
        </p:txBody>
      </p:sp>
      <p:sp>
        <p:nvSpPr>
          <p:cNvPr id="7" name="Текст 6">
            <a:extLst>
              <a:ext uri="{FF2B5EF4-FFF2-40B4-BE49-F238E27FC236}">
                <a16:creationId xmlns:a16="http://schemas.microsoft.com/office/drawing/2014/main" id="{2CB4A5A7-8FDA-49B8-B98D-0B073D22AE82}"/>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06E0D586-6743-43FA-AA37-3AF385174E04}"/>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7795C4EB-D898-451C-B443-AA58284353DA}"/>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8</a:t>
            </a:r>
          </a:p>
        </p:txBody>
      </p:sp>
      <p:sp>
        <p:nvSpPr>
          <p:cNvPr id="10" name="bottom-band">
            <a:extLst>
              <a:ext uri="{FF2B5EF4-FFF2-40B4-BE49-F238E27FC236}">
                <a16:creationId xmlns:a16="http://schemas.microsoft.com/office/drawing/2014/main" id="{53AD22BC-97A3-4DB9-951F-B4C28C8450ED}"/>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A8F634CC-D77E-4BC6-9287-3B5095063C4B}"/>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В этой лекции: сначала один источник, затем все пары</a:t>
            </a:r>
          </a:p>
        </p:txBody>
      </p:sp>
      <p:sp>
        <p:nvSpPr>
          <p:cNvPr id="12" name="task0-body">
            <a:extLst>
              <a:ext uri="{FF2B5EF4-FFF2-40B4-BE49-F238E27FC236}">
                <a16:creationId xmlns:a16="http://schemas.microsoft.com/office/drawing/2014/main" id="{87CD4033-0FDB-40D2-BEBF-A161F1DC64AA}"/>
              </a:ext>
            </a:extLst>
          </p:cNvPr>
          <p:cNvSpPr/>
          <p:nvPr/>
        </p:nvSpPr>
        <p:spPr>
          <a:xfrm>
            <a:off x="609600" y="1955800"/>
            <a:ext cx="3479800" cy="33782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task0-head">
            <a:extLst>
              <a:ext uri="{FF2B5EF4-FFF2-40B4-BE49-F238E27FC236}">
                <a16:creationId xmlns:a16="http://schemas.microsoft.com/office/drawing/2014/main" id="{96603CB9-6DFD-4F52-85AD-D344813E6FA5}"/>
              </a:ext>
            </a:extLst>
          </p:cNvPr>
          <p:cNvSpPr/>
          <p:nvPr/>
        </p:nvSpPr>
        <p:spPr>
          <a:xfrm>
            <a:off x="609600" y="1955800"/>
            <a:ext cx="34798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ask0-heading">
            <a:extLst>
              <a:ext uri="{FF2B5EF4-FFF2-40B4-BE49-F238E27FC236}">
                <a16:creationId xmlns:a16="http://schemas.microsoft.com/office/drawing/2014/main" id="{42A12B4B-4A73-44E4-9531-ED341563AB73}"/>
              </a:ext>
            </a:extLst>
          </p:cNvPr>
          <p:cNvSpPr txBox="1"/>
          <p:nvPr/>
        </p:nvSpPr>
        <p:spPr bwMode="auto">
          <a:xfrm>
            <a:off x="800100" y="2070099"/>
            <a:ext cx="3098800" cy="381000"/>
          </a:xfrm>
          <a:prstGeom prst="rect">
            <a:avLst/>
          </a:prstGeom>
        </p:spPr>
        <p:txBody>
          <a:bodyPr vert="horz" wrap="square" lIns="0" tIns="0" rIns="0" bIns="0" rtlCol="0">
            <a:noAutofit/>
          </a:bodyPr>
          <a:lstStyle/>
          <a:p>
            <a:r>
              <a:rPr lang="ru-RU" sz="2100">
                <a:solidFill>
                  <a:srgbClr val="FFFFFF"/>
                </a:solidFill>
                <a:latin typeface="Montserrat"/>
              </a:rPr>
              <a:t>Одна цель</a:t>
            </a:r>
          </a:p>
        </p:txBody>
      </p:sp>
      <p:sp>
        <p:nvSpPr>
          <p:cNvPr id="15" name="task0-text">
            <a:extLst>
              <a:ext uri="{FF2B5EF4-FFF2-40B4-BE49-F238E27FC236}">
                <a16:creationId xmlns:a16="http://schemas.microsoft.com/office/drawing/2014/main" id="{CD9D6ED2-A645-4E6E-9033-40D916E0C17F}"/>
              </a:ext>
            </a:extLst>
          </p:cNvPr>
          <p:cNvSpPr txBox="1"/>
          <p:nvPr/>
        </p:nvSpPr>
        <p:spPr bwMode="auto">
          <a:xfrm>
            <a:off x="825500" y="2781299"/>
            <a:ext cx="3048000" cy="2413000"/>
          </a:xfrm>
          <a:prstGeom prst="rect">
            <a:avLst/>
          </a:prstGeom>
        </p:spPr>
        <p:txBody>
          <a:bodyPr vert="horz" wrap="square" lIns="0" tIns="0" rIns="0" bIns="0" rtlCol="0">
            <a:noAutofit/>
          </a:bodyPr>
          <a:lstStyle/>
          <a:p>
            <a:r>
              <a:rPr lang="ru-RU" sz="2200">
                <a:solidFill>
                  <a:srgbClr val="352379"/>
                </a:solidFill>
                <a:latin typeface="Montserrat"/>
              </a:rPr>
              <a:t>s → t</a:t>
            </a:r>
          </a:p>
          <a:p>
            <a:endParaRPr lang="ru-RU" sz="2200">
              <a:solidFill>
                <a:srgbClr val="352379"/>
              </a:solidFill>
              <a:latin typeface="Montserrat"/>
            </a:endParaRPr>
          </a:p>
          <a:p>
            <a:r>
              <a:rPr lang="ru-RU" sz="2200">
                <a:solidFill>
                  <a:srgbClr val="352379"/>
                </a:solidFill>
                <a:latin typeface="Montserrat"/>
              </a:rPr>
              <a:t>Один лучший маршрут</a:t>
            </a:r>
          </a:p>
        </p:txBody>
      </p:sp>
      <p:sp>
        <p:nvSpPr>
          <p:cNvPr id="16" name="task1-body">
            <a:extLst>
              <a:ext uri="{FF2B5EF4-FFF2-40B4-BE49-F238E27FC236}">
                <a16:creationId xmlns:a16="http://schemas.microsoft.com/office/drawing/2014/main" id="{105C9B9F-2F65-4EFC-B9AC-4ECB442D330C}"/>
              </a:ext>
            </a:extLst>
          </p:cNvPr>
          <p:cNvSpPr/>
          <p:nvPr/>
        </p:nvSpPr>
        <p:spPr>
          <a:xfrm>
            <a:off x="4381500" y="1955800"/>
            <a:ext cx="3479800" cy="33782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ask1-head">
            <a:extLst>
              <a:ext uri="{FF2B5EF4-FFF2-40B4-BE49-F238E27FC236}">
                <a16:creationId xmlns:a16="http://schemas.microsoft.com/office/drawing/2014/main" id="{D2BC3572-2F77-44E1-BA72-E27811B1AB58}"/>
              </a:ext>
            </a:extLst>
          </p:cNvPr>
          <p:cNvSpPr/>
          <p:nvPr/>
        </p:nvSpPr>
        <p:spPr>
          <a:xfrm>
            <a:off x="4381500" y="1955800"/>
            <a:ext cx="34798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ask1-heading">
            <a:extLst>
              <a:ext uri="{FF2B5EF4-FFF2-40B4-BE49-F238E27FC236}">
                <a16:creationId xmlns:a16="http://schemas.microsoft.com/office/drawing/2014/main" id="{B57C2E8E-A505-46B1-93A7-32CA84820ED7}"/>
              </a:ext>
            </a:extLst>
          </p:cNvPr>
          <p:cNvSpPr txBox="1"/>
          <p:nvPr/>
        </p:nvSpPr>
        <p:spPr bwMode="auto">
          <a:xfrm>
            <a:off x="4572000" y="2070099"/>
            <a:ext cx="3098800" cy="381000"/>
          </a:xfrm>
          <a:prstGeom prst="rect">
            <a:avLst/>
          </a:prstGeom>
        </p:spPr>
        <p:txBody>
          <a:bodyPr vert="horz" wrap="square" lIns="0" tIns="0" rIns="0" bIns="0" rtlCol="0">
            <a:noAutofit/>
          </a:bodyPr>
          <a:lstStyle/>
          <a:p>
            <a:r>
              <a:rPr lang="ru-RU" sz="2100">
                <a:solidFill>
                  <a:srgbClr val="FFFFFF"/>
                </a:solidFill>
                <a:latin typeface="Montserrat"/>
              </a:rPr>
              <a:t>Один источник</a:t>
            </a:r>
          </a:p>
        </p:txBody>
      </p:sp>
      <p:sp>
        <p:nvSpPr>
          <p:cNvPr id="19" name="task1-text">
            <a:extLst>
              <a:ext uri="{FF2B5EF4-FFF2-40B4-BE49-F238E27FC236}">
                <a16:creationId xmlns:a16="http://schemas.microsoft.com/office/drawing/2014/main" id="{50392A3D-E476-4191-A5C8-F0824FE26370}"/>
              </a:ext>
            </a:extLst>
          </p:cNvPr>
          <p:cNvSpPr txBox="1"/>
          <p:nvPr/>
        </p:nvSpPr>
        <p:spPr bwMode="auto">
          <a:xfrm>
            <a:off x="4597400" y="2781299"/>
            <a:ext cx="3048000" cy="2413000"/>
          </a:xfrm>
          <a:prstGeom prst="rect">
            <a:avLst/>
          </a:prstGeom>
        </p:spPr>
        <p:txBody>
          <a:bodyPr vert="horz" wrap="square" lIns="0" tIns="0" rIns="0" bIns="0" rtlCol="0">
            <a:noAutofit/>
          </a:bodyPr>
          <a:lstStyle/>
          <a:p>
            <a:r>
              <a:rPr lang="ru-RU" sz="2200">
                <a:solidFill>
                  <a:srgbClr val="352379"/>
                </a:solidFill>
                <a:latin typeface="Montserrat"/>
              </a:rPr>
              <a:t>s → все v</a:t>
            </a:r>
          </a:p>
          <a:p>
            <a:endParaRPr lang="ru-RU" sz="2200">
              <a:solidFill>
                <a:srgbClr val="352379"/>
              </a:solidFill>
              <a:latin typeface="Montserrat"/>
            </a:endParaRPr>
          </a:p>
          <a:p>
            <a:r>
              <a:rPr lang="ru-RU" sz="2200">
                <a:solidFill>
                  <a:srgbClr val="352379"/>
                </a:solidFill>
                <a:latin typeface="Montserrat"/>
              </a:rPr>
              <a:t>Все расстояния из s</a:t>
            </a:r>
          </a:p>
        </p:txBody>
      </p:sp>
      <p:sp>
        <p:nvSpPr>
          <p:cNvPr id="20" name="task2-body">
            <a:extLst>
              <a:ext uri="{FF2B5EF4-FFF2-40B4-BE49-F238E27FC236}">
                <a16:creationId xmlns:a16="http://schemas.microsoft.com/office/drawing/2014/main" id="{AFE06288-3530-4CF8-94CA-E6C2539A500C}"/>
              </a:ext>
            </a:extLst>
          </p:cNvPr>
          <p:cNvSpPr/>
          <p:nvPr/>
        </p:nvSpPr>
        <p:spPr>
          <a:xfrm>
            <a:off x="8153400" y="1955800"/>
            <a:ext cx="3479800" cy="33782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task2-head">
            <a:extLst>
              <a:ext uri="{FF2B5EF4-FFF2-40B4-BE49-F238E27FC236}">
                <a16:creationId xmlns:a16="http://schemas.microsoft.com/office/drawing/2014/main" id="{BB89FF8F-739E-4B94-88C3-BAA54A71308F}"/>
              </a:ext>
            </a:extLst>
          </p:cNvPr>
          <p:cNvSpPr/>
          <p:nvPr/>
        </p:nvSpPr>
        <p:spPr>
          <a:xfrm>
            <a:off x="8153400" y="1955800"/>
            <a:ext cx="34798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task2-heading">
            <a:extLst>
              <a:ext uri="{FF2B5EF4-FFF2-40B4-BE49-F238E27FC236}">
                <a16:creationId xmlns:a16="http://schemas.microsoft.com/office/drawing/2014/main" id="{E0DD055D-1729-47FA-B02D-DA21876A2D1E}"/>
              </a:ext>
            </a:extLst>
          </p:cNvPr>
          <p:cNvSpPr txBox="1"/>
          <p:nvPr/>
        </p:nvSpPr>
        <p:spPr bwMode="auto">
          <a:xfrm>
            <a:off x="8343900" y="2070099"/>
            <a:ext cx="3098800" cy="381000"/>
          </a:xfrm>
          <a:prstGeom prst="rect">
            <a:avLst/>
          </a:prstGeom>
        </p:spPr>
        <p:txBody>
          <a:bodyPr vert="horz" wrap="square" lIns="0" tIns="0" rIns="0" bIns="0" rtlCol="0">
            <a:noAutofit/>
          </a:bodyPr>
          <a:lstStyle/>
          <a:p>
            <a:r>
              <a:rPr lang="ru-RU" sz="2100">
                <a:solidFill>
                  <a:srgbClr val="FFFFFF"/>
                </a:solidFill>
                <a:latin typeface="Montserrat"/>
              </a:rPr>
              <a:t>Все пары</a:t>
            </a:r>
          </a:p>
        </p:txBody>
      </p:sp>
      <p:sp>
        <p:nvSpPr>
          <p:cNvPr id="23" name="task2-text">
            <a:extLst>
              <a:ext uri="{FF2B5EF4-FFF2-40B4-BE49-F238E27FC236}">
                <a16:creationId xmlns:a16="http://schemas.microsoft.com/office/drawing/2014/main" id="{27E5BD1C-1CF7-4692-A284-1E1A01EC3ACD}"/>
              </a:ext>
            </a:extLst>
          </p:cNvPr>
          <p:cNvSpPr txBox="1"/>
          <p:nvPr/>
        </p:nvSpPr>
        <p:spPr bwMode="auto">
          <a:xfrm>
            <a:off x="8369300" y="2781299"/>
            <a:ext cx="3048000" cy="2413000"/>
          </a:xfrm>
          <a:prstGeom prst="rect">
            <a:avLst/>
          </a:prstGeom>
        </p:spPr>
        <p:txBody>
          <a:bodyPr vert="horz" wrap="square" lIns="0" tIns="0" rIns="0" bIns="0" rtlCol="0">
            <a:noAutofit/>
          </a:bodyPr>
          <a:lstStyle/>
          <a:p>
            <a:r>
              <a:rPr lang="ru-RU" sz="2200">
                <a:solidFill>
                  <a:srgbClr val="352379"/>
                </a:solidFill>
                <a:latin typeface="Montserrat"/>
              </a:rPr>
              <a:t>каждая i → каждая j</a:t>
            </a:r>
          </a:p>
          <a:p>
            <a:endParaRPr lang="ru-RU" sz="2200">
              <a:solidFill>
                <a:srgbClr val="352379"/>
              </a:solidFill>
              <a:latin typeface="Montserrat"/>
            </a:endParaRPr>
          </a:p>
          <a:p>
            <a:r>
              <a:rPr lang="ru-RU" sz="2200">
                <a:solidFill>
                  <a:srgbClr val="352379"/>
                </a:solidFill>
                <a:latin typeface="Montserrat"/>
              </a:rPr>
              <a:t>Матрица расстояний</a:t>
            </a:r>
          </a:p>
        </p:txBody>
      </p:sp>
    </p:spTree>
    <p:extLst>
      <p:ext uri="{BB962C8B-B14F-4D97-AF65-F5344CB8AC3E}">
        <p14:creationId xmlns:p14="http://schemas.microsoft.com/office/powerpoint/2010/main" val="2844799029"/>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AEA09D-0A8C-4C3C-B128-33192AD8E6F0}"/>
              </a:ext>
            </a:extLst>
          </p:cNvPr>
          <p:cNvSpPr>
            <a:spLocks noGrp="1"/>
          </p:cNvSpPr>
          <p:nvPr>
            <p:ph type="title"/>
          </p:nvPr>
        </p:nvSpPr>
        <p:spPr>
          <a:xfrm>
            <a:off x="479425" y="597855"/>
            <a:ext cx="11229975" cy="1140459"/>
          </a:xfrm>
        </p:spPr>
        <p:txBody>
          <a:bodyPr/>
          <a:lstStyle/>
          <a:p>
            <a:r>
              <a:rPr lang="en-US"/>
              <a:t>BFS: </a:t>
            </a:r>
            <a:r>
              <a:rPr lang="ru-RU"/>
              <a:t>расстояние по слоям</a:t>
            </a:r>
          </a:p>
        </p:txBody>
      </p:sp>
      <p:sp>
        <p:nvSpPr>
          <p:cNvPr id="7" name="Текст 6">
            <a:extLst>
              <a:ext uri="{FF2B5EF4-FFF2-40B4-BE49-F238E27FC236}">
                <a16:creationId xmlns:a16="http://schemas.microsoft.com/office/drawing/2014/main" id="{ADE09211-8A80-4AA2-AB96-3DC95B10E64D}"/>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1C425585-0CC7-4801-ADE6-6BD6FC5FECA9}"/>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B00AD6F1-4A7B-4F6F-8ED4-44A9FD0CB823}"/>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9</a:t>
            </a:r>
          </a:p>
        </p:txBody>
      </p:sp>
      <p:sp>
        <p:nvSpPr>
          <p:cNvPr id="10" name="bottom-band">
            <a:extLst>
              <a:ext uri="{FF2B5EF4-FFF2-40B4-BE49-F238E27FC236}">
                <a16:creationId xmlns:a16="http://schemas.microsoft.com/office/drawing/2014/main" id="{A0DD324B-8F87-4F34-9441-94F8C2ECE435}"/>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55743E23-30C9-475A-940E-CA928BEB373B}"/>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При одинаковых положительных весах минимум рёбер даёт минимум стоимости</a:t>
            </a:r>
          </a:p>
        </p:txBody>
      </p:sp>
      <p:cxnSp>
        <p:nvCxnSpPr>
          <p:cNvPr id="12" name="!!bfs-edge-AB">
            <a:extLst>
              <a:ext uri="{FF2B5EF4-FFF2-40B4-BE49-F238E27FC236}">
                <a16:creationId xmlns:a16="http://schemas.microsoft.com/office/drawing/2014/main" id="{EDFFEA89-26C7-4E0C-ACC1-A8F0E8907FC5}"/>
              </a:ext>
            </a:extLst>
          </p:cNvPr>
          <p:cNvCxnSpPr/>
          <p:nvPr/>
        </p:nvCxnSpPr>
        <p:spPr>
          <a:xfrm flipV="1">
            <a:off x="1523740" y="2797150"/>
            <a:ext cx="1842020" cy="7557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3" name="!!bfs-edge-AC">
            <a:extLst>
              <a:ext uri="{FF2B5EF4-FFF2-40B4-BE49-F238E27FC236}">
                <a16:creationId xmlns:a16="http://schemas.microsoft.com/office/drawing/2014/main" id="{15E61CB7-EEC6-4465-A9A5-5B1F140D4DE4}"/>
              </a:ext>
            </a:extLst>
          </p:cNvPr>
          <p:cNvCxnSpPr/>
          <p:nvPr/>
        </p:nvCxnSpPr>
        <p:spPr>
          <a:xfrm>
            <a:off x="1517839" y="3826695"/>
            <a:ext cx="1853822" cy="85561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4" name="!!bfs-edge-BD">
            <a:extLst>
              <a:ext uri="{FF2B5EF4-FFF2-40B4-BE49-F238E27FC236}">
                <a16:creationId xmlns:a16="http://schemas.microsoft.com/office/drawing/2014/main" id="{612F3472-837B-4949-9A2E-C146B6C39183}"/>
              </a:ext>
            </a:extLst>
          </p:cNvPr>
          <p:cNvCxnSpPr/>
          <p:nvPr/>
        </p:nvCxnSpPr>
        <p:spPr>
          <a:xfrm>
            <a:off x="4025900" y="2667000"/>
            <a:ext cx="21082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15" name="!!bfs-edge-CE">
            <a:extLst>
              <a:ext uri="{FF2B5EF4-FFF2-40B4-BE49-F238E27FC236}">
                <a16:creationId xmlns:a16="http://schemas.microsoft.com/office/drawing/2014/main" id="{A764A778-8DDD-4517-A933-EAF67EBE273C}"/>
              </a:ext>
            </a:extLst>
          </p:cNvPr>
          <p:cNvCxnSpPr/>
          <p:nvPr/>
        </p:nvCxnSpPr>
        <p:spPr>
          <a:xfrm>
            <a:off x="4025900" y="4826000"/>
            <a:ext cx="21082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6" name="!!bfs-node-A">
            <a:extLst>
              <a:ext uri="{FF2B5EF4-FFF2-40B4-BE49-F238E27FC236}">
                <a16:creationId xmlns:a16="http://schemas.microsoft.com/office/drawing/2014/main" id="{242EB95F-D1B8-498E-AA5B-C1CC5EEB4B33}"/>
              </a:ext>
            </a:extLst>
          </p:cNvPr>
          <p:cNvSpPr/>
          <p:nvPr/>
        </p:nvSpPr>
        <p:spPr>
          <a:xfrm>
            <a:off x="889000" y="3365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7" name="!!bfs-node-B">
            <a:extLst>
              <a:ext uri="{FF2B5EF4-FFF2-40B4-BE49-F238E27FC236}">
                <a16:creationId xmlns:a16="http://schemas.microsoft.com/office/drawing/2014/main" id="{03938A35-B61D-47D3-837B-73FE4A51E387}"/>
              </a:ext>
            </a:extLst>
          </p:cNvPr>
          <p:cNvSpPr/>
          <p:nvPr/>
        </p:nvSpPr>
        <p:spPr>
          <a:xfrm>
            <a:off x="3365500" y="2349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8" name="!!bfs-node-C">
            <a:extLst>
              <a:ext uri="{FF2B5EF4-FFF2-40B4-BE49-F238E27FC236}">
                <a16:creationId xmlns:a16="http://schemas.microsoft.com/office/drawing/2014/main" id="{D42ADB79-C243-498A-9CE4-4E488FEEA14A}"/>
              </a:ext>
            </a:extLst>
          </p:cNvPr>
          <p:cNvSpPr/>
          <p:nvPr/>
        </p:nvSpPr>
        <p:spPr>
          <a:xfrm>
            <a:off x="3365500" y="4508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19" name="!!bfs-node-D">
            <a:extLst>
              <a:ext uri="{FF2B5EF4-FFF2-40B4-BE49-F238E27FC236}">
                <a16:creationId xmlns:a16="http://schemas.microsoft.com/office/drawing/2014/main" id="{1286EB7A-E81A-46BC-9F97-FDAAE5A7D28E}"/>
              </a:ext>
            </a:extLst>
          </p:cNvPr>
          <p:cNvSpPr/>
          <p:nvPr/>
        </p:nvSpPr>
        <p:spPr>
          <a:xfrm>
            <a:off x="6159500" y="2349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20" name="!!bfs-node-E">
            <a:extLst>
              <a:ext uri="{FF2B5EF4-FFF2-40B4-BE49-F238E27FC236}">
                <a16:creationId xmlns:a16="http://schemas.microsoft.com/office/drawing/2014/main" id="{96B5727B-2577-463B-9288-D044B672D96B}"/>
              </a:ext>
            </a:extLst>
          </p:cNvPr>
          <p:cNvSpPr/>
          <p:nvPr/>
        </p:nvSpPr>
        <p:spPr>
          <a:xfrm>
            <a:off x="6159500" y="4508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21" name="layer-0 рёбер">
            <a:extLst>
              <a:ext uri="{FF2B5EF4-FFF2-40B4-BE49-F238E27FC236}">
                <a16:creationId xmlns:a16="http://schemas.microsoft.com/office/drawing/2014/main" id="{C3BD69E5-AC07-42F3-B7FF-CED0CBCA2352}"/>
              </a:ext>
            </a:extLst>
          </p:cNvPr>
          <p:cNvSpPr txBox="1"/>
          <p:nvPr/>
        </p:nvSpPr>
        <p:spPr bwMode="auto">
          <a:xfrm>
            <a:off x="825500" y="1803399"/>
            <a:ext cx="1778000" cy="508000"/>
          </a:xfrm>
          <a:prstGeom prst="rect">
            <a:avLst/>
          </a:prstGeom>
        </p:spPr>
        <p:txBody>
          <a:bodyPr vert="horz" wrap="square" lIns="0" tIns="0" rIns="0" bIns="0" rtlCol="0">
            <a:noAutofit/>
          </a:bodyPr>
          <a:lstStyle/>
          <a:p>
            <a:r>
              <a:rPr lang="ru-RU" sz="2100">
                <a:solidFill>
                  <a:srgbClr val="352379"/>
                </a:solidFill>
                <a:latin typeface="Montserrat"/>
              </a:rPr>
              <a:t>0 рёбер</a:t>
            </a:r>
          </a:p>
        </p:txBody>
      </p:sp>
      <p:sp>
        <p:nvSpPr>
          <p:cNvPr id="22" name="layer-1 ребро">
            <a:extLst>
              <a:ext uri="{FF2B5EF4-FFF2-40B4-BE49-F238E27FC236}">
                <a16:creationId xmlns:a16="http://schemas.microsoft.com/office/drawing/2014/main" id="{259CDF55-9A69-41F0-BD46-510AAC86D2E5}"/>
              </a:ext>
            </a:extLst>
          </p:cNvPr>
          <p:cNvSpPr txBox="1"/>
          <p:nvPr/>
        </p:nvSpPr>
        <p:spPr bwMode="auto">
          <a:xfrm>
            <a:off x="3238500" y="1803399"/>
            <a:ext cx="1778000" cy="508000"/>
          </a:xfrm>
          <a:prstGeom prst="rect">
            <a:avLst/>
          </a:prstGeom>
        </p:spPr>
        <p:txBody>
          <a:bodyPr vert="horz" wrap="square" lIns="0" tIns="0" rIns="0" bIns="0" rtlCol="0">
            <a:noAutofit/>
          </a:bodyPr>
          <a:lstStyle/>
          <a:p>
            <a:r>
              <a:rPr lang="ru-RU" sz="2100">
                <a:solidFill>
                  <a:srgbClr val="352379"/>
                </a:solidFill>
                <a:latin typeface="Montserrat"/>
              </a:rPr>
              <a:t>1 ребро</a:t>
            </a:r>
          </a:p>
        </p:txBody>
      </p:sp>
      <p:sp>
        <p:nvSpPr>
          <p:cNvPr id="23" name="layer-2 ребра">
            <a:extLst>
              <a:ext uri="{FF2B5EF4-FFF2-40B4-BE49-F238E27FC236}">
                <a16:creationId xmlns:a16="http://schemas.microsoft.com/office/drawing/2014/main" id="{6AC635A1-5AC5-4EA8-9636-21FA509FCCB2}"/>
              </a:ext>
            </a:extLst>
          </p:cNvPr>
          <p:cNvSpPr txBox="1"/>
          <p:nvPr/>
        </p:nvSpPr>
        <p:spPr bwMode="auto">
          <a:xfrm>
            <a:off x="6032500" y="1803399"/>
            <a:ext cx="1778000" cy="508000"/>
          </a:xfrm>
          <a:prstGeom prst="rect">
            <a:avLst/>
          </a:prstGeom>
        </p:spPr>
        <p:txBody>
          <a:bodyPr vert="horz" wrap="square" lIns="0" tIns="0" rIns="0" bIns="0" rtlCol="0">
            <a:noAutofit/>
          </a:bodyPr>
          <a:lstStyle/>
          <a:p>
            <a:r>
              <a:rPr lang="ru-RU" sz="2100">
                <a:solidFill>
                  <a:srgbClr val="352379"/>
                </a:solidFill>
                <a:latin typeface="Montserrat"/>
              </a:rPr>
              <a:t>2 ребра</a:t>
            </a:r>
          </a:p>
        </p:txBody>
      </p:sp>
      <p:sp>
        <p:nvSpPr>
          <p:cNvPr id="24" name="bfs-rule-body">
            <a:extLst>
              <a:ext uri="{FF2B5EF4-FFF2-40B4-BE49-F238E27FC236}">
                <a16:creationId xmlns:a16="http://schemas.microsoft.com/office/drawing/2014/main" id="{E3C99F7B-C87A-460C-A1B5-EA7CF78D24EC}"/>
              </a:ext>
            </a:extLst>
          </p:cNvPr>
          <p:cNvSpPr/>
          <p:nvPr/>
        </p:nvSpPr>
        <p:spPr>
          <a:xfrm>
            <a:off x="8255000" y="1816100"/>
            <a:ext cx="3454400" cy="36576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bfs-rule-head">
            <a:extLst>
              <a:ext uri="{FF2B5EF4-FFF2-40B4-BE49-F238E27FC236}">
                <a16:creationId xmlns:a16="http://schemas.microsoft.com/office/drawing/2014/main" id="{1F711110-EA07-4EA1-92C3-BBDA26A6437F}"/>
              </a:ext>
            </a:extLst>
          </p:cNvPr>
          <p:cNvSpPr/>
          <p:nvPr/>
        </p:nvSpPr>
        <p:spPr>
          <a:xfrm>
            <a:off x="8255000" y="1816100"/>
            <a:ext cx="34544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bfs-rule-heading">
            <a:extLst>
              <a:ext uri="{FF2B5EF4-FFF2-40B4-BE49-F238E27FC236}">
                <a16:creationId xmlns:a16="http://schemas.microsoft.com/office/drawing/2014/main" id="{B2A9C167-FA9D-4DC1-A6C8-F14B85EFF950}"/>
              </a:ext>
            </a:extLst>
          </p:cNvPr>
          <p:cNvSpPr txBox="1"/>
          <p:nvPr/>
        </p:nvSpPr>
        <p:spPr bwMode="auto">
          <a:xfrm>
            <a:off x="8445500" y="1930399"/>
            <a:ext cx="3073400" cy="381000"/>
          </a:xfrm>
          <a:prstGeom prst="rect">
            <a:avLst/>
          </a:prstGeom>
        </p:spPr>
        <p:txBody>
          <a:bodyPr vert="horz" wrap="square" lIns="0" tIns="0" rIns="0" bIns="0" rtlCol="0">
            <a:noAutofit/>
          </a:bodyPr>
          <a:lstStyle/>
          <a:p>
            <a:r>
              <a:rPr lang="en-US" sz="2100">
                <a:solidFill>
                  <a:srgbClr val="FFFFFF"/>
                </a:solidFill>
                <a:latin typeface="Montserrat"/>
              </a:rPr>
              <a:t>BFS</a:t>
            </a:r>
            <a:endParaRPr lang="ru-RU" sz="2100">
              <a:solidFill>
                <a:srgbClr val="FFFFFF"/>
              </a:solidFill>
              <a:latin typeface="Montserrat"/>
            </a:endParaRPr>
          </a:p>
        </p:txBody>
      </p:sp>
      <p:sp>
        <p:nvSpPr>
          <p:cNvPr id="27" name="bfs-rule-text">
            <a:extLst>
              <a:ext uri="{FF2B5EF4-FFF2-40B4-BE49-F238E27FC236}">
                <a16:creationId xmlns:a16="http://schemas.microsoft.com/office/drawing/2014/main" id="{E2A3C934-4CAA-4C85-B390-5CF36A5F5E71}"/>
              </a:ext>
            </a:extLst>
          </p:cNvPr>
          <p:cNvSpPr txBox="1"/>
          <p:nvPr/>
        </p:nvSpPr>
        <p:spPr bwMode="auto">
          <a:xfrm>
            <a:off x="8470900" y="2641599"/>
            <a:ext cx="3022600" cy="2692400"/>
          </a:xfrm>
          <a:prstGeom prst="rect">
            <a:avLst/>
          </a:prstGeom>
        </p:spPr>
        <p:txBody>
          <a:bodyPr vert="horz" wrap="square" lIns="0" tIns="0" rIns="0" bIns="0" rtlCol="0">
            <a:noAutofit/>
          </a:bodyPr>
          <a:lstStyle/>
          <a:p>
            <a:r>
              <a:rPr lang="ru-RU" sz="2200">
                <a:solidFill>
                  <a:srgbClr val="352379"/>
                </a:solidFill>
                <a:latin typeface="Montserrat"/>
              </a:rPr>
              <a:t>Находит путь с минимальным количеством рёбер.</a:t>
            </a:r>
          </a:p>
          <a:p>
            <a:endParaRPr lang="ru-RU" sz="2200">
              <a:solidFill>
                <a:srgbClr val="352379"/>
              </a:solidFill>
              <a:latin typeface="Montserrat"/>
            </a:endParaRPr>
          </a:p>
          <a:p>
            <a:r>
              <a:rPr lang="ru-RU" sz="2200">
                <a:solidFill>
                  <a:srgbClr val="352379"/>
                </a:solidFill>
                <a:latin typeface="Montserrat"/>
              </a:rPr>
              <a:t>FIFO сохраняет порядок слоёв.</a:t>
            </a:r>
          </a:p>
        </p:txBody>
      </p:sp>
    </p:spTree>
    <p:extLst>
      <p:ext uri="{BB962C8B-B14F-4D97-AF65-F5344CB8AC3E}">
        <p14:creationId xmlns:p14="http://schemas.microsoft.com/office/powerpoint/2010/main" val="2579778202"/>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243768F-8581-4501-B9CF-BB98FEA4C6F4}"/>
              </a:ext>
            </a:extLst>
          </p:cNvPr>
          <p:cNvSpPr>
            <a:spLocks noGrp="1"/>
          </p:cNvSpPr>
          <p:nvPr>
            <p:ph type="title"/>
          </p:nvPr>
        </p:nvSpPr>
        <p:spPr>
          <a:xfrm>
            <a:off x="479425" y="597855"/>
            <a:ext cx="11229975" cy="1140459"/>
          </a:xfrm>
        </p:spPr>
        <p:txBody>
          <a:bodyPr/>
          <a:lstStyle/>
          <a:p>
            <a:r>
              <a:rPr lang="ru-RU"/>
              <a:t>Почему BFS не учитывает стоимость</a:t>
            </a:r>
          </a:p>
        </p:txBody>
      </p:sp>
      <p:sp>
        <p:nvSpPr>
          <p:cNvPr id="7" name="Текст 6">
            <a:extLst>
              <a:ext uri="{FF2B5EF4-FFF2-40B4-BE49-F238E27FC236}">
                <a16:creationId xmlns:a16="http://schemas.microsoft.com/office/drawing/2014/main" id="{EA3D75D9-4BAB-4B8C-A00D-6D2C37EA5A4F}"/>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047D97B4-E5A2-48C6-90C6-A8352890BBE8}"/>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BB6E6BC8-5673-452C-8143-F559C8EBC578}"/>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10</a:t>
            </a:r>
          </a:p>
        </p:txBody>
      </p:sp>
      <p:sp>
        <p:nvSpPr>
          <p:cNvPr id="10" name="bottom-band">
            <a:extLst>
              <a:ext uri="{FF2B5EF4-FFF2-40B4-BE49-F238E27FC236}">
                <a16:creationId xmlns:a16="http://schemas.microsoft.com/office/drawing/2014/main" id="{FCD2E060-9DA5-4562-90C1-C57FFBF27D33}"/>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9D77F738-5D24-48B0-B8E5-35250DD41D69}"/>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Количество рёбер ≠ стоимость пути</a:t>
            </a:r>
          </a:p>
        </p:txBody>
      </p:sp>
      <p:cxnSp>
        <p:nvCxnSpPr>
          <p:cNvPr id="12" name="!!triangle-edge-AB">
            <a:extLst>
              <a:ext uri="{FF2B5EF4-FFF2-40B4-BE49-F238E27FC236}">
                <a16:creationId xmlns:a16="http://schemas.microsoft.com/office/drawing/2014/main" id="{098DF6AB-CB0F-4967-B8BF-DE28A537BE00}"/>
              </a:ext>
            </a:extLst>
          </p:cNvPr>
          <p:cNvCxnSpPr/>
          <p:nvPr/>
        </p:nvCxnSpPr>
        <p:spPr>
          <a:xfrm flipV="1">
            <a:off x="1604417" y="2615801"/>
            <a:ext cx="4093666" cy="927898"/>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3" name="!!triangle-weight-AB">
            <a:extLst>
              <a:ext uri="{FF2B5EF4-FFF2-40B4-BE49-F238E27FC236}">
                <a16:creationId xmlns:a16="http://schemas.microsoft.com/office/drawing/2014/main" id="{B75E2F7C-A532-4DD9-8B85-E87DE4B1ADE2}"/>
              </a:ext>
            </a:extLst>
          </p:cNvPr>
          <p:cNvSpPr txBox="1"/>
          <p:nvPr/>
        </p:nvSpPr>
        <p:spPr bwMode="auto">
          <a:xfrm>
            <a:off x="3475859" y="3223352"/>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10</a:t>
            </a:r>
          </a:p>
        </p:txBody>
      </p:sp>
      <p:cxnSp>
        <p:nvCxnSpPr>
          <p:cNvPr id="14" name="!!triangle-edge-AC">
            <a:extLst>
              <a:ext uri="{FF2B5EF4-FFF2-40B4-BE49-F238E27FC236}">
                <a16:creationId xmlns:a16="http://schemas.microsoft.com/office/drawing/2014/main" id="{24833B2A-184F-4E75-A647-72851680D7E2}"/>
              </a:ext>
            </a:extLst>
          </p:cNvPr>
          <p:cNvCxnSpPr/>
          <p:nvPr/>
        </p:nvCxnSpPr>
        <p:spPr>
          <a:xfrm>
            <a:off x="1600200" y="3711956"/>
            <a:ext cx="4102100" cy="1148588"/>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5" name="!!triangle-weight-AC">
            <a:extLst>
              <a:ext uri="{FF2B5EF4-FFF2-40B4-BE49-F238E27FC236}">
                <a16:creationId xmlns:a16="http://schemas.microsoft.com/office/drawing/2014/main" id="{CFD96BA7-BF45-49A9-A245-34DE37F283DD}"/>
              </a:ext>
            </a:extLst>
          </p:cNvPr>
          <p:cNvSpPr txBox="1"/>
          <p:nvPr/>
        </p:nvSpPr>
        <p:spPr bwMode="auto">
          <a:xfrm>
            <a:off x="3301369" y="442547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cxnSp>
        <p:nvCxnSpPr>
          <p:cNvPr id="16" name="!!triangle-edge-CB">
            <a:extLst>
              <a:ext uri="{FF2B5EF4-FFF2-40B4-BE49-F238E27FC236}">
                <a16:creationId xmlns:a16="http://schemas.microsoft.com/office/drawing/2014/main" id="{DDE30157-B63F-4D83-B491-8F7DB3CA7225}"/>
              </a:ext>
            </a:extLst>
          </p:cNvPr>
          <p:cNvCxnSpPr/>
          <p:nvPr/>
        </p:nvCxnSpPr>
        <p:spPr>
          <a:xfrm flipV="1">
            <a:off x="6032500" y="2882900"/>
            <a:ext cx="0" cy="172720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7" name="!!triangle-weight-CB">
            <a:extLst>
              <a:ext uri="{FF2B5EF4-FFF2-40B4-BE49-F238E27FC236}">
                <a16:creationId xmlns:a16="http://schemas.microsoft.com/office/drawing/2014/main" id="{D962F4CD-8B6B-444F-9198-0A7886FF9C9F}"/>
              </a:ext>
            </a:extLst>
          </p:cNvPr>
          <p:cNvSpPr txBox="1"/>
          <p:nvPr/>
        </p:nvSpPr>
        <p:spPr bwMode="auto">
          <a:xfrm>
            <a:off x="5422900" y="3543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sp>
        <p:nvSpPr>
          <p:cNvPr id="18" name="!!triangle-node-A">
            <a:extLst>
              <a:ext uri="{FF2B5EF4-FFF2-40B4-BE49-F238E27FC236}">
                <a16:creationId xmlns:a16="http://schemas.microsoft.com/office/drawing/2014/main" id="{2D4A572F-87AF-4DF5-A7CA-F93772F093DF}"/>
              </a:ext>
            </a:extLst>
          </p:cNvPr>
          <p:cNvSpPr/>
          <p:nvPr/>
        </p:nvSpPr>
        <p:spPr>
          <a:xfrm>
            <a:off x="952500" y="330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9" name="!!triangle-node-B">
            <a:extLst>
              <a:ext uri="{FF2B5EF4-FFF2-40B4-BE49-F238E27FC236}">
                <a16:creationId xmlns:a16="http://schemas.microsoft.com/office/drawing/2014/main" id="{01F09871-C50B-4C1D-86DF-3F59A39446BC}"/>
              </a:ext>
            </a:extLst>
          </p:cNvPr>
          <p:cNvSpPr/>
          <p:nvPr/>
        </p:nvSpPr>
        <p:spPr>
          <a:xfrm>
            <a:off x="5715000" y="2222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20" name="!!triangle-node-C">
            <a:extLst>
              <a:ext uri="{FF2B5EF4-FFF2-40B4-BE49-F238E27FC236}">
                <a16:creationId xmlns:a16="http://schemas.microsoft.com/office/drawing/2014/main" id="{86854DFF-E97C-4A68-A89E-FD2507F5D27A}"/>
              </a:ext>
            </a:extLst>
          </p:cNvPr>
          <p:cNvSpPr/>
          <p:nvPr/>
        </p:nvSpPr>
        <p:spPr>
          <a:xfrm>
            <a:off x="5715000" y="4635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21" name="counter-body">
            <a:extLst>
              <a:ext uri="{FF2B5EF4-FFF2-40B4-BE49-F238E27FC236}">
                <a16:creationId xmlns:a16="http://schemas.microsoft.com/office/drawing/2014/main" id="{927A568F-61A4-4DC4-AB9D-ECE334E7B19B}"/>
              </a:ext>
            </a:extLst>
          </p:cNvPr>
          <p:cNvSpPr/>
          <p:nvPr/>
        </p:nvSpPr>
        <p:spPr>
          <a:xfrm>
            <a:off x="7874000" y="1816100"/>
            <a:ext cx="3835400" cy="37846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counter-head">
            <a:extLst>
              <a:ext uri="{FF2B5EF4-FFF2-40B4-BE49-F238E27FC236}">
                <a16:creationId xmlns:a16="http://schemas.microsoft.com/office/drawing/2014/main" id="{8A264952-8D4B-4CCA-8462-97B05FA98BBD}"/>
              </a:ext>
            </a:extLst>
          </p:cNvPr>
          <p:cNvSpPr/>
          <p:nvPr/>
        </p:nvSpPr>
        <p:spPr>
          <a:xfrm>
            <a:off x="7874000" y="1816100"/>
            <a:ext cx="38354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counter-heading">
            <a:extLst>
              <a:ext uri="{FF2B5EF4-FFF2-40B4-BE49-F238E27FC236}">
                <a16:creationId xmlns:a16="http://schemas.microsoft.com/office/drawing/2014/main" id="{4B1DB7A4-3C32-483A-85EE-667D80EC6B9B}"/>
              </a:ext>
            </a:extLst>
          </p:cNvPr>
          <p:cNvSpPr txBox="1"/>
          <p:nvPr/>
        </p:nvSpPr>
        <p:spPr bwMode="auto">
          <a:xfrm>
            <a:off x="8064500" y="1930399"/>
            <a:ext cx="3454400" cy="381000"/>
          </a:xfrm>
          <a:prstGeom prst="rect">
            <a:avLst/>
          </a:prstGeom>
        </p:spPr>
        <p:txBody>
          <a:bodyPr vert="horz" wrap="square" lIns="0" tIns="0" rIns="0" bIns="0" rtlCol="0">
            <a:noAutofit/>
          </a:bodyPr>
          <a:lstStyle/>
          <a:p>
            <a:r>
              <a:rPr lang="ru-RU" sz="2100">
                <a:solidFill>
                  <a:srgbClr val="FFFFFF"/>
                </a:solidFill>
                <a:latin typeface="Montserrat"/>
              </a:rPr>
              <a:t>Сравнение</a:t>
            </a:r>
          </a:p>
        </p:txBody>
      </p:sp>
      <p:sp>
        <p:nvSpPr>
          <p:cNvPr id="24" name="counter-text">
            <a:extLst>
              <a:ext uri="{FF2B5EF4-FFF2-40B4-BE49-F238E27FC236}">
                <a16:creationId xmlns:a16="http://schemas.microsoft.com/office/drawing/2014/main" id="{EB5DD5AF-7A6C-4EC8-B8DF-CFAE4291B990}"/>
              </a:ext>
            </a:extLst>
          </p:cNvPr>
          <p:cNvSpPr txBox="1"/>
          <p:nvPr/>
        </p:nvSpPr>
        <p:spPr bwMode="auto">
          <a:xfrm>
            <a:off x="8089900" y="2641599"/>
            <a:ext cx="3403600" cy="2819400"/>
          </a:xfrm>
          <a:prstGeom prst="rect">
            <a:avLst/>
          </a:prstGeom>
        </p:spPr>
        <p:txBody>
          <a:bodyPr vert="horz" wrap="square" lIns="0" tIns="0" rIns="0" bIns="0" rtlCol="0">
            <a:noAutofit/>
          </a:bodyPr>
          <a:lstStyle/>
          <a:p>
            <a:r>
              <a:rPr lang="ru-RU" sz="2300">
                <a:solidFill>
                  <a:srgbClr val="352379"/>
                </a:solidFill>
                <a:latin typeface="Montserrat"/>
              </a:rPr>
              <a:t>BFS: A → B, стоимость 10</a:t>
            </a:r>
          </a:p>
          <a:p>
            <a:endParaRPr lang="ru-RU" sz="2300">
              <a:solidFill>
                <a:srgbClr val="352379"/>
              </a:solidFill>
              <a:latin typeface="Montserrat"/>
            </a:endParaRPr>
          </a:p>
          <a:p>
            <a:r>
              <a:rPr lang="ru-RU" sz="2300">
                <a:solidFill>
                  <a:srgbClr val="352379"/>
                </a:solidFill>
                <a:latin typeface="Montserrat"/>
              </a:rPr>
              <a:t>Лучше: A → C → B, стоимость 2</a:t>
            </a:r>
          </a:p>
        </p:txBody>
      </p:sp>
    </p:spTree>
    <p:extLst>
      <p:ext uri="{BB962C8B-B14F-4D97-AF65-F5344CB8AC3E}">
        <p14:creationId xmlns:p14="http://schemas.microsoft.com/office/powerpoint/2010/main" val="1429117899"/>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2E4BA9B-FD76-4BDF-9CB7-34F5F6204832}"/>
              </a:ext>
            </a:extLst>
          </p:cNvPr>
          <p:cNvSpPr>
            <a:spLocks noGrp="1"/>
          </p:cNvSpPr>
          <p:nvPr>
            <p:ph type="title"/>
          </p:nvPr>
        </p:nvSpPr>
        <p:spPr>
          <a:xfrm>
            <a:off x="479425" y="597855"/>
            <a:ext cx="11229975" cy="1140459"/>
          </a:xfrm>
        </p:spPr>
        <p:txBody>
          <a:bodyPr/>
          <a:lstStyle/>
          <a:p>
            <a:r>
              <a:rPr lang="ru-RU"/>
              <a:t>Алгоритм Дейкстры</a:t>
            </a:r>
          </a:p>
        </p:txBody>
      </p:sp>
      <p:sp>
        <p:nvSpPr>
          <p:cNvPr id="7" name="Текст 6">
            <a:extLst>
              <a:ext uri="{FF2B5EF4-FFF2-40B4-BE49-F238E27FC236}">
                <a16:creationId xmlns:a16="http://schemas.microsoft.com/office/drawing/2014/main" id="{4DE5B986-B20E-46D5-AFB9-CEE1CF9FBB86}"/>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1E2CB8DB-040F-4530-9669-CF4EF6577E6B}"/>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78E7ED0A-E8C3-4EE2-B1A2-04E8DEDDBD29}"/>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11</a:t>
            </a:r>
          </a:p>
        </p:txBody>
      </p:sp>
      <p:sp>
        <p:nvSpPr>
          <p:cNvPr id="10" name="bottom-band">
            <a:extLst>
              <a:ext uri="{FF2B5EF4-FFF2-40B4-BE49-F238E27FC236}">
                <a16:creationId xmlns:a16="http://schemas.microsoft.com/office/drawing/2014/main" id="{9305D369-6005-4A60-935B-DBD6B98522E6}"/>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21B69DED-962F-4238-9C1B-3FE5738494C6}"/>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Условие: w(e) ≥ 0 для каждого ребра</a:t>
            </a:r>
          </a:p>
        </p:txBody>
      </p:sp>
      <p:sp>
        <p:nvSpPr>
          <p:cNvPr id="12" name="left-body">
            <a:extLst>
              <a:ext uri="{FF2B5EF4-FFF2-40B4-BE49-F238E27FC236}">
                <a16:creationId xmlns:a16="http://schemas.microsoft.com/office/drawing/2014/main" id="{1205D5AE-079D-4510-A65B-9361BC57DDDD}"/>
              </a:ext>
            </a:extLst>
          </p:cNvPr>
          <p:cNvSpPr/>
          <p:nvPr/>
        </p:nvSpPr>
        <p:spPr>
          <a:xfrm>
            <a:off x="698500" y="1816100"/>
            <a:ext cx="5207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left-head">
            <a:extLst>
              <a:ext uri="{FF2B5EF4-FFF2-40B4-BE49-F238E27FC236}">
                <a16:creationId xmlns:a16="http://schemas.microsoft.com/office/drawing/2014/main" id="{1550196A-A9FD-4C7A-AEA3-CA9E163BFF6C}"/>
              </a:ext>
            </a:extLst>
          </p:cNvPr>
          <p:cNvSpPr/>
          <p:nvPr/>
        </p:nvSpPr>
        <p:spPr>
          <a:xfrm>
            <a:off x="6985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left-heading">
            <a:extLst>
              <a:ext uri="{FF2B5EF4-FFF2-40B4-BE49-F238E27FC236}">
                <a16:creationId xmlns:a16="http://schemas.microsoft.com/office/drawing/2014/main" id="{9893909A-AAAA-4575-98DC-CBF15D3C0189}"/>
              </a:ext>
            </a:extLst>
          </p:cNvPr>
          <p:cNvSpPr txBox="1"/>
          <p:nvPr/>
        </p:nvSpPr>
        <p:spPr bwMode="auto">
          <a:xfrm>
            <a:off x="8890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Определение</a:t>
            </a:r>
          </a:p>
        </p:txBody>
      </p:sp>
      <p:sp>
        <p:nvSpPr>
          <p:cNvPr id="15" name="left-text">
            <a:extLst>
              <a:ext uri="{FF2B5EF4-FFF2-40B4-BE49-F238E27FC236}">
                <a16:creationId xmlns:a16="http://schemas.microsoft.com/office/drawing/2014/main" id="{7DA0D2C1-8EE0-406B-B14D-37D0903B9D3A}"/>
              </a:ext>
            </a:extLst>
          </p:cNvPr>
          <p:cNvSpPr txBox="1"/>
          <p:nvPr/>
        </p:nvSpPr>
        <p:spPr bwMode="auto">
          <a:xfrm>
            <a:off x="914400" y="2641599"/>
            <a:ext cx="4775200" cy="2717800"/>
          </a:xfrm>
          <a:prstGeom prst="rect">
            <a:avLst/>
          </a:prstGeom>
        </p:spPr>
        <p:txBody>
          <a:bodyPr vert="horz" wrap="square" lIns="0" tIns="0" rIns="0" bIns="0" rtlCol="0">
            <a:noAutofit/>
          </a:bodyPr>
          <a:lstStyle/>
          <a:p>
            <a:r>
              <a:rPr lang="ru-RU" sz="2300">
                <a:solidFill>
                  <a:srgbClr val="352379"/>
                </a:solidFill>
                <a:latin typeface="Montserrat"/>
              </a:rPr>
              <a:t>Алгоритм Дейкстры находит кратчайшие расстояния от одного источника до всех вершин при неотрицательных весах.</a:t>
            </a:r>
          </a:p>
        </p:txBody>
      </p:sp>
      <p:sp>
        <p:nvSpPr>
          <p:cNvPr id="16" name="right-body">
            <a:extLst>
              <a:ext uri="{FF2B5EF4-FFF2-40B4-BE49-F238E27FC236}">
                <a16:creationId xmlns:a16="http://schemas.microsoft.com/office/drawing/2014/main" id="{36BAB1EA-26A6-484E-A3A0-7074404CC334}"/>
              </a:ext>
            </a:extLst>
          </p:cNvPr>
          <p:cNvSpPr/>
          <p:nvPr/>
        </p:nvSpPr>
        <p:spPr>
          <a:xfrm>
            <a:off x="6477000" y="1816100"/>
            <a:ext cx="5207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right-head">
            <a:extLst>
              <a:ext uri="{FF2B5EF4-FFF2-40B4-BE49-F238E27FC236}">
                <a16:creationId xmlns:a16="http://schemas.microsoft.com/office/drawing/2014/main" id="{BD22D751-46B8-4B82-9DF8-9941D6F5CEF5}"/>
              </a:ext>
            </a:extLst>
          </p:cNvPr>
          <p:cNvSpPr/>
          <p:nvPr/>
        </p:nvSpPr>
        <p:spPr>
          <a:xfrm>
            <a:off x="64770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right-heading">
            <a:extLst>
              <a:ext uri="{FF2B5EF4-FFF2-40B4-BE49-F238E27FC236}">
                <a16:creationId xmlns:a16="http://schemas.microsoft.com/office/drawing/2014/main" id="{93F97103-700A-47BC-8D2B-A3CE9F8A2D23}"/>
              </a:ext>
            </a:extLst>
          </p:cNvPr>
          <p:cNvSpPr txBox="1"/>
          <p:nvPr/>
        </p:nvSpPr>
        <p:spPr bwMode="auto">
          <a:xfrm>
            <a:off x="66675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Эдсгер Дейкстра</a:t>
            </a:r>
          </a:p>
        </p:txBody>
      </p:sp>
      <p:sp>
        <p:nvSpPr>
          <p:cNvPr id="19" name="right-text">
            <a:extLst>
              <a:ext uri="{FF2B5EF4-FFF2-40B4-BE49-F238E27FC236}">
                <a16:creationId xmlns:a16="http://schemas.microsoft.com/office/drawing/2014/main" id="{16AB422F-C176-440A-AA88-D7866B68B228}"/>
              </a:ext>
            </a:extLst>
          </p:cNvPr>
          <p:cNvSpPr txBox="1"/>
          <p:nvPr/>
        </p:nvSpPr>
        <p:spPr bwMode="auto">
          <a:xfrm>
            <a:off x="6692900" y="2641599"/>
            <a:ext cx="4775200" cy="2717800"/>
          </a:xfrm>
          <a:prstGeom prst="rect">
            <a:avLst/>
          </a:prstGeom>
        </p:spPr>
        <p:txBody>
          <a:bodyPr vert="horz" wrap="square" lIns="0" tIns="0" rIns="0" bIns="0" rtlCol="0">
            <a:noAutofit/>
          </a:bodyPr>
          <a:lstStyle/>
          <a:p>
            <a:r>
              <a:rPr lang="ru-RU" sz="2300">
                <a:solidFill>
                  <a:srgbClr val="352379"/>
                </a:solidFill>
                <a:latin typeface="Montserrat"/>
              </a:rPr>
              <a:t>Продолжаем самый дешёвый из найденных маршрутов.</a:t>
            </a:r>
          </a:p>
          <a:p>
            <a:endParaRPr lang="ru-RU" sz="2300">
              <a:solidFill>
                <a:srgbClr val="352379"/>
              </a:solidFill>
              <a:latin typeface="Montserrat"/>
            </a:endParaRPr>
          </a:p>
          <a:p>
            <a:r>
              <a:rPr lang="ru-RU" sz="2300">
                <a:solidFill>
                  <a:srgbClr val="352379"/>
                </a:solidFill>
                <a:latin typeface="Montserrat"/>
              </a:rPr>
              <a:t>Каждый раз выбираем минимум dist среди необработанных вершин.</a:t>
            </a:r>
          </a:p>
        </p:txBody>
      </p:sp>
    </p:spTree>
    <p:extLst>
      <p:ext uri="{BB962C8B-B14F-4D97-AF65-F5344CB8AC3E}">
        <p14:creationId xmlns:p14="http://schemas.microsoft.com/office/powerpoint/2010/main" val="4271031225"/>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603FEC-A724-4DCE-9E6D-1BE638E6BBE9}"/>
              </a:ext>
            </a:extLst>
          </p:cNvPr>
          <p:cNvSpPr>
            <a:spLocks noGrp="1"/>
          </p:cNvSpPr>
          <p:nvPr>
            <p:ph type="title"/>
          </p:nvPr>
        </p:nvSpPr>
        <p:spPr>
          <a:xfrm>
            <a:off x="479425" y="597855"/>
            <a:ext cx="11229975" cy="1140459"/>
          </a:xfrm>
        </p:spPr>
        <p:txBody>
          <a:bodyPr/>
          <a:lstStyle/>
          <a:p>
            <a:r>
              <a:rPr lang="ru-RU"/>
              <a:t>Расстояние и текущая оценка</a:t>
            </a:r>
          </a:p>
        </p:txBody>
      </p:sp>
      <p:sp>
        <p:nvSpPr>
          <p:cNvPr id="7" name="Текст 6">
            <a:extLst>
              <a:ext uri="{FF2B5EF4-FFF2-40B4-BE49-F238E27FC236}">
                <a16:creationId xmlns:a16="http://schemas.microsoft.com/office/drawing/2014/main" id="{86EFDBB8-9B84-4A33-97D5-6D27B3E531E8}"/>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BFD75B23-66FC-4F62-A52C-8E2520A0E329}"/>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3389F4A6-B401-45AB-9884-452AA4816A30}"/>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12</a:t>
            </a:r>
          </a:p>
        </p:txBody>
      </p:sp>
      <p:sp>
        <p:nvSpPr>
          <p:cNvPr id="10" name="bottom-band">
            <a:extLst>
              <a:ext uri="{FF2B5EF4-FFF2-40B4-BE49-F238E27FC236}">
                <a16:creationId xmlns:a16="http://schemas.microsoft.com/office/drawing/2014/main" id="{156FE930-0CA1-4CC2-9202-F472CC3BB756}"/>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0555CB07-98A0-45BC-913F-B9C9812B96F3}"/>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До завершения алгоритма dist[v] может уменьшаться</a:t>
            </a:r>
          </a:p>
        </p:txBody>
      </p:sp>
      <p:sp>
        <p:nvSpPr>
          <p:cNvPr id="12" name="left-body">
            <a:extLst>
              <a:ext uri="{FF2B5EF4-FFF2-40B4-BE49-F238E27FC236}">
                <a16:creationId xmlns:a16="http://schemas.microsoft.com/office/drawing/2014/main" id="{799541EB-8BA4-4810-BB9F-FB808971056C}"/>
              </a:ext>
            </a:extLst>
          </p:cNvPr>
          <p:cNvSpPr/>
          <p:nvPr/>
        </p:nvSpPr>
        <p:spPr>
          <a:xfrm>
            <a:off x="698500" y="1816100"/>
            <a:ext cx="5207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left-head">
            <a:extLst>
              <a:ext uri="{FF2B5EF4-FFF2-40B4-BE49-F238E27FC236}">
                <a16:creationId xmlns:a16="http://schemas.microsoft.com/office/drawing/2014/main" id="{3007DDF8-5268-4092-9272-0409856FB55E}"/>
              </a:ext>
            </a:extLst>
          </p:cNvPr>
          <p:cNvSpPr/>
          <p:nvPr/>
        </p:nvSpPr>
        <p:spPr>
          <a:xfrm>
            <a:off x="6985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left-heading">
            <a:extLst>
              <a:ext uri="{FF2B5EF4-FFF2-40B4-BE49-F238E27FC236}">
                <a16:creationId xmlns:a16="http://schemas.microsoft.com/office/drawing/2014/main" id="{B8A88D51-DEFA-4C04-A3C2-CA55A06ADA13}"/>
              </a:ext>
            </a:extLst>
          </p:cNvPr>
          <p:cNvSpPr txBox="1"/>
          <p:nvPr/>
        </p:nvSpPr>
        <p:spPr bwMode="auto">
          <a:xfrm>
            <a:off x="8890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Расстояние </a:t>
            </a:r>
            <a:r>
              <a:rPr lang="el-GR" sz="2100">
                <a:solidFill>
                  <a:srgbClr val="FFFFFF"/>
                </a:solidFill>
                <a:latin typeface="Montserrat"/>
              </a:rPr>
              <a:t>δ(</a:t>
            </a:r>
            <a:r>
              <a:rPr lang="en-US" sz="2100">
                <a:solidFill>
                  <a:srgbClr val="FFFFFF"/>
                </a:solidFill>
                <a:latin typeface="Montserrat"/>
              </a:rPr>
              <a:t>s, v)</a:t>
            </a:r>
            <a:endParaRPr lang="ru-RU" sz="2100">
              <a:solidFill>
                <a:srgbClr val="FFFFFF"/>
              </a:solidFill>
              <a:latin typeface="Montserrat"/>
            </a:endParaRPr>
          </a:p>
        </p:txBody>
      </p:sp>
      <p:sp>
        <p:nvSpPr>
          <p:cNvPr id="15" name="left-text">
            <a:extLst>
              <a:ext uri="{FF2B5EF4-FFF2-40B4-BE49-F238E27FC236}">
                <a16:creationId xmlns:a16="http://schemas.microsoft.com/office/drawing/2014/main" id="{B41C3F3F-53D8-4A75-9672-E23A90B5095C}"/>
              </a:ext>
            </a:extLst>
          </p:cNvPr>
          <p:cNvSpPr txBox="1"/>
          <p:nvPr/>
        </p:nvSpPr>
        <p:spPr bwMode="auto">
          <a:xfrm>
            <a:off x="914400" y="2641599"/>
            <a:ext cx="4775200" cy="2717800"/>
          </a:xfrm>
          <a:prstGeom prst="rect">
            <a:avLst/>
          </a:prstGeom>
        </p:spPr>
        <p:txBody>
          <a:bodyPr vert="horz" wrap="square" lIns="0" tIns="0" rIns="0" bIns="0" rtlCol="0">
            <a:noAutofit/>
          </a:bodyPr>
          <a:lstStyle/>
          <a:p>
            <a:r>
              <a:rPr lang="ru-RU" sz="2300">
                <a:solidFill>
                  <a:srgbClr val="352379"/>
                </a:solidFill>
                <a:latin typeface="Montserrat"/>
              </a:rPr>
              <a:t>Минимальная стоимость маршрута от источника s до v.</a:t>
            </a:r>
          </a:p>
          <a:p>
            <a:endParaRPr lang="ru-RU" sz="2300">
              <a:solidFill>
                <a:srgbClr val="352379"/>
              </a:solidFill>
              <a:latin typeface="Montserrat"/>
            </a:endParaRPr>
          </a:p>
          <a:p>
            <a:r>
              <a:rPr lang="ru-RU" sz="2300">
                <a:solidFill>
                  <a:srgbClr val="352379"/>
                </a:solidFill>
                <a:latin typeface="Montserrat"/>
              </a:rPr>
              <a:t>Если v недостижима, δ(s, v) = ∞.</a:t>
            </a:r>
          </a:p>
        </p:txBody>
      </p:sp>
      <p:sp>
        <p:nvSpPr>
          <p:cNvPr id="16" name="right-body">
            <a:extLst>
              <a:ext uri="{FF2B5EF4-FFF2-40B4-BE49-F238E27FC236}">
                <a16:creationId xmlns:a16="http://schemas.microsoft.com/office/drawing/2014/main" id="{705F98ED-3254-49ED-B064-B10D3C08A429}"/>
              </a:ext>
            </a:extLst>
          </p:cNvPr>
          <p:cNvSpPr/>
          <p:nvPr/>
        </p:nvSpPr>
        <p:spPr>
          <a:xfrm>
            <a:off x="6477000" y="1816100"/>
            <a:ext cx="5207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right-head">
            <a:extLst>
              <a:ext uri="{FF2B5EF4-FFF2-40B4-BE49-F238E27FC236}">
                <a16:creationId xmlns:a16="http://schemas.microsoft.com/office/drawing/2014/main" id="{2C15802F-92AD-4AF4-B889-B5BAFCFE9A6C}"/>
              </a:ext>
            </a:extLst>
          </p:cNvPr>
          <p:cNvSpPr/>
          <p:nvPr/>
        </p:nvSpPr>
        <p:spPr>
          <a:xfrm>
            <a:off x="64770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right-heading">
            <a:extLst>
              <a:ext uri="{FF2B5EF4-FFF2-40B4-BE49-F238E27FC236}">
                <a16:creationId xmlns:a16="http://schemas.microsoft.com/office/drawing/2014/main" id="{4C4AA1B7-EFD2-46D6-B338-143C1AC0E031}"/>
              </a:ext>
            </a:extLst>
          </p:cNvPr>
          <p:cNvSpPr txBox="1"/>
          <p:nvPr/>
        </p:nvSpPr>
        <p:spPr bwMode="auto">
          <a:xfrm>
            <a:off x="66675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Массив </a:t>
            </a:r>
            <a:r>
              <a:rPr lang="en-US" sz="2100">
                <a:solidFill>
                  <a:srgbClr val="FFFFFF"/>
                </a:solidFill>
                <a:latin typeface="Montserrat"/>
              </a:rPr>
              <a:t>dist</a:t>
            </a:r>
            <a:endParaRPr lang="ru-RU" sz="2100">
              <a:solidFill>
                <a:srgbClr val="FFFFFF"/>
              </a:solidFill>
              <a:latin typeface="Montserrat"/>
            </a:endParaRPr>
          </a:p>
        </p:txBody>
      </p:sp>
      <p:sp>
        <p:nvSpPr>
          <p:cNvPr id="19" name="right-text">
            <a:extLst>
              <a:ext uri="{FF2B5EF4-FFF2-40B4-BE49-F238E27FC236}">
                <a16:creationId xmlns:a16="http://schemas.microsoft.com/office/drawing/2014/main" id="{716C12E1-D8E2-4BF0-BC69-0AC7F282C260}"/>
              </a:ext>
            </a:extLst>
          </p:cNvPr>
          <p:cNvSpPr txBox="1"/>
          <p:nvPr/>
        </p:nvSpPr>
        <p:spPr bwMode="auto">
          <a:xfrm>
            <a:off x="6692900" y="2641599"/>
            <a:ext cx="4775200" cy="2717800"/>
          </a:xfrm>
          <a:prstGeom prst="rect">
            <a:avLst/>
          </a:prstGeom>
        </p:spPr>
        <p:txBody>
          <a:bodyPr vert="horz" wrap="square" lIns="0" tIns="0" rIns="0" bIns="0" rtlCol="0">
            <a:noAutofit/>
          </a:bodyPr>
          <a:lstStyle/>
          <a:p>
            <a:r>
              <a:rPr lang="ru-RU" sz="2300">
                <a:solidFill>
                  <a:srgbClr val="352379"/>
                </a:solidFill>
                <a:latin typeface="Montserrat"/>
              </a:rPr>
              <a:t>dist[v] — лучшая найденная оценка.</a:t>
            </a:r>
          </a:p>
          <a:p>
            <a:endParaRPr lang="ru-RU" sz="2300">
              <a:solidFill>
                <a:srgbClr val="352379"/>
              </a:solidFill>
              <a:latin typeface="Montserrat"/>
            </a:endParaRPr>
          </a:p>
          <a:p>
            <a:r>
              <a:rPr lang="ru-RU" sz="2300">
                <a:solidFill>
                  <a:srgbClr val="352379"/>
                </a:solidFill>
                <a:latin typeface="Montserrat"/>
              </a:rPr>
              <a:t>dist[start] = 0</a:t>
            </a:r>
          </a:p>
          <a:p>
            <a:r>
              <a:rPr lang="ru-RU" sz="2300">
                <a:solidFill>
                  <a:srgbClr val="352379"/>
                </a:solidFill>
                <a:latin typeface="Montserrat"/>
              </a:rPr>
              <a:t>Остальные dist = ∞</a:t>
            </a:r>
          </a:p>
        </p:txBody>
      </p:sp>
    </p:spTree>
    <p:extLst>
      <p:ext uri="{BB962C8B-B14F-4D97-AF65-F5344CB8AC3E}">
        <p14:creationId xmlns:p14="http://schemas.microsoft.com/office/powerpoint/2010/main" val="1242696279"/>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5F3EDA3-AF15-4B94-AA08-B125A5126927}"/>
              </a:ext>
            </a:extLst>
          </p:cNvPr>
          <p:cNvSpPr>
            <a:spLocks noGrp="1"/>
          </p:cNvSpPr>
          <p:nvPr>
            <p:ph type="title"/>
          </p:nvPr>
        </p:nvSpPr>
        <p:spPr>
          <a:xfrm>
            <a:off x="479425" y="597855"/>
            <a:ext cx="11229975" cy="1140459"/>
          </a:xfrm>
        </p:spPr>
        <p:txBody>
          <a:bodyPr/>
          <a:lstStyle/>
          <a:p>
            <a:r>
              <a:rPr lang="ru-RU"/>
              <a:t>Обработка вершины</a:t>
            </a:r>
          </a:p>
        </p:txBody>
      </p:sp>
      <p:sp>
        <p:nvSpPr>
          <p:cNvPr id="7" name="Текст 6">
            <a:extLst>
              <a:ext uri="{FF2B5EF4-FFF2-40B4-BE49-F238E27FC236}">
                <a16:creationId xmlns:a16="http://schemas.microsoft.com/office/drawing/2014/main" id="{FCA3E70C-4CA0-4D88-8B1A-DD0BC1710058}"/>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58F2012F-9086-4BC3-8116-C8107D2446EE}"/>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FB8A1623-CA1F-4400-AA36-78EF2D35242D}"/>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13</a:t>
            </a:r>
          </a:p>
        </p:txBody>
      </p:sp>
      <p:sp>
        <p:nvSpPr>
          <p:cNvPr id="10" name="bottom-band">
            <a:extLst>
              <a:ext uri="{FF2B5EF4-FFF2-40B4-BE49-F238E27FC236}">
                <a16:creationId xmlns:a16="http://schemas.microsoft.com/office/drawing/2014/main" id="{A692139F-D484-4BA8-9455-CF051A2F5EE2}"/>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E2D8F8FE-F683-40CE-9CEF-4E7EE9AEEC49}"/>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Зафиксировать расстояние и проверить соседей — разные действия</a:t>
            </a:r>
          </a:p>
        </p:txBody>
      </p:sp>
      <p:sp>
        <p:nvSpPr>
          <p:cNvPr id="12" name="left-body">
            <a:extLst>
              <a:ext uri="{FF2B5EF4-FFF2-40B4-BE49-F238E27FC236}">
                <a16:creationId xmlns:a16="http://schemas.microsoft.com/office/drawing/2014/main" id="{62747BEE-81B0-4044-8F53-22B87D7EBBB6}"/>
              </a:ext>
            </a:extLst>
          </p:cNvPr>
          <p:cNvSpPr/>
          <p:nvPr/>
        </p:nvSpPr>
        <p:spPr>
          <a:xfrm>
            <a:off x="698500" y="1816100"/>
            <a:ext cx="5207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left-head">
            <a:extLst>
              <a:ext uri="{FF2B5EF4-FFF2-40B4-BE49-F238E27FC236}">
                <a16:creationId xmlns:a16="http://schemas.microsoft.com/office/drawing/2014/main" id="{6F9EE33A-17D3-4A84-B07F-2F334CD411D5}"/>
              </a:ext>
            </a:extLst>
          </p:cNvPr>
          <p:cNvSpPr/>
          <p:nvPr/>
        </p:nvSpPr>
        <p:spPr>
          <a:xfrm>
            <a:off x="6985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left-heading">
            <a:extLst>
              <a:ext uri="{FF2B5EF4-FFF2-40B4-BE49-F238E27FC236}">
                <a16:creationId xmlns:a16="http://schemas.microsoft.com/office/drawing/2014/main" id="{78B082F9-B05B-4717-A7EE-5F7ABF2A52CE}"/>
              </a:ext>
            </a:extLst>
          </p:cNvPr>
          <p:cNvSpPr txBox="1"/>
          <p:nvPr/>
        </p:nvSpPr>
        <p:spPr bwMode="auto">
          <a:xfrm>
            <a:off x="8890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Выбор</a:t>
            </a:r>
          </a:p>
        </p:txBody>
      </p:sp>
      <p:sp>
        <p:nvSpPr>
          <p:cNvPr id="15" name="left-text">
            <a:extLst>
              <a:ext uri="{FF2B5EF4-FFF2-40B4-BE49-F238E27FC236}">
                <a16:creationId xmlns:a16="http://schemas.microsoft.com/office/drawing/2014/main" id="{A02E21DD-528F-49F2-9FFC-D75A31383504}"/>
              </a:ext>
            </a:extLst>
          </p:cNvPr>
          <p:cNvSpPr txBox="1"/>
          <p:nvPr/>
        </p:nvSpPr>
        <p:spPr bwMode="auto">
          <a:xfrm>
            <a:off x="914400" y="2641599"/>
            <a:ext cx="4775200" cy="2717800"/>
          </a:xfrm>
          <a:prstGeom prst="rect">
            <a:avLst/>
          </a:prstGeom>
        </p:spPr>
        <p:txBody>
          <a:bodyPr vert="horz" wrap="square" lIns="0" tIns="0" rIns="0" bIns="0" rtlCol="0">
            <a:noAutofit/>
          </a:bodyPr>
          <a:lstStyle/>
          <a:p>
            <a:r>
              <a:rPr lang="ru-RU" sz="2300">
                <a:solidFill>
                  <a:srgbClr val="352379"/>
                </a:solidFill>
                <a:latin typeface="Montserrat"/>
              </a:rPr>
              <a:t>Берём необработанную вершину u с минимальным dist[u].</a:t>
            </a:r>
          </a:p>
          <a:p>
            <a:endParaRPr lang="ru-RU" sz="2300">
              <a:solidFill>
                <a:srgbClr val="352379"/>
              </a:solidFill>
              <a:latin typeface="Montserrat"/>
            </a:endParaRPr>
          </a:p>
          <a:p>
            <a:r>
              <a:rPr lang="ru-RU" sz="2300">
                <a:solidFill>
                  <a:srgbClr val="352379"/>
                </a:solidFill>
                <a:latin typeface="Montserrat"/>
              </a:rPr>
              <a:t>Её расстояние становится окончательным.</a:t>
            </a:r>
          </a:p>
        </p:txBody>
      </p:sp>
      <p:sp>
        <p:nvSpPr>
          <p:cNvPr id="16" name="right-body">
            <a:extLst>
              <a:ext uri="{FF2B5EF4-FFF2-40B4-BE49-F238E27FC236}">
                <a16:creationId xmlns:a16="http://schemas.microsoft.com/office/drawing/2014/main" id="{F1DE1F98-303A-4986-804F-F968461D4E1C}"/>
              </a:ext>
            </a:extLst>
          </p:cNvPr>
          <p:cNvSpPr/>
          <p:nvPr/>
        </p:nvSpPr>
        <p:spPr>
          <a:xfrm>
            <a:off x="6477000" y="1816100"/>
            <a:ext cx="5207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right-head">
            <a:extLst>
              <a:ext uri="{FF2B5EF4-FFF2-40B4-BE49-F238E27FC236}">
                <a16:creationId xmlns:a16="http://schemas.microsoft.com/office/drawing/2014/main" id="{A95FC92B-A58C-4668-A2D1-8F29205BB720}"/>
              </a:ext>
            </a:extLst>
          </p:cNvPr>
          <p:cNvSpPr/>
          <p:nvPr/>
        </p:nvSpPr>
        <p:spPr>
          <a:xfrm>
            <a:off x="64770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right-heading">
            <a:extLst>
              <a:ext uri="{FF2B5EF4-FFF2-40B4-BE49-F238E27FC236}">
                <a16:creationId xmlns:a16="http://schemas.microsoft.com/office/drawing/2014/main" id="{A62F4E81-6CFC-456C-BB70-E3395A6BFB9C}"/>
              </a:ext>
            </a:extLst>
          </p:cNvPr>
          <p:cNvSpPr txBox="1"/>
          <p:nvPr/>
        </p:nvSpPr>
        <p:spPr bwMode="auto">
          <a:xfrm>
            <a:off x="66675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Действие</a:t>
            </a:r>
          </a:p>
        </p:txBody>
      </p:sp>
      <p:sp>
        <p:nvSpPr>
          <p:cNvPr id="19" name="right-text">
            <a:extLst>
              <a:ext uri="{FF2B5EF4-FFF2-40B4-BE49-F238E27FC236}">
                <a16:creationId xmlns:a16="http://schemas.microsoft.com/office/drawing/2014/main" id="{3AA41277-949E-432F-9A8E-36807C57102A}"/>
              </a:ext>
            </a:extLst>
          </p:cNvPr>
          <p:cNvSpPr txBox="1"/>
          <p:nvPr/>
        </p:nvSpPr>
        <p:spPr bwMode="auto">
          <a:xfrm>
            <a:off x="6692900" y="2641599"/>
            <a:ext cx="4775200" cy="2717800"/>
          </a:xfrm>
          <a:prstGeom prst="rect">
            <a:avLst/>
          </a:prstGeom>
        </p:spPr>
        <p:txBody>
          <a:bodyPr vert="horz" wrap="square" lIns="0" tIns="0" rIns="0" bIns="0" rtlCol="0">
            <a:noAutofit/>
          </a:bodyPr>
          <a:lstStyle/>
          <a:p>
            <a:r>
              <a:rPr lang="ru-RU" sz="2300">
                <a:solidFill>
                  <a:srgbClr val="352379"/>
                </a:solidFill>
                <a:latin typeface="Montserrat"/>
              </a:rPr>
              <a:t>Рассматриваем рёбра u → v.</a:t>
            </a:r>
          </a:p>
          <a:p>
            <a:endParaRPr lang="ru-RU" sz="2300">
              <a:solidFill>
                <a:srgbClr val="352379"/>
              </a:solidFill>
              <a:latin typeface="Montserrat"/>
            </a:endParaRPr>
          </a:p>
          <a:p>
            <a:r>
              <a:rPr lang="ru-RU" sz="2300">
                <a:solidFill>
                  <a:srgbClr val="352379"/>
                </a:solidFill>
                <a:latin typeface="Montserrat"/>
              </a:rPr>
              <a:t>Проверяем, станет ли путь до v дешевле через u.</a:t>
            </a:r>
          </a:p>
        </p:txBody>
      </p:sp>
    </p:spTree>
    <p:extLst>
      <p:ext uri="{BB962C8B-B14F-4D97-AF65-F5344CB8AC3E}">
        <p14:creationId xmlns:p14="http://schemas.microsoft.com/office/powerpoint/2010/main" val="1677464847"/>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EB0AC3-DAE3-4463-A71A-F2A9B475CA4E}"/>
              </a:ext>
            </a:extLst>
          </p:cNvPr>
          <p:cNvSpPr>
            <a:spLocks noGrp="1"/>
          </p:cNvSpPr>
          <p:nvPr>
            <p:ph type="title"/>
          </p:nvPr>
        </p:nvSpPr>
        <p:spPr>
          <a:xfrm>
            <a:off x="479425" y="597855"/>
            <a:ext cx="11229975" cy="1140459"/>
          </a:xfrm>
        </p:spPr>
        <p:txBody>
          <a:bodyPr/>
          <a:lstStyle/>
          <a:p>
            <a:r>
              <a:rPr lang="ru-RU"/>
              <a:t>Релаксация ребра</a:t>
            </a:r>
          </a:p>
        </p:txBody>
      </p:sp>
      <p:sp>
        <p:nvSpPr>
          <p:cNvPr id="7" name="Текст 6">
            <a:extLst>
              <a:ext uri="{FF2B5EF4-FFF2-40B4-BE49-F238E27FC236}">
                <a16:creationId xmlns:a16="http://schemas.microsoft.com/office/drawing/2014/main" id="{1231AE45-991D-443E-9871-095C68E02679}"/>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05DB212E-7BEE-4FFD-84AA-0E1F24BF6006}"/>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42FB223D-1A7A-4555-ACFF-934B96E441B9}"/>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14</a:t>
            </a:r>
          </a:p>
        </p:txBody>
      </p:sp>
      <p:sp>
        <p:nvSpPr>
          <p:cNvPr id="10" name="bottom-band">
            <a:extLst>
              <a:ext uri="{FF2B5EF4-FFF2-40B4-BE49-F238E27FC236}">
                <a16:creationId xmlns:a16="http://schemas.microsoft.com/office/drawing/2014/main" id="{2C806DD7-A1C4-4AB5-80D8-3F02A75DFDBF}"/>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05D38879-420B-4021-8A50-4EB63C1FE7A4}"/>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Успех релаксации означает строго меньшее расстояние</a:t>
            </a:r>
          </a:p>
        </p:txBody>
      </p:sp>
      <p:sp>
        <p:nvSpPr>
          <p:cNvPr id="12" name="definition">
            <a:extLst>
              <a:ext uri="{FF2B5EF4-FFF2-40B4-BE49-F238E27FC236}">
                <a16:creationId xmlns:a16="http://schemas.microsoft.com/office/drawing/2014/main" id="{9A60994D-4696-4031-A152-C2B2D3A5A1E1}"/>
              </a:ext>
            </a:extLst>
          </p:cNvPr>
          <p:cNvSpPr txBox="1"/>
          <p:nvPr/>
        </p:nvSpPr>
        <p:spPr bwMode="auto">
          <a:xfrm>
            <a:off x="698500" y="1841499"/>
            <a:ext cx="10985500" cy="1270000"/>
          </a:xfrm>
          <a:prstGeom prst="rect">
            <a:avLst/>
          </a:prstGeom>
        </p:spPr>
        <p:txBody>
          <a:bodyPr vert="horz" wrap="square" lIns="0" tIns="0" rIns="0" bIns="0" rtlCol="0">
            <a:noAutofit/>
          </a:bodyPr>
          <a:lstStyle/>
          <a:p>
            <a:r>
              <a:rPr lang="ru-RU" sz="2500">
                <a:solidFill>
                  <a:srgbClr val="352379"/>
                </a:solidFill>
                <a:latin typeface="Montserrat"/>
              </a:rPr>
              <a:t>Релаксация — попытка улучшить оценку расстояния до v, пройдя через u.</a:t>
            </a:r>
          </a:p>
        </p:txBody>
      </p:sp>
      <p:sp>
        <p:nvSpPr>
          <p:cNvPr id="13" name="main-formula">
            <a:extLst>
              <a:ext uri="{FF2B5EF4-FFF2-40B4-BE49-F238E27FC236}">
                <a16:creationId xmlns:a16="http://schemas.microsoft.com/office/drawing/2014/main" id="{89E648A1-87FF-4A90-988D-A8FDFAD56554}"/>
              </a:ext>
            </a:extLst>
          </p:cNvPr>
          <p:cNvSpPr txBox="1"/>
          <p:nvPr/>
        </p:nvSpPr>
        <p:spPr bwMode="auto">
          <a:xfrm>
            <a:off x="698500" y="3492499"/>
            <a:ext cx="10985500" cy="825500"/>
          </a:xfrm>
          <a:prstGeom prst="rect">
            <a:avLst/>
          </a:prstGeom>
        </p:spPr>
        <p:txBody>
          <a:bodyPr vert="horz" wrap="square" lIns="0" tIns="0" rIns="0" bIns="0" rtlCol="0">
            <a:noAutofit/>
          </a:bodyPr>
          <a:lstStyle/>
          <a:p>
            <a:pPr algn="ctr"/>
            <a:r>
              <a:rPr lang="nl-NL" sz="2900" b="1">
                <a:solidFill>
                  <a:srgbClr val="352379"/>
                </a:solidFill>
                <a:latin typeface="Montserrat"/>
              </a:rPr>
              <a:t>dist[v] = min(dist[v], dist[u] + w(u, v))</a:t>
            </a:r>
            <a:endParaRPr lang="ru-RU" sz="2900" b="1">
              <a:solidFill>
                <a:srgbClr val="352379"/>
              </a:solidFill>
              <a:latin typeface="Montserrat"/>
            </a:endParaRPr>
          </a:p>
        </p:txBody>
      </p:sp>
      <p:sp>
        <p:nvSpPr>
          <p:cNvPr id="14" name="formula-detail">
            <a:extLst>
              <a:ext uri="{FF2B5EF4-FFF2-40B4-BE49-F238E27FC236}">
                <a16:creationId xmlns:a16="http://schemas.microsoft.com/office/drawing/2014/main" id="{ED758D17-C578-4DE2-ACC8-5BFF849BE536}"/>
              </a:ext>
            </a:extLst>
          </p:cNvPr>
          <p:cNvSpPr txBox="1"/>
          <p:nvPr/>
        </p:nvSpPr>
        <p:spPr bwMode="auto">
          <a:xfrm>
            <a:off x="1079500" y="4787899"/>
            <a:ext cx="10033000" cy="800100"/>
          </a:xfrm>
          <a:prstGeom prst="rect">
            <a:avLst/>
          </a:prstGeom>
        </p:spPr>
        <p:txBody>
          <a:bodyPr vert="horz" wrap="square" lIns="0" tIns="0" rIns="0" bIns="0" rtlCol="0">
            <a:noAutofit/>
          </a:bodyPr>
          <a:lstStyle/>
          <a:p>
            <a:pPr algn="ctr"/>
            <a:r>
              <a:rPr lang="ru-RU" sz="2300">
                <a:solidFill>
                  <a:srgbClr val="352379"/>
                </a:solidFill>
                <a:latin typeface="Montserrat"/>
              </a:rPr>
              <a:t>Новый кандидат: стоимость до u + цена ребра u → v</a:t>
            </a:r>
          </a:p>
        </p:txBody>
      </p:sp>
    </p:spTree>
    <p:extLst>
      <p:ext uri="{BB962C8B-B14F-4D97-AF65-F5344CB8AC3E}">
        <p14:creationId xmlns:p14="http://schemas.microsoft.com/office/powerpoint/2010/main" val="3384929025"/>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883F61A-2BCE-4E7D-9B34-9AB0E6A81208}"/>
              </a:ext>
            </a:extLst>
          </p:cNvPr>
          <p:cNvSpPr>
            <a:spLocks noGrp="1"/>
          </p:cNvSpPr>
          <p:nvPr>
            <p:ph type="title"/>
          </p:nvPr>
        </p:nvSpPr>
        <p:spPr>
          <a:xfrm>
            <a:off x="479425" y="597855"/>
            <a:ext cx="11229975" cy="1140459"/>
          </a:xfrm>
        </p:spPr>
        <p:txBody>
          <a:bodyPr/>
          <a:lstStyle/>
          <a:p>
            <a:r>
              <a:rPr lang="ru-RU"/>
              <a:t>Релаксация: 10 становится 7</a:t>
            </a:r>
          </a:p>
        </p:txBody>
      </p:sp>
      <p:sp>
        <p:nvSpPr>
          <p:cNvPr id="7" name="Текст 6">
            <a:extLst>
              <a:ext uri="{FF2B5EF4-FFF2-40B4-BE49-F238E27FC236}">
                <a16:creationId xmlns:a16="http://schemas.microsoft.com/office/drawing/2014/main" id="{CBEBF187-8456-4484-A0DA-ECD85F663867}"/>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B1589712-0B37-48BE-A77C-4FA32E0B63C9}"/>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8667A066-15A7-4D8F-90EB-1BCD19BAF5B8}"/>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15</a:t>
            </a:r>
          </a:p>
        </p:txBody>
      </p:sp>
      <p:sp>
        <p:nvSpPr>
          <p:cNvPr id="10" name="bottom-band">
            <a:extLst>
              <a:ext uri="{FF2B5EF4-FFF2-40B4-BE49-F238E27FC236}">
                <a16:creationId xmlns:a16="http://schemas.microsoft.com/office/drawing/2014/main" id="{09331987-5F39-4C0D-9BB5-5BCA85CE6D7F}"/>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86DDFD5E-7BFE-47D5-9CD3-457C423898D4}"/>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Путь через A оказался дешевле уже известного пути</a:t>
            </a:r>
          </a:p>
        </p:txBody>
      </p:sp>
      <p:cxnSp>
        <p:nvCxnSpPr>
          <p:cNvPr id="12" name="!!relax-edge-AB">
            <a:extLst>
              <a:ext uri="{FF2B5EF4-FFF2-40B4-BE49-F238E27FC236}">
                <a16:creationId xmlns:a16="http://schemas.microsoft.com/office/drawing/2014/main" id="{6186C083-6662-4CAD-A787-82AC46F21120}"/>
              </a:ext>
            </a:extLst>
          </p:cNvPr>
          <p:cNvCxnSpPr/>
          <p:nvPr/>
        </p:nvCxnSpPr>
        <p:spPr>
          <a:xfrm>
            <a:off x="3327400" y="2984500"/>
            <a:ext cx="52197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3" name="!!relax-weight-AB">
            <a:extLst>
              <a:ext uri="{FF2B5EF4-FFF2-40B4-BE49-F238E27FC236}">
                <a16:creationId xmlns:a16="http://schemas.microsoft.com/office/drawing/2014/main" id="{CB442245-B5A1-4E34-B814-7866085B3153}"/>
              </a:ext>
            </a:extLst>
          </p:cNvPr>
          <p:cNvSpPr txBox="1"/>
          <p:nvPr/>
        </p:nvSpPr>
        <p:spPr bwMode="auto">
          <a:xfrm>
            <a:off x="5683250" y="3136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sp>
        <p:nvSpPr>
          <p:cNvPr id="14" name="!!relax-node-A">
            <a:extLst>
              <a:ext uri="{FF2B5EF4-FFF2-40B4-BE49-F238E27FC236}">
                <a16:creationId xmlns:a16="http://schemas.microsoft.com/office/drawing/2014/main" id="{BE8401B2-9619-4FF0-BCB0-C2F5393C4642}"/>
              </a:ext>
            </a:extLst>
          </p:cNvPr>
          <p:cNvSpPr/>
          <p:nvPr/>
        </p:nvSpPr>
        <p:spPr>
          <a:xfrm>
            <a:off x="2667000" y="2667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5" name="!!relax-node-B">
            <a:extLst>
              <a:ext uri="{FF2B5EF4-FFF2-40B4-BE49-F238E27FC236}">
                <a16:creationId xmlns:a16="http://schemas.microsoft.com/office/drawing/2014/main" id="{2C28051F-D589-479D-AAEE-96C089583A5B}"/>
              </a:ext>
            </a:extLst>
          </p:cNvPr>
          <p:cNvSpPr/>
          <p:nvPr/>
        </p:nvSpPr>
        <p:spPr>
          <a:xfrm>
            <a:off x="8572500" y="2667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16" name="initial-a">
            <a:extLst>
              <a:ext uri="{FF2B5EF4-FFF2-40B4-BE49-F238E27FC236}">
                <a16:creationId xmlns:a16="http://schemas.microsoft.com/office/drawing/2014/main" id="{1D699135-A76E-4B19-9BF5-72C244BD238D}"/>
              </a:ext>
            </a:extLst>
          </p:cNvPr>
          <p:cNvSpPr txBox="1"/>
          <p:nvPr/>
        </p:nvSpPr>
        <p:spPr bwMode="auto">
          <a:xfrm>
            <a:off x="1651000" y="1841499"/>
            <a:ext cx="3429000" cy="444500"/>
          </a:xfrm>
          <a:prstGeom prst="rect">
            <a:avLst/>
          </a:prstGeom>
        </p:spPr>
        <p:txBody>
          <a:bodyPr vert="horz" wrap="square" lIns="0" tIns="0" rIns="0" bIns="0" rtlCol="0">
            <a:noAutofit/>
          </a:bodyPr>
          <a:lstStyle/>
          <a:p>
            <a:r>
              <a:rPr lang="en-US" sz="2500">
                <a:solidFill>
                  <a:srgbClr val="352379"/>
                </a:solidFill>
                <a:latin typeface="Montserrat"/>
              </a:rPr>
              <a:t>dist[A] = 4</a:t>
            </a:r>
            <a:endParaRPr lang="ru-RU" sz="2500">
              <a:solidFill>
                <a:srgbClr val="352379"/>
              </a:solidFill>
              <a:latin typeface="Montserrat"/>
            </a:endParaRPr>
          </a:p>
        </p:txBody>
      </p:sp>
      <p:sp>
        <p:nvSpPr>
          <p:cNvPr id="17" name="initial-b">
            <a:extLst>
              <a:ext uri="{FF2B5EF4-FFF2-40B4-BE49-F238E27FC236}">
                <a16:creationId xmlns:a16="http://schemas.microsoft.com/office/drawing/2014/main" id="{85BA06FA-5A25-47E8-AE3B-CB446EE3DF37}"/>
              </a:ext>
            </a:extLst>
          </p:cNvPr>
          <p:cNvSpPr txBox="1"/>
          <p:nvPr/>
        </p:nvSpPr>
        <p:spPr bwMode="auto">
          <a:xfrm>
            <a:off x="7620000" y="1841499"/>
            <a:ext cx="3429000" cy="444500"/>
          </a:xfrm>
          <a:prstGeom prst="rect">
            <a:avLst/>
          </a:prstGeom>
        </p:spPr>
        <p:txBody>
          <a:bodyPr vert="horz" wrap="square" lIns="0" tIns="0" rIns="0" bIns="0" rtlCol="0">
            <a:noAutofit/>
          </a:bodyPr>
          <a:lstStyle/>
          <a:p>
            <a:r>
              <a:rPr lang="en-US" sz="2500">
                <a:solidFill>
                  <a:srgbClr val="352379"/>
                </a:solidFill>
                <a:latin typeface="Montserrat"/>
              </a:rPr>
              <a:t>dist[B] = 10</a:t>
            </a:r>
            <a:endParaRPr lang="ru-RU" sz="2500">
              <a:solidFill>
                <a:srgbClr val="352379"/>
              </a:solidFill>
              <a:latin typeface="Montserrat"/>
            </a:endParaRPr>
          </a:p>
        </p:txBody>
      </p:sp>
      <p:sp>
        <p:nvSpPr>
          <p:cNvPr id="18" name="candidate">
            <a:extLst>
              <a:ext uri="{FF2B5EF4-FFF2-40B4-BE49-F238E27FC236}">
                <a16:creationId xmlns:a16="http://schemas.microsoft.com/office/drawing/2014/main" id="{EEA49B91-0F1E-417D-B5CC-063C33D3758B}"/>
              </a:ext>
            </a:extLst>
          </p:cNvPr>
          <p:cNvSpPr txBox="1"/>
          <p:nvPr/>
        </p:nvSpPr>
        <p:spPr bwMode="auto">
          <a:xfrm>
            <a:off x="1524000" y="4038599"/>
            <a:ext cx="9144000" cy="533400"/>
          </a:xfrm>
          <a:prstGeom prst="rect">
            <a:avLst/>
          </a:prstGeom>
        </p:spPr>
        <p:txBody>
          <a:bodyPr vert="horz" wrap="square" lIns="0" tIns="0" rIns="0" bIns="0" rtlCol="0">
            <a:noAutofit/>
          </a:bodyPr>
          <a:lstStyle/>
          <a:p>
            <a:pPr algn="ctr"/>
            <a:r>
              <a:rPr lang="ru-RU" sz="2800">
                <a:solidFill>
                  <a:srgbClr val="352379"/>
                </a:solidFill>
                <a:latin typeface="Montserrat"/>
              </a:rPr>
              <a:t>Кандидат: 4 + 3 = 7</a:t>
            </a:r>
          </a:p>
        </p:txBody>
      </p:sp>
      <p:sp>
        <p:nvSpPr>
          <p:cNvPr id="19" name="relax-result">
            <a:extLst>
              <a:ext uri="{FF2B5EF4-FFF2-40B4-BE49-F238E27FC236}">
                <a16:creationId xmlns:a16="http://schemas.microsoft.com/office/drawing/2014/main" id="{46494C81-92BC-4722-962E-493330673156}"/>
              </a:ext>
            </a:extLst>
          </p:cNvPr>
          <p:cNvSpPr txBox="1"/>
          <p:nvPr/>
        </p:nvSpPr>
        <p:spPr bwMode="auto">
          <a:xfrm>
            <a:off x="1016000" y="4927599"/>
            <a:ext cx="10160000" cy="609600"/>
          </a:xfrm>
          <a:prstGeom prst="rect">
            <a:avLst/>
          </a:prstGeom>
        </p:spPr>
        <p:txBody>
          <a:bodyPr vert="horz" wrap="square" lIns="0" tIns="0" rIns="0" bIns="0" rtlCol="0">
            <a:noAutofit/>
          </a:bodyPr>
          <a:lstStyle/>
          <a:p>
            <a:pPr algn="ctr"/>
            <a:r>
              <a:rPr lang="en-US" sz="2800" b="1">
                <a:solidFill>
                  <a:srgbClr val="352379"/>
                </a:solidFill>
                <a:latin typeface="Montserrat"/>
              </a:rPr>
              <a:t>4 + 3 = 7 &lt; 10  ⇒  dist[B] = 7</a:t>
            </a:r>
            <a:endParaRPr lang="ru-RU" sz="2800" b="1">
              <a:solidFill>
                <a:srgbClr val="352379"/>
              </a:solidFill>
              <a:latin typeface="Montserrat"/>
            </a:endParaRPr>
          </a:p>
        </p:txBody>
      </p:sp>
    </p:spTree>
    <p:extLst>
      <p:ext uri="{BB962C8B-B14F-4D97-AF65-F5344CB8AC3E}">
        <p14:creationId xmlns:p14="http://schemas.microsoft.com/office/powerpoint/2010/main" val="2570187419"/>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9"/>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F4ECC63-07AA-4937-BDD4-14AC7B3327FD}"/>
              </a:ext>
            </a:extLst>
          </p:cNvPr>
          <p:cNvSpPr>
            <a:spLocks noGrp="1"/>
          </p:cNvSpPr>
          <p:nvPr>
            <p:ph type="title"/>
          </p:nvPr>
        </p:nvSpPr>
        <p:spPr>
          <a:xfrm>
            <a:off x="479425" y="597855"/>
            <a:ext cx="11229975" cy="1140459"/>
          </a:xfrm>
        </p:spPr>
        <p:txBody>
          <a:bodyPr/>
          <a:lstStyle/>
          <a:p>
            <a:r>
              <a:rPr lang="ru-RU" dirty="0"/>
              <a:t>Нужна ли релаксация?</a:t>
            </a:r>
          </a:p>
        </p:txBody>
      </p:sp>
      <p:sp>
        <p:nvSpPr>
          <p:cNvPr id="7" name="Текст 6">
            <a:extLst>
              <a:ext uri="{FF2B5EF4-FFF2-40B4-BE49-F238E27FC236}">
                <a16:creationId xmlns:a16="http://schemas.microsoft.com/office/drawing/2014/main" id="{67D68C6D-34DD-406E-A110-A175CF847CC8}"/>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FDFF164F-D7D6-4D83-8761-05661324A2B0}"/>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B5FE6B9A-D5F3-4A49-A29D-12A82FEB83EB}"/>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16</a:t>
            </a:r>
          </a:p>
        </p:txBody>
      </p:sp>
      <p:sp>
        <p:nvSpPr>
          <p:cNvPr id="10" name="bottom-band">
            <a:extLst>
              <a:ext uri="{FF2B5EF4-FFF2-40B4-BE49-F238E27FC236}">
                <a16:creationId xmlns:a16="http://schemas.microsoft.com/office/drawing/2014/main" id="{BEE92ADC-BB4E-453E-9F73-F084E2854443}"/>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C3E66E8E-0579-41E6-846B-5684D6AFC870}"/>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Релаксация может закончиться без обновления</a:t>
            </a:r>
          </a:p>
        </p:txBody>
      </p:sp>
      <p:sp>
        <p:nvSpPr>
          <p:cNvPr id="12" name="question">
            <a:extLst>
              <a:ext uri="{FF2B5EF4-FFF2-40B4-BE49-F238E27FC236}">
                <a16:creationId xmlns:a16="http://schemas.microsoft.com/office/drawing/2014/main" id="{9123C1A2-EECE-4257-8A98-0E6FBAA5B194}"/>
              </a:ext>
            </a:extLst>
          </p:cNvPr>
          <p:cNvSpPr txBox="1"/>
          <p:nvPr/>
        </p:nvSpPr>
        <p:spPr bwMode="auto">
          <a:xfrm>
            <a:off x="825500" y="1917699"/>
            <a:ext cx="10541000" cy="1943100"/>
          </a:xfrm>
          <a:prstGeom prst="rect">
            <a:avLst/>
          </a:prstGeom>
        </p:spPr>
        <p:txBody>
          <a:bodyPr vert="horz" wrap="square" lIns="0" tIns="0" rIns="0" bIns="0" rtlCol="0">
            <a:noAutofit/>
          </a:bodyPr>
          <a:lstStyle/>
          <a:p>
            <a:r>
              <a:rPr lang="ru-RU" sz="2900">
                <a:solidFill>
                  <a:srgbClr val="352379"/>
                </a:solidFill>
                <a:latin typeface="Montserrat"/>
              </a:rPr>
              <a:t>dist[u] = 8,  w(u, v) = 5,  dist[v] = 11</a:t>
            </a:r>
          </a:p>
          <a:p>
            <a:endParaRPr lang="ru-RU" sz="2900">
              <a:solidFill>
                <a:srgbClr val="352379"/>
              </a:solidFill>
              <a:latin typeface="Montserrat"/>
            </a:endParaRPr>
          </a:p>
          <a:p>
            <a:r>
              <a:rPr lang="ru-RU" sz="2900">
                <a:solidFill>
                  <a:srgbClr val="352379"/>
                </a:solidFill>
                <a:latin typeface="Montserrat"/>
              </a:rPr>
              <a:t>Изменится ли dist[v]?</a:t>
            </a:r>
          </a:p>
        </p:txBody>
      </p:sp>
      <p:sp>
        <p:nvSpPr>
          <p:cNvPr id="13" name="answer-background">
            <a:extLst>
              <a:ext uri="{FF2B5EF4-FFF2-40B4-BE49-F238E27FC236}">
                <a16:creationId xmlns:a16="http://schemas.microsoft.com/office/drawing/2014/main" id="{FEEDA15B-5083-4D59-A825-C286C97EFD8C}"/>
              </a:ext>
            </a:extLst>
          </p:cNvPr>
          <p:cNvSpPr/>
          <p:nvPr/>
        </p:nvSpPr>
        <p:spPr>
          <a:xfrm>
            <a:off x="825500" y="4279900"/>
            <a:ext cx="10541000" cy="114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quiz-answer">
            <a:extLst>
              <a:ext uri="{FF2B5EF4-FFF2-40B4-BE49-F238E27FC236}">
                <a16:creationId xmlns:a16="http://schemas.microsoft.com/office/drawing/2014/main" id="{5B6FDC95-C0B7-4AA0-AA21-795A5F705ADF}"/>
              </a:ext>
            </a:extLst>
          </p:cNvPr>
          <p:cNvSpPr txBox="1"/>
          <p:nvPr/>
        </p:nvSpPr>
        <p:spPr bwMode="auto">
          <a:xfrm>
            <a:off x="1054100" y="4521199"/>
            <a:ext cx="10083800" cy="825500"/>
          </a:xfrm>
          <a:prstGeom prst="rect">
            <a:avLst/>
          </a:prstGeom>
        </p:spPr>
        <p:txBody>
          <a:bodyPr vert="horz" wrap="square" lIns="0" tIns="0" rIns="0" bIns="0" rtlCol="0">
            <a:noAutofit/>
          </a:bodyPr>
          <a:lstStyle/>
          <a:p>
            <a:r>
              <a:rPr lang="ru-RU" sz="2500" b="1">
                <a:solidFill>
                  <a:srgbClr val="352379"/>
                </a:solidFill>
                <a:latin typeface="Montserrat"/>
              </a:rPr>
              <a:t>Нет: 8 + 5 = 13 &gt; 11. Оставляем 11.</a:t>
            </a:r>
          </a:p>
        </p:txBody>
      </p:sp>
    </p:spTree>
    <p:extLst>
      <p:ext uri="{BB962C8B-B14F-4D97-AF65-F5344CB8AC3E}">
        <p14:creationId xmlns:p14="http://schemas.microsoft.com/office/powerpoint/2010/main" val="2428561975"/>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3012CE-3832-450F-93D1-56DE263D984A}"/>
              </a:ext>
            </a:extLst>
          </p:cNvPr>
          <p:cNvSpPr>
            <a:spLocks noGrp="1"/>
          </p:cNvSpPr>
          <p:nvPr>
            <p:ph type="title"/>
          </p:nvPr>
        </p:nvSpPr>
        <p:spPr>
          <a:xfrm>
            <a:off x="479425" y="597855"/>
            <a:ext cx="11229975" cy="1140459"/>
          </a:xfrm>
        </p:spPr>
        <p:txBody>
          <a:bodyPr/>
          <a:lstStyle/>
          <a:p>
            <a:r>
              <a:rPr lang="ru-RU"/>
              <a:t>Дейкстра: исходный граф</a:t>
            </a:r>
          </a:p>
        </p:txBody>
      </p:sp>
      <p:sp>
        <p:nvSpPr>
          <p:cNvPr id="7" name="Текст 6">
            <a:extLst>
              <a:ext uri="{FF2B5EF4-FFF2-40B4-BE49-F238E27FC236}">
                <a16:creationId xmlns:a16="http://schemas.microsoft.com/office/drawing/2014/main" id="{BD921E17-1662-49A2-B4A2-13ECB2A88527}"/>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00E919F3-1B4C-4F00-A513-21384EE4376A}"/>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31F21508-81C6-4850-9425-FD36223242AC}"/>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17</a:t>
            </a:r>
          </a:p>
        </p:txBody>
      </p:sp>
      <p:sp>
        <p:nvSpPr>
          <p:cNvPr id="10" name="bottom-band">
            <a:extLst>
              <a:ext uri="{FF2B5EF4-FFF2-40B4-BE49-F238E27FC236}">
                <a16:creationId xmlns:a16="http://schemas.microsoft.com/office/drawing/2014/main" id="{128CB2B4-7CEA-4DBE-B32C-D04849614A4C}"/>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428A7E22-2E4B-42C4-A3A2-A01F57F0029F}"/>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Белая: ожидает   •   контур: текущая   •   фиолетовая: обработана</a:t>
            </a:r>
          </a:p>
        </p:txBody>
      </p:sp>
      <p:cxnSp>
        <p:nvCxnSpPr>
          <p:cNvPr id="12" name="!!g-edge-AB">
            <a:extLst>
              <a:ext uri="{FF2B5EF4-FFF2-40B4-BE49-F238E27FC236}">
                <a16:creationId xmlns:a16="http://schemas.microsoft.com/office/drawing/2014/main" id="{8D5A390E-C272-4C3C-A679-62C8DEB368BC}"/>
              </a:ext>
            </a:extLst>
          </p:cNvPr>
          <p:cNvCxnSpPr/>
          <p:nvPr/>
        </p:nvCxnSpPr>
        <p:spPr>
          <a:xfrm flipV="1">
            <a:off x="1425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3" name="!!g-weight-AB">
            <a:extLst>
              <a:ext uri="{FF2B5EF4-FFF2-40B4-BE49-F238E27FC236}">
                <a16:creationId xmlns:a16="http://schemas.microsoft.com/office/drawing/2014/main" id="{046E5BC9-0D99-4901-9F84-4340DFFFB7B8}"/>
              </a:ext>
            </a:extLst>
          </p:cNvPr>
          <p:cNvSpPr txBox="1"/>
          <p:nvPr/>
        </p:nvSpPr>
        <p:spPr bwMode="auto">
          <a:xfrm>
            <a:off x="2011636"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7</a:t>
            </a:r>
          </a:p>
        </p:txBody>
      </p:sp>
      <p:cxnSp>
        <p:nvCxnSpPr>
          <p:cNvPr id="14" name="!!g-edge-AC">
            <a:extLst>
              <a:ext uri="{FF2B5EF4-FFF2-40B4-BE49-F238E27FC236}">
                <a16:creationId xmlns:a16="http://schemas.microsoft.com/office/drawing/2014/main" id="{D3378560-7558-45FB-BEB8-D8501B9836E6}"/>
              </a:ext>
            </a:extLst>
          </p:cNvPr>
          <p:cNvCxnSpPr/>
          <p:nvPr/>
        </p:nvCxnSpPr>
        <p:spPr>
          <a:xfrm>
            <a:off x="1425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5" name="!!g-weight-AC">
            <a:extLst>
              <a:ext uri="{FF2B5EF4-FFF2-40B4-BE49-F238E27FC236}">
                <a16:creationId xmlns:a16="http://schemas.microsoft.com/office/drawing/2014/main" id="{4AE74058-1E62-42AB-A320-7EFD55E73ABF}"/>
              </a:ext>
            </a:extLst>
          </p:cNvPr>
          <p:cNvSpPr txBox="1"/>
          <p:nvPr/>
        </p:nvSpPr>
        <p:spPr bwMode="auto">
          <a:xfrm>
            <a:off x="1607864"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6" name="!!g-edge-BC">
            <a:extLst>
              <a:ext uri="{FF2B5EF4-FFF2-40B4-BE49-F238E27FC236}">
                <a16:creationId xmlns:a16="http://schemas.microsoft.com/office/drawing/2014/main" id="{277BC1C4-7068-48A3-A9E7-C2454E03D5C6}"/>
              </a:ext>
            </a:extLst>
          </p:cNvPr>
          <p:cNvCxnSpPr/>
          <p:nvPr/>
        </p:nvCxnSpPr>
        <p:spPr>
          <a:xfrm>
            <a:off x="29845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7" name="!!g-weight-BC">
            <a:extLst>
              <a:ext uri="{FF2B5EF4-FFF2-40B4-BE49-F238E27FC236}">
                <a16:creationId xmlns:a16="http://schemas.microsoft.com/office/drawing/2014/main" id="{3F13314D-BCBD-4F51-84AD-D68974DCD3DE}"/>
              </a:ext>
            </a:extLst>
          </p:cNvPr>
          <p:cNvSpPr txBox="1"/>
          <p:nvPr/>
        </p:nvSpPr>
        <p:spPr bwMode="auto">
          <a:xfrm>
            <a:off x="23749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18" name="!!g-edge-BD">
            <a:extLst>
              <a:ext uri="{FF2B5EF4-FFF2-40B4-BE49-F238E27FC236}">
                <a16:creationId xmlns:a16="http://schemas.microsoft.com/office/drawing/2014/main" id="{4D5A1082-35D3-41E0-80E3-84F320E049D2}"/>
              </a:ext>
            </a:extLst>
          </p:cNvPr>
          <p:cNvCxnSpPr/>
          <p:nvPr/>
        </p:nvCxnSpPr>
        <p:spPr>
          <a:xfrm>
            <a:off x="3327400" y="273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9" name="!!g-weight-BD">
            <a:extLst>
              <a:ext uri="{FF2B5EF4-FFF2-40B4-BE49-F238E27FC236}">
                <a16:creationId xmlns:a16="http://schemas.microsoft.com/office/drawing/2014/main" id="{62637FCF-DF22-41B7-83BB-C4636B54AAB8}"/>
              </a:ext>
            </a:extLst>
          </p:cNvPr>
          <p:cNvSpPr txBox="1"/>
          <p:nvPr/>
        </p:nvSpPr>
        <p:spPr bwMode="auto">
          <a:xfrm>
            <a:off x="3778250" y="288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20" name="!!g-edge-CD">
            <a:extLst>
              <a:ext uri="{FF2B5EF4-FFF2-40B4-BE49-F238E27FC236}">
                <a16:creationId xmlns:a16="http://schemas.microsoft.com/office/drawing/2014/main" id="{D03C6558-F494-4240-B9CB-E4200A7F4CC4}"/>
              </a:ext>
            </a:extLst>
          </p:cNvPr>
          <p:cNvCxnSpPr/>
          <p:nvPr/>
        </p:nvCxnSpPr>
        <p:spPr>
          <a:xfrm flipV="1">
            <a:off x="3202716" y="2995004"/>
            <a:ext cx="1659068" cy="2010992"/>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1" name="!!g-weight-CD">
            <a:extLst>
              <a:ext uri="{FF2B5EF4-FFF2-40B4-BE49-F238E27FC236}">
                <a16:creationId xmlns:a16="http://schemas.microsoft.com/office/drawing/2014/main" id="{02D9CB96-60D3-4A4F-8D10-71158988A2E9}"/>
              </a:ext>
            </a:extLst>
          </p:cNvPr>
          <p:cNvSpPr txBox="1"/>
          <p:nvPr/>
        </p:nvSpPr>
        <p:spPr bwMode="auto">
          <a:xfrm>
            <a:off x="4052550" y="4023597"/>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5</a:t>
            </a:r>
          </a:p>
        </p:txBody>
      </p:sp>
      <p:cxnSp>
        <p:nvCxnSpPr>
          <p:cNvPr id="22" name="!!g-edge-CE">
            <a:extLst>
              <a:ext uri="{FF2B5EF4-FFF2-40B4-BE49-F238E27FC236}">
                <a16:creationId xmlns:a16="http://schemas.microsoft.com/office/drawing/2014/main" id="{D653D008-E06B-4280-A134-220A47F006DB}"/>
              </a:ext>
            </a:extLst>
          </p:cNvPr>
          <p:cNvCxnSpPr/>
          <p:nvPr/>
        </p:nvCxnSpPr>
        <p:spPr>
          <a:xfrm>
            <a:off x="3327400" y="527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3" name="!!g-weight-CE">
            <a:extLst>
              <a:ext uri="{FF2B5EF4-FFF2-40B4-BE49-F238E27FC236}">
                <a16:creationId xmlns:a16="http://schemas.microsoft.com/office/drawing/2014/main" id="{510EC5FF-9F93-4C67-AF6D-1AD2368A5F4A}"/>
              </a:ext>
            </a:extLst>
          </p:cNvPr>
          <p:cNvSpPr txBox="1"/>
          <p:nvPr/>
        </p:nvSpPr>
        <p:spPr bwMode="auto">
          <a:xfrm>
            <a:off x="3778250" y="542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8</a:t>
            </a:r>
          </a:p>
        </p:txBody>
      </p:sp>
      <p:cxnSp>
        <p:nvCxnSpPr>
          <p:cNvPr id="24" name="!!g-edge-DE">
            <a:extLst>
              <a:ext uri="{FF2B5EF4-FFF2-40B4-BE49-F238E27FC236}">
                <a16:creationId xmlns:a16="http://schemas.microsoft.com/office/drawing/2014/main" id="{A2D688BD-3F16-4720-ABF7-6A6E0A064A70}"/>
              </a:ext>
            </a:extLst>
          </p:cNvPr>
          <p:cNvCxnSpPr/>
          <p:nvPr/>
        </p:nvCxnSpPr>
        <p:spPr>
          <a:xfrm>
            <a:off x="50800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5" name="!!g-weight-DE">
            <a:extLst>
              <a:ext uri="{FF2B5EF4-FFF2-40B4-BE49-F238E27FC236}">
                <a16:creationId xmlns:a16="http://schemas.microsoft.com/office/drawing/2014/main" id="{1482F3A4-BF34-4559-B8A9-A52174AB957C}"/>
              </a:ext>
            </a:extLst>
          </p:cNvPr>
          <p:cNvSpPr txBox="1"/>
          <p:nvPr/>
        </p:nvSpPr>
        <p:spPr bwMode="auto">
          <a:xfrm>
            <a:off x="44704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cxnSp>
        <p:nvCxnSpPr>
          <p:cNvPr id="26" name="!!g-edge-DF">
            <a:extLst>
              <a:ext uri="{FF2B5EF4-FFF2-40B4-BE49-F238E27FC236}">
                <a16:creationId xmlns:a16="http://schemas.microsoft.com/office/drawing/2014/main" id="{C8EDD83B-5EFB-4603-A1FF-0994EC277592}"/>
              </a:ext>
            </a:extLst>
          </p:cNvPr>
          <p:cNvCxnSpPr/>
          <p:nvPr/>
        </p:nvCxnSpPr>
        <p:spPr>
          <a:xfrm>
            <a:off x="5362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7" name="!!g-weight-DF">
            <a:extLst>
              <a:ext uri="{FF2B5EF4-FFF2-40B4-BE49-F238E27FC236}">
                <a16:creationId xmlns:a16="http://schemas.microsoft.com/office/drawing/2014/main" id="{7A8B42C4-4932-4FBA-84CE-24807D9A9B49}"/>
              </a:ext>
            </a:extLst>
          </p:cNvPr>
          <p:cNvSpPr txBox="1"/>
          <p:nvPr/>
        </p:nvSpPr>
        <p:spPr bwMode="auto">
          <a:xfrm>
            <a:off x="5544864"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28" name="!!g-edge-EF">
            <a:extLst>
              <a:ext uri="{FF2B5EF4-FFF2-40B4-BE49-F238E27FC236}">
                <a16:creationId xmlns:a16="http://schemas.microsoft.com/office/drawing/2014/main" id="{B4BF07A6-2624-45FC-B720-2F633BEF14A4}"/>
              </a:ext>
            </a:extLst>
          </p:cNvPr>
          <p:cNvCxnSpPr/>
          <p:nvPr/>
        </p:nvCxnSpPr>
        <p:spPr>
          <a:xfrm flipV="1">
            <a:off x="5362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9" name="!!g-weight-EF">
            <a:extLst>
              <a:ext uri="{FF2B5EF4-FFF2-40B4-BE49-F238E27FC236}">
                <a16:creationId xmlns:a16="http://schemas.microsoft.com/office/drawing/2014/main" id="{59D9152D-0C85-47FB-A1B0-AA59FB72CD7A}"/>
              </a:ext>
            </a:extLst>
          </p:cNvPr>
          <p:cNvSpPr txBox="1"/>
          <p:nvPr/>
        </p:nvSpPr>
        <p:spPr bwMode="auto">
          <a:xfrm>
            <a:off x="5948636"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sp>
        <p:nvSpPr>
          <p:cNvPr id="30" name="!!g-node-A">
            <a:extLst>
              <a:ext uri="{FF2B5EF4-FFF2-40B4-BE49-F238E27FC236}">
                <a16:creationId xmlns:a16="http://schemas.microsoft.com/office/drawing/2014/main" id="{716A20D3-7DB7-408C-B577-1B17B250418B}"/>
              </a:ext>
            </a:extLst>
          </p:cNvPr>
          <p:cNvSpPr/>
          <p:nvPr/>
        </p:nvSpPr>
        <p:spPr>
          <a:xfrm>
            <a:off x="825500" y="368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31" name="!!g-node-B">
            <a:extLst>
              <a:ext uri="{FF2B5EF4-FFF2-40B4-BE49-F238E27FC236}">
                <a16:creationId xmlns:a16="http://schemas.microsoft.com/office/drawing/2014/main" id="{03BFAA3D-BC53-44B0-ACE6-EA267312046C}"/>
              </a:ext>
            </a:extLst>
          </p:cNvPr>
          <p:cNvSpPr/>
          <p:nvPr/>
        </p:nvSpPr>
        <p:spPr>
          <a:xfrm>
            <a:off x="26670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32" name="!!g-node-C">
            <a:extLst>
              <a:ext uri="{FF2B5EF4-FFF2-40B4-BE49-F238E27FC236}">
                <a16:creationId xmlns:a16="http://schemas.microsoft.com/office/drawing/2014/main" id="{90A70CD7-86DE-4983-8E0F-6095305896C5}"/>
              </a:ext>
            </a:extLst>
          </p:cNvPr>
          <p:cNvSpPr/>
          <p:nvPr/>
        </p:nvSpPr>
        <p:spPr>
          <a:xfrm>
            <a:off x="26670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33" name="!!g-node-D">
            <a:extLst>
              <a:ext uri="{FF2B5EF4-FFF2-40B4-BE49-F238E27FC236}">
                <a16:creationId xmlns:a16="http://schemas.microsoft.com/office/drawing/2014/main" id="{F217326E-50D5-4952-9938-7735BEFAEC1F}"/>
              </a:ext>
            </a:extLst>
          </p:cNvPr>
          <p:cNvSpPr/>
          <p:nvPr/>
        </p:nvSpPr>
        <p:spPr>
          <a:xfrm>
            <a:off x="47625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34" name="!!g-node-E">
            <a:extLst>
              <a:ext uri="{FF2B5EF4-FFF2-40B4-BE49-F238E27FC236}">
                <a16:creationId xmlns:a16="http://schemas.microsoft.com/office/drawing/2014/main" id="{2CC78CCF-BD6D-4EE3-94F9-FEC5B96038FA}"/>
              </a:ext>
            </a:extLst>
          </p:cNvPr>
          <p:cNvSpPr/>
          <p:nvPr/>
        </p:nvSpPr>
        <p:spPr>
          <a:xfrm>
            <a:off x="47625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35" name="!!g-node-F">
            <a:extLst>
              <a:ext uri="{FF2B5EF4-FFF2-40B4-BE49-F238E27FC236}">
                <a16:creationId xmlns:a16="http://schemas.microsoft.com/office/drawing/2014/main" id="{148C0FC3-B9A7-4870-A592-A9422F936813}"/>
              </a:ext>
            </a:extLst>
          </p:cNvPr>
          <p:cNvSpPr/>
          <p:nvPr/>
        </p:nvSpPr>
        <p:spPr>
          <a:xfrm>
            <a:off x="6604000" y="368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F</a:t>
            </a:r>
            <a:endParaRPr lang="ru-RU" sz="2200">
              <a:solidFill>
                <a:srgbClr val="352379"/>
              </a:solidFill>
              <a:latin typeface="Montserrat"/>
            </a:endParaRPr>
          </a:p>
        </p:txBody>
      </p:sp>
      <p:graphicFrame>
        <p:nvGraphicFramePr>
          <p:cNvPr id="36" name="!!distance-table">
            <a:extLst>
              <a:ext uri="{FF2B5EF4-FFF2-40B4-BE49-F238E27FC236}">
                <a16:creationId xmlns:a16="http://schemas.microsoft.com/office/drawing/2014/main" id="{D044878D-69F6-4873-96BA-22619EA7AE38}"/>
              </a:ext>
            </a:extLst>
          </p:cNvPr>
          <p:cNvGraphicFramePr>
            <a:graphicFrameLocks noGrp="1"/>
          </p:cNvGraphicFramePr>
          <p:nvPr>
            <p:extLst>
              <p:ext uri="{D42A27DB-BD31-4B8C-83A1-F6EECF244321}">
                <p14:modId xmlns:p14="http://schemas.microsoft.com/office/powerpoint/2010/main" val="1717597649"/>
              </p:ext>
            </p:extLst>
          </p:nvPr>
        </p:nvGraphicFramePr>
        <p:xfrm>
          <a:off x="8026400" y="1816100"/>
          <a:ext cx="3683000" cy="2997197"/>
        </p:xfrm>
        <a:graphic>
          <a:graphicData uri="http://schemas.openxmlformats.org/drawingml/2006/table">
            <a:tbl>
              <a:tblPr firstRow="1" bandRow="1">
                <a:tableStyleId>{0E3FDE45-AF77-4B5C-9715-49D594BDF05E}</a:tableStyleId>
              </a:tblPr>
              <a:tblGrid>
                <a:gridCol w="1841500">
                  <a:extLst>
                    <a:ext uri="{9D8B030D-6E8A-4147-A177-3AD203B41FA5}">
                      <a16:colId xmlns:a16="http://schemas.microsoft.com/office/drawing/2014/main" val="1743071625"/>
                    </a:ext>
                  </a:extLst>
                </a:gridCol>
                <a:gridCol w="1841500">
                  <a:extLst>
                    <a:ext uri="{9D8B030D-6E8A-4147-A177-3AD203B41FA5}">
                      <a16:colId xmlns:a16="http://schemas.microsoft.com/office/drawing/2014/main" val="2726011206"/>
                    </a:ext>
                  </a:extLst>
                </a:gridCol>
              </a:tblGrid>
              <a:tr h="428171">
                <a:tc>
                  <a:txBody>
                    <a:bodyPr/>
                    <a:lstStyle/>
                    <a:p>
                      <a:pPr algn="ctr"/>
                      <a:r>
                        <a:rPr lang="en-US" sz="2000" b="1">
                          <a:solidFill>
                            <a:srgbClr val="FFFFFF"/>
                          </a:solidFill>
                          <a:latin typeface="Montserrat"/>
                        </a:rPr>
                        <a:t>v</a:t>
                      </a:r>
                      <a:endParaRPr lang="ru-RU" sz="20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000" b="1">
                          <a:solidFill>
                            <a:srgbClr val="FFFFFF"/>
                          </a:solidFill>
                          <a:latin typeface="Montserrat"/>
                        </a:rPr>
                        <a:t>dist</a:t>
                      </a:r>
                      <a:endParaRPr lang="ru-RU" sz="20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1358640430"/>
                  </a:ext>
                </a:extLst>
              </a:tr>
              <a:tr h="428171">
                <a:tc>
                  <a:txBody>
                    <a:bodyPr/>
                    <a:lstStyle/>
                    <a:p>
                      <a:pPr algn="ctr"/>
                      <a:r>
                        <a:rPr lang="en-US" sz="2000" b="0">
                          <a:solidFill>
                            <a:srgbClr val="352379"/>
                          </a:solidFill>
                          <a:latin typeface="Montserrat"/>
                        </a:rPr>
                        <a:t>A</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968492826"/>
                  </a:ext>
                </a:extLst>
              </a:tr>
              <a:tr h="428171">
                <a:tc>
                  <a:txBody>
                    <a:bodyPr/>
                    <a:lstStyle/>
                    <a:p>
                      <a:pPr algn="ctr"/>
                      <a:r>
                        <a:rPr lang="en-US" sz="2000" b="0">
                          <a:solidFill>
                            <a:srgbClr val="352379"/>
                          </a:solidFill>
                          <a:latin typeface="Montserrat"/>
                        </a:rPr>
                        <a:t>B</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4098324059"/>
                  </a:ext>
                </a:extLst>
              </a:tr>
              <a:tr h="428171">
                <a:tc>
                  <a:txBody>
                    <a:bodyPr/>
                    <a:lstStyle/>
                    <a:p>
                      <a:pPr algn="ctr"/>
                      <a:r>
                        <a:rPr lang="en-US" sz="2000" b="0">
                          <a:solidFill>
                            <a:srgbClr val="352379"/>
                          </a:solidFill>
                          <a:latin typeface="Montserrat"/>
                        </a:rPr>
                        <a:t>C</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1834411671"/>
                  </a:ext>
                </a:extLst>
              </a:tr>
              <a:tr h="428171">
                <a:tc>
                  <a:txBody>
                    <a:bodyPr/>
                    <a:lstStyle/>
                    <a:p>
                      <a:pPr algn="ctr"/>
                      <a:r>
                        <a:rPr lang="en-US" sz="2000" b="0">
                          <a:solidFill>
                            <a:srgbClr val="352379"/>
                          </a:solidFill>
                          <a:latin typeface="Montserrat"/>
                        </a:rPr>
                        <a:t>D</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3261824885"/>
                  </a:ext>
                </a:extLst>
              </a:tr>
              <a:tr h="428171">
                <a:tc>
                  <a:txBody>
                    <a:bodyPr/>
                    <a:lstStyle/>
                    <a:p>
                      <a:pPr algn="ctr"/>
                      <a:r>
                        <a:rPr lang="en-US" sz="2000" b="0">
                          <a:solidFill>
                            <a:srgbClr val="352379"/>
                          </a:solidFill>
                          <a:latin typeface="Montserrat"/>
                        </a:rPr>
                        <a:t>E</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3441263279"/>
                  </a:ext>
                </a:extLst>
              </a:tr>
              <a:tr h="428171">
                <a:tc>
                  <a:txBody>
                    <a:bodyPr/>
                    <a:lstStyle/>
                    <a:p>
                      <a:pPr algn="ctr"/>
                      <a:r>
                        <a:rPr lang="en-US" sz="2000" b="0">
                          <a:solidFill>
                            <a:srgbClr val="352379"/>
                          </a:solidFill>
                          <a:latin typeface="Montserrat"/>
                        </a:rPr>
                        <a:t>F</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1550769239"/>
                  </a:ext>
                </a:extLst>
              </a:tr>
            </a:tbl>
          </a:graphicData>
        </a:graphic>
      </p:graphicFrame>
      <p:sp>
        <p:nvSpPr>
          <p:cNvPr id="37" name="!!calculation">
            <a:extLst>
              <a:ext uri="{FF2B5EF4-FFF2-40B4-BE49-F238E27FC236}">
                <a16:creationId xmlns:a16="http://schemas.microsoft.com/office/drawing/2014/main" id="{77DE2E5E-4407-46D5-9F8D-80074F18FCF1}"/>
              </a:ext>
            </a:extLst>
          </p:cNvPr>
          <p:cNvSpPr txBox="1"/>
          <p:nvPr/>
        </p:nvSpPr>
        <p:spPr bwMode="auto">
          <a:xfrm>
            <a:off x="609600" y="1625599"/>
            <a:ext cx="7112000" cy="673100"/>
          </a:xfrm>
          <a:prstGeom prst="rect">
            <a:avLst/>
          </a:prstGeom>
        </p:spPr>
        <p:txBody>
          <a:bodyPr vert="horz" wrap="square" lIns="0" tIns="0" rIns="0" bIns="0" rtlCol="0">
            <a:noAutofit/>
          </a:bodyPr>
          <a:lstStyle/>
          <a:p>
            <a:r>
              <a:rPr lang="ru-RU" sz="2000">
                <a:solidFill>
                  <a:srgbClr val="352379"/>
                </a:solidFill>
                <a:latin typeface="Montserrat"/>
              </a:rPr>
              <a:t>Источник A</a:t>
            </a:r>
          </a:p>
          <a:p>
            <a:r>
              <a:rPr lang="ru-RU" sz="2000">
                <a:solidFill>
                  <a:srgbClr val="352379"/>
                </a:solidFill>
                <a:latin typeface="Montserrat"/>
              </a:rPr>
              <a:t>Остальные оценки пока ∞</a:t>
            </a:r>
          </a:p>
        </p:txBody>
      </p:sp>
      <p:sp>
        <p:nvSpPr>
          <p:cNvPr id="38" name="heap-label">
            <a:extLst>
              <a:ext uri="{FF2B5EF4-FFF2-40B4-BE49-F238E27FC236}">
                <a16:creationId xmlns:a16="http://schemas.microsoft.com/office/drawing/2014/main" id="{4D5CE73D-E986-4D6A-8A63-3270EF6E77C9}"/>
              </a:ext>
            </a:extLst>
          </p:cNvPr>
          <p:cNvSpPr txBox="1"/>
          <p:nvPr/>
        </p:nvSpPr>
        <p:spPr bwMode="auto">
          <a:xfrm>
            <a:off x="8026400" y="4952999"/>
            <a:ext cx="3683000" cy="317500"/>
          </a:xfrm>
          <a:prstGeom prst="rect">
            <a:avLst/>
          </a:prstGeom>
        </p:spPr>
        <p:txBody>
          <a:bodyPr vert="horz" wrap="square" lIns="0" tIns="0" rIns="0" bIns="0" rtlCol="0">
            <a:noAutofit/>
          </a:bodyPr>
          <a:lstStyle/>
          <a:p>
            <a:r>
              <a:rPr lang="en-US" sz="1700" b="1">
                <a:solidFill>
                  <a:srgbClr val="352379"/>
                </a:solidFill>
                <a:latin typeface="Montserrat"/>
              </a:rPr>
              <a:t>Priority queue</a:t>
            </a:r>
            <a:endParaRPr lang="ru-RU" sz="1700" b="1">
              <a:solidFill>
                <a:srgbClr val="352379"/>
              </a:solidFill>
              <a:latin typeface="Montserrat"/>
            </a:endParaRPr>
          </a:p>
        </p:txBody>
      </p:sp>
      <p:sp>
        <p:nvSpPr>
          <p:cNvPr id="39" name="!!heap-state">
            <a:extLst>
              <a:ext uri="{FF2B5EF4-FFF2-40B4-BE49-F238E27FC236}">
                <a16:creationId xmlns:a16="http://schemas.microsoft.com/office/drawing/2014/main" id="{AD4174D2-8BDB-41CE-9F8E-2207501DAD9D}"/>
              </a:ext>
            </a:extLst>
          </p:cNvPr>
          <p:cNvSpPr txBox="1"/>
          <p:nvPr/>
        </p:nvSpPr>
        <p:spPr bwMode="auto">
          <a:xfrm>
            <a:off x="8026400" y="5321299"/>
            <a:ext cx="3683000" cy="533400"/>
          </a:xfrm>
          <a:prstGeom prst="rect">
            <a:avLst/>
          </a:prstGeom>
        </p:spPr>
        <p:txBody>
          <a:bodyPr vert="horz" wrap="square" lIns="0" tIns="0" rIns="0" bIns="0" rtlCol="0">
            <a:noAutofit/>
          </a:bodyPr>
          <a:lstStyle/>
          <a:p>
            <a:r>
              <a:rPr lang="en-US" sz="1600">
                <a:solidFill>
                  <a:srgbClr val="352379"/>
                </a:solidFill>
                <a:latin typeface="Montserrat"/>
              </a:rPr>
              <a:t>(0, A)</a:t>
            </a:r>
            <a:endParaRPr lang="ru-RU" sz="1600">
              <a:solidFill>
                <a:srgbClr val="352379"/>
              </a:solidFill>
              <a:latin typeface="Montserrat"/>
            </a:endParaRPr>
          </a:p>
        </p:txBody>
      </p:sp>
    </p:spTree>
    <p:extLst>
      <p:ext uri="{BB962C8B-B14F-4D97-AF65-F5344CB8AC3E}">
        <p14:creationId xmlns:p14="http://schemas.microsoft.com/office/powerpoint/2010/main" val="2711731608"/>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3012CE-3832-450F-93D1-56DE263D984A}"/>
              </a:ext>
            </a:extLst>
          </p:cNvPr>
          <p:cNvSpPr>
            <a:spLocks noGrp="1"/>
          </p:cNvSpPr>
          <p:nvPr>
            <p:ph type="title"/>
          </p:nvPr>
        </p:nvSpPr>
        <p:spPr>
          <a:xfrm>
            <a:off x="479425" y="597855"/>
            <a:ext cx="11229975" cy="1140459"/>
          </a:xfrm>
        </p:spPr>
        <p:txBody>
          <a:bodyPr/>
          <a:lstStyle/>
          <a:p>
            <a:r>
              <a:rPr lang="ru-RU"/>
              <a:t>Шаг 1: выбираем </a:t>
            </a:r>
            <a:r>
              <a:rPr lang="en-US"/>
              <a:t>A</a:t>
            </a:r>
            <a:endParaRPr lang="ru-RU"/>
          </a:p>
        </p:txBody>
      </p:sp>
      <p:sp>
        <p:nvSpPr>
          <p:cNvPr id="7" name="Текст 6">
            <a:extLst>
              <a:ext uri="{FF2B5EF4-FFF2-40B4-BE49-F238E27FC236}">
                <a16:creationId xmlns:a16="http://schemas.microsoft.com/office/drawing/2014/main" id="{BD921E17-1662-49A2-B4A2-13ECB2A88527}"/>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cxnSp>
        <p:nvCxnSpPr>
          <p:cNvPr id="12" name="!!g-edge-AB">
            <a:extLst>
              <a:ext uri="{FF2B5EF4-FFF2-40B4-BE49-F238E27FC236}">
                <a16:creationId xmlns:a16="http://schemas.microsoft.com/office/drawing/2014/main" id="{8D5A390E-C272-4C3C-A679-62C8DEB368BC}"/>
              </a:ext>
            </a:extLst>
          </p:cNvPr>
          <p:cNvCxnSpPr/>
          <p:nvPr/>
        </p:nvCxnSpPr>
        <p:spPr>
          <a:xfrm flipV="1">
            <a:off x="1425280" y="2925176"/>
            <a:ext cx="1276940" cy="880648"/>
          </a:xfrm>
          <a:prstGeom prst="straightConnector1">
            <a:avLst/>
          </a:prstGeom>
          <a:ln w="44450">
            <a:solidFill>
              <a:srgbClr val="762181"/>
            </a:solidFill>
          </a:ln>
        </p:spPr>
        <p:style>
          <a:lnRef idx="1">
            <a:schemeClr val="accent1"/>
          </a:lnRef>
          <a:fillRef idx="0">
            <a:schemeClr val="accent1"/>
          </a:fillRef>
          <a:effectRef idx="0">
            <a:schemeClr val="accent1"/>
          </a:effectRef>
          <a:fontRef idx="minor">
            <a:schemeClr val="tx1"/>
          </a:fontRef>
        </p:style>
      </p:cxnSp>
      <p:sp>
        <p:nvSpPr>
          <p:cNvPr id="13" name="!!g-weight-AB">
            <a:extLst>
              <a:ext uri="{FF2B5EF4-FFF2-40B4-BE49-F238E27FC236}">
                <a16:creationId xmlns:a16="http://schemas.microsoft.com/office/drawing/2014/main" id="{046E5BC9-0D99-4901-9F84-4340DFFFB7B8}"/>
              </a:ext>
            </a:extLst>
          </p:cNvPr>
          <p:cNvSpPr txBox="1"/>
          <p:nvPr/>
        </p:nvSpPr>
        <p:spPr bwMode="auto">
          <a:xfrm>
            <a:off x="2011636"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762181"/>
                </a:solidFill>
                <a:latin typeface="Montserrat"/>
              </a:rPr>
              <a:t>7</a:t>
            </a:r>
          </a:p>
        </p:txBody>
      </p:sp>
      <p:cxnSp>
        <p:nvCxnSpPr>
          <p:cNvPr id="14" name="!!g-edge-AC">
            <a:extLst>
              <a:ext uri="{FF2B5EF4-FFF2-40B4-BE49-F238E27FC236}">
                <a16:creationId xmlns:a16="http://schemas.microsoft.com/office/drawing/2014/main" id="{D3378560-7558-45FB-BEB8-D8501B9836E6}"/>
              </a:ext>
            </a:extLst>
          </p:cNvPr>
          <p:cNvCxnSpPr/>
          <p:nvPr/>
        </p:nvCxnSpPr>
        <p:spPr>
          <a:xfrm>
            <a:off x="1425280" y="4195176"/>
            <a:ext cx="1276940" cy="880648"/>
          </a:xfrm>
          <a:prstGeom prst="straightConnector1">
            <a:avLst/>
          </a:prstGeom>
          <a:ln w="44450">
            <a:solidFill>
              <a:srgbClr val="762181"/>
            </a:solidFill>
          </a:ln>
        </p:spPr>
        <p:style>
          <a:lnRef idx="1">
            <a:schemeClr val="accent1"/>
          </a:lnRef>
          <a:fillRef idx="0">
            <a:schemeClr val="accent1"/>
          </a:fillRef>
          <a:effectRef idx="0">
            <a:schemeClr val="accent1"/>
          </a:effectRef>
          <a:fontRef idx="minor">
            <a:schemeClr val="tx1"/>
          </a:fontRef>
        </p:style>
      </p:cxnSp>
      <p:sp>
        <p:nvSpPr>
          <p:cNvPr id="15" name="!!g-weight-AC">
            <a:extLst>
              <a:ext uri="{FF2B5EF4-FFF2-40B4-BE49-F238E27FC236}">
                <a16:creationId xmlns:a16="http://schemas.microsoft.com/office/drawing/2014/main" id="{4AE74058-1E62-42AB-A320-7EFD55E73ABF}"/>
              </a:ext>
            </a:extLst>
          </p:cNvPr>
          <p:cNvSpPr txBox="1"/>
          <p:nvPr/>
        </p:nvSpPr>
        <p:spPr bwMode="auto">
          <a:xfrm>
            <a:off x="1607864"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762181"/>
                </a:solidFill>
                <a:latin typeface="Montserrat"/>
              </a:rPr>
              <a:t>3</a:t>
            </a:r>
          </a:p>
        </p:txBody>
      </p:sp>
      <p:cxnSp>
        <p:nvCxnSpPr>
          <p:cNvPr id="16" name="!!g-edge-BC">
            <a:extLst>
              <a:ext uri="{FF2B5EF4-FFF2-40B4-BE49-F238E27FC236}">
                <a16:creationId xmlns:a16="http://schemas.microsoft.com/office/drawing/2014/main" id="{277BC1C4-7068-48A3-A9E7-C2454E03D5C6}"/>
              </a:ext>
            </a:extLst>
          </p:cNvPr>
          <p:cNvCxnSpPr/>
          <p:nvPr/>
        </p:nvCxnSpPr>
        <p:spPr>
          <a:xfrm>
            <a:off x="29845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7" name="!!g-weight-BC">
            <a:extLst>
              <a:ext uri="{FF2B5EF4-FFF2-40B4-BE49-F238E27FC236}">
                <a16:creationId xmlns:a16="http://schemas.microsoft.com/office/drawing/2014/main" id="{3F13314D-BCBD-4F51-84AD-D68974DCD3DE}"/>
              </a:ext>
            </a:extLst>
          </p:cNvPr>
          <p:cNvSpPr txBox="1"/>
          <p:nvPr/>
        </p:nvSpPr>
        <p:spPr bwMode="auto">
          <a:xfrm>
            <a:off x="23749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18" name="!!g-edge-BD">
            <a:extLst>
              <a:ext uri="{FF2B5EF4-FFF2-40B4-BE49-F238E27FC236}">
                <a16:creationId xmlns:a16="http://schemas.microsoft.com/office/drawing/2014/main" id="{4D5A1082-35D3-41E0-80E3-84F320E049D2}"/>
              </a:ext>
            </a:extLst>
          </p:cNvPr>
          <p:cNvCxnSpPr/>
          <p:nvPr/>
        </p:nvCxnSpPr>
        <p:spPr>
          <a:xfrm>
            <a:off x="3327400" y="273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9" name="!!g-weight-BD">
            <a:extLst>
              <a:ext uri="{FF2B5EF4-FFF2-40B4-BE49-F238E27FC236}">
                <a16:creationId xmlns:a16="http://schemas.microsoft.com/office/drawing/2014/main" id="{62637FCF-DF22-41B7-83BB-C4636B54AAB8}"/>
              </a:ext>
            </a:extLst>
          </p:cNvPr>
          <p:cNvSpPr txBox="1"/>
          <p:nvPr/>
        </p:nvSpPr>
        <p:spPr bwMode="auto">
          <a:xfrm>
            <a:off x="3778250" y="288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20" name="!!g-edge-CD">
            <a:extLst>
              <a:ext uri="{FF2B5EF4-FFF2-40B4-BE49-F238E27FC236}">
                <a16:creationId xmlns:a16="http://schemas.microsoft.com/office/drawing/2014/main" id="{D03C6558-F494-4240-B9CB-E4200A7F4CC4}"/>
              </a:ext>
            </a:extLst>
          </p:cNvPr>
          <p:cNvCxnSpPr/>
          <p:nvPr/>
        </p:nvCxnSpPr>
        <p:spPr>
          <a:xfrm flipV="1">
            <a:off x="3202716" y="2995004"/>
            <a:ext cx="1659068" cy="2010992"/>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1" name="!!g-weight-CD">
            <a:extLst>
              <a:ext uri="{FF2B5EF4-FFF2-40B4-BE49-F238E27FC236}">
                <a16:creationId xmlns:a16="http://schemas.microsoft.com/office/drawing/2014/main" id="{02D9CB96-60D3-4A4F-8D10-71158988A2E9}"/>
              </a:ext>
            </a:extLst>
          </p:cNvPr>
          <p:cNvSpPr txBox="1"/>
          <p:nvPr/>
        </p:nvSpPr>
        <p:spPr bwMode="auto">
          <a:xfrm>
            <a:off x="4052550" y="4023597"/>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5</a:t>
            </a:r>
          </a:p>
        </p:txBody>
      </p:sp>
      <p:cxnSp>
        <p:nvCxnSpPr>
          <p:cNvPr id="22" name="!!g-edge-CE">
            <a:extLst>
              <a:ext uri="{FF2B5EF4-FFF2-40B4-BE49-F238E27FC236}">
                <a16:creationId xmlns:a16="http://schemas.microsoft.com/office/drawing/2014/main" id="{D653D008-E06B-4280-A134-220A47F006DB}"/>
              </a:ext>
            </a:extLst>
          </p:cNvPr>
          <p:cNvCxnSpPr/>
          <p:nvPr/>
        </p:nvCxnSpPr>
        <p:spPr>
          <a:xfrm>
            <a:off x="3327400" y="527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3" name="!!g-weight-CE">
            <a:extLst>
              <a:ext uri="{FF2B5EF4-FFF2-40B4-BE49-F238E27FC236}">
                <a16:creationId xmlns:a16="http://schemas.microsoft.com/office/drawing/2014/main" id="{510EC5FF-9F93-4C67-AF6D-1AD2368A5F4A}"/>
              </a:ext>
            </a:extLst>
          </p:cNvPr>
          <p:cNvSpPr txBox="1"/>
          <p:nvPr/>
        </p:nvSpPr>
        <p:spPr bwMode="auto">
          <a:xfrm>
            <a:off x="3778250" y="542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8</a:t>
            </a:r>
          </a:p>
        </p:txBody>
      </p:sp>
      <p:cxnSp>
        <p:nvCxnSpPr>
          <p:cNvPr id="24" name="!!g-edge-DE">
            <a:extLst>
              <a:ext uri="{FF2B5EF4-FFF2-40B4-BE49-F238E27FC236}">
                <a16:creationId xmlns:a16="http://schemas.microsoft.com/office/drawing/2014/main" id="{A2D688BD-3F16-4720-ABF7-6A6E0A064A70}"/>
              </a:ext>
            </a:extLst>
          </p:cNvPr>
          <p:cNvCxnSpPr/>
          <p:nvPr/>
        </p:nvCxnSpPr>
        <p:spPr>
          <a:xfrm>
            <a:off x="50800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5" name="!!g-weight-DE">
            <a:extLst>
              <a:ext uri="{FF2B5EF4-FFF2-40B4-BE49-F238E27FC236}">
                <a16:creationId xmlns:a16="http://schemas.microsoft.com/office/drawing/2014/main" id="{1482F3A4-BF34-4559-B8A9-A52174AB957C}"/>
              </a:ext>
            </a:extLst>
          </p:cNvPr>
          <p:cNvSpPr txBox="1"/>
          <p:nvPr/>
        </p:nvSpPr>
        <p:spPr bwMode="auto">
          <a:xfrm>
            <a:off x="44704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cxnSp>
        <p:nvCxnSpPr>
          <p:cNvPr id="26" name="!!g-edge-DF">
            <a:extLst>
              <a:ext uri="{FF2B5EF4-FFF2-40B4-BE49-F238E27FC236}">
                <a16:creationId xmlns:a16="http://schemas.microsoft.com/office/drawing/2014/main" id="{C8EDD83B-5EFB-4603-A1FF-0994EC277592}"/>
              </a:ext>
            </a:extLst>
          </p:cNvPr>
          <p:cNvCxnSpPr/>
          <p:nvPr/>
        </p:nvCxnSpPr>
        <p:spPr>
          <a:xfrm>
            <a:off x="5362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7" name="!!g-weight-DF">
            <a:extLst>
              <a:ext uri="{FF2B5EF4-FFF2-40B4-BE49-F238E27FC236}">
                <a16:creationId xmlns:a16="http://schemas.microsoft.com/office/drawing/2014/main" id="{7A8B42C4-4932-4FBA-84CE-24807D9A9B49}"/>
              </a:ext>
            </a:extLst>
          </p:cNvPr>
          <p:cNvSpPr txBox="1"/>
          <p:nvPr/>
        </p:nvSpPr>
        <p:spPr bwMode="auto">
          <a:xfrm>
            <a:off x="5544864"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28" name="!!g-edge-EF">
            <a:extLst>
              <a:ext uri="{FF2B5EF4-FFF2-40B4-BE49-F238E27FC236}">
                <a16:creationId xmlns:a16="http://schemas.microsoft.com/office/drawing/2014/main" id="{B4BF07A6-2624-45FC-B720-2F633BEF14A4}"/>
              </a:ext>
            </a:extLst>
          </p:cNvPr>
          <p:cNvCxnSpPr/>
          <p:nvPr/>
        </p:nvCxnSpPr>
        <p:spPr>
          <a:xfrm flipV="1">
            <a:off x="5362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9" name="!!g-weight-EF">
            <a:extLst>
              <a:ext uri="{FF2B5EF4-FFF2-40B4-BE49-F238E27FC236}">
                <a16:creationId xmlns:a16="http://schemas.microsoft.com/office/drawing/2014/main" id="{59D9152D-0C85-47FB-A1B0-AA59FB72CD7A}"/>
              </a:ext>
            </a:extLst>
          </p:cNvPr>
          <p:cNvSpPr txBox="1"/>
          <p:nvPr/>
        </p:nvSpPr>
        <p:spPr bwMode="auto">
          <a:xfrm>
            <a:off x="5948636"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sp>
        <p:nvSpPr>
          <p:cNvPr id="30" name="!!g-node-A">
            <a:extLst>
              <a:ext uri="{FF2B5EF4-FFF2-40B4-BE49-F238E27FC236}">
                <a16:creationId xmlns:a16="http://schemas.microsoft.com/office/drawing/2014/main" id="{716A20D3-7DB7-408C-B577-1B17B250418B}"/>
              </a:ext>
            </a:extLst>
          </p:cNvPr>
          <p:cNvSpPr/>
          <p:nvPr/>
        </p:nvSpPr>
        <p:spPr>
          <a:xfrm>
            <a:off x="825500" y="3683000"/>
            <a:ext cx="635000" cy="635000"/>
          </a:xfrm>
          <a:prstGeom prst="ellipse">
            <a:avLst/>
          </a:prstGeom>
          <a:solidFill>
            <a:srgbClr val="FFFFFF"/>
          </a:solidFill>
          <a:ln w="44450">
            <a:solidFill>
              <a:srgbClr val="76218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31" name="!!g-node-B">
            <a:extLst>
              <a:ext uri="{FF2B5EF4-FFF2-40B4-BE49-F238E27FC236}">
                <a16:creationId xmlns:a16="http://schemas.microsoft.com/office/drawing/2014/main" id="{03BFAA3D-BC53-44B0-ACE6-EA267312046C}"/>
              </a:ext>
            </a:extLst>
          </p:cNvPr>
          <p:cNvSpPr/>
          <p:nvPr/>
        </p:nvSpPr>
        <p:spPr>
          <a:xfrm>
            <a:off x="26670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32" name="!!g-node-C">
            <a:extLst>
              <a:ext uri="{FF2B5EF4-FFF2-40B4-BE49-F238E27FC236}">
                <a16:creationId xmlns:a16="http://schemas.microsoft.com/office/drawing/2014/main" id="{90A70CD7-86DE-4983-8E0F-6095305896C5}"/>
              </a:ext>
            </a:extLst>
          </p:cNvPr>
          <p:cNvSpPr/>
          <p:nvPr/>
        </p:nvSpPr>
        <p:spPr>
          <a:xfrm>
            <a:off x="26670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33" name="!!g-node-D">
            <a:extLst>
              <a:ext uri="{FF2B5EF4-FFF2-40B4-BE49-F238E27FC236}">
                <a16:creationId xmlns:a16="http://schemas.microsoft.com/office/drawing/2014/main" id="{F217326E-50D5-4952-9938-7735BEFAEC1F}"/>
              </a:ext>
            </a:extLst>
          </p:cNvPr>
          <p:cNvSpPr/>
          <p:nvPr/>
        </p:nvSpPr>
        <p:spPr>
          <a:xfrm>
            <a:off x="47625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34" name="!!g-node-E">
            <a:extLst>
              <a:ext uri="{FF2B5EF4-FFF2-40B4-BE49-F238E27FC236}">
                <a16:creationId xmlns:a16="http://schemas.microsoft.com/office/drawing/2014/main" id="{2CC78CCF-BD6D-4EE3-94F9-FEC5B96038FA}"/>
              </a:ext>
            </a:extLst>
          </p:cNvPr>
          <p:cNvSpPr/>
          <p:nvPr/>
        </p:nvSpPr>
        <p:spPr>
          <a:xfrm>
            <a:off x="47625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35" name="!!g-node-F">
            <a:extLst>
              <a:ext uri="{FF2B5EF4-FFF2-40B4-BE49-F238E27FC236}">
                <a16:creationId xmlns:a16="http://schemas.microsoft.com/office/drawing/2014/main" id="{148C0FC3-B9A7-4870-A592-A9422F936813}"/>
              </a:ext>
            </a:extLst>
          </p:cNvPr>
          <p:cNvSpPr/>
          <p:nvPr/>
        </p:nvSpPr>
        <p:spPr>
          <a:xfrm>
            <a:off x="6604000" y="368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F</a:t>
            </a:r>
            <a:endParaRPr lang="ru-RU" sz="2200">
              <a:solidFill>
                <a:srgbClr val="352379"/>
              </a:solidFill>
              <a:latin typeface="Montserrat"/>
            </a:endParaRPr>
          </a:p>
        </p:txBody>
      </p:sp>
      <p:graphicFrame>
        <p:nvGraphicFramePr>
          <p:cNvPr id="36" name="!!distance-table">
            <a:extLst>
              <a:ext uri="{FF2B5EF4-FFF2-40B4-BE49-F238E27FC236}">
                <a16:creationId xmlns:a16="http://schemas.microsoft.com/office/drawing/2014/main" id="{D044878D-69F6-4873-96BA-22619EA7AE38}"/>
              </a:ext>
            </a:extLst>
          </p:cNvPr>
          <p:cNvGraphicFramePr>
            <a:graphicFrameLocks noGrp="1"/>
          </p:cNvGraphicFramePr>
          <p:nvPr>
            <p:extLst>
              <p:ext uri="{D42A27DB-BD31-4B8C-83A1-F6EECF244321}">
                <p14:modId xmlns:p14="http://schemas.microsoft.com/office/powerpoint/2010/main" val="2655580998"/>
              </p:ext>
            </p:extLst>
          </p:nvPr>
        </p:nvGraphicFramePr>
        <p:xfrm>
          <a:off x="8026400" y="1816100"/>
          <a:ext cx="3683000" cy="2997197"/>
        </p:xfrm>
        <a:graphic>
          <a:graphicData uri="http://schemas.openxmlformats.org/drawingml/2006/table">
            <a:tbl>
              <a:tblPr firstRow="1" bandRow="1">
                <a:tableStyleId>{0E3FDE45-AF77-4B5C-9715-49D594BDF05E}</a:tableStyleId>
              </a:tblPr>
              <a:tblGrid>
                <a:gridCol w="1841500">
                  <a:extLst>
                    <a:ext uri="{9D8B030D-6E8A-4147-A177-3AD203B41FA5}">
                      <a16:colId xmlns:a16="http://schemas.microsoft.com/office/drawing/2014/main" val="1743071625"/>
                    </a:ext>
                  </a:extLst>
                </a:gridCol>
                <a:gridCol w="1841500">
                  <a:extLst>
                    <a:ext uri="{9D8B030D-6E8A-4147-A177-3AD203B41FA5}">
                      <a16:colId xmlns:a16="http://schemas.microsoft.com/office/drawing/2014/main" val="2726011206"/>
                    </a:ext>
                  </a:extLst>
                </a:gridCol>
              </a:tblGrid>
              <a:tr h="428171">
                <a:tc>
                  <a:txBody>
                    <a:bodyPr/>
                    <a:lstStyle/>
                    <a:p>
                      <a:pPr algn="ctr"/>
                      <a:r>
                        <a:rPr lang="en-US" sz="2000" b="1">
                          <a:solidFill>
                            <a:srgbClr val="FFFFFF"/>
                          </a:solidFill>
                          <a:latin typeface="Montserrat"/>
                        </a:rPr>
                        <a:t>v</a:t>
                      </a:r>
                      <a:endParaRPr lang="ru-RU" sz="20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000" b="1">
                          <a:solidFill>
                            <a:srgbClr val="FFFFFF"/>
                          </a:solidFill>
                          <a:latin typeface="Montserrat"/>
                        </a:rPr>
                        <a:t>dist</a:t>
                      </a:r>
                      <a:endParaRPr lang="ru-RU" sz="20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1358640430"/>
                  </a:ext>
                </a:extLst>
              </a:tr>
              <a:tr h="428171">
                <a:tc>
                  <a:txBody>
                    <a:bodyPr/>
                    <a:lstStyle/>
                    <a:p>
                      <a:pPr algn="ctr"/>
                      <a:r>
                        <a:rPr lang="en-US" sz="2000" b="0">
                          <a:solidFill>
                            <a:srgbClr val="352379"/>
                          </a:solidFill>
                          <a:latin typeface="Montserrat"/>
                        </a:rPr>
                        <a:t>A</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968492826"/>
                  </a:ext>
                </a:extLst>
              </a:tr>
              <a:tr h="428171">
                <a:tc>
                  <a:txBody>
                    <a:bodyPr/>
                    <a:lstStyle/>
                    <a:p>
                      <a:pPr algn="ctr"/>
                      <a:r>
                        <a:rPr lang="en-US" sz="2000" b="0">
                          <a:solidFill>
                            <a:srgbClr val="352379"/>
                          </a:solidFill>
                          <a:latin typeface="Montserrat"/>
                        </a:rPr>
                        <a:t>B</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4098324059"/>
                  </a:ext>
                </a:extLst>
              </a:tr>
              <a:tr h="428171">
                <a:tc>
                  <a:txBody>
                    <a:bodyPr/>
                    <a:lstStyle/>
                    <a:p>
                      <a:pPr algn="ctr"/>
                      <a:r>
                        <a:rPr lang="en-US" sz="2000" b="0">
                          <a:solidFill>
                            <a:srgbClr val="352379"/>
                          </a:solidFill>
                          <a:latin typeface="Montserrat"/>
                        </a:rPr>
                        <a:t>C</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1834411671"/>
                  </a:ext>
                </a:extLst>
              </a:tr>
              <a:tr h="428171">
                <a:tc>
                  <a:txBody>
                    <a:bodyPr/>
                    <a:lstStyle/>
                    <a:p>
                      <a:pPr algn="ctr"/>
                      <a:r>
                        <a:rPr lang="en-US" sz="2000" b="0">
                          <a:solidFill>
                            <a:srgbClr val="352379"/>
                          </a:solidFill>
                          <a:latin typeface="Montserrat"/>
                        </a:rPr>
                        <a:t>D</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3261824885"/>
                  </a:ext>
                </a:extLst>
              </a:tr>
              <a:tr h="428171">
                <a:tc>
                  <a:txBody>
                    <a:bodyPr/>
                    <a:lstStyle/>
                    <a:p>
                      <a:pPr algn="ctr"/>
                      <a:r>
                        <a:rPr lang="en-US" sz="2000" b="0">
                          <a:solidFill>
                            <a:srgbClr val="352379"/>
                          </a:solidFill>
                          <a:latin typeface="Montserrat"/>
                        </a:rPr>
                        <a:t>E</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3441263279"/>
                  </a:ext>
                </a:extLst>
              </a:tr>
              <a:tr h="428171">
                <a:tc>
                  <a:txBody>
                    <a:bodyPr/>
                    <a:lstStyle/>
                    <a:p>
                      <a:pPr algn="ctr"/>
                      <a:r>
                        <a:rPr lang="en-US" sz="2000" b="0">
                          <a:solidFill>
                            <a:srgbClr val="352379"/>
                          </a:solidFill>
                          <a:latin typeface="Montserrat"/>
                        </a:rPr>
                        <a:t>F</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1550769239"/>
                  </a:ext>
                </a:extLst>
              </a:tr>
            </a:tbl>
          </a:graphicData>
        </a:graphic>
      </p:graphicFrame>
      <p:sp>
        <p:nvSpPr>
          <p:cNvPr id="37" name="!!calculation">
            <a:extLst>
              <a:ext uri="{FF2B5EF4-FFF2-40B4-BE49-F238E27FC236}">
                <a16:creationId xmlns:a16="http://schemas.microsoft.com/office/drawing/2014/main" id="{77DE2E5E-4407-46D5-9F8D-80074F18FCF1}"/>
              </a:ext>
            </a:extLst>
          </p:cNvPr>
          <p:cNvSpPr txBox="1"/>
          <p:nvPr/>
        </p:nvSpPr>
        <p:spPr bwMode="auto">
          <a:xfrm>
            <a:off x="609600" y="1625599"/>
            <a:ext cx="7112000" cy="673100"/>
          </a:xfrm>
          <a:prstGeom prst="rect">
            <a:avLst/>
          </a:prstGeom>
        </p:spPr>
        <p:txBody>
          <a:bodyPr vert="horz" wrap="square" lIns="0" tIns="0" rIns="0" bIns="0" rtlCol="0">
            <a:noAutofit/>
          </a:bodyPr>
          <a:lstStyle/>
          <a:p>
            <a:r>
              <a:rPr lang="ru-RU" sz="2000">
                <a:solidFill>
                  <a:srgbClr val="352379"/>
                </a:solidFill>
                <a:latin typeface="Montserrat"/>
              </a:rPr>
              <a:t>Минимум: dist[A] = 0</a:t>
            </a:r>
          </a:p>
          <a:p>
            <a:r>
              <a:rPr lang="ru-RU" sz="2000">
                <a:solidFill>
                  <a:srgbClr val="352379"/>
                </a:solidFill>
                <a:latin typeface="Montserrat"/>
              </a:rPr>
              <a:t>Рассмотрим B и C</a:t>
            </a:r>
          </a:p>
        </p:txBody>
      </p:sp>
      <p:sp>
        <p:nvSpPr>
          <p:cNvPr id="38" name="heap-label">
            <a:extLst>
              <a:ext uri="{FF2B5EF4-FFF2-40B4-BE49-F238E27FC236}">
                <a16:creationId xmlns:a16="http://schemas.microsoft.com/office/drawing/2014/main" id="{4D5CE73D-E986-4D6A-8A63-3270EF6E77C9}"/>
              </a:ext>
            </a:extLst>
          </p:cNvPr>
          <p:cNvSpPr txBox="1"/>
          <p:nvPr/>
        </p:nvSpPr>
        <p:spPr bwMode="auto">
          <a:xfrm>
            <a:off x="8026400" y="4952999"/>
            <a:ext cx="3683000" cy="317500"/>
          </a:xfrm>
          <a:prstGeom prst="rect">
            <a:avLst/>
          </a:prstGeom>
        </p:spPr>
        <p:txBody>
          <a:bodyPr vert="horz" wrap="square" lIns="0" tIns="0" rIns="0" bIns="0" rtlCol="0">
            <a:noAutofit/>
          </a:bodyPr>
          <a:lstStyle/>
          <a:p>
            <a:r>
              <a:rPr lang="en-US" sz="1700" b="1">
                <a:solidFill>
                  <a:srgbClr val="352379"/>
                </a:solidFill>
                <a:latin typeface="Montserrat"/>
              </a:rPr>
              <a:t>Priority queue</a:t>
            </a:r>
            <a:endParaRPr lang="ru-RU" sz="1700" b="1">
              <a:solidFill>
                <a:srgbClr val="352379"/>
              </a:solidFill>
              <a:latin typeface="Montserrat"/>
            </a:endParaRPr>
          </a:p>
        </p:txBody>
      </p:sp>
      <p:sp>
        <p:nvSpPr>
          <p:cNvPr id="39" name="!!heap-state">
            <a:extLst>
              <a:ext uri="{FF2B5EF4-FFF2-40B4-BE49-F238E27FC236}">
                <a16:creationId xmlns:a16="http://schemas.microsoft.com/office/drawing/2014/main" id="{AD4174D2-8BDB-41CE-9F8E-2207501DAD9D}"/>
              </a:ext>
            </a:extLst>
          </p:cNvPr>
          <p:cNvSpPr txBox="1"/>
          <p:nvPr/>
        </p:nvSpPr>
        <p:spPr bwMode="auto">
          <a:xfrm>
            <a:off x="8026400" y="5321299"/>
            <a:ext cx="3683000" cy="533400"/>
          </a:xfrm>
          <a:prstGeom prst="rect">
            <a:avLst/>
          </a:prstGeom>
        </p:spPr>
        <p:txBody>
          <a:bodyPr vert="horz" wrap="square" lIns="0" tIns="0" rIns="0" bIns="0" rtlCol="0">
            <a:noAutofit/>
          </a:bodyPr>
          <a:lstStyle/>
          <a:p>
            <a:r>
              <a:rPr lang="ru-RU" sz="1600">
                <a:solidFill>
                  <a:srgbClr val="352379"/>
                </a:solidFill>
                <a:latin typeface="Montserrat"/>
              </a:rPr>
              <a:t>извлекаем (0, </a:t>
            </a:r>
            <a:r>
              <a:rPr lang="en-US" sz="1600">
                <a:solidFill>
                  <a:srgbClr val="352379"/>
                </a:solidFill>
                <a:latin typeface="Montserrat"/>
              </a:rPr>
              <a:t>A)</a:t>
            </a:r>
            <a:endParaRPr lang="ru-RU" sz="1600">
              <a:solidFill>
                <a:srgbClr val="352379"/>
              </a:solidFill>
              <a:latin typeface="Montserrat"/>
            </a:endParaRPr>
          </a:p>
        </p:txBody>
      </p:sp>
      <p:sp>
        <p:nvSpPr>
          <p:cNvPr id="3" name="lecture-footer">
            <a:extLst>
              <a:ext uri="{FF2B5EF4-FFF2-40B4-BE49-F238E27FC236}">
                <a16:creationId xmlns:a16="http://schemas.microsoft.com/office/drawing/2014/main" id="{BD586A54-420E-47AD-8C7E-3FB60A8108EC}"/>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4" name="slide-number">
            <a:extLst>
              <a:ext uri="{FF2B5EF4-FFF2-40B4-BE49-F238E27FC236}">
                <a16:creationId xmlns:a16="http://schemas.microsoft.com/office/drawing/2014/main" id="{E838BE92-54D7-4136-8500-B9E6375D4EF1}"/>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18</a:t>
            </a:r>
          </a:p>
        </p:txBody>
      </p:sp>
      <p:sp>
        <p:nvSpPr>
          <p:cNvPr id="5" name="bottom-band">
            <a:extLst>
              <a:ext uri="{FF2B5EF4-FFF2-40B4-BE49-F238E27FC236}">
                <a16:creationId xmlns:a16="http://schemas.microsoft.com/office/drawing/2014/main" id="{3C1B408D-54CD-4141-B6A9-1338B2EFF36C}"/>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bottom-message">
            <a:extLst>
              <a:ext uri="{FF2B5EF4-FFF2-40B4-BE49-F238E27FC236}">
                <a16:creationId xmlns:a16="http://schemas.microsoft.com/office/drawing/2014/main" id="{2293D48A-0289-4ABD-A263-C192A616C107}"/>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Белая: ожидает   •   контур: текущая   •   фиолетовая: обработана</a:t>
            </a:r>
          </a:p>
        </p:txBody>
      </p:sp>
    </p:spTree>
    <p:extLst>
      <p:ext uri="{BB962C8B-B14F-4D97-AF65-F5344CB8AC3E}">
        <p14:creationId xmlns:p14="http://schemas.microsoft.com/office/powerpoint/2010/main" val="2107023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55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25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9"/>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3012CE-3832-450F-93D1-56DE263D984A}"/>
              </a:ext>
            </a:extLst>
          </p:cNvPr>
          <p:cNvSpPr>
            <a:spLocks noGrp="1"/>
          </p:cNvSpPr>
          <p:nvPr>
            <p:ph type="title"/>
          </p:nvPr>
        </p:nvSpPr>
        <p:spPr>
          <a:xfrm>
            <a:off x="479425" y="597855"/>
            <a:ext cx="11229975" cy="1140459"/>
          </a:xfrm>
        </p:spPr>
        <p:txBody>
          <a:bodyPr/>
          <a:lstStyle/>
          <a:p>
            <a:r>
              <a:rPr lang="ru-RU"/>
              <a:t>Из A: релаксируем A — B</a:t>
            </a:r>
          </a:p>
        </p:txBody>
      </p:sp>
      <p:sp>
        <p:nvSpPr>
          <p:cNvPr id="7" name="Текст 6">
            <a:extLst>
              <a:ext uri="{FF2B5EF4-FFF2-40B4-BE49-F238E27FC236}">
                <a16:creationId xmlns:a16="http://schemas.microsoft.com/office/drawing/2014/main" id="{BD921E17-1662-49A2-B4A2-13ECB2A88527}"/>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cxnSp>
        <p:nvCxnSpPr>
          <p:cNvPr id="12" name="!!g-edge-AB">
            <a:extLst>
              <a:ext uri="{FF2B5EF4-FFF2-40B4-BE49-F238E27FC236}">
                <a16:creationId xmlns:a16="http://schemas.microsoft.com/office/drawing/2014/main" id="{8D5A390E-C272-4C3C-A679-62C8DEB368BC}"/>
              </a:ext>
            </a:extLst>
          </p:cNvPr>
          <p:cNvCxnSpPr/>
          <p:nvPr/>
        </p:nvCxnSpPr>
        <p:spPr>
          <a:xfrm flipV="1">
            <a:off x="1425280" y="2925176"/>
            <a:ext cx="1276940" cy="880648"/>
          </a:xfrm>
          <a:prstGeom prst="straightConnector1">
            <a:avLst/>
          </a:prstGeom>
          <a:ln w="44450">
            <a:solidFill>
              <a:srgbClr val="762181"/>
            </a:solidFill>
          </a:ln>
        </p:spPr>
        <p:style>
          <a:lnRef idx="1">
            <a:schemeClr val="accent1"/>
          </a:lnRef>
          <a:fillRef idx="0">
            <a:schemeClr val="accent1"/>
          </a:fillRef>
          <a:effectRef idx="0">
            <a:schemeClr val="accent1"/>
          </a:effectRef>
          <a:fontRef idx="minor">
            <a:schemeClr val="tx1"/>
          </a:fontRef>
        </p:style>
      </p:cxnSp>
      <p:sp>
        <p:nvSpPr>
          <p:cNvPr id="13" name="!!g-weight-AB">
            <a:extLst>
              <a:ext uri="{FF2B5EF4-FFF2-40B4-BE49-F238E27FC236}">
                <a16:creationId xmlns:a16="http://schemas.microsoft.com/office/drawing/2014/main" id="{046E5BC9-0D99-4901-9F84-4340DFFFB7B8}"/>
              </a:ext>
            </a:extLst>
          </p:cNvPr>
          <p:cNvSpPr txBox="1"/>
          <p:nvPr/>
        </p:nvSpPr>
        <p:spPr bwMode="auto">
          <a:xfrm>
            <a:off x="2011636"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762181"/>
                </a:solidFill>
                <a:latin typeface="Montserrat"/>
              </a:rPr>
              <a:t>7</a:t>
            </a:r>
          </a:p>
        </p:txBody>
      </p:sp>
      <p:cxnSp>
        <p:nvCxnSpPr>
          <p:cNvPr id="14" name="!!g-edge-AC">
            <a:extLst>
              <a:ext uri="{FF2B5EF4-FFF2-40B4-BE49-F238E27FC236}">
                <a16:creationId xmlns:a16="http://schemas.microsoft.com/office/drawing/2014/main" id="{D3378560-7558-45FB-BEB8-D8501B9836E6}"/>
              </a:ext>
            </a:extLst>
          </p:cNvPr>
          <p:cNvCxnSpPr/>
          <p:nvPr/>
        </p:nvCxnSpPr>
        <p:spPr>
          <a:xfrm>
            <a:off x="1425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5" name="!!g-weight-AC">
            <a:extLst>
              <a:ext uri="{FF2B5EF4-FFF2-40B4-BE49-F238E27FC236}">
                <a16:creationId xmlns:a16="http://schemas.microsoft.com/office/drawing/2014/main" id="{4AE74058-1E62-42AB-A320-7EFD55E73ABF}"/>
              </a:ext>
            </a:extLst>
          </p:cNvPr>
          <p:cNvSpPr txBox="1"/>
          <p:nvPr/>
        </p:nvSpPr>
        <p:spPr bwMode="auto">
          <a:xfrm>
            <a:off x="1607864"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6" name="!!g-edge-BC">
            <a:extLst>
              <a:ext uri="{FF2B5EF4-FFF2-40B4-BE49-F238E27FC236}">
                <a16:creationId xmlns:a16="http://schemas.microsoft.com/office/drawing/2014/main" id="{277BC1C4-7068-48A3-A9E7-C2454E03D5C6}"/>
              </a:ext>
            </a:extLst>
          </p:cNvPr>
          <p:cNvCxnSpPr/>
          <p:nvPr/>
        </p:nvCxnSpPr>
        <p:spPr>
          <a:xfrm>
            <a:off x="29845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7" name="!!g-weight-BC">
            <a:extLst>
              <a:ext uri="{FF2B5EF4-FFF2-40B4-BE49-F238E27FC236}">
                <a16:creationId xmlns:a16="http://schemas.microsoft.com/office/drawing/2014/main" id="{3F13314D-BCBD-4F51-84AD-D68974DCD3DE}"/>
              </a:ext>
            </a:extLst>
          </p:cNvPr>
          <p:cNvSpPr txBox="1"/>
          <p:nvPr/>
        </p:nvSpPr>
        <p:spPr bwMode="auto">
          <a:xfrm>
            <a:off x="23749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18" name="!!g-edge-BD">
            <a:extLst>
              <a:ext uri="{FF2B5EF4-FFF2-40B4-BE49-F238E27FC236}">
                <a16:creationId xmlns:a16="http://schemas.microsoft.com/office/drawing/2014/main" id="{4D5A1082-35D3-41E0-80E3-84F320E049D2}"/>
              </a:ext>
            </a:extLst>
          </p:cNvPr>
          <p:cNvCxnSpPr/>
          <p:nvPr/>
        </p:nvCxnSpPr>
        <p:spPr>
          <a:xfrm>
            <a:off x="3327400" y="273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9" name="!!g-weight-BD">
            <a:extLst>
              <a:ext uri="{FF2B5EF4-FFF2-40B4-BE49-F238E27FC236}">
                <a16:creationId xmlns:a16="http://schemas.microsoft.com/office/drawing/2014/main" id="{62637FCF-DF22-41B7-83BB-C4636B54AAB8}"/>
              </a:ext>
            </a:extLst>
          </p:cNvPr>
          <p:cNvSpPr txBox="1"/>
          <p:nvPr/>
        </p:nvSpPr>
        <p:spPr bwMode="auto">
          <a:xfrm>
            <a:off x="3778250" y="288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20" name="!!g-edge-CD">
            <a:extLst>
              <a:ext uri="{FF2B5EF4-FFF2-40B4-BE49-F238E27FC236}">
                <a16:creationId xmlns:a16="http://schemas.microsoft.com/office/drawing/2014/main" id="{D03C6558-F494-4240-B9CB-E4200A7F4CC4}"/>
              </a:ext>
            </a:extLst>
          </p:cNvPr>
          <p:cNvCxnSpPr/>
          <p:nvPr/>
        </p:nvCxnSpPr>
        <p:spPr>
          <a:xfrm flipV="1">
            <a:off x="3202716" y="2995004"/>
            <a:ext cx="1659068" cy="2010992"/>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1" name="!!g-weight-CD">
            <a:extLst>
              <a:ext uri="{FF2B5EF4-FFF2-40B4-BE49-F238E27FC236}">
                <a16:creationId xmlns:a16="http://schemas.microsoft.com/office/drawing/2014/main" id="{02D9CB96-60D3-4A4F-8D10-71158988A2E9}"/>
              </a:ext>
            </a:extLst>
          </p:cNvPr>
          <p:cNvSpPr txBox="1"/>
          <p:nvPr/>
        </p:nvSpPr>
        <p:spPr bwMode="auto">
          <a:xfrm>
            <a:off x="4052550" y="4023597"/>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5</a:t>
            </a:r>
          </a:p>
        </p:txBody>
      </p:sp>
      <p:cxnSp>
        <p:nvCxnSpPr>
          <p:cNvPr id="22" name="!!g-edge-CE">
            <a:extLst>
              <a:ext uri="{FF2B5EF4-FFF2-40B4-BE49-F238E27FC236}">
                <a16:creationId xmlns:a16="http://schemas.microsoft.com/office/drawing/2014/main" id="{D653D008-E06B-4280-A134-220A47F006DB}"/>
              </a:ext>
            </a:extLst>
          </p:cNvPr>
          <p:cNvCxnSpPr/>
          <p:nvPr/>
        </p:nvCxnSpPr>
        <p:spPr>
          <a:xfrm>
            <a:off x="3327400" y="527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3" name="!!g-weight-CE">
            <a:extLst>
              <a:ext uri="{FF2B5EF4-FFF2-40B4-BE49-F238E27FC236}">
                <a16:creationId xmlns:a16="http://schemas.microsoft.com/office/drawing/2014/main" id="{510EC5FF-9F93-4C67-AF6D-1AD2368A5F4A}"/>
              </a:ext>
            </a:extLst>
          </p:cNvPr>
          <p:cNvSpPr txBox="1"/>
          <p:nvPr/>
        </p:nvSpPr>
        <p:spPr bwMode="auto">
          <a:xfrm>
            <a:off x="3778250" y="542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8</a:t>
            </a:r>
          </a:p>
        </p:txBody>
      </p:sp>
      <p:cxnSp>
        <p:nvCxnSpPr>
          <p:cNvPr id="24" name="!!g-edge-DE">
            <a:extLst>
              <a:ext uri="{FF2B5EF4-FFF2-40B4-BE49-F238E27FC236}">
                <a16:creationId xmlns:a16="http://schemas.microsoft.com/office/drawing/2014/main" id="{A2D688BD-3F16-4720-ABF7-6A6E0A064A70}"/>
              </a:ext>
            </a:extLst>
          </p:cNvPr>
          <p:cNvCxnSpPr/>
          <p:nvPr/>
        </p:nvCxnSpPr>
        <p:spPr>
          <a:xfrm>
            <a:off x="50800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5" name="!!g-weight-DE">
            <a:extLst>
              <a:ext uri="{FF2B5EF4-FFF2-40B4-BE49-F238E27FC236}">
                <a16:creationId xmlns:a16="http://schemas.microsoft.com/office/drawing/2014/main" id="{1482F3A4-BF34-4559-B8A9-A52174AB957C}"/>
              </a:ext>
            </a:extLst>
          </p:cNvPr>
          <p:cNvSpPr txBox="1"/>
          <p:nvPr/>
        </p:nvSpPr>
        <p:spPr bwMode="auto">
          <a:xfrm>
            <a:off x="44704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cxnSp>
        <p:nvCxnSpPr>
          <p:cNvPr id="26" name="!!g-edge-DF">
            <a:extLst>
              <a:ext uri="{FF2B5EF4-FFF2-40B4-BE49-F238E27FC236}">
                <a16:creationId xmlns:a16="http://schemas.microsoft.com/office/drawing/2014/main" id="{C8EDD83B-5EFB-4603-A1FF-0994EC277592}"/>
              </a:ext>
            </a:extLst>
          </p:cNvPr>
          <p:cNvCxnSpPr/>
          <p:nvPr/>
        </p:nvCxnSpPr>
        <p:spPr>
          <a:xfrm>
            <a:off x="5362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7" name="!!g-weight-DF">
            <a:extLst>
              <a:ext uri="{FF2B5EF4-FFF2-40B4-BE49-F238E27FC236}">
                <a16:creationId xmlns:a16="http://schemas.microsoft.com/office/drawing/2014/main" id="{7A8B42C4-4932-4FBA-84CE-24807D9A9B49}"/>
              </a:ext>
            </a:extLst>
          </p:cNvPr>
          <p:cNvSpPr txBox="1"/>
          <p:nvPr/>
        </p:nvSpPr>
        <p:spPr bwMode="auto">
          <a:xfrm>
            <a:off x="5544864"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28" name="!!g-edge-EF">
            <a:extLst>
              <a:ext uri="{FF2B5EF4-FFF2-40B4-BE49-F238E27FC236}">
                <a16:creationId xmlns:a16="http://schemas.microsoft.com/office/drawing/2014/main" id="{B4BF07A6-2624-45FC-B720-2F633BEF14A4}"/>
              </a:ext>
            </a:extLst>
          </p:cNvPr>
          <p:cNvCxnSpPr/>
          <p:nvPr/>
        </p:nvCxnSpPr>
        <p:spPr>
          <a:xfrm flipV="1">
            <a:off x="5362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9" name="!!g-weight-EF">
            <a:extLst>
              <a:ext uri="{FF2B5EF4-FFF2-40B4-BE49-F238E27FC236}">
                <a16:creationId xmlns:a16="http://schemas.microsoft.com/office/drawing/2014/main" id="{59D9152D-0C85-47FB-A1B0-AA59FB72CD7A}"/>
              </a:ext>
            </a:extLst>
          </p:cNvPr>
          <p:cNvSpPr txBox="1"/>
          <p:nvPr/>
        </p:nvSpPr>
        <p:spPr bwMode="auto">
          <a:xfrm>
            <a:off x="5948636"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sp>
        <p:nvSpPr>
          <p:cNvPr id="30" name="!!g-node-A">
            <a:extLst>
              <a:ext uri="{FF2B5EF4-FFF2-40B4-BE49-F238E27FC236}">
                <a16:creationId xmlns:a16="http://schemas.microsoft.com/office/drawing/2014/main" id="{716A20D3-7DB7-408C-B577-1B17B250418B}"/>
              </a:ext>
            </a:extLst>
          </p:cNvPr>
          <p:cNvSpPr/>
          <p:nvPr/>
        </p:nvSpPr>
        <p:spPr>
          <a:xfrm>
            <a:off x="825500" y="3683000"/>
            <a:ext cx="635000" cy="635000"/>
          </a:xfrm>
          <a:prstGeom prst="ellipse">
            <a:avLst/>
          </a:prstGeom>
          <a:solidFill>
            <a:srgbClr val="FFFFFF"/>
          </a:solidFill>
          <a:ln w="44450">
            <a:solidFill>
              <a:srgbClr val="76218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31" name="!!g-node-B">
            <a:extLst>
              <a:ext uri="{FF2B5EF4-FFF2-40B4-BE49-F238E27FC236}">
                <a16:creationId xmlns:a16="http://schemas.microsoft.com/office/drawing/2014/main" id="{03BFAA3D-BC53-44B0-ACE6-EA267312046C}"/>
              </a:ext>
            </a:extLst>
          </p:cNvPr>
          <p:cNvSpPr/>
          <p:nvPr/>
        </p:nvSpPr>
        <p:spPr>
          <a:xfrm>
            <a:off x="26670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32" name="!!g-node-C">
            <a:extLst>
              <a:ext uri="{FF2B5EF4-FFF2-40B4-BE49-F238E27FC236}">
                <a16:creationId xmlns:a16="http://schemas.microsoft.com/office/drawing/2014/main" id="{90A70CD7-86DE-4983-8E0F-6095305896C5}"/>
              </a:ext>
            </a:extLst>
          </p:cNvPr>
          <p:cNvSpPr/>
          <p:nvPr/>
        </p:nvSpPr>
        <p:spPr>
          <a:xfrm>
            <a:off x="26670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33" name="!!g-node-D">
            <a:extLst>
              <a:ext uri="{FF2B5EF4-FFF2-40B4-BE49-F238E27FC236}">
                <a16:creationId xmlns:a16="http://schemas.microsoft.com/office/drawing/2014/main" id="{F217326E-50D5-4952-9938-7735BEFAEC1F}"/>
              </a:ext>
            </a:extLst>
          </p:cNvPr>
          <p:cNvSpPr/>
          <p:nvPr/>
        </p:nvSpPr>
        <p:spPr>
          <a:xfrm>
            <a:off x="47625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34" name="!!g-node-E">
            <a:extLst>
              <a:ext uri="{FF2B5EF4-FFF2-40B4-BE49-F238E27FC236}">
                <a16:creationId xmlns:a16="http://schemas.microsoft.com/office/drawing/2014/main" id="{2CC78CCF-BD6D-4EE3-94F9-FEC5B96038FA}"/>
              </a:ext>
            </a:extLst>
          </p:cNvPr>
          <p:cNvSpPr/>
          <p:nvPr/>
        </p:nvSpPr>
        <p:spPr>
          <a:xfrm>
            <a:off x="47625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35" name="!!g-node-F">
            <a:extLst>
              <a:ext uri="{FF2B5EF4-FFF2-40B4-BE49-F238E27FC236}">
                <a16:creationId xmlns:a16="http://schemas.microsoft.com/office/drawing/2014/main" id="{148C0FC3-B9A7-4870-A592-A9422F936813}"/>
              </a:ext>
            </a:extLst>
          </p:cNvPr>
          <p:cNvSpPr/>
          <p:nvPr/>
        </p:nvSpPr>
        <p:spPr>
          <a:xfrm>
            <a:off x="6604000" y="368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F</a:t>
            </a:r>
            <a:endParaRPr lang="ru-RU" sz="2200">
              <a:solidFill>
                <a:srgbClr val="352379"/>
              </a:solidFill>
              <a:latin typeface="Montserrat"/>
            </a:endParaRPr>
          </a:p>
        </p:txBody>
      </p:sp>
      <p:graphicFrame>
        <p:nvGraphicFramePr>
          <p:cNvPr id="36" name="!!distance-table">
            <a:extLst>
              <a:ext uri="{FF2B5EF4-FFF2-40B4-BE49-F238E27FC236}">
                <a16:creationId xmlns:a16="http://schemas.microsoft.com/office/drawing/2014/main" id="{D044878D-69F6-4873-96BA-22619EA7AE38}"/>
              </a:ext>
            </a:extLst>
          </p:cNvPr>
          <p:cNvGraphicFramePr>
            <a:graphicFrameLocks noGrp="1"/>
          </p:cNvGraphicFramePr>
          <p:nvPr>
            <p:extLst>
              <p:ext uri="{D42A27DB-BD31-4B8C-83A1-F6EECF244321}">
                <p14:modId xmlns:p14="http://schemas.microsoft.com/office/powerpoint/2010/main" val="1150829874"/>
              </p:ext>
            </p:extLst>
          </p:nvPr>
        </p:nvGraphicFramePr>
        <p:xfrm>
          <a:off x="8026400" y="1816100"/>
          <a:ext cx="3683000" cy="2997197"/>
        </p:xfrm>
        <a:graphic>
          <a:graphicData uri="http://schemas.openxmlformats.org/drawingml/2006/table">
            <a:tbl>
              <a:tblPr firstRow="1" bandRow="1">
                <a:tableStyleId>{0E3FDE45-AF77-4B5C-9715-49D594BDF05E}</a:tableStyleId>
              </a:tblPr>
              <a:tblGrid>
                <a:gridCol w="1841500">
                  <a:extLst>
                    <a:ext uri="{9D8B030D-6E8A-4147-A177-3AD203B41FA5}">
                      <a16:colId xmlns:a16="http://schemas.microsoft.com/office/drawing/2014/main" val="1743071625"/>
                    </a:ext>
                  </a:extLst>
                </a:gridCol>
                <a:gridCol w="1841500">
                  <a:extLst>
                    <a:ext uri="{9D8B030D-6E8A-4147-A177-3AD203B41FA5}">
                      <a16:colId xmlns:a16="http://schemas.microsoft.com/office/drawing/2014/main" val="2726011206"/>
                    </a:ext>
                  </a:extLst>
                </a:gridCol>
              </a:tblGrid>
              <a:tr h="428171">
                <a:tc>
                  <a:txBody>
                    <a:bodyPr/>
                    <a:lstStyle/>
                    <a:p>
                      <a:pPr algn="ctr"/>
                      <a:r>
                        <a:rPr lang="en-US" sz="2000" b="1">
                          <a:solidFill>
                            <a:srgbClr val="FFFFFF"/>
                          </a:solidFill>
                          <a:latin typeface="Montserrat"/>
                        </a:rPr>
                        <a:t>v</a:t>
                      </a:r>
                      <a:endParaRPr lang="ru-RU" sz="20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000" b="1">
                          <a:solidFill>
                            <a:srgbClr val="FFFFFF"/>
                          </a:solidFill>
                          <a:latin typeface="Montserrat"/>
                        </a:rPr>
                        <a:t>dist</a:t>
                      </a:r>
                      <a:endParaRPr lang="ru-RU" sz="20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1358640430"/>
                  </a:ext>
                </a:extLst>
              </a:tr>
              <a:tr h="428171">
                <a:tc>
                  <a:txBody>
                    <a:bodyPr/>
                    <a:lstStyle/>
                    <a:p>
                      <a:pPr algn="ctr"/>
                      <a:r>
                        <a:rPr lang="en-US" sz="2000" b="0">
                          <a:solidFill>
                            <a:srgbClr val="352379"/>
                          </a:solidFill>
                          <a:latin typeface="Montserrat"/>
                        </a:rPr>
                        <a:t>A</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968492826"/>
                  </a:ext>
                </a:extLst>
              </a:tr>
              <a:tr h="428171">
                <a:tc>
                  <a:txBody>
                    <a:bodyPr/>
                    <a:lstStyle/>
                    <a:p>
                      <a:pPr algn="ctr"/>
                      <a:r>
                        <a:rPr lang="en-US" sz="2000" b="0">
                          <a:solidFill>
                            <a:srgbClr val="352379"/>
                          </a:solidFill>
                          <a:latin typeface="Montserrat"/>
                        </a:rPr>
                        <a:t>B</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7</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4098324059"/>
                  </a:ext>
                </a:extLst>
              </a:tr>
              <a:tr h="428171">
                <a:tc>
                  <a:txBody>
                    <a:bodyPr/>
                    <a:lstStyle/>
                    <a:p>
                      <a:pPr algn="ctr"/>
                      <a:r>
                        <a:rPr lang="en-US" sz="2000" b="0">
                          <a:solidFill>
                            <a:srgbClr val="352379"/>
                          </a:solidFill>
                          <a:latin typeface="Montserrat"/>
                        </a:rPr>
                        <a:t>C</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1834411671"/>
                  </a:ext>
                </a:extLst>
              </a:tr>
              <a:tr h="428171">
                <a:tc>
                  <a:txBody>
                    <a:bodyPr/>
                    <a:lstStyle/>
                    <a:p>
                      <a:pPr algn="ctr"/>
                      <a:r>
                        <a:rPr lang="en-US" sz="2000" b="0">
                          <a:solidFill>
                            <a:srgbClr val="352379"/>
                          </a:solidFill>
                          <a:latin typeface="Montserrat"/>
                        </a:rPr>
                        <a:t>D</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3261824885"/>
                  </a:ext>
                </a:extLst>
              </a:tr>
              <a:tr h="428171">
                <a:tc>
                  <a:txBody>
                    <a:bodyPr/>
                    <a:lstStyle/>
                    <a:p>
                      <a:pPr algn="ctr"/>
                      <a:r>
                        <a:rPr lang="en-US" sz="2000" b="0">
                          <a:solidFill>
                            <a:srgbClr val="352379"/>
                          </a:solidFill>
                          <a:latin typeface="Montserrat"/>
                        </a:rPr>
                        <a:t>E</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3441263279"/>
                  </a:ext>
                </a:extLst>
              </a:tr>
              <a:tr h="428171">
                <a:tc>
                  <a:txBody>
                    <a:bodyPr/>
                    <a:lstStyle/>
                    <a:p>
                      <a:pPr algn="ctr"/>
                      <a:r>
                        <a:rPr lang="en-US" sz="2000" b="0">
                          <a:solidFill>
                            <a:srgbClr val="352379"/>
                          </a:solidFill>
                          <a:latin typeface="Montserrat"/>
                        </a:rPr>
                        <a:t>F</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1550769239"/>
                  </a:ext>
                </a:extLst>
              </a:tr>
            </a:tbl>
          </a:graphicData>
        </a:graphic>
      </p:graphicFrame>
      <p:sp>
        <p:nvSpPr>
          <p:cNvPr id="37" name="!!calculation">
            <a:extLst>
              <a:ext uri="{FF2B5EF4-FFF2-40B4-BE49-F238E27FC236}">
                <a16:creationId xmlns:a16="http://schemas.microsoft.com/office/drawing/2014/main" id="{77DE2E5E-4407-46D5-9F8D-80074F18FCF1}"/>
              </a:ext>
            </a:extLst>
          </p:cNvPr>
          <p:cNvSpPr txBox="1"/>
          <p:nvPr/>
        </p:nvSpPr>
        <p:spPr bwMode="auto">
          <a:xfrm>
            <a:off x="609600" y="1625599"/>
            <a:ext cx="7112000" cy="673100"/>
          </a:xfrm>
          <a:prstGeom prst="rect">
            <a:avLst/>
          </a:prstGeom>
        </p:spPr>
        <p:txBody>
          <a:bodyPr vert="horz" wrap="square" lIns="0" tIns="0" rIns="0" bIns="0" rtlCol="0">
            <a:noAutofit/>
          </a:bodyPr>
          <a:lstStyle/>
          <a:p>
            <a:r>
              <a:rPr lang="en-US" sz="2000">
                <a:solidFill>
                  <a:srgbClr val="352379"/>
                </a:solidFill>
                <a:latin typeface="Montserrat"/>
              </a:rPr>
              <a:t>B: ∞ → 0 + 7 = 7</a:t>
            </a:r>
            <a:endParaRPr lang="ru-RU" sz="2000">
              <a:solidFill>
                <a:srgbClr val="352379"/>
              </a:solidFill>
              <a:latin typeface="Montserrat"/>
            </a:endParaRPr>
          </a:p>
        </p:txBody>
      </p:sp>
      <p:sp>
        <p:nvSpPr>
          <p:cNvPr id="38" name="heap-label">
            <a:extLst>
              <a:ext uri="{FF2B5EF4-FFF2-40B4-BE49-F238E27FC236}">
                <a16:creationId xmlns:a16="http://schemas.microsoft.com/office/drawing/2014/main" id="{4D5CE73D-E986-4D6A-8A63-3270EF6E77C9}"/>
              </a:ext>
            </a:extLst>
          </p:cNvPr>
          <p:cNvSpPr txBox="1"/>
          <p:nvPr/>
        </p:nvSpPr>
        <p:spPr bwMode="auto">
          <a:xfrm>
            <a:off x="8026400" y="4952999"/>
            <a:ext cx="3683000" cy="317500"/>
          </a:xfrm>
          <a:prstGeom prst="rect">
            <a:avLst/>
          </a:prstGeom>
        </p:spPr>
        <p:txBody>
          <a:bodyPr vert="horz" wrap="square" lIns="0" tIns="0" rIns="0" bIns="0" rtlCol="0">
            <a:noAutofit/>
          </a:bodyPr>
          <a:lstStyle/>
          <a:p>
            <a:r>
              <a:rPr lang="en-US" sz="1700" b="1">
                <a:solidFill>
                  <a:srgbClr val="352379"/>
                </a:solidFill>
                <a:latin typeface="Montserrat"/>
              </a:rPr>
              <a:t>Priority queue</a:t>
            </a:r>
            <a:endParaRPr lang="ru-RU" sz="1700" b="1">
              <a:solidFill>
                <a:srgbClr val="352379"/>
              </a:solidFill>
              <a:latin typeface="Montserrat"/>
            </a:endParaRPr>
          </a:p>
        </p:txBody>
      </p:sp>
      <p:sp>
        <p:nvSpPr>
          <p:cNvPr id="39" name="!!heap-state">
            <a:extLst>
              <a:ext uri="{FF2B5EF4-FFF2-40B4-BE49-F238E27FC236}">
                <a16:creationId xmlns:a16="http://schemas.microsoft.com/office/drawing/2014/main" id="{AD4174D2-8BDB-41CE-9F8E-2207501DAD9D}"/>
              </a:ext>
            </a:extLst>
          </p:cNvPr>
          <p:cNvSpPr txBox="1"/>
          <p:nvPr/>
        </p:nvSpPr>
        <p:spPr bwMode="auto">
          <a:xfrm>
            <a:off x="8026400" y="5321299"/>
            <a:ext cx="3683000" cy="533400"/>
          </a:xfrm>
          <a:prstGeom prst="rect">
            <a:avLst/>
          </a:prstGeom>
        </p:spPr>
        <p:txBody>
          <a:bodyPr vert="horz" wrap="square" lIns="0" tIns="0" rIns="0" bIns="0" rtlCol="0">
            <a:noAutofit/>
          </a:bodyPr>
          <a:lstStyle/>
          <a:p>
            <a:r>
              <a:rPr lang="ru-RU" sz="1600">
                <a:solidFill>
                  <a:srgbClr val="352379"/>
                </a:solidFill>
                <a:latin typeface="Montserrat"/>
              </a:rPr>
              <a:t>добавляем (7, </a:t>
            </a:r>
            <a:r>
              <a:rPr lang="en-US" sz="1600">
                <a:solidFill>
                  <a:srgbClr val="352379"/>
                </a:solidFill>
                <a:latin typeface="Montserrat"/>
              </a:rPr>
              <a:t>B)</a:t>
            </a:r>
            <a:endParaRPr lang="ru-RU" sz="1600">
              <a:solidFill>
                <a:srgbClr val="352379"/>
              </a:solidFill>
              <a:latin typeface="Montserrat"/>
            </a:endParaRPr>
          </a:p>
        </p:txBody>
      </p:sp>
      <p:sp>
        <p:nvSpPr>
          <p:cNvPr id="8" name="lecture-footer">
            <a:extLst>
              <a:ext uri="{FF2B5EF4-FFF2-40B4-BE49-F238E27FC236}">
                <a16:creationId xmlns:a16="http://schemas.microsoft.com/office/drawing/2014/main" id="{36D32280-DD88-4B20-9A01-5CF53AE1A421}"/>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00E66EAD-62DB-494C-9ED4-54D9F239E269}"/>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19</a:t>
            </a:r>
          </a:p>
        </p:txBody>
      </p:sp>
      <p:sp>
        <p:nvSpPr>
          <p:cNvPr id="10" name="bottom-band">
            <a:extLst>
              <a:ext uri="{FF2B5EF4-FFF2-40B4-BE49-F238E27FC236}">
                <a16:creationId xmlns:a16="http://schemas.microsoft.com/office/drawing/2014/main" id="{A14E3547-88FF-4132-853E-35B28F683F0A}"/>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6A24A1B4-20EF-47EF-AB56-38C35B48DA41}"/>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Белая: ожидает   •   контур: текущая   •   фиолетовая: обработана</a:t>
            </a:r>
          </a:p>
        </p:txBody>
      </p:sp>
    </p:spTree>
    <p:extLst>
      <p:ext uri="{BB962C8B-B14F-4D97-AF65-F5344CB8AC3E}">
        <p14:creationId xmlns:p14="http://schemas.microsoft.com/office/powerpoint/2010/main" val="3197197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55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25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9"/>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3012CE-3832-450F-93D1-56DE263D984A}"/>
              </a:ext>
            </a:extLst>
          </p:cNvPr>
          <p:cNvSpPr>
            <a:spLocks noGrp="1"/>
          </p:cNvSpPr>
          <p:nvPr>
            <p:ph type="title"/>
          </p:nvPr>
        </p:nvSpPr>
        <p:spPr>
          <a:xfrm>
            <a:off x="479425" y="597855"/>
            <a:ext cx="11229975" cy="1140459"/>
          </a:xfrm>
        </p:spPr>
        <p:txBody>
          <a:bodyPr/>
          <a:lstStyle/>
          <a:p>
            <a:r>
              <a:rPr lang="ru-RU"/>
              <a:t>Из A: релаксируем A — C</a:t>
            </a:r>
          </a:p>
        </p:txBody>
      </p:sp>
      <p:sp>
        <p:nvSpPr>
          <p:cNvPr id="7" name="Текст 6">
            <a:extLst>
              <a:ext uri="{FF2B5EF4-FFF2-40B4-BE49-F238E27FC236}">
                <a16:creationId xmlns:a16="http://schemas.microsoft.com/office/drawing/2014/main" id="{BD921E17-1662-49A2-B4A2-13ECB2A88527}"/>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cxnSp>
        <p:nvCxnSpPr>
          <p:cNvPr id="12" name="!!g-edge-AB">
            <a:extLst>
              <a:ext uri="{FF2B5EF4-FFF2-40B4-BE49-F238E27FC236}">
                <a16:creationId xmlns:a16="http://schemas.microsoft.com/office/drawing/2014/main" id="{8D5A390E-C272-4C3C-A679-62C8DEB368BC}"/>
              </a:ext>
            </a:extLst>
          </p:cNvPr>
          <p:cNvCxnSpPr/>
          <p:nvPr/>
        </p:nvCxnSpPr>
        <p:spPr>
          <a:xfrm flipV="1">
            <a:off x="1425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3" name="!!g-weight-AB">
            <a:extLst>
              <a:ext uri="{FF2B5EF4-FFF2-40B4-BE49-F238E27FC236}">
                <a16:creationId xmlns:a16="http://schemas.microsoft.com/office/drawing/2014/main" id="{046E5BC9-0D99-4901-9F84-4340DFFFB7B8}"/>
              </a:ext>
            </a:extLst>
          </p:cNvPr>
          <p:cNvSpPr txBox="1"/>
          <p:nvPr/>
        </p:nvSpPr>
        <p:spPr bwMode="auto">
          <a:xfrm>
            <a:off x="2011636"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7</a:t>
            </a:r>
          </a:p>
        </p:txBody>
      </p:sp>
      <p:cxnSp>
        <p:nvCxnSpPr>
          <p:cNvPr id="14" name="!!g-edge-AC">
            <a:extLst>
              <a:ext uri="{FF2B5EF4-FFF2-40B4-BE49-F238E27FC236}">
                <a16:creationId xmlns:a16="http://schemas.microsoft.com/office/drawing/2014/main" id="{D3378560-7558-45FB-BEB8-D8501B9836E6}"/>
              </a:ext>
            </a:extLst>
          </p:cNvPr>
          <p:cNvCxnSpPr/>
          <p:nvPr/>
        </p:nvCxnSpPr>
        <p:spPr>
          <a:xfrm>
            <a:off x="1425280" y="4195176"/>
            <a:ext cx="1276940" cy="880648"/>
          </a:xfrm>
          <a:prstGeom prst="straightConnector1">
            <a:avLst/>
          </a:prstGeom>
          <a:ln w="44450">
            <a:solidFill>
              <a:srgbClr val="762181"/>
            </a:solidFill>
          </a:ln>
        </p:spPr>
        <p:style>
          <a:lnRef idx="1">
            <a:schemeClr val="accent1"/>
          </a:lnRef>
          <a:fillRef idx="0">
            <a:schemeClr val="accent1"/>
          </a:fillRef>
          <a:effectRef idx="0">
            <a:schemeClr val="accent1"/>
          </a:effectRef>
          <a:fontRef idx="minor">
            <a:schemeClr val="tx1"/>
          </a:fontRef>
        </p:style>
      </p:cxnSp>
      <p:sp>
        <p:nvSpPr>
          <p:cNvPr id="15" name="!!g-weight-AC">
            <a:extLst>
              <a:ext uri="{FF2B5EF4-FFF2-40B4-BE49-F238E27FC236}">
                <a16:creationId xmlns:a16="http://schemas.microsoft.com/office/drawing/2014/main" id="{4AE74058-1E62-42AB-A320-7EFD55E73ABF}"/>
              </a:ext>
            </a:extLst>
          </p:cNvPr>
          <p:cNvSpPr txBox="1"/>
          <p:nvPr/>
        </p:nvSpPr>
        <p:spPr bwMode="auto">
          <a:xfrm>
            <a:off x="1607864"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762181"/>
                </a:solidFill>
                <a:latin typeface="Montserrat"/>
              </a:rPr>
              <a:t>3</a:t>
            </a:r>
          </a:p>
        </p:txBody>
      </p:sp>
      <p:cxnSp>
        <p:nvCxnSpPr>
          <p:cNvPr id="16" name="!!g-edge-BC">
            <a:extLst>
              <a:ext uri="{FF2B5EF4-FFF2-40B4-BE49-F238E27FC236}">
                <a16:creationId xmlns:a16="http://schemas.microsoft.com/office/drawing/2014/main" id="{277BC1C4-7068-48A3-A9E7-C2454E03D5C6}"/>
              </a:ext>
            </a:extLst>
          </p:cNvPr>
          <p:cNvCxnSpPr/>
          <p:nvPr/>
        </p:nvCxnSpPr>
        <p:spPr>
          <a:xfrm>
            <a:off x="29845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7" name="!!g-weight-BC">
            <a:extLst>
              <a:ext uri="{FF2B5EF4-FFF2-40B4-BE49-F238E27FC236}">
                <a16:creationId xmlns:a16="http://schemas.microsoft.com/office/drawing/2014/main" id="{3F13314D-BCBD-4F51-84AD-D68974DCD3DE}"/>
              </a:ext>
            </a:extLst>
          </p:cNvPr>
          <p:cNvSpPr txBox="1"/>
          <p:nvPr/>
        </p:nvSpPr>
        <p:spPr bwMode="auto">
          <a:xfrm>
            <a:off x="23749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18" name="!!g-edge-BD">
            <a:extLst>
              <a:ext uri="{FF2B5EF4-FFF2-40B4-BE49-F238E27FC236}">
                <a16:creationId xmlns:a16="http://schemas.microsoft.com/office/drawing/2014/main" id="{4D5A1082-35D3-41E0-80E3-84F320E049D2}"/>
              </a:ext>
            </a:extLst>
          </p:cNvPr>
          <p:cNvCxnSpPr/>
          <p:nvPr/>
        </p:nvCxnSpPr>
        <p:spPr>
          <a:xfrm>
            <a:off x="3327400" y="273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9" name="!!g-weight-BD">
            <a:extLst>
              <a:ext uri="{FF2B5EF4-FFF2-40B4-BE49-F238E27FC236}">
                <a16:creationId xmlns:a16="http://schemas.microsoft.com/office/drawing/2014/main" id="{62637FCF-DF22-41B7-83BB-C4636B54AAB8}"/>
              </a:ext>
            </a:extLst>
          </p:cNvPr>
          <p:cNvSpPr txBox="1"/>
          <p:nvPr/>
        </p:nvSpPr>
        <p:spPr bwMode="auto">
          <a:xfrm>
            <a:off x="3778250" y="288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20" name="!!g-edge-CD">
            <a:extLst>
              <a:ext uri="{FF2B5EF4-FFF2-40B4-BE49-F238E27FC236}">
                <a16:creationId xmlns:a16="http://schemas.microsoft.com/office/drawing/2014/main" id="{D03C6558-F494-4240-B9CB-E4200A7F4CC4}"/>
              </a:ext>
            </a:extLst>
          </p:cNvPr>
          <p:cNvCxnSpPr/>
          <p:nvPr/>
        </p:nvCxnSpPr>
        <p:spPr>
          <a:xfrm flipV="1">
            <a:off x="3202716" y="2995004"/>
            <a:ext cx="1659068" cy="2010992"/>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1" name="!!g-weight-CD">
            <a:extLst>
              <a:ext uri="{FF2B5EF4-FFF2-40B4-BE49-F238E27FC236}">
                <a16:creationId xmlns:a16="http://schemas.microsoft.com/office/drawing/2014/main" id="{02D9CB96-60D3-4A4F-8D10-71158988A2E9}"/>
              </a:ext>
            </a:extLst>
          </p:cNvPr>
          <p:cNvSpPr txBox="1"/>
          <p:nvPr/>
        </p:nvSpPr>
        <p:spPr bwMode="auto">
          <a:xfrm>
            <a:off x="4052550" y="4023597"/>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5</a:t>
            </a:r>
          </a:p>
        </p:txBody>
      </p:sp>
      <p:cxnSp>
        <p:nvCxnSpPr>
          <p:cNvPr id="22" name="!!g-edge-CE">
            <a:extLst>
              <a:ext uri="{FF2B5EF4-FFF2-40B4-BE49-F238E27FC236}">
                <a16:creationId xmlns:a16="http://schemas.microsoft.com/office/drawing/2014/main" id="{D653D008-E06B-4280-A134-220A47F006DB}"/>
              </a:ext>
            </a:extLst>
          </p:cNvPr>
          <p:cNvCxnSpPr/>
          <p:nvPr/>
        </p:nvCxnSpPr>
        <p:spPr>
          <a:xfrm>
            <a:off x="3327400" y="527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3" name="!!g-weight-CE">
            <a:extLst>
              <a:ext uri="{FF2B5EF4-FFF2-40B4-BE49-F238E27FC236}">
                <a16:creationId xmlns:a16="http://schemas.microsoft.com/office/drawing/2014/main" id="{510EC5FF-9F93-4C67-AF6D-1AD2368A5F4A}"/>
              </a:ext>
            </a:extLst>
          </p:cNvPr>
          <p:cNvSpPr txBox="1"/>
          <p:nvPr/>
        </p:nvSpPr>
        <p:spPr bwMode="auto">
          <a:xfrm>
            <a:off x="3778250" y="542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8</a:t>
            </a:r>
          </a:p>
        </p:txBody>
      </p:sp>
      <p:cxnSp>
        <p:nvCxnSpPr>
          <p:cNvPr id="24" name="!!g-edge-DE">
            <a:extLst>
              <a:ext uri="{FF2B5EF4-FFF2-40B4-BE49-F238E27FC236}">
                <a16:creationId xmlns:a16="http://schemas.microsoft.com/office/drawing/2014/main" id="{A2D688BD-3F16-4720-ABF7-6A6E0A064A70}"/>
              </a:ext>
            </a:extLst>
          </p:cNvPr>
          <p:cNvCxnSpPr/>
          <p:nvPr/>
        </p:nvCxnSpPr>
        <p:spPr>
          <a:xfrm>
            <a:off x="50800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5" name="!!g-weight-DE">
            <a:extLst>
              <a:ext uri="{FF2B5EF4-FFF2-40B4-BE49-F238E27FC236}">
                <a16:creationId xmlns:a16="http://schemas.microsoft.com/office/drawing/2014/main" id="{1482F3A4-BF34-4559-B8A9-A52174AB957C}"/>
              </a:ext>
            </a:extLst>
          </p:cNvPr>
          <p:cNvSpPr txBox="1"/>
          <p:nvPr/>
        </p:nvSpPr>
        <p:spPr bwMode="auto">
          <a:xfrm>
            <a:off x="44704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cxnSp>
        <p:nvCxnSpPr>
          <p:cNvPr id="26" name="!!g-edge-DF">
            <a:extLst>
              <a:ext uri="{FF2B5EF4-FFF2-40B4-BE49-F238E27FC236}">
                <a16:creationId xmlns:a16="http://schemas.microsoft.com/office/drawing/2014/main" id="{C8EDD83B-5EFB-4603-A1FF-0994EC277592}"/>
              </a:ext>
            </a:extLst>
          </p:cNvPr>
          <p:cNvCxnSpPr/>
          <p:nvPr/>
        </p:nvCxnSpPr>
        <p:spPr>
          <a:xfrm>
            <a:off x="5362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7" name="!!g-weight-DF">
            <a:extLst>
              <a:ext uri="{FF2B5EF4-FFF2-40B4-BE49-F238E27FC236}">
                <a16:creationId xmlns:a16="http://schemas.microsoft.com/office/drawing/2014/main" id="{7A8B42C4-4932-4FBA-84CE-24807D9A9B49}"/>
              </a:ext>
            </a:extLst>
          </p:cNvPr>
          <p:cNvSpPr txBox="1"/>
          <p:nvPr/>
        </p:nvSpPr>
        <p:spPr bwMode="auto">
          <a:xfrm>
            <a:off x="5544864"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28" name="!!g-edge-EF">
            <a:extLst>
              <a:ext uri="{FF2B5EF4-FFF2-40B4-BE49-F238E27FC236}">
                <a16:creationId xmlns:a16="http://schemas.microsoft.com/office/drawing/2014/main" id="{B4BF07A6-2624-45FC-B720-2F633BEF14A4}"/>
              </a:ext>
            </a:extLst>
          </p:cNvPr>
          <p:cNvCxnSpPr/>
          <p:nvPr/>
        </p:nvCxnSpPr>
        <p:spPr>
          <a:xfrm flipV="1">
            <a:off x="5362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9" name="!!g-weight-EF">
            <a:extLst>
              <a:ext uri="{FF2B5EF4-FFF2-40B4-BE49-F238E27FC236}">
                <a16:creationId xmlns:a16="http://schemas.microsoft.com/office/drawing/2014/main" id="{59D9152D-0C85-47FB-A1B0-AA59FB72CD7A}"/>
              </a:ext>
            </a:extLst>
          </p:cNvPr>
          <p:cNvSpPr txBox="1"/>
          <p:nvPr/>
        </p:nvSpPr>
        <p:spPr bwMode="auto">
          <a:xfrm>
            <a:off x="5948636"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sp>
        <p:nvSpPr>
          <p:cNvPr id="30" name="!!g-node-A">
            <a:extLst>
              <a:ext uri="{FF2B5EF4-FFF2-40B4-BE49-F238E27FC236}">
                <a16:creationId xmlns:a16="http://schemas.microsoft.com/office/drawing/2014/main" id="{716A20D3-7DB7-408C-B577-1B17B250418B}"/>
              </a:ext>
            </a:extLst>
          </p:cNvPr>
          <p:cNvSpPr/>
          <p:nvPr/>
        </p:nvSpPr>
        <p:spPr>
          <a:xfrm>
            <a:off x="825500" y="368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A</a:t>
            </a:r>
            <a:endParaRPr lang="ru-RU" sz="2200">
              <a:solidFill>
                <a:srgbClr val="FFFFFF"/>
              </a:solidFill>
              <a:latin typeface="Montserrat"/>
            </a:endParaRPr>
          </a:p>
        </p:txBody>
      </p:sp>
      <p:sp>
        <p:nvSpPr>
          <p:cNvPr id="31" name="!!g-node-B">
            <a:extLst>
              <a:ext uri="{FF2B5EF4-FFF2-40B4-BE49-F238E27FC236}">
                <a16:creationId xmlns:a16="http://schemas.microsoft.com/office/drawing/2014/main" id="{03BFAA3D-BC53-44B0-ACE6-EA267312046C}"/>
              </a:ext>
            </a:extLst>
          </p:cNvPr>
          <p:cNvSpPr/>
          <p:nvPr/>
        </p:nvSpPr>
        <p:spPr>
          <a:xfrm>
            <a:off x="26670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32" name="!!g-node-C">
            <a:extLst>
              <a:ext uri="{FF2B5EF4-FFF2-40B4-BE49-F238E27FC236}">
                <a16:creationId xmlns:a16="http://schemas.microsoft.com/office/drawing/2014/main" id="{90A70CD7-86DE-4983-8E0F-6095305896C5}"/>
              </a:ext>
            </a:extLst>
          </p:cNvPr>
          <p:cNvSpPr/>
          <p:nvPr/>
        </p:nvSpPr>
        <p:spPr>
          <a:xfrm>
            <a:off x="26670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33" name="!!g-node-D">
            <a:extLst>
              <a:ext uri="{FF2B5EF4-FFF2-40B4-BE49-F238E27FC236}">
                <a16:creationId xmlns:a16="http://schemas.microsoft.com/office/drawing/2014/main" id="{F217326E-50D5-4952-9938-7735BEFAEC1F}"/>
              </a:ext>
            </a:extLst>
          </p:cNvPr>
          <p:cNvSpPr/>
          <p:nvPr/>
        </p:nvSpPr>
        <p:spPr>
          <a:xfrm>
            <a:off x="47625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34" name="!!g-node-E">
            <a:extLst>
              <a:ext uri="{FF2B5EF4-FFF2-40B4-BE49-F238E27FC236}">
                <a16:creationId xmlns:a16="http://schemas.microsoft.com/office/drawing/2014/main" id="{2CC78CCF-BD6D-4EE3-94F9-FEC5B96038FA}"/>
              </a:ext>
            </a:extLst>
          </p:cNvPr>
          <p:cNvSpPr/>
          <p:nvPr/>
        </p:nvSpPr>
        <p:spPr>
          <a:xfrm>
            <a:off x="47625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35" name="!!g-node-F">
            <a:extLst>
              <a:ext uri="{FF2B5EF4-FFF2-40B4-BE49-F238E27FC236}">
                <a16:creationId xmlns:a16="http://schemas.microsoft.com/office/drawing/2014/main" id="{148C0FC3-B9A7-4870-A592-A9422F936813}"/>
              </a:ext>
            </a:extLst>
          </p:cNvPr>
          <p:cNvSpPr/>
          <p:nvPr/>
        </p:nvSpPr>
        <p:spPr>
          <a:xfrm>
            <a:off x="6604000" y="368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F</a:t>
            </a:r>
            <a:endParaRPr lang="ru-RU" sz="2200">
              <a:solidFill>
                <a:srgbClr val="352379"/>
              </a:solidFill>
              <a:latin typeface="Montserrat"/>
            </a:endParaRPr>
          </a:p>
        </p:txBody>
      </p:sp>
      <p:graphicFrame>
        <p:nvGraphicFramePr>
          <p:cNvPr id="36" name="!!distance-table">
            <a:extLst>
              <a:ext uri="{FF2B5EF4-FFF2-40B4-BE49-F238E27FC236}">
                <a16:creationId xmlns:a16="http://schemas.microsoft.com/office/drawing/2014/main" id="{D044878D-69F6-4873-96BA-22619EA7AE38}"/>
              </a:ext>
            </a:extLst>
          </p:cNvPr>
          <p:cNvGraphicFramePr>
            <a:graphicFrameLocks noGrp="1"/>
          </p:cNvGraphicFramePr>
          <p:nvPr>
            <p:extLst>
              <p:ext uri="{D42A27DB-BD31-4B8C-83A1-F6EECF244321}">
                <p14:modId xmlns:p14="http://schemas.microsoft.com/office/powerpoint/2010/main" val="482885156"/>
              </p:ext>
            </p:extLst>
          </p:nvPr>
        </p:nvGraphicFramePr>
        <p:xfrm>
          <a:off x="8026400" y="1816100"/>
          <a:ext cx="3683000" cy="2997197"/>
        </p:xfrm>
        <a:graphic>
          <a:graphicData uri="http://schemas.openxmlformats.org/drawingml/2006/table">
            <a:tbl>
              <a:tblPr firstRow="1" bandRow="1">
                <a:tableStyleId>{0E3FDE45-AF77-4B5C-9715-49D594BDF05E}</a:tableStyleId>
              </a:tblPr>
              <a:tblGrid>
                <a:gridCol w="1841500">
                  <a:extLst>
                    <a:ext uri="{9D8B030D-6E8A-4147-A177-3AD203B41FA5}">
                      <a16:colId xmlns:a16="http://schemas.microsoft.com/office/drawing/2014/main" val="1743071625"/>
                    </a:ext>
                  </a:extLst>
                </a:gridCol>
                <a:gridCol w="1841500">
                  <a:extLst>
                    <a:ext uri="{9D8B030D-6E8A-4147-A177-3AD203B41FA5}">
                      <a16:colId xmlns:a16="http://schemas.microsoft.com/office/drawing/2014/main" val="2726011206"/>
                    </a:ext>
                  </a:extLst>
                </a:gridCol>
              </a:tblGrid>
              <a:tr h="428171">
                <a:tc>
                  <a:txBody>
                    <a:bodyPr/>
                    <a:lstStyle/>
                    <a:p>
                      <a:pPr algn="ctr"/>
                      <a:r>
                        <a:rPr lang="en-US" sz="2000" b="1">
                          <a:solidFill>
                            <a:srgbClr val="FFFFFF"/>
                          </a:solidFill>
                          <a:latin typeface="Montserrat"/>
                        </a:rPr>
                        <a:t>v</a:t>
                      </a:r>
                      <a:endParaRPr lang="ru-RU" sz="20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000" b="1">
                          <a:solidFill>
                            <a:srgbClr val="FFFFFF"/>
                          </a:solidFill>
                          <a:latin typeface="Montserrat"/>
                        </a:rPr>
                        <a:t>dist</a:t>
                      </a:r>
                      <a:endParaRPr lang="ru-RU" sz="20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1358640430"/>
                  </a:ext>
                </a:extLst>
              </a:tr>
              <a:tr h="428171">
                <a:tc>
                  <a:txBody>
                    <a:bodyPr/>
                    <a:lstStyle/>
                    <a:p>
                      <a:pPr algn="ctr"/>
                      <a:r>
                        <a:rPr lang="en-US" sz="2000" b="0">
                          <a:solidFill>
                            <a:srgbClr val="352379"/>
                          </a:solidFill>
                          <a:latin typeface="Montserrat"/>
                        </a:rPr>
                        <a:t>A</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968492826"/>
                  </a:ext>
                </a:extLst>
              </a:tr>
              <a:tr h="428171">
                <a:tc>
                  <a:txBody>
                    <a:bodyPr/>
                    <a:lstStyle/>
                    <a:p>
                      <a:pPr algn="ctr"/>
                      <a:r>
                        <a:rPr lang="en-US" sz="2000" b="0">
                          <a:solidFill>
                            <a:srgbClr val="352379"/>
                          </a:solidFill>
                          <a:latin typeface="Montserrat"/>
                        </a:rPr>
                        <a:t>B</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7</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4098324059"/>
                  </a:ext>
                </a:extLst>
              </a:tr>
              <a:tr h="428171">
                <a:tc>
                  <a:txBody>
                    <a:bodyPr/>
                    <a:lstStyle/>
                    <a:p>
                      <a:pPr algn="ctr"/>
                      <a:r>
                        <a:rPr lang="en-US" sz="2000" b="0">
                          <a:solidFill>
                            <a:srgbClr val="352379"/>
                          </a:solidFill>
                          <a:latin typeface="Montserrat"/>
                        </a:rPr>
                        <a:t>C</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3</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1834411671"/>
                  </a:ext>
                </a:extLst>
              </a:tr>
              <a:tr h="428171">
                <a:tc>
                  <a:txBody>
                    <a:bodyPr/>
                    <a:lstStyle/>
                    <a:p>
                      <a:pPr algn="ctr"/>
                      <a:r>
                        <a:rPr lang="en-US" sz="2000" b="0">
                          <a:solidFill>
                            <a:srgbClr val="352379"/>
                          </a:solidFill>
                          <a:latin typeface="Montserrat"/>
                        </a:rPr>
                        <a:t>D</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3261824885"/>
                  </a:ext>
                </a:extLst>
              </a:tr>
              <a:tr h="428171">
                <a:tc>
                  <a:txBody>
                    <a:bodyPr/>
                    <a:lstStyle/>
                    <a:p>
                      <a:pPr algn="ctr"/>
                      <a:r>
                        <a:rPr lang="en-US" sz="2000" b="0">
                          <a:solidFill>
                            <a:srgbClr val="352379"/>
                          </a:solidFill>
                          <a:latin typeface="Montserrat"/>
                        </a:rPr>
                        <a:t>E</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3441263279"/>
                  </a:ext>
                </a:extLst>
              </a:tr>
              <a:tr h="428171">
                <a:tc>
                  <a:txBody>
                    <a:bodyPr/>
                    <a:lstStyle/>
                    <a:p>
                      <a:pPr algn="ctr"/>
                      <a:r>
                        <a:rPr lang="en-US" sz="2000" b="0">
                          <a:solidFill>
                            <a:srgbClr val="352379"/>
                          </a:solidFill>
                          <a:latin typeface="Montserrat"/>
                        </a:rPr>
                        <a:t>F</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1550769239"/>
                  </a:ext>
                </a:extLst>
              </a:tr>
            </a:tbl>
          </a:graphicData>
        </a:graphic>
      </p:graphicFrame>
      <p:sp>
        <p:nvSpPr>
          <p:cNvPr id="37" name="!!calculation">
            <a:extLst>
              <a:ext uri="{FF2B5EF4-FFF2-40B4-BE49-F238E27FC236}">
                <a16:creationId xmlns:a16="http://schemas.microsoft.com/office/drawing/2014/main" id="{77DE2E5E-4407-46D5-9F8D-80074F18FCF1}"/>
              </a:ext>
            </a:extLst>
          </p:cNvPr>
          <p:cNvSpPr txBox="1"/>
          <p:nvPr/>
        </p:nvSpPr>
        <p:spPr bwMode="auto">
          <a:xfrm>
            <a:off x="609600" y="1625599"/>
            <a:ext cx="7112000" cy="673100"/>
          </a:xfrm>
          <a:prstGeom prst="rect">
            <a:avLst/>
          </a:prstGeom>
        </p:spPr>
        <p:txBody>
          <a:bodyPr vert="horz" wrap="square" lIns="0" tIns="0" rIns="0" bIns="0" rtlCol="0">
            <a:noAutofit/>
          </a:bodyPr>
          <a:lstStyle/>
          <a:p>
            <a:r>
              <a:rPr lang="ru-RU" sz="2000">
                <a:solidFill>
                  <a:srgbClr val="352379"/>
                </a:solidFill>
                <a:latin typeface="Montserrat"/>
              </a:rPr>
              <a:t>C: ∞ → 0 + 3 = 3</a:t>
            </a:r>
          </a:p>
          <a:p>
            <a:r>
              <a:rPr lang="ru-RU" sz="2000">
                <a:solidFill>
                  <a:srgbClr val="352379"/>
                </a:solidFill>
                <a:latin typeface="Montserrat"/>
              </a:rPr>
              <a:t>A обработана</a:t>
            </a:r>
          </a:p>
        </p:txBody>
      </p:sp>
      <p:sp>
        <p:nvSpPr>
          <p:cNvPr id="38" name="heap-label">
            <a:extLst>
              <a:ext uri="{FF2B5EF4-FFF2-40B4-BE49-F238E27FC236}">
                <a16:creationId xmlns:a16="http://schemas.microsoft.com/office/drawing/2014/main" id="{4D5CE73D-E986-4D6A-8A63-3270EF6E77C9}"/>
              </a:ext>
            </a:extLst>
          </p:cNvPr>
          <p:cNvSpPr txBox="1"/>
          <p:nvPr/>
        </p:nvSpPr>
        <p:spPr bwMode="auto">
          <a:xfrm>
            <a:off x="8026400" y="4952999"/>
            <a:ext cx="3683000" cy="317500"/>
          </a:xfrm>
          <a:prstGeom prst="rect">
            <a:avLst/>
          </a:prstGeom>
        </p:spPr>
        <p:txBody>
          <a:bodyPr vert="horz" wrap="square" lIns="0" tIns="0" rIns="0" bIns="0" rtlCol="0">
            <a:noAutofit/>
          </a:bodyPr>
          <a:lstStyle/>
          <a:p>
            <a:r>
              <a:rPr lang="en-US" sz="1700" b="1">
                <a:solidFill>
                  <a:srgbClr val="352379"/>
                </a:solidFill>
                <a:latin typeface="Montserrat"/>
              </a:rPr>
              <a:t>Priority queue</a:t>
            </a:r>
            <a:endParaRPr lang="ru-RU" sz="1700" b="1">
              <a:solidFill>
                <a:srgbClr val="352379"/>
              </a:solidFill>
              <a:latin typeface="Montserrat"/>
            </a:endParaRPr>
          </a:p>
        </p:txBody>
      </p:sp>
      <p:sp>
        <p:nvSpPr>
          <p:cNvPr id="39" name="!!heap-state">
            <a:extLst>
              <a:ext uri="{FF2B5EF4-FFF2-40B4-BE49-F238E27FC236}">
                <a16:creationId xmlns:a16="http://schemas.microsoft.com/office/drawing/2014/main" id="{AD4174D2-8BDB-41CE-9F8E-2207501DAD9D}"/>
              </a:ext>
            </a:extLst>
          </p:cNvPr>
          <p:cNvSpPr txBox="1"/>
          <p:nvPr/>
        </p:nvSpPr>
        <p:spPr bwMode="auto">
          <a:xfrm>
            <a:off x="8026400" y="5321299"/>
            <a:ext cx="3683000" cy="533400"/>
          </a:xfrm>
          <a:prstGeom prst="rect">
            <a:avLst/>
          </a:prstGeom>
        </p:spPr>
        <p:txBody>
          <a:bodyPr vert="horz" wrap="square" lIns="0" tIns="0" rIns="0" bIns="0" rtlCol="0">
            <a:noAutofit/>
          </a:bodyPr>
          <a:lstStyle/>
          <a:p>
            <a:r>
              <a:rPr lang="en-US" sz="1600">
                <a:solidFill>
                  <a:srgbClr val="352379"/>
                </a:solidFill>
                <a:latin typeface="Montserrat"/>
              </a:rPr>
              <a:t>(3, C), (7, B)</a:t>
            </a:r>
            <a:endParaRPr lang="ru-RU" sz="1600">
              <a:solidFill>
                <a:srgbClr val="352379"/>
              </a:solidFill>
              <a:latin typeface="Montserrat"/>
            </a:endParaRPr>
          </a:p>
        </p:txBody>
      </p:sp>
      <p:sp>
        <p:nvSpPr>
          <p:cNvPr id="3" name="lecture-footer">
            <a:extLst>
              <a:ext uri="{FF2B5EF4-FFF2-40B4-BE49-F238E27FC236}">
                <a16:creationId xmlns:a16="http://schemas.microsoft.com/office/drawing/2014/main" id="{FC08DDEC-1F52-4774-BA07-CEA6302A3D4E}"/>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4" name="slide-number">
            <a:extLst>
              <a:ext uri="{FF2B5EF4-FFF2-40B4-BE49-F238E27FC236}">
                <a16:creationId xmlns:a16="http://schemas.microsoft.com/office/drawing/2014/main" id="{114CA25E-A16D-413E-A56B-C1E525B659DE}"/>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20</a:t>
            </a:r>
          </a:p>
        </p:txBody>
      </p:sp>
      <p:sp>
        <p:nvSpPr>
          <p:cNvPr id="5" name="bottom-band">
            <a:extLst>
              <a:ext uri="{FF2B5EF4-FFF2-40B4-BE49-F238E27FC236}">
                <a16:creationId xmlns:a16="http://schemas.microsoft.com/office/drawing/2014/main" id="{AFBB80ED-4309-479A-B36C-C89D799AE593}"/>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bottom-message">
            <a:extLst>
              <a:ext uri="{FF2B5EF4-FFF2-40B4-BE49-F238E27FC236}">
                <a16:creationId xmlns:a16="http://schemas.microsoft.com/office/drawing/2014/main" id="{4D308CAF-703D-4CA5-94BD-C1FD1F877B4E}"/>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Белая: ожидает   •   контур: текущая   •   фиолетовая: обработана</a:t>
            </a:r>
          </a:p>
        </p:txBody>
      </p:sp>
    </p:spTree>
    <p:extLst>
      <p:ext uri="{BB962C8B-B14F-4D97-AF65-F5344CB8AC3E}">
        <p14:creationId xmlns:p14="http://schemas.microsoft.com/office/powerpoint/2010/main" val="17436847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55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25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9"/>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3012CE-3832-450F-93D1-56DE263D984A}"/>
              </a:ext>
            </a:extLst>
          </p:cNvPr>
          <p:cNvSpPr>
            <a:spLocks noGrp="1"/>
          </p:cNvSpPr>
          <p:nvPr>
            <p:ph type="title"/>
          </p:nvPr>
        </p:nvSpPr>
        <p:spPr>
          <a:xfrm>
            <a:off x="479425" y="597855"/>
            <a:ext cx="11229975" cy="1140459"/>
          </a:xfrm>
        </p:spPr>
        <p:txBody>
          <a:bodyPr/>
          <a:lstStyle/>
          <a:p>
            <a:r>
              <a:rPr lang="ru-RU"/>
              <a:t>Шаг 2: выбираем </a:t>
            </a:r>
            <a:r>
              <a:rPr lang="en-US"/>
              <a:t>C</a:t>
            </a:r>
            <a:endParaRPr lang="ru-RU"/>
          </a:p>
        </p:txBody>
      </p:sp>
      <p:sp>
        <p:nvSpPr>
          <p:cNvPr id="7" name="Текст 6">
            <a:extLst>
              <a:ext uri="{FF2B5EF4-FFF2-40B4-BE49-F238E27FC236}">
                <a16:creationId xmlns:a16="http://schemas.microsoft.com/office/drawing/2014/main" id="{BD921E17-1662-49A2-B4A2-13ECB2A88527}"/>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cxnSp>
        <p:nvCxnSpPr>
          <p:cNvPr id="12" name="!!g-edge-AB">
            <a:extLst>
              <a:ext uri="{FF2B5EF4-FFF2-40B4-BE49-F238E27FC236}">
                <a16:creationId xmlns:a16="http://schemas.microsoft.com/office/drawing/2014/main" id="{8D5A390E-C272-4C3C-A679-62C8DEB368BC}"/>
              </a:ext>
            </a:extLst>
          </p:cNvPr>
          <p:cNvCxnSpPr/>
          <p:nvPr/>
        </p:nvCxnSpPr>
        <p:spPr>
          <a:xfrm flipV="1">
            <a:off x="1425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3" name="!!g-weight-AB">
            <a:extLst>
              <a:ext uri="{FF2B5EF4-FFF2-40B4-BE49-F238E27FC236}">
                <a16:creationId xmlns:a16="http://schemas.microsoft.com/office/drawing/2014/main" id="{046E5BC9-0D99-4901-9F84-4340DFFFB7B8}"/>
              </a:ext>
            </a:extLst>
          </p:cNvPr>
          <p:cNvSpPr txBox="1"/>
          <p:nvPr/>
        </p:nvSpPr>
        <p:spPr bwMode="auto">
          <a:xfrm>
            <a:off x="2011636"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7</a:t>
            </a:r>
          </a:p>
        </p:txBody>
      </p:sp>
      <p:cxnSp>
        <p:nvCxnSpPr>
          <p:cNvPr id="14" name="!!g-edge-AC">
            <a:extLst>
              <a:ext uri="{FF2B5EF4-FFF2-40B4-BE49-F238E27FC236}">
                <a16:creationId xmlns:a16="http://schemas.microsoft.com/office/drawing/2014/main" id="{D3378560-7558-45FB-BEB8-D8501B9836E6}"/>
              </a:ext>
            </a:extLst>
          </p:cNvPr>
          <p:cNvCxnSpPr/>
          <p:nvPr/>
        </p:nvCxnSpPr>
        <p:spPr>
          <a:xfrm>
            <a:off x="1425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5" name="!!g-weight-AC">
            <a:extLst>
              <a:ext uri="{FF2B5EF4-FFF2-40B4-BE49-F238E27FC236}">
                <a16:creationId xmlns:a16="http://schemas.microsoft.com/office/drawing/2014/main" id="{4AE74058-1E62-42AB-A320-7EFD55E73ABF}"/>
              </a:ext>
            </a:extLst>
          </p:cNvPr>
          <p:cNvSpPr txBox="1"/>
          <p:nvPr/>
        </p:nvSpPr>
        <p:spPr bwMode="auto">
          <a:xfrm>
            <a:off x="1607864"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6" name="!!g-edge-BC">
            <a:extLst>
              <a:ext uri="{FF2B5EF4-FFF2-40B4-BE49-F238E27FC236}">
                <a16:creationId xmlns:a16="http://schemas.microsoft.com/office/drawing/2014/main" id="{277BC1C4-7068-48A3-A9E7-C2454E03D5C6}"/>
              </a:ext>
            </a:extLst>
          </p:cNvPr>
          <p:cNvCxnSpPr/>
          <p:nvPr/>
        </p:nvCxnSpPr>
        <p:spPr>
          <a:xfrm>
            <a:off x="2984500" y="3073400"/>
            <a:ext cx="0" cy="1854200"/>
          </a:xfrm>
          <a:prstGeom prst="straightConnector1">
            <a:avLst/>
          </a:prstGeom>
          <a:ln w="44450">
            <a:solidFill>
              <a:srgbClr val="762181"/>
            </a:solidFill>
          </a:ln>
        </p:spPr>
        <p:style>
          <a:lnRef idx="1">
            <a:schemeClr val="accent1"/>
          </a:lnRef>
          <a:fillRef idx="0">
            <a:schemeClr val="accent1"/>
          </a:fillRef>
          <a:effectRef idx="0">
            <a:schemeClr val="accent1"/>
          </a:effectRef>
          <a:fontRef idx="minor">
            <a:schemeClr val="tx1"/>
          </a:fontRef>
        </p:style>
      </p:cxnSp>
      <p:sp>
        <p:nvSpPr>
          <p:cNvPr id="17" name="!!g-weight-BC">
            <a:extLst>
              <a:ext uri="{FF2B5EF4-FFF2-40B4-BE49-F238E27FC236}">
                <a16:creationId xmlns:a16="http://schemas.microsoft.com/office/drawing/2014/main" id="{3F13314D-BCBD-4F51-84AD-D68974DCD3DE}"/>
              </a:ext>
            </a:extLst>
          </p:cNvPr>
          <p:cNvSpPr txBox="1"/>
          <p:nvPr/>
        </p:nvSpPr>
        <p:spPr bwMode="auto">
          <a:xfrm>
            <a:off x="23749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762181"/>
                </a:solidFill>
                <a:latin typeface="Montserrat"/>
              </a:rPr>
              <a:t>2</a:t>
            </a:r>
          </a:p>
        </p:txBody>
      </p:sp>
      <p:cxnSp>
        <p:nvCxnSpPr>
          <p:cNvPr id="18" name="!!g-edge-BD">
            <a:extLst>
              <a:ext uri="{FF2B5EF4-FFF2-40B4-BE49-F238E27FC236}">
                <a16:creationId xmlns:a16="http://schemas.microsoft.com/office/drawing/2014/main" id="{4D5A1082-35D3-41E0-80E3-84F320E049D2}"/>
              </a:ext>
            </a:extLst>
          </p:cNvPr>
          <p:cNvCxnSpPr/>
          <p:nvPr/>
        </p:nvCxnSpPr>
        <p:spPr>
          <a:xfrm>
            <a:off x="3327400" y="273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9" name="!!g-weight-BD">
            <a:extLst>
              <a:ext uri="{FF2B5EF4-FFF2-40B4-BE49-F238E27FC236}">
                <a16:creationId xmlns:a16="http://schemas.microsoft.com/office/drawing/2014/main" id="{62637FCF-DF22-41B7-83BB-C4636B54AAB8}"/>
              </a:ext>
            </a:extLst>
          </p:cNvPr>
          <p:cNvSpPr txBox="1"/>
          <p:nvPr/>
        </p:nvSpPr>
        <p:spPr bwMode="auto">
          <a:xfrm>
            <a:off x="3778250" y="288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20" name="!!g-edge-CD">
            <a:extLst>
              <a:ext uri="{FF2B5EF4-FFF2-40B4-BE49-F238E27FC236}">
                <a16:creationId xmlns:a16="http://schemas.microsoft.com/office/drawing/2014/main" id="{D03C6558-F494-4240-B9CB-E4200A7F4CC4}"/>
              </a:ext>
            </a:extLst>
          </p:cNvPr>
          <p:cNvCxnSpPr/>
          <p:nvPr/>
        </p:nvCxnSpPr>
        <p:spPr>
          <a:xfrm flipV="1">
            <a:off x="3202716" y="2995004"/>
            <a:ext cx="1659068" cy="2010992"/>
          </a:xfrm>
          <a:prstGeom prst="straightConnector1">
            <a:avLst/>
          </a:prstGeom>
          <a:ln w="44450">
            <a:solidFill>
              <a:srgbClr val="762181"/>
            </a:solidFill>
          </a:ln>
        </p:spPr>
        <p:style>
          <a:lnRef idx="1">
            <a:schemeClr val="accent1"/>
          </a:lnRef>
          <a:fillRef idx="0">
            <a:schemeClr val="accent1"/>
          </a:fillRef>
          <a:effectRef idx="0">
            <a:schemeClr val="accent1"/>
          </a:effectRef>
          <a:fontRef idx="minor">
            <a:schemeClr val="tx1"/>
          </a:fontRef>
        </p:style>
      </p:cxnSp>
      <p:sp>
        <p:nvSpPr>
          <p:cNvPr id="21" name="!!g-weight-CD">
            <a:extLst>
              <a:ext uri="{FF2B5EF4-FFF2-40B4-BE49-F238E27FC236}">
                <a16:creationId xmlns:a16="http://schemas.microsoft.com/office/drawing/2014/main" id="{02D9CB96-60D3-4A4F-8D10-71158988A2E9}"/>
              </a:ext>
            </a:extLst>
          </p:cNvPr>
          <p:cNvSpPr txBox="1"/>
          <p:nvPr/>
        </p:nvSpPr>
        <p:spPr bwMode="auto">
          <a:xfrm>
            <a:off x="4052550" y="4023597"/>
            <a:ext cx="508000" cy="381000"/>
          </a:xfrm>
          <a:prstGeom prst="rect">
            <a:avLst/>
          </a:prstGeom>
          <a:solidFill>
            <a:srgbClr val="FFFFFF"/>
          </a:solidFill>
        </p:spPr>
        <p:txBody>
          <a:bodyPr vert="horz" wrap="square" lIns="0" tIns="0" rIns="0" bIns="0" rtlCol="0">
            <a:noAutofit/>
          </a:bodyPr>
          <a:lstStyle/>
          <a:p>
            <a:pPr algn="ctr"/>
            <a:r>
              <a:rPr lang="ru-RU" sz="2000">
                <a:solidFill>
                  <a:srgbClr val="762181"/>
                </a:solidFill>
                <a:latin typeface="Montserrat"/>
              </a:rPr>
              <a:t>5</a:t>
            </a:r>
          </a:p>
        </p:txBody>
      </p:sp>
      <p:cxnSp>
        <p:nvCxnSpPr>
          <p:cNvPr id="22" name="!!g-edge-CE">
            <a:extLst>
              <a:ext uri="{FF2B5EF4-FFF2-40B4-BE49-F238E27FC236}">
                <a16:creationId xmlns:a16="http://schemas.microsoft.com/office/drawing/2014/main" id="{D653D008-E06B-4280-A134-220A47F006DB}"/>
              </a:ext>
            </a:extLst>
          </p:cNvPr>
          <p:cNvCxnSpPr/>
          <p:nvPr/>
        </p:nvCxnSpPr>
        <p:spPr>
          <a:xfrm>
            <a:off x="3327400" y="5270500"/>
            <a:ext cx="1409700" cy="0"/>
          </a:xfrm>
          <a:prstGeom prst="straightConnector1">
            <a:avLst/>
          </a:prstGeom>
          <a:ln w="44450">
            <a:solidFill>
              <a:srgbClr val="762181"/>
            </a:solidFill>
          </a:ln>
        </p:spPr>
        <p:style>
          <a:lnRef idx="1">
            <a:schemeClr val="accent1"/>
          </a:lnRef>
          <a:fillRef idx="0">
            <a:schemeClr val="accent1"/>
          </a:fillRef>
          <a:effectRef idx="0">
            <a:schemeClr val="accent1"/>
          </a:effectRef>
          <a:fontRef idx="minor">
            <a:schemeClr val="tx1"/>
          </a:fontRef>
        </p:style>
      </p:cxnSp>
      <p:sp>
        <p:nvSpPr>
          <p:cNvPr id="23" name="!!g-weight-CE">
            <a:extLst>
              <a:ext uri="{FF2B5EF4-FFF2-40B4-BE49-F238E27FC236}">
                <a16:creationId xmlns:a16="http://schemas.microsoft.com/office/drawing/2014/main" id="{510EC5FF-9F93-4C67-AF6D-1AD2368A5F4A}"/>
              </a:ext>
            </a:extLst>
          </p:cNvPr>
          <p:cNvSpPr txBox="1"/>
          <p:nvPr/>
        </p:nvSpPr>
        <p:spPr bwMode="auto">
          <a:xfrm>
            <a:off x="3778250" y="5422899"/>
            <a:ext cx="508000" cy="381000"/>
          </a:xfrm>
          <a:prstGeom prst="rect">
            <a:avLst/>
          </a:prstGeom>
          <a:solidFill>
            <a:srgbClr val="FFFFFF"/>
          </a:solidFill>
        </p:spPr>
        <p:txBody>
          <a:bodyPr vert="horz" wrap="square" lIns="0" tIns="0" rIns="0" bIns="0" rtlCol="0">
            <a:noAutofit/>
          </a:bodyPr>
          <a:lstStyle/>
          <a:p>
            <a:pPr algn="ctr"/>
            <a:r>
              <a:rPr lang="ru-RU" sz="2000">
                <a:solidFill>
                  <a:srgbClr val="762181"/>
                </a:solidFill>
                <a:latin typeface="Montserrat"/>
              </a:rPr>
              <a:t>8</a:t>
            </a:r>
          </a:p>
        </p:txBody>
      </p:sp>
      <p:cxnSp>
        <p:nvCxnSpPr>
          <p:cNvPr id="24" name="!!g-edge-DE">
            <a:extLst>
              <a:ext uri="{FF2B5EF4-FFF2-40B4-BE49-F238E27FC236}">
                <a16:creationId xmlns:a16="http://schemas.microsoft.com/office/drawing/2014/main" id="{A2D688BD-3F16-4720-ABF7-6A6E0A064A70}"/>
              </a:ext>
            </a:extLst>
          </p:cNvPr>
          <p:cNvCxnSpPr/>
          <p:nvPr/>
        </p:nvCxnSpPr>
        <p:spPr>
          <a:xfrm>
            <a:off x="50800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5" name="!!g-weight-DE">
            <a:extLst>
              <a:ext uri="{FF2B5EF4-FFF2-40B4-BE49-F238E27FC236}">
                <a16:creationId xmlns:a16="http://schemas.microsoft.com/office/drawing/2014/main" id="{1482F3A4-BF34-4559-B8A9-A52174AB957C}"/>
              </a:ext>
            </a:extLst>
          </p:cNvPr>
          <p:cNvSpPr txBox="1"/>
          <p:nvPr/>
        </p:nvSpPr>
        <p:spPr bwMode="auto">
          <a:xfrm>
            <a:off x="44704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cxnSp>
        <p:nvCxnSpPr>
          <p:cNvPr id="26" name="!!g-edge-DF">
            <a:extLst>
              <a:ext uri="{FF2B5EF4-FFF2-40B4-BE49-F238E27FC236}">
                <a16:creationId xmlns:a16="http://schemas.microsoft.com/office/drawing/2014/main" id="{C8EDD83B-5EFB-4603-A1FF-0994EC277592}"/>
              </a:ext>
            </a:extLst>
          </p:cNvPr>
          <p:cNvCxnSpPr/>
          <p:nvPr/>
        </p:nvCxnSpPr>
        <p:spPr>
          <a:xfrm>
            <a:off x="5362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7" name="!!g-weight-DF">
            <a:extLst>
              <a:ext uri="{FF2B5EF4-FFF2-40B4-BE49-F238E27FC236}">
                <a16:creationId xmlns:a16="http://schemas.microsoft.com/office/drawing/2014/main" id="{7A8B42C4-4932-4FBA-84CE-24807D9A9B49}"/>
              </a:ext>
            </a:extLst>
          </p:cNvPr>
          <p:cNvSpPr txBox="1"/>
          <p:nvPr/>
        </p:nvSpPr>
        <p:spPr bwMode="auto">
          <a:xfrm>
            <a:off x="5544864"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28" name="!!g-edge-EF">
            <a:extLst>
              <a:ext uri="{FF2B5EF4-FFF2-40B4-BE49-F238E27FC236}">
                <a16:creationId xmlns:a16="http://schemas.microsoft.com/office/drawing/2014/main" id="{B4BF07A6-2624-45FC-B720-2F633BEF14A4}"/>
              </a:ext>
            </a:extLst>
          </p:cNvPr>
          <p:cNvCxnSpPr/>
          <p:nvPr/>
        </p:nvCxnSpPr>
        <p:spPr>
          <a:xfrm flipV="1">
            <a:off x="5362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9" name="!!g-weight-EF">
            <a:extLst>
              <a:ext uri="{FF2B5EF4-FFF2-40B4-BE49-F238E27FC236}">
                <a16:creationId xmlns:a16="http://schemas.microsoft.com/office/drawing/2014/main" id="{59D9152D-0C85-47FB-A1B0-AA59FB72CD7A}"/>
              </a:ext>
            </a:extLst>
          </p:cNvPr>
          <p:cNvSpPr txBox="1"/>
          <p:nvPr/>
        </p:nvSpPr>
        <p:spPr bwMode="auto">
          <a:xfrm>
            <a:off x="5948636"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sp>
        <p:nvSpPr>
          <p:cNvPr id="30" name="!!g-node-A">
            <a:extLst>
              <a:ext uri="{FF2B5EF4-FFF2-40B4-BE49-F238E27FC236}">
                <a16:creationId xmlns:a16="http://schemas.microsoft.com/office/drawing/2014/main" id="{716A20D3-7DB7-408C-B577-1B17B250418B}"/>
              </a:ext>
            </a:extLst>
          </p:cNvPr>
          <p:cNvSpPr/>
          <p:nvPr/>
        </p:nvSpPr>
        <p:spPr>
          <a:xfrm>
            <a:off x="825500" y="368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A</a:t>
            </a:r>
            <a:endParaRPr lang="ru-RU" sz="2200">
              <a:solidFill>
                <a:srgbClr val="FFFFFF"/>
              </a:solidFill>
              <a:latin typeface="Montserrat"/>
            </a:endParaRPr>
          </a:p>
        </p:txBody>
      </p:sp>
      <p:sp>
        <p:nvSpPr>
          <p:cNvPr id="31" name="!!g-node-B">
            <a:extLst>
              <a:ext uri="{FF2B5EF4-FFF2-40B4-BE49-F238E27FC236}">
                <a16:creationId xmlns:a16="http://schemas.microsoft.com/office/drawing/2014/main" id="{03BFAA3D-BC53-44B0-ACE6-EA267312046C}"/>
              </a:ext>
            </a:extLst>
          </p:cNvPr>
          <p:cNvSpPr/>
          <p:nvPr/>
        </p:nvSpPr>
        <p:spPr>
          <a:xfrm>
            <a:off x="26670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32" name="!!g-node-C">
            <a:extLst>
              <a:ext uri="{FF2B5EF4-FFF2-40B4-BE49-F238E27FC236}">
                <a16:creationId xmlns:a16="http://schemas.microsoft.com/office/drawing/2014/main" id="{90A70CD7-86DE-4983-8E0F-6095305896C5}"/>
              </a:ext>
            </a:extLst>
          </p:cNvPr>
          <p:cNvSpPr/>
          <p:nvPr/>
        </p:nvSpPr>
        <p:spPr>
          <a:xfrm>
            <a:off x="2667000" y="4953000"/>
            <a:ext cx="635000" cy="635000"/>
          </a:xfrm>
          <a:prstGeom prst="ellipse">
            <a:avLst/>
          </a:prstGeom>
          <a:solidFill>
            <a:srgbClr val="FFFFFF"/>
          </a:solidFill>
          <a:ln w="44450">
            <a:solidFill>
              <a:srgbClr val="76218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33" name="!!g-node-D">
            <a:extLst>
              <a:ext uri="{FF2B5EF4-FFF2-40B4-BE49-F238E27FC236}">
                <a16:creationId xmlns:a16="http://schemas.microsoft.com/office/drawing/2014/main" id="{F217326E-50D5-4952-9938-7735BEFAEC1F}"/>
              </a:ext>
            </a:extLst>
          </p:cNvPr>
          <p:cNvSpPr/>
          <p:nvPr/>
        </p:nvSpPr>
        <p:spPr>
          <a:xfrm>
            <a:off x="47625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34" name="!!g-node-E">
            <a:extLst>
              <a:ext uri="{FF2B5EF4-FFF2-40B4-BE49-F238E27FC236}">
                <a16:creationId xmlns:a16="http://schemas.microsoft.com/office/drawing/2014/main" id="{2CC78CCF-BD6D-4EE3-94F9-FEC5B96038FA}"/>
              </a:ext>
            </a:extLst>
          </p:cNvPr>
          <p:cNvSpPr/>
          <p:nvPr/>
        </p:nvSpPr>
        <p:spPr>
          <a:xfrm>
            <a:off x="47625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35" name="!!g-node-F">
            <a:extLst>
              <a:ext uri="{FF2B5EF4-FFF2-40B4-BE49-F238E27FC236}">
                <a16:creationId xmlns:a16="http://schemas.microsoft.com/office/drawing/2014/main" id="{148C0FC3-B9A7-4870-A592-A9422F936813}"/>
              </a:ext>
            </a:extLst>
          </p:cNvPr>
          <p:cNvSpPr/>
          <p:nvPr/>
        </p:nvSpPr>
        <p:spPr>
          <a:xfrm>
            <a:off x="6604000" y="368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F</a:t>
            </a:r>
            <a:endParaRPr lang="ru-RU" sz="2200">
              <a:solidFill>
                <a:srgbClr val="352379"/>
              </a:solidFill>
              <a:latin typeface="Montserrat"/>
            </a:endParaRPr>
          </a:p>
        </p:txBody>
      </p:sp>
      <p:graphicFrame>
        <p:nvGraphicFramePr>
          <p:cNvPr id="36" name="!!distance-table">
            <a:extLst>
              <a:ext uri="{FF2B5EF4-FFF2-40B4-BE49-F238E27FC236}">
                <a16:creationId xmlns:a16="http://schemas.microsoft.com/office/drawing/2014/main" id="{D044878D-69F6-4873-96BA-22619EA7AE38}"/>
              </a:ext>
            </a:extLst>
          </p:cNvPr>
          <p:cNvGraphicFramePr>
            <a:graphicFrameLocks noGrp="1"/>
          </p:cNvGraphicFramePr>
          <p:nvPr>
            <p:extLst>
              <p:ext uri="{D42A27DB-BD31-4B8C-83A1-F6EECF244321}">
                <p14:modId xmlns:p14="http://schemas.microsoft.com/office/powerpoint/2010/main" val="3744786442"/>
              </p:ext>
            </p:extLst>
          </p:nvPr>
        </p:nvGraphicFramePr>
        <p:xfrm>
          <a:off x="8026400" y="1816100"/>
          <a:ext cx="3683000" cy="2997197"/>
        </p:xfrm>
        <a:graphic>
          <a:graphicData uri="http://schemas.openxmlformats.org/drawingml/2006/table">
            <a:tbl>
              <a:tblPr firstRow="1" bandRow="1">
                <a:tableStyleId>{0E3FDE45-AF77-4B5C-9715-49D594BDF05E}</a:tableStyleId>
              </a:tblPr>
              <a:tblGrid>
                <a:gridCol w="1841500">
                  <a:extLst>
                    <a:ext uri="{9D8B030D-6E8A-4147-A177-3AD203B41FA5}">
                      <a16:colId xmlns:a16="http://schemas.microsoft.com/office/drawing/2014/main" val="1743071625"/>
                    </a:ext>
                  </a:extLst>
                </a:gridCol>
                <a:gridCol w="1841500">
                  <a:extLst>
                    <a:ext uri="{9D8B030D-6E8A-4147-A177-3AD203B41FA5}">
                      <a16:colId xmlns:a16="http://schemas.microsoft.com/office/drawing/2014/main" val="2726011206"/>
                    </a:ext>
                  </a:extLst>
                </a:gridCol>
              </a:tblGrid>
              <a:tr h="428171">
                <a:tc>
                  <a:txBody>
                    <a:bodyPr/>
                    <a:lstStyle/>
                    <a:p>
                      <a:pPr algn="ctr"/>
                      <a:r>
                        <a:rPr lang="en-US" sz="2000" b="1">
                          <a:solidFill>
                            <a:srgbClr val="FFFFFF"/>
                          </a:solidFill>
                          <a:latin typeface="Montserrat"/>
                        </a:rPr>
                        <a:t>v</a:t>
                      </a:r>
                      <a:endParaRPr lang="ru-RU" sz="20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000" b="1">
                          <a:solidFill>
                            <a:srgbClr val="FFFFFF"/>
                          </a:solidFill>
                          <a:latin typeface="Montserrat"/>
                        </a:rPr>
                        <a:t>dist</a:t>
                      </a:r>
                      <a:endParaRPr lang="ru-RU" sz="20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1358640430"/>
                  </a:ext>
                </a:extLst>
              </a:tr>
              <a:tr h="428171">
                <a:tc>
                  <a:txBody>
                    <a:bodyPr/>
                    <a:lstStyle/>
                    <a:p>
                      <a:pPr algn="ctr"/>
                      <a:r>
                        <a:rPr lang="en-US" sz="2000" b="0">
                          <a:solidFill>
                            <a:srgbClr val="352379"/>
                          </a:solidFill>
                          <a:latin typeface="Montserrat"/>
                        </a:rPr>
                        <a:t>A</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968492826"/>
                  </a:ext>
                </a:extLst>
              </a:tr>
              <a:tr h="428171">
                <a:tc>
                  <a:txBody>
                    <a:bodyPr/>
                    <a:lstStyle/>
                    <a:p>
                      <a:pPr algn="ctr"/>
                      <a:r>
                        <a:rPr lang="en-US" sz="2000" b="0">
                          <a:solidFill>
                            <a:srgbClr val="352379"/>
                          </a:solidFill>
                          <a:latin typeface="Montserrat"/>
                        </a:rPr>
                        <a:t>B</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7</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4098324059"/>
                  </a:ext>
                </a:extLst>
              </a:tr>
              <a:tr h="428171">
                <a:tc>
                  <a:txBody>
                    <a:bodyPr/>
                    <a:lstStyle/>
                    <a:p>
                      <a:pPr algn="ctr"/>
                      <a:r>
                        <a:rPr lang="en-US" sz="2000" b="0">
                          <a:solidFill>
                            <a:srgbClr val="352379"/>
                          </a:solidFill>
                          <a:latin typeface="Montserrat"/>
                        </a:rPr>
                        <a:t>C</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3</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1834411671"/>
                  </a:ext>
                </a:extLst>
              </a:tr>
              <a:tr h="428171">
                <a:tc>
                  <a:txBody>
                    <a:bodyPr/>
                    <a:lstStyle/>
                    <a:p>
                      <a:pPr algn="ctr"/>
                      <a:r>
                        <a:rPr lang="en-US" sz="2000" b="0">
                          <a:solidFill>
                            <a:srgbClr val="352379"/>
                          </a:solidFill>
                          <a:latin typeface="Montserrat"/>
                        </a:rPr>
                        <a:t>D</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3261824885"/>
                  </a:ext>
                </a:extLst>
              </a:tr>
              <a:tr h="428171">
                <a:tc>
                  <a:txBody>
                    <a:bodyPr/>
                    <a:lstStyle/>
                    <a:p>
                      <a:pPr algn="ctr"/>
                      <a:r>
                        <a:rPr lang="en-US" sz="2000" b="0">
                          <a:solidFill>
                            <a:srgbClr val="352379"/>
                          </a:solidFill>
                          <a:latin typeface="Montserrat"/>
                        </a:rPr>
                        <a:t>E</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3441263279"/>
                  </a:ext>
                </a:extLst>
              </a:tr>
              <a:tr h="428171">
                <a:tc>
                  <a:txBody>
                    <a:bodyPr/>
                    <a:lstStyle/>
                    <a:p>
                      <a:pPr algn="ctr"/>
                      <a:r>
                        <a:rPr lang="en-US" sz="2000" b="0">
                          <a:solidFill>
                            <a:srgbClr val="352379"/>
                          </a:solidFill>
                          <a:latin typeface="Montserrat"/>
                        </a:rPr>
                        <a:t>F</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1550769239"/>
                  </a:ext>
                </a:extLst>
              </a:tr>
            </a:tbl>
          </a:graphicData>
        </a:graphic>
      </p:graphicFrame>
      <p:sp>
        <p:nvSpPr>
          <p:cNvPr id="37" name="!!calculation">
            <a:extLst>
              <a:ext uri="{FF2B5EF4-FFF2-40B4-BE49-F238E27FC236}">
                <a16:creationId xmlns:a16="http://schemas.microsoft.com/office/drawing/2014/main" id="{77DE2E5E-4407-46D5-9F8D-80074F18FCF1}"/>
              </a:ext>
            </a:extLst>
          </p:cNvPr>
          <p:cNvSpPr txBox="1"/>
          <p:nvPr/>
        </p:nvSpPr>
        <p:spPr bwMode="auto">
          <a:xfrm>
            <a:off x="609600" y="1625599"/>
            <a:ext cx="7112000" cy="673100"/>
          </a:xfrm>
          <a:prstGeom prst="rect">
            <a:avLst/>
          </a:prstGeom>
        </p:spPr>
        <p:txBody>
          <a:bodyPr vert="horz" wrap="square" lIns="0" tIns="0" rIns="0" bIns="0" rtlCol="0">
            <a:noAutofit/>
          </a:bodyPr>
          <a:lstStyle/>
          <a:p>
            <a:r>
              <a:rPr lang="ru-RU" sz="2000">
                <a:solidFill>
                  <a:srgbClr val="352379"/>
                </a:solidFill>
                <a:latin typeface="Montserrat"/>
              </a:rPr>
              <a:t>3 &lt; 7: первой идёт C</a:t>
            </a:r>
          </a:p>
          <a:p>
            <a:r>
              <a:rPr lang="ru-RU" sz="2000">
                <a:solidFill>
                  <a:srgbClr val="352379"/>
                </a:solidFill>
                <a:latin typeface="Montserrat"/>
              </a:rPr>
              <a:t>Проверим B, D и E</a:t>
            </a:r>
          </a:p>
        </p:txBody>
      </p:sp>
      <p:sp>
        <p:nvSpPr>
          <p:cNvPr id="38" name="heap-label">
            <a:extLst>
              <a:ext uri="{FF2B5EF4-FFF2-40B4-BE49-F238E27FC236}">
                <a16:creationId xmlns:a16="http://schemas.microsoft.com/office/drawing/2014/main" id="{4D5CE73D-E986-4D6A-8A63-3270EF6E77C9}"/>
              </a:ext>
            </a:extLst>
          </p:cNvPr>
          <p:cNvSpPr txBox="1"/>
          <p:nvPr/>
        </p:nvSpPr>
        <p:spPr bwMode="auto">
          <a:xfrm>
            <a:off x="8026400" y="4952999"/>
            <a:ext cx="3683000" cy="317500"/>
          </a:xfrm>
          <a:prstGeom prst="rect">
            <a:avLst/>
          </a:prstGeom>
        </p:spPr>
        <p:txBody>
          <a:bodyPr vert="horz" wrap="square" lIns="0" tIns="0" rIns="0" bIns="0" rtlCol="0">
            <a:noAutofit/>
          </a:bodyPr>
          <a:lstStyle/>
          <a:p>
            <a:r>
              <a:rPr lang="en-US" sz="1700" b="1">
                <a:solidFill>
                  <a:srgbClr val="352379"/>
                </a:solidFill>
                <a:latin typeface="Montserrat"/>
              </a:rPr>
              <a:t>Priority queue</a:t>
            </a:r>
            <a:endParaRPr lang="ru-RU" sz="1700" b="1">
              <a:solidFill>
                <a:srgbClr val="352379"/>
              </a:solidFill>
              <a:latin typeface="Montserrat"/>
            </a:endParaRPr>
          </a:p>
        </p:txBody>
      </p:sp>
      <p:sp>
        <p:nvSpPr>
          <p:cNvPr id="39" name="!!heap-state">
            <a:extLst>
              <a:ext uri="{FF2B5EF4-FFF2-40B4-BE49-F238E27FC236}">
                <a16:creationId xmlns:a16="http://schemas.microsoft.com/office/drawing/2014/main" id="{AD4174D2-8BDB-41CE-9F8E-2207501DAD9D}"/>
              </a:ext>
            </a:extLst>
          </p:cNvPr>
          <p:cNvSpPr txBox="1"/>
          <p:nvPr/>
        </p:nvSpPr>
        <p:spPr bwMode="auto">
          <a:xfrm>
            <a:off x="8026400" y="5321299"/>
            <a:ext cx="3683000" cy="533400"/>
          </a:xfrm>
          <a:prstGeom prst="rect">
            <a:avLst/>
          </a:prstGeom>
        </p:spPr>
        <p:txBody>
          <a:bodyPr vert="horz" wrap="square" lIns="0" tIns="0" rIns="0" bIns="0" rtlCol="0">
            <a:noAutofit/>
          </a:bodyPr>
          <a:lstStyle/>
          <a:p>
            <a:r>
              <a:rPr lang="ru-RU" sz="1600">
                <a:solidFill>
                  <a:srgbClr val="352379"/>
                </a:solidFill>
                <a:latin typeface="Montserrat"/>
              </a:rPr>
              <a:t>извлекаем (3, </a:t>
            </a:r>
            <a:r>
              <a:rPr lang="en-US" sz="1600">
                <a:solidFill>
                  <a:srgbClr val="352379"/>
                </a:solidFill>
                <a:latin typeface="Montserrat"/>
              </a:rPr>
              <a:t>C)</a:t>
            </a:r>
            <a:endParaRPr lang="ru-RU" sz="1600">
              <a:solidFill>
                <a:srgbClr val="352379"/>
              </a:solidFill>
              <a:latin typeface="Montserrat"/>
            </a:endParaRPr>
          </a:p>
        </p:txBody>
      </p:sp>
      <p:sp>
        <p:nvSpPr>
          <p:cNvPr id="8" name="lecture-footer">
            <a:extLst>
              <a:ext uri="{FF2B5EF4-FFF2-40B4-BE49-F238E27FC236}">
                <a16:creationId xmlns:a16="http://schemas.microsoft.com/office/drawing/2014/main" id="{E9AA6070-7B65-452C-915A-14A0FCE24D51}"/>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1042AE54-CA7D-426B-A56C-A5429FF690FB}"/>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21</a:t>
            </a:r>
          </a:p>
        </p:txBody>
      </p:sp>
      <p:sp>
        <p:nvSpPr>
          <p:cNvPr id="10" name="bottom-band">
            <a:extLst>
              <a:ext uri="{FF2B5EF4-FFF2-40B4-BE49-F238E27FC236}">
                <a16:creationId xmlns:a16="http://schemas.microsoft.com/office/drawing/2014/main" id="{E6731B1A-48ED-4317-AF71-6AFFBB5B07A4}"/>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07582A09-668B-44D0-982D-9C3F21B374BC}"/>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Белая: ожидает   •   контур: текущая   •   фиолетовая: обработана</a:t>
            </a:r>
          </a:p>
        </p:txBody>
      </p:sp>
    </p:spTree>
    <p:extLst>
      <p:ext uri="{BB962C8B-B14F-4D97-AF65-F5344CB8AC3E}">
        <p14:creationId xmlns:p14="http://schemas.microsoft.com/office/powerpoint/2010/main" val="32196498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55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25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9"/>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3012CE-3832-450F-93D1-56DE263D984A}"/>
              </a:ext>
            </a:extLst>
          </p:cNvPr>
          <p:cNvSpPr>
            <a:spLocks noGrp="1"/>
          </p:cNvSpPr>
          <p:nvPr>
            <p:ph type="title"/>
          </p:nvPr>
        </p:nvSpPr>
        <p:spPr>
          <a:xfrm>
            <a:off x="479425" y="597855"/>
            <a:ext cx="11229975" cy="1140459"/>
          </a:xfrm>
        </p:spPr>
        <p:txBody>
          <a:bodyPr/>
          <a:lstStyle/>
          <a:p>
            <a:r>
              <a:rPr lang="ru-RU"/>
              <a:t>Из C: оценка B уменьшается</a:t>
            </a:r>
          </a:p>
        </p:txBody>
      </p:sp>
      <p:sp>
        <p:nvSpPr>
          <p:cNvPr id="7" name="Текст 6">
            <a:extLst>
              <a:ext uri="{FF2B5EF4-FFF2-40B4-BE49-F238E27FC236}">
                <a16:creationId xmlns:a16="http://schemas.microsoft.com/office/drawing/2014/main" id="{BD921E17-1662-49A2-B4A2-13ECB2A88527}"/>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cxnSp>
        <p:nvCxnSpPr>
          <p:cNvPr id="12" name="!!g-edge-AB">
            <a:extLst>
              <a:ext uri="{FF2B5EF4-FFF2-40B4-BE49-F238E27FC236}">
                <a16:creationId xmlns:a16="http://schemas.microsoft.com/office/drawing/2014/main" id="{8D5A390E-C272-4C3C-A679-62C8DEB368BC}"/>
              </a:ext>
            </a:extLst>
          </p:cNvPr>
          <p:cNvCxnSpPr/>
          <p:nvPr/>
        </p:nvCxnSpPr>
        <p:spPr>
          <a:xfrm flipV="1">
            <a:off x="1425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3" name="!!g-weight-AB">
            <a:extLst>
              <a:ext uri="{FF2B5EF4-FFF2-40B4-BE49-F238E27FC236}">
                <a16:creationId xmlns:a16="http://schemas.microsoft.com/office/drawing/2014/main" id="{046E5BC9-0D99-4901-9F84-4340DFFFB7B8}"/>
              </a:ext>
            </a:extLst>
          </p:cNvPr>
          <p:cNvSpPr txBox="1"/>
          <p:nvPr/>
        </p:nvSpPr>
        <p:spPr bwMode="auto">
          <a:xfrm>
            <a:off x="2011636"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7</a:t>
            </a:r>
          </a:p>
        </p:txBody>
      </p:sp>
      <p:cxnSp>
        <p:nvCxnSpPr>
          <p:cNvPr id="14" name="!!g-edge-AC">
            <a:extLst>
              <a:ext uri="{FF2B5EF4-FFF2-40B4-BE49-F238E27FC236}">
                <a16:creationId xmlns:a16="http://schemas.microsoft.com/office/drawing/2014/main" id="{D3378560-7558-45FB-BEB8-D8501B9836E6}"/>
              </a:ext>
            </a:extLst>
          </p:cNvPr>
          <p:cNvCxnSpPr/>
          <p:nvPr/>
        </p:nvCxnSpPr>
        <p:spPr>
          <a:xfrm>
            <a:off x="1425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5" name="!!g-weight-AC">
            <a:extLst>
              <a:ext uri="{FF2B5EF4-FFF2-40B4-BE49-F238E27FC236}">
                <a16:creationId xmlns:a16="http://schemas.microsoft.com/office/drawing/2014/main" id="{4AE74058-1E62-42AB-A320-7EFD55E73ABF}"/>
              </a:ext>
            </a:extLst>
          </p:cNvPr>
          <p:cNvSpPr txBox="1"/>
          <p:nvPr/>
        </p:nvSpPr>
        <p:spPr bwMode="auto">
          <a:xfrm>
            <a:off x="1607864"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6" name="!!g-edge-BC">
            <a:extLst>
              <a:ext uri="{FF2B5EF4-FFF2-40B4-BE49-F238E27FC236}">
                <a16:creationId xmlns:a16="http://schemas.microsoft.com/office/drawing/2014/main" id="{277BC1C4-7068-48A3-A9E7-C2454E03D5C6}"/>
              </a:ext>
            </a:extLst>
          </p:cNvPr>
          <p:cNvCxnSpPr/>
          <p:nvPr/>
        </p:nvCxnSpPr>
        <p:spPr>
          <a:xfrm>
            <a:off x="2984500" y="3073400"/>
            <a:ext cx="0" cy="1854200"/>
          </a:xfrm>
          <a:prstGeom prst="straightConnector1">
            <a:avLst/>
          </a:prstGeom>
          <a:ln w="44450">
            <a:solidFill>
              <a:srgbClr val="762181"/>
            </a:solidFill>
          </a:ln>
        </p:spPr>
        <p:style>
          <a:lnRef idx="1">
            <a:schemeClr val="accent1"/>
          </a:lnRef>
          <a:fillRef idx="0">
            <a:schemeClr val="accent1"/>
          </a:fillRef>
          <a:effectRef idx="0">
            <a:schemeClr val="accent1"/>
          </a:effectRef>
          <a:fontRef idx="minor">
            <a:schemeClr val="tx1"/>
          </a:fontRef>
        </p:style>
      </p:cxnSp>
      <p:sp>
        <p:nvSpPr>
          <p:cNvPr id="17" name="!!g-weight-BC">
            <a:extLst>
              <a:ext uri="{FF2B5EF4-FFF2-40B4-BE49-F238E27FC236}">
                <a16:creationId xmlns:a16="http://schemas.microsoft.com/office/drawing/2014/main" id="{3F13314D-BCBD-4F51-84AD-D68974DCD3DE}"/>
              </a:ext>
            </a:extLst>
          </p:cNvPr>
          <p:cNvSpPr txBox="1"/>
          <p:nvPr/>
        </p:nvSpPr>
        <p:spPr bwMode="auto">
          <a:xfrm>
            <a:off x="23749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762181"/>
                </a:solidFill>
                <a:latin typeface="Montserrat"/>
              </a:rPr>
              <a:t>2</a:t>
            </a:r>
          </a:p>
        </p:txBody>
      </p:sp>
      <p:cxnSp>
        <p:nvCxnSpPr>
          <p:cNvPr id="18" name="!!g-edge-BD">
            <a:extLst>
              <a:ext uri="{FF2B5EF4-FFF2-40B4-BE49-F238E27FC236}">
                <a16:creationId xmlns:a16="http://schemas.microsoft.com/office/drawing/2014/main" id="{4D5A1082-35D3-41E0-80E3-84F320E049D2}"/>
              </a:ext>
            </a:extLst>
          </p:cNvPr>
          <p:cNvCxnSpPr/>
          <p:nvPr/>
        </p:nvCxnSpPr>
        <p:spPr>
          <a:xfrm>
            <a:off x="3327400" y="273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9" name="!!g-weight-BD">
            <a:extLst>
              <a:ext uri="{FF2B5EF4-FFF2-40B4-BE49-F238E27FC236}">
                <a16:creationId xmlns:a16="http://schemas.microsoft.com/office/drawing/2014/main" id="{62637FCF-DF22-41B7-83BB-C4636B54AAB8}"/>
              </a:ext>
            </a:extLst>
          </p:cNvPr>
          <p:cNvSpPr txBox="1"/>
          <p:nvPr/>
        </p:nvSpPr>
        <p:spPr bwMode="auto">
          <a:xfrm>
            <a:off x="3778250" y="288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20" name="!!g-edge-CD">
            <a:extLst>
              <a:ext uri="{FF2B5EF4-FFF2-40B4-BE49-F238E27FC236}">
                <a16:creationId xmlns:a16="http://schemas.microsoft.com/office/drawing/2014/main" id="{D03C6558-F494-4240-B9CB-E4200A7F4CC4}"/>
              </a:ext>
            </a:extLst>
          </p:cNvPr>
          <p:cNvCxnSpPr/>
          <p:nvPr/>
        </p:nvCxnSpPr>
        <p:spPr>
          <a:xfrm flipV="1">
            <a:off x="3202716" y="2995004"/>
            <a:ext cx="1659068" cy="2010992"/>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1" name="!!g-weight-CD">
            <a:extLst>
              <a:ext uri="{FF2B5EF4-FFF2-40B4-BE49-F238E27FC236}">
                <a16:creationId xmlns:a16="http://schemas.microsoft.com/office/drawing/2014/main" id="{02D9CB96-60D3-4A4F-8D10-71158988A2E9}"/>
              </a:ext>
            </a:extLst>
          </p:cNvPr>
          <p:cNvSpPr txBox="1"/>
          <p:nvPr/>
        </p:nvSpPr>
        <p:spPr bwMode="auto">
          <a:xfrm>
            <a:off x="4052550" y="4023597"/>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5</a:t>
            </a:r>
          </a:p>
        </p:txBody>
      </p:sp>
      <p:cxnSp>
        <p:nvCxnSpPr>
          <p:cNvPr id="22" name="!!g-edge-CE">
            <a:extLst>
              <a:ext uri="{FF2B5EF4-FFF2-40B4-BE49-F238E27FC236}">
                <a16:creationId xmlns:a16="http://schemas.microsoft.com/office/drawing/2014/main" id="{D653D008-E06B-4280-A134-220A47F006DB}"/>
              </a:ext>
            </a:extLst>
          </p:cNvPr>
          <p:cNvCxnSpPr/>
          <p:nvPr/>
        </p:nvCxnSpPr>
        <p:spPr>
          <a:xfrm>
            <a:off x="3327400" y="527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3" name="!!g-weight-CE">
            <a:extLst>
              <a:ext uri="{FF2B5EF4-FFF2-40B4-BE49-F238E27FC236}">
                <a16:creationId xmlns:a16="http://schemas.microsoft.com/office/drawing/2014/main" id="{510EC5FF-9F93-4C67-AF6D-1AD2368A5F4A}"/>
              </a:ext>
            </a:extLst>
          </p:cNvPr>
          <p:cNvSpPr txBox="1"/>
          <p:nvPr/>
        </p:nvSpPr>
        <p:spPr bwMode="auto">
          <a:xfrm>
            <a:off x="3778250" y="542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8</a:t>
            </a:r>
          </a:p>
        </p:txBody>
      </p:sp>
      <p:cxnSp>
        <p:nvCxnSpPr>
          <p:cNvPr id="24" name="!!g-edge-DE">
            <a:extLst>
              <a:ext uri="{FF2B5EF4-FFF2-40B4-BE49-F238E27FC236}">
                <a16:creationId xmlns:a16="http://schemas.microsoft.com/office/drawing/2014/main" id="{A2D688BD-3F16-4720-ABF7-6A6E0A064A70}"/>
              </a:ext>
            </a:extLst>
          </p:cNvPr>
          <p:cNvCxnSpPr/>
          <p:nvPr/>
        </p:nvCxnSpPr>
        <p:spPr>
          <a:xfrm>
            <a:off x="50800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5" name="!!g-weight-DE">
            <a:extLst>
              <a:ext uri="{FF2B5EF4-FFF2-40B4-BE49-F238E27FC236}">
                <a16:creationId xmlns:a16="http://schemas.microsoft.com/office/drawing/2014/main" id="{1482F3A4-BF34-4559-B8A9-A52174AB957C}"/>
              </a:ext>
            </a:extLst>
          </p:cNvPr>
          <p:cNvSpPr txBox="1"/>
          <p:nvPr/>
        </p:nvSpPr>
        <p:spPr bwMode="auto">
          <a:xfrm>
            <a:off x="44704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cxnSp>
        <p:nvCxnSpPr>
          <p:cNvPr id="26" name="!!g-edge-DF">
            <a:extLst>
              <a:ext uri="{FF2B5EF4-FFF2-40B4-BE49-F238E27FC236}">
                <a16:creationId xmlns:a16="http://schemas.microsoft.com/office/drawing/2014/main" id="{C8EDD83B-5EFB-4603-A1FF-0994EC277592}"/>
              </a:ext>
            </a:extLst>
          </p:cNvPr>
          <p:cNvCxnSpPr/>
          <p:nvPr/>
        </p:nvCxnSpPr>
        <p:spPr>
          <a:xfrm>
            <a:off x="5362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7" name="!!g-weight-DF">
            <a:extLst>
              <a:ext uri="{FF2B5EF4-FFF2-40B4-BE49-F238E27FC236}">
                <a16:creationId xmlns:a16="http://schemas.microsoft.com/office/drawing/2014/main" id="{7A8B42C4-4932-4FBA-84CE-24807D9A9B49}"/>
              </a:ext>
            </a:extLst>
          </p:cNvPr>
          <p:cNvSpPr txBox="1"/>
          <p:nvPr/>
        </p:nvSpPr>
        <p:spPr bwMode="auto">
          <a:xfrm>
            <a:off x="5544864"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28" name="!!g-edge-EF">
            <a:extLst>
              <a:ext uri="{FF2B5EF4-FFF2-40B4-BE49-F238E27FC236}">
                <a16:creationId xmlns:a16="http://schemas.microsoft.com/office/drawing/2014/main" id="{B4BF07A6-2624-45FC-B720-2F633BEF14A4}"/>
              </a:ext>
            </a:extLst>
          </p:cNvPr>
          <p:cNvCxnSpPr/>
          <p:nvPr/>
        </p:nvCxnSpPr>
        <p:spPr>
          <a:xfrm flipV="1">
            <a:off x="5362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9" name="!!g-weight-EF">
            <a:extLst>
              <a:ext uri="{FF2B5EF4-FFF2-40B4-BE49-F238E27FC236}">
                <a16:creationId xmlns:a16="http://schemas.microsoft.com/office/drawing/2014/main" id="{59D9152D-0C85-47FB-A1B0-AA59FB72CD7A}"/>
              </a:ext>
            </a:extLst>
          </p:cNvPr>
          <p:cNvSpPr txBox="1"/>
          <p:nvPr/>
        </p:nvSpPr>
        <p:spPr bwMode="auto">
          <a:xfrm>
            <a:off x="5948636"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sp>
        <p:nvSpPr>
          <p:cNvPr id="30" name="!!g-node-A">
            <a:extLst>
              <a:ext uri="{FF2B5EF4-FFF2-40B4-BE49-F238E27FC236}">
                <a16:creationId xmlns:a16="http://schemas.microsoft.com/office/drawing/2014/main" id="{716A20D3-7DB7-408C-B577-1B17B250418B}"/>
              </a:ext>
            </a:extLst>
          </p:cNvPr>
          <p:cNvSpPr/>
          <p:nvPr/>
        </p:nvSpPr>
        <p:spPr>
          <a:xfrm>
            <a:off x="825500" y="368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A</a:t>
            </a:r>
            <a:endParaRPr lang="ru-RU" sz="2200">
              <a:solidFill>
                <a:srgbClr val="FFFFFF"/>
              </a:solidFill>
              <a:latin typeface="Montserrat"/>
            </a:endParaRPr>
          </a:p>
        </p:txBody>
      </p:sp>
      <p:sp>
        <p:nvSpPr>
          <p:cNvPr id="31" name="!!g-node-B">
            <a:extLst>
              <a:ext uri="{FF2B5EF4-FFF2-40B4-BE49-F238E27FC236}">
                <a16:creationId xmlns:a16="http://schemas.microsoft.com/office/drawing/2014/main" id="{03BFAA3D-BC53-44B0-ACE6-EA267312046C}"/>
              </a:ext>
            </a:extLst>
          </p:cNvPr>
          <p:cNvSpPr/>
          <p:nvPr/>
        </p:nvSpPr>
        <p:spPr>
          <a:xfrm>
            <a:off x="26670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32" name="!!g-node-C">
            <a:extLst>
              <a:ext uri="{FF2B5EF4-FFF2-40B4-BE49-F238E27FC236}">
                <a16:creationId xmlns:a16="http://schemas.microsoft.com/office/drawing/2014/main" id="{90A70CD7-86DE-4983-8E0F-6095305896C5}"/>
              </a:ext>
            </a:extLst>
          </p:cNvPr>
          <p:cNvSpPr/>
          <p:nvPr/>
        </p:nvSpPr>
        <p:spPr>
          <a:xfrm>
            <a:off x="2667000" y="4953000"/>
            <a:ext cx="635000" cy="635000"/>
          </a:xfrm>
          <a:prstGeom prst="ellipse">
            <a:avLst/>
          </a:prstGeom>
          <a:solidFill>
            <a:srgbClr val="FFFFFF"/>
          </a:solidFill>
          <a:ln w="44450">
            <a:solidFill>
              <a:srgbClr val="76218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33" name="!!g-node-D">
            <a:extLst>
              <a:ext uri="{FF2B5EF4-FFF2-40B4-BE49-F238E27FC236}">
                <a16:creationId xmlns:a16="http://schemas.microsoft.com/office/drawing/2014/main" id="{F217326E-50D5-4952-9938-7735BEFAEC1F}"/>
              </a:ext>
            </a:extLst>
          </p:cNvPr>
          <p:cNvSpPr/>
          <p:nvPr/>
        </p:nvSpPr>
        <p:spPr>
          <a:xfrm>
            <a:off x="47625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34" name="!!g-node-E">
            <a:extLst>
              <a:ext uri="{FF2B5EF4-FFF2-40B4-BE49-F238E27FC236}">
                <a16:creationId xmlns:a16="http://schemas.microsoft.com/office/drawing/2014/main" id="{2CC78CCF-BD6D-4EE3-94F9-FEC5B96038FA}"/>
              </a:ext>
            </a:extLst>
          </p:cNvPr>
          <p:cNvSpPr/>
          <p:nvPr/>
        </p:nvSpPr>
        <p:spPr>
          <a:xfrm>
            <a:off x="47625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35" name="!!g-node-F">
            <a:extLst>
              <a:ext uri="{FF2B5EF4-FFF2-40B4-BE49-F238E27FC236}">
                <a16:creationId xmlns:a16="http://schemas.microsoft.com/office/drawing/2014/main" id="{148C0FC3-B9A7-4870-A592-A9422F936813}"/>
              </a:ext>
            </a:extLst>
          </p:cNvPr>
          <p:cNvSpPr/>
          <p:nvPr/>
        </p:nvSpPr>
        <p:spPr>
          <a:xfrm>
            <a:off x="6604000" y="368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F</a:t>
            </a:r>
            <a:endParaRPr lang="ru-RU" sz="2200">
              <a:solidFill>
                <a:srgbClr val="352379"/>
              </a:solidFill>
              <a:latin typeface="Montserrat"/>
            </a:endParaRPr>
          </a:p>
        </p:txBody>
      </p:sp>
      <p:graphicFrame>
        <p:nvGraphicFramePr>
          <p:cNvPr id="36" name="!!distance-table">
            <a:extLst>
              <a:ext uri="{FF2B5EF4-FFF2-40B4-BE49-F238E27FC236}">
                <a16:creationId xmlns:a16="http://schemas.microsoft.com/office/drawing/2014/main" id="{D044878D-69F6-4873-96BA-22619EA7AE38}"/>
              </a:ext>
            </a:extLst>
          </p:cNvPr>
          <p:cNvGraphicFramePr>
            <a:graphicFrameLocks noGrp="1"/>
          </p:cNvGraphicFramePr>
          <p:nvPr>
            <p:extLst>
              <p:ext uri="{D42A27DB-BD31-4B8C-83A1-F6EECF244321}">
                <p14:modId xmlns:p14="http://schemas.microsoft.com/office/powerpoint/2010/main" val="3286779289"/>
              </p:ext>
            </p:extLst>
          </p:nvPr>
        </p:nvGraphicFramePr>
        <p:xfrm>
          <a:off x="8026400" y="1816100"/>
          <a:ext cx="3683000" cy="2997197"/>
        </p:xfrm>
        <a:graphic>
          <a:graphicData uri="http://schemas.openxmlformats.org/drawingml/2006/table">
            <a:tbl>
              <a:tblPr firstRow="1" bandRow="1">
                <a:tableStyleId>{0E3FDE45-AF77-4B5C-9715-49D594BDF05E}</a:tableStyleId>
              </a:tblPr>
              <a:tblGrid>
                <a:gridCol w="1841500">
                  <a:extLst>
                    <a:ext uri="{9D8B030D-6E8A-4147-A177-3AD203B41FA5}">
                      <a16:colId xmlns:a16="http://schemas.microsoft.com/office/drawing/2014/main" val="1743071625"/>
                    </a:ext>
                  </a:extLst>
                </a:gridCol>
                <a:gridCol w="1841500">
                  <a:extLst>
                    <a:ext uri="{9D8B030D-6E8A-4147-A177-3AD203B41FA5}">
                      <a16:colId xmlns:a16="http://schemas.microsoft.com/office/drawing/2014/main" val="2726011206"/>
                    </a:ext>
                  </a:extLst>
                </a:gridCol>
              </a:tblGrid>
              <a:tr h="428171">
                <a:tc>
                  <a:txBody>
                    <a:bodyPr/>
                    <a:lstStyle/>
                    <a:p>
                      <a:pPr algn="ctr"/>
                      <a:r>
                        <a:rPr lang="en-US" sz="2000" b="1">
                          <a:solidFill>
                            <a:srgbClr val="FFFFFF"/>
                          </a:solidFill>
                          <a:latin typeface="Montserrat"/>
                        </a:rPr>
                        <a:t>v</a:t>
                      </a:r>
                      <a:endParaRPr lang="ru-RU" sz="20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000" b="1">
                          <a:solidFill>
                            <a:srgbClr val="FFFFFF"/>
                          </a:solidFill>
                          <a:latin typeface="Montserrat"/>
                        </a:rPr>
                        <a:t>dist</a:t>
                      </a:r>
                      <a:endParaRPr lang="ru-RU" sz="20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1358640430"/>
                  </a:ext>
                </a:extLst>
              </a:tr>
              <a:tr h="428171">
                <a:tc>
                  <a:txBody>
                    <a:bodyPr/>
                    <a:lstStyle/>
                    <a:p>
                      <a:pPr algn="ctr"/>
                      <a:r>
                        <a:rPr lang="en-US" sz="2000" b="0">
                          <a:solidFill>
                            <a:srgbClr val="352379"/>
                          </a:solidFill>
                          <a:latin typeface="Montserrat"/>
                        </a:rPr>
                        <a:t>A</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968492826"/>
                  </a:ext>
                </a:extLst>
              </a:tr>
              <a:tr h="428171">
                <a:tc>
                  <a:txBody>
                    <a:bodyPr/>
                    <a:lstStyle/>
                    <a:p>
                      <a:pPr algn="ctr"/>
                      <a:r>
                        <a:rPr lang="en-US" sz="2000" b="0">
                          <a:solidFill>
                            <a:srgbClr val="352379"/>
                          </a:solidFill>
                          <a:latin typeface="Montserrat"/>
                        </a:rPr>
                        <a:t>B</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5</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4098324059"/>
                  </a:ext>
                </a:extLst>
              </a:tr>
              <a:tr h="428171">
                <a:tc>
                  <a:txBody>
                    <a:bodyPr/>
                    <a:lstStyle/>
                    <a:p>
                      <a:pPr algn="ctr"/>
                      <a:r>
                        <a:rPr lang="en-US" sz="2000" b="0">
                          <a:solidFill>
                            <a:srgbClr val="352379"/>
                          </a:solidFill>
                          <a:latin typeface="Montserrat"/>
                        </a:rPr>
                        <a:t>C</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3</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1834411671"/>
                  </a:ext>
                </a:extLst>
              </a:tr>
              <a:tr h="428171">
                <a:tc>
                  <a:txBody>
                    <a:bodyPr/>
                    <a:lstStyle/>
                    <a:p>
                      <a:pPr algn="ctr"/>
                      <a:r>
                        <a:rPr lang="en-US" sz="2000" b="0">
                          <a:solidFill>
                            <a:srgbClr val="352379"/>
                          </a:solidFill>
                          <a:latin typeface="Montserrat"/>
                        </a:rPr>
                        <a:t>D</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3261824885"/>
                  </a:ext>
                </a:extLst>
              </a:tr>
              <a:tr h="428171">
                <a:tc>
                  <a:txBody>
                    <a:bodyPr/>
                    <a:lstStyle/>
                    <a:p>
                      <a:pPr algn="ctr"/>
                      <a:r>
                        <a:rPr lang="en-US" sz="2000" b="0">
                          <a:solidFill>
                            <a:srgbClr val="352379"/>
                          </a:solidFill>
                          <a:latin typeface="Montserrat"/>
                        </a:rPr>
                        <a:t>E</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3441263279"/>
                  </a:ext>
                </a:extLst>
              </a:tr>
              <a:tr h="428171">
                <a:tc>
                  <a:txBody>
                    <a:bodyPr/>
                    <a:lstStyle/>
                    <a:p>
                      <a:pPr algn="ctr"/>
                      <a:r>
                        <a:rPr lang="en-US" sz="2000" b="0">
                          <a:solidFill>
                            <a:srgbClr val="352379"/>
                          </a:solidFill>
                          <a:latin typeface="Montserrat"/>
                        </a:rPr>
                        <a:t>F</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1550769239"/>
                  </a:ext>
                </a:extLst>
              </a:tr>
            </a:tbl>
          </a:graphicData>
        </a:graphic>
      </p:graphicFrame>
      <p:sp>
        <p:nvSpPr>
          <p:cNvPr id="37" name="!!calculation">
            <a:extLst>
              <a:ext uri="{FF2B5EF4-FFF2-40B4-BE49-F238E27FC236}">
                <a16:creationId xmlns:a16="http://schemas.microsoft.com/office/drawing/2014/main" id="{77DE2E5E-4407-46D5-9F8D-80074F18FCF1}"/>
              </a:ext>
            </a:extLst>
          </p:cNvPr>
          <p:cNvSpPr txBox="1"/>
          <p:nvPr/>
        </p:nvSpPr>
        <p:spPr bwMode="auto">
          <a:xfrm>
            <a:off x="609600" y="1625599"/>
            <a:ext cx="7112000" cy="673100"/>
          </a:xfrm>
          <a:prstGeom prst="rect">
            <a:avLst/>
          </a:prstGeom>
        </p:spPr>
        <p:txBody>
          <a:bodyPr vert="horz" wrap="square" lIns="0" tIns="0" rIns="0" bIns="0" rtlCol="0">
            <a:noAutofit/>
          </a:bodyPr>
          <a:lstStyle/>
          <a:p>
            <a:r>
              <a:rPr lang="pl-PL" sz="2000">
                <a:solidFill>
                  <a:srgbClr val="352379"/>
                </a:solidFill>
                <a:latin typeface="Montserrat"/>
              </a:rPr>
              <a:t>B: 7 → 3 + 2 = 5</a:t>
            </a:r>
            <a:endParaRPr lang="ru-RU" sz="2000">
              <a:solidFill>
                <a:srgbClr val="352379"/>
              </a:solidFill>
              <a:latin typeface="Montserrat"/>
            </a:endParaRPr>
          </a:p>
        </p:txBody>
      </p:sp>
      <p:sp>
        <p:nvSpPr>
          <p:cNvPr id="38" name="heap-label">
            <a:extLst>
              <a:ext uri="{FF2B5EF4-FFF2-40B4-BE49-F238E27FC236}">
                <a16:creationId xmlns:a16="http://schemas.microsoft.com/office/drawing/2014/main" id="{4D5CE73D-E986-4D6A-8A63-3270EF6E77C9}"/>
              </a:ext>
            </a:extLst>
          </p:cNvPr>
          <p:cNvSpPr txBox="1"/>
          <p:nvPr/>
        </p:nvSpPr>
        <p:spPr bwMode="auto">
          <a:xfrm>
            <a:off x="8026400" y="4952999"/>
            <a:ext cx="3683000" cy="317500"/>
          </a:xfrm>
          <a:prstGeom prst="rect">
            <a:avLst/>
          </a:prstGeom>
        </p:spPr>
        <p:txBody>
          <a:bodyPr vert="horz" wrap="square" lIns="0" tIns="0" rIns="0" bIns="0" rtlCol="0">
            <a:noAutofit/>
          </a:bodyPr>
          <a:lstStyle/>
          <a:p>
            <a:r>
              <a:rPr lang="en-US" sz="1700" b="1">
                <a:solidFill>
                  <a:srgbClr val="352379"/>
                </a:solidFill>
                <a:latin typeface="Montserrat"/>
              </a:rPr>
              <a:t>Priority queue</a:t>
            </a:r>
            <a:endParaRPr lang="ru-RU" sz="1700" b="1">
              <a:solidFill>
                <a:srgbClr val="352379"/>
              </a:solidFill>
              <a:latin typeface="Montserrat"/>
            </a:endParaRPr>
          </a:p>
        </p:txBody>
      </p:sp>
      <p:sp>
        <p:nvSpPr>
          <p:cNvPr id="39" name="!!heap-state">
            <a:extLst>
              <a:ext uri="{FF2B5EF4-FFF2-40B4-BE49-F238E27FC236}">
                <a16:creationId xmlns:a16="http://schemas.microsoft.com/office/drawing/2014/main" id="{AD4174D2-8BDB-41CE-9F8E-2207501DAD9D}"/>
              </a:ext>
            </a:extLst>
          </p:cNvPr>
          <p:cNvSpPr txBox="1"/>
          <p:nvPr/>
        </p:nvSpPr>
        <p:spPr bwMode="auto">
          <a:xfrm>
            <a:off x="8026400" y="5321299"/>
            <a:ext cx="3683000" cy="533400"/>
          </a:xfrm>
          <a:prstGeom prst="rect">
            <a:avLst/>
          </a:prstGeom>
        </p:spPr>
        <p:txBody>
          <a:bodyPr vert="horz" wrap="square" lIns="0" tIns="0" rIns="0" bIns="0" rtlCol="0">
            <a:noAutofit/>
          </a:bodyPr>
          <a:lstStyle/>
          <a:p>
            <a:r>
              <a:rPr lang="ru-RU" sz="1600">
                <a:solidFill>
                  <a:srgbClr val="352379"/>
                </a:solidFill>
                <a:latin typeface="Montserrat"/>
              </a:rPr>
              <a:t>(5, B), (7, B)</a:t>
            </a:r>
          </a:p>
          <a:p>
            <a:r>
              <a:rPr lang="ru-RU" sz="1600">
                <a:solidFill>
                  <a:srgbClr val="352379"/>
                </a:solidFill>
                <a:latin typeface="Montserrat"/>
              </a:rPr>
              <a:t>Запись 7 пока остаётся</a:t>
            </a:r>
          </a:p>
        </p:txBody>
      </p:sp>
      <p:sp>
        <p:nvSpPr>
          <p:cNvPr id="3" name="lecture-footer">
            <a:extLst>
              <a:ext uri="{FF2B5EF4-FFF2-40B4-BE49-F238E27FC236}">
                <a16:creationId xmlns:a16="http://schemas.microsoft.com/office/drawing/2014/main" id="{7D116134-F8BD-4008-93F1-0D2CAE53966D}"/>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4" name="slide-number">
            <a:extLst>
              <a:ext uri="{FF2B5EF4-FFF2-40B4-BE49-F238E27FC236}">
                <a16:creationId xmlns:a16="http://schemas.microsoft.com/office/drawing/2014/main" id="{8C2DA122-CE58-4F22-85EC-6331AB9F9D88}"/>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22</a:t>
            </a:r>
          </a:p>
        </p:txBody>
      </p:sp>
      <p:sp>
        <p:nvSpPr>
          <p:cNvPr id="5" name="bottom-band">
            <a:extLst>
              <a:ext uri="{FF2B5EF4-FFF2-40B4-BE49-F238E27FC236}">
                <a16:creationId xmlns:a16="http://schemas.microsoft.com/office/drawing/2014/main" id="{22329DFC-5E4E-4A0A-AD56-1AAD9C3152DC}"/>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bottom-message">
            <a:extLst>
              <a:ext uri="{FF2B5EF4-FFF2-40B4-BE49-F238E27FC236}">
                <a16:creationId xmlns:a16="http://schemas.microsoft.com/office/drawing/2014/main" id="{E12DDFFA-AE56-4789-B1CA-60D4F0AE7DDE}"/>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Белая: ожидает   •   контур: текущая   •   фиолетовая: обработана</a:t>
            </a:r>
          </a:p>
        </p:txBody>
      </p:sp>
    </p:spTree>
    <p:extLst>
      <p:ext uri="{BB962C8B-B14F-4D97-AF65-F5344CB8AC3E}">
        <p14:creationId xmlns:p14="http://schemas.microsoft.com/office/powerpoint/2010/main" val="17524267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55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25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9"/>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3012CE-3832-450F-93D1-56DE263D984A}"/>
              </a:ext>
            </a:extLst>
          </p:cNvPr>
          <p:cNvSpPr>
            <a:spLocks noGrp="1"/>
          </p:cNvSpPr>
          <p:nvPr>
            <p:ph type="title"/>
          </p:nvPr>
        </p:nvSpPr>
        <p:spPr>
          <a:xfrm>
            <a:off x="479425" y="597855"/>
            <a:ext cx="11229975" cy="1140459"/>
          </a:xfrm>
        </p:spPr>
        <p:txBody>
          <a:bodyPr/>
          <a:lstStyle/>
          <a:p>
            <a:r>
              <a:rPr lang="ru-RU"/>
              <a:t>Из C: открываем D и E</a:t>
            </a:r>
          </a:p>
        </p:txBody>
      </p:sp>
      <p:sp>
        <p:nvSpPr>
          <p:cNvPr id="7" name="Текст 6">
            <a:extLst>
              <a:ext uri="{FF2B5EF4-FFF2-40B4-BE49-F238E27FC236}">
                <a16:creationId xmlns:a16="http://schemas.microsoft.com/office/drawing/2014/main" id="{BD921E17-1662-49A2-B4A2-13ECB2A88527}"/>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cxnSp>
        <p:nvCxnSpPr>
          <p:cNvPr id="12" name="!!g-edge-AB">
            <a:extLst>
              <a:ext uri="{FF2B5EF4-FFF2-40B4-BE49-F238E27FC236}">
                <a16:creationId xmlns:a16="http://schemas.microsoft.com/office/drawing/2014/main" id="{8D5A390E-C272-4C3C-A679-62C8DEB368BC}"/>
              </a:ext>
            </a:extLst>
          </p:cNvPr>
          <p:cNvCxnSpPr/>
          <p:nvPr/>
        </p:nvCxnSpPr>
        <p:spPr>
          <a:xfrm flipV="1">
            <a:off x="1425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3" name="!!g-weight-AB">
            <a:extLst>
              <a:ext uri="{FF2B5EF4-FFF2-40B4-BE49-F238E27FC236}">
                <a16:creationId xmlns:a16="http://schemas.microsoft.com/office/drawing/2014/main" id="{046E5BC9-0D99-4901-9F84-4340DFFFB7B8}"/>
              </a:ext>
            </a:extLst>
          </p:cNvPr>
          <p:cNvSpPr txBox="1"/>
          <p:nvPr/>
        </p:nvSpPr>
        <p:spPr bwMode="auto">
          <a:xfrm>
            <a:off x="2011636"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7</a:t>
            </a:r>
          </a:p>
        </p:txBody>
      </p:sp>
      <p:cxnSp>
        <p:nvCxnSpPr>
          <p:cNvPr id="14" name="!!g-edge-AC">
            <a:extLst>
              <a:ext uri="{FF2B5EF4-FFF2-40B4-BE49-F238E27FC236}">
                <a16:creationId xmlns:a16="http://schemas.microsoft.com/office/drawing/2014/main" id="{D3378560-7558-45FB-BEB8-D8501B9836E6}"/>
              </a:ext>
            </a:extLst>
          </p:cNvPr>
          <p:cNvCxnSpPr/>
          <p:nvPr/>
        </p:nvCxnSpPr>
        <p:spPr>
          <a:xfrm>
            <a:off x="1425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5" name="!!g-weight-AC">
            <a:extLst>
              <a:ext uri="{FF2B5EF4-FFF2-40B4-BE49-F238E27FC236}">
                <a16:creationId xmlns:a16="http://schemas.microsoft.com/office/drawing/2014/main" id="{4AE74058-1E62-42AB-A320-7EFD55E73ABF}"/>
              </a:ext>
            </a:extLst>
          </p:cNvPr>
          <p:cNvSpPr txBox="1"/>
          <p:nvPr/>
        </p:nvSpPr>
        <p:spPr bwMode="auto">
          <a:xfrm>
            <a:off x="1607864"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6" name="!!g-edge-BC">
            <a:extLst>
              <a:ext uri="{FF2B5EF4-FFF2-40B4-BE49-F238E27FC236}">
                <a16:creationId xmlns:a16="http://schemas.microsoft.com/office/drawing/2014/main" id="{277BC1C4-7068-48A3-A9E7-C2454E03D5C6}"/>
              </a:ext>
            </a:extLst>
          </p:cNvPr>
          <p:cNvCxnSpPr/>
          <p:nvPr/>
        </p:nvCxnSpPr>
        <p:spPr>
          <a:xfrm>
            <a:off x="29845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7" name="!!g-weight-BC">
            <a:extLst>
              <a:ext uri="{FF2B5EF4-FFF2-40B4-BE49-F238E27FC236}">
                <a16:creationId xmlns:a16="http://schemas.microsoft.com/office/drawing/2014/main" id="{3F13314D-BCBD-4F51-84AD-D68974DCD3DE}"/>
              </a:ext>
            </a:extLst>
          </p:cNvPr>
          <p:cNvSpPr txBox="1"/>
          <p:nvPr/>
        </p:nvSpPr>
        <p:spPr bwMode="auto">
          <a:xfrm>
            <a:off x="23749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18" name="!!g-edge-BD">
            <a:extLst>
              <a:ext uri="{FF2B5EF4-FFF2-40B4-BE49-F238E27FC236}">
                <a16:creationId xmlns:a16="http://schemas.microsoft.com/office/drawing/2014/main" id="{4D5A1082-35D3-41E0-80E3-84F320E049D2}"/>
              </a:ext>
            </a:extLst>
          </p:cNvPr>
          <p:cNvCxnSpPr/>
          <p:nvPr/>
        </p:nvCxnSpPr>
        <p:spPr>
          <a:xfrm>
            <a:off x="3327400" y="273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9" name="!!g-weight-BD">
            <a:extLst>
              <a:ext uri="{FF2B5EF4-FFF2-40B4-BE49-F238E27FC236}">
                <a16:creationId xmlns:a16="http://schemas.microsoft.com/office/drawing/2014/main" id="{62637FCF-DF22-41B7-83BB-C4636B54AAB8}"/>
              </a:ext>
            </a:extLst>
          </p:cNvPr>
          <p:cNvSpPr txBox="1"/>
          <p:nvPr/>
        </p:nvSpPr>
        <p:spPr bwMode="auto">
          <a:xfrm>
            <a:off x="3778250" y="288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20" name="!!g-edge-CD">
            <a:extLst>
              <a:ext uri="{FF2B5EF4-FFF2-40B4-BE49-F238E27FC236}">
                <a16:creationId xmlns:a16="http://schemas.microsoft.com/office/drawing/2014/main" id="{D03C6558-F494-4240-B9CB-E4200A7F4CC4}"/>
              </a:ext>
            </a:extLst>
          </p:cNvPr>
          <p:cNvCxnSpPr/>
          <p:nvPr/>
        </p:nvCxnSpPr>
        <p:spPr>
          <a:xfrm flipV="1">
            <a:off x="3202716" y="2995004"/>
            <a:ext cx="1659068" cy="2010992"/>
          </a:xfrm>
          <a:prstGeom prst="straightConnector1">
            <a:avLst/>
          </a:prstGeom>
          <a:ln w="44450">
            <a:solidFill>
              <a:srgbClr val="762181"/>
            </a:solidFill>
          </a:ln>
        </p:spPr>
        <p:style>
          <a:lnRef idx="1">
            <a:schemeClr val="accent1"/>
          </a:lnRef>
          <a:fillRef idx="0">
            <a:schemeClr val="accent1"/>
          </a:fillRef>
          <a:effectRef idx="0">
            <a:schemeClr val="accent1"/>
          </a:effectRef>
          <a:fontRef idx="minor">
            <a:schemeClr val="tx1"/>
          </a:fontRef>
        </p:style>
      </p:cxnSp>
      <p:sp>
        <p:nvSpPr>
          <p:cNvPr id="21" name="!!g-weight-CD">
            <a:extLst>
              <a:ext uri="{FF2B5EF4-FFF2-40B4-BE49-F238E27FC236}">
                <a16:creationId xmlns:a16="http://schemas.microsoft.com/office/drawing/2014/main" id="{02D9CB96-60D3-4A4F-8D10-71158988A2E9}"/>
              </a:ext>
            </a:extLst>
          </p:cNvPr>
          <p:cNvSpPr txBox="1"/>
          <p:nvPr/>
        </p:nvSpPr>
        <p:spPr bwMode="auto">
          <a:xfrm>
            <a:off x="4052550" y="4023597"/>
            <a:ext cx="508000" cy="381000"/>
          </a:xfrm>
          <a:prstGeom prst="rect">
            <a:avLst/>
          </a:prstGeom>
          <a:solidFill>
            <a:srgbClr val="FFFFFF"/>
          </a:solidFill>
        </p:spPr>
        <p:txBody>
          <a:bodyPr vert="horz" wrap="square" lIns="0" tIns="0" rIns="0" bIns="0" rtlCol="0">
            <a:noAutofit/>
          </a:bodyPr>
          <a:lstStyle/>
          <a:p>
            <a:pPr algn="ctr"/>
            <a:r>
              <a:rPr lang="ru-RU" sz="2000">
                <a:solidFill>
                  <a:srgbClr val="762181"/>
                </a:solidFill>
                <a:latin typeface="Montserrat"/>
              </a:rPr>
              <a:t>5</a:t>
            </a:r>
          </a:p>
        </p:txBody>
      </p:sp>
      <p:cxnSp>
        <p:nvCxnSpPr>
          <p:cNvPr id="22" name="!!g-edge-CE">
            <a:extLst>
              <a:ext uri="{FF2B5EF4-FFF2-40B4-BE49-F238E27FC236}">
                <a16:creationId xmlns:a16="http://schemas.microsoft.com/office/drawing/2014/main" id="{D653D008-E06B-4280-A134-220A47F006DB}"/>
              </a:ext>
            </a:extLst>
          </p:cNvPr>
          <p:cNvCxnSpPr/>
          <p:nvPr/>
        </p:nvCxnSpPr>
        <p:spPr>
          <a:xfrm>
            <a:off x="3327400" y="5270500"/>
            <a:ext cx="1409700" cy="0"/>
          </a:xfrm>
          <a:prstGeom prst="straightConnector1">
            <a:avLst/>
          </a:prstGeom>
          <a:ln w="44450">
            <a:solidFill>
              <a:srgbClr val="762181"/>
            </a:solidFill>
          </a:ln>
        </p:spPr>
        <p:style>
          <a:lnRef idx="1">
            <a:schemeClr val="accent1"/>
          </a:lnRef>
          <a:fillRef idx="0">
            <a:schemeClr val="accent1"/>
          </a:fillRef>
          <a:effectRef idx="0">
            <a:schemeClr val="accent1"/>
          </a:effectRef>
          <a:fontRef idx="minor">
            <a:schemeClr val="tx1"/>
          </a:fontRef>
        </p:style>
      </p:cxnSp>
      <p:sp>
        <p:nvSpPr>
          <p:cNvPr id="23" name="!!g-weight-CE">
            <a:extLst>
              <a:ext uri="{FF2B5EF4-FFF2-40B4-BE49-F238E27FC236}">
                <a16:creationId xmlns:a16="http://schemas.microsoft.com/office/drawing/2014/main" id="{510EC5FF-9F93-4C67-AF6D-1AD2368A5F4A}"/>
              </a:ext>
            </a:extLst>
          </p:cNvPr>
          <p:cNvSpPr txBox="1"/>
          <p:nvPr/>
        </p:nvSpPr>
        <p:spPr bwMode="auto">
          <a:xfrm>
            <a:off x="3778250" y="5422899"/>
            <a:ext cx="508000" cy="381000"/>
          </a:xfrm>
          <a:prstGeom prst="rect">
            <a:avLst/>
          </a:prstGeom>
          <a:solidFill>
            <a:srgbClr val="FFFFFF"/>
          </a:solidFill>
        </p:spPr>
        <p:txBody>
          <a:bodyPr vert="horz" wrap="square" lIns="0" tIns="0" rIns="0" bIns="0" rtlCol="0">
            <a:noAutofit/>
          </a:bodyPr>
          <a:lstStyle/>
          <a:p>
            <a:pPr algn="ctr"/>
            <a:r>
              <a:rPr lang="ru-RU" sz="2000">
                <a:solidFill>
                  <a:srgbClr val="762181"/>
                </a:solidFill>
                <a:latin typeface="Montserrat"/>
              </a:rPr>
              <a:t>8</a:t>
            </a:r>
          </a:p>
        </p:txBody>
      </p:sp>
      <p:cxnSp>
        <p:nvCxnSpPr>
          <p:cNvPr id="24" name="!!g-edge-DE">
            <a:extLst>
              <a:ext uri="{FF2B5EF4-FFF2-40B4-BE49-F238E27FC236}">
                <a16:creationId xmlns:a16="http://schemas.microsoft.com/office/drawing/2014/main" id="{A2D688BD-3F16-4720-ABF7-6A6E0A064A70}"/>
              </a:ext>
            </a:extLst>
          </p:cNvPr>
          <p:cNvCxnSpPr/>
          <p:nvPr/>
        </p:nvCxnSpPr>
        <p:spPr>
          <a:xfrm>
            <a:off x="50800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5" name="!!g-weight-DE">
            <a:extLst>
              <a:ext uri="{FF2B5EF4-FFF2-40B4-BE49-F238E27FC236}">
                <a16:creationId xmlns:a16="http://schemas.microsoft.com/office/drawing/2014/main" id="{1482F3A4-BF34-4559-B8A9-A52174AB957C}"/>
              </a:ext>
            </a:extLst>
          </p:cNvPr>
          <p:cNvSpPr txBox="1"/>
          <p:nvPr/>
        </p:nvSpPr>
        <p:spPr bwMode="auto">
          <a:xfrm>
            <a:off x="44704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cxnSp>
        <p:nvCxnSpPr>
          <p:cNvPr id="26" name="!!g-edge-DF">
            <a:extLst>
              <a:ext uri="{FF2B5EF4-FFF2-40B4-BE49-F238E27FC236}">
                <a16:creationId xmlns:a16="http://schemas.microsoft.com/office/drawing/2014/main" id="{C8EDD83B-5EFB-4603-A1FF-0994EC277592}"/>
              </a:ext>
            </a:extLst>
          </p:cNvPr>
          <p:cNvCxnSpPr/>
          <p:nvPr/>
        </p:nvCxnSpPr>
        <p:spPr>
          <a:xfrm>
            <a:off x="5362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7" name="!!g-weight-DF">
            <a:extLst>
              <a:ext uri="{FF2B5EF4-FFF2-40B4-BE49-F238E27FC236}">
                <a16:creationId xmlns:a16="http://schemas.microsoft.com/office/drawing/2014/main" id="{7A8B42C4-4932-4FBA-84CE-24807D9A9B49}"/>
              </a:ext>
            </a:extLst>
          </p:cNvPr>
          <p:cNvSpPr txBox="1"/>
          <p:nvPr/>
        </p:nvSpPr>
        <p:spPr bwMode="auto">
          <a:xfrm>
            <a:off x="5544864"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28" name="!!g-edge-EF">
            <a:extLst>
              <a:ext uri="{FF2B5EF4-FFF2-40B4-BE49-F238E27FC236}">
                <a16:creationId xmlns:a16="http://schemas.microsoft.com/office/drawing/2014/main" id="{B4BF07A6-2624-45FC-B720-2F633BEF14A4}"/>
              </a:ext>
            </a:extLst>
          </p:cNvPr>
          <p:cNvCxnSpPr/>
          <p:nvPr/>
        </p:nvCxnSpPr>
        <p:spPr>
          <a:xfrm flipV="1">
            <a:off x="5362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9" name="!!g-weight-EF">
            <a:extLst>
              <a:ext uri="{FF2B5EF4-FFF2-40B4-BE49-F238E27FC236}">
                <a16:creationId xmlns:a16="http://schemas.microsoft.com/office/drawing/2014/main" id="{59D9152D-0C85-47FB-A1B0-AA59FB72CD7A}"/>
              </a:ext>
            </a:extLst>
          </p:cNvPr>
          <p:cNvSpPr txBox="1"/>
          <p:nvPr/>
        </p:nvSpPr>
        <p:spPr bwMode="auto">
          <a:xfrm>
            <a:off x="5948636"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sp>
        <p:nvSpPr>
          <p:cNvPr id="30" name="!!g-node-A">
            <a:extLst>
              <a:ext uri="{FF2B5EF4-FFF2-40B4-BE49-F238E27FC236}">
                <a16:creationId xmlns:a16="http://schemas.microsoft.com/office/drawing/2014/main" id="{716A20D3-7DB7-408C-B577-1B17B250418B}"/>
              </a:ext>
            </a:extLst>
          </p:cNvPr>
          <p:cNvSpPr/>
          <p:nvPr/>
        </p:nvSpPr>
        <p:spPr>
          <a:xfrm>
            <a:off x="825500" y="368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A</a:t>
            </a:r>
            <a:endParaRPr lang="ru-RU" sz="2200">
              <a:solidFill>
                <a:srgbClr val="FFFFFF"/>
              </a:solidFill>
              <a:latin typeface="Montserrat"/>
            </a:endParaRPr>
          </a:p>
        </p:txBody>
      </p:sp>
      <p:sp>
        <p:nvSpPr>
          <p:cNvPr id="31" name="!!g-node-B">
            <a:extLst>
              <a:ext uri="{FF2B5EF4-FFF2-40B4-BE49-F238E27FC236}">
                <a16:creationId xmlns:a16="http://schemas.microsoft.com/office/drawing/2014/main" id="{03BFAA3D-BC53-44B0-ACE6-EA267312046C}"/>
              </a:ext>
            </a:extLst>
          </p:cNvPr>
          <p:cNvSpPr/>
          <p:nvPr/>
        </p:nvSpPr>
        <p:spPr>
          <a:xfrm>
            <a:off x="26670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32" name="!!g-node-C">
            <a:extLst>
              <a:ext uri="{FF2B5EF4-FFF2-40B4-BE49-F238E27FC236}">
                <a16:creationId xmlns:a16="http://schemas.microsoft.com/office/drawing/2014/main" id="{90A70CD7-86DE-4983-8E0F-6095305896C5}"/>
              </a:ext>
            </a:extLst>
          </p:cNvPr>
          <p:cNvSpPr/>
          <p:nvPr/>
        </p:nvSpPr>
        <p:spPr>
          <a:xfrm>
            <a:off x="2667000" y="495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C</a:t>
            </a:r>
            <a:endParaRPr lang="ru-RU" sz="2200">
              <a:solidFill>
                <a:srgbClr val="FFFFFF"/>
              </a:solidFill>
              <a:latin typeface="Montserrat"/>
            </a:endParaRPr>
          </a:p>
        </p:txBody>
      </p:sp>
      <p:sp>
        <p:nvSpPr>
          <p:cNvPr id="33" name="!!g-node-D">
            <a:extLst>
              <a:ext uri="{FF2B5EF4-FFF2-40B4-BE49-F238E27FC236}">
                <a16:creationId xmlns:a16="http://schemas.microsoft.com/office/drawing/2014/main" id="{F217326E-50D5-4952-9938-7735BEFAEC1F}"/>
              </a:ext>
            </a:extLst>
          </p:cNvPr>
          <p:cNvSpPr/>
          <p:nvPr/>
        </p:nvSpPr>
        <p:spPr>
          <a:xfrm>
            <a:off x="47625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34" name="!!g-node-E">
            <a:extLst>
              <a:ext uri="{FF2B5EF4-FFF2-40B4-BE49-F238E27FC236}">
                <a16:creationId xmlns:a16="http://schemas.microsoft.com/office/drawing/2014/main" id="{2CC78CCF-BD6D-4EE3-94F9-FEC5B96038FA}"/>
              </a:ext>
            </a:extLst>
          </p:cNvPr>
          <p:cNvSpPr/>
          <p:nvPr/>
        </p:nvSpPr>
        <p:spPr>
          <a:xfrm>
            <a:off x="47625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35" name="!!g-node-F">
            <a:extLst>
              <a:ext uri="{FF2B5EF4-FFF2-40B4-BE49-F238E27FC236}">
                <a16:creationId xmlns:a16="http://schemas.microsoft.com/office/drawing/2014/main" id="{148C0FC3-B9A7-4870-A592-A9422F936813}"/>
              </a:ext>
            </a:extLst>
          </p:cNvPr>
          <p:cNvSpPr/>
          <p:nvPr/>
        </p:nvSpPr>
        <p:spPr>
          <a:xfrm>
            <a:off x="6604000" y="368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F</a:t>
            </a:r>
            <a:endParaRPr lang="ru-RU" sz="2200">
              <a:solidFill>
                <a:srgbClr val="352379"/>
              </a:solidFill>
              <a:latin typeface="Montserrat"/>
            </a:endParaRPr>
          </a:p>
        </p:txBody>
      </p:sp>
      <p:graphicFrame>
        <p:nvGraphicFramePr>
          <p:cNvPr id="36" name="!!distance-table">
            <a:extLst>
              <a:ext uri="{FF2B5EF4-FFF2-40B4-BE49-F238E27FC236}">
                <a16:creationId xmlns:a16="http://schemas.microsoft.com/office/drawing/2014/main" id="{D044878D-69F6-4873-96BA-22619EA7AE38}"/>
              </a:ext>
            </a:extLst>
          </p:cNvPr>
          <p:cNvGraphicFramePr>
            <a:graphicFrameLocks noGrp="1"/>
          </p:cNvGraphicFramePr>
          <p:nvPr>
            <p:extLst>
              <p:ext uri="{D42A27DB-BD31-4B8C-83A1-F6EECF244321}">
                <p14:modId xmlns:p14="http://schemas.microsoft.com/office/powerpoint/2010/main" val="2799135107"/>
              </p:ext>
            </p:extLst>
          </p:nvPr>
        </p:nvGraphicFramePr>
        <p:xfrm>
          <a:off x="8026400" y="1816100"/>
          <a:ext cx="3683000" cy="2997197"/>
        </p:xfrm>
        <a:graphic>
          <a:graphicData uri="http://schemas.openxmlformats.org/drawingml/2006/table">
            <a:tbl>
              <a:tblPr firstRow="1" bandRow="1">
                <a:tableStyleId>{0E3FDE45-AF77-4B5C-9715-49D594BDF05E}</a:tableStyleId>
              </a:tblPr>
              <a:tblGrid>
                <a:gridCol w="1841500">
                  <a:extLst>
                    <a:ext uri="{9D8B030D-6E8A-4147-A177-3AD203B41FA5}">
                      <a16:colId xmlns:a16="http://schemas.microsoft.com/office/drawing/2014/main" val="1743071625"/>
                    </a:ext>
                  </a:extLst>
                </a:gridCol>
                <a:gridCol w="1841500">
                  <a:extLst>
                    <a:ext uri="{9D8B030D-6E8A-4147-A177-3AD203B41FA5}">
                      <a16:colId xmlns:a16="http://schemas.microsoft.com/office/drawing/2014/main" val="2726011206"/>
                    </a:ext>
                  </a:extLst>
                </a:gridCol>
              </a:tblGrid>
              <a:tr h="428171">
                <a:tc>
                  <a:txBody>
                    <a:bodyPr/>
                    <a:lstStyle/>
                    <a:p>
                      <a:pPr algn="ctr"/>
                      <a:r>
                        <a:rPr lang="en-US" sz="2000" b="1">
                          <a:solidFill>
                            <a:srgbClr val="FFFFFF"/>
                          </a:solidFill>
                          <a:latin typeface="Montserrat"/>
                        </a:rPr>
                        <a:t>v</a:t>
                      </a:r>
                      <a:endParaRPr lang="ru-RU" sz="20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000" b="1">
                          <a:solidFill>
                            <a:srgbClr val="FFFFFF"/>
                          </a:solidFill>
                          <a:latin typeface="Montserrat"/>
                        </a:rPr>
                        <a:t>dist</a:t>
                      </a:r>
                      <a:endParaRPr lang="ru-RU" sz="20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1358640430"/>
                  </a:ext>
                </a:extLst>
              </a:tr>
              <a:tr h="428171">
                <a:tc>
                  <a:txBody>
                    <a:bodyPr/>
                    <a:lstStyle/>
                    <a:p>
                      <a:pPr algn="ctr"/>
                      <a:r>
                        <a:rPr lang="en-US" sz="2000" b="0">
                          <a:solidFill>
                            <a:srgbClr val="352379"/>
                          </a:solidFill>
                          <a:latin typeface="Montserrat"/>
                        </a:rPr>
                        <a:t>A</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968492826"/>
                  </a:ext>
                </a:extLst>
              </a:tr>
              <a:tr h="428171">
                <a:tc>
                  <a:txBody>
                    <a:bodyPr/>
                    <a:lstStyle/>
                    <a:p>
                      <a:pPr algn="ctr"/>
                      <a:r>
                        <a:rPr lang="en-US" sz="2000" b="0">
                          <a:solidFill>
                            <a:srgbClr val="352379"/>
                          </a:solidFill>
                          <a:latin typeface="Montserrat"/>
                        </a:rPr>
                        <a:t>B</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5</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4098324059"/>
                  </a:ext>
                </a:extLst>
              </a:tr>
              <a:tr h="428171">
                <a:tc>
                  <a:txBody>
                    <a:bodyPr/>
                    <a:lstStyle/>
                    <a:p>
                      <a:pPr algn="ctr"/>
                      <a:r>
                        <a:rPr lang="en-US" sz="2000" b="0">
                          <a:solidFill>
                            <a:srgbClr val="352379"/>
                          </a:solidFill>
                          <a:latin typeface="Montserrat"/>
                        </a:rPr>
                        <a:t>C</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3</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1834411671"/>
                  </a:ext>
                </a:extLst>
              </a:tr>
              <a:tr h="428171">
                <a:tc>
                  <a:txBody>
                    <a:bodyPr/>
                    <a:lstStyle/>
                    <a:p>
                      <a:pPr algn="ctr"/>
                      <a:r>
                        <a:rPr lang="en-US" sz="2000" b="0">
                          <a:solidFill>
                            <a:srgbClr val="352379"/>
                          </a:solidFill>
                          <a:latin typeface="Montserrat"/>
                        </a:rPr>
                        <a:t>D</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8</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3261824885"/>
                  </a:ext>
                </a:extLst>
              </a:tr>
              <a:tr h="428171">
                <a:tc>
                  <a:txBody>
                    <a:bodyPr/>
                    <a:lstStyle/>
                    <a:p>
                      <a:pPr algn="ctr"/>
                      <a:r>
                        <a:rPr lang="en-US" sz="2000" b="0">
                          <a:solidFill>
                            <a:srgbClr val="352379"/>
                          </a:solidFill>
                          <a:latin typeface="Montserrat"/>
                        </a:rPr>
                        <a:t>E</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11</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3441263279"/>
                  </a:ext>
                </a:extLst>
              </a:tr>
              <a:tr h="428171">
                <a:tc>
                  <a:txBody>
                    <a:bodyPr/>
                    <a:lstStyle/>
                    <a:p>
                      <a:pPr algn="ctr"/>
                      <a:r>
                        <a:rPr lang="en-US" sz="2000" b="0">
                          <a:solidFill>
                            <a:srgbClr val="352379"/>
                          </a:solidFill>
                          <a:latin typeface="Montserrat"/>
                        </a:rPr>
                        <a:t>F</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1550769239"/>
                  </a:ext>
                </a:extLst>
              </a:tr>
            </a:tbl>
          </a:graphicData>
        </a:graphic>
      </p:graphicFrame>
      <p:sp>
        <p:nvSpPr>
          <p:cNvPr id="37" name="!!calculation">
            <a:extLst>
              <a:ext uri="{FF2B5EF4-FFF2-40B4-BE49-F238E27FC236}">
                <a16:creationId xmlns:a16="http://schemas.microsoft.com/office/drawing/2014/main" id="{77DE2E5E-4407-46D5-9F8D-80074F18FCF1}"/>
              </a:ext>
            </a:extLst>
          </p:cNvPr>
          <p:cNvSpPr txBox="1"/>
          <p:nvPr/>
        </p:nvSpPr>
        <p:spPr bwMode="auto">
          <a:xfrm>
            <a:off x="609600" y="1625599"/>
            <a:ext cx="7112000" cy="673100"/>
          </a:xfrm>
          <a:prstGeom prst="rect">
            <a:avLst/>
          </a:prstGeom>
        </p:spPr>
        <p:txBody>
          <a:bodyPr vert="horz" wrap="square" lIns="0" tIns="0" rIns="0" bIns="0" rtlCol="0">
            <a:noAutofit/>
          </a:bodyPr>
          <a:lstStyle/>
          <a:p>
            <a:r>
              <a:rPr lang="pl-PL" sz="2000">
                <a:solidFill>
                  <a:srgbClr val="352379"/>
                </a:solidFill>
                <a:latin typeface="Montserrat"/>
              </a:rPr>
              <a:t>D: ∞ → 3 + 5 = 8</a:t>
            </a:r>
          </a:p>
          <a:p>
            <a:r>
              <a:rPr lang="pl-PL" sz="2000">
                <a:solidFill>
                  <a:srgbClr val="352379"/>
                </a:solidFill>
                <a:latin typeface="Montserrat"/>
              </a:rPr>
              <a:t>E: ∞ → 3 + 8 = 11</a:t>
            </a:r>
            <a:endParaRPr lang="ru-RU" sz="2000">
              <a:solidFill>
                <a:srgbClr val="352379"/>
              </a:solidFill>
              <a:latin typeface="Montserrat"/>
            </a:endParaRPr>
          </a:p>
        </p:txBody>
      </p:sp>
      <p:sp>
        <p:nvSpPr>
          <p:cNvPr id="38" name="heap-label">
            <a:extLst>
              <a:ext uri="{FF2B5EF4-FFF2-40B4-BE49-F238E27FC236}">
                <a16:creationId xmlns:a16="http://schemas.microsoft.com/office/drawing/2014/main" id="{4D5CE73D-E986-4D6A-8A63-3270EF6E77C9}"/>
              </a:ext>
            </a:extLst>
          </p:cNvPr>
          <p:cNvSpPr txBox="1"/>
          <p:nvPr/>
        </p:nvSpPr>
        <p:spPr bwMode="auto">
          <a:xfrm>
            <a:off x="8026400" y="4952999"/>
            <a:ext cx="3683000" cy="317500"/>
          </a:xfrm>
          <a:prstGeom prst="rect">
            <a:avLst/>
          </a:prstGeom>
        </p:spPr>
        <p:txBody>
          <a:bodyPr vert="horz" wrap="square" lIns="0" tIns="0" rIns="0" bIns="0" rtlCol="0">
            <a:noAutofit/>
          </a:bodyPr>
          <a:lstStyle/>
          <a:p>
            <a:r>
              <a:rPr lang="en-US" sz="1700" b="1">
                <a:solidFill>
                  <a:srgbClr val="352379"/>
                </a:solidFill>
                <a:latin typeface="Montserrat"/>
              </a:rPr>
              <a:t>Priority queue</a:t>
            </a:r>
            <a:endParaRPr lang="ru-RU" sz="1700" b="1">
              <a:solidFill>
                <a:srgbClr val="352379"/>
              </a:solidFill>
              <a:latin typeface="Montserrat"/>
            </a:endParaRPr>
          </a:p>
        </p:txBody>
      </p:sp>
      <p:sp>
        <p:nvSpPr>
          <p:cNvPr id="39" name="!!heap-state">
            <a:extLst>
              <a:ext uri="{FF2B5EF4-FFF2-40B4-BE49-F238E27FC236}">
                <a16:creationId xmlns:a16="http://schemas.microsoft.com/office/drawing/2014/main" id="{AD4174D2-8BDB-41CE-9F8E-2207501DAD9D}"/>
              </a:ext>
            </a:extLst>
          </p:cNvPr>
          <p:cNvSpPr txBox="1"/>
          <p:nvPr/>
        </p:nvSpPr>
        <p:spPr bwMode="auto">
          <a:xfrm>
            <a:off x="8026400" y="5321299"/>
            <a:ext cx="3683000" cy="533400"/>
          </a:xfrm>
          <a:prstGeom prst="rect">
            <a:avLst/>
          </a:prstGeom>
        </p:spPr>
        <p:txBody>
          <a:bodyPr vert="horz" wrap="square" lIns="0" tIns="0" rIns="0" bIns="0" rtlCol="0">
            <a:noAutofit/>
          </a:bodyPr>
          <a:lstStyle/>
          <a:p>
            <a:r>
              <a:rPr lang="pt-BR" sz="1600">
                <a:solidFill>
                  <a:srgbClr val="352379"/>
                </a:solidFill>
                <a:latin typeface="Montserrat"/>
              </a:rPr>
              <a:t>(5, B), (7, B),</a:t>
            </a:r>
          </a:p>
          <a:p>
            <a:r>
              <a:rPr lang="pt-BR" sz="1600">
                <a:solidFill>
                  <a:srgbClr val="352379"/>
                </a:solidFill>
                <a:latin typeface="Montserrat"/>
              </a:rPr>
              <a:t>(8, D), (11, E)</a:t>
            </a:r>
            <a:endParaRPr lang="ru-RU" sz="1600">
              <a:solidFill>
                <a:srgbClr val="352379"/>
              </a:solidFill>
              <a:latin typeface="Montserrat"/>
            </a:endParaRPr>
          </a:p>
        </p:txBody>
      </p:sp>
      <p:sp>
        <p:nvSpPr>
          <p:cNvPr id="8" name="lecture-footer">
            <a:extLst>
              <a:ext uri="{FF2B5EF4-FFF2-40B4-BE49-F238E27FC236}">
                <a16:creationId xmlns:a16="http://schemas.microsoft.com/office/drawing/2014/main" id="{4BA77CA8-A698-4E3B-AA2B-B069FD489671}"/>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1B47F611-C212-4076-8EDB-1D1A24CCD574}"/>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23</a:t>
            </a:r>
          </a:p>
        </p:txBody>
      </p:sp>
      <p:sp>
        <p:nvSpPr>
          <p:cNvPr id="10" name="bottom-band">
            <a:extLst>
              <a:ext uri="{FF2B5EF4-FFF2-40B4-BE49-F238E27FC236}">
                <a16:creationId xmlns:a16="http://schemas.microsoft.com/office/drawing/2014/main" id="{16BF48AD-B373-4B84-8AD6-A16019FBB5D3}"/>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CA247109-1DE2-42F8-9857-7261A240D026}"/>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Белая: ожидает   •   контур: текущая   •   фиолетовая: обработана</a:t>
            </a:r>
          </a:p>
        </p:txBody>
      </p:sp>
    </p:spTree>
    <p:extLst>
      <p:ext uri="{BB962C8B-B14F-4D97-AF65-F5344CB8AC3E}">
        <p14:creationId xmlns:p14="http://schemas.microsoft.com/office/powerpoint/2010/main" val="41891628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55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25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9"/>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3012CE-3832-450F-93D1-56DE263D984A}"/>
              </a:ext>
            </a:extLst>
          </p:cNvPr>
          <p:cNvSpPr>
            <a:spLocks noGrp="1"/>
          </p:cNvSpPr>
          <p:nvPr>
            <p:ph type="title"/>
          </p:nvPr>
        </p:nvSpPr>
        <p:spPr>
          <a:xfrm>
            <a:off x="479425" y="597855"/>
            <a:ext cx="11229975" cy="1140459"/>
          </a:xfrm>
        </p:spPr>
        <p:txBody>
          <a:bodyPr/>
          <a:lstStyle/>
          <a:p>
            <a:r>
              <a:rPr lang="ru-RU"/>
              <a:t>Шаг 3: выбираем </a:t>
            </a:r>
            <a:r>
              <a:rPr lang="en-US"/>
              <a:t>B</a:t>
            </a:r>
            <a:endParaRPr lang="ru-RU"/>
          </a:p>
        </p:txBody>
      </p:sp>
      <p:sp>
        <p:nvSpPr>
          <p:cNvPr id="7" name="Текст 6">
            <a:extLst>
              <a:ext uri="{FF2B5EF4-FFF2-40B4-BE49-F238E27FC236}">
                <a16:creationId xmlns:a16="http://schemas.microsoft.com/office/drawing/2014/main" id="{BD921E17-1662-49A2-B4A2-13ECB2A88527}"/>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cxnSp>
        <p:nvCxnSpPr>
          <p:cNvPr id="12" name="!!g-edge-AB">
            <a:extLst>
              <a:ext uri="{FF2B5EF4-FFF2-40B4-BE49-F238E27FC236}">
                <a16:creationId xmlns:a16="http://schemas.microsoft.com/office/drawing/2014/main" id="{8D5A390E-C272-4C3C-A679-62C8DEB368BC}"/>
              </a:ext>
            </a:extLst>
          </p:cNvPr>
          <p:cNvCxnSpPr/>
          <p:nvPr/>
        </p:nvCxnSpPr>
        <p:spPr>
          <a:xfrm flipV="1">
            <a:off x="1425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3" name="!!g-weight-AB">
            <a:extLst>
              <a:ext uri="{FF2B5EF4-FFF2-40B4-BE49-F238E27FC236}">
                <a16:creationId xmlns:a16="http://schemas.microsoft.com/office/drawing/2014/main" id="{046E5BC9-0D99-4901-9F84-4340DFFFB7B8}"/>
              </a:ext>
            </a:extLst>
          </p:cNvPr>
          <p:cNvSpPr txBox="1"/>
          <p:nvPr/>
        </p:nvSpPr>
        <p:spPr bwMode="auto">
          <a:xfrm>
            <a:off x="2011636"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7</a:t>
            </a:r>
          </a:p>
        </p:txBody>
      </p:sp>
      <p:cxnSp>
        <p:nvCxnSpPr>
          <p:cNvPr id="14" name="!!g-edge-AC">
            <a:extLst>
              <a:ext uri="{FF2B5EF4-FFF2-40B4-BE49-F238E27FC236}">
                <a16:creationId xmlns:a16="http://schemas.microsoft.com/office/drawing/2014/main" id="{D3378560-7558-45FB-BEB8-D8501B9836E6}"/>
              </a:ext>
            </a:extLst>
          </p:cNvPr>
          <p:cNvCxnSpPr/>
          <p:nvPr/>
        </p:nvCxnSpPr>
        <p:spPr>
          <a:xfrm>
            <a:off x="1425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5" name="!!g-weight-AC">
            <a:extLst>
              <a:ext uri="{FF2B5EF4-FFF2-40B4-BE49-F238E27FC236}">
                <a16:creationId xmlns:a16="http://schemas.microsoft.com/office/drawing/2014/main" id="{4AE74058-1E62-42AB-A320-7EFD55E73ABF}"/>
              </a:ext>
            </a:extLst>
          </p:cNvPr>
          <p:cNvSpPr txBox="1"/>
          <p:nvPr/>
        </p:nvSpPr>
        <p:spPr bwMode="auto">
          <a:xfrm>
            <a:off x="1607864"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6" name="!!g-edge-BC">
            <a:extLst>
              <a:ext uri="{FF2B5EF4-FFF2-40B4-BE49-F238E27FC236}">
                <a16:creationId xmlns:a16="http://schemas.microsoft.com/office/drawing/2014/main" id="{277BC1C4-7068-48A3-A9E7-C2454E03D5C6}"/>
              </a:ext>
            </a:extLst>
          </p:cNvPr>
          <p:cNvCxnSpPr/>
          <p:nvPr/>
        </p:nvCxnSpPr>
        <p:spPr>
          <a:xfrm>
            <a:off x="29845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7" name="!!g-weight-BC">
            <a:extLst>
              <a:ext uri="{FF2B5EF4-FFF2-40B4-BE49-F238E27FC236}">
                <a16:creationId xmlns:a16="http://schemas.microsoft.com/office/drawing/2014/main" id="{3F13314D-BCBD-4F51-84AD-D68974DCD3DE}"/>
              </a:ext>
            </a:extLst>
          </p:cNvPr>
          <p:cNvSpPr txBox="1"/>
          <p:nvPr/>
        </p:nvSpPr>
        <p:spPr bwMode="auto">
          <a:xfrm>
            <a:off x="23749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18" name="!!g-edge-BD">
            <a:extLst>
              <a:ext uri="{FF2B5EF4-FFF2-40B4-BE49-F238E27FC236}">
                <a16:creationId xmlns:a16="http://schemas.microsoft.com/office/drawing/2014/main" id="{4D5A1082-35D3-41E0-80E3-84F320E049D2}"/>
              </a:ext>
            </a:extLst>
          </p:cNvPr>
          <p:cNvCxnSpPr/>
          <p:nvPr/>
        </p:nvCxnSpPr>
        <p:spPr>
          <a:xfrm>
            <a:off x="3327400" y="2730500"/>
            <a:ext cx="1409700" cy="0"/>
          </a:xfrm>
          <a:prstGeom prst="straightConnector1">
            <a:avLst/>
          </a:prstGeom>
          <a:ln w="44450">
            <a:solidFill>
              <a:srgbClr val="762181"/>
            </a:solidFill>
          </a:ln>
        </p:spPr>
        <p:style>
          <a:lnRef idx="1">
            <a:schemeClr val="accent1"/>
          </a:lnRef>
          <a:fillRef idx="0">
            <a:schemeClr val="accent1"/>
          </a:fillRef>
          <a:effectRef idx="0">
            <a:schemeClr val="accent1"/>
          </a:effectRef>
          <a:fontRef idx="minor">
            <a:schemeClr val="tx1"/>
          </a:fontRef>
        </p:style>
      </p:cxnSp>
      <p:sp>
        <p:nvSpPr>
          <p:cNvPr id="19" name="!!g-weight-BD">
            <a:extLst>
              <a:ext uri="{FF2B5EF4-FFF2-40B4-BE49-F238E27FC236}">
                <a16:creationId xmlns:a16="http://schemas.microsoft.com/office/drawing/2014/main" id="{62637FCF-DF22-41B7-83BB-C4636B54AAB8}"/>
              </a:ext>
            </a:extLst>
          </p:cNvPr>
          <p:cNvSpPr txBox="1"/>
          <p:nvPr/>
        </p:nvSpPr>
        <p:spPr bwMode="auto">
          <a:xfrm>
            <a:off x="3778250" y="2882899"/>
            <a:ext cx="508000" cy="381000"/>
          </a:xfrm>
          <a:prstGeom prst="rect">
            <a:avLst/>
          </a:prstGeom>
          <a:solidFill>
            <a:srgbClr val="FFFFFF"/>
          </a:solidFill>
        </p:spPr>
        <p:txBody>
          <a:bodyPr vert="horz" wrap="square" lIns="0" tIns="0" rIns="0" bIns="0" rtlCol="0">
            <a:noAutofit/>
          </a:bodyPr>
          <a:lstStyle/>
          <a:p>
            <a:pPr algn="ctr"/>
            <a:r>
              <a:rPr lang="ru-RU" sz="2000">
                <a:solidFill>
                  <a:srgbClr val="762181"/>
                </a:solidFill>
                <a:latin typeface="Montserrat"/>
              </a:rPr>
              <a:t>4</a:t>
            </a:r>
          </a:p>
        </p:txBody>
      </p:sp>
      <p:cxnSp>
        <p:nvCxnSpPr>
          <p:cNvPr id="20" name="!!g-edge-CD">
            <a:extLst>
              <a:ext uri="{FF2B5EF4-FFF2-40B4-BE49-F238E27FC236}">
                <a16:creationId xmlns:a16="http://schemas.microsoft.com/office/drawing/2014/main" id="{D03C6558-F494-4240-B9CB-E4200A7F4CC4}"/>
              </a:ext>
            </a:extLst>
          </p:cNvPr>
          <p:cNvCxnSpPr/>
          <p:nvPr/>
        </p:nvCxnSpPr>
        <p:spPr>
          <a:xfrm flipV="1">
            <a:off x="3202716" y="2995004"/>
            <a:ext cx="1659068" cy="2010992"/>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1" name="!!g-weight-CD">
            <a:extLst>
              <a:ext uri="{FF2B5EF4-FFF2-40B4-BE49-F238E27FC236}">
                <a16:creationId xmlns:a16="http://schemas.microsoft.com/office/drawing/2014/main" id="{02D9CB96-60D3-4A4F-8D10-71158988A2E9}"/>
              </a:ext>
            </a:extLst>
          </p:cNvPr>
          <p:cNvSpPr txBox="1"/>
          <p:nvPr/>
        </p:nvSpPr>
        <p:spPr bwMode="auto">
          <a:xfrm>
            <a:off x="4052550" y="4023597"/>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5</a:t>
            </a:r>
          </a:p>
        </p:txBody>
      </p:sp>
      <p:cxnSp>
        <p:nvCxnSpPr>
          <p:cNvPr id="22" name="!!g-edge-CE">
            <a:extLst>
              <a:ext uri="{FF2B5EF4-FFF2-40B4-BE49-F238E27FC236}">
                <a16:creationId xmlns:a16="http://schemas.microsoft.com/office/drawing/2014/main" id="{D653D008-E06B-4280-A134-220A47F006DB}"/>
              </a:ext>
            </a:extLst>
          </p:cNvPr>
          <p:cNvCxnSpPr/>
          <p:nvPr/>
        </p:nvCxnSpPr>
        <p:spPr>
          <a:xfrm>
            <a:off x="3327400" y="527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3" name="!!g-weight-CE">
            <a:extLst>
              <a:ext uri="{FF2B5EF4-FFF2-40B4-BE49-F238E27FC236}">
                <a16:creationId xmlns:a16="http://schemas.microsoft.com/office/drawing/2014/main" id="{510EC5FF-9F93-4C67-AF6D-1AD2368A5F4A}"/>
              </a:ext>
            </a:extLst>
          </p:cNvPr>
          <p:cNvSpPr txBox="1"/>
          <p:nvPr/>
        </p:nvSpPr>
        <p:spPr bwMode="auto">
          <a:xfrm>
            <a:off x="3778250" y="542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8</a:t>
            </a:r>
          </a:p>
        </p:txBody>
      </p:sp>
      <p:cxnSp>
        <p:nvCxnSpPr>
          <p:cNvPr id="24" name="!!g-edge-DE">
            <a:extLst>
              <a:ext uri="{FF2B5EF4-FFF2-40B4-BE49-F238E27FC236}">
                <a16:creationId xmlns:a16="http://schemas.microsoft.com/office/drawing/2014/main" id="{A2D688BD-3F16-4720-ABF7-6A6E0A064A70}"/>
              </a:ext>
            </a:extLst>
          </p:cNvPr>
          <p:cNvCxnSpPr/>
          <p:nvPr/>
        </p:nvCxnSpPr>
        <p:spPr>
          <a:xfrm>
            <a:off x="50800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5" name="!!g-weight-DE">
            <a:extLst>
              <a:ext uri="{FF2B5EF4-FFF2-40B4-BE49-F238E27FC236}">
                <a16:creationId xmlns:a16="http://schemas.microsoft.com/office/drawing/2014/main" id="{1482F3A4-BF34-4559-B8A9-A52174AB957C}"/>
              </a:ext>
            </a:extLst>
          </p:cNvPr>
          <p:cNvSpPr txBox="1"/>
          <p:nvPr/>
        </p:nvSpPr>
        <p:spPr bwMode="auto">
          <a:xfrm>
            <a:off x="44704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cxnSp>
        <p:nvCxnSpPr>
          <p:cNvPr id="26" name="!!g-edge-DF">
            <a:extLst>
              <a:ext uri="{FF2B5EF4-FFF2-40B4-BE49-F238E27FC236}">
                <a16:creationId xmlns:a16="http://schemas.microsoft.com/office/drawing/2014/main" id="{C8EDD83B-5EFB-4603-A1FF-0994EC277592}"/>
              </a:ext>
            </a:extLst>
          </p:cNvPr>
          <p:cNvCxnSpPr/>
          <p:nvPr/>
        </p:nvCxnSpPr>
        <p:spPr>
          <a:xfrm>
            <a:off x="5362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7" name="!!g-weight-DF">
            <a:extLst>
              <a:ext uri="{FF2B5EF4-FFF2-40B4-BE49-F238E27FC236}">
                <a16:creationId xmlns:a16="http://schemas.microsoft.com/office/drawing/2014/main" id="{7A8B42C4-4932-4FBA-84CE-24807D9A9B49}"/>
              </a:ext>
            </a:extLst>
          </p:cNvPr>
          <p:cNvSpPr txBox="1"/>
          <p:nvPr/>
        </p:nvSpPr>
        <p:spPr bwMode="auto">
          <a:xfrm>
            <a:off x="5544864"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28" name="!!g-edge-EF">
            <a:extLst>
              <a:ext uri="{FF2B5EF4-FFF2-40B4-BE49-F238E27FC236}">
                <a16:creationId xmlns:a16="http://schemas.microsoft.com/office/drawing/2014/main" id="{B4BF07A6-2624-45FC-B720-2F633BEF14A4}"/>
              </a:ext>
            </a:extLst>
          </p:cNvPr>
          <p:cNvCxnSpPr/>
          <p:nvPr/>
        </p:nvCxnSpPr>
        <p:spPr>
          <a:xfrm flipV="1">
            <a:off x="5362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9" name="!!g-weight-EF">
            <a:extLst>
              <a:ext uri="{FF2B5EF4-FFF2-40B4-BE49-F238E27FC236}">
                <a16:creationId xmlns:a16="http://schemas.microsoft.com/office/drawing/2014/main" id="{59D9152D-0C85-47FB-A1B0-AA59FB72CD7A}"/>
              </a:ext>
            </a:extLst>
          </p:cNvPr>
          <p:cNvSpPr txBox="1"/>
          <p:nvPr/>
        </p:nvSpPr>
        <p:spPr bwMode="auto">
          <a:xfrm>
            <a:off x="5948636"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sp>
        <p:nvSpPr>
          <p:cNvPr id="30" name="!!g-node-A">
            <a:extLst>
              <a:ext uri="{FF2B5EF4-FFF2-40B4-BE49-F238E27FC236}">
                <a16:creationId xmlns:a16="http://schemas.microsoft.com/office/drawing/2014/main" id="{716A20D3-7DB7-408C-B577-1B17B250418B}"/>
              </a:ext>
            </a:extLst>
          </p:cNvPr>
          <p:cNvSpPr/>
          <p:nvPr/>
        </p:nvSpPr>
        <p:spPr>
          <a:xfrm>
            <a:off x="825500" y="368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A</a:t>
            </a:r>
            <a:endParaRPr lang="ru-RU" sz="2200">
              <a:solidFill>
                <a:srgbClr val="FFFFFF"/>
              </a:solidFill>
              <a:latin typeface="Montserrat"/>
            </a:endParaRPr>
          </a:p>
        </p:txBody>
      </p:sp>
      <p:sp>
        <p:nvSpPr>
          <p:cNvPr id="31" name="!!g-node-B">
            <a:extLst>
              <a:ext uri="{FF2B5EF4-FFF2-40B4-BE49-F238E27FC236}">
                <a16:creationId xmlns:a16="http://schemas.microsoft.com/office/drawing/2014/main" id="{03BFAA3D-BC53-44B0-ACE6-EA267312046C}"/>
              </a:ext>
            </a:extLst>
          </p:cNvPr>
          <p:cNvSpPr/>
          <p:nvPr/>
        </p:nvSpPr>
        <p:spPr>
          <a:xfrm>
            <a:off x="2667000" y="2413000"/>
            <a:ext cx="635000" cy="635000"/>
          </a:xfrm>
          <a:prstGeom prst="ellipse">
            <a:avLst/>
          </a:prstGeom>
          <a:solidFill>
            <a:srgbClr val="FFFFFF"/>
          </a:solidFill>
          <a:ln w="44450">
            <a:solidFill>
              <a:srgbClr val="76218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32" name="!!g-node-C">
            <a:extLst>
              <a:ext uri="{FF2B5EF4-FFF2-40B4-BE49-F238E27FC236}">
                <a16:creationId xmlns:a16="http://schemas.microsoft.com/office/drawing/2014/main" id="{90A70CD7-86DE-4983-8E0F-6095305896C5}"/>
              </a:ext>
            </a:extLst>
          </p:cNvPr>
          <p:cNvSpPr/>
          <p:nvPr/>
        </p:nvSpPr>
        <p:spPr>
          <a:xfrm>
            <a:off x="2667000" y="495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C</a:t>
            </a:r>
            <a:endParaRPr lang="ru-RU" sz="2200">
              <a:solidFill>
                <a:srgbClr val="FFFFFF"/>
              </a:solidFill>
              <a:latin typeface="Montserrat"/>
            </a:endParaRPr>
          </a:p>
        </p:txBody>
      </p:sp>
      <p:sp>
        <p:nvSpPr>
          <p:cNvPr id="33" name="!!g-node-D">
            <a:extLst>
              <a:ext uri="{FF2B5EF4-FFF2-40B4-BE49-F238E27FC236}">
                <a16:creationId xmlns:a16="http://schemas.microsoft.com/office/drawing/2014/main" id="{F217326E-50D5-4952-9938-7735BEFAEC1F}"/>
              </a:ext>
            </a:extLst>
          </p:cNvPr>
          <p:cNvSpPr/>
          <p:nvPr/>
        </p:nvSpPr>
        <p:spPr>
          <a:xfrm>
            <a:off x="47625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34" name="!!g-node-E">
            <a:extLst>
              <a:ext uri="{FF2B5EF4-FFF2-40B4-BE49-F238E27FC236}">
                <a16:creationId xmlns:a16="http://schemas.microsoft.com/office/drawing/2014/main" id="{2CC78CCF-BD6D-4EE3-94F9-FEC5B96038FA}"/>
              </a:ext>
            </a:extLst>
          </p:cNvPr>
          <p:cNvSpPr/>
          <p:nvPr/>
        </p:nvSpPr>
        <p:spPr>
          <a:xfrm>
            <a:off x="47625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35" name="!!g-node-F">
            <a:extLst>
              <a:ext uri="{FF2B5EF4-FFF2-40B4-BE49-F238E27FC236}">
                <a16:creationId xmlns:a16="http://schemas.microsoft.com/office/drawing/2014/main" id="{148C0FC3-B9A7-4870-A592-A9422F936813}"/>
              </a:ext>
            </a:extLst>
          </p:cNvPr>
          <p:cNvSpPr/>
          <p:nvPr/>
        </p:nvSpPr>
        <p:spPr>
          <a:xfrm>
            <a:off x="6604000" y="368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F</a:t>
            </a:r>
            <a:endParaRPr lang="ru-RU" sz="2200">
              <a:solidFill>
                <a:srgbClr val="352379"/>
              </a:solidFill>
              <a:latin typeface="Montserrat"/>
            </a:endParaRPr>
          </a:p>
        </p:txBody>
      </p:sp>
      <p:graphicFrame>
        <p:nvGraphicFramePr>
          <p:cNvPr id="36" name="!!distance-table">
            <a:extLst>
              <a:ext uri="{FF2B5EF4-FFF2-40B4-BE49-F238E27FC236}">
                <a16:creationId xmlns:a16="http://schemas.microsoft.com/office/drawing/2014/main" id="{D044878D-69F6-4873-96BA-22619EA7AE38}"/>
              </a:ext>
            </a:extLst>
          </p:cNvPr>
          <p:cNvGraphicFramePr>
            <a:graphicFrameLocks noGrp="1"/>
          </p:cNvGraphicFramePr>
          <p:nvPr>
            <p:extLst>
              <p:ext uri="{D42A27DB-BD31-4B8C-83A1-F6EECF244321}">
                <p14:modId xmlns:p14="http://schemas.microsoft.com/office/powerpoint/2010/main" val="2592572980"/>
              </p:ext>
            </p:extLst>
          </p:nvPr>
        </p:nvGraphicFramePr>
        <p:xfrm>
          <a:off x="8026400" y="1816100"/>
          <a:ext cx="3683000" cy="2997197"/>
        </p:xfrm>
        <a:graphic>
          <a:graphicData uri="http://schemas.openxmlformats.org/drawingml/2006/table">
            <a:tbl>
              <a:tblPr firstRow="1" bandRow="1">
                <a:tableStyleId>{0E3FDE45-AF77-4B5C-9715-49D594BDF05E}</a:tableStyleId>
              </a:tblPr>
              <a:tblGrid>
                <a:gridCol w="1841500">
                  <a:extLst>
                    <a:ext uri="{9D8B030D-6E8A-4147-A177-3AD203B41FA5}">
                      <a16:colId xmlns:a16="http://schemas.microsoft.com/office/drawing/2014/main" val="1743071625"/>
                    </a:ext>
                  </a:extLst>
                </a:gridCol>
                <a:gridCol w="1841500">
                  <a:extLst>
                    <a:ext uri="{9D8B030D-6E8A-4147-A177-3AD203B41FA5}">
                      <a16:colId xmlns:a16="http://schemas.microsoft.com/office/drawing/2014/main" val="2726011206"/>
                    </a:ext>
                  </a:extLst>
                </a:gridCol>
              </a:tblGrid>
              <a:tr h="428171">
                <a:tc>
                  <a:txBody>
                    <a:bodyPr/>
                    <a:lstStyle/>
                    <a:p>
                      <a:pPr algn="ctr"/>
                      <a:r>
                        <a:rPr lang="en-US" sz="2000" b="1">
                          <a:solidFill>
                            <a:srgbClr val="FFFFFF"/>
                          </a:solidFill>
                          <a:latin typeface="Montserrat"/>
                        </a:rPr>
                        <a:t>v</a:t>
                      </a:r>
                      <a:endParaRPr lang="ru-RU" sz="20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000" b="1">
                          <a:solidFill>
                            <a:srgbClr val="FFFFFF"/>
                          </a:solidFill>
                          <a:latin typeface="Montserrat"/>
                        </a:rPr>
                        <a:t>dist</a:t>
                      </a:r>
                      <a:endParaRPr lang="ru-RU" sz="20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1358640430"/>
                  </a:ext>
                </a:extLst>
              </a:tr>
              <a:tr h="428171">
                <a:tc>
                  <a:txBody>
                    <a:bodyPr/>
                    <a:lstStyle/>
                    <a:p>
                      <a:pPr algn="ctr"/>
                      <a:r>
                        <a:rPr lang="en-US" sz="2000" b="0">
                          <a:solidFill>
                            <a:srgbClr val="352379"/>
                          </a:solidFill>
                          <a:latin typeface="Montserrat"/>
                        </a:rPr>
                        <a:t>A</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968492826"/>
                  </a:ext>
                </a:extLst>
              </a:tr>
              <a:tr h="428171">
                <a:tc>
                  <a:txBody>
                    <a:bodyPr/>
                    <a:lstStyle/>
                    <a:p>
                      <a:pPr algn="ctr"/>
                      <a:r>
                        <a:rPr lang="en-US" sz="2000" b="0">
                          <a:solidFill>
                            <a:srgbClr val="352379"/>
                          </a:solidFill>
                          <a:latin typeface="Montserrat"/>
                        </a:rPr>
                        <a:t>B</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5</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4098324059"/>
                  </a:ext>
                </a:extLst>
              </a:tr>
              <a:tr h="428171">
                <a:tc>
                  <a:txBody>
                    <a:bodyPr/>
                    <a:lstStyle/>
                    <a:p>
                      <a:pPr algn="ctr"/>
                      <a:r>
                        <a:rPr lang="en-US" sz="2000" b="0">
                          <a:solidFill>
                            <a:srgbClr val="352379"/>
                          </a:solidFill>
                          <a:latin typeface="Montserrat"/>
                        </a:rPr>
                        <a:t>C</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3</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1834411671"/>
                  </a:ext>
                </a:extLst>
              </a:tr>
              <a:tr h="428171">
                <a:tc>
                  <a:txBody>
                    <a:bodyPr/>
                    <a:lstStyle/>
                    <a:p>
                      <a:pPr algn="ctr"/>
                      <a:r>
                        <a:rPr lang="en-US" sz="2000" b="0">
                          <a:solidFill>
                            <a:srgbClr val="352379"/>
                          </a:solidFill>
                          <a:latin typeface="Montserrat"/>
                        </a:rPr>
                        <a:t>D</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8</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3261824885"/>
                  </a:ext>
                </a:extLst>
              </a:tr>
              <a:tr h="428171">
                <a:tc>
                  <a:txBody>
                    <a:bodyPr/>
                    <a:lstStyle/>
                    <a:p>
                      <a:pPr algn="ctr"/>
                      <a:r>
                        <a:rPr lang="en-US" sz="2000" b="0">
                          <a:solidFill>
                            <a:srgbClr val="352379"/>
                          </a:solidFill>
                          <a:latin typeface="Montserrat"/>
                        </a:rPr>
                        <a:t>E</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11</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3441263279"/>
                  </a:ext>
                </a:extLst>
              </a:tr>
              <a:tr h="428171">
                <a:tc>
                  <a:txBody>
                    <a:bodyPr/>
                    <a:lstStyle/>
                    <a:p>
                      <a:pPr algn="ctr"/>
                      <a:r>
                        <a:rPr lang="en-US" sz="2000" b="0">
                          <a:solidFill>
                            <a:srgbClr val="352379"/>
                          </a:solidFill>
                          <a:latin typeface="Montserrat"/>
                        </a:rPr>
                        <a:t>F</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1550769239"/>
                  </a:ext>
                </a:extLst>
              </a:tr>
            </a:tbl>
          </a:graphicData>
        </a:graphic>
      </p:graphicFrame>
      <p:sp>
        <p:nvSpPr>
          <p:cNvPr id="37" name="!!calculation">
            <a:extLst>
              <a:ext uri="{FF2B5EF4-FFF2-40B4-BE49-F238E27FC236}">
                <a16:creationId xmlns:a16="http://schemas.microsoft.com/office/drawing/2014/main" id="{77DE2E5E-4407-46D5-9F8D-80074F18FCF1}"/>
              </a:ext>
            </a:extLst>
          </p:cNvPr>
          <p:cNvSpPr txBox="1"/>
          <p:nvPr/>
        </p:nvSpPr>
        <p:spPr bwMode="auto">
          <a:xfrm>
            <a:off x="609600" y="1625599"/>
            <a:ext cx="7112000" cy="673100"/>
          </a:xfrm>
          <a:prstGeom prst="rect">
            <a:avLst/>
          </a:prstGeom>
        </p:spPr>
        <p:txBody>
          <a:bodyPr vert="horz" wrap="square" lIns="0" tIns="0" rIns="0" bIns="0" rtlCol="0">
            <a:noAutofit/>
          </a:bodyPr>
          <a:lstStyle/>
          <a:p>
            <a:r>
              <a:rPr lang="ru-RU" sz="2000">
                <a:solidFill>
                  <a:srgbClr val="352379"/>
                </a:solidFill>
                <a:latin typeface="Montserrat"/>
              </a:rPr>
              <a:t>Кандидат D: 5 + 4 = 9</a:t>
            </a:r>
          </a:p>
          <a:p>
            <a:r>
              <a:rPr lang="ru-RU" sz="2000">
                <a:solidFill>
                  <a:srgbClr val="352379"/>
                </a:solidFill>
                <a:latin typeface="Montserrat"/>
              </a:rPr>
              <a:t>9 ≥ 8: обновления нет</a:t>
            </a:r>
          </a:p>
        </p:txBody>
      </p:sp>
      <p:sp>
        <p:nvSpPr>
          <p:cNvPr id="38" name="heap-label">
            <a:extLst>
              <a:ext uri="{FF2B5EF4-FFF2-40B4-BE49-F238E27FC236}">
                <a16:creationId xmlns:a16="http://schemas.microsoft.com/office/drawing/2014/main" id="{4D5CE73D-E986-4D6A-8A63-3270EF6E77C9}"/>
              </a:ext>
            </a:extLst>
          </p:cNvPr>
          <p:cNvSpPr txBox="1"/>
          <p:nvPr/>
        </p:nvSpPr>
        <p:spPr bwMode="auto">
          <a:xfrm>
            <a:off x="8026400" y="4952999"/>
            <a:ext cx="3683000" cy="317500"/>
          </a:xfrm>
          <a:prstGeom prst="rect">
            <a:avLst/>
          </a:prstGeom>
        </p:spPr>
        <p:txBody>
          <a:bodyPr vert="horz" wrap="square" lIns="0" tIns="0" rIns="0" bIns="0" rtlCol="0">
            <a:noAutofit/>
          </a:bodyPr>
          <a:lstStyle/>
          <a:p>
            <a:r>
              <a:rPr lang="en-US" sz="1700" b="1">
                <a:solidFill>
                  <a:srgbClr val="352379"/>
                </a:solidFill>
                <a:latin typeface="Montserrat"/>
              </a:rPr>
              <a:t>Priority queue</a:t>
            </a:r>
            <a:endParaRPr lang="ru-RU" sz="1700" b="1">
              <a:solidFill>
                <a:srgbClr val="352379"/>
              </a:solidFill>
              <a:latin typeface="Montserrat"/>
            </a:endParaRPr>
          </a:p>
        </p:txBody>
      </p:sp>
      <p:sp>
        <p:nvSpPr>
          <p:cNvPr id="39" name="!!heap-state">
            <a:extLst>
              <a:ext uri="{FF2B5EF4-FFF2-40B4-BE49-F238E27FC236}">
                <a16:creationId xmlns:a16="http://schemas.microsoft.com/office/drawing/2014/main" id="{AD4174D2-8BDB-41CE-9F8E-2207501DAD9D}"/>
              </a:ext>
            </a:extLst>
          </p:cNvPr>
          <p:cNvSpPr txBox="1"/>
          <p:nvPr/>
        </p:nvSpPr>
        <p:spPr bwMode="auto">
          <a:xfrm>
            <a:off x="8026400" y="5321299"/>
            <a:ext cx="3683000" cy="533400"/>
          </a:xfrm>
          <a:prstGeom prst="rect">
            <a:avLst/>
          </a:prstGeom>
        </p:spPr>
        <p:txBody>
          <a:bodyPr vert="horz" wrap="square" lIns="0" tIns="0" rIns="0" bIns="0" rtlCol="0">
            <a:noAutofit/>
          </a:bodyPr>
          <a:lstStyle/>
          <a:p>
            <a:r>
              <a:rPr lang="ru-RU" sz="1600">
                <a:solidFill>
                  <a:srgbClr val="352379"/>
                </a:solidFill>
                <a:latin typeface="Montserrat"/>
              </a:rPr>
              <a:t>Остались (7, B),</a:t>
            </a:r>
          </a:p>
          <a:p>
            <a:r>
              <a:rPr lang="ru-RU" sz="1600">
                <a:solidFill>
                  <a:srgbClr val="352379"/>
                </a:solidFill>
                <a:latin typeface="Montserrat"/>
              </a:rPr>
              <a:t>(8, D), (11, E)</a:t>
            </a:r>
          </a:p>
        </p:txBody>
      </p:sp>
      <p:sp>
        <p:nvSpPr>
          <p:cNvPr id="3" name="lecture-footer">
            <a:extLst>
              <a:ext uri="{FF2B5EF4-FFF2-40B4-BE49-F238E27FC236}">
                <a16:creationId xmlns:a16="http://schemas.microsoft.com/office/drawing/2014/main" id="{A6B2A8D4-2752-4898-A763-BCC3AF9213C5}"/>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4" name="slide-number">
            <a:extLst>
              <a:ext uri="{FF2B5EF4-FFF2-40B4-BE49-F238E27FC236}">
                <a16:creationId xmlns:a16="http://schemas.microsoft.com/office/drawing/2014/main" id="{D3E395D6-335F-4182-9449-266DB14BCE22}"/>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24</a:t>
            </a:r>
          </a:p>
        </p:txBody>
      </p:sp>
      <p:sp>
        <p:nvSpPr>
          <p:cNvPr id="5" name="bottom-band">
            <a:extLst>
              <a:ext uri="{FF2B5EF4-FFF2-40B4-BE49-F238E27FC236}">
                <a16:creationId xmlns:a16="http://schemas.microsoft.com/office/drawing/2014/main" id="{35721578-D87A-46F9-B651-001481F19C67}"/>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bottom-message">
            <a:extLst>
              <a:ext uri="{FF2B5EF4-FFF2-40B4-BE49-F238E27FC236}">
                <a16:creationId xmlns:a16="http://schemas.microsoft.com/office/drawing/2014/main" id="{0C0BD089-B2B4-47A8-B0DB-49E1707A6E59}"/>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Белая: ожидает   •   контур: текущая   •   фиолетовая: обработана</a:t>
            </a:r>
          </a:p>
        </p:txBody>
      </p:sp>
    </p:spTree>
    <p:extLst>
      <p:ext uri="{BB962C8B-B14F-4D97-AF65-F5344CB8AC3E}">
        <p14:creationId xmlns:p14="http://schemas.microsoft.com/office/powerpoint/2010/main" val="31015681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55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25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9"/>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3012CE-3832-450F-93D1-56DE263D984A}"/>
              </a:ext>
            </a:extLst>
          </p:cNvPr>
          <p:cNvSpPr>
            <a:spLocks noGrp="1"/>
          </p:cNvSpPr>
          <p:nvPr>
            <p:ph type="title"/>
          </p:nvPr>
        </p:nvSpPr>
        <p:spPr>
          <a:xfrm>
            <a:off x="479425" y="597855"/>
            <a:ext cx="11229975" cy="1140459"/>
          </a:xfrm>
        </p:spPr>
        <p:txBody>
          <a:bodyPr/>
          <a:lstStyle/>
          <a:p>
            <a:r>
              <a:rPr lang="ru-RU"/>
              <a:t>Устаревшая запись и выбор D</a:t>
            </a:r>
          </a:p>
        </p:txBody>
      </p:sp>
      <p:sp>
        <p:nvSpPr>
          <p:cNvPr id="7" name="Текст 6">
            <a:extLst>
              <a:ext uri="{FF2B5EF4-FFF2-40B4-BE49-F238E27FC236}">
                <a16:creationId xmlns:a16="http://schemas.microsoft.com/office/drawing/2014/main" id="{BD921E17-1662-49A2-B4A2-13ECB2A88527}"/>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cxnSp>
        <p:nvCxnSpPr>
          <p:cNvPr id="12" name="!!g-edge-AB">
            <a:extLst>
              <a:ext uri="{FF2B5EF4-FFF2-40B4-BE49-F238E27FC236}">
                <a16:creationId xmlns:a16="http://schemas.microsoft.com/office/drawing/2014/main" id="{8D5A390E-C272-4C3C-A679-62C8DEB368BC}"/>
              </a:ext>
            </a:extLst>
          </p:cNvPr>
          <p:cNvCxnSpPr/>
          <p:nvPr/>
        </p:nvCxnSpPr>
        <p:spPr>
          <a:xfrm flipV="1">
            <a:off x="1425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3" name="!!g-weight-AB">
            <a:extLst>
              <a:ext uri="{FF2B5EF4-FFF2-40B4-BE49-F238E27FC236}">
                <a16:creationId xmlns:a16="http://schemas.microsoft.com/office/drawing/2014/main" id="{046E5BC9-0D99-4901-9F84-4340DFFFB7B8}"/>
              </a:ext>
            </a:extLst>
          </p:cNvPr>
          <p:cNvSpPr txBox="1"/>
          <p:nvPr/>
        </p:nvSpPr>
        <p:spPr bwMode="auto">
          <a:xfrm>
            <a:off x="2011636"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7</a:t>
            </a:r>
          </a:p>
        </p:txBody>
      </p:sp>
      <p:cxnSp>
        <p:nvCxnSpPr>
          <p:cNvPr id="14" name="!!g-edge-AC">
            <a:extLst>
              <a:ext uri="{FF2B5EF4-FFF2-40B4-BE49-F238E27FC236}">
                <a16:creationId xmlns:a16="http://schemas.microsoft.com/office/drawing/2014/main" id="{D3378560-7558-45FB-BEB8-D8501B9836E6}"/>
              </a:ext>
            </a:extLst>
          </p:cNvPr>
          <p:cNvCxnSpPr/>
          <p:nvPr/>
        </p:nvCxnSpPr>
        <p:spPr>
          <a:xfrm>
            <a:off x="1425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5" name="!!g-weight-AC">
            <a:extLst>
              <a:ext uri="{FF2B5EF4-FFF2-40B4-BE49-F238E27FC236}">
                <a16:creationId xmlns:a16="http://schemas.microsoft.com/office/drawing/2014/main" id="{4AE74058-1E62-42AB-A320-7EFD55E73ABF}"/>
              </a:ext>
            </a:extLst>
          </p:cNvPr>
          <p:cNvSpPr txBox="1"/>
          <p:nvPr/>
        </p:nvSpPr>
        <p:spPr bwMode="auto">
          <a:xfrm>
            <a:off x="1607864"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6" name="!!g-edge-BC">
            <a:extLst>
              <a:ext uri="{FF2B5EF4-FFF2-40B4-BE49-F238E27FC236}">
                <a16:creationId xmlns:a16="http://schemas.microsoft.com/office/drawing/2014/main" id="{277BC1C4-7068-48A3-A9E7-C2454E03D5C6}"/>
              </a:ext>
            </a:extLst>
          </p:cNvPr>
          <p:cNvCxnSpPr/>
          <p:nvPr/>
        </p:nvCxnSpPr>
        <p:spPr>
          <a:xfrm>
            <a:off x="29845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7" name="!!g-weight-BC">
            <a:extLst>
              <a:ext uri="{FF2B5EF4-FFF2-40B4-BE49-F238E27FC236}">
                <a16:creationId xmlns:a16="http://schemas.microsoft.com/office/drawing/2014/main" id="{3F13314D-BCBD-4F51-84AD-D68974DCD3DE}"/>
              </a:ext>
            </a:extLst>
          </p:cNvPr>
          <p:cNvSpPr txBox="1"/>
          <p:nvPr/>
        </p:nvSpPr>
        <p:spPr bwMode="auto">
          <a:xfrm>
            <a:off x="23749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18" name="!!g-edge-BD">
            <a:extLst>
              <a:ext uri="{FF2B5EF4-FFF2-40B4-BE49-F238E27FC236}">
                <a16:creationId xmlns:a16="http://schemas.microsoft.com/office/drawing/2014/main" id="{4D5A1082-35D3-41E0-80E3-84F320E049D2}"/>
              </a:ext>
            </a:extLst>
          </p:cNvPr>
          <p:cNvCxnSpPr/>
          <p:nvPr/>
        </p:nvCxnSpPr>
        <p:spPr>
          <a:xfrm>
            <a:off x="3327400" y="273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9" name="!!g-weight-BD">
            <a:extLst>
              <a:ext uri="{FF2B5EF4-FFF2-40B4-BE49-F238E27FC236}">
                <a16:creationId xmlns:a16="http://schemas.microsoft.com/office/drawing/2014/main" id="{62637FCF-DF22-41B7-83BB-C4636B54AAB8}"/>
              </a:ext>
            </a:extLst>
          </p:cNvPr>
          <p:cNvSpPr txBox="1"/>
          <p:nvPr/>
        </p:nvSpPr>
        <p:spPr bwMode="auto">
          <a:xfrm>
            <a:off x="3778250" y="288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20" name="!!g-edge-CD">
            <a:extLst>
              <a:ext uri="{FF2B5EF4-FFF2-40B4-BE49-F238E27FC236}">
                <a16:creationId xmlns:a16="http://schemas.microsoft.com/office/drawing/2014/main" id="{D03C6558-F494-4240-B9CB-E4200A7F4CC4}"/>
              </a:ext>
            </a:extLst>
          </p:cNvPr>
          <p:cNvCxnSpPr/>
          <p:nvPr/>
        </p:nvCxnSpPr>
        <p:spPr>
          <a:xfrm flipV="1">
            <a:off x="3202716" y="2995004"/>
            <a:ext cx="1659068" cy="2010992"/>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1" name="!!g-weight-CD">
            <a:extLst>
              <a:ext uri="{FF2B5EF4-FFF2-40B4-BE49-F238E27FC236}">
                <a16:creationId xmlns:a16="http://schemas.microsoft.com/office/drawing/2014/main" id="{02D9CB96-60D3-4A4F-8D10-71158988A2E9}"/>
              </a:ext>
            </a:extLst>
          </p:cNvPr>
          <p:cNvSpPr txBox="1"/>
          <p:nvPr/>
        </p:nvSpPr>
        <p:spPr bwMode="auto">
          <a:xfrm>
            <a:off x="4052550" y="4023597"/>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5</a:t>
            </a:r>
          </a:p>
        </p:txBody>
      </p:sp>
      <p:cxnSp>
        <p:nvCxnSpPr>
          <p:cNvPr id="22" name="!!g-edge-CE">
            <a:extLst>
              <a:ext uri="{FF2B5EF4-FFF2-40B4-BE49-F238E27FC236}">
                <a16:creationId xmlns:a16="http://schemas.microsoft.com/office/drawing/2014/main" id="{D653D008-E06B-4280-A134-220A47F006DB}"/>
              </a:ext>
            </a:extLst>
          </p:cNvPr>
          <p:cNvCxnSpPr/>
          <p:nvPr/>
        </p:nvCxnSpPr>
        <p:spPr>
          <a:xfrm>
            <a:off x="3327400" y="527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3" name="!!g-weight-CE">
            <a:extLst>
              <a:ext uri="{FF2B5EF4-FFF2-40B4-BE49-F238E27FC236}">
                <a16:creationId xmlns:a16="http://schemas.microsoft.com/office/drawing/2014/main" id="{510EC5FF-9F93-4C67-AF6D-1AD2368A5F4A}"/>
              </a:ext>
            </a:extLst>
          </p:cNvPr>
          <p:cNvSpPr txBox="1"/>
          <p:nvPr/>
        </p:nvSpPr>
        <p:spPr bwMode="auto">
          <a:xfrm>
            <a:off x="3778250" y="542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8</a:t>
            </a:r>
          </a:p>
        </p:txBody>
      </p:sp>
      <p:cxnSp>
        <p:nvCxnSpPr>
          <p:cNvPr id="24" name="!!g-edge-DE">
            <a:extLst>
              <a:ext uri="{FF2B5EF4-FFF2-40B4-BE49-F238E27FC236}">
                <a16:creationId xmlns:a16="http://schemas.microsoft.com/office/drawing/2014/main" id="{A2D688BD-3F16-4720-ABF7-6A6E0A064A70}"/>
              </a:ext>
            </a:extLst>
          </p:cNvPr>
          <p:cNvCxnSpPr/>
          <p:nvPr/>
        </p:nvCxnSpPr>
        <p:spPr>
          <a:xfrm>
            <a:off x="5080000" y="3073400"/>
            <a:ext cx="0" cy="1854200"/>
          </a:xfrm>
          <a:prstGeom prst="straightConnector1">
            <a:avLst/>
          </a:prstGeom>
          <a:ln w="44450">
            <a:solidFill>
              <a:srgbClr val="762181"/>
            </a:solidFill>
          </a:ln>
        </p:spPr>
        <p:style>
          <a:lnRef idx="1">
            <a:schemeClr val="accent1"/>
          </a:lnRef>
          <a:fillRef idx="0">
            <a:schemeClr val="accent1"/>
          </a:fillRef>
          <a:effectRef idx="0">
            <a:schemeClr val="accent1"/>
          </a:effectRef>
          <a:fontRef idx="minor">
            <a:schemeClr val="tx1"/>
          </a:fontRef>
        </p:style>
      </p:cxnSp>
      <p:sp>
        <p:nvSpPr>
          <p:cNvPr id="25" name="!!g-weight-DE">
            <a:extLst>
              <a:ext uri="{FF2B5EF4-FFF2-40B4-BE49-F238E27FC236}">
                <a16:creationId xmlns:a16="http://schemas.microsoft.com/office/drawing/2014/main" id="{1482F3A4-BF34-4559-B8A9-A52174AB957C}"/>
              </a:ext>
            </a:extLst>
          </p:cNvPr>
          <p:cNvSpPr txBox="1"/>
          <p:nvPr/>
        </p:nvSpPr>
        <p:spPr bwMode="auto">
          <a:xfrm>
            <a:off x="44704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762181"/>
                </a:solidFill>
                <a:latin typeface="Montserrat"/>
              </a:rPr>
              <a:t>1</a:t>
            </a:r>
          </a:p>
        </p:txBody>
      </p:sp>
      <p:cxnSp>
        <p:nvCxnSpPr>
          <p:cNvPr id="26" name="!!g-edge-DF">
            <a:extLst>
              <a:ext uri="{FF2B5EF4-FFF2-40B4-BE49-F238E27FC236}">
                <a16:creationId xmlns:a16="http://schemas.microsoft.com/office/drawing/2014/main" id="{C8EDD83B-5EFB-4603-A1FF-0994EC277592}"/>
              </a:ext>
            </a:extLst>
          </p:cNvPr>
          <p:cNvCxnSpPr/>
          <p:nvPr/>
        </p:nvCxnSpPr>
        <p:spPr>
          <a:xfrm>
            <a:off x="5362280" y="2925176"/>
            <a:ext cx="1276940" cy="880648"/>
          </a:xfrm>
          <a:prstGeom prst="straightConnector1">
            <a:avLst/>
          </a:prstGeom>
          <a:ln w="44450">
            <a:solidFill>
              <a:srgbClr val="762181"/>
            </a:solidFill>
          </a:ln>
        </p:spPr>
        <p:style>
          <a:lnRef idx="1">
            <a:schemeClr val="accent1"/>
          </a:lnRef>
          <a:fillRef idx="0">
            <a:schemeClr val="accent1"/>
          </a:fillRef>
          <a:effectRef idx="0">
            <a:schemeClr val="accent1"/>
          </a:effectRef>
          <a:fontRef idx="minor">
            <a:schemeClr val="tx1"/>
          </a:fontRef>
        </p:style>
      </p:cxnSp>
      <p:sp>
        <p:nvSpPr>
          <p:cNvPr id="27" name="!!g-weight-DF">
            <a:extLst>
              <a:ext uri="{FF2B5EF4-FFF2-40B4-BE49-F238E27FC236}">
                <a16:creationId xmlns:a16="http://schemas.microsoft.com/office/drawing/2014/main" id="{7A8B42C4-4932-4FBA-84CE-24807D9A9B49}"/>
              </a:ext>
            </a:extLst>
          </p:cNvPr>
          <p:cNvSpPr txBox="1"/>
          <p:nvPr/>
        </p:nvSpPr>
        <p:spPr bwMode="auto">
          <a:xfrm>
            <a:off x="5544864"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762181"/>
                </a:solidFill>
                <a:latin typeface="Montserrat"/>
              </a:rPr>
              <a:t>3</a:t>
            </a:r>
          </a:p>
        </p:txBody>
      </p:sp>
      <p:cxnSp>
        <p:nvCxnSpPr>
          <p:cNvPr id="28" name="!!g-edge-EF">
            <a:extLst>
              <a:ext uri="{FF2B5EF4-FFF2-40B4-BE49-F238E27FC236}">
                <a16:creationId xmlns:a16="http://schemas.microsoft.com/office/drawing/2014/main" id="{B4BF07A6-2624-45FC-B720-2F633BEF14A4}"/>
              </a:ext>
            </a:extLst>
          </p:cNvPr>
          <p:cNvCxnSpPr/>
          <p:nvPr/>
        </p:nvCxnSpPr>
        <p:spPr>
          <a:xfrm flipV="1">
            <a:off x="5362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9" name="!!g-weight-EF">
            <a:extLst>
              <a:ext uri="{FF2B5EF4-FFF2-40B4-BE49-F238E27FC236}">
                <a16:creationId xmlns:a16="http://schemas.microsoft.com/office/drawing/2014/main" id="{59D9152D-0C85-47FB-A1B0-AA59FB72CD7A}"/>
              </a:ext>
            </a:extLst>
          </p:cNvPr>
          <p:cNvSpPr txBox="1"/>
          <p:nvPr/>
        </p:nvSpPr>
        <p:spPr bwMode="auto">
          <a:xfrm>
            <a:off x="5948636"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sp>
        <p:nvSpPr>
          <p:cNvPr id="30" name="!!g-node-A">
            <a:extLst>
              <a:ext uri="{FF2B5EF4-FFF2-40B4-BE49-F238E27FC236}">
                <a16:creationId xmlns:a16="http://schemas.microsoft.com/office/drawing/2014/main" id="{716A20D3-7DB7-408C-B577-1B17B250418B}"/>
              </a:ext>
            </a:extLst>
          </p:cNvPr>
          <p:cNvSpPr/>
          <p:nvPr/>
        </p:nvSpPr>
        <p:spPr>
          <a:xfrm>
            <a:off x="825500" y="368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A</a:t>
            </a:r>
            <a:endParaRPr lang="ru-RU" sz="2200">
              <a:solidFill>
                <a:srgbClr val="FFFFFF"/>
              </a:solidFill>
              <a:latin typeface="Montserrat"/>
            </a:endParaRPr>
          </a:p>
        </p:txBody>
      </p:sp>
      <p:sp>
        <p:nvSpPr>
          <p:cNvPr id="31" name="!!g-node-B">
            <a:extLst>
              <a:ext uri="{FF2B5EF4-FFF2-40B4-BE49-F238E27FC236}">
                <a16:creationId xmlns:a16="http://schemas.microsoft.com/office/drawing/2014/main" id="{03BFAA3D-BC53-44B0-ACE6-EA267312046C}"/>
              </a:ext>
            </a:extLst>
          </p:cNvPr>
          <p:cNvSpPr/>
          <p:nvPr/>
        </p:nvSpPr>
        <p:spPr>
          <a:xfrm>
            <a:off x="2667000" y="241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B</a:t>
            </a:r>
            <a:endParaRPr lang="ru-RU" sz="2200">
              <a:solidFill>
                <a:srgbClr val="FFFFFF"/>
              </a:solidFill>
              <a:latin typeface="Montserrat"/>
            </a:endParaRPr>
          </a:p>
        </p:txBody>
      </p:sp>
      <p:sp>
        <p:nvSpPr>
          <p:cNvPr id="32" name="!!g-node-C">
            <a:extLst>
              <a:ext uri="{FF2B5EF4-FFF2-40B4-BE49-F238E27FC236}">
                <a16:creationId xmlns:a16="http://schemas.microsoft.com/office/drawing/2014/main" id="{90A70CD7-86DE-4983-8E0F-6095305896C5}"/>
              </a:ext>
            </a:extLst>
          </p:cNvPr>
          <p:cNvSpPr/>
          <p:nvPr/>
        </p:nvSpPr>
        <p:spPr>
          <a:xfrm>
            <a:off x="2667000" y="495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C</a:t>
            </a:r>
            <a:endParaRPr lang="ru-RU" sz="2200">
              <a:solidFill>
                <a:srgbClr val="FFFFFF"/>
              </a:solidFill>
              <a:latin typeface="Montserrat"/>
            </a:endParaRPr>
          </a:p>
        </p:txBody>
      </p:sp>
      <p:sp>
        <p:nvSpPr>
          <p:cNvPr id="33" name="!!g-node-D">
            <a:extLst>
              <a:ext uri="{FF2B5EF4-FFF2-40B4-BE49-F238E27FC236}">
                <a16:creationId xmlns:a16="http://schemas.microsoft.com/office/drawing/2014/main" id="{F217326E-50D5-4952-9938-7735BEFAEC1F}"/>
              </a:ext>
            </a:extLst>
          </p:cNvPr>
          <p:cNvSpPr/>
          <p:nvPr/>
        </p:nvSpPr>
        <p:spPr>
          <a:xfrm>
            <a:off x="4762500" y="2413000"/>
            <a:ext cx="635000" cy="635000"/>
          </a:xfrm>
          <a:prstGeom prst="ellipse">
            <a:avLst/>
          </a:prstGeom>
          <a:solidFill>
            <a:srgbClr val="FFFFFF"/>
          </a:solidFill>
          <a:ln w="44450">
            <a:solidFill>
              <a:srgbClr val="76218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34" name="!!g-node-E">
            <a:extLst>
              <a:ext uri="{FF2B5EF4-FFF2-40B4-BE49-F238E27FC236}">
                <a16:creationId xmlns:a16="http://schemas.microsoft.com/office/drawing/2014/main" id="{2CC78CCF-BD6D-4EE3-94F9-FEC5B96038FA}"/>
              </a:ext>
            </a:extLst>
          </p:cNvPr>
          <p:cNvSpPr/>
          <p:nvPr/>
        </p:nvSpPr>
        <p:spPr>
          <a:xfrm>
            <a:off x="47625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35" name="!!g-node-F">
            <a:extLst>
              <a:ext uri="{FF2B5EF4-FFF2-40B4-BE49-F238E27FC236}">
                <a16:creationId xmlns:a16="http://schemas.microsoft.com/office/drawing/2014/main" id="{148C0FC3-B9A7-4870-A592-A9422F936813}"/>
              </a:ext>
            </a:extLst>
          </p:cNvPr>
          <p:cNvSpPr/>
          <p:nvPr/>
        </p:nvSpPr>
        <p:spPr>
          <a:xfrm>
            <a:off x="6604000" y="368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F</a:t>
            </a:r>
            <a:endParaRPr lang="ru-RU" sz="2200">
              <a:solidFill>
                <a:srgbClr val="352379"/>
              </a:solidFill>
              <a:latin typeface="Montserrat"/>
            </a:endParaRPr>
          </a:p>
        </p:txBody>
      </p:sp>
      <p:graphicFrame>
        <p:nvGraphicFramePr>
          <p:cNvPr id="36" name="!!distance-table">
            <a:extLst>
              <a:ext uri="{FF2B5EF4-FFF2-40B4-BE49-F238E27FC236}">
                <a16:creationId xmlns:a16="http://schemas.microsoft.com/office/drawing/2014/main" id="{D044878D-69F6-4873-96BA-22619EA7AE38}"/>
              </a:ext>
            </a:extLst>
          </p:cNvPr>
          <p:cNvGraphicFramePr>
            <a:graphicFrameLocks noGrp="1"/>
          </p:cNvGraphicFramePr>
          <p:nvPr>
            <p:extLst>
              <p:ext uri="{D42A27DB-BD31-4B8C-83A1-F6EECF244321}">
                <p14:modId xmlns:p14="http://schemas.microsoft.com/office/powerpoint/2010/main" val="943492024"/>
              </p:ext>
            </p:extLst>
          </p:nvPr>
        </p:nvGraphicFramePr>
        <p:xfrm>
          <a:off x="8026400" y="1816100"/>
          <a:ext cx="3683000" cy="2997197"/>
        </p:xfrm>
        <a:graphic>
          <a:graphicData uri="http://schemas.openxmlformats.org/drawingml/2006/table">
            <a:tbl>
              <a:tblPr firstRow="1" bandRow="1">
                <a:tableStyleId>{0E3FDE45-AF77-4B5C-9715-49D594BDF05E}</a:tableStyleId>
              </a:tblPr>
              <a:tblGrid>
                <a:gridCol w="1841500">
                  <a:extLst>
                    <a:ext uri="{9D8B030D-6E8A-4147-A177-3AD203B41FA5}">
                      <a16:colId xmlns:a16="http://schemas.microsoft.com/office/drawing/2014/main" val="1743071625"/>
                    </a:ext>
                  </a:extLst>
                </a:gridCol>
                <a:gridCol w="1841500">
                  <a:extLst>
                    <a:ext uri="{9D8B030D-6E8A-4147-A177-3AD203B41FA5}">
                      <a16:colId xmlns:a16="http://schemas.microsoft.com/office/drawing/2014/main" val="2726011206"/>
                    </a:ext>
                  </a:extLst>
                </a:gridCol>
              </a:tblGrid>
              <a:tr h="428171">
                <a:tc>
                  <a:txBody>
                    <a:bodyPr/>
                    <a:lstStyle/>
                    <a:p>
                      <a:pPr algn="ctr"/>
                      <a:r>
                        <a:rPr lang="en-US" sz="2000" b="1">
                          <a:solidFill>
                            <a:srgbClr val="FFFFFF"/>
                          </a:solidFill>
                          <a:latin typeface="Montserrat"/>
                        </a:rPr>
                        <a:t>v</a:t>
                      </a:r>
                      <a:endParaRPr lang="ru-RU" sz="20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000" b="1">
                          <a:solidFill>
                            <a:srgbClr val="FFFFFF"/>
                          </a:solidFill>
                          <a:latin typeface="Montserrat"/>
                        </a:rPr>
                        <a:t>dist</a:t>
                      </a:r>
                      <a:endParaRPr lang="ru-RU" sz="20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1358640430"/>
                  </a:ext>
                </a:extLst>
              </a:tr>
              <a:tr h="428171">
                <a:tc>
                  <a:txBody>
                    <a:bodyPr/>
                    <a:lstStyle/>
                    <a:p>
                      <a:pPr algn="ctr"/>
                      <a:r>
                        <a:rPr lang="en-US" sz="2000" b="0">
                          <a:solidFill>
                            <a:srgbClr val="352379"/>
                          </a:solidFill>
                          <a:latin typeface="Montserrat"/>
                        </a:rPr>
                        <a:t>A</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968492826"/>
                  </a:ext>
                </a:extLst>
              </a:tr>
              <a:tr h="428171">
                <a:tc>
                  <a:txBody>
                    <a:bodyPr/>
                    <a:lstStyle/>
                    <a:p>
                      <a:pPr algn="ctr"/>
                      <a:r>
                        <a:rPr lang="en-US" sz="2000" b="0">
                          <a:solidFill>
                            <a:srgbClr val="352379"/>
                          </a:solidFill>
                          <a:latin typeface="Montserrat"/>
                        </a:rPr>
                        <a:t>B</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5</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4098324059"/>
                  </a:ext>
                </a:extLst>
              </a:tr>
              <a:tr h="428171">
                <a:tc>
                  <a:txBody>
                    <a:bodyPr/>
                    <a:lstStyle/>
                    <a:p>
                      <a:pPr algn="ctr"/>
                      <a:r>
                        <a:rPr lang="en-US" sz="2000" b="0">
                          <a:solidFill>
                            <a:srgbClr val="352379"/>
                          </a:solidFill>
                          <a:latin typeface="Montserrat"/>
                        </a:rPr>
                        <a:t>C</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3</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1834411671"/>
                  </a:ext>
                </a:extLst>
              </a:tr>
              <a:tr h="428171">
                <a:tc>
                  <a:txBody>
                    <a:bodyPr/>
                    <a:lstStyle/>
                    <a:p>
                      <a:pPr algn="ctr"/>
                      <a:r>
                        <a:rPr lang="en-US" sz="2000" b="0">
                          <a:solidFill>
                            <a:srgbClr val="352379"/>
                          </a:solidFill>
                          <a:latin typeface="Montserrat"/>
                        </a:rPr>
                        <a:t>D</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8</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3261824885"/>
                  </a:ext>
                </a:extLst>
              </a:tr>
              <a:tr h="428171">
                <a:tc>
                  <a:txBody>
                    <a:bodyPr/>
                    <a:lstStyle/>
                    <a:p>
                      <a:pPr algn="ctr"/>
                      <a:r>
                        <a:rPr lang="en-US" sz="2000" b="0">
                          <a:solidFill>
                            <a:srgbClr val="352379"/>
                          </a:solidFill>
                          <a:latin typeface="Montserrat"/>
                        </a:rPr>
                        <a:t>E</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11</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3441263279"/>
                  </a:ext>
                </a:extLst>
              </a:tr>
              <a:tr h="428171">
                <a:tc>
                  <a:txBody>
                    <a:bodyPr/>
                    <a:lstStyle/>
                    <a:p>
                      <a:pPr algn="ctr"/>
                      <a:r>
                        <a:rPr lang="en-US" sz="2000" b="0">
                          <a:solidFill>
                            <a:srgbClr val="352379"/>
                          </a:solidFill>
                          <a:latin typeface="Montserrat"/>
                        </a:rPr>
                        <a:t>F</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1550769239"/>
                  </a:ext>
                </a:extLst>
              </a:tr>
            </a:tbl>
          </a:graphicData>
        </a:graphic>
      </p:graphicFrame>
      <p:sp>
        <p:nvSpPr>
          <p:cNvPr id="37" name="!!calculation">
            <a:extLst>
              <a:ext uri="{FF2B5EF4-FFF2-40B4-BE49-F238E27FC236}">
                <a16:creationId xmlns:a16="http://schemas.microsoft.com/office/drawing/2014/main" id="{77DE2E5E-4407-46D5-9F8D-80074F18FCF1}"/>
              </a:ext>
            </a:extLst>
          </p:cNvPr>
          <p:cNvSpPr txBox="1"/>
          <p:nvPr/>
        </p:nvSpPr>
        <p:spPr bwMode="auto">
          <a:xfrm>
            <a:off x="609600" y="1625599"/>
            <a:ext cx="7112000" cy="673100"/>
          </a:xfrm>
          <a:prstGeom prst="rect">
            <a:avLst/>
          </a:prstGeom>
        </p:spPr>
        <p:txBody>
          <a:bodyPr vert="horz" wrap="square" lIns="0" tIns="0" rIns="0" bIns="0" rtlCol="0">
            <a:noAutofit/>
          </a:bodyPr>
          <a:lstStyle/>
          <a:p>
            <a:r>
              <a:rPr lang="ru-RU" sz="2000">
                <a:solidFill>
                  <a:srgbClr val="352379"/>
                </a:solidFill>
                <a:latin typeface="Montserrat"/>
              </a:rPr>
              <a:t>(7, B) пропускаем: 7 &gt; 5</a:t>
            </a:r>
          </a:p>
          <a:p>
            <a:r>
              <a:rPr lang="ru-RU" sz="2000">
                <a:solidFill>
                  <a:srgbClr val="352379"/>
                </a:solidFill>
                <a:latin typeface="Montserrat"/>
              </a:rPr>
              <a:t>Далее минимум (8, D)</a:t>
            </a:r>
          </a:p>
        </p:txBody>
      </p:sp>
      <p:sp>
        <p:nvSpPr>
          <p:cNvPr id="38" name="heap-label">
            <a:extLst>
              <a:ext uri="{FF2B5EF4-FFF2-40B4-BE49-F238E27FC236}">
                <a16:creationId xmlns:a16="http://schemas.microsoft.com/office/drawing/2014/main" id="{4D5CE73D-E986-4D6A-8A63-3270EF6E77C9}"/>
              </a:ext>
            </a:extLst>
          </p:cNvPr>
          <p:cNvSpPr txBox="1"/>
          <p:nvPr/>
        </p:nvSpPr>
        <p:spPr bwMode="auto">
          <a:xfrm>
            <a:off x="8026400" y="4952999"/>
            <a:ext cx="3683000" cy="317500"/>
          </a:xfrm>
          <a:prstGeom prst="rect">
            <a:avLst/>
          </a:prstGeom>
        </p:spPr>
        <p:txBody>
          <a:bodyPr vert="horz" wrap="square" lIns="0" tIns="0" rIns="0" bIns="0" rtlCol="0">
            <a:noAutofit/>
          </a:bodyPr>
          <a:lstStyle/>
          <a:p>
            <a:r>
              <a:rPr lang="en-US" sz="1700" b="1">
                <a:solidFill>
                  <a:srgbClr val="352379"/>
                </a:solidFill>
                <a:latin typeface="Montserrat"/>
              </a:rPr>
              <a:t>Priority queue</a:t>
            </a:r>
            <a:endParaRPr lang="ru-RU" sz="1700" b="1">
              <a:solidFill>
                <a:srgbClr val="352379"/>
              </a:solidFill>
              <a:latin typeface="Montserrat"/>
            </a:endParaRPr>
          </a:p>
        </p:txBody>
      </p:sp>
      <p:sp>
        <p:nvSpPr>
          <p:cNvPr id="39" name="!!heap-state">
            <a:extLst>
              <a:ext uri="{FF2B5EF4-FFF2-40B4-BE49-F238E27FC236}">
                <a16:creationId xmlns:a16="http://schemas.microsoft.com/office/drawing/2014/main" id="{AD4174D2-8BDB-41CE-9F8E-2207501DAD9D}"/>
              </a:ext>
            </a:extLst>
          </p:cNvPr>
          <p:cNvSpPr txBox="1"/>
          <p:nvPr/>
        </p:nvSpPr>
        <p:spPr bwMode="auto">
          <a:xfrm>
            <a:off x="8026400" y="5321299"/>
            <a:ext cx="3683000" cy="533400"/>
          </a:xfrm>
          <a:prstGeom prst="rect">
            <a:avLst/>
          </a:prstGeom>
        </p:spPr>
        <p:txBody>
          <a:bodyPr vert="horz" wrap="square" lIns="0" tIns="0" rIns="0" bIns="0" rtlCol="0">
            <a:noAutofit/>
          </a:bodyPr>
          <a:lstStyle/>
          <a:p>
            <a:r>
              <a:rPr lang="ru-RU" sz="1600">
                <a:solidFill>
                  <a:srgbClr val="352379"/>
                </a:solidFill>
                <a:latin typeface="Montserrat"/>
              </a:rPr>
              <a:t>извлекаем (8, D)</a:t>
            </a:r>
          </a:p>
          <a:p>
            <a:r>
              <a:rPr lang="ru-RU" sz="1600">
                <a:solidFill>
                  <a:srgbClr val="352379"/>
                </a:solidFill>
                <a:latin typeface="Montserrat"/>
              </a:rPr>
              <a:t>остаётся (11, E)</a:t>
            </a:r>
          </a:p>
        </p:txBody>
      </p:sp>
      <p:sp>
        <p:nvSpPr>
          <p:cNvPr id="8" name="lecture-footer">
            <a:extLst>
              <a:ext uri="{FF2B5EF4-FFF2-40B4-BE49-F238E27FC236}">
                <a16:creationId xmlns:a16="http://schemas.microsoft.com/office/drawing/2014/main" id="{FB46BC90-620D-4925-9BA5-84C5BDE327A3}"/>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A5396EAF-04B1-4D8D-89C2-CCD1D1F77E43}"/>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25</a:t>
            </a:r>
          </a:p>
        </p:txBody>
      </p:sp>
      <p:sp>
        <p:nvSpPr>
          <p:cNvPr id="10" name="bottom-band">
            <a:extLst>
              <a:ext uri="{FF2B5EF4-FFF2-40B4-BE49-F238E27FC236}">
                <a16:creationId xmlns:a16="http://schemas.microsoft.com/office/drawing/2014/main" id="{2DA5943C-5CA1-4A85-88B1-7A54A7F47332}"/>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81B14CD1-8D7C-42AC-9B8F-9B19E5C03DD2}"/>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Белая: ожидает   •   контур: текущая   •   фиолетовая: обработана</a:t>
            </a:r>
          </a:p>
        </p:txBody>
      </p:sp>
    </p:spTree>
    <p:extLst>
      <p:ext uri="{BB962C8B-B14F-4D97-AF65-F5344CB8AC3E}">
        <p14:creationId xmlns:p14="http://schemas.microsoft.com/office/powerpoint/2010/main" val="2040008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55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25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9"/>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3012CE-3832-450F-93D1-56DE263D984A}"/>
              </a:ext>
            </a:extLst>
          </p:cNvPr>
          <p:cNvSpPr>
            <a:spLocks noGrp="1"/>
          </p:cNvSpPr>
          <p:nvPr>
            <p:ph type="title"/>
          </p:nvPr>
        </p:nvSpPr>
        <p:spPr>
          <a:xfrm>
            <a:off x="479425" y="597855"/>
            <a:ext cx="11229975" cy="1140459"/>
          </a:xfrm>
        </p:spPr>
        <p:txBody>
          <a:bodyPr/>
          <a:lstStyle/>
          <a:p>
            <a:r>
              <a:rPr lang="ru-RU"/>
              <a:t>Из D: улучшаем E, открываем F</a:t>
            </a:r>
          </a:p>
        </p:txBody>
      </p:sp>
      <p:sp>
        <p:nvSpPr>
          <p:cNvPr id="7" name="Текст 6">
            <a:extLst>
              <a:ext uri="{FF2B5EF4-FFF2-40B4-BE49-F238E27FC236}">
                <a16:creationId xmlns:a16="http://schemas.microsoft.com/office/drawing/2014/main" id="{BD921E17-1662-49A2-B4A2-13ECB2A88527}"/>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cxnSp>
        <p:nvCxnSpPr>
          <p:cNvPr id="12" name="!!g-edge-AB">
            <a:extLst>
              <a:ext uri="{FF2B5EF4-FFF2-40B4-BE49-F238E27FC236}">
                <a16:creationId xmlns:a16="http://schemas.microsoft.com/office/drawing/2014/main" id="{8D5A390E-C272-4C3C-A679-62C8DEB368BC}"/>
              </a:ext>
            </a:extLst>
          </p:cNvPr>
          <p:cNvCxnSpPr/>
          <p:nvPr/>
        </p:nvCxnSpPr>
        <p:spPr>
          <a:xfrm flipV="1">
            <a:off x="1425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3" name="!!g-weight-AB">
            <a:extLst>
              <a:ext uri="{FF2B5EF4-FFF2-40B4-BE49-F238E27FC236}">
                <a16:creationId xmlns:a16="http://schemas.microsoft.com/office/drawing/2014/main" id="{046E5BC9-0D99-4901-9F84-4340DFFFB7B8}"/>
              </a:ext>
            </a:extLst>
          </p:cNvPr>
          <p:cNvSpPr txBox="1"/>
          <p:nvPr/>
        </p:nvSpPr>
        <p:spPr bwMode="auto">
          <a:xfrm>
            <a:off x="2011636"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7</a:t>
            </a:r>
          </a:p>
        </p:txBody>
      </p:sp>
      <p:cxnSp>
        <p:nvCxnSpPr>
          <p:cNvPr id="14" name="!!g-edge-AC">
            <a:extLst>
              <a:ext uri="{FF2B5EF4-FFF2-40B4-BE49-F238E27FC236}">
                <a16:creationId xmlns:a16="http://schemas.microsoft.com/office/drawing/2014/main" id="{D3378560-7558-45FB-BEB8-D8501B9836E6}"/>
              </a:ext>
            </a:extLst>
          </p:cNvPr>
          <p:cNvCxnSpPr/>
          <p:nvPr/>
        </p:nvCxnSpPr>
        <p:spPr>
          <a:xfrm>
            <a:off x="1425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5" name="!!g-weight-AC">
            <a:extLst>
              <a:ext uri="{FF2B5EF4-FFF2-40B4-BE49-F238E27FC236}">
                <a16:creationId xmlns:a16="http://schemas.microsoft.com/office/drawing/2014/main" id="{4AE74058-1E62-42AB-A320-7EFD55E73ABF}"/>
              </a:ext>
            </a:extLst>
          </p:cNvPr>
          <p:cNvSpPr txBox="1"/>
          <p:nvPr/>
        </p:nvSpPr>
        <p:spPr bwMode="auto">
          <a:xfrm>
            <a:off x="1607864"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6" name="!!g-edge-BC">
            <a:extLst>
              <a:ext uri="{FF2B5EF4-FFF2-40B4-BE49-F238E27FC236}">
                <a16:creationId xmlns:a16="http://schemas.microsoft.com/office/drawing/2014/main" id="{277BC1C4-7068-48A3-A9E7-C2454E03D5C6}"/>
              </a:ext>
            </a:extLst>
          </p:cNvPr>
          <p:cNvCxnSpPr/>
          <p:nvPr/>
        </p:nvCxnSpPr>
        <p:spPr>
          <a:xfrm>
            <a:off x="29845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7" name="!!g-weight-BC">
            <a:extLst>
              <a:ext uri="{FF2B5EF4-FFF2-40B4-BE49-F238E27FC236}">
                <a16:creationId xmlns:a16="http://schemas.microsoft.com/office/drawing/2014/main" id="{3F13314D-BCBD-4F51-84AD-D68974DCD3DE}"/>
              </a:ext>
            </a:extLst>
          </p:cNvPr>
          <p:cNvSpPr txBox="1"/>
          <p:nvPr/>
        </p:nvSpPr>
        <p:spPr bwMode="auto">
          <a:xfrm>
            <a:off x="23749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18" name="!!g-edge-BD">
            <a:extLst>
              <a:ext uri="{FF2B5EF4-FFF2-40B4-BE49-F238E27FC236}">
                <a16:creationId xmlns:a16="http://schemas.microsoft.com/office/drawing/2014/main" id="{4D5A1082-35D3-41E0-80E3-84F320E049D2}"/>
              </a:ext>
            </a:extLst>
          </p:cNvPr>
          <p:cNvCxnSpPr/>
          <p:nvPr/>
        </p:nvCxnSpPr>
        <p:spPr>
          <a:xfrm>
            <a:off x="3327400" y="273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9" name="!!g-weight-BD">
            <a:extLst>
              <a:ext uri="{FF2B5EF4-FFF2-40B4-BE49-F238E27FC236}">
                <a16:creationId xmlns:a16="http://schemas.microsoft.com/office/drawing/2014/main" id="{62637FCF-DF22-41B7-83BB-C4636B54AAB8}"/>
              </a:ext>
            </a:extLst>
          </p:cNvPr>
          <p:cNvSpPr txBox="1"/>
          <p:nvPr/>
        </p:nvSpPr>
        <p:spPr bwMode="auto">
          <a:xfrm>
            <a:off x="3778250" y="288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20" name="!!g-edge-CD">
            <a:extLst>
              <a:ext uri="{FF2B5EF4-FFF2-40B4-BE49-F238E27FC236}">
                <a16:creationId xmlns:a16="http://schemas.microsoft.com/office/drawing/2014/main" id="{D03C6558-F494-4240-B9CB-E4200A7F4CC4}"/>
              </a:ext>
            </a:extLst>
          </p:cNvPr>
          <p:cNvCxnSpPr/>
          <p:nvPr/>
        </p:nvCxnSpPr>
        <p:spPr>
          <a:xfrm flipV="1">
            <a:off x="3202716" y="2995004"/>
            <a:ext cx="1659068" cy="2010992"/>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1" name="!!g-weight-CD">
            <a:extLst>
              <a:ext uri="{FF2B5EF4-FFF2-40B4-BE49-F238E27FC236}">
                <a16:creationId xmlns:a16="http://schemas.microsoft.com/office/drawing/2014/main" id="{02D9CB96-60D3-4A4F-8D10-71158988A2E9}"/>
              </a:ext>
            </a:extLst>
          </p:cNvPr>
          <p:cNvSpPr txBox="1"/>
          <p:nvPr/>
        </p:nvSpPr>
        <p:spPr bwMode="auto">
          <a:xfrm>
            <a:off x="4052550" y="4023597"/>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5</a:t>
            </a:r>
          </a:p>
        </p:txBody>
      </p:sp>
      <p:cxnSp>
        <p:nvCxnSpPr>
          <p:cNvPr id="22" name="!!g-edge-CE">
            <a:extLst>
              <a:ext uri="{FF2B5EF4-FFF2-40B4-BE49-F238E27FC236}">
                <a16:creationId xmlns:a16="http://schemas.microsoft.com/office/drawing/2014/main" id="{D653D008-E06B-4280-A134-220A47F006DB}"/>
              </a:ext>
            </a:extLst>
          </p:cNvPr>
          <p:cNvCxnSpPr/>
          <p:nvPr/>
        </p:nvCxnSpPr>
        <p:spPr>
          <a:xfrm>
            <a:off x="3327400" y="527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3" name="!!g-weight-CE">
            <a:extLst>
              <a:ext uri="{FF2B5EF4-FFF2-40B4-BE49-F238E27FC236}">
                <a16:creationId xmlns:a16="http://schemas.microsoft.com/office/drawing/2014/main" id="{510EC5FF-9F93-4C67-AF6D-1AD2368A5F4A}"/>
              </a:ext>
            </a:extLst>
          </p:cNvPr>
          <p:cNvSpPr txBox="1"/>
          <p:nvPr/>
        </p:nvSpPr>
        <p:spPr bwMode="auto">
          <a:xfrm>
            <a:off x="3778250" y="542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8</a:t>
            </a:r>
          </a:p>
        </p:txBody>
      </p:sp>
      <p:cxnSp>
        <p:nvCxnSpPr>
          <p:cNvPr id="24" name="!!g-edge-DE">
            <a:extLst>
              <a:ext uri="{FF2B5EF4-FFF2-40B4-BE49-F238E27FC236}">
                <a16:creationId xmlns:a16="http://schemas.microsoft.com/office/drawing/2014/main" id="{A2D688BD-3F16-4720-ABF7-6A6E0A064A70}"/>
              </a:ext>
            </a:extLst>
          </p:cNvPr>
          <p:cNvCxnSpPr/>
          <p:nvPr/>
        </p:nvCxnSpPr>
        <p:spPr>
          <a:xfrm>
            <a:off x="5080000" y="3073400"/>
            <a:ext cx="0" cy="1854200"/>
          </a:xfrm>
          <a:prstGeom prst="straightConnector1">
            <a:avLst/>
          </a:prstGeom>
          <a:ln w="44450">
            <a:solidFill>
              <a:srgbClr val="762181"/>
            </a:solidFill>
          </a:ln>
        </p:spPr>
        <p:style>
          <a:lnRef idx="1">
            <a:schemeClr val="accent1"/>
          </a:lnRef>
          <a:fillRef idx="0">
            <a:schemeClr val="accent1"/>
          </a:fillRef>
          <a:effectRef idx="0">
            <a:schemeClr val="accent1"/>
          </a:effectRef>
          <a:fontRef idx="minor">
            <a:schemeClr val="tx1"/>
          </a:fontRef>
        </p:style>
      </p:cxnSp>
      <p:sp>
        <p:nvSpPr>
          <p:cNvPr id="25" name="!!g-weight-DE">
            <a:extLst>
              <a:ext uri="{FF2B5EF4-FFF2-40B4-BE49-F238E27FC236}">
                <a16:creationId xmlns:a16="http://schemas.microsoft.com/office/drawing/2014/main" id="{1482F3A4-BF34-4559-B8A9-A52174AB957C}"/>
              </a:ext>
            </a:extLst>
          </p:cNvPr>
          <p:cNvSpPr txBox="1"/>
          <p:nvPr/>
        </p:nvSpPr>
        <p:spPr bwMode="auto">
          <a:xfrm>
            <a:off x="44704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762181"/>
                </a:solidFill>
                <a:latin typeface="Montserrat"/>
              </a:rPr>
              <a:t>1</a:t>
            </a:r>
          </a:p>
        </p:txBody>
      </p:sp>
      <p:cxnSp>
        <p:nvCxnSpPr>
          <p:cNvPr id="26" name="!!g-edge-DF">
            <a:extLst>
              <a:ext uri="{FF2B5EF4-FFF2-40B4-BE49-F238E27FC236}">
                <a16:creationId xmlns:a16="http://schemas.microsoft.com/office/drawing/2014/main" id="{C8EDD83B-5EFB-4603-A1FF-0994EC277592}"/>
              </a:ext>
            </a:extLst>
          </p:cNvPr>
          <p:cNvCxnSpPr/>
          <p:nvPr/>
        </p:nvCxnSpPr>
        <p:spPr>
          <a:xfrm>
            <a:off x="5362280" y="2925176"/>
            <a:ext cx="1276940" cy="880648"/>
          </a:xfrm>
          <a:prstGeom prst="straightConnector1">
            <a:avLst/>
          </a:prstGeom>
          <a:ln w="44450">
            <a:solidFill>
              <a:srgbClr val="762181"/>
            </a:solidFill>
          </a:ln>
        </p:spPr>
        <p:style>
          <a:lnRef idx="1">
            <a:schemeClr val="accent1"/>
          </a:lnRef>
          <a:fillRef idx="0">
            <a:schemeClr val="accent1"/>
          </a:fillRef>
          <a:effectRef idx="0">
            <a:schemeClr val="accent1"/>
          </a:effectRef>
          <a:fontRef idx="minor">
            <a:schemeClr val="tx1"/>
          </a:fontRef>
        </p:style>
      </p:cxnSp>
      <p:sp>
        <p:nvSpPr>
          <p:cNvPr id="27" name="!!g-weight-DF">
            <a:extLst>
              <a:ext uri="{FF2B5EF4-FFF2-40B4-BE49-F238E27FC236}">
                <a16:creationId xmlns:a16="http://schemas.microsoft.com/office/drawing/2014/main" id="{7A8B42C4-4932-4FBA-84CE-24807D9A9B49}"/>
              </a:ext>
            </a:extLst>
          </p:cNvPr>
          <p:cNvSpPr txBox="1"/>
          <p:nvPr/>
        </p:nvSpPr>
        <p:spPr bwMode="auto">
          <a:xfrm>
            <a:off x="5544864"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762181"/>
                </a:solidFill>
                <a:latin typeface="Montserrat"/>
              </a:rPr>
              <a:t>3</a:t>
            </a:r>
          </a:p>
        </p:txBody>
      </p:sp>
      <p:cxnSp>
        <p:nvCxnSpPr>
          <p:cNvPr id="28" name="!!g-edge-EF">
            <a:extLst>
              <a:ext uri="{FF2B5EF4-FFF2-40B4-BE49-F238E27FC236}">
                <a16:creationId xmlns:a16="http://schemas.microsoft.com/office/drawing/2014/main" id="{B4BF07A6-2624-45FC-B720-2F633BEF14A4}"/>
              </a:ext>
            </a:extLst>
          </p:cNvPr>
          <p:cNvCxnSpPr/>
          <p:nvPr/>
        </p:nvCxnSpPr>
        <p:spPr>
          <a:xfrm flipV="1">
            <a:off x="5362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9" name="!!g-weight-EF">
            <a:extLst>
              <a:ext uri="{FF2B5EF4-FFF2-40B4-BE49-F238E27FC236}">
                <a16:creationId xmlns:a16="http://schemas.microsoft.com/office/drawing/2014/main" id="{59D9152D-0C85-47FB-A1B0-AA59FB72CD7A}"/>
              </a:ext>
            </a:extLst>
          </p:cNvPr>
          <p:cNvSpPr txBox="1"/>
          <p:nvPr/>
        </p:nvSpPr>
        <p:spPr bwMode="auto">
          <a:xfrm>
            <a:off x="5948636"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sp>
        <p:nvSpPr>
          <p:cNvPr id="30" name="!!g-node-A">
            <a:extLst>
              <a:ext uri="{FF2B5EF4-FFF2-40B4-BE49-F238E27FC236}">
                <a16:creationId xmlns:a16="http://schemas.microsoft.com/office/drawing/2014/main" id="{716A20D3-7DB7-408C-B577-1B17B250418B}"/>
              </a:ext>
            </a:extLst>
          </p:cNvPr>
          <p:cNvSpPr/>
          <p:nvPr/>
        </p:nvSpPr>
        <p:spPr>
          <a:xfrm>
            <a:off x="825500" y="368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A</a:t>
            </a:r>
            <a:endParaRPr lang="ru-RU" sz="2200">
              <a:solidFill>
                <a:srgbClr val="FFFFFF"/>
              </a:solidFill>
              <a:latin typeface="Montserrat"/>
            </a:endParaRPr>
          </a:p>
        </p:txBody>
      </p:sp>
      <p:sp>
        <p:nvSpPr>
          <p:cNvPr id="31" name="!!g-node-B">
            <a:extLst>
              <a:ext uri="{FF2B5EF4-FFF2-40B4-BE49-F238E27FC236}">
                <a16:creationId xmlns:a16="http://schemas.microsoft.com/office/drawing/2014/main" id="{03BFAA3D-BC53-44B0-ACE6-EA267312046C}"/>
              </a:ext>
            </a:extLst>
          </p:cNvPr>
          <p:cNvSpPr/>
          <p:nvPr/>
        </p:nvSpPr>
        <p:spPr>
          <a:xfrm>
            <a:off x="2667000" y="241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B</a:t>
            </a:r>
            <a:endParaRPr lang="ru-RU" sz="2200">
              <a:solidFill>
                <a:srgbClr val="FFFFFF"/>
              </a:solidFill>
              <a:latin typeface="Montserrat"/>
            </a:endParaRPr>
          </a:p>
        </p:txBody>
      </p:sp>
      <p:sp>
        <p:nvSpPr>
          <p:cNvPr id="32" name="!!g-node-C">
            <a:extLst>
              <a:ext uri="{FF2B5EF4-FFF2-40B4-BE49-F238E27FC236}">
                <a16:creationId xmlns:a16="http://schemas.microsoft.com/office/drawing/2014/main" id="{90A70CD7-86DE-4983-8E0F-6095305896C5}"/>
              </a:ext>
            </a:extLst>
          </p:cNvPr>
          <p:cNvSpPr/>
          <p:nvPr/>
        </p:nvSpPr>
        <p:spPr>
          <a:xfrm>
            <a:off x="2667000" y="495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C</a:t>
            </a:r>
            <a:endParaRPr lang="ru-RU" sz="2200">
              <a:solidFill>
                <a:srgbClr val="FFFFFF"/>
              </a:solidFill>
              <a:latin typeface="Montserrat"/>
            </a:endParaRPr>
          </a:p>
        </p:txBody>
      </p:sp>
      <p:sp>
        <p:nvSpPr>
          <p:cNvPr id="33" name="!!g-node-D">
            <a:extLst>
              <a:ext uri="{FF2B5EF4-FFF2-40B4-BE49-F238E27FC236}">
                <a16:creationId xmlns:a16="http://schemas.microsoft.com/office/drawing/2014/main" id="{F217326E-50D5-4952-9938-7735BEFAEC1F}"/>
              </a:ext>
            </a:extLst>
          </p:cNvPr>
          <p:cNvSpPr/>
          <p:nvPr/>
        </p:nvSpPr>
        <p:spPr>
          <a:xfrm>
            <a:off x="4762500" y="241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D</a:t>
            </a:r>
            <a:endParaRPr lang="ru-RU" sz="2200">
              <a:solidFill>
                <a:srgbClr val="FFFFFF"/>
              </a:solidFill>
              <a:latin typeface="Montserrat"/>
            </a:endParaRPr>
          </a:p>
        </p:txBody>
      </p:sp>
      <p:sp>
        <p:nvSpPr>
          <p:cNvPr id="34" name="!!g-node-E">
            <a:extLst>
              <a:ext uri="{FF2B5EF4-FFF2-40B4-BE49-F238E27FC236}">
                <a16:creationId xmlns:a16="http://schemas.microsoft.com/office/drawing/2014/main" id="{2CC78CCF-BD6D-4EE3-94F9-FEC5B96038FA}"/>
              </a:ext>
            </a:extLst>
          </p:cNvPr>
          <p:cNvSpPr/>
          <p:nvPr/>
        </p:nvSpPr>
        <p:spPr>
          <a:xfrm>
            <a:off x="47625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35" name="!!g-node-F">
            <a:extLst>
              <a:ext uri="{FF2B5EF4-FFF2-40B4-BE49-F238E27FC236}">
                <a16:creationId xmlns:a16="http://schemas.microsoft.com/office/drawing/2014/main" id="{148C0FC3-B9A7-4870-A592-A9422F936813}"/>
              </a:ext>
            </a:extLst>
          </p:cNvPr>
          <p:cNvSpPr/>
          <p:nvPr/>
        </p:nvSpPr>
        <p:spPr>
          <a:xfrm>
            <a:off x="6604000" y="368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F</a:t>
            </a:r>
            <a:endParaRPr lang="ru-RU" sz="2200">
              <a:solidFill>
                <a:srgbClr val="352379"/>
              </a:solidFill>
              <a:latin typeface="Montserrat"/>
            </a:endParaRPr>
          </a:p>
        </p:txBody>
      </p:sp>
      <p:graphicFrame>
        <p:nvGraphicFramePr>
          <p:cNvPr id="36" name="!!distance-table">
            <a:extLst>
              <a:ext uri="{FF2B5EF4-FFF2-40B4-BE49-F238E27FC236}">
                <a16:creationId xmlns:a16="http://schemas.microsoft.com/office/drawing/2014/main" id="{D044878D-69F6-4873-96BA-22619EA7AE38}"/>
              </a:ext>
            </a:extLst>
          </p:cNvPr>
          <p:cNvGraphicFramePr>
            <a:graphicFrameLocks noGrp="1"/>
          </p:cNvGraphicFramePr>
          <p:nvPr>
            <p:extLst>
              <p:ext uri="{D42A27DB-BD31-4B8C-83A1-F6EECF244321}">
                <p14:modId xmlns:p14="http://schemas.microsoft.com/office/powerpoint/2010/main" val="121277164"/>
              </p:ext>
            </p:extLst>
          </p:nvPr>
        </p:nvGraphicFramePr>
        <p:xfrm>
          <a:off x="8026400" y="1816100"/>
          <a:ext cx="3683000" cy="2997197"/>
        </p:xfrm>
        <a:graphic>
          <a:graphicData uri="http://schemas.openxmlformats.org/drawingml/2006/table">
            <a:tbl>
              <a:tblPr firstRow="1" bandRow="1">
                <a:tableStyleId>{0E3FDE45-AF77-4B5C-9715-49D594BDF05E}</a:tableStyleId>
              </a:tblPr>
              <a:tblGrid>
                <a:gridCol w="1841500">
                  <a:extLst>
                    <a:ext uri="{9D8B030D-6E8A-4147-A177-3AD203B41FA5}">
                      <a16:colId xmlns:a16="http://schemas.microsoft.com/office/drawing/2014/main" val="1743071625"/>
                    </a:ext>
                  </a:extLst>
                </a:gridCol>
                <a:gridCol w="1841500">
                  <a:extLst>
                    <a:ext uri="{9D8B030D-6E8A-4147-A177-3AD203B41FA5}">
                      <a16:colId xmlns:a16="http://schemas.microsoft.com/office/drawing/2014/main" val="2726011206"/>
                    </a:ext>
                  </a:extLst>
                </a:gridCol>
              </a:tblGrid>
              <a:tr h="428171">
                <a:tc>
                  <a:txBody>
                    <a:bodyPr/>
                    <a:lstStyle/>
                    <a:p>
                      <a:pPr algn="ctr"/>
                      <a:r>
                        <a:rPr lang="en-US" sz="2000" b="1">
                          <a:solidFill>
                            <a:srgbClr val="FFFFFF"/>
                          </a:solidFill>
                          <a:latin typeface="Montserrat"/>
                        </a:rPr>
                        <a:t>v</a:t>
                      </a:r>
                      <a:endParaRPr lang="ru-RU" sz="20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000" b="1">
                          <a:solidFill>
                            <a:srgbClr val="FFFFFF"/>
                          </a:solidFill>
                          <a:latin typeface="Montserrat"/>
                        </a:rPr>
                        <a:t>dist</a:t>
                      </a:r>
                      <a:endParaRPr lang="ru-RU" sz="20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1358640430"/>
                  </a:ext>
                </a:extLst>
              </a:tr>
              <a:tr h="428171">
                <a:tc>
                  <a:txBody>
                    <a:bodyPr/>
                    <a:lstStyle/>
                    <a:p>
                      <a:pPr algn="ctr"/>
                      <a:r>
                        <a:rPr lang="en-US" sz="2000" b="0">
                          <a:solidFill>
                            <a:srgbClr val="352379"/>
                          </a:solidFill>
                          <a:latin typeface="Montserrat"/>
                        </a:rPr>
                        <a:t>A</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968492826"/>
                  </a:ext>
                </a:extLst>
              </a:tr>
              <a:tr h="428171">
                <a:tc>
                  <a:txBody>
                    <a:bodyPr/>
                    <a:lstStyle/>
                    <a:p>
                      <a:pPr algn="ctr"/>
                      <a:r>
                        <a:rPr lang="en-US" sz="2000" b="0">
                          <a:solidFill>
                            <a:srgbClr val="352379"/>
                          </a:solidFill>
                          <a:latin typeface="Montserrat"/>
                        </a:rPr>
                        <a:t>B</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5</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4098324059"/>
                  </a:ext>
                </a:extLst>
              </a:tr>
              <a:tr h="428171">
                <a:tc>
                  <a:txBody>
                    <a:bodyPr/>
                    <a:lstStyle/>
                    <a:p>
                      <a:pPr algn="ctr"/>
                      <a:r>
                        <a:rPr lang="en-US" sz="2000" b="0">
                          <a:solidFill>
                            <a:srgbClr val="352379"/>
                          </a:solidFill>
                          <a:latin typeface="Montserrat"/>
                        </a:rPr>
                        <a:t>C</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3</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1834411671"/>
                  </a:ext>
                </a:extLst>
              </a:tr>
              <a:tr h="428171">
                <a:tc>
                  <a:txBody>
                    <a:bodyPr/>
                    <a:lstStyle/>
                    <a:p>
                      <a:pPr algn="ctr"/>
                      <a:r>
                        <a:rPr lang="en-US" sz="2000" b="0">
                          <a:solidFill>
                            <a:srgbClr val="352379"/>
                          </a:solidFill>
                          <a:latin typeface="Montserrat"/>
                        </a:rPr>
                        <a:t>D</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8</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3261824885"/>
                  </a:ext>
                </a:extLst>
              </a:tr>
              <a:tr h="428171">
                <a:tc>
                  <a:txBody>
                    <a:bodyPr/>
                    <a:lstStyle/>
                    <a:p>
                      <a:pPr algn="ctr"/>
                      <a:r>
                        <a:rPr lang="en-US" sz="2000" b="0">
                          <a:solidFill>
                            <a:srgbClr val="352379"/>
                          </a:solidFill>
                          <a:latin typeface="Montserrat"/>
                        </a:rPr>
                        <a:t>E</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9</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3441263279"/>
                  </a:ext>
                </a:extLst>
              </a:tr>
              <a:tr h="428171">
                <a:tc>
                  <a:txBody>
                    <a:bodyPr/>
                    <a:lstStyle/>
                    <a:p>
                      <a:pPr algn="ctr"/>
                      <a:r>
                        <a:rPr lang="en-US" sz="2000" b="0">
                          <a:solidFill>
                            <a:srgbClr val="352379"/>
                          </a:solidFill>
                          <a:latin typeface="Montserrat"/>
                        </a:rPr>
                        <a:t>F</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11</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1550769239"/>
                  </a:ext>
                </a:extLst>
              </a:tr>
            </a:tbl>
          </a:graphicData>
        </a:graphic>
      </p:graphicFrame>
      <p:sp>
        <p:nvSpPr>
          <p:cNvPr id="37" name="!!calculation">
            <a:extLst>
              <a:ext uri="{FF2B5EF4-FFF2-40B4-BE49-F238E27FC236}">
                <a16:creationId xmlns:a16="http://schemas.microsoft.com/office/drawing/2014/main" id="{77DE2E5E-4407-46D5-9F8D-80074F18FCF1}"/>
              </a:ext>
            </a:extLst>
          </p:cNvPr>
          <p:cNvSpPr txBox="1"/>
          <p:nvPr/>
        </p:nvSpPr>
        <p:spPr bwMode="auto">
          <a:xfrm>
            <a:off x="609600" y="1625599"/>
            <a:ext cx="7112000" cy="673100"/>
          </a:xfrm>
          <a:prstGeom prst="rect">
            <a:avLst/>
          </a:prstGeom>
        </p:spPr>
        <p:txBody>
          <a:bodyPr vert="horz" wrap="square" lIns="0" tIns="0" rIns="0" bIns="0" rtlCol="0">
            <a:noAutofit/>
          </a:bodyPr>
          <a:lstStyle/>
          <a:p>
            <a:r>
              <a:rPr lang="en-US" sz="2000">
                <a:solidFill>
                  <a:srgbClr val="352379"/>
                </a:solidFill>
                <a:latin typeface="Montserrat"/>
              </a:rPr>
              <a:t>E: 11 → 8 + 1 = 9</a:t>
            </a:r>
          </a:p>
          <a:p>
            <a:r>
              <a:rPr lang="en-US" sz="2000">
                <a:solidFill>
                  <a:srgbClr val="352379"/>
                </a:solidFill>
                <a:latin typeface="Montserrat"/>
              </a:rPr>
              <a:t>F: ∞ → 8 + 3 = 11</a:t>
            </a:r>
            <a:endParaRPr lang="ru-RU" sz="2000">
              <a:solidFill>
                <a:srgbClr val="352379"/>
              </a:solidFill>
              <a:latin typeface="Montserrat"/>
            </a:endParaRPr>
          </a:p>
        </p:txBody>
      </p:sp>
      <p:sp>
        <p:nvSpPr>
          <p:cNvPr id="38" name="heap-label">
            <a:extLst>
              <a:ext uri="{FF2B5EF4-FFF2-40B4-BE49-F238E27FC236}">
                <a16:creationId xmlns:a16="http://schemas.microsoft.com/office/drawing/2014/main" id="{4D5CE73D-E986-4D6A-8A63-3270EF6E77C9}"/>
              </a:ext>
            </a:extLst>
          </p:cNvPr>
          <p:cNvSpPr txBox="1"/>
          <p:nvPr/>
        </p:nvSpPr>
        <p:spPr bwMode="auto">
          <a:xfrm>
            <a:off x="8026400" y="4952999"/>
            <a:ext cx="3683000" cy="317500"/>
          </a:xfrm>
          <a:prstGeom prst="rect">
            <a:avLst/>
          </a:prstGeom>
        </p:spPr>
        <p:txBody>
          <a:bodyPr vert="horz" wrap="square" lIns="0" tIns="0" rIns="0" bIns="0" rtlCol="0">
            <a:noAutofit/>
          </a:bodyPr>
          <a:lstStyle/>
          <a:p>
            <a:r>
              <a:rPr lang="en-US" sz="1700" b="1">
                <a:solidFill>
                  <a:srgbClr val="352379"/>
                </a:solidFill>
                <a:latin typeface="Montserrat"/>
              </a:rPr>
              <a:t>Priority queue</a:t>
            </a:r>
            <a:endParaRPr lang="ru-RU" sz="1700" b="1">
              <a:solidFill>
                <a:srgbClr val="352379"/>
              </a:solidFill>
              <a:latin typeface="Montserrat"/>
            </a:endParaRPr>
          </a:p>
        </p:txBody>
      </p:sp>
      <p:sp>
        <p:nvSpPr>
          <p:cNvPr id="39" name="!!heap-state">
            <a:extLst>
              <a:ext uri="{FF2B5EF4-FFF2-40B4-BE49-F238E27FC236}">
                <a16:creationId xmlns:a16="http://schemas.microsoft.com/office/drawing/2014/main" id="{AD4174D2-8BDB-41CE-9F8E-2207501DAD9D}"/>
              </a:ext>
            </a:extLst>
          </p:cNvPr>
          <p:cNvSpPr txBox="1"/>
          <p:nvPr/>
        </p:nvSpPr>
        <p:spPr bwMode="auto">
          <a:xfrm>
            <a:off x="8026400" y="5321299"/>
            <a:ext cx="3683000" cy="533400"/>
          </a:xfrm>
          <a:prstGeom prst="rect">
            <a:avLst/>
          </a:prstGeom>
        </p:spPr>
        <p:txBody>
          <a:bodyPr vert="horz" wrap="square" lIns="0" tIns="0" rIns="0" bIns="0" rtlCol="0">
            <a:noAutofit/>
          </a:bodyPr>
          <a:lstStyle/>
          <a:p>
            <a:r>
              <a:rPr lang="en-US" sz="1600">
                <a:solidFill>
                  <a:srgbClr val="352379"/>
                </a:solidFill>
                <a:latin typeface="Montserrat"/>
              </a:rPr>
              <a:t>(9, E), (11, E),</a:t>
            </a:r>
          </a:p>
          <a:p>
            <a:r>
              <a:rPr lang="en-US" sz="1600">
                <a:solidFill>
                  <a:srgbClr val="352379"/>
                </a:solidFill>
                <a:latin typeface="Montserrat"/>
              </a:rPr>
              <a:t>(11, F)</a:t>
            </a:r>
            <a:endParaRPr lang="ru-RU" sz="1600">
              <a:solidFill>
                <a:srgbClr val="352379"/>
              </a:solidFill>
              <a:latin typeface="Montserrat"/>
            </a:endParaRPr>
          </a:p>
        </p:txBody>
      </p:sp>
      <p:sp>
        <p:nvSpPr>
          <p:cNvPr id="3" name="lecture-footer">
            <a:extLst>
              <a:ext uri="{FF2B5EF4-FFF2-40B4-BE49-F238E27FC236}">
                <a16:creationId xmlns:a16="http://schemas.microsoft.com/office/drawing/2014/main" id="{401AB383-ED99-42B2-8BEA-A8390B598C18}"/>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4" name="slide-number">
            <a:extLst>
              <a:ext uri="{FF2B5EF4-FFF2-40B4-BE49-F238E27FC236}">
                <a16:creationId xmlns:a16="http://schemas.microsoft.com/office/drawing/2014/main" id="{8D2C147C-28E6-4FAF-846F-F6EE6DD3B3DB}"/>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26</a:t>
            </a:r>
          </a:p>
        </p:txBody>
      </p:sp>
      <p:sp>
        <p:nvSpPr>
          <p:cNvPr id="5" name="bottom-band">
            <a:extLst>
              <a:ext uri="{FF2B5EF4-FFF2-40B4-BE49-F238E27FC236}">
                <a16:creationId xmlns:a16="http://schemas.microsoft.com/office/drawing/2014/main" id="{146E0A28-0E82-42B9-8B38-BC29F492E8A7}"/>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bottom-message">
            <a:extLst>
              <a:ext uri="{FF2B5EF4-FFF2-40B4-BE49-F238E27FC236}">
                <a16:creationId xmlns:a16="http://schemas.microsoft.com/office/drawing/2014/main" id="{6C3E2050-B8B2-4B98-AA6A-F69E800EC59E}"/>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Белая: ожидает   •   контур: текущая   •   фиолетовая: обработана</a:t>
            </a:r>
          </a:p>
        </p:txBody>
      </p:sp>
    </p:spTree>
    <p:extLst>
      <p:ext uri="{BB962C8B-B14F-4D97-AF65-F5344CB8AC3E}">
        <p14:creationId xmlns:p14="http://schemas.microsoft.com/office/powerpoint/2010/main" val="38026428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55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25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9"/>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3012CE-3832-450F-93D1-56DE263D984A}"/>
              </a:ext>
            </a:extLst>
          </p:cNvPr>
          <p:cNvSpPr>
            <a:spLocks noGrp="1"/>
          </p:cNvSpPr>
          <p:nvPr>
            <p:ph type="title"/>
          </p:nvPr>
        </p:nvSpPr>
        <p:spPr>
          <a:xfrm>
            <a:off x="479425" y="597855"/>
            <a:ext cx="11229975" cy="1140459"/>
          </a:xfrm>
        </p:spPr>
        <p:txBody>
          <a:bodyPr/>
          <a:lstStyle/>
          <a:p>
            <a:r>
              <a:rPr lang="ru-RU"/>
              <a:t>Шаг 5: выбираем </a:t>
            </a:r>
            <a:r>
              <a:rPr lang="en-US"/>
              <a:t>E</a:t>
            </a:r>
            <a:endParaRPr lang="ru-RU"/>
          </a:p>
        </p:txBody>
      </p:sp>
      <p:sp>
        <p:nvSpPr>
          <p:cNvPr id="7" name="Текст 6">
            <a:extLst>
              <a:ext uri="{FF2B5EF4-FFF2-40B4-BE49-F238E27FC236}">
                <a16:creationId xmlns:a16="http://schemas.microsoft.com/office/drawing/2014/main" id="{BD921E17-1662-49A2-B4A2-13ECB2A88527}"/>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cxnSp>
        <p:nvCxnSpPr>
          <p:cNvPr id="12" name="!!g-edge-AB">
            <a:extLst>
              <a:ext uri="{FF2B5EF4-FFF2-40B4-BE49-F238E27FC236}">
                <a16:creationId xmlns:a16="http://schemas.microsoft.com/office/drawing/2014/main" id="{8D5A390E-C272-4C3C-A679-62C8DEB368BC}"/>
              </a:ext>
            </a:extLst>
          </p:cNvPr>
          <p:cNvCxnSpPr/>
          <p:nvPr/>
        </p:nvCxnSpPr>
        <p:spPr>
          <a:xfrm flipV="1">
            <a:off x="1425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3" name="!!g-weight-AB">
            <a:extLst>
              <a:ext uri="{FF2B5EF4-FFF2-40B4-BE49-F238E27FC236}">
                <a16:creationId xmlns:a16="http://schemas.microsoft.com/office/drawing/2014/main" id="{046E5BC9-0D99-4901-9F84-4340DFFFB7B8}"/>
              </a:ext>
            </a:extLst>
          </p:cNvPr>
          <p:cNvSpPr txBox="1"/>
          <p:nvPr/>
        </p:nvSpPr>
        <p:spPr bwMode="auto">
          <a:xfrm>
            <a:off x="2011636"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7</a:t>
            </a:r>
          </a:p>
        </p:txBody>
      </p:sp>
      <p:cxnSp>
        <p:nvCxnSpPr>
          <p:cNvPr id="14" name="!!g-edge-AC">
            <a:extLst>
              <a:ext uri="{FF2B5EF4-FFF2-40B4-BE49-F238E27FC236}">
                <a16:creationId xmlns:a16="http://schemas.microsoft.com/office/drawing/2014/main" id="{D3378560-7558-45FB-BEB8-D8501B9836E6}"/>
              </a:ext>
            </a:extLst>
          </p:cNvPr>
          <p:cNvCxnSpPr/>
          <p:nvPr/>
        </p:nvCxnSpPr>
        <p:spPr>
          <a:xfrm>
            <a:off x="1425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5" name="!!g-weight-AC">
            <a:extLst>
              <a:ext uri="{FF2B5EF4-FFF2-40B4-BE49-F238E27FC236}">
                <a16:creationId xmlns:a16="http://schemas.microsoft.com/office/drawing/2014/main" id="{4AE74058-1E62-42AB-A320-7EFD55E73ABF}"/>
              </a:ext>
            </a:extLst>
          </p:cNvPr>
          <p:cNvSpPr txBox="1"/>
          <p:nvPr/>
        </p:nvSpPr>
        <p:spPr bwMode="auto">
          <a:xfrm>
            <a:off x="1607864"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6" name="!!g-edge-BC">
            <a:extLst>
              <a:ext uri="{FF2B5EF4-FFF2-40B4-BE49-F238E27FC236}">
                <a16:creationId xmlns:a16="http://schemas.microsoft.com/office/drawing/2014/main" id="{277BC1C4-7068-48A3-A9E7-C2454E03D5C6}"/>
              </a:ext>
            </a:extLst>
          </p:cNvPr>
          <p:cNvCxnSpPr/>
          <p:nvPr/>
        </p:nvCxnSpPr>
        <p:spPr>
          <a:xfrm>
            <a:off x="29845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7" name="!!g-weight-BC">
            <a:extLst>
              <a:ext uri="{FF2B5EF4-FFF2-40B4-BE49-F238E27FC236}">
                <a16:creationId xmlns:a16="http://schemas.microsoft.com/office/drawing/2014/main" id="{3F13314D-BCBD-4F51-84AD-D68974DCD3DE}"/>
              </a:ext>
            </a:extLst>
          </p:cNvPr>
          <p:cNvSpPr txBox="1"/>
          <p:nvPr/>
        </p:nvSpPr>
        <p:spPr bwMode="auto">
          <a:xfrm>
            <a:off x="23749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18" name="!!g-edge-BD">
            <a:extLst>
              <a:ext uri="{FF2B5EF4-FFF2-40B4-BE49-F238E27FC236}">
                <a16:creationId xmlns:a16="http://schemas.microsoft.com/office/drawing/2014/main" id="{4D5A1082-35D3-41E0-80E3-84F320E049D2}"/>
              </a:ext>
            </a:extLst>
          </p:cNvPr>
          <p:cNvCxnSpPr/>
          <p:nvPr/>
        </p:nvCxnSpPr>
        <p:spPr>
          <a:xfrm>
            <a:off x="3327400" y="273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9" name="!!g-weight-BD">
            <a:extLst>
              <a:ext uri="{FF2B5EF4-FFF2-40B4-BE49-F238E27FC236}">
                <a16:creationId xmlns:a16="http://schemas.microsoft.com/office/drawing/2014/main" id="{62637FCF-DF22-41B7-83BB-C4636B54AAB8}"/>
              </a:ext>
            </a:extLst>
          </p:cNvPr>
          <p:cNvSpPr txBox="1"/>
          <p:nvPr/>
        </p:nvSpPr>
        <p:spPr bwMode="auto">
          <a:xfrm>
            <a:off x="3778250" y="288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20" name="!!g-edge-CD">
            <a:extLst>
              <a:ext uri="{FF2B5EF4-FFF2-40B4-BE49-F238E27FC236}">
                <a16:creationId xmlns:a16="http://schemas.microsoft.com/office/drawing/2014/main" id="{D03C6558-F494-4240-B9CB-E4200A7F4CC4}"/>
              </a:ext>
            </a:extLst>
          </p:cNvPr>
          <p:cNvCxnSpPr/>
          <p:nvPr/>
        </p:nvCxnSpPr>
        <p:spPr>
          <a:xfrm flipV="1">
            <a:off x="3202716" y="2995004"/>
            <a:ext cx="1659068" cy="2010992"/>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1" name="!!g-weight-CD">
            <a:extLst>
              <a:ext uri="{FF2B5EF4-FFF2-40B4-BE49-F238E27FC236}">
                <a16:creationId xmlns:a16="http://schemas.microsoft.com/office/drawing/2014/main" id="{02D9CB96-60D3-4A4F-8D10-71158988A2E9}"/>
              </a:ext>
            </a:extLst>
          </p:cNvPr>
          <p:cNvSpPr txBox="1"/>
          <p:nvPr/>
        </p:nvSpPr>
        <p:spPr bwMode="auto">
          <a:xfrm>
            <a:off x="4052550" y="4023597"/>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5</a:t>
            </a:r>
          </a:p>
        </p:txBody>
      </p:sp>
      <p:cxnSp>
        <p:nvCxnSpPr>
          <p:cNvPr id="22" name="!!g-edge-CE">
            <a:extLst>
              <a:ext uri="{FF2B5EF4-FFF2-40B4-BE49-F238E27FC236}">
                <a16:creationId xmlns:a16="http://schemas.microsoft.com/office/drawing/2014/main" id="{D653D008-E06B-4280-A134-220A47F006DB}"/>
              </a:ext>
            </a:extLst>
          </p:cNvPr>
          <p:cNvCxnSpPr/>
          <p:nvPr/>
        </p:nvCxnSpPr>
        <p:spPr>
          <a:xfrm>
            <a:off x="3327400" y="527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3" name="!!g-weight-CE">
            <a:extLst>
              <a:ext uri="{FF2B5EF4-FFF2-40B4-BE49-F238E27FC236}">
                <a16:creationId xmlns:a16="http://schemas.microsoft.com/office/drawing/2014/main" id="{510EC5FF-9F93-4C67-AF6D-1AD2368A5F4A}"/>
              </a:ext>
            </a:extLst>
          </p:cNvPr>
          <p:cNvSpPr txBox="1"/>
          <p:nvPr/>
        </p:nvSpPr>
        <p:spPr bwMode="auto">
          <a:xfrm>
            <a:off x="3778250" y="542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8</a:t>
            </a:r>
          </a:p>
        </p:txBody>
      </p:sp>
      <p:cxnSp>
        <p:nvCxnSpPr>
          <p:cNvPr id="24" name="!!g-edge-DE">
            <a:extLst>
              <a:ext uri="{FF2B5EF4-FFF2-40B4-BE49-F238E27FC236}">
                <a16:creationId xmlns:a16="http://schemas.microsoft.com/office/drawing/2014/main" id="{A2D688BD-3F16-4720-ABF7-6A6E0A064A70}"/>
              </a:ext>
            </a:extLst>
          </p:cNvPr>
          <p:cNvCxnSpPr/>
          <p:nvPr/>
        </p:nvCxnSpPr>
        <p:spPr>
          <a:xfrm>
            <a:off x="50800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5" name="!!g-weight-DE">
            <a:extLst>
              <a:ext uri="{FF2B5EF4-FFF2-40B4-BE49-F238E27FC236}">
                <a16:creationId xmlns:a16="http://schemas.microsoft.com/office/drawing/2014/main" id="{1482F3A4-BF34-4559-B8A9-A52174AB957C}"/>
              </a:ext>
            </a:extLst>
          </p:cNvPr>
          <p:cNvSpPr txBox="1"/>
          <p:nvPr/>
        </p:nvSpPr>
        <p:spPr bwMode="auto">
          <a:xfrm>
            <a:off x="44704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cxnSp>
        <p:nvCxnSpPr>
          <p:cNvPr id="26" name="!!g-edge-DF">
            <a:extLst>
              <a:ext uri="{FF2B5EF4-FFF2-40B4-BE49-F238E27FC236}">
                <a16:creationId xmlns:a16="http://schemas.microsoft.com/office/drawing/2014/main" id="{C8EDD83B-5EFB-4603-A1FF-0994EC277592}"/>
              </a:ext>
            </a:extLst>
          </p:cNvPr>
          <p:cNvCxnSpPr/>
          <p:nvPr/>
        </p:nvCxnSpPr>
        <p:spPr>
          <a:xfrm>
            <a:off x="5362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7" name="!!g-weight-DF">
            <a:extLst>
              <a:ext uri="{FF2B5EF4-FFF2-40B4-BE49-F238E27FC236}">
                <a16:creationId xmlns:a16="http://schemas.microsoft.com/office/drawing/2014/main" id="{7A8B42C4-4932-4FBA-84CE-24807D9A9B49}"/>
              </a:ext>
            </a:extLst>
          </p:cNvPr>
          <p:cNvSpPr txBox="1"/>
          <p:nvPr/>
        </p:nvSpPr>
        <p:spPr bwMode="auto">
          <a:xfrm>
            <a:off x="5544864"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28" name="!!g-edge-EF">
            <a:extLst>
              <a:ext uri="{FF2B5EF4-FFF2-40B4-BE49-F238E27FC236}">
                <a16:creationId xmlns:a16="http://schemas.microsoft.com/office/drawing/2014/main" id="{B4BF07A6-2624-45FC-B720-2F633BEF14A4}"/>
              </a:ext>
            </a:extLst>
          </p:cNvPr>
          <p:cNvCxnSpPr/>
          <p:nvPr/>
        </p:nvCxnSpPr>
        <p:spPr>
          <a:xfrm flipV="1">
            <a:off x="5362280" y="4195176"/>
            <a:ext cx="1276940" cy="880648"/>
          </a:xfrm>
          <a:prstGeom prst="straightConnector1">
            <a:avLst/>
          </a:prstGeom>
          <a:ln w="44450">
            <a:solidFill>
              <a:srgbClr val="762181"/>
            </a:solidFill>
          </a:ln>
        </p:spPr>
        <p:style>
          <a:lnRef idx="1">
            <a:schemeClr val="accent1"/>
          </a:lnRef>
          <a:fillRef idx="0">
            <a:schemeClr val="accent1"/>
          </a:fillRef>
          <a:effectRef idx="0">
            <a:schemeClr val="accent1"/>
          </a:effectRef>
          <a:fontRef idx="minor">
            <a:schemeClr val="tx1"/>
          </a:fontRef>
        </p:style>
      </p:cxnSp>
      <p:sp>
        <p:nvSpPr>
          <p:cNvPr id="29" name="!!g-weight-EF">
            <a:extLst>
              <a:ext uri="{FF2B5EF4-FFF2-40B4-BE49-F238E27FC236}">
                <a16:creationId xmlns:a16="http://schemas.microsoft.com/office/drawing/2014/main" id="{59D9152D-0C85-47FB-A1B0-AA59FB72CD7A}"/>
              </a:ext>
            </a:extLst>
          </p:cNvPr>
          <p:cNvSpPr txBox="1"/>
          <p:nvPr/>
        </p:nvSpPr>
        <p:spPr bwMode="auto">
          <a:xfrm>
            <a:off x="5948636"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762181"/>
                </a:solidFill>
                <a:latin typeface="Montserrat"/>
              </a:rPr>
              <a:t>2</a:t>
            </a:r>
          </a:p>
        </p:txBody>
      </p:sp>
      <p:sp>
        <p:nvSpPr>
          <p:cNvPr id="30" name="!!g-node-A">
            <a:extLst>
              <a:ext uri="{FF2B5EF4-FFF2-40B4-BE49-F238E27FC236}">
                <a16:creationId xmlns:a16="http://schemas.microsoft.com/office/drawing/2014/main" id="{716A20D3-7DB7-408C-B577-1B17B250418B}"/>
              </a:ext>
            </a:extLst>
          </p:cNvPr>
          <p:cNvSpPr/>
          <p:nvPr/>
        </p:nvSpPr>
        <p:spPr>
          <a:xfrm>
            <a:off x="825500" y="368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A</a:t>
            </a:r>
            <a:endParaRPr lang="ru-RU" sz="2200">
              <a:solidFill>
                <a:srgbClr val="FFFFFF"/>
              </a:solidFill>
              <a:latin typeface="Montserrat"/>
            </a:endParaRPr>
          </a:p>
        </p:txBody>
      </p:sp>
      <p:sp>
        <p:nvSpPr>
          <p:cNvPr id="31" name="!!g-node-B">
            <a:extLst>
              <a:ext uri="{FF2B5EF4-FFF2-40B4-BE49-F238E27FC236}">
                <a16:creationId xmlns:a16="http://schemas.microsoft.com/office/drawing/2014/main" id="{03BFAA3D-BC53-44B0-ACE6-EA267312046C}"/>
              </a:ext>
            </a:extLst>
          </p:cNvPr>
          <p:cNvSpPr/>
          <p:nvPr/>
        </p:nvSpPr>
        <p:spPr>
          <a:xfrm>
            <a:off x="2667000" y="241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B</a:t>
            </a:r>
            <a:endParaRPr lang="ru-RU" sz="2200">
              <a:solidFill>
                <a:srgbClr val="FFFFFF"/>
              </a:solidFill>
              <a:latin typeface="Montserrat"/>
            </a:endParaRPr>
          </a:p>
        </p:txBody>
      </p:sp>
      <p:sp>
        <p:nvSpPr>
          <p:cNvPr id="32" name="!!g-node-C">
            <a:extLst>
              <a:ext uri="{FF2B5EF4-FFF2-40B4-BE49-F238E27FC236}">
                <a16:creationId xmlns:a16="http://schemas.microsoft.com/office/drawing/2014/main" id="{90A70CD7-86DE-4983-8E0F-6095305896C5}"/>
              </a:ext>
            </a:extLst>
          </p:cNvPr>
          <p:cNvSpPr/>
          <p:nvPr/>
        </p:nvSpPr>
        <p:spPr>
          <a:xfrm>
            <a:off x="2667000" y="495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C</a:t>
            </a:r>
            <a:endParaRPr lang="ru-RU" sz="2200">
              <a:solidFill>
                <a:srgbClr val="FFFFFF"/>
              </a:solidFill>
              <a:latin typeface="Montserrat"/>
            </a:endParaRPr>
          </a:p>
        </p:txBody>
      </p:sp>
      <p:sp>
        <p:nvSpPr>
          <p:cNvPr id="33" name="!!g-node-D">
            <a:extLst>
              <a:ext uri="{FF2B5EF4-FFF2-40B4-BE49-F238E27FC236}">
                <a16:creationId xmlns:a16="http://schemas.microsoft.com/office/drawing/2014/main" id="{F217326E-50D5-4952-9938-7735BEFAEC1F}"/>
              </a:ext>
            </a:extLst>
          </p:cNvPr>
          <p:cNvSpPr/>
          <p:nvPr/>
        </p:nvSpPr>
        <p:spPr>
          <a:xfrm>
            <a:off x="4762500" y="241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D</a:t>
            </a:r>
            <a:endParaRPr lang="ru-RU" sz="2200">
              <a:solidFill>
                <a:srgbClr val="FFFFFF"/>
              </a:solidFill>
              <a:latin typeface="Montserrat"/>
            </a:endParaRPr>
          </a:p>
        </p:txBody>
      </p:sp>
      <p:sp>
        <p:nvSpPr>
          <p:cNvPr id="34" name="!!g-node-E">
            <a:extLst>
              <a:ext uri="{FF2B5EF4-FFF2-40B4-BE49-F238E27FC236}">
                <a16:creationId xmlns:a16="http://schemas.microsoft.com/office/drawing/2014/main" id="{2CC78CCF-BD6D-4EE3-94F9-FEC5B96038FA}"/>
              </a:ext>
            </a:extLst>
          </p:cNvPr>
          <p:cNvSpPr/>
          <p:nvPr/>
        </p:nvSpPr>
        <p:spPr>
          <a:xfrm>
            <a:off x="4762500" y="4953000"/>
            <a:ext cx="635000" cy="635000"/>
          </a:xfrm>
          <a:prstGeom prst="ellipse">
            <a:avLst/>
          </a:prstGeom>
          <a:solidFill>
            <a:srgbClr val="FFFFFF"/>
          </a:solidFill>
          <a:ln w="44450">
            <a:solidFill>
              <a:srgbClr val="76218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35" name="!!g-node-F">
            <a:extLst>
              <a:ext uri="{FF2B5EF4-FFF2-40B4-BE49-F238E27FC236}">
                <a16:creationId xmlns:a16="http://schemas.microsoft.com/office/drawing/2014/main" id="{148C0FC3-B9A7-4870-A592-A9422F936813}"/>
              </a:ext>
            </a:extLst>
          </p:cNvPr>
          <p:cNvSpPr/>
          <p:nvPr/>
        </p:nvSpPr>
        <p:spPr>
          <a:xfrm>
            <a:off x="6604000" y="368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F</a:t>
            </a:r>
            <a:endParaRPr lang="ru-RU" sz="2200">
              <a:solidFill>
                <a:srgbClr val="352379"/>
              </a:solidFill>
              <a:latin typeface="Montserrat"/>
            </a:endParaRPr>
          </a:p>
        </p:txBody>
      </p:sp>
      <p:graphicFrame>
        <p:nvGraphicFramePr>
          <p:cNvPr id="36" name="!!distance-table">
            <a:extLst>
              <a:ext uri="{FF2B5EF4-FFF2-40B4-BE49-F238E27FC236}">
                <a16:creationId xmlns:a16="http://schemas.microsoft.com/office/drawing/2014/main" id="{D044878D-69F6-4873-96BA-22619EA7AE38}"/>
              </a:ext>
            </a:extLst>
          </p:cNvPr>
          <p:cNvGraphicFramePr>
            <a:graphicFrameLocks noGrp="1"/>
          </p:cNvGraphicFramePr>
          <p:nvPr>
            <p:extLst>
              <p:ext uri="{D42A27DB-BD31-4B8C-83A1-F6EECF244321}">
                <p14:modId xmlns:p14="http://schemas.microsoft.com/office/powerpoint/2010/main" val="1167264317"/>
              </p:ext>
            </p:extLst>
          </p:nvPr>
        </p:nvGraphicFramePr>
        <p:xfrm>
          <a:off x="8026400" y="1816100"/>
          <a:ext cx="3683000" cy="2997197"/>
        </p:xfrm>
        <a:graphic>
          <a:graphicData uri="http://schemas.openxmlformats.org/drawingml/2006/table">
            <a:tbl>
              <a:tblPr firstRow="1" bandRow="1">
                <a:tableStyleId>{0E3FDE45-AF77-4B5C-9715-49D594BDF05E}</a:tableStyleId>
              </a:tblPr>
              <a:tblGrid>
                <a:gridCol w="1841500">
                  <a:extLst>
                    <a:ext uri="{9D8B030D-6E8A-4147-A177-3AD203B41FA5}">
                      <a16:colId xmlns:a16="http://schemas.microsoft.com/office/drawing/2014/main" val="1743071625"/>
                    </a:ext>
                  </a:extLst>
                </a:gridCol>
                <a:gridCol w="1841500">
                  <a:extLst>
                    <a:ext uri="{9D8B030D-6E8A-4147-A177-3AD203B41FA5}">
                      <a16:colId xmlns:a16="http://schemas.microsoft.com/office/drawing/2014/main" val="2726011206"/>
                    </a:ext>
                  </a:extLst>
                </a:gridCol>
              </a:tblGrid>
              <a:tr h="428171">
                <a:tc>
                  <a:txBody>
                    <a:bodyPr/>
                    <a:lstStyle/>
                    <a:p>
                      <a:pPr algn="ctr"/>
                      <a:r>
                        <a:rPr lang="en-US" sz="2000" b="1">
                          <a:solidFill>
                            <a:srgbClr val="FFFFFF"/>
                          </a:solidFill>
                          <a:latin typeface="Montserrat"/>
                        </a:rPr>
                        <a:t>v</a:t>
                      </a:r>
                      <a:endParaRPr lang="ru-RU" sz="20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000" b="1">
                          <a:solidFill>
                            <a:srgbClr val="FFFFFF"/>
                          </a:solidFill>
                          <a:latin typeface="Montserrat"/>
                        </a:rPr>
                        <a:t>dist</a:t>
                      </a:r>
                      <a:endParaRPr lang="ru-RU" sz="20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1358640430"/>
                  </a:ext>
                </a:extLst>
              </a:tr>
              <a:tr h="428171">
                <a:tc>
                  <a:txBody>
                    <a:bodyPr/>
                    <a:lstStyle/>
                    <a:p>
                      <a:pPr algn="ctr"/>
                      <a:r>
                        <a:rPr lang="en-US" sz="2000" b="0">
                          <a:solidFill>
                            <a:srgbClr val="352379"/>
                          </a:solidFill>
                          <a:latin typeface="Montserrat"/>
                        </a:rPr>
                        <a:t>A</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968492826"/>
                  </a:ext>
                </a:extLst>
              </a:tr>
              <a:tr h="428171">
                <a:tc>
                  <a:txBody>
                    <a:bodyPr/>
                    <a:lstStyle/>
                    <a:p>
                      <a:pPr algn="ctr"/>
                      <a:r>
                        <a:rPr lang="en-US" sz="2000" b="0">
                          <a:solidFill>
                            <a:srgbClr val="352379"/>
                          </a:solidFill>
                          <a:latin typeface="Montserrat"/>
                        </a:rPr>
                        <a:t>B</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5</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4098324059"/>
                  </a:ext>
                </a:extLst>
              </a:tr>
              <a:tr h="428171">
                <a:tc>
                  <a:txBody>
                    <a:bodyPr/>
                    <a:lstStyle/>
                    <a:p>
                      <a:pPr algn="ctr"/>
                      <a:r>
                        <a:rPr lang="en-US" sz="2000" b="0">
                          <a:solidFill>
                            <a:srgbClr val="352379"/>
                          </a:solidFill>
                          <a:latin typeface="Montserrat"/>
                        </a:rPr>
                        <a:t>C</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3</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1834411671"/>
                  </a:ext>
                </a:extLst>
              </a:tr>
              <a:tr h="428171">
                <a:tc>
                  <a:txBody>
                    <a:bodyPr/>
                    <a:lstStyle/>
                    <a:p>
                      <a:pPr algn="ctr"/>
                      <a:r>
                        <a:rPr lang="en-US" sz="2000" b="0">
                          <a:solidFill>
                            <a:srgbClr val="352379"/>
                          </a:solidFill>
                          <a:latin typeface="Montserrat"/>
                        </a:rPr>
                        <a:t>D</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8</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3261824885"/>
                  </a:ext>
                </a:extLst>
              </a:tr>
              <a:tr h="428171">
                <a:tc>
                  <a:txBody>
                    <a:bodyPr/>
                    <a:lstStyle/>
                    <a:p>
                      <a:pPr algn="ctr"/>
                      <a:r>
                        <a:rPr lang="en-US" sz="2000" b="0">
                          <a:solidFill>
                            <a:srgbClr val="352379"/>
                          </a:solidFill>
                          <a:latin typeface="Montserrat"/>
                        </a:rPr>
                        <a:t>E</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9</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3441263279"/>
                  </a:ext>
                </a:extLst>
              </a:tr>
              <a:tr h="428171">
                <a:tc>
                  <a:txBody>
                    <a:bodyPr/>
                    <a:lstStyle/>
                    <a:p>
                      <a:pPr algn="ctr"/>
                      <a:r>
                        <a:rPr lang="en-US" sz="2000" b="0">
                          <a:solidFill>
                            <a:srgbClr val="352379"/>
                          </a:solidFill>
                          <a:latin typeface="Montserrat"/>
                        </a:rPr>
                        <a:t>F</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11</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1550769239"/>
                  </a:ext>
                </a:extLst>
              </a:tr>
            </a:tbl>
          </a:graphicData>
        </a:graphic>
      </p:graphicFrame>
      <p:sp>
        <p:nvSpPr>
          <p:cNvPr id="37" name="!!calculation">
            <a:extLst>
              <a:ext uri="{FF2B5EF4-FFF2-40B4-BE49-F238E27FC236}">
                <a16:creationId xmlns:a16="http://schemas.microsoft.com/office/drawing/2014/main" id="{77DE2E5E-4407-46D5-9F8D-80074F18FCF1}"/>
              </a:ext>
            </a:extLst>
          </p:cNvPr>
          <p:cNvSpPr txBox="1"/>
          <p:nvPr/>
        </p:nvSpPr>
        <p:spPr bwMode="auto">
          <a:xfrm>
            <a:off x="609600" y="1625599"/>
            <a:ext cx="7112000" cy="673100"/>
          </a:xfrm>
          <a:prstGeom prst="rect">
            <a:avLst/>
          </a:prstGeom>
        </p:spPr>
        <p:txBody>
          <a:bodyPr vert="horz" wrap="square" lIns="0" tIns="0" rIns="0" bIns="0" rtlCol="0">
            <a:noAutofit/>
          </a:bodyPr>
          <a:lstStyle/>
          <a:p>
            <a:r>
              <a:rPr lang="ru-RU" sz="2000">
                <a:solidFill>
                  <a:srgbClr val="352379"/>
                </a:solidFill>
                <a:latin typeface="Montserrat"/>
              </a:rPr>
              <a:t>Кандидат F: 9 + 2 = 11</a:t>
            </a:r>
          </a:p>
          <a:p>
            <a:r>
              <a:rPr lang="ru-RU" sz="2000">
                <a:solidFill>
                  <a:srgbClr val="352379"/>
                </a:solidFill>
                <a:latin typeface="Montserrat"/>
              </a:rPr>
              <a:t>Равенство: оставляем 11</a:t>
            </a:r>
          </a:p>
        </p:txBody>
      </p:sp>
      <p:sp>
        <p:nvSpPr>
          <p:cNvPr id="38" name="heap-label">
            <a:extLst>
              <a:ext uri="{FF2B5EF4-FFF2-40B4-BE49-F238E27FC236}">
                <a16:creationId xmlns:a16="http://schemas.microsoft.com/office/drawing/2014/main" id="{4D5CE73D-E986-4D6A-8A63-3270EF6E77C9}"/>
              </a:ext>
            </a:extLst>
          </p:cNvPr>
          <p:cNvSpPr txBox="1"/>
          <p:nvPr/>
        </p:nvSpPr>
        <p:spPr bwMode="auto">
          <a:xfrm>
            <a:off x="8026400" y="4952999"/>
            <a:ext cx="3683000" cy="317500"/>
          </a:xfrm>
          <a:prstGeom prst="rect">
            <a:avLst/>
          </a:prstGeom>
        </p:spPr>
        <p:txBody>
          <a:bodyPr vert="horz" wrap="square" lIns="0" tIns="0" rIns="0" bIns="0" rtlCol="0">
            <a:noAutofit/>
          </a:bodyPr>
          <a:lstStyle/>
          <a:p>
            <a:r>
              <a:rPr lang="en-US" sz="1700" b="1">
                <a:solidFill>
                  <a:srgbClr val="352379"/>
                </a:solidFill>
                <a:latin typeface="Montserrat"/>
              </a:rPr>
              <a:t>Priority queue</a:t>
            </a:r>
            <a:endParaRPr lang="ru-RU" sz="1700" b="1">
              <a:solidFill>
                <a:srgbClr val="352379"/>
              </a:solidFill>
              <a:latin typeface="Montserrat"/>
            </a:endParaRPr>
          </a:p>
        </p:txBody>
      </p:sp>
      <p:sp>
        <p:nvSpPr>
          <p:cNvPr id="39" name="!!heap-state">
            <a:extLst>
              <a:ext uri="{FF2B5EF4-FFF2-40B4-BE49-F238E27FC236}">
                <a16:creationId xmlns:a16="http://schemas.microsoft.com/office/drawing/2014/main" id="{AD4174D2-8BDB-41CE-9F8E-2207501DAD9D}"/>
              </a:ext>
            </a:extLst>
          </p:cNvPr>
          <p:cNvSpPr txBox="1"/>
          <p:nvPr/>
        </p:nvSpPr>
        <p:spPr bwMode="auto">
          <a:xfrm>
            <a:off x="8026400" y="5321299"/>
            <a:ext cx="3683000" cy="533400"/>
          </a:xfrm>
          <a:prstGeom prst="rect">
            <a:avLst/>
          </a:prstGeom>
        </p:spPr>
        <p:txBody>
          <a:bodyPr vert="horz" wrap="square" lIns="0" tIns="0" rIns="0" bIns="0" rtlCol="0">
            <a:noAutofit/>
          </a:bodyPr>
          <a:lstStyle/>
          <a:p>
            <a:r>
              <a:rPr lang="ru-RU" sz="1600">
                <a:solidFill>
                  <a:srgbClr val="352379"/>
                </a:solidFill>
                <a:latin typeface="Montserrat"/>
              </a:rPr>
              <a:t>(11, E) устарела</a:t>
            </a:r>
          </a:p>
          <a:p>
            <a:r>
              <a:rPr lang="ru-RU" sz="1600">
                <a:solidFill>
                  <a:srgbClr val="352379"/>
                </a:solidFill>
                <a:latin typeface="Montserrat"/>
              </a:rPr>
              <a:t>(11, F) актуальна</a:t>
            </a:r>
          </a:p>
        </p:txBody>
      </p:sp>
      <p:sp>
        <p:nvSpPr>
          <p:cNvPr id="8" name="lecture-footer">
            <a:extLst>
              <a:ext uri="{FF2B5EF4-FFF2-40B4-BE49-F238E27FC236}">
                <a16:creationId xmlns:a16="http://schemas.microsoft.com/office/drawing/2014/main" id="{7AC74932-CEA7-47E4-B158-CE38ECA51D18}"/>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3F2EF2F2-03E3-4584-85A8-CB2430B917B4}"/>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27</a:t>
            </a:r>
          </a:p>
        </p:txBody>
      </p:sp>
      <p:sp>
        <p:nvSpPr>
          <p:cNvPr id="10" name="bottom-band">
            <a:extLst>
              <a:ext uri="{FF2B5EF4-FFF2-40B4-BE49-F238E27FC236}">
                <a16:creationId xmlns:a16="http://schemas.microsoft.com/office/drawing/2014/main" id="{630C5A1E-8F72-4EE7-A79A-6B676587EC6C}"/>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15AC564C-4242-4AD4-8591-963F5D0B0A99}"/>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Белая: ожидает   •   контур: текущая   •   фиолетовая: обработана</a:t>
            </a:r>
          </a:p>
        </p:txBody>
      </p:sp>
    </p:spTree>
    <p:extLst>
      <p:ext uri="{BB962C8B-B14F-4D97-AF65-F5344CB8AC3E}">
        <p14:creationId xmlns:p14="http://schemas.microsoft.com/office/powerpoint/2010/main" val="779737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55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25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9"/>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3012CE-3832-450F-93D1-56DE263D984A}"/>
              </a:ext>
            </a:extLst>
          </p:cNvPr>
          <p:cNvSpPr>
            <a:spLocks noGrp="1"/>
          </p:cNvSpPr>
          <p:nvPr>
            <p:ph type="title"/>
          </p:nvPr>
        </p:nvSpPr>
        <p:spPr>
          <a:xfrm>
            <a:off x="479425" y="597855"/>
            <a:ext cx="11229975" cy="1140459"/>
          </a:xfrm>
        </p:spPr>
        <p:txBody>
          <a:bodyPr/>
          <a:lstStyle/>
          <a:p>
            <a:r>
              <a:rPr lang="ru-RU"/>
              <a:t>Все кратчайшие расстояния найдены</a:t>
            </a:r>
          </a:p>
        </p:txBody>
      </p:sp>
      <p:sp>
        <p:nvSpPr>
          <p:cNvPr id="7" name="Текст 6">
            <a:extLst>
              <a:ext uri="{FF2B5EF4-FFF2-40B4-BE49-F238E27FC236}">
                <a16:creationId xmlns:a16="http://schemas.microsoft.com/office/drawing/2014/main" id="{BD921E17-1662-49A2-B4A2-13ECB2A88527}"/>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cxnSp>
        <p:nvCxnSpPr>
          <p:cNvPr id="12" name="!!g-edge-AB">
            <a:extLst>
              <a:ext uri="{FF2B5EF4-FFF2-40B4-BE49-F238E27FC236}">
                <a16:creationId xmlns:a16="http://schemas.microsoft.com/office/drawing/2014/main" id="{8D5A390E-C272-4C3C-A679-62C8DEB368BC}"/>
              </a:ext>
            </a:extLst>
          </p:cNvPr>
          <p:cNvCxnSpPr/>
          <p:nvPr/>
        </p:nvCxnSpPr>
        <p:spPr>
          <a:xfrm flipV="1">
            <a:off x="1425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3" name="!!g-weight-AB">
            <a:extLst>
              <a:ext uri="{FF2B5EF4-FFF2-40B4-BE49-F238E27FC236}">
                <a16:creationId xmlns:a16="http://schemas.microsoft.com/office/drawing/2014/main" id="{046E5BC9-0D99-4901-9F84-4340DFFFB7B8}"/>
              </a:ext>
            </a:extLst>
          </p:cNvPr>
          <p:cNvSpPr txBox="1"/>
          <p:nvPr/>
        </p:nvSpPr>
        <p:spPr bwMode="auto">
          <a:xfrm>
            <a:off x="2011636"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7</a:t>
            </a:r>
          </a:p>
        </p:txBody>
      </p:sp>
      <p:cxnSp>
        <p:nvCxnSpPr>
          <p:cNvPr id="14" name="!!g-edge-AC">
            <a:extLst>
              <a:ext uri="{FF2B5EF4-FFF2-40B4-BE49-F238E27FC236}">
                <a16:creationId xmlns:a16="http://schemas.microsoft.com/office/drawing/2014/main" id="{D3378560-7558-45FB-BEB8-D8501B9836E6}"/>
              </a:ext>
            </a:extLst>
          </p:cNvPr>
          <p:cNvCxnSpPr/>
          <p:nvPr/>
        </p:nvCxnSpPr>
        <p:spPr>
          <a:xfrm>
            <a:off x="1425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5" name="!!g-weight-AC">
            <a:extLst>
              <a:ext uri="{FF2B5EF4-FFF2-40B4-BE49-F238E27FC236}">
                <a16:creationId xmlns:a16="http://schemas.microsoft.com/office/drawing/2014/main" id="{4AE74058-1E62-42AB-A320-7EFD55E73ABF}"/>
              </a:ext>
            </a:extLst>
          </p:cNvPr>
          <p:cNvSpPr txBox="1"/>
          <p:nvPr/>
        </p:nvSpPr>
        <p:spPr bwMode="auto">
          <a:xfrm>
            <a:off x="1607864"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6" name="!!g-edge-BC">
            <a:extLst>
              <a:ext uri="{FF2B5EF4-FFF2-40B4-BE49-F238E27FC236}">
                <a16:creationId xmlns:a16="http://schemas.microsoft.com/office/drawing/2014/main" id="{277BC1C4-7068-48A3-A9E7-C2454E03D5C6}"/>
              </a:ext>
            </a:extLst>
          </p:cNvPr>
          <p:cNvCxnSpPr/>
          <p:nvPr/>
        </p:nvCxnSpPr>
        <p:spPr>
          <a:xfrm>
            <a:off x="29845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7" name="!!g-weight-BC">
            <a:extLst>
              <a:ext uri="{FF2B5EF4-FFF2-40B4-BE49-F238E27FC236}">
                <a16:creationId xmlns:a16="http://schemas.microsoft.com/office/drawing/2014/main" id="{3F13314D-BCBD-4F51-84AD-D68974DCD3DE}"/>
              </a:ext>
            </a:extLst>
          </p:cNvPr>
          <p:cNvSpPr txBox="1"/>
          <p:nvPr/>
        </p:nvSpPr>
        <p:spPr bwMode="auto">
          <a:xfrm>
            <a:off x="23749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18" name="!!g-edge-BD">
            <a:extLst>
              <a:ext uri="{FF2B5EF4-FFF2-40B4-BE49-F238E27FC236}">
                <a16:creationId xmlns:a16="http://schemas.microsoft.com/office/drawing/2014/main" id="{4D5A1082-35D3-41E0-80E3-84F320E049D2}"/>
              </a:ext>
            </a:extLst>
          </p:cNvPr>
          <p:cNvCxnSpPr/>
          <p:nvPr/>
        </p:nvCxnSpPr>
        <p:spPr>
          <a:xfrm>
            <a:off x="3327400" y="273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9" name="!!g-weight-BD">
            <a:extLst>
              <a:ext uri="{FF2B5EF4-FFF2-40B4-BE49-F238E27FC236}">
                <a16:creationId xmlns:a16="http://schemas.microsoft.com/office/drawing/2014/main" id="{62637FCF-DF22-41B7-83BB-C4636B54AAB8}"/>
              </a:ext>
            </a:extLst>
          </p:cNvPr>
          <p:cNvSpPr txBox="1"/>
          <p:nvPr/>
        </p:nvSpPr>
        <p:spPr bwMode="auto">
          <a:xfrm>
            <a:off x="3778250" y="288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20" name="!!g-edge-CD">
            <a:extLst>
              <a:ext uri="{FF2B5EF4-FFF2-40B4-BE49-F238E27FC236}">
                <a16:creationId xmlns:a16="http://schemas.microsoft.com/office/drawing/2014/main" id="{D03C6558-F494-4240-B9CB-E4200A7F4CC4}"/>
              </a:ext>
            </a:extLst>
          </p:cNvPr>
          <p:cNvCxnSpPr/>
          <p:nvPr/>
        </p:nvCxnSpPr>
        <p:spPr>
          <a:xfrm flipV="1">
            <a:off x="3202716" y="2995004"/>
            <a:ext cx="1659068" cy="2010992"/>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1" name="!!g-weight-CD">
            <a:extLst>
              <a:ext uri="{FF2B5EF4-FFF2-40B4-BE49-F238E27FC236}">
                <a16:creationId xmlns:a16="http://schemas.microsoft.com/office/drawing/2014/main" id="{02D9CB96-60D3-4A4F-8D10-71158988A2E9}"/>
              </a:ext>
            </a:extLst>
          </p:cNvPr>
          <p:cNvSpPr txBox="1"/>
          <p:nvPr/>
        </p:nvSpPr>
        <p:spPr bwMode="auto">
          <a:xfrm>
            <a:off x="4052550" y="4023597"/>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5</a:t>
            </a:r>
          </a:p>
        </p:txBody>
      </p:sp>
      <p:cxnSp>
        <p:nvCxnSpPr>
          <p:cNvPr id="22" name="!!g-edge-CE">
            <a:extLst>
              <a:ext uri="{FF2B5EF4-FFF2-40B4-BE49-F238E27FC236}">
                <a16:creationId xmlns:a16="http://schemas.microsoft.com/office/drawing/2014/main" id="{D653D008-E06B-4280-A134-220A47F006DB}"/>
              </a:ext>
            </a:extLst>
          </p:cNvPr>
          <p:cNvCxnSpPr/>
          <p:nvPr/>
        </p:nvCxnSpPr>
        <p:spPr>
          <a:xfrm>
            <a:off x="3327400" y="527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3" name="!!g-weight-CE">
            <a:extLst>
              <a:ext uri="{FF2B5EF4-FFF2-40B4-BE49-F238E27FC236}">
                <a16:creationId xmlns:a16="http://schemas.microsoft.com/office/drawing/2014/main" id="{510EC5FF-9F93-4C67-AF6D-1AD2368A5F4A}"/>
              </a:ext>
            </a:extLst>
          </p:cNvPr>
          <p:cNvSpPr txBox="1"/>
          <p:nvPr/>
        </p:nvSpPr>
        <p:spPr bwMode="auto">
          <a:xfrm>
            <a:off x="3778250" y="542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8</a:t>
            </a:r>
          </a:p>
        </p:txBody>
      </p:sp>
      <p:cxnSp>
        <p:nvCxnSpPr>
          <p:cNvPr id="24" name="!!g-edge-DE">
            <a:extLst>
              <a:ext uri="{FF2B5EF4-FFF2-40B4-BE49-F238E27FC236}">
                <a16:creationId xmlns:a16="http://schemas.microsoft.com/office/drawing/2014/main" id="{A2D688BD-3F16-4720-ABF7-6A6E0A064A70}"/>
              </a:ext>
            </a:extLst>
          </p:cNvPr>
          <p:cNvCxnSpPr/>
          <p:nvPr/>
        </p:nvCxnSpPr>
        <p:spPr>
          <a:xfrm>
            <a:off x="50800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5" name="!!g-weight-DE">
            <a:extLst>
              <a:ext uri="{FF2B5EF4-FFF2-40B4-BE49-F238E27FC236}">
                <a16:creationId xmlns:a16="http://schemas.microsoft.com/office/drawing/2014/main" id="{1482F3A4-BF34-4559-B8A9-A52174AB957C}"/>
              </a:ext>
            </a:extLst>
          </p:cNvPr>
          <p:cNvSpPr txBox="1"/>
          <p:nvPr/>
        </p:nvSpPr>
        <p:spPr bwMode="auto">
          <a:xfrm>
            <a:off x="44704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cxnSp>
        <p:nvCxnSpPr>
          <p:cNvPr id="26" name="!!g-edge-DF">
            <a:extLst>
              <a:ext uri="{FF2B5EF4-FFF2-40B4-BE49-F238E27FC236}">
                <a16:creationId xmlns:a16="http://schemas.microsoft.com/office/drawing/2014/main" id="{C8EDD83B-5EFB-4603-A1FF-0994EC277592}"/>
              </a:ext>
            </a:extLst>
          </p:cNvPr>
          <p:cNvCxnSpPr/>
          <p:nvPr/>
        </p:nvCxnSpPr>
        <p:spPr>
          <a:xfrm>
            <a:off x="5362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7" name="!!g-weight-DF">
            <a:extLst>
              <a:ext uri="{FF2B5EF4-FFF2-40B4-BE49-F238E27FC236}">
                <a16:creationId xmlns:a16="http://schemas.microsoft.com/office/drawing/2014/main" id="{7A8B42C4-4932-4FBA-84CE-24807D9A9B49}"/>
              </a:ext>
            </a:extLst>
          </p:cNvPr>
          <p:cNvSpPr txBox="1"/>
          <p:nvPr/>
        </p:nvSpPr>
        <p:spPr bwMode="auto">
          <a:xfrm>
            <a:off x="5544864"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28" name="!!g-edge-EF">
            <a:extLst>
              <a:ext uri="{FF2B5EF4-FFF2-40B4-BE49-F238E27FC236}">
                <a16:creationId xmlns:a16="http://schemas.microsoft.com/office/drawing/2014/main" id="{B4BF07A6-2624-45FC-B720-2F633BEF14A4}"/>
              </a:ext>
            </a:extLst>
          </p:cNvPr>
          <p:cNvCxnSpPr/>
          <p:nvPr/>
        </p:nvCxnSpPr>
        <p:spPr>
          <a:xfrm flipV="1">
            <a:off x="5362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9" name="!!g-weight-EF">
            <a:extLst>
              <a:ext uri="{FF2B5EF4-FFF2-40B4-BE49-F238E27FC236}">
                <a16:creationId xmlns:a16="http://schemas.microsoft.com/office/drawing/2014/main" id="{59D9152D-0C85-47FB-A1B0-AA59FB72CD7A}"/>
              </a:ext>
            </a:extLst>
          </p:cNvPr>
          <p:cNvSpPr txBox="1"/>
          <p:nvPr/>
        </p:nvSpPr>
        <p:spPr bwMode="auto">
          <a:xfrm>
            <a:off x="5948636"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sp>
        <p:nvSpPr>
          <p:cNvPr id="30" name="!!g-node-A">
            <a:extLst>
              <a:ext uri="{FF2B5EF4-FFF2-40B4-BE49-F238E27FC236}">
                <a16:creationId xmlns:a16="http://schemas.microsoft.com/office/drawing/2014/main" id="{716A20D3-7DB7-408C-B577-1B17B250418B}"/>
              </a:ext>
            </a:extLst>
          </p:cNvPr>
          <p:cNvSpPr/>
          <p:nvPr/>
        </p:nvSpPr>
        <p:spPr>
          <a:xfrm>
            <a:off x="825500" y="368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A</a:t>
            </a:r>
            <a:endParaRPr lang="ru-RU" sz="2200">
              <a:solidFill>
                <a:srgbClr val="FFFFFF"/>
              </a:solidFill>
              <a:latin typeface="Montserrat"/>
            </a:endParaRPr>
          </a:p>
        </p:txBody>
      </p:sp>
      <p:sp>
        <p:nvSpPr>
          <p:cNvPr id="31" name="!!g-node-B">
            <a:extLst>
              <a:ext uri="{FF2B5EF4-FFF2-40B4-BE49-F238E27FC236}">
                <a16:creationId xmlns:a16="http://schemas.microsoft.com/office/drawing/2014/main" id="{03BFAA3D-BC53-44B0-ACE6-EA267312046C}"/>
              </a:ext>
            </a:extLst>
          </p:cNvPr>
          <p:cNvSpPr/>
          <p:nvPr/>
        </p:nvSpPr>
        <p:spPr>
          <a:xfrm>
            <a:off x="2667000" y="241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B</a:t>
            </a:r>
            <a:endParaRPr lang="ru-RU" sz="2200">
              <a:solidFill>
                <a:srgbClr val="FFFFFF"/>
              </a:solidFill>
              <a:latin typeface="Montserrat"/>
            </a:endParaRPr>
          </a:p>
        </p:txBody>
      </p:sp>
      <p:sp>
        <p:nvSpPr>
          <p:cNvPr id="32" name="!!g-node-C">
            <a:extLst>
              <a:ext uri="{FF2B5EF4-FFF2-40B4-BE49-F238E27FC236}">
                <a16:creationId xmlns:a16="http://schemas.microsoft.com/office/drawing/2014/main" id="{90A70CD7-86DE-4983-8E0F-6095305896C5}"/>
              </a:ext>
            </a:extLst>
          </p:cNvPr>
          <p:cNvSpPr/>
          <p:nvPr/>
        </p:nvSpPr>
        <p:spPr>
          <a:xfrm>
            <a:off x="2667000" y="495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C</a:t>
            </a:r>
            <a:endParaRPr lang="ru-RU" sz="2200">
              <a:solidFill>
                <a:srgbClr val="FFFFFF"/>
              </a:solidFill>
              <a:latin typeface="Montserrat"/>
            </a:endParaRPr>
          </a:p>
        </p:txBody>
      </p:sp>
      <p:sp>
        <p:nvSpPr>
          <p:cNvPr id="33" name="!!g-node-D">
            <a:extLst>
              <a:ext uri="{FF2B5EF4-FFF2-40B4-BE49-F238E27FC236}">
                <a16:creationId xmlns:a16="http://schemas.microsoft.com/office/drawing/2014/main" id="{F217326E-50D5-4952-9938-7735BEFAEC1F}"/>
              </a:ext>
            </a:extLst>
          </p:cNvPr>
          <p:cNvSpPr/>
          <p:nvPr/>
        </p:nvSpPr>
        <p:spPr>
          <a:xfrm>
            <a:off x="4762500" y="241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D</a:t>
            </a:r>
            <a:endParaRPr lang="ru-RU" sz="2200">
              <a:solidFill>
                <a:srgbClr val="FFFFFF"/>
              </a:solidFill>
              <a:latin typeface="Montserrat"/>
            </a:endParaRPr>
          </a:p>
        </p:txBody>
      </p:sp>
      <p:sp>
        <p:nvSpPr>
          <p:cNvPr id="34" name="!!g-node-E">
            <a:extLst>
              <a:ext uri="{FF2B5EF4-FFF2-40B4-BE49-F238E27FC236}">
                <a16:creationId xmlns:a16="http://schemas.microsoft.com/office/drawing/2014/main" id="{2CC78CCF-BD6D-4EE3-94F9-FEC5B96038FA}"/>
              </a:ext>
            </a:extLst>
          </p:cNvPr>
          <p:cNvSpPr/>
          <p:nvPr/>
        </p:nvSpPr>
        <p:spPr>
          <a:xfrm>
            <a:off x="4762500" y="495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E</a:t>
            </a:r>
            <a:endParaRPr lang="ru-RU" sz="2200">
              <a:solidFill>
                <a:srgbClr val="FFFFFF"/>
              </a:solidFill>
              <a:latin typeface="Montserrat"/>
            </a:endParaRPr>
          </a:p>
        </p:txBody>
      </p:sp>
      <p:sp>
        <p:nvSpPr>
          <p:cNvPr id="35" name="!!g-node-F">
            <a:extLst>
              <a:ext uri="{FF2B5EF4-FFF2-40B4-BE49-F238E27FC236}">
                <a16:creationId xmlns:a16="http://schemas.microsoft.com/office/drawing/2014/main" id="{148C0FC3-B9A7-4870-A592-A9422F936813}"/>
              </a:ext>
            </a:extLst>
          </p:cNvPr>
          <p:cNvSpPr/>
          <p:nvPr/>
        </p:nvSpPr>
        <p:spPr>
          <a:xfrm>
            <a:off x="6604000" y="3683000"/>
            <a:ext cx="635000" cy="635000"/>
          </a:xfrm>
          <a:prstGeom prst="ellipse">
            <a:avLst/>
          </a:prstGeom>
          <a:solidFill>
            <a:srgbClr val="352379"/>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FFFFFF"/>
                </a:solidFill>
                <a:latin typeface="Montserrat"/>
              </a:rPr>
              <a:t>F</a:t>
            </a:r>
            <a:endParaRPr lang="ru-RU" sz="2200">
              <a:solidFill>
                <a:srgbClr val="FFFFFF"/>
              </a:solidFill>
              <a:latin typeface="Montserrat"/>
            </a:endParaRPr>
          </a:p>
        </p:txBody>
      </p:sp>
      <p:graphicFrame>
        <p:nvGraphicFramePr>
          <p:cNvPr id="36" name="!!distance-table">
            <a:extLst>
              <a:ext uri="{FF2B5EF4-FFF2-40B4-BE49-F238E27FC236}">
                <a16:creationId xmlns:a16="http://schemas.microsoft.com/office/drawing/2014/main" id="{D044878D-69F6-4873-96BA-22619EA7AE38}"/>
              </a:ext>
            </a:extLst>
          </p:cNvPr>
          <p:cNvGraphicFramePr>
            <a:graphicFrameLocks noGrp="1"/>
          </p:cNvGraphicFramePr>
          <p:nvPr>
            <p:extLst>
              <p:ext uri="{D42A27DB-BD31-4B8C-83A1-F6EECF244321}">
                <p14:modId xmlns:p14="http://schemas.microsoft.com/office/powerpoint/2010/main" val="332726378"/>
              </p:ext>
            </p:extLst>
          </p:nvPr>
        </p:nvGraphicFramePr>
        <p:xfrm>
          <a:off x="8026400" y="1816100"/>
          <a:ext cx="3683000" cy="2997197"/>
        </p:xfrm>
        <a:graphic>
          <a:graphicData uri="http://schemas.openxmlformats.org/drawingml/2006/table">
            <a:tbl>
              <a:tblPr firstRow="1" bandRow="1">
                <a:tableStyleId>{0E3FDE45-AF77-4B5C-9715-49D594BDF05E}</a:tableStyleId>
              </a:tblPr>
              <a:tblGrid>
                <a:gridCol w="1841500">
                  <a:extLst>
                    <a:ext uri="{9D8B030D-6E8A-4147-A177-3AD203B41FA5}">
                      <a16:colId xmlns:a16="http://schemas.microsoft.com/office/drawing/2014/main" val="1743071625"/>
                    </a:ext>
                  </a:extLst>
                </a:gridCol>
                <a:gridCol w="1841500">
                  <a:extLst>
                    <a:ext uri="{9D8B030D-6E8A-4147-A177-3AD203B41FA5}">
                      <a16:colId xmlns:a16="http://schemas.microsoft.com/office/drawing/2014/main" val="2726011206"/>
                    </a:ext>
                  </a:extLst>
                </a:gridCol>
              </a:tblGrid>
              <a:tr h="428171">
                <a:tc>
                  <a:txBody>
                    <a:bodyPr/>
                    <a:lstStyle/>
                    <a:p>
                      <a:pPr algn="ctr"/>
                      <a:r>
                        <a:rPr lang="en-US" sz="2000" b="1">
                          <a:solidFill>
                            <a:srgbClr val="FFFFFF"/>
                          </a:solidFill>
                          <a:latin typeface="Montserrat"/>
                        </a:rPr>
                        <a:t>v</a:t>
                      </a:r>
                      <a:endParaRPr lang="ru-RU" sz="20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000" b="1">
                          <a:solidFill>
                            <a:srgbClr val="FFFFFF"/>
                          </a:solidFill>
                          <a:latin typeface="Montserrat"/>
                        </a:rPr>
                        <a:t>dist</a:t>
                      </a:r>
                      <a:endParaRPr lang="ru-RU" sz="20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1358640430"/>
                  </a:ext>
                </a:extLst>
              </a:tr>
              <a:tr h="428171">
                <a:tc>
                  <a:txBody>
                    <a:bodyPr/>
                    <a:lstStyle/>
                    <a:p>
                      <a:pPr algn="ctr"/>
                      <a:r>
                        <a:rPr lang="en-US" sz="2000" b="0">
                          <a:solidFill>
                            <a:srgbClr val="352379"/>
                          </a:solidFill>
                          <a:latin typeface="Montserrat"/>
                        </a:rPr>
                        <a:t>A</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968492826"/>
                  </a:ext>
                </a:extLst>
              </a:tr>
              <a:tr h="428171">
                <a:tc>
                  <a:txBody>
                    <a:bodyPr/>
                    <a:lstStyle/>
                    <a:p>
                      <a:pPr algn="ctr"/>
                      <a:r>
                        <a:rPr lang="en-US" sz="2000" b="0">
                          <a:solidFill>
                            <a:srgbClr val="352379"/>
                          </a:solidFill>
                          <a:latin typeface="Montserrat"/>
                        </a:rPr>
                        <a:t>B</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5</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4098324059"/>
                  </a:ext>
                </a:extLst>
              </a:tr>
              <a:tr h="428171">
                <a:tc>
                  <a:txBody>
                    <a:bodyPr/>
                    <a:lstStyle/>
                    <a:p>
                      <a:pPr algn="ctr"/>
                      <a:r>
                        <a:rPr lang="en-US" sz="2000" b="0">
                          <a:solidFill>
                            <a:srgbClr val="352379"/>
                          </a:solidFill>
                          <a:latin typeface="Montserrat"/>
                        </a:rPr>
                        <a:t>C</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3</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1834411671"/>
                  </a:ext>
                </a:extLst>
              </a:tr>
              <a:tr h="428171">
                <a:tc>
                  <a:txBody>
                    <a:bodyPr/>
                    <a:lstStyle/>
                    <a:p>
                      <a:pPr algn="ctr"/>
                      <a:r>
                        <a:rPr lang="en-US" sz="2000" b="0">
                          <a:solidFill>
                            <a:srgbClr val="352379"/>
                          </a:solidFill>
                          <a:latin typeface="Montserrat"/>
                        </a:rPr>
                        <a:t>D</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8</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3261824885"/>
                  </a:ext>
                </a:extLst>
              </a:tr>
              <a:tr h="428171">
                <a:tc>
                  <a:txBody>
                    <a:bodyPr/>
                    <a:lstStyle/>
                    <a:p>
                      <a:pPr algn="ctr"/>
                      <a:r>
                        <a:rPr lang="en-US" sz="2000" b="0">
                          <a:solidFill>
                            <a:srgbClr val="352379"/>
                          </a:solidFill>
                          <a:latin typeface="Montserrat"/>
                        </a:rPr>
                        <a:t>E</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000" b="0">
                          <a:solidFill>
                            <a:srgbClr val="352379"/>
                          </a:solidFill>
                          <a:latin typeface="Montserrat"/>
                        </a:rPr>
                        <a:t>9</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3441263279"/>
                  </a:ext>
                </a:extLst>
              </a:tr>
              <a:tr h="428171">
                <a:tc>
                  <a:txBody>
                    <a:bodyPr/>
                    <a:lstStyle/>
                    <a:p>
                      <a:pPr algn="ctr"/>
                      <a:r>
                        <a:rPr lang="en-US" sz="2000" b="0">
                          <a:solidFill>
                            <a:srgbClr val="352379"/>
                          </a:solidFill>
                          <a:latin typeface="Montserrat"/>
                        </a:rPr>
                        <a:t>F</a:t>
                      </a:r>
                      <a:endParaRPr lang="ru-RU" sz="20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000" b="0">
                          <a:solidFill>
                            <a:srgbClr val="352379"/>
                          </a:solidFill>
                          <a:latin typeface="Montserrat"/>
                        </a:rPr>
                        <a:t>11</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1550769239"/>
                  </a:ext>
                </a:extLst>
              </a:tr>
            </a:tbl>
          </a:graphicData>
        </a:graphic>
      </p:graphicFrame>
      <p:sp>
        <p:nvSpPr>
          <p:cNvPr id="37" name="!!calculation">
            <a:extLst>
              <a:ext uri="{FF2B5EF4-FFF2-40B4-BE49-F238E27FC236}">
                <a16:creationId xmlns:a16="http://schemas.microsoft.com/office/drawing/2014/main" id="{77DE2E5E-4407-46D5-9F8D-80074F18FCF1}"/>
              </a:ext>
            </a:extLst>
          </p:cNvPr>
          <p:cNvSpPr txBox="1"/>
          <p:nvPr/>
        </p:nvSpPr>
        <p:spPr bwMode="auto">
          <a:xfrm>
            <a:off x="609600" y="1625599"/>
            <a:ext cx="7112000" cy="673100"/>
          </a:xfrm>
          <a:prstGeom prst="rect">
            <a:avLst/>
          </a:prstGeom>
        </p:spPr>
        <p:txBody>
          <a:bodyPr vert="horz" wrap="square" lIns="0" tIns="0" rIns="0" bIns="0" rtlCol="0">
            <a:noAutofit/>
          </a:bodyPr>
          <a:lstStyle/>
          <a:p>
            <a:r>
              <a:rPr lang="ru-RU" sz="2000">
                <a:solidFill>
                  <a:srgbClr val="352379"/>
                </a:solidFill>
                <a:latin typeface="Montserrat"/>
              </a:rPr>
              <a:t>F извлечена с dist[F] = 11</a:t>
            </a:r>
          </a:p>
          <a:p>
            <a:r>
              <a:rPr lang="ru-RU" sz="2000">
                <a:solidFill>
                  <a:srgbClr val="352379"/>
                </a:solidFill>
                <a:latin typeface="Montserrat"/>
              </a:rPr>
              <a:t>Очередь опустела</a:t>
            </a:r>
          </a:p>
        </p:txBody>
      </p:sp>
      <p:sp>
        <p:nvSpPr>
          <p:cNvPr id="38" name="heap-label">
            <a:extLst>
              <a:ext uri="{FF2B5EF4-FFF2-40B4-BE49-F238E27FC236}">
                <a16:creationId xmlns:a16="http://schemas.microsoft.com/office/drawing/2014/main" id="{4D5CE73D-E986-4D6A-8A63-3270EF6E77C9}"/>
              </a:ext>
            </a:extLst>
          </p:cNvPr>
          <p:cNvSpPr txBox="1"/>
          <p:nvPr/>
        </p:nvSpPr>
        <p:spPr bwMode="auto">
          <a:xfrm>
            <a:off x="8026400" y="4952999"/>
            <a:ext cx="3683000" cy="317500"/>
          </a:xfrm>
          <a:prstGeom prst="rect">
            <a:avLst/>
          </a:prstGeom>
        </p:spPr>
        <p:txBody>
          <a:bodyPr vert="horz" wrap="square" lIns="0" tIns="0" rIns="0" bIns="0" rtlCol="0">
            <a:noAutofit/>
          </a:bodyPr>
          <a:lstStyle/>
          <a:p>
            <a:r>
              <a:rPr lang="en-US" sz="1700" b="1">
                <a:solidFill>
                  <a:srgbClr val="352379"/>
                </a:solidFill>
                <a:latin typeface="Montserrat"/>
              </a:rPr>
              <a:t>Priority queue</a:t>
            </a:r>
            <a:endParaRPr lang="ru-RU" sz="1700" b="1">
              <a:solidFill>
                <a:srgbClr val="352379"/>
              </a:solidFill>
              <a:latin typeface="Montserrat"/>
            </a:endParaRPr>
          </a:p>
        </p:txBody>
      </p:sp>
      <p:sp>
        <p:nvSpPr>
          <p:cNvPr id="39" name="!!heap-state">
            <a:extLst>
              <a:ext uri="{FF2B5EF4-FFF2-40B4-BE49-F238E27FC236}">
                <a16:creationId xmlns:a16="http://schemas.microsoft.com/office/drawing/2014/main" id="{AD4174D2-8BDB-41CE-9F8E-2207501DAD9D}"/>
              </a:ext>
            </a:extLst>
          </p:cNvPr>
          <p:cNvSpPr txBox="1"/>
          <p:nvPr/>
        </p:nvSpPr>
        <p:spPr bwMode="auto">
          <a:xfrm>
            <a:off x="8026400" y="5321299"/>
            <a:ext cx="3683000" cy="533400"/>
          </a:xfrm>
          <a:prstGeom prst="rect">
            <a:avLst/>
          </a:prstGeom>
        </p:spPr>
        <p:txBody>
          <a:bodyPr vert="horz" wrap="square" lIns="0" tIns="0" rIns="0" bIns="0" rtlCol="0">
            <a:noAutofit/>
          </a:bodyPr>
          <a:lstStyle/>
          <a:p>
            <a:r>
              <a:rPr lang="ru-RU" sz="1600">
                <a:solidFill>
                  <a:srgbClr val="352379"/>
                </a:solidFill>
                <a:latin typeface="Montserrat"/>
              </a:rPr>
              <a:t>Итог: 0, 5, 3, 8, 9, 11</a:t>
            </a:r>
          </a:p>
        </p:txBody>
      </p:sp>
      <p:sp>
        <p:nvSpPr>
          <p:cNvPr id="3" name="lecture-footer">
            <a:extLst>
              <a:ext uri="{FF2B5EF4-FFF2-40B4-BE49-F238E27FC236}">
                <a16:creationId xmlns:a16="http://schemas.microsoft.com/office/drawing/2014/main" id="{64F7E4B4-EDA6-40F5-A137-5F434AFA83F9}"/>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4" name="slide-number">
            <a:extLst>
              <a:ext uri="{FF2B5EF4-FFF2-40B4-BE49-F238E27FC236}">
                <a16:creationId xmlns:a16="http://schemas.microsoft.com/office/drawing/2014/main" id="{30C2538C-29FF-4E0D-9526-B72C9A449E3A}"/>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28</a:t>
            </a:r>
          </a:p>
        </p:txBody>
      </p:sp>
      <p:sp>
        <p:nvSpPr>
          <p:cNvPr id="5" name="bottom-band">
            <a:extLst>
              <a:ext uri="{FF2B5EF4-FFF2-40B4-BE49-F238E27FC236}">
                <a16:creationId xmlns:a16="http://schemas.microsoft.com/office/drawing/2014/main" id="{1B18FEE5-B3DA-46A3-B141-B4B03C13132A}"/>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bottom-message">
            <a:extLst>
              <a:ext uri="{FF2B5EF4-FFF2-40B4-BE49-F238E27FC236}">
                <a16:creationId xmlns:a16="http://schemas.microsoft.com/office/drawing/2014/main" id="{235AAC58-0109-4C0E-9329-881293CAD0C2}"/>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Белая: ожидает   •   контур: текущая   •   фиолетовая: обработана</a:t>
            </a:r>
          </a:p>
        </p:txBody>
      </p:sp>
    </p:spTree>
    <p:extLst>
      <p:ext uri="{BB962C8B-B14F-4D97-AF65-F5344CB8AC3E}">
        <p14:creationId xmlns:p14="http://schemas.microsoft.com/office/powerpoint/2010/main" val="22562072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55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25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9"/>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74F5D0-A486-4E81-9420-F77988C9CA0F}"/>
              </a:ext>
            </a:extLst>
          </p:cNvPr>
          <p:cNvSpPr>
            <a:spLocks noGrp="1"/>
          </p:cNvSpPr>
          <p:nvPr>
            <p:ph type="title"/>
          </p:nvPr>
        </p:nvSpPr>
        <p:spPr>
          <a:xfrm>
            <a:off x="479425" y="597855"/>
            <a:ext cx="11229975" cy="1140459"/>
          </a:xfrm>
        </p:spPr>
        <p:txBody>
          <a:bodyPr/>
          <a:lstStyle/>
          <a:p>
            <a:r>
              <a:rPr lang="ru-RU"/>
              <a:t>Что делает Дейкстра</a:t>
            </a:r>
          </a:p>
        </p:txBody>
      </p:sp>
      <p:sp>
        <p:nvSpPr>
          <p:cNvPr id="7" name="Текст 6">
            <a:extLst>
              <a:ext uri="{FF2B5EF4-FFF2-40B4-BE49-F238E27FC236}">
                <a16:creationId xmlns:a16="http://schemas.microsoft.com/office/drawing/2014/main" id="{2F208302-1D47-4900-9A6C-0402C5887DBB}"/>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E5514234-AD67-4A97-9C44-22DF7BD0B94F}"/>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565D5F45-B8E8-441F-BA24-695278FC926A}"/>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29</a:t>
            </a:r>
          </a:p>
        </p:txBody>
      </p:sp>
      <p:sp>
        <p:nvSpPr>
          <p:cNvPr id="10" name="bottom-band">
            <a:extLst>
              <a:ext uri="{FF2B5EF4-FFF2-40B4-BE49-F238E27FC236}">
                <a16:creationId xmlns:a16="http://schemas.microsoft.com/office/drawing/2014/main" id="{E0D2DC75-B7AD-49D5-9B84-609F42665F11}"/>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CE00459E-FCD2-4A5B-AB8B-70A4CC52EFC9}"/>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Ключевой выбор: самая дешёвая текущая возможность</a:t>
            </a:r>
          </a:p>
        </p:txBody>
      </p:sp>
      <p:sp>
        <p:nvSpPr>
          <p:cNvPr id="12" name="step-num-0">
            <a:extLst>
              <a:ext uri="{FF2B5EF4-FFF2-40B4-BE49-F238E27FC236}">
                <a16:creationId xmlns:a16="http://schemas.microsoft.com/office/drawing/2014/main" id="{5E141008-A6DE-46F2-8BC6-B3202F8D4D81}"/>
              </a:ext>
            </a:extLst>
          </p:cNvPr>
          <p:cNvSpPr txBox="1"/>
          <p:nvPr/>
        </p:nvSpPr>
        <p:spPr bwMode="auto">
          <a:xfrm>
            <a:off x="825500" y="1841499"/>
            <a:ext cx="698500" cy="609600"/>
          </a:xfrm>
          <a:prstGeom prst="rect">
            <a:avLst/>
          </a:prstGeom>
        </p:spPr>
        <p:txBody>
          <a:bodyPr vert="horz" wrap="square" lIns="0" tIns="0" rIns="0" bIns="0" rtlCol="0">
            <a:noAutofit/>
          </a:bodyPr>
          <a:lstStyle/>
          <a:p>
            <a:r>
              <a:rPr lang="ru-RU" sz="2900" b="1">
                <a:solidFill>
                  <a:srgbClr val="352379"/>
                </a:solidFill>
                <a:latin typeface="Montserrat"/>
              </a:rPr>
              <a:t>1</a:t>
            </a:r>
          </a:p>
        </p:txBody>
      </p:sp>
      <p:sp>
        <p:nvSpPr>
          <p:cNvPr id="13" name="step-0">
            <a:extLst>
              <a:ext uri="{FF2B5EF4-FFF2-40B4-BE49-F238E27FC236}">
                <a16:creationId xmlns:a16="http://schemas.microsoft.com/office/drawing/2014/main" id="{D914D878-26D2-4971-98E8-5451E2D8361F}"/>
              </a:ext>
            </a:extLst>
          </p:cNvPr>
          <p:cNvSpPr txBox="1"/>
          <p:nvPr/>
        </p:nvSpPr>
        <p:spPr bwMode="auto">
          <a:xfrm>
            <a:off x="1714500" y="1879599"/>
            <a:ext cx="9715500" cy="660400"/>
          </a:xfrm>
          <a:prstGeom prst="rect">
            <a:avLst/>
          </a:prstGeom>
        </p:spPr>
        <p:txBody>
          <a:bodyPr vert="horz" wrap="square" lIns="0" tIns="0" rIns="0" bIns="0" rtlCol="0">
            <a:noAutofit/>
          </a:bodyPr>
          <a:lstStyle/>
          <a:p>
            <a:r>
              <a:rPr lang="ru-RU" sz="2500">
                <a:solidFill>
                  <a:srgbClr val="352379"/>
                </a:solidFill>
                <a:latin typeface="Montserrat"/>
              </a:rPr>
              <a:t>Начальные оценки: 0 у источника, ∞ у остальных</a:t>
            </a:r>
          </a:p>
        </p:txBody>
      </p:sp>
      <p:sp>
        <p:nvSpPr>
          <p:cNvPr id="14" name="step-num-1">
            <a:extLst>
              <a:ext uri="{FF2B5EF4-FFF2-40B4-BE49-F238E27FC236}">
                <a16:creationId xmlns:a16="http://schemas.microsoft.com/office/drawing/2014/main" id="{DDA38818-D3E5-4757-8CF2-8C5AE2696271}"/>
              </a:ext>
            </a:extLst>
          </p:cNvPr>
          <p:cNvSpPr txBox="1"/>
          <p:nvPr/>
        </p:nvSpPr>
        <p:spPr bwMode="auto">
          <a:xfrm>
            <a:off x="825500" y="2768599"/>
            <a:ext cx="698500" cy="609600"/>
          </a:xfrm>
          <a:prstGeom prst="rect">
            <a:avLst/>
          </a:prstGeom>
        </p:spPr>
        <p:txBody>
          <a:bodyPr vert="horz" wrap="square" lIns="0" tIns="0" rIns="0" bIns="0" rtlCol="0">
            <a:noAutofit/>
          </a:bodyPr>
          <a:lstStyle/>
          <a:p>
            <a:r>
              <a:rPr lang="ru-RU" sz="2900" b="1">
                <a:solidFill>
                  <a:srgbClr val="352379"/>
                </a:solidFill>
                <a:latin typeface="Montserrat"/>
              </a:rPr>
              <a:t>2</a:t>
            </a:r>
          </a:p>
        </p:txBody>
      </p:sp>
      <p:sp>
        <p:nvSpPr>
          <p:cNvPr id="15" name="step-1">
            <a:extLst>
              <a:ext uri="{FF2B5EF4-FFF2-40B4-BE49-F238E27FC236}">
                <a16:creationId xmlns:a16="http://schemas.microsoft.com/office/drawing/2014/main" id="{07257470-ACA6-4076-89F9-033AB19F4021}"/>
              </a:ext>
            </a:extLst>
          </p:cNvPr>
          <p:cNvSpPr txBox="1"/>
          <p:nvPr/>
        </p:nvSpPr>
        <p:spPr bwMode="auto">
          <a:xfrm>
            <a:off x="1714500" y="2806699"/>
            <a:ext cx="9715500" cy="660400"/>
          </a:xfrm>
          <a:prstGeom prst="rect">
            <a:avLst/>
          </a:prstGeom>
        </p:spPr>
        <p:txBody>
          <a:bodyPr vert="horz" wrap="square" lIns="0" tIns="0" rIns="0" bIns="0" rtlCol="0">
            <a:noAutofit/>
          </a:bodyPr>
          <a:lstStyle/>
          <a:p>
            <a:r>
              <a:rPr lang="ru-RU" sz="2500">
                <a:solidFill>
                  <a:srgbClr val="352379"/>
                </a:solidFill>
                <a:latin typeface="Montserrat"/>
              </a:rPr>
              <a:t>Выбор актуальной минимальной оценки</a:t>
            </a:r>
          </a:p>
        </p:txBody>
      </p:sp>
      <p:sp>
        <p:nvSpPr>
          <p:cNvPr id="16" name="step-num-2">
            <a:extLst>
              <a:ext uri="{FF2B5EF4-FFF2-40B4-BE49-F238E27FC236}">
                <a16:creationId xmlns:a16="http://schemas.microsoft.com/office/drawing/2014/main" id="{76FA2E24-CE13-4A7E-84A3-5B04094501D1}"/>
              </a:ext>
            </a:extLst>
          </p:cNvPr>
          <p:cNvSpPr txBox="1"/>
          <p:nvPr/>
        </p:nvSpPr>
        <p:spPr bwMode="auto">
          <a:xfrm>
            <a:off x="825500" y="3695699"/>
            <a:ext cx="698500" cy="609600"/>
          </a:xfrm>
          <a:prstGeom prst="rect">
            <a:avLst/>
          </a:prstGeom>
        </p:spPr>
        <p:txBody>
          <a:bodyPr vert="horz" wrap="square" lIns="0" tIns="0" rIns="0" bIns="0" rtlCol="0">
            <a:noAutofit/>
          </a:bodyPr>
          <a:lstStyle/>
          <a:p>
            <a:r>
              <a:rPr lang="ru-RU" sz="2900" b="1">
                <a:solidFill>
                  <a:srgbClr val="352379"/>
                </a:solidFill>
                <a:latin typeface="Montserrat"/>
              </a:rPr>
              <a:t>3</a:t>
            </a:r>
          </a:p>
        </p:txBody>
      </p:sp>
      <p:sp>
        <p:nvSpPr>
          <p:cNvPr id="17" name="step-2">
            <a:extLst>
              <a:ext uri="{FF2B5EF4-FFF2-40B4-BE49-F238E27FC236}">
                <a16:creationId xmlns:a16="http://schemas.microsoft.com/office/drawing/2014/main" id="{C5F29BD7-B155-4A15-AA08-A110D706EC33}"/>
              </a:ext>
            </a:extLst>
          </p:cNvPr>
          <p:cNvSpPr txBox="1"/>
          <p:nvPr/>
        </p:nvSpPr>
        <p:spPr bwMode="auto">
          <a:xfrm>
            <a:off x="1714500" y="3733799"/>
            <a:ext cx="9715500" cy="660400"/>
          </a:xfrm>
          <a:prstGeom prst="rect">
            <a:avLst/>
          </a:prstGeom>
        </p:spPr>
        <p:txBody>
          <a:bodyPr vert="horz" wrap="square" lIns="0" tIns="0" rIns="0" bIns="0" rtlCol="0">
            <a:noAutofit/>
          </a:bodyPr>
          <a:lstStyle/>
          <a:p>
            <a:r>
              <a:rPr lang="ru-RU" sz="2500">
                <a:solidFill>
                  <a:srgbClr val="352379"/>
                </a:solidFill>
                <a:latin typeface="Montserrat"/>
              </a:rPr>
              <a:t>Релаксация исходящих рёбер</a:t>
            </a:r>
          </a:p>
        </p:txBody>
      </p:sp>
      <p:sp>
        <p:nvSpPr>
          <p:cNvPr id="18" name="step-num-3">
            <a:extLst>
              <a:ext uri="{FF2B5EF4-FFF2-40B4-BE49-F238E27FC236}">
                <a16:creationId xmlns:a16="http://schemas.microsoft.com/office/drawing/2014/main" id="{6B6697DC-388D-4265-A5C2-F2B4DC796497}"/>
              </a:ext>
            </a:extLst>
          </p:cNvPr>
          <p:cNvSpPr txBox="1"/>
          <p:nvPr/>
        </p:nvSpPr>
        <p:spPr bwMode="auto">
          <a:xfrm>
            <a:off x="825500" y="4622799"/>
            <a:ext cx="698500" cy="609600"/>
          </a:xfrm>
          <a:prstGeom prst="rect">
            <a:avLst/>
          </a:prstGeom>
        </p:spPr>
        <p:txBody>
          <a:bodyPr vert="horz" wrap="square" lIns="0" tIns="0" rIns="0" bIns="0" rtlCol="0">
            <a:noAutofit/>
          </a:bodyPr>
          <a:lstStyle/>
          <a:p>
            <a:r>
              <a:rPr lang="ru-RU" sz="2900" b="1">
                <a:solidFill>
                  <a:srgbClr val="352379"/>
                </a:solidFill>
                <a:latin typeface="Montserrat"/>
              </a:rPr>
              <a:t>4</a:t>
            </a:r>
          </a:p>
        </p:txBody>
      </p:sp>
      <p:sp>
        <p:nvSpPr>
          <p:cNvPr id="19" name="step-3">
            <a:extLst>
              <a:ext uri="{FF2B5EF4-FFF2-40B4-BE49-F238E27FC236}">
                <a16:creationId xmlns:a16="http://schemas.microsoft.com/office/drawing/2014/main" id="{5630DBBD-A798-4EA5-82D8-DF6264568F26}"/>
              </a:ext>
            </a:extLst>
          </p:cNvPr>
          <p:cNvSpPr txBox="1"/>
          <p:nvPr/>
        </p:nvSpPr>
        <p:spPr bwMode="auto">
          <a:xfrm>
            <a:off x="1714500" y="4660899"/>
            <a:ext cx="9715500" cy="660400"/>
          </a:xfrm>
          <a:prstGeom prst="rect">
            <a:avLst/>
          </a:prstGeom>
        </p:spPr>
        <p:txBody>
          <a:bodyPr vert="horz" wrap="square" lIns="0" tIns="0" rIns="0" bIns="0" rtlCol="0">
            <a:noAutofit/>
          </a:bodyPr>
          <a:lstStyle/>
          <a:p>
            <a:r>
              <a:rPr lang="ru-RU" sz="2500">
                <a:solidFill>
                  <a:srgbClr val="352379"/>
                </a:solidFill>
                <a:latin typeface="Montserrat"/>
              </a:rPr>
              <a:t>Повторение, пока есть актуальные записи</a:t>
            </a:r>
          </a:p>
        </p:txBody>
      </p:sp>
    </p:spTree>
    <p:extLst>
      <p:ext uri="{BB962C8B-B14F-4D97-AF65-F5344CB8AC3E}">
        <p14:creationId xmlns:p14="http://schemas.microsoft.com/office/powerpoint/2010/main" val="593318596"/>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9"/>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9"/>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9"/>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7" grpId="0"/>
      <p:bldP spid="1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3B3FF1-C737-4BCF-8CDD-C4A7FF2F747D}"/>
              </a:ext>
            </a:extLst>
          </p:cNvPr>
          <p:cNvSpPr>
            <a:spLocks noGrp="1"/>
          </p:cNvSpPr>
          <p:nvPr>
            <p:ph type="title"/>
          </p:nvPr>
        </p:nvSpPr>
        <p:spPr>
          <a:xfrm>
            <a:off x="479425" y="597855"/>
            <a:ext cx="11229975" cy="1140459"/>
          </a:xfrm>
        </p:spPr>
        <p:txBody>
          <a:bodyPr/>
          <a:lstStyle/>
          <a:p>
            <a:r>
              <a:rPr lang="ru-RU"/>
              <a:t>Выбор минимума: просмотр или куча</a:t>
            </a:r>
          </a:p>
        </p:txBody>
      </p:sp>
      <p:sp>
        <p:nvSpPr>
          <p:cNvPr id="7" name="Текст 6">
            <a:extLst>
              <a:ext uri="{FF2B5EF4-FFF2-40B4-BE49-F238E27FC236}">
                <a16:creationId xmlns:a16="http://schemas.microsoft.com/office/drawing/2014/main" id="{5950BFE7-FDC1-4C53-A605-4141403D579A}"/>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FB4D51AA-50C3-4A3B-BBA7-87A52676FBDA}"/>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BD91BD1B-D952-4D5B-8FD8-A086813083EE}"/>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30</a:t>
            </a:r>
          </a:p>
        </p:txBody>
      </p:sp>
      <p:sp>
        <p:nvSpPr>
          <p:cNvPr id="10" name="bottom-band">
            <a:extLst>
              <a:ext uri="{FF2B5EF4-FFF2-40B4-BE49-F238E27FC236}">
                <a16:creationId xmlns:a16="http://schemas.microsoft.com/office/drawing/2014/main" id="{CA05D656-D5CB-4E41-AD14-21F3009C6A2E}"/>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73137AAA-4E40-4824-9BA2-2117B912BE23}"/>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Лекция 1 уже дала структуру для самого дешёвого продолжения</a:t>
            </a:r>
          </a:p>
        </p:txBody>
      </p:sp>
      <p:sp>
        <p:nvSpPr>
          <p:cNvPr id="12" name="left-body">
            <a:extLst>
              <a:ext uri="{FF2B5EF4-FFF2-40B4-BE49-F238E27FC236}">
                <a16:creationId xmlns:a16="http://schemas.microsoft.com/office/drawing/2014/main" id="{318A1105-C70C-407C-AF36-38A8C6596FC7}"/>
              </a:ext>
            </a:extLst>
          </p:cNvPr>
          <p:cNvSpPr/>
          <p:nvPr/>
        </p:nvSpPr>
        <p:spPr>
          <a:xfrm>
            <a:off x="698500" y="1816100"/>
            <a:ext cx="5207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left-head">
            <a:extLst>
              <a:ext uri="{FF2B5EF4-FFF2-40B4-BE49-F238E27FC236}">
                <a16:creationId xmlns:a16="http://schemas.microsoft.com/office/drawing/2014/main" id="{29A1FA3B-4726-4E93-9F87-F66FF3AC54BA}"/>
              </a:ext>
            </a:extLst>
          </p:cNvPr>
          <p:cNvSpPr/>
          <p:nvPr/>
        </p:nvSpPr>
        <p:spPr>
          <a:xfrm>
            <a:off x="6985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left-heading">
            <a:extLst>
              <a:ext uri="{FF2B5EF4-FFF2-40B4-BE49-F238E27FC236}">
                <a16:creationId xmlns:a16="http://schemas.microsoft.com/office/drawing/2014/main" id="{4636B2EF-E08D-4894-B9B0-94EF12581D1D}"/>
              </a:ext>
            </a:extLst>
          </p:cNvPr>
          <p:cNvSpPr txBox="1"/>
          <p:nvPr/>
        </p:nvSpPr>
        <p:spPr bwMode="auto">
          <a:xfrm>
            <a:off x="8890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Простой вариант</a:t>
            </a:r>
          </a:p>
        </p:txBody>
      </p:sp>
      <p:sp>
        <p:nvSpPr>
          <p:cNvPr id="15" name="left-text">
            <a:extLst>
              <a:ext uri="{FF2B5EF4-FFF2-40B4-BE49-F238E27FC236}">
                <a16:creationId xmlns:a16="http://schemas.microsoft.com/office/drawing/2014/main" id="{80805C0D-B35C-4DA0-B69A-CECFBD7C33B4}"/>
              </a:ext>
            </a:extLst>
          </p:cNvPr>
          <p:cNvSpPr txBox="1"/>
          <p:nvPr/>
        </p:nvSpPr>
        <p:spPr bwMode="auto">
          <a:xfrm>
            <a:off x="914400" y="2641599"/>
            <a:ext cx="4775200" cy="2717800"/>
          </a:xfrm>
          <a:prstGeom prst="rect">
            <a:avLst/>
          </a:prstGeom>
        </p:spPr>
        <p:txBody>
          <a:bodyPr vert="horz" wrap="square" lIns="0" tIns="0" rIns="0" bIns="0" rtlCol="0">
            <a:noAutofit/>
          </a:bodyPr>
          <a:lstStyle/>
          <a:p>
            <a:r>
              <a:rPr lang="ru-RU" sz="2300">
                <a:solidFill>
                  <a:srgbClr val="352379"/>
                </a:solidFill>
                <a:latin typeface="Montserrat"/>
              </a:rPr>
              <a:t>Каждый раз просматривать все вершины.</a:t>
            </a:r>
          </a:p>
          <a:p>
            <a:endParaRPr lang="ru-RU" sz="2300">
              <a:solidFill>
                <a:srgbClr val="352379"/>
              </a:solidFill>
              <a:latin typeface="Montserrat"/>
            </a:endParaRPr>
          </a:p>
          <a:p>
            <a:r>
              <a:rPr lang="ru-RU" sz="2300">
                <a:solidFill>
                  <a:srgbClr val="352379"/>
                </a:solidFill>
                <a:latin typeface="Montserrat"/>
              </a:rPr>
              <a:t>V выборов по O(V)</a:t>
            </a:r>
          </a:p>
          <a:p>
            <a:r>
              <a:rPr lang="ru-RU" sz="2300">
                <a:solidFill>
                  <a:srgbClr val="352379"/>
                </a:solidFill>
                <a:latin typeface="Montserrat"/>
              </a:rPr>
              <a:t>Итого O(V² + E)</a:t>
            </a:r>
          </a:p>
        </p:txBody>
      </p:sp>
      <p:sp>
        <p:nvSpPr>
          <p:cNvPr id="16" name="right-body">
            <a:extLst>
              <a:ext uri="{FF2B5EF4-FFF2-40B4-BE49-F238E27FC236}">
                <a16:creationId xmlns:a16="http://schemas.microsoft.com/office/drawing/2014/main" id="{9CFD71AD-EDEA-4D3E-A27C-1982A93DB51B}"/>
              </a:ext>
            </a:extLst>
          </p:cNvPr>
          <p:cNvSpPr/>
          <p:nvPr/>
        </p:nvSpPr>
        <p:spPr>
          <a:xfrm>
            <a:off x="6477000" y="1816100"/>
            <a:ext cx="5207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right-head">
            <a:extLst>
              <a:ext uri="{FF2B5EF4-FFF2-40B4-BE49-F238E27FC236}">
                <a16:creationId xmlns:a16="http://schemas.microsoft.com/office/drawing/2014/main" id="{2B761146-9CFB-42A1-8724-E2E5535F69C8}"/>
              </a:ext>
            </a:extLst>
          </p:cNvPr>
          <p:cNvSpPr/>
          <p:nvPr/>
        </p:nvSpPr>
        <p:spPr>
          <a:xfrm>
            <a:off x="64770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right-heading">
            <a:extLst>
              <a:ext uri="{FF2B5EF4-FFF2-40B4-BE49-F238E27FC236}">
                <a16:creationId xmlns:a16="http://schemas.microsoft.com/office/drawing/2014/main" id="{F876D693-5F61-43BD-B6E6-1674491A6803}"/>
              </a:ext>
            </a:extLst>
          </p:cNvPr>
          <p:cNvSpPr txBox="1"/>
          <p:nvPr/>
        </p:nvSpPr>
        <p:spPr bwMode="auto">
          <a:xfrm>
            <a:off x="6667500" y="1930399"/>
            <a:ext cx="4826000" cy="381000"/>
          </a:xfrm>
          <a:prstGeom prst="rect">
            <a:avLst/>
          </a:prstGeom>
        </p:spPr>
        <p:txBody>
          <a:bodyPr vert="horz" wrap="square" lIns="0" tIns="0" rIns="0" bIns="0" rtlCol="0">
            <a:noAutofit/>
          </a:bodyPr>
          <a:lstStyle/>
          <a:p>
            <a:r>
              <a:rPr lang="en-US" sz="2100">
                <a:solidFill>
                  <a:srgbClr val="FFFFFF"/>
                </a:solidFill>
                <a:latin typeface="Montserrat"/>
              </a:rPr>
              <a:t>Priority queue</a:t>
            </a:r>
            <a:endParaRPr lang="ru-RU" sz="2100">
              <a:solidFill>
                <a:srgbClr val="FFFFFF"/>
              </a:solidFill>
              <a:latin typeface="Montserrat"/>
            </a:endParaRPr>
          </a:p>
        </p:txBody>
      </p:sp>
      <p:sp>
        <p:nvSpPr>
          <p:cNvPr id="19" name="right-text">
            <a:extLst>
              <a:ext uri="{FF2B5EF4-FFF2-40B4-BE49-F238E27FC236}">
                <a16:creationId xmlns:a16="http://schemas.microsoft.com/office/drawing/2014/main" id="{0202AD99-F273-4335-B091-86BDE7D8B4A9}"/>
              </a:ext>
            </a:extLst>
          </p:cNvPr>
          <p:cNvSpPr txBox="1"/>
          <p:nvPr/>
        </p:nvSpPr>
        <p:spPr bwMode="auto">
          <a:xfrm>
            <a:off x="6692900" y="2641599"/>
            <a:ext cx="4775200" cy="2717800"/>
          </a:xfrm>
          <a:prstGeom prst="rect">
            <a:avLst/>
          </a:prstGeom>
        </p:spPr>
        <p:txBody>
          <a:bodyPr vert="horz" wrap="square" lIns="0" tIns="0" rIns="0" bIns="0" rtlCol="0">
            <a:noAutofit/>
          </a:bodyPr>
          <a:lstStyle/>
          <a:p>
            <a:r>
              <a:rPr lang="ru-RU" sz="2300">
                <a:solidFill>
                  <a:srgbClr val="352379"/>
                </a:solidFill>
                <a:latin typeface="Montserrat"/>
              </a:rPr>
              <a:t>Минимальная куча хранит записи по приоритету.</a:t>
            </a:r>
          </a:p>
          <a:p>
            <a:endParaRPr lang="ru-RU" sz="2300">
              <a:solidFill>
                <a:srgbClr val="352379"/>
              </a:solidFill>
              <a:latin typeface="Montserrat"/>
            </a:endParaRPr>
          </a:p>
          <a:p>
            <a:r>
              <a:rPr lang="ru-RU" sz="2300">
                <a:solidFill>
                  <a:srgbClr val="352379"/>
                </a:solidFill>
                <a:latin typeface="Montserrat"/>
              </a:rPr>
              <a:t>Извлечение минимума</a:t>
            </a:r>
          </a:p>
          <a:p>
            <a:r>
              <a:rPr lang="ru-RU" sz="2300">
                <a:solidFill>
                  <a:srgbClr val="352379"/>
                </a:solidFill>
                <a:latin typeface="Montserrat"/>
              </a:rPr>
              <a:t>и вставка: O(log N)</a:t>
            </a:r>
          </a:p>
        </p:txBody>
      </p:sp>
    </p:spTree>
    <p:extLst>
      <p:ext uri="{BB962C8B-B14F-4D97-AF65-F5344CB8AC3E}">
        <p14:creationId xmlns:p14="http://schemas.microsoft.com/office/powerpoint/2010/main" val="390438237"/>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9CC0AD-98FC-4653-BDF6-DD944A5C83D7}"/>
              </a:ext>
            </a:extLst>
          </p:cNvPr>
          <p:cNvSpPr>
            <a:spLocks noGrp="1"/>
          </p:cNvSpPr>
          <p:nvPr>
            <p:ph type="title"/>
          </p:nvPr>
        </p:nvSpPr>
        <p:spPr>
          <a:xfrm>
            <a:off x="479425" y="597855"/>
            <a:ext cx="11229975" cy="1140459"/>
          </a:xfrm>
        </p:spPr>
        <p:txBody>
          <a:bodyPr/>
          <a:lstStyle/>
          <a:p>
            <a:r>
              <a:rPr lang="ru-RU"/>
              <a:t>Записи очереди и улучшения</a:t>
            </a:r>
          </a:p>
        </p:txBody>
      </p:sp>
      <p:sp>
        <p:nvSpPr>
          <p:cNvPr id="7" name="Текст 6">
            <a:extLst>
              <a:ext uri="{FF2B5EF4-FFF2-40B4-BE49-F238E27FC236}">
                <a16:creationId xmlns:a16="http://schemas.microsoft.com/office/drawing/2014/main" id="{582D98FE-CDC3-4FA7-829E-F543E7BCE1EB}"/>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889F5888-6289-4B69-99CF-EFF7B6DDA2F6}"/>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EFE722F9-9277-4C3F-A125-11707240B3D5}"/>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31</a:t>
            </a:r>
          </a:p>
        </p:txBody>
      </p:sp>
      <p:sp>
        <p:nvSpPr>
          <p:cNvPr id="10" name="bottom-band">
            <a:extLst>
              <a:ext uri="{FF2B5EF4-FFF2-40B4-BE49-F238E27FC236}">
                <a16:creationId xmlns:a16="http://schemas.microsoft.com/office/drawing/2014/main" id="{D307A939-6F02-466B-A69A-0E166532B840}"/>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D961B6E3-C154-4859-86A4-FAE2C50BE1EA}"/>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При улучшении добавляем новую пару, старую запись пока не удаляем</a:t>
            </a:r>
          </a:p>
        </p:txBody>
      </p:sp>
      <p:sp>
        <p:nvSpPr>
          <p:cNvPr id="12" name="heap-pair-body">
            <a:extLst>
              <a:ext uri="{FF2B5EF4-FFF2-40B4-BE49-F238E27FC236}">
                <a16:creationId xmlns:a16="http://schemas.microsoft.com/office/drawing/2014/main" id="{4FF2D9CC-23BE-46AD-8826-B92B3509FAAA}"/>
              </a:ext>
            </a:extLst>
          </p:cNvPr>
          <p:cNvSpPr/>
          <p:nvPr/>
        </p:nvSpPr>
        <p:spPr>
          <a:xfrm>
            <a:off x="698500" y="1816100"/>
            <a:ext cx="5588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heap-pair-head">
            <a:extLst>
              <a:ext uri="{FF2B5EF4-FFF2-40B4-BE49-F238E27FC236}">
                <a16:creationId xmlns:a16="http://schemas.microsoft.com/office/drawing/2014/main" id="{5BF336BA-A889-47B8-9F2C-FFA6BEF8A8DC}"/>
              </a:ext>
            </a:extLst>
          </p:cNvPr>
          <p:cNvSpPr/>
          <p:nvPr/>
        </p:nvSpPr>
        <p:spPr>
          <a:xfrm>
            <a:off x="698500" y="1816100"/>
            <a:ext cx="5588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heap-pair-heading">
            <a:extLst>
              <a:ext uri="{FF2B5EF4-FFF2-40B4-BE49-F238E27FC236}">
                <a16:creationId xmlns:a16="http://schemas.microsoft.com/office/drawing/2014/main" id="{3F6388F5-BB20-481D-811F-F5216B15917F}"/>
              </a:ext>
            </a:extLst>
          </p:cNvPr>
          <p:cNvSpPr txBox="1"/>
          <p:nvPr/>
        </p:nvSpPr>
        <p:spPr bwMode="auto">
          <a:xfrm>
            <a:off x="889000" y="1930399"/>
            <a:ext cx="5207000" cy="381000"/>
          </a:xfrm>
          <a:prstGeom prst="rect">
            <a:avLst/>
          </a:prstGeom>
        </p:spPr>
        <p:txBody>
          <a:bodyPr vert="horz" wrap="square" lIns="0" tIns="0" rIns="0" bIns="0" rtlCol="0">
            <a:noAutofit/>
          </a:bodyPr>
          <a:lstStyle/>
          <a:p>
            <a:r>
              <a:rPr lang="en-US" sz="2100">
                <a:solidFill>
                  <a:srgbClr val="FFFFFF"/>
                </a:solidFill>
                <a:latin typeface="Montserrat"/>
              </a:rPr>
              <a:t>(distance, vertex)</a:t>
            </a:r>
            <a:endParaRPr lang="ru-RU" sz="2100">
              <a:solidFill>
                <a:srgbClr val="FFFFFF"/>
              </a:solidFill>
              <a:latin typeface="Montserrat"/>
            </a:endParaRPr>
          </a:p>
        </p:txBody>
      </p:sp>
      <p:sp>
        <p:nvSpPr>
          <p:cNvPr id="15" name="heap-pair-text">
            <a:extLst>
              <a:ext uri="{FF2B5EF4-FFF2-40B4-BE49-F238E27FC236}">
                <a16:creationId xmlns:a16="http://schemas.microsoft.com/office/drawing/2014/main" id="{E35898FA-0DAD-4FE0-8551-35EFD0856A85}"/>
              </a:ext>
            </a:extLst>
          </p:cNvPr>
          <p:cNvSpPr txBox="1"/>
          <p:nvPr/>
        </p:nvSpPr>
        <p:spPr bwMode="auto">
          <a:xfrm>
            <a:off x="914400" y="2641599"/>
            <a:ext cx="5156200" cy="2717800"/>
          </a:xfrm>
          <a:prstGeom prst="rect">
            <a:avLst/>
          </a:prstGeom>
        </p:spPr>
        <p:txBody>
          <a:bodyPr vert="horz" wrap="square" lIns="0" tIns="0" rIns="0" bIns="0" rtlCol="0">
            <a:noAutofit/>
          </a:bodyPr>
          <a:lstStyle/>
          <a:p>
            <a:r>
              <a:rPr lang="ru-RU" sz="2200">
                <a:solidFill>
                  <a:srgbClr val="352379"/>
                </a:solidFill>
                <a:latin typeface="Montserrat"/>
              </a:rPr>
              <a:t>(0, A) — начальная запись</a:t>
            </a:r>
          </a:p>
          <a:p>
            <a:endParaRPr lang="ru-RU" sz="2200">
              <a:solidFill>
                <a:srgbClr val="352379"/>
              </a:solidFill>
              <a:latin typeface="Montserrat"/>
            </a:endParaRPr>
          </a:p>
          <a:p>
            <a:r>
              <a:rPr lang="ru-RU" sz="2200">
                <a:solidFill>
                  <a:srgbClr val="352379"/>
                </a:solidFill>
                <a:latin typeface="Montserrat"/>
              </a:rPr>
              <a:t>(7, B) — первый путь к B</a:t>
            </a:r>
          </a:p>
          <a:p>
            <a:endParaRPr lang="ru-RU" sz="2200">
              <a:solidFill>
                <a:srgbClr val="352379"/>
              </a:solidFill>
              <a:latin typeface="Montserrat"/>
            </a:endParaRPr>
          </a:p>
          <a:p>
            <a:r>
              <a:rPr lang="ru-RU" sz="2200">
                <a:solidFill>
                  <a:srgbClr val="352379"/>
                </a:solidFill>
                <a:latin typeface="Montserrat"/>
              </a:rPr>
              <a:t>(5, B) — улучшенный путь</a:t>
            </a:r>
          </a:p>
        </p:txBody>
      </p:sp>
      <p:sp>
        <p:nvSpPr>
          <p:cNvPr id="16" name="heap-best-body">
            <a:extLst>
              <a:ext uri="{FF2B5EF4-FFF2-40B4-BE49-F238E27FC236}">
                <a16:creationId xmlns:a16="http://schemas.microsoft.com/office/drawing/2014/main" id="{A7381A40-2B62-4081-A566-37D8452BE48C}"/>
              </a:ext>
            </a:extLst>
          </p:cNvPr>
          <p:cNvSpPr/>
          <p:nvPr/>
        </p:nvSpPr>
        <p:spPr>
          <a:xfrm>
            <a:off x="6858000" y="1816100"/>
            <a:ext cx="4826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heap-best-head">
            <a:extLst>
              <a:ext uri="{FF2B5EF4-FFF2-40B4-BE49-F238E27FC236}">
                <a16:creationId xmlns:a16="http://schemas.microsoft.com/office/drawing/2014/main" id="{9AF29A62-917D-432F-A1E5-F71579ADA235}"/>
              </a:ext>
            </a:extLst>
          </p:cNvPr>
          <p:cNvSpPr/>
          <p:nvPr/>
        </p:nvSpPr>
        <p:spPr>
          <a:xfrm>
            <a:off x="6858000" y="1816100"/>
            <a:ext cx="4826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heap-best-heading">
            <a:extLst>
              <a:ext uri="{FF2B5EF4-FFF2-40B4-BE49-F238E27FC236}">
                <a16:creationId xmlns:a16="http://schemas.microsoft.com/office/drawing/2014/main" id="{51FD61BF-1133-4EA2-B34D-87B201D6B198}"/>
              </a:ext>
            </a:extLst>
          </p:cNvPr>
          <p:cNvSpPr txBox="1"/>
          <p:nvPr/>
        </p:nvSpPr>
        <p:spPr bwMode="auto">
          <a:xfrm>
            <a:off x="7048500" y="1930399"/>
            <a:ext cx="4445000" cy="381000"/>
          </a:xfrm>
          <a:prstGeom prst="rect">
            <a:avLst/>
          </a:prstGeom>
        </p:spPr>
        <p:txBody>
          <a:bodyPr vert="horz" wrap="square" lIns="0" tIns="0" rIns="0" bIns="0" rtlCol="0">
            <a:noAutofit/>
          </a:bodyPr>
          <a:lstStyle/>
          <a:p>
            <a:r>
              <a:rPr lang="ru-RU" sz="2100">
                <a:solidFill>
                  <a:srgbClr val="FFFFFF"/>
                </a:solidFill>
                <a:latin typeface="Montserrat"/>
              </a:rPr>
              <a:t>Текущая оценка</a:t>
            </a:r>
          </a:p>
        </p:txBody>
      </p:sp>
      <p:sp>
        <p:nvSpPr>
          <p:cNvPr id="19" name="heap-best-text">
            <a:extLst>
              <a:ext uri="{FF2B5EF4-FFF2-40B4-BE49-F238E27FC236}">
                <a16:creationId xmlns:a16="http://schemas.microsoft.com/office/drawing/2014/main" id="{F96406FD-31E1-4A65-9933-EE2864C5301F}"/>
              </a:ext>
            </a:extLst>
          </p:cNvPr>
          <p:cNvSpPr txBox="1"/>
          <p:nvPr/>
        </p:nvSpPr>
        <p:spPr bwMode="auto">
          <a:xfrm>
            <a:off x="7073900" y="2641599"/>
            <a:ext cx="4394200" cy="2717800"/>
          </a:xfrm>
          <a:prstGeom prst="rect">
            <a:avLst/>
          </a:prstGeom>
        </p:spPr>
        <p:txBody>
          <a:bodyPr vert="horz" wrap="square" lIns="0" tIns="0" rIns="0" bIns="0" rtlCol="0">
            <a:noAutofit/>
          </a:bodyPr>
          <a:lstStyle/>
          <a:p>
            <a:r>
              <a:rPr lang="ru-RU" sz="2200">
                <a:solidFill>
                  <a:srgbClr val="352379"/>
                </a:solidFill>
                <a:latin typeface="Montserrat"/>
              </a:rPr>
              <a:t>dist[B] = 5</a:t>
            </a:r>
          </a:p>
          <a:p>
            <a:endParaRPr lang="ru-RU" sz="2200">
              <a:solidFill>
                <a:srgbClr val="352379"/>
              </a:solidFill>
              <a:latin typeface="Montserrat"/>
            </a:endParaRPr>
          </a:p>
          <a:p>
            <a:r>
              <a:rPr lang="ru-RU" sz="2200">
                <a:solidFill>
                  <a:srgbClr val="352379"/>
                </a:solidFill>
                <a:latin typeface="Montserrat"/>
              </a:rPr>
              <a:t>Одна вершина,</a:t>
            </a:r>
          </a:p>
          <a:p>
            <a:r>
              <a:rPr lang="ru-RU" sz="2200">
                <a:solidFill>
                  <a:srgbClr val="352379"/>
                </a:solidFill>
                <a:latin typeface="Montserrat"/>
              </a:rPr>
              <a:t>две записи в очереди.</a:t>
            </a:r>
          </a:p>
          <a:p>
            <a:endParaRPr lang="ru-RU" sz="2200">
              <a:solidFill>
                <a:srgbClr val="352379"/>
              </a:solidFill>
              <a:latin typeface="Montserrat"/>
            </a:endParaRPr>
          </a:p>
          <a:p>
            <a:r>
              <a:rPr lang="ru-RU" sz="2200">
                <a:solidFill>
                  <a:srgbClr val="352379"/>
                </a:solidFill>
                <a:latin typeface="Montserrat"/>
              </a:rPr>
              <a:t>Актуальна запись (5, B).</a:t>
            </a:r>
          </a:p>
        </p:txBody>
      </p:sp>
    </p:spTree>
    <p:extLst>
      <p:ext uri="{BB962C8B-B14F-4D97-AF65-F5344CB8AC3E}">
        <p14:creationId xmlns:p14="http://schemas.microsoft.com/office/powerpoint/2010/main" val="269783718"/>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28EFF3-7B06-46F4-AD63-ABE6E340AC7A}"/>
              </a:ext>
            </a:extLst>
          </p:cNvPr>
          <p:cNvSpPr>
            <a:spLocks noGrp="1"/>
          </p:cNvSpPr>
          <p:nvPr>
            <p:ph type="title"/>
          </p:nvPr>
        </p:nvSpPr>
        <p:spPr>
          <a:xfrm>
            <a:off x="479425" y="597855"/>
            <a:ext cx="11229975" cy="1140459"/>
          </a:xfrm>
        </p:spPr>
        <p:txBody>
          <a:bodyPr/>
          <a:lstStyle/>
          <a:p>
            <a:r>
              <a:rPr lang="ru-RU"/>
              <a:t>Устаревшая запись</a:t>
            </a:r>
          </a:p>
        </p:txBody>
      </p:sp>
      <p:sp>
        <p:nvSpPr>
          <p:cNvPr id="7" name="Текст 6">
            <a:extLst>
              <a:ext uri="{FF2B5EF4-FFF2-40B4-BE49-F238E27FC236}">
                <a16:creationId xmlns:a16="http://schemas.microsoft.com/office/drawing/2014/main" id="{CC127630-4C13-4999-AF31-2DF4A82954CA}"/>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EF39F65C-163C-484D-AB0F-FAEF70EF4D9F}"/>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B6FE0383-85A9-4C69-8592-FDD65E5EC3B0}"/>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32</a:t>
            </a:r>
          </a:p>
        </p:txBody>
      </p:sp>
      <p:sp>
        <p:nvSpPr>
          <p:cNvPr id="10" name="bottom-band">
            <a:extLst>
              <a:ext uri="{FF2B5EF4-FFF2-40B4-BE49-F238E27FC236}">
                <a16:creationId xmlns:a16="http://schemas.microsoft.com/office/drawing/2014/main" id="{8CF7CE38-170E-447D-96E5-0097C2A190F6}"/>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8B993970-5102-4540-B70C-DF6FF44533FF}"/>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dist — источник актуальных оценок, heap — очередь кандидатов</a:t>
            </a:r>
          </a:p>
        </p:txBody>
      </p:sp>
      <p:sp>
        <p:nvSpPr>
          <p:cNvPr id="12" name="code-background">
            <a:extLst>
              <a:ext uri="{FF2B5EF4-FFF2-40B4-BE49-F238E27FC236}">
                <a16:creationId xmlns:a16="http://schemas.microsoft.com/office/drawing/2014/main" id="{43115973-8AED-4715-B642-7A510514B5D8}"/>
              </a:ext>
            </a:extLst>
          </p:cNvPr>
          <p:cNvSpPr/>
          <p:nvPr/>
        </p:nvSpPr>
        <p:spPr>
          <a:xfrm>
            <a:off x="609600" y="1676400"/>
            <a:ext cx="7937500" cy="40259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code-listing">
            <a:extLst>
              <a:ext uri="{FF2B5EF4-FFF2-40B4-BE49-F238E27FC236}">
                <a16:creationId xmlns:a16="http://schemas.microsoft.com/office/drawing/2014/main" id="{34D7F4E0-4471-4658-9E9E-F8F4BE272044}"/>
              </a:ext>
            </a:extLst>
          </p:cNvPr>
          <p:cNvSpPr txBox="1"/>
          <p:nvPr/>
        </p:nvSpPr>
        <p:spPr bwMode="auto">
          <a:xfrm>
            <a:off x="812800" y="1854199"/>
            <a:ext cx="7581900" cy="3746500"/>
          </a:xfrm>
          <a:prstGeom prst="rect">
            <a:avLst/>
          </a:prstGeom>
        </p:spPr>
        <p:txBody>
          <a:bodyPr vert="horz" wrap="square" lIns="0" tIns="0" rIns="0" bIns="0" rtlCol="0">
            <a:noAutofit/>
          </a:bodyPr>
          <a:lstStyle/>
          <a:p>
            <a:pPr>
              <a:lnSpc>
                <a:spcPts val="2500"/>
              </a:lnSpc>
            </a:pPr>
            <a:r>
              <a:rPr lang="en-US" sz="2000">
                <a:solidFill>
                  <a:srgbClr val="352379"/>
                </a:solidFill>
                <a:latin typeface="Montserrat"/>
              </a:rPr>
              <a:t>current_dist, u = heapq.heappop(heap)</a:t>
            </a:r>
          </a:p>
          <a:p>
            <a:pPr>
              <a:lnSpc>
                <a:spcPts val="2500"/>
              </a:lnSpc>
            </a:pPr>
            <a:r>
              <a:rPr lang="en-US" sz="2000">
                <a:solidFill>
                  <a:srgbClr val="352379"/>
                </a:solidFill>
                <a:latin typeface="Montserrat"/>
              </a:rPr>
              <a:t>if current_dist &gt; dist[u]:</a:t>
            </a:r>
          </a:p>
          <a:p>
            <a:pPr>
              <a:lnSpc>
                <a:spcPts val="2500"/>
              </a:lnSpc>
            </a:pPr>
            <a:r>
              <a:rPr lang="en-US" sz="2000">
                <a:solidFill>
                  <a:srgbClr val="352379"/>
                </a:solidFill>
                <a:latin typeface="Montserrat"/>
              </a:rPr>
              <a:t>    continue</a:t>
            </a:r>
            <a:endParaRPr lang="ru-RU" sz="2000">
              <a:solidFill>
                <a:srgbClr val="352379"/>
              </a:solidFill>
              <a:latin typeface="Montserrat"/>
            </a:endParaRPr>
          </a:p>
        </p:txBody>
      </p:sp>
      <p:sp>
        <p:nvSpPr>
          <p:cNvPr id="14" name="code-comment-body">
            <a:extLst>
              <a:ext uri="{FF2B5EF4-FFF2-40B4-BE49-F238E27FC236}">
                <a16:creationId xmlns:a16="http://schemas.microsoft.com/office/drawing/2014/main" id="{9C0F2F8C-6675-4AAF-B412-966CB61B957F}"/>
              </a:ext>
            </a:extLst>
          </p:cNvPr>
          <p:cNvSpPr/>
          <p:nvPr/>
        </p:nvSpPr>
        <p:spPr>
          <a:xfrm>
            <a:off x="8801100" y="1816100"/>
            <a:ext cx="2908300" cy="36576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code-comment-head">
            <a:extLst>
              <a:ext uri="{FF2B5EF4-FFF2-40B4-BE49-F238E27FC236}">
                <a16:creationId xmlns:a16="http://schemas.microsoft.com/office/drawing/2014/main" id="{A75932DA-2AB0-429A-BB22-CF0E76A057D9}"/>
              </a:ext>
            </a:extLst>
          </p:cNvPr>
          <p:cNvSpPr/>
          <p:nvPr/>
        </p:nvSpPr>
        <p:spPr>
          <a:xfrm>
            <a:off x="8801100" y="1816100"/>
            <a:ext cx="29083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code-comment-heading">
            <a:extLst>
              <a:ext uri="{FF2B5EF4-FFF2-40B4-BE49-F238E27FC236}">
                <a16:creationId xmlns:a16="http://schemas.microsoft.com/office/drawing/2014/main" id="{3810DA32-06D8-4974-992C-6C9036F5E95A}"/>
              </a:ext>
            </a:extLst>
          </p:cNvPr>
          <p:cNvSpPr txBox="1"/>
          <p:nvPr/>
        </p:nvSpPr>
        <p:spPr bwMode="auto">
          <a:xfrm>
            <a:off x="8991600" y="1930399"/>
            <a:ext cx="2527300" cy="381000"/>
          </a:xfrm>
          <a:prstGeom prst="rect">
            <a:avLst/>
          </a:prstGeom>
        </p:spPr>
        <p:txBody>
          <a:bodyPr vert="horz" wrap="square" lIns="0" tIns="0" rIns="0" bIns="0" rtlCol="0">
            <a:noAutofit/>
          </a:bodyPr>
          <a:lstStyle/>
          <a:p>
            <a:r>
              <a:rPr lang="ru-RU" sz="2100">
                <a:solidFill>
                  <a:srgbClr val="FFFFFF"/>
                </a:solidFill>
                <a:latin typeface="Montserrat"/>
              </a:rPr>
              <a:t>Как читать</a:t>
            </a:r>
          </a:p>
        </p:txBody>
      </p:sp>
      <p:sp>
        <p:nvSpPr>
          <p:cNvPr id="17" name="code-comment-text">
            <a:extLst>
              <a:ext uri="{FF2B5EF4-FFF2-40B4-BE49-F238E27FC236}">
                <a16:creationId xmlns:a16="http://schemas.microsoft.com/office/drawing/2014/main" id="{938648E4-DC0A-4724-AA47-A00E1CBDE0B8}"/>
              </a:ext>
            </a:extLst>
          </p:cNvPr>
          <p:cNvSpPr txBox="1"/>
          <p:nvPr/>
        </p:nvSpPr>
        <p:spPr bwMode="auto">
          <a:xfrm>
            <a:off x="9017000" y="2641599"/>
            <a:ext cx="2476500" cy="2692400"/>
          </a:xfrm>
          <a:prstGeom prst="rect">
            <a:avLst/>
          </a:prstGeom>
        </p:spPr>
        <p:txBody>
          <a:bodyPr vert="horz" wrap="square" lIns="0" tIns="0" rIns="0" bIns="0" rtlCol="0">
            <a:noAutofit/>
          </a:bodyPr>
          <a:lstStyle/>
          <a:p>
            <a:r>
              <a:rPr lang="ru-RU" sz="1900">
                <a:solidFill>
                  <a:srgbClr val="352379"/>
                </a:solidFill>
                <a:latin typeface="Montserrat"/>
              </a:rPr>
              <a:t>В heap: (7, B)</a:t>
            </a:r>
          </a:p>
          <a:p>
            <a:r>
              <a:rPr lang="ru-RU" sz="1900">
                <a:solidFill>
                  <a:srgbClr val="352379"/>
                </a:solidFill>
                <a:latin typeface="Montserrat"/>
              </a:rPr>
              <a:t>В dist: B = 5</a:t>
            </a:r>
          </a:p>
          <a:p>
            <a:endParaRPr lang="ru-RU" sz="1900">
              <a:solidFill>
                <a:srgbClr val="352379"/>
              </a:solidFill>
              <a:latin typeface="Montserrat"/>
            </a:endParaRPr>
          </a:p>
          <a:p>
            <a:r>
              <a:rPr lang="ru-RU" sz="1900">
                <a:solidFill>
                  <a:srgbClr val="352379"/>
                </a:solidFill>
                <a:latin typeface="Montserrat"/>
              </a:rPr>
              <a:t>7 &gt; 5</a:t>
            </a:r>
          </a:p>
          <a:p>
            <a:r>
              <a:rPr lang="ru-RU" sz="1900">
                <a:solidFill>
                  <a:srgbClr val="352379"/>
                </a:solidFill>
                <a:latin typeface="Montserrat"/>
              </a:rPr>
              <a:t>Соседей не обходим</a:t>
            </a:r>
          </a:p>
        </p:txBody>
      </p:sp>
    </p:spTree>
    <p:extLst>
      <p:ext uri="{BB962C8B-B14F-4D97-AF65-F5344CB8AC3E}">
        <p14:creationId xmlns:p14="http://schemas.microsoft.com/office/powerpoint/2010/main" val="2445002331"/>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411C7F-EFA6-47B7-BDC5-AC5DE43CC86C}"/>
              </a:ext>
            </a:extLst>
          </p:cNvPr>
          <p:cNvSpPr>
            <a:spLocks noGrp="1"/>
          </p:cNvSpPr>
          <p:nvPr>
            <p:ph type="title"/>
          </p:nvPr>
        </p:nvSpPr>
        <p:spPr>
          <a:xfrm>
            <a:off x="479425" y="597855"/>
            <a:ext cx="11229975" cy="1140459"/>
          </a:xfrm>
        </p:spPr>
        <p:txBody>
          <a:bodyPr/>
          <a:lstStyle/>
          <a:p>
            <a:r>
              <a:rPr lang="ru-RU"/>
              <a:t>Дейкстра: псевдокод</a:t>
            </a:r>
          </a:p>
        </p:txBody>
      </p:sp>
      <p:sp>
        <p:nvSpPr>
          <p:cNvPr id="7" name="Текст 6">
            <a:extLst>
              <a:ext uri="{FF2B5EF4-FFF2-40B4-BE49-F238E27FC236}">
                <a16:creationId xmlns:a16="http://schemas.microsoft.com/office/drawing/2014/main" id="{9351E9A6-BE9F-4663-BF7F-977740A8D082}"/>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B735090D-22AC-4509-BF76-6DA95D82E306}"/>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05BD260A-E1BD-4D45-B009-78235C12CEAE}"/>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33</a:t>
            </a:r>
          </a:p>
        </p:txBody>
      </p:sp>
      <p:sp>
        <p:nvSpPr>
          <p:cNvPr id="10" name="bottom-band">
            <a:extLst>
              <a:ext uri="{FF2B5EF4-FFF2-40B4-BE49-F238E27FC236}">
                <a16:creationId xmlns:a16="http://schemas.microsoft.com/office/drawing/2014/main" id="{D4EE8C64-4FC0-4DF8-AFCB-BC1D52644C96}"/>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BB2308AE-049F-4B30-8D5F-2351E8F97F46}"/>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Очередь управляет выбором, релаксация обновляет расстояния</a:t>
            </a:r>
          </a:p>
        </p:txBody>
      </p:sp>
      <p:sp>
        <p:nvSpPr>
          <p:cNvPr id="12" name="code-background">
            <a:extLst>
              <a:ext uri="{FF2B5EF4-FFF2-40B4-BE49-F238E27FC236}">
                <a16:creationId xmlns:a16="http://schemas.microsoft.com/office/drawing/2014/main" id="{6F659302-111B-430D-B650-41D99D9082DB}"/>
              </a:ext>
            </a:extLst>
          </p:cNvPr>
          <p:cNvSpPr/>
          <p:nvPr/>
        </p:nvSpPr>
        <p:spPr>
          <a:xfrm>
            <a:off x="609600" y="1676400"/>
            <a:ext cx="10795000" cy="40259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code-listing">
            <a:extLst>
              <a:ext uri="{FF2B5EF4-FFF2-40B4-BE49-F238E27FC236}">
                <a16:creationId xmlns:a16="http://schemas.microsoft.com/office/drawing/2014/main" id="{C408923A-78F5-4A3E-B02B-AC87DFD90C8B}"/>
              </a:ext>
            </a:extLst>
          </p:cNvPr>
          <p:cNvSpPr txBox="1"/>
          <p:nvPr/>
        </p:nvSpPr>
        <p:spPr bwMode="auto">
          <a:xfrm>
            <a:off x="812800" y="1854199"/>
            <a:ext cx="10439400" cy="3746500"/>
          </a:xfrm>
          <a:prstGeom prst="rect">
            <a:avLst/>
          </a:prstGeom>
        </p:spPr>
        <p:txBody>
          <a:bodyPr vert="horz" wrap="square" lIns="0" tIns="0" rIns="0" bIns="0" rtlCol="0">
            <a:noAutofit/>
          </a:bodyPr>
          <a:lstStyle/>
          <a:p>
            <a:pPr>
              <a:lnSpc>
                <a:spcPts val="2500"/>
              </a:lnSpc>
            </a:pPr>
            <a:r>
              <a:rPr lang="en-US" sz="2000">
                <a:solidFill>
                  <a:srgbClr val="352379"/>
                </a:solidFill>
                <a:latin typeface="Montserrat"/>
              </a:rPr>
              <a:t>dist[start] = 0</a:t>
            </a:r>
          </a:p>
          <a:p>
            <a:pPr>
              <a:lnSpc>
                <a:spcPts val="2500"/>
              </a:lnSpc>
            </a:pPr>
            <a:r>
              <a:rPr lang="en-US" sz="2000">
                <a:solidFill>
                  <a:srgbClr val="352379"/>
                </a:solidFill>
                <a:latin typeface="Montserrat"/>
              </a:rPr>
              <a:t>heap = [(0, start)]</a:t>
            </a:r>
          </a:p>
          <a:p>
            <a:pPr>
              <a:lnSpc>
                <a:spcPts val="2500"/>
              </a:lnSpc>
            </a:pPr>
            <a:r>
              <a:rPr lang="ru-RU" sz="2000">
                <a:solidFill>
                  <a:srgbClr val="352379"/>
                </a:solidFill>
                <a:latin typeface="Montserrat"/>
              </a:rPr>
              <a:t>пока </a:t>
            </a:r>
            <a:r>
              <a:rPr lang="en-US" sz="2000">
                <a:solidFill>
                  <a:srgbClr val="352379"/>
                </a:solidFill>
                <a:latin typeface="Montserrat"/>
              </a:rPr>
              <a:t>heap </a:t>
            </a:r>
            <a:r>
              <a:rPr lang="ru-RU" sz="2000">
                <a:solidFill>
                  <a:srgbClr val="352379"/>
                </a:solidFill>
                <a:latin typeface="Montserrat"/>
              </a:rPr>
              <a:t>не пуста:</a:t>
            </a:r>
          </a:p>
          <a:p>
            <a:pPr>
              <a:lnSpc>
                <a:spcPts val="2500"/>
              </a:lnSpc>
            </a:pPr>
            <a:r>
              <a:rPr lang="ru-RU" sz="2000">
                <a:solidFill>
                  <a:srgbClr val="352379"/>
                </a:solidFill>
                <a:latin typeface="Montserrat"/>
              </a:rPr>
              <a:t>    взять минимальную запись (</a:t>
            </a:r>
            <a:r>
              <a:rPr lang="en-US" sz="2000">
                <a:solidFill>
                  <a:srgbClr val="352379"/>
                </a:solidFill>
                <a:latin typeface="Montserrat"/>
              </a:rPr>
              <a:t>d, u)</a:t>
            </a:r>
          </a:p>
          <a:p>
            <a:pPr>
              <a:lnSpc>
                <a:spcPts val="2500"/>
              </a:lnSpc>
            </a:pPr>
            <a:r>
              <a:rPr lang="en-US" sz="2000">
                <a:solidFill>
                  <a:srgbClr val="352379"/>
                </a:solidFill>
                <a:latin typeface="Montserrat"/>
              </a:rPr>
              <a:t>    </a:t>
            </a:r>
            <a:r>
              <a:rPr lang="ru-RU" sz="2000">
                <a:solidFill>
                  <a:srgbClr val="352379"/>
                </a:solidFill>
                <a:latin typeface="Montserrat"/>
              </a:rPr>
              <a:t>пропустить её, если </a:t>
            </a:r>
            <a:r>
              <a:rPr lang="en-US" sz="2000">
                <a:solidFill>
                  <a:srgbClr val="352379"/>
                </a:solidFill>
                <a:latin typeface="Montserrat"/>
              </a:rPr>
              <a:t>d &gt; dist[u]</a:t>
            </a:r>
          </a:p>
          <a:p>
            <a:pPr>
              <a:lnSpc>
                <a:spcPts val="2500"/>
              </a:lnSpc>
            </a:pPr>
            <a:r>
              <a:rPr lang="en-US" sz="2000">
                <a:solidFill>
                  <a:srgbClr val="352379"/>
                </a:solidFill>
                <a:latin typeface="Montserrat"/>
              </a:rPr>
              <a:t>    </a:t>
            </a:r>
            <a:r>
              <a:rPr lang="ru-RU" sz="2000">
                <a:solidFill>
                  <a:srgbClr val="352379"/>
                </a:solidFill>
                <a:latin typeface="Montserrat"/>
              </a:rPr>
              <a:t>для каждого ребра </a:t>
            </a:r>
            <a:r>
              <a:rPr lang="en-US" sz="2000">
                <a:solidFill>
                  <a:srgbClr val="352379"/>
                </a:solidFill>
                <a:latin typeface="Montserrat"/>
              </a:rPr>
              <a:t>u → v:</a:t>
            </a:r>
          </a:p>
          <a:p>
            <a:pPr>
              <a:lnSpc>
                <a:spcPts val="2500"/>
              </a:lnSpc>
            </a:pPr>
            <a:r>
              <a:rPr lang="en-US" sz="2000">
                <a:solidFill>
                  <a:srgbClr val="352379"/>
                </a:solidFill>
                <a:latin typeface="Montserrat"/>
              </a:rPr>
              <a:t>        </a:t>
            </a:r>
            <a:r>
              <a:rPr lang="ru-RU" sz="2000">
                <a:solidFill>
                  <a:srgbClr val="352379"/>
                </a:solidFill>
                <a:latin typeface="Montserrat"/>
              </a:rPr>
              <a:t>если </a:t>
            </a:r>
            <a:r>
              <a:rPr lang="en-US" sz="2000">
                <a:solidFill>
                  <a:srgbClr val="352379"/>
                </a:solidFill>
                <a:latin typeface="Montserrat"/>
              </a:rPr>
              <a:t>d + </a:t>
            </a:r>
            <a:r>
              <a:rPr lang="ru-RU" sz="2000">
                <a:solidFill>
                  <a:srgbClr val="352379"/>
                </a:solidFill>
                <a:latin typeface="Montserrat"/>
              </a:rPr>
              <a:t>вес &lt; </a:t>
            </a:r>
            <a:r>
              <a:rPr lang="en-US" sz="2000">
                <a:solidFill>
                  <a:srgbClr val="352379"/>
                </a:solidFill>
                <a:latin typeface="Montserrat"/>
              </a:rPr>
              <a:t>dist[v]:</a:t>
            </a:r>
          </a:p>
          <a:p>
            <a:pPr>
              <a:lnSpc>
                <a:spcPts val="2500"/>
              </a:lnSpc>
            </a:pPr>
            <a:r>
              <a:rPr lang="en-US" sz="2000">
                <a:solidFill>
                  <a:srgbClr val="352379"/>
                </a:solidFill>
                <a:latin typeface="Montserrat"/>
              </a:rPr>
              <a:t>            </a:t>
            </a:r>
            <a:r>
              <a:rPr lang="ru-RU" sz="2000">
                <a:solidFill>
                  <a:srgbClr val="352379"/>
                </a:solidFill>
                <a:latin typeface="Montserrat"/>
              </a:rPr>
              <a:t>обновить </a:t>
            </a:r>
            <a:r>
              <a:rPr lang="en-US" sz="2000">
                <a:solidFill>
                  <a:srgbClr val="352379"/>
                </a:solidFill>
                <a:latin typeface="Montserrat"/>
              </a:rPr>
              <a:t>dist[v] </a:t>
            </a:r>
            <a:r>
              <a:rPr lang="ru-RU" sz="2000">
                <a:solidFill>
                  <a:srgbClr val="352379"/>
                </a:solidFill>
                <a:latin typeface="Montserrat"/>
              </a:rPr>
              <a:t>и </a:t>
            </a:r>
            <a:r>
              <a:rPr lang="en-US" sz="2000">
                <a:solidFill>
                  <a:srgbClr val="352379"/>
                </a:solidFill>
                <a:latin typeface="Montserrat"/>
              </a:rPr>
              <a:t>parent[v]</a:t>
            </a:r>
          </a:p>
          <a:p>
            <a:pPr>
              <a:lnSpc>
                <a:spcPts val="2500"/>
              </a:lnSpc>
            </a:pPr>
            <a:r>
              <a:rPr lang="en-US" sz="2000">
                <a:solidFill>
                  <a:srgbClr val="352379"/>
                </a:solidFill>
                <a:latin typeface="Montserrat"/>
              </a:rPr>
              <a:t>            </a:t>
            </a:r>
            <a:r>
              <a:rPr lang="ru-RU" sz="2000">
                <a:solidFill>
                  <a:srgbClr val="352379"/>
                </a:solidFill>
                <a:latin typeface="Montserrat"/>
              </a:rPr>
              <a:t>добавить (</a:t>
            </a:r>
            <a:r>
              <a:rPr lang="en-US" sz="2000">
                <a:solidFill>
                  <a:srgbClr val="352379"/>
                </a:solidFill>
                <a:latin typeface="Montserrat"/>
              </a:rPr>
              <a:t>dist[v], v) </a:t>
            </a:r>
            <a:r>
              <a:rPr lang="ru-RU" sz="2000">
                <a:solidFill>
                  <a:srgbClr val="352379"/>
                </a:solidFill>
                <a:latin typeface="Montserrat"/>
              </a:rPr>
              <a:t>в </a:t>
            </a:r>
            <a:r>
              <a:rPr lang="en-US" sz="2000">
                <a:solidFill>
                  <a:srgbClr val="352379"/>
                </a:solidFill>
                <a:latin typeface="Montserrat"/>
              </a:rPr>
              <a:t>heap</a:t>
            </a:r>
            <a:endParaRPr lang="ru-RU" sz="2000">
              <a:solidFill>
                <a:srgbClr val="352379"/>
              </a:solidFill>
              <a:latin typeface="Montserrat"/>
            </a:endParaRPr>
          </a:p>
        </p:txBody>
      </p:sp>
    </p:spTree>
    <p:extLst>
      <p:ext uri="{BB962C8B-B14F-4D97-AF65-F5344CB8AC3E}">
        <p14:creationId xmlns:p14="http://schemas.microsoft.com/office/powerpoint/2010/main" val="3046272641"/>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0B12E43-0EF4-4B60-9DEB-AFFCC46123C5}"/>
              </a:ext>
            </a:extLst>
          </p:cNvPr>
          <p:cNvSpPr>
            <a:spLocks noGrp="1"/>
          </p:cNvSpPr>
          <p:nvPr>
            <p:ph type="title"/>
          </p:nvPr>
        </p:nvSpPr>
        <p:spPr>
          <a:xfrm>
            <a:off x="479425" y="597855"/>
            <a:ext cx="11229975" cy="1140459"/>
          </a:xfrm>
        </p:spPr>
        <p:txBody>
          <a:bodyPr/>
          <a:lstStyle/>
          <a:p>
            <a:r>
              <a:rPr lang="en-US"/>
              <a:t>Python: </a:t>
            </a:r>
            <a:r>
              <a:rPr lang="ru-RU"/>
              <a:t>состояние Дейкстры</a:t>
            </a:r>
          </a:p>
        </p:txBody>
      </p:sp>
      <p:sp>
        <p:nvSpPr>
          <p:cNvPr id="7" name="Текст 6">
            <a:extLst>
              <a:ext uri="{FF2B5EF4-FFF2-40B4-BE49-F238E27FC236}">
                <a16:creationId xmlns:a16="http://schemas.microsoft.com/office/drawing/2014/main" id="{8E2B2D04-BB18-4F1A-A87D-14DAFAD77F51}"/>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B9B587C3-BD89-4976-A870-C6167C7DC200}"/>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2CE4C689-B9BA-40D0-994D-CDC20F2C838E}"/>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34</a:t>
            </a:r>
          </a:p>
        </p:txBody>
      </p:sp>
      <p:sp>
        <p:nvSpPr>
          <p:cNvPr id="10" name="bottom-band">
            <a:extLst>
              <a:ext uri="{FF2B5EF4-FFF2-40B4-BE49-F238E27FC236}">
                <a16:creationId xmlns:a16="http://schemas.microsoft.com/office/drawing/2014/main" id="{CEAA4958-BA64-422E-A22E-03D6EB5F1BB3}"/>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123EF1AD-0258-4BF9-B1E2-BBC5A66689A2}"/>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Начало функции. Цикл на следующем слайде остаётся внутри неё.</a:t>
            </a:r>
          </a:p>
        </p:txBody>
      </p:sp>
      <p:sp>
        <p:nvSpPr>
          <p:cNvPr id="12" name="code-background">
            <a:extLst>
              <a:ext uri="{FF2B5EF4-FFF2-40B4-BE49-F238E27FC236}">
                <a16:creationId xmlns:a16="http://schemas.microsoft.com/office/drawing/2014/main" id="{567DC739-E8E9-49E7-9C2C-3429707960BC}"/>
              </a:ext>
            </a:extLst>
          </p:cNvPr>
          <p:cNvSpPr/>
          <p:nvPr/>
        </p:nvSpPr>
        <p:spPr>
          <a:xfrm>
            <a:off x="609600" y="1676400"/>
            <a:ext cx="7937500" cy="40259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code-listing">
            <a:extLst>
              <a:ext uri="{FF2B5EF4-FFF2-40B4-BE49-F238E27FC236}">
                <a16:creationId xmlns:a16="http://schemas.microsoft.com/office/drawing/2014/main" id="{87D4F6F7-0A15-448C-AA3C-0EA516343646}"/>
              </a:ext>
            </a:extLst>
          </p:cNvPr>
          <p:cNvSpPr txBox="1"/>
          <p:nvPr/>
        </p:nvSpPr>
        <p:spPr bwMode="auto">
          <a:xfrm>
            <a:off x="812800" y="1854199"/>
            <a:ext cx="7581900" cy="3746500"/>
          </a:xfrm>
          <a:prstGeom prst="rect">
            <a:avLst/>
          </a:prstGeom>
        </p:spPr>
        <p:txBody>
          <a:bodyPr vert="horz" wrap="square" lIns="0" tIns="0" rIns="0" bIns="0" rtlCol="0">
            <a:noAutofit/>
          </a:bodyPr>
          <a:lstStyle/>
          <a:p>
            <a:pPr>
              <a:lnSpc>
                <a:spcPts val="2500"/>
              </a:lnSpc>
            </a:pPr>
            <a:r>
              <a:rPr lang="en-US" sz="2000">
                <a:solidFill>
                  <a:srgbClr val="352379"/>
                </a:solidFill>
                <a:latin typeface="Montserrat"/>
              </a:rPr>
              <a:t>import heapq</a:t>
            </a:r>
          </a:p>
          <a:p>
            <a:pPr>
              <a:lnSpc>
                <a:spcPts val="2500"/>
              </a:lnSpc>
            </a:pPr>
            <a:endParaRPr lang="en-US" sz="2000">
              <a:solidFill>
                <a:srgbClr val="352379"/>
              </a:solidFill>
              <a:latin typeface="Montserrat"/>
            </a:endParaRPr>
          </a:p>
          <a:p>
            <a:pPr>
              <a:lnSpc>
                <a:spcPts val="2500"/>
              </a:lnSpc>
            </a:pPr>
            <a:r>
              <a:rPr lang="en-US" sz="2000">
                <a:solidFill>
                  <a:srgbClr val="352379"/>
                </a:solidFill>
                <a:latin typeface="Montserrat"/>
              </a:rPr>
              <a:t>def dijkstra(graph, start):</a:t>
            </a:r>
          </a:p>
          <a:p>
            <a:pPr>
              <a:lnSpc>
                <a:spcPts val="2500"/>
              </a:lnSpc>
            </a:pPr>
            <a:r>
              <a:rPr lang="en-US" sz="2000">
                <a:solidFill>
                  <a:srgbClr val="352379"/>
                </a:solidFill>
                <a:latin typeface="Montserrat"/>
              </a:rPr>
              <a:t>    dist = {v: float("inf") for v in graph}</a:t>
            </a:r>
          </a:p>
          <a:p>
            <a:pPr>
              <a:lnSpc>
                <a:spcPts val="2500"/>
              </a:lnSpc>
            </a:pPr>
            <a:r>
              <a:rPr lang="en-US" sz="2000">
                <a:solidFill>
                  <a:srgbClr val="352379"/>
                </a:solidFill>
                <a:latin typeface="Montserrat"/>
              </a:rPr>
              <a:t>    parent = {v: None for v in graph}</a:t>
            </a:r>
          </a:p>
          <a:p>
            <a:pPr>
              <a:lnSpc>
                <a:spcPts val="2500"/>
              </a:lnSpc>
            </a:pPr>
            <a:r>
              <a:rPr lang="en-US" sz="2000">
                <a:solidFill>
                  <a:srgbClr val="352379"/>
                </a:solidFill>
                <a:latin typeface="Montserrat"/>
              </a:rPr>
              <a:t>    dist[start] = 0</a:t>
            </a:r>
          </a:p>
          <a:p>
            <a:pPr>
              <a:lnSpc>
                <a:spcPts val="2500"/>
              </a:lnSpc>
            </a:pPr>
            <a:r>
              <a:rPr lang="en-US" sz="2000">
                <a:solidFill>
                  <a:srgbClr val="352379"/>
                </a:solidFill>
                <a:latin typeface="Montserrat"/>
              </a:rPr>
              <a:t>    heap = [(0, start)]</a:t>
            </a:r>
            <a:endParaRPr lang="ru-RU" sz="2000">
              <a:solidFill>
                <a:srgbClr val="352379"/>
              </a:solidFill>
              <a:latin typeface="Montserrat"/>
            </a:endParaRPr>
          </a:p>
        </p:txBody>
      </p:sp>
      <p:sp>
        <p:nvSpPr>
          <p:cNvPr id="14" name="code-comment-body">
            <a:extLst>
              <a:ext uri="{FF2B5EF4-FFF2-40B4-BE49-F238E27FC236}">
                <a16:creationId xmlns:a16="http://schemas.microsoft.com/office/drawing/2014/main" id="{D7D57D05-4CDB-40CB-A8E2-D9C8DE8B47E7}"/>
              </a:ext>
            </a:extLst>
          </p:cNvPr>
          <p:cNvSpPr/>
          <p:nvPr/>
        </p:nvSpPr>
        <p:spPr>
          <a:xfrm>
            <a:off x="8801100" y="1816100"/>
            <a:ext cx="2908300" cy="36576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code-comment-head">
            <a:extLst>
              <a:ext uri="{FF2B5EF4-FFF2-40B4-BE49-F238E27FC236}">
                <a16:creationId xmlns:a16="http://schemas.microsoft.com/office/drawing/2014/main" id="{3A1B812D-05AF-41AD-95E0-6EFD74F28432}"/>
              </a:ext>
            </a:extLst>
          </p:cNvPr>
          <p:cNvSpPr/>
          <p:nvPr/>
        </p:nvSpPr>
        <p:spPr>
          <a:xfrm>
            <a:off x="8801100" y="1816100"/>
            <a:ext cx="29083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code-comment-heading">
            <a:extLst>
              <a:ext uri="{FF2B5EF4-FFF2-40B4-BE49-F238E27FC236}">
                <a16:creationId xmlns:a16="http://schemas.microsoft.com/office/drawing/2014/main" id="{1CCF1B34-5E8A-4725-A6AD-17E247A1B733}"/>
              </a:ext>
            </a:extLst>
          </p:cNvPr>
          <p:cNvSpPr txBox="1"/>
          <p:nvPr/>
        </p:nvSpPr>
        <p:spPr bwMode="auto">
          <a:xfrm>
            <a:off x="8991600" y="1930399"/>
            <a:ext cx="2527300" cy="381000"/>
          </a:xfrm>
          <a:prstGeom prst="rect">
            <a:avLst/>
          </a:prstGeom>
        </p:spPr>
        <p:txBody>
          <a:bodyPr vert="horz" wrap="square" lIns="0" tIns="0" rIns="0" bIns="0" rtlCol="0">
            <a:noAutofit/>
          </a:bodyPr>
          <a:lstStyle/>
          <a:p>
            <a:r>
              <a:rPr lang="ru-RU" sz="2100">
                <a:solidFill>
                  <a:srgbClr val="FFFFFF"/>
                </a:solidFill>
                <a:latin typeface="Montserrat"/>
              </a:rPr>
              <a:t>Как читать</a:t>
            </a:r>
          </a:p>
        </p:txBody>
      </p:sp>
      <p:sp>
        <p:nvSpPr>
          <p:cNvPr id="17" name="code-comment-text">
            <a:extLst>
              <a:ext uri="{FF2B5EF4-FFF2-40B4-BE49-F238E27FC236}">
                <a16:creationId xmlns:a16="http://schemas.microsoft.com/office/drawing/2014/main" id="{0629DA8C-82F1-49D7-852F-8F667D6F3310}"/>
              </a:ext>
            </a:extLst>
          </p:cNvPr>
          <p:cNvSpPr txBox="1"/>
          <p:nvPr/>
        </p:nvSpPr>
        <p:spPr bwMode="auto">
          <a:xfrm>
            <a:off x="9017000" y="2641599"/>
            <a:ext cx="2476500" cy="2692400"/>
          </a:xfrm>
          <a:prstGeom prst="rect">
            <a:avLst/>
          </a:prstGeom>
        </p:spPr>
        <p:txBody>
          <a:bodyPr vert="horz" wrap="square" lIns="0" tIns="0" rIns="0" bIns="0" rtlCol="0">
            <a:noAutofit/>
          </a:bodyPr>
          <a:lstStyle/>
          <a:p>
            <a:r>
              <a:rPr lang="ru-RU" sz="1900">
                <a:solidFill>
                  <a:srgbClr val="352379"/>
                </a:solidFill>
                <a:latin typeface="Montserrat"/>
              </a:rPr>
              <a:t>graph[u] = [(v, weight), ...]</a:t>
            </a:r>
          </a:p>
          <a:p>
            <a:endParaRPr lang="ru-RU" sz="1900">
              <a:solidFill>
                <a:srgbClr val="352379"/>
              </a:solidFill>
              <a:latin typeface="Montserrat"/>
            </a:endParaRPr>
          </a:p>
          <a:p>
            <a:r>
              <a:rPr lang="ru-RU" sz="1900">
                <a:solidFill>
                  <a:srgbClr val="352379"/>
                </a:solidFill>
                <a:latin typeface="Montserrat"/>
              </a:rPr>
              <a:t>В graph есть все вершины,</a:t>
            </a:r>
          </a:p>
          <a:p>
            <a:r>
              <a:rPr lang="ru-RU" sz="1900">
                <a:solidFill>
                  <a:srgbClr val="352379"/>
                </a:solidFill>
                <a:latin typeface="Montserrat"/>
              </a:rPr>
              <a:t>включая вершины без исходящих рёбер.</a:t>
            </a:r>
          </a:p>
        </p:txBody>
      </p:sp>
    </p:spTree>
    <p:extLst>
      <p:ext uri="{BB962C8B-B14F-4D97-AF65-F5344CB8AC3E}">
        <p14:creationId xmlns:p14="http://schemas.microsoft.com/office/powerpoint/2010/main" val="1932813471"/>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91FDC4-088F-451A-BBE8-40D1BFDECAE9}"/>
              </a:ext>
            </a:extLst>
          </p:cNvPr>
          <p:cNvSpPr>
            <a:spLocks noGrp="1"/>
          </p:cNvSpPr>
          <p:nvPr>
            <p:ph type="title"/>
          </p:nvPr>
        </p:nvSpPr>
        <p:spPr>
          <a:xfrm>
            <a:off x="479425" y="597855"/>
            <a:ext cx="11229975" cy="1140459"/>
          </a:xfrm>
        </p:spPr>
        <p:txBody>
          <a:bodyPr/>
          <a:lstStyle/>
          <a:p>
            <a:r>
              <a:rPr lang="en-US"/>
              <a:t>Python: </a:t>
            </a:r>
            <a:r>
              <a:rPr lang="ru-RU"/>
              <a:t>извлечение и релаксация</a:t>
            </a:r>
          </a:p>
        </p:txBody>
      </p:sp>
      <p:sp>
        <p:nvSpPr>
          <p:cNvPr id="7" name="Текст 6">
            <a:extLst>
              <a:ext uri="{FF2B5EF4-FFF2-40B4-BE49-F238E27FC236}">
                <a16:creationId xmlns:a16="http://schemas.microsoft.com/office/drawing/2014/main" id="{3BC6D6E2-A143-41B9-9831-515CB0225455}"/>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B2AD6734-FD30-4FA6-B039-C74A9E019E4B}"/>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A33F259A-A9D2-4286-91EB-8AB14D564D92}"/>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35</a:t>
            </a:r>
          </a:p>
        </p:txBody>
      </p:sp>
      <p:sp>
        <p:nvSpPr>
          <p:cNvPr id="10" name="bottom-band">
            <a:extLst>
              <a:ext uri="{FF2B5EF4-FFF2-40B4-BE49-F238E27FC236}">
                <a16:creationId xmlns:a16="http://schemas.microsoft.com/office/drawing/2014/main" id="{E349748F-8F24-48EB-958D-D3F32B2D33D8}"/>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932BF5A7-0774-4A6A-859F-B6E1DA3DCB06}"/>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Продолжение dijkstra(): pop → проверка → релаксация → push</a:t>
            </a:r>
          </a:p>
        </p:txBody>
      </p:sp>
      <p:sp>
        <p:nvSpPr>
          <p:cNvPr id="12" name="code-background">
            <a:extLst>
              <a:ext uri="{FF2B5EF4-FFF2-40B4-BE49-F238E27FC236}">
                <a16:creationId xmlns:a16="http://schemas.microsoft.com/office/drawing/2014/main" id="{9C716AF6-60DA-4A12-8833-9EDE084D4916}"/>
              </a:ext>
            </a:extLst>
          </p:cNvPr>
          <p:cNvSpPr/>
          <p:nvPr/>
        </p:nvSpPr>
        <p:spPr>
          <a:xfrm>
            <a:off x="609600" y="1676400"/>
            <a:ext cx="10795000" cy="40259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code-listing">
            <a:extLst>
              <a:ext uri="{FF2B5EF4-FFF2-40B4-BE49-F238E27FC236}">
                <a16:creationId xmlns:a16="http://schemas.microsoft.com/office/drawing/2014/main" id="{C1C46ACB-8E60-414B-9B53-FB5A730D9637}"/>
              </a:ext>
            </a:extLst>
          </p:cNvPr>
          <p:cNvSpPr txBox="1"/>
          <p:nvPr/>
        </p:nvSpPr>
        <p:spPr bwMode="auto">
          <a:xfrm>
            <a:off x="812800" y="1854199"/>
            <a:ext cx="10439400" cy="3746500"/>
          </a:xfrm>
          <a:prstGeom prst="rect">
            <a:avLst/>
          </a:prstGeom>
        </p:spPr>
        <p:txBody>
          <a:bodyPr vert="horz" wrap="square" lIns="0" tIns="0" rIns="0" bIns="0" rtlCol="0">
            <a:noAutofit/>
          </a:bodyPr>
          <a:lstStyle/>
          <a:p>
            <a:pPr>
              <a:lnSpc>
                <a:spcPts val="2500"/>
              </a:lnSpc>
            </a:pPr>
            <a:r>
              <a:rPr lang="en-US" sz="2000">
                <a:solidFill>
                  <a:srgbClr val="352379"/>
                </a:solidFill>
                <a:latin typeface="Montserrat"/>
              </a:rPr>
              <a:t>    while heap:</a:t>
            </a:r>
          </a:p>
          <a:p>
            <a:pPr>
              <a:lnSpc>
                <a:spcPts val="2500"/>
              </a:lnSpc>
            </a:pPr>
            <a:r>
              <a:rPr lang="en-US" sz="2000">
                <a:solidFill>
                  <a:srgbClr val="352379"/>
                </a:solidFill>
                <a:latin typeface="Montserrat"/>
              </a:rPr>
              <a:t>        current_dist, u = heapq.heappop(heap)</a:t>
            </a:r>
          </a:p>
          <a:p>
            <a:pPr>
              <a:lnSpc>
                <a:spcPts val="2500"/>
              </a:lnSpc>
            </a:pPr>
            <a:r>
              <a:rPr lang="en-US" sz="2000">
                <a:solidFill>
                  <a:srgbClr val="352379"/>
                </a:solidFill>
                <a:latin typeface="Montserrat"/>
              </a:rPr>
              <a:t>        if current_dist &gt; dist[u]:</a:t>
            </a:r>
          </a:p>
          <a:p>
            <a:pPr>
              <a:lnSpc>
                <a:spcPts val="2500"/>
              </a:lnSpc>
            </a:pPr>
            <a:r>
              <a:rPr lang="en-US" sz="2000">
                <a:solidFill>
                  <a:srgbClr val="352379"/>
                </a:solidFill>
                <a:latin typeface="Montserrat"/>
              </a:rPr>
              <a:t>            continue</a:t>
            </a:r>
          </a:p>
          <a:p>
            <a:pPr>
              <a:lnSpc>
                <a:spcPts val="2500"/>
              </a:lnSpc>
            </a:pPr>
            <a:r>
              <a:rPr lang="en-US" sz="2000">
                <a:solidFill>
                  <a:srgbClr val="352379"/>
                </a:solidFill>
                <a:latin typeface="Montserrat"/>
              </a:rPr>
              <a:t>        for v, weight in graph[u]:</a:t>
            </a:r>
          </a:p>
          <a:p>
            <a:pPr>
              <a:lnSpc>
                <a:spcPts val="2500"/>
              </a:lnSpc>
            </a:pPr>
            <a:r>
              <a:rPr lang="en-US" sz="2000">
                <a:solidFill>
                  <a:srgbClr val="352379"/>
                </a:solidFill>
                <a:latin typeface="Montserrat"/>
              </a:rPr>
              <a:t>            candidate = current_dist + weight</a:t>
            </a:r>
          </a:p>
          <a:p>
            <a:pPr>
              <a:lnSpc>
                <a:spcPts val="2500"/>
              </a:lnSpc>
            </a:pPr>
            <a:r>
              <a:rPr lang="en-US" sz="2000">
                <a:solidFill>
                  <a:srgbClr val="352379"/>
                </a:solidFill>
                <a:latin typeface="Montserrat"/>
              </a:rPr>
              <a:t>            if candidate &lt; dist[v]:</a:t>
            </a:r>
          </a:p>
          <a:p>
            <a:pPr>
              <a:lnSpc>
                <a:spcPts val="2500"/>
              </a:lnSpc>
            </a:pPr>
            <a:r>
              <a:rPr lang="en-US" sz="2000">
                <a:solidFill>
                  <a:srgbClr val="352379"/>
                </a:solidFill>
                <a:latin typeface="Montserrat"/>
              </a:rPr>
              <a:t>                dist[v] = candidate</a:t>
            </a:r>
          </a:p>
          <a:p>
            <a:pPr>
              <a:lnSpc>
                <a:spcPts val="2500"/>
              </a:lnSpc>
            </a:pPr>
            <a:r>
              <a:rPr lang="en-US" sz="2000">
                <a:solidFill>
                  <a:srgbClr val="352379"/>
                </a:solidFill>
                <a:latin typeface="Montserrat"/>
              </a:rPr>
              <a:t>                parent[v] = u</a:t>
            </a:r>
          </a:p>
          <a:p>
            <a:pPr>
              <a:lnSpc>
                <a:spcPts val="2500"/>
              </a:lnSpc>
            </a:pPr>
            <a:r>
              <a:rPr lang="en-US" sz="2000">
                <a:solidFill>
                  <a:srgbClr val="352379"/>
                </a:solidFill>
                <a:latin typeface="Montserrat"/>
              </a:rPr>
              <a:t>                heapq.heappush(heap, (candidate, v))</a:t>
            </a:r>
          </a:p>
          <a:p>
            <a:pPr>
              <a:lnSpc>
                <a:spcPts val="2500"/>
              </a:lnSpc>
            </a:pPr>
            <a:r>
              <a:rPr lang="en-US" sz="2000">
                <a:solidFill>
                  <a:srgbClr val="352379"/>
                </a:solidFill>
                <a:latin typeface="Montserrat"/>
              </a:rPr>
              <a:t>    return dist, parent</a:t>
            </a:r>
            <a:endParaRPr lang="ru-RU" sz="2000">
              <a:solidFill>
                <a:srgbClr val="352379"/>
              </a:solidFill>
              <a:latin typeface="Montserrat"/>
            </a:endParaRPr>
          </a:p>
        </p:txBody>
      </p:sp>
      <p:sp>
        <p:nvSpPr>
          <p:cNvPr id="14" name="code-explanation">
            <a:extLst>
              <a:ext uri="{FF2B5EF4-FFF2-40B4-BE49-F238E27FC236}">
                <a16:creationId xmlns:a16="http://schemas.microsoft.com/office/drawing/2014/main" id="{13C2D00C-D701-4D59-8CDC-5C37078A18D0}"/>
              </a:ext>
            </a:extLst>
          </p:cNvPr>
          <p:cNvSpPr txBox="1"/>
          <p:nvPr/>
        </p:nvSpPr>
        <p:spPr bwMode="auto">
          <a:xfrm>
            <a:off x="812800" y="5384799"/>
            <a:ext cx="10541000" cy="317500"/>
          </a:xfrm>
          <a:prstGeom prst="rect">
            <a:avLst/>
          </a:prstGeom>
        </p:spPr>
        <p:txBody>
          <a:bodyPr vert="horz" wrap="square" lIns="0" tIns="0" rIns="0" bIns="0" rtlCol="0">
            <a:noAutofit/>
          </a:bodyPr>
          <a:lstStyle/>
          <a:p>
            <a:r>
              <a:rPr lang="ru-RU" sz="1600">
                <a:solidFill>
                  <a:srgbClr val="352379"/>
                </a:solidFill>
                <a:latin typeface="Montserrat"/>
              </a:rPr>
              <a:t>pop: выбрать минимум     relax: улучшить оценку     push: вернуть в очередь</a:t>
            </a:r>
          </a:p>
        </p:txBody>
      </p:sp>
    </p:spTree>
    <p:extLst>
      <p:ext uri="{BB962C8B-B14F-4D97-AF65-F5344CB8AC3E}">
        <p14:creationId xmlns:p14="http://schemas.microsoft.com/office/powerpoint/2010/main" val="3174863828"/>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656682-1F12-4316-96FA-9C3CE890E466}"/>
              </a:ext>
            </a:extLst>
          </p:cNvPr>
          <p:cNvSpPr>
            <a:spLocks noGrp="1"/>
          </p:cNvSpPr>
          <p:nvPr>
            <p:ph type="title"/>
          </p:nvPr>
        </p:nvSpPr>
        <p:spPr>
          <a:xfrm>
            <a:off x="479425" y="597855"/>
            <a:ext cx="11229975" cy="1140459"/>
          </a:xfrm>
        </p:spPr>
        <p:txBody>
          <a:bodyPr/>
          <a:lstStyle/>
          <a:p>
            <a:r>
              <a:rPr lang="ru-RU"/>
              <a:t>Сложность Дейкстры</a:t>
            </a:r>
          </a:p>
        </p:txBody>
      </p:sp>
      <p:sp>
        <p:nvSpPr>
          <p:cNvPr id="7" name="Текст 6">
            <a:extLst>
              <a:ext uri="{FF2B5EF4-FFF2-40B4-BE49-F238E27FC236}">
                <a16:creationId xmlns:a16="http://schemas.microsoft.com/office/drawing/2014/main" id="{EB4DE435-BD38-4471-9B74-7D3880FDBA89}"/>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E7EFB72A-92D1-4C83-B9C7-0CCA187F2D72}"/>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C551D633-1D12-4CC0-BF36-023013FC5788}"/>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36</a:t>
            </a:r>
          </a:p>
        </p:txBody>
      </p:sp>
      <p:sp>
        <p:nvSpPr>
          <p:cNvPr id="10" name="bottom-band">
            <a:extLst>
              <a:ext uri="{FF2B5EF4-FFF2-40B4-BE49-F238E27FC236}">
                <a16:creationId xmlns:a16="http://schemas.microsoft.com/office/drawing/2014/main" id="{50C00008-5AD9-45F0-9A69-953C209AD218}"/>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2DE33EDA-D3D5-439F-87E9-8B8A2E1478A3}"/>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У </a:t>
            </a:r>
            <a:r>
              <a:rPr lang="en-US" sz="2000">
                <a:solidFill>
                  <a:srgbClr val="FFFFFF"/>
                </a:solidFill>
                <a:latin typeface="Montserrat"/>
              </a:rPr>
              <a:t>lazy heap </a:t>
            </a:r>
            <a:r>
              <a:rPr lang="ru-RU" sz="2000">
                <a:solidFill>
                  <a:srgbClr val="FFFFFF"/>
                </a:solidFill>
                <a:latin typeface="Montserrat"/>
              </a:rPr>
              <a:t>точнее </a:t>
            </a:r>
            <a:r>
              <a:rPr lang="en-US" sz="2000">
                <a:solidFill>
                  <a:srgbClr val="FFFFFF"/>
                </a:solidFill>
                <a:latin typeface="Montserrat"/>
              </a:rPr>
              <a:t>O(V + E log(E + 1)), </a:t>
            </a:r>
            <a:r>
              <a:rPr lang="ru-RU" sz="2000">
                <a:solidFill>
                  <a:srgbClr val="FFFFFF"/>
                </a:solidFill>
                <a:latin typeface="Montserrat"/>
              </a:rPr>
              <a:t>для простого графа </a:t>
            </a:r>
            <a:r>
              <a:rPr lang="en-US" sz="2000">
                <a:solidFill>
                  <a:srgbClr val="FFFFFF"/>
                </a:solidFill>
                <a:latin typeface="Montserrat"/>
              </a:rPr>
              <a:t>log E = O(log V)</a:t>
            </a:r>
            <a:endParaRPr lang="ru-RU" sz="2000">
              <a:solidFill>
                <a:srgbClr val="FFFFFF"/>
              </a:solidFill>
              <a:latin typeface="Montserrat"/>
            </a:endParaRPr>
          </a:p>
        </p:txBody>
      </p:sp>
      <p:sp>
        <p:nvSpPr>
          <p:cNvPr id="12" name="left-body">
            <a:extLst>
              <a:ext uri="{FF2B5EF4-FFF2-40B4-BE49-F238E27FC236}">
                <a16:creationId xmlns:a16="http://schemas.microsoft.com/office/drawing/2014/main" id="{1B9FBB77-5042-41CC-97CE-24800E1B431C}"/>
              </a:ext>
            </a:extLst>
          </p:cNvPr>
          <p:cNvSpPr/>
          <p:nvPr/>
        </p:nvSpPr>
        <p:spPr>
          <a:xfrm>
            <a:off x="698500" y="1816100"/>
            <a:ext cx="5207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left-head">
            <a:extLst>
              <a:ext uri="{FF2B5EF4-FFF2-40B4-BE49-F238E27FC236}">
                <a16:creationId xmlns:a16="http://schemas.microsoft.com/office/drawing/2014/main" id="{EDBFCA8F-9C4F-4D24-A5E2-B9F55BCE9BFD}"/>
              </a:ext>
            </a:extLst>
          </p:cNvPr>
          <p:cNvSpPr/>
          <p:nvPr/>
        </p:nvSpPr>
        <p:spPr>
          <a:xfrm>
            <a:off x="6985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left-heading">
            <a:extLst>
              <a:ext uri="{FF2B5EF4-FFF2-40B4-BE49-F238E27FC236}">
                <a16:creationId xmlns:a16="http://schemas.microsoft.com/office/drawing/2014/main" id="{CCFAB048-E76A-4A59-9C8D-A26C1F524D6C}"/>
              </a:ext>
            </a:extLst>
          </p:cNvPr>
          <p:cNvSpPr txBox="1"/>
          <p:nvPr/>
        </p:nvSpPr>
        <p:spPr bwMode="auto">
          <a:xfrm>
            <a:off x="8890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Список смежности + </a:t>
            </a:r>
            <a:r>
              <a:rPr lang="en-US" sz="2100">
                <a:solidFill>
                  <a:srgbClr val="FFFFFF"/>
                </a:solidFill>
                <a:latin typeface="Montserrat"/>
              </a:rPr>
              <a:t>heap</a:t>
            </a:r>
            <a:endParaRPr lang="ru-RU" sz="2100">
              <a:solidFill>
                <a:srgbClr val="FFFFFF"/>
              </a:solidFill>
              <a:latin typeface="Montserrat"/>
            </a:endParaRPr>
          </a:p>
        </p:txBody>
      </p:sp>
      <p:sp>
        <p:nvSpPr>
          <p:cNvPr id="15" name="left-text">
            <a:extLst>
              <a:ext uri="{FF2B5EF4-FFF2-40B4-BE49-F238E27FC236}">
                <a16:creationId xmlns:a16="http://schemas.microsoft.com/office/drawing/2014/main" id="{F95B7286-0EF5-44C5-AE6A-66AB232A15EF}"/>
              </a:ext>
            </a:extLst>
          </p:cNvPr>
          <p:cNvSpPr txBox="1"/>
          <p:nvPr/>
        </p:nvSpPr>
        <p:spPr bwMode="auto">
          <a:xfrm>
            <a:off x="914400" y="2641599"/>
            <a:ext cx="4775200" cy="2717800"/>
          </a:xfrm>
          <a:prstGeom prst="rect">
            <a:avLst/>
          </a:prstGeom>
        </p:spPr>
        <p:txBody>
          <a:bodyPr vert="horz" wrap="square" lIns="0" tIns="0" rIns="0" bIns="0" rtlCol="0">
            <a:noAutofit/>
          </a:bodyPr>
          <a:lstStyle/>
          <a:p>
            <a:r>
              <a:rPr lang="ru-RU" sz="2300">
                <a:solidFill>
                  <a:srgbClr val="352379"/>
                </a:solidFill>
                <a:latin typeface="Montserrat"/>
              </a:rPr>
              <a:t>O((V + E) log V)</a:t>
            </a:r>
          </a:p>
          <a:p>
            <a:endParaRPr lang="ru-RU" sz="2300">
              <a:solidFill>
                <a:srgbClr val="352379"/>
              </a:solidFill>
              <a:latin typeface="Montserrat"/>
            </a:endParaRPr>
          </a:p>
          <a:p>
            <a:r>
              <a:rPr lang="ru-RU" sz="2300">
                <a:solidFill>
                  <a:srgbClr val="352379"/>
                </a:solidFill>
                <a:latin typeface="Montserrat"/>
              </a:rPr>
              <a:t>O(E) просмотров рёбер</a:t>
            </a:r>
          </a:p>
          <a:p>
            <a:r>
              <a:rPr lang="ru-RU" sz="2300">
                <a:solidFill>
                  <a:srgbClr val="352379"/>
                </a:solidFill>
                <a:latin typeface="Montserrat"/>
              </a:rPr>
              <a:t>O(E) вставок кандидатов</a:t>
            </a:r>
          </a:p>
          <a:p>
            <a:r>
              <a:rPr lang="ru-RU" sz="2300">
                <a:solidFill>
                  <a:srgbClr val="352379"/>
                </a:solidFill>
                <a:latin typeface="Montserrat"/>
              </a:rPr>
              <a:t>Каждая операция кучи даёт log</a:t>
            </a:r>
          </a:p>
        </p:txBody>
      </p:sp>
      <p:sp>
        <p:nvSpPr>
          <p:cNvPr id="16" name="right-body">
            <a:extLst>
              <a:ext uri="{FF2B5EF4-FFF2-40B4-BE49-F238E27FC236}">
                <a16:creationId xmlns:a16="http://schemas.microsoft.com/office/drawing/2014/main" id="{B0FAEBD3-3C98-4489-B0E2-985FDF38D611}"/>
              </a:ext>
            </a:extLst>
          </p:cNvPr>
          <p:cNvSpPr/>
          <p:nvPr/>
        </p:nvSpPr>
        <p:spPr>
          <a:xfrm>
            <a:off x="6477000" y="1816100"/>
            <a:ext cx="5207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right-head">
            <a:extLst>
              <a:ext uri="{FF2B5EF4-FFF2-40B4-BE49-F238E27FC236}">
                <a16:creationId xmlns:a16="http://schemas.microsoft.com/office/drawing/2014/main" id="{63EDAC9B-DE4E-4172-A443-B500BE2A790F}"/>
              </a:ext>
            </a:extLst>
          </p:cNvPr>
          <p:cNvSpPr/>
          <p:nvPr/>
        </p:nvSpPr>
        <p:spPr>
          <a:xfrm>
            <a:off x="64770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right-heading">
            <a:extLst>
              <a:ext uri="{FF2B5EF4-FFF2-40B4-BE49-F238E27FC236}">
                <a16:creationId xmlns:a16="http://schemas.microsoft.com/office/drawing/2014/main" id="{3DB9AA0A-A3F4-4788-B380-D17C4B5393C1}"/>
              </a:ext>
            </a:extLst>
          </p:cNvPr>
          <p:cNvSpPr txBox="1"/>
          <p:nvPr/>
        </p:nvSpPr>
        <p:spPr bwMode="auto">
          <a:xfrm>
            <a:off x="66675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Память</a:t>
            </a:r>
          </a:p>
        </p:txBody>
      </p:sp>
      <p:sp>
        <p:nvSpPr>
          <p:cNvPr id="19" name="right-text">
            <a:extLst>
              <a:ext uri="{FF2B5EF4-FFF2-40B4-BE49-F238E27FC236}">
                <a16:creationId xmlns:a16="http://schemas.microsoft.com/office/drawing/2014/main" id="{021A8D33-A1FB-4C3C-BDDC-A5BDFA88C94F}"/>
              </a:ext>
            </a:extLst>
          </p:cNvPr>
          <p:cNvSpPr txBox="1"/>
          <p:nvPr/>
        </p:nvSpPr>
        <p:spPr bwMode="auto">
          <a:xfrm>
            <a:off x="6692900" y="2641599"/>
            <a:ext cx="4775200" cy="2717800"/>
          </a:xfrm>
          <a:prstGeom prst="rect">
            <a:avLst/>
          </a:prstGeom>
        </p:spPr>
        <p:txBody>
          <a:bodyPr vert="horz" wrap="square" lIns="0" tIns="0" rIns="0" bIns="0" rtlCol="0">
            <a:noAutofit/>
          </a:bodyPr>
          <a:lstStyle/>
          <a:p>
            <a:r>
              <a:rPr lang="ru-RU" sz="2300">
                <a:solidFill>
                  <a:srgbClr val="352379"/>
                </a:solidFill>
                <a:latin typeface="Montserrat"/>
              </a:rPr>
              <a:t>dist и parent: O(V)</a:t>
            </a:r>
          </a:p>
          <a:p>
            <a:r>
              <a:rPr lang="ru-RU" sz="2300">
                <a:solidFill>
                  <a:srgbClr val="352379"/>
                </a:solidFill>
                <a:latin typeface="Montserrat"/>
              </a:rPr>
              <a:t>Ленивая куча: O(E)</a:t>
            </a:r>
          </a:p>
          <a:p>
            <a:r>
              <a:rPr lang="ru-RU" sz="2300">
                <a:solidFill>
                  <a:srgbClr val="352379"/>
                </a:solidFill>
                <a:latin typeface="Montserrat"/>
              </a:rPr>
              <a:t>Граф: O(V + E)</a:t>
            </a:r>
          </a:p>
          <a:p>
            <a:endParaRPr lang="ru-RU" sz="2300">
              <a:solidFill>
                <a:srgbClr val="352379"/>
              </a:solidFill>
              <a:latin typeface="Montserrat"/>
            </a:endParaRPr>
          </a:p>
          <a:p>
            <a:r>
              <a:rPr lang="ru-RU" sz="2300">
                <a:solidFill>
                  <a:srgbClr val="352379"/>
                </a:solidFill>
                <a:latin typeface="Montserrat"/>
              </a:rPr>
              <a:t>Для связного простого графа часто пишут O(E log V).</a:t>
            </a:r>
          </a:p>
        </p:txBody>
      </p:sp>
    </p:spTree>
    <p:extLst>
      <p:ext uri="{BB962C8B-B14F-4D97-AF65-F5344CB8AC3E}">
        <p14:creationId xmlns:p14="http://schemas.microsoft.com/office/powerpoint/2010/main" val="1042629475"/>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1E4815-1574-496D-AA4B-D8EDC7DA350A}"/>
              </a:ext>
            </a:extLst>
          </p:cNvPr>
          <p:cNvSpPr>
            <a:spLocks noGrp="1"/>
          </p:cNvSpPr>
          <p:nvPr>
            <p:ph type="title"/>
          </p:nvPr>
        </p:nvSpPr>
        <p:spPr>
          <a:xfrm>
            <a:off x="479425" y="597855"/>
            <a:ext cx="11229975" cy="1140459"/>
          </a:xfrm>
        </p:spPr>
        <p:txBody>
          <a:bodyPr/>
          <a:lstStyle/>
          <a:p>
            <a:r>
              <a:rPr lang="en-US"/>
              <a:t>parent </a:t>
            </a:r>
            <a:r>
              <a:rPr lang="ru-RU"/>
              <a:t>хранит маршрут</a:t>
            </a:r>
          </a:p>
        </p:txBody>
      </p:sp>
      <p:sp>
        <p:nvSpPr>
          <p:cNvPr id="7" name="Текст 6">
            <a:extLst>
              <a:ext uri="{FF2B5EF4-FFF2-40B4-BE49-F238E27FC236}">
                <a16:creationId xmlns:a16="http://schemas.microsoft.com/office/drawing/2014/main" id="{B5F16991-64EB-4012-86FC-86B88D9B9123}"/>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1E86AB76-A378-461F-A9CE-4DB27D72AD6B}"/>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32C0D677-E8D2-4CBC-B508-6FBC2C7EA87C}"/>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37</a:t>
            </a:r>
          </a:p>
        </p:txBody>
      </p:sp>
      <p:sp>
        <p:nvSpPr>
          <p:cNvPr id="10" name="bottom-band">
            <a:extLst>
              <a:ext uri="{FF2B5EF4-FFF2-40B4-BE49-F238E27FC236}">
                <a16:creationId xmlns:a16="http://schemas.microsoft.com/office/drawing/2014/main" id="{F4198185-97D3-4F8B-8CE7-9C3C2A4AD6F0}"/>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579611C0-47C2-44D8-A17E-76D15C26FD69}"/>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При успешной релаксации: parent[v] = u</a:t>
            </a:r>
          </a:p>
        </p:txBody>
      </p:sp>
      <p:graphicFrame>
        <p:nvGraphicFramePr>
          <p:cNvPr id="12" name="parent-table">
            <a:extLst>
              <a:ext uri="{FF2B5EF4-FFF2-40B4-BE49-F238E27FC236}">
                <a16:creationId xmlns:a16="http://schemas.microsoft.com/office/drawing/2014/main" id="{CD85D031-7253-4D0F-9BE5-A999319F58C3}"/>
              </a:ext>
            </a:extLst>
          </p:cNvPr>
          <p:cNvGraphicFramePr>
            <a:graphicFrameLocks noGrp="1"/>
          </p:cNvGraphicFramePr>
          <p:nvPr>
            <p:extLst>
              <p:ext uri="{D42A27DB-BD31-4B8C-83A1-F6EECF244321}">
                <p14:modId xmlns:p14="http://schemas.microsoft.com/office/powerpoint/2010/main" val="2418438743"/>
              </p:ext>
            </p:extLst>
          </p:nvPr>
        </p:nvGraphicFramePr>
        <p:xfrm>
          <a:off x="698500" y="1816100"/>
          <a:ext cx="5969001" cy="3657598"/>
        </p:xfrm>
        <a:graphic>
          <a:graphicData uri="http://schemas.openxmlformats.org/drawingml/2006/table">
            <a:tbl>
              <a:tblPr firstRow="1" bandRow="1">
                <a:tableStyleId>{0E3FDE45-AF77-4B5C-9715-49D594BDF05E}</a:tableStyleId>
              </a:tblPr>
              <a:tblGrid>
                <a:gridCol w="1989667">
                  <a:extLst>
                    <a:ext uri="{9D8B030D-6E8A-4147-A177-3AD203B41FA5}">
                      <a16:colId xmlns:a16="http://schemas.microsoft.com/office/drawing/2014/main" val="2167392097"/>
                    </a:ext>
                  </a:extLst>
                </a:gridCol>
                <a:gridCol w="1989667">
                  <a:extLst>
                    <a:ext uri="{9D8B030D-6E8A-4147-A177-3AD203B41FA5}">
                      <a16:colId xmlns:a16="http://schemas.microsoft.com/office/drawing/2014/main" val="1287763317"/>
                    </a:ext>
                  </a:extLst>
                </a:gridCol>
                <a:gridCol w="1989667">
                  <a:extLst>
                    <a:ext uri="{9D8B030D-6E8A-4147-A177-3AD203B41FA5}">
                      <a16:colId xmlns:a16="http://schemas.microsoft.com/office/drawing/2014/main" val="712455714"/>
                    </a:ext>
                  </a:extLst>
                </a:gridCol>
              </a:tblGrid>
              <a:tr h="522514">
                <a:tc>
                  <a:txBody>
                    <a:bodyPr/>
                    <a:lstStyle/>
                    <a:p>
                      <a:pPr algn="ctr"/>
                      <a:r>
                        <a:rPr lang="en-US" sz="2300" b="1">
                          <a:solidFill>
                            <a:srgbClr val="FFFFFF"/>
                          </a:solidFill>
                          <a:latin typeface="Montserrat"/>
                        </a:rPr>
                        <a:t>v</a:t>
                      </a:r>
                      <a:endParaRPr lang="ru-RU" sz="23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300" b="1">
                          <a:solidFill>
                            <a:srgbClr val="FFFFFF"/>
                          </a:solidFill>
                          <a:latin typeface="Montserrat"/>
                        </a:rPr>
                        <a:t>dist</a:t>
                      </a:r>
                      <a:endParaRPr lang="ru-RU" sz="2300" b="1">
                        <a:solidFill>
                          <a:srgbClr val="FFFFFF"/>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300" b="1">
                          <a:solidFill>
                            <a:srgbClr val="FFFFFF"/>
                          </a:solidFill>
                          <a:latin typeface="Montserrat"/>
                        </a:rPr>
                        <a:t>parent</a:t>
                      </a:r>
                      <a:endParaRPr lang="ru-RU" sz="23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3530496920"/>
                  </a:ext>
                </a:extLst>
              </a:tr>
              <a:tr h="522514">
                <a:tc>
                  <a:txBody>
                    <a:bodyPr/>
                    <a:lstStyle/>
                    <a:p>
                      <a:pPr algn="ctr"/>
                      <a:r>
                        <a:rPr lang="en-US" sz="2300" b="0">
                          <a:solidFill>
                            <a:srgbClr val="352379"/>
                          </a:solidFill>
                          <a:latin typeface="Montserrat"/>
                        </a:rPr>
                        <a:t>A</a:t>
                      </a:r>
                      <a:endParaRPr lang="ru-RU" sz="23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300" b="0">
                          <a:solidFill>
                            <a:srgbClr val="352379"/>
                          </a:solidFill>
                          <a:latin typeface="Montserrat"/>
                        </a:rPr>
                        <a:t>0</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3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339230882"/>
                  </a:ext>
                </a:extLst>
              </a:tr>
              <a:tr h="522514">
                <a:tc>
                  <a:txBody>
                    <a:bodyPr/>
                    <a:lstStyle/>
                    <a:p>
                      <a:pPr algn="ctr"/>
                      <a:r>
                        <a:rPr lang="en-US" sz="2300" b="0">
                          <a:solidFill>
                            <a:srgbClr val="352379"/>
                          </a:solidFill>
                          <a:latin typeface="Montserrat"/>
                        </a:rPr>
                        <a:t>B</a:t>
                      </a:r>
                      <a:endParaRPr lang="ru-RU" sz="23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300" b="0">
                          <a:solidFill>
                            <a:srgbClr val="352379"/>
                          </a:solidFill>
                          <a:latin typeface="Montserrat"/>
                        </a:rPr>
                        <a:t>5</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en-US" sz="2300" b="0">
                          <a:solidFill>
                            <a:srgbClr val="352379"/>
                          </a:solidFill>
                          <a:latin typeface="Montserrat"/>
                        </a:rPr>
                        <a:t>C</a:t>
                      </a:r>
                      <a:endParaRPr lang="ru-RU" sz="2300" b="0">
                        <a:solidFill>
                          <a:srgbClr val="352379"/>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414098668"/>
                  </a:ext>
                </a:extLst>
              </a:tr>
              <a:tr h="522514">
                <a:tc>
                  <a:txBody>
                    <a:bodyPr/>
                    <a:lstStyle/>
                    <a:p>
                      <a:pPr algn="ctr"/>
                      <a:r>
                        <a:rPr lang="en-US" sz="2300" b="0">
                          <a:solidFill>
                            <a:srgbClr val="352379"/>
                          </a:solidFill>
                          <a:latin typeface="Montserrat"/>
                        </a:rPr>
                        <a:t>C</a:t>
                      </a:r>
                      <a:endParaRPr lang="ru-RU" sz="23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300" b="0">
                          <a:solidFill>
                            <a:srgbClr val="352379"/>
                          </a:solidFill>
                          <a:latin typeface="Montserrat"/>
                        </a:rPr>
                        <a:t>3</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en-US" sz="2300" b="0">
                          <a:solidFill>
                            <a:srgbClr val="352379"/>
                          </a:solidFill>
                          <a:latin typeface="Montserrat"/>
                        </a:rPr>
                        <a:t>A</a:t>
                      </a:r>
                      <a:endParaRPr lang="ru-RU" sz="2300" b="0">
                        <a:solidFill>
                          <a:srgbClr val="352379"/>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2273408089"/>
                  </a:ext>
                </a:extLst>
              </a:tr>
              <a:tr h="522514">
                <a:tc>
                  <a:txBody>
                    <a:bodyPr/>
                    <a:lstStyle/>
                    <a:p>
                      <a:pPr algn="ctr"/>
                      <a:r>
                        <a:rPr lang="en-US" sz="2300" b="0">
                          <a:solidFill>
                            <a:srgbClr val="352379"/>
                          </a:solidFill>
                          <a:latin typeface="Montserrat"/>
                        </a:rPr>
                        <a:t>D</a:t>
                      </a:r>
                      <a:endParaRPr lang="ru-RU" sz="23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300" b="0">
                          <a:solidFill>
                            <a:srgbClr val="352379"/>
                          </a:solidFill>
                          <a:latin typeface="Montserrat"/>
                        </a:rPr>
                        <a:t>8</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en-US" sz="2300" b="0">
                          <a:solidFill>
                            <a:srgbClr val="352379"/>
                          </a:solidFill>
                          <a:latin typeface="Montserrat"/>
                        </a:rPr>
                        <a:t>C</a:t>
                      </a:r>
                      <a:endParaRPr lang="ru-RU" sz="2300" b="0">
                        <a:solidFill>
                          <a:srgbClr val="352379"/>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4116228376"/>
                  </a:ext>
                </a:extLst>
              </a:tr>
              <a:tr h="522514">
                <a:tc>
                  <a:txBody>
                    <a:bodyPr/>
                    <a:lstStyle/>
                    <a:p>
                      <a:pPr algn="ctr"/>
                      <a:r>
                        <a:rPr lang="en-US" sz="2300" b="0">
                          <a:solidFill>
                            <a:srgbClr val="352379"/>
                          </a:solidFill>
                          <a:latin typeface="Montserrat"/>
                        </a:rPr>
                        <a:t>E</a:t>
                      </a:r>
                      <a:endParaRPr lang="ru-RU" sz="23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300" b="0">
                          <a:solidFill>
                            <a:srgbClr val="352379"/>
                          </a:solidFill>
                          <a:latin typeface="Montserrat"/>
                        </a:rPr>
                        <a:t>9</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en-US" sz="2300" b="0">
                          <a:solidFill>
                            <a:srgbClr val="352379"/>
                          </a:solidFill>
                          <a:latin typeface="Montserrat"/>
                        </a:rPr>
                        <a:t>D</a:t>
                      </a:r>
                      <a:endParaRPr lang="ru-RU" sz="2300" b="0">
                        <a:solidFill>
                          <a:srgbClr val="352379"/>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2967031383"/>
                  </a:ext>
                </a:extLst>
              </a:tr>
              <a:tr h="522514">
                <a:tc>
                  <a:txBody>
                    <a:bodyPr/>
                    <a:lstStyle/>
                    <a:p>
                      <a:pPr algn="ctr"/>
                      <a:r>
                        <a:rPr lang="en-US" sz="2300" b="0">
                          <a:solidFill>
                            <a:srgbClr val="352379"/>
                          </a:solidFill>
                          <a:latin typeface="Montserrat"/>
                        </a:rPr>
                        <a:t>F</a:t>
                      </a:r>
                      <a:endParaRPr lang="ru-RU" sz="23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300" b="0">
                          <a:solidFill>
                            <a:srgbClr val="352379"/>
                          </a:solidFill>
                          <a:latin typeface="Montserrat"/>
                        </a:rPr>
                        <a:t>11</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en-US" sz="2300" b="0">
                          <a:solidFill>
                            <a:srgbClr val="352379"/>
                          </a:solidFill>
                          <a:latin typeface="Montserrat"/>
                        </a:rPr>
                        <a:t>D</a:t>
                      </a:r>
                      <a:endParaRPr lang="ru-RU" sz="2300" b="0">
                        <a:solidFill>
                          <a:srgbClr val="352379"/>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762187238"/>
                  </a:ext>
                </a:extLst>
              </a:tr>
            </a:tbl>
          </a:graphicData>
        </a:graphic>
      </p:graphicFrame>
      <p:sp>
        <p:nvSpPr>
          <p:cNvPr id="13" name="parent-meaning-body">
            <a:extLst>
              <a:ext uri="{FF2B5EF4-FFF2-40B4-BE49-F238E27FC236}">
                <a16:creationId xmlns:a16="http://schemas.microsoft.com/office/drawing/2014/main" id="{FD73BEB7-58C2-40E6-96B9-CF9571401D18}"/>
              </a:ext>
            </a:extLst>
          </p:cNvPr>
          <p:cNvSpPr/>
          <p:nvPr/>
        </p:nvSpPr>
        <p:spPr>
          <a:xfrm>
            <a:off x="7175500" y="1816100"/>
            <a:ext cx="45085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parent-meaning-head">
            <a:extLst>
              <a:ext uri="{FF2B5EF4-FFF2-40B4-BE49-F238E27FC236}">
                <a16:creationId xmlns:a16="http://schemas.microsoft.com/office/drawing/2014/main" id="{94DD4211-51EE-47A6-8D46-FE6CD26CB8E3}"/>
              </a:ext>
            </a:extLst>
          </p:cNvPr>
          <p:cNvSpPr/>
          <p:nvPr/>
        </p:nvSpPr>
        <p:spPr>
          <a:xfrm>
            <a:off x="7175500" y="1816100"/>
            <a:ext cx="45085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parent-meaning-heading">
            <a:extLst>
              <a:ext uri="{FF2B5EF4-FFF2-40B4-BE49-F238E27FC236}">
                <a16:creationId xmlns:a16="http://schemas.microsoft.com/office/drawing/2014/main" id="{FA7176B4-294F-427E-A443-F6A5D26F671D}"/>
              </a:ext>
            </a:extLst>
          </p:cNvPr>
          <p:cNvSpPr txBox="1"/>
          <p:nvPr/>
        </p:nvSpPr>
        <p:spPr bwMode="auto">
          <a:xfrm>
            <a:off x="7366000" y="1930399"/>
            <a:ext cx="4127500" cy="381000"/>
          </a:xfrm>
          <a:prstGeom prst="rect">
            <a:avLst/>
          </a:prstGeom>
        </p:spPr>
        <p:txBody>
          <a:bodyPr vert="horz" wrap="square" lIns="0" tIns="0" rIns="0" bIns="0" rtlCol="0">
            <a:noAutofit/>
          </a:bodyPr>
          <a:lstStyle/>
          <a:p>
            <a:r>
              <a:rPr lang="ru-RU" sz="2100">
                <a:solidFill>
                  <a:srgbClr val="FFFFFF"/>
                </a:solidFill>
                <a:latin typeface="Montserrat"/>
              </a:rPr>
              <a:t>Предшественник</a:t>
            </a:r>
          </a:p>
        </p:txBody>
      </p:sp>
      <p:sp>
        <p:nvSpPr>
          <p:cNvPr id="16" name="parent-meaning-text">
            <a:extLst>
              <a:ext uri="{FF2B5EF4-FFF2-40B4-BE49-F238E27FC236}">
                <a16:creationId xmlns:a16="http://schemas.microsoft.com/office/drawing/2014/main" id="{475782F8-4E4E-4702-9736-F68800A114E9}"/>
              </a:ext>
            </a:extLst>
          </p:cNvPr>
          <p:cNvSpPr txBox="1"/>
          <p:nvPr/>
        </p:nvSpPr>
        <p:spPr bwMode="auto">
          <a:xfrm>
            <a:off x="7391400" y="2641599"/>
            <a:ext cx="4076700" cy="2717800"/>
          </a:xfrm>
          <a:prstGeom prst="rect">
            <a:avLst/>
          </a:prstGeom>
        </p:spPr>
        <p:txBody>
          <a:bodyPr vert="horz" wrap="square" lIns="0" tIns="0" rIns="0" bIns="0" rtlCol="0">
            <a:noAutofit/>
          </a:bodyPr>
          <a:lstStyle/>
          <a:p>
            <a:r>
              <a:rPr lang="ru-RU" sz="2200">
                <a:solidFill>
                  <a:srgbClr val="352379"/>
                </a:solidFill>
                <a:latin typeface="Montserrat"/>
              </a:rPr>
              <a:t>parent[v] — вершина, из которой пришло последнее улучшение dist[v].</a:t>
            </a:r>
          </a:p>
          <a:p>
            <a:endParaRPr lang="ru-RU" sz="2200">
              <a:solidFill>
                <a:srgbClr val="352379"/>
              </a:solidFill>
              <a:latin typeface="Montserrat"/>
            </a:endParaRPr>
          </a:p>
          <a:p>
            <a:r>
              <a:rPr lang="ru-RU" sz="2200">
                <a:solidFill>
                  <a:srgbClr val="352379"/>
                </a:solidFill>
                <a:latin typeface="Montserrat"/>
              </a:rPr>
              <a:t>Из F идём назад:</a:t>
            </a:r>
          </a:p>
          <a:p>
            <a:r>
              <a:rPr lang="ru-RU" sz="2200">
                <a:solidFill>
                  <a:srgbClr val="352379"/>
                </a:solidFill>
                <a:latin typeface="Montserrat"/>
              </a:rPr>
              <a:t>F → D → C → A</a:t>
            </a:r>
          </a:p>
        </p:txBody>
      </p:sp>
    </p:spTree>
    <p:extLst>
      <p:ext uri="{BB962C8B-B14F-4D97-AF65-F5344CB8AC3E}">
        <p14:creationId xmlns:p14="http://schemas.microsoft.com/office/powerpoint/2010/main" val="2456385780"/>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9F5361-997C-457A-8C33-E469D568DEC0}"/>
              </a:ext>
            </a:extLst>
          </p:cNvPr>
          <p:cNvSpPr>
            <a:spLocks noGrp="1"/>
          </p:cNvSpPr>
          <p:nvPr>
            <p:ph type="title"/>
          </p:nvPr>
        </p:nvSpPr>
        <p:spPr>
          <a:xfrm>
            <a:off x="479425" y="597855"/>
            <a:ext cx="11229975" cy="1140459"/>
          </a:xfrm>
        </p:spPr>
        <p:txBody>
          <a:bodyPr/>
          <a:lstStyle/>
          <a:p>
            <a:r>
              <a:rPr lang="en-US"/>
              <a:t>Python: </a:t>
            </a:r>
            <a:r>
              <a:rPr lang="ru-RU"/>
              <a:t>восстановление пути</a:t>
            </a:r>
          </a:p>
        </p:txBody>
      </p:sp>
      <p:sp>
        <p:nvSpPr>
          <p:cNvPr id="7" name="Текст 6">
            <a:extLst>
              <a:ext uri="{FF2B5EF4-FFF2-40B4-BE49-F238E27FC236}">
                <a16:creationId xmlns:a16="http://schemas.microsoft.com/office/drawing/2014/main" id="{67C08A3A-625C-4C8B-84E4-F77328C2663F}"/>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3AEEFCA7-8FDE-4DF1-A7A7-8E39B5649F73}"/>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739B291E-3E15-4A2E-95F2-425D579F0028}"/>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38</a:t>
            </a:r>
          </a:p>
        </p:txBody>
      </p:sp>
      <p:sp>
        <p:nvSpPr>
          <p:cNvPr id="10" name="bottom-band">
            <a:extLst>
              <a:ext uri="{FF2B5EF4-FFF2-40B4-BE49-F238E27FC236}">
                <a16:creationId xmlns:a16="http://schemas.microsoft.com/office/drawing/2014/main" id="{99286967-6976-40D6-82FE-49274C824E64}"/>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76F4F05D-8E73-4C20-8A72-1882B8468CFB}"/>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Идём по предшественникам от цели к источнику, затем разворачиваем</a:t>
            </a:r>
          </a:p>
        </p:txBody>
      </p:sp>
      <p:sp>
        <p:nvSpPr>
          <p:cNvPr id="12" name="code-background">
            <a:extLst>
              <a:ext uri="{FF2B5EF4-FFF2-40B4-BE49-F238E27FC236}">
                <a16:creationId xmlns:a16="http://schemas.microsoft.com/office/drawing/2014/main" id="{5BB5B1EC-509C-41DE-90E6-3ED4FB54A814}"/>
              </a:ext>
            </a:extLst>
          </p:cNvPr>
          <p:cNvSpPr/>
          <p:nvPr/>
        </p:nvSpPr>
        <p:spPr>
          <a:xfrm>
            <a:off x="609600" y="1676400"/>
            <a:ext cx="7937500" cy="40259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code-listing">
            <a:extLst>
              <a:ext uri="{FF2B5EF4-FFF2-40B4-BE49-F238E27FC236}">
                <a16:creationId xmlns:a16="http://schemas.microsoft.com/office/drawing/2014/main" id="{F095BD32-F8A6-4D2E-85EE-F844A7C673F7}"/>
              </a:ext>
            </a:extLst>
          </p:cNvPr>
          <p:cNvSpPr txBox="1"/>
          <p:nvPr/>
        </p:nvSpPr>
        <p:spPr bwMode="auto">
          <a:xfrm>
            <a:off x="812800" y="1854199"/>
            <a:ext cx="7581900" cy="3746500"/>
          </a:xfrm>
          <a:prstGeom prst="rect">
            <a:avLst/>
          </a:prstGeom>
        </p:spPr>
        <p:txBody>
          <a:bodyPr vert="horz" wrap="square" lIns="0" tIns="0" rIns="0" bIns="0" rtlCol="0">
            <a:noAutofit/>
          </a:bodyPr>
          <a:lstStyle/>
          <a:p>
            <a:pPr>
              <a:lnSpc>
                <a:spcPts val="2500"/>
              </a:lnSpc>
            </a:pPr>
            <a:r>
              <a:rPr lang="en-US" sz="2000">
                <a:solidFill>
                  <a:srgbClr val="352379"/>
                </a:solidFill>
                <a:latin typeface="Montserrat"/>
              </a:rPr>
              <a:t>def restore_path(parent, start, target):</a:t>
            </a:r>
          </a:p>
          <a:p>
            <a:pPr>
              <a:lnSpc>
                <a:spcPts val="2500"/>
              </a:lnSpc>
            </a:pPr>
            <a:r>
              <a:rPr lang="en-US" sz="2000">
                <a:solidFill>
                  <a:srgbClr val="352379"/>
                </a:solidFill>
                <a:latin typeface="Montserrat"/>
              </a:rPr>
              <a:t>    path = []</a:t>
            </a:r>
          </a:p>
          <a:p>
            <a:pPr>
              <a:lnSpc>
                <a:spcPts val="2500"/>
              </a:lnSpc>
            </a:pPr>
            <a:r>
              <a:rPr lang="en-US" sz="2000">
                <a:solidFill>
                  <a:srgbClr val="352379"/>
                </a:solidFill>
                <a:latin typeface="Montserrat"/>
              </a:rPr>
              <a:t>    v = target</a:t>
            </a:r>
          </a:p>
          <a:p>
            <a:pPr>
              <a:lnSpc>
                <a:spcPts val="2500"/>
              </a:lnSpc>
            </a:pPr>
            <a:r>
              <a:rPr lang="en-US" sz="2000">
                <a:solidFill>
                  <a:srgbClr val="352379"/>
                </a:solidFill>
                <a:latin typeface="Montserrat"/>
              </a:rPr>
              <a:t>    while v is not None:</a:t>
            </a:r>
          </a:p>
          <a:p>
            <a:pPr>
              <a:lnSpc>
                <a:spcPts val="2500"/>
              </a:lnSpc>
            </a:pPr>
            <a:r>
              <a:rPr lang="en-US" sz="2000">
                <a:solidFill>
                  <a:srgbClr val="352379"/>
                </a:solidFill>
                <a:latin typeface="Montserrat"/>
              </a:rPr>
              <a:t>        path.append(v)</a:t>
            </a:r>
          </a:p>
          <a:p>
            <a:pPr>
              <a:lnSpc>
                <a:spcPts val="2500"/>
              </a:lnSpc>
            </a:pPr>
            <a:r>
              <a:rPr lang="en-US" sz="2000">
                <a:solidFill>
                  <a:srgbClr val="352379"/>
                </a:solidFill>
                <a:latin typeface="Montserrat"/>
              </a:rPr>
              <a:t>        if v == start:</a:t>
            </a:r>
          </a:p>
          <a:p>
            <a:pPr>
              <a:lnSpc>
                <a:spcPts val="2500"/>
              </a:lnSpc>
            </a:pPr>
            <a:r>
              <a:rPr lang="en-US" sz="2000">
                <a:solidFill>
                  <a:srgbClr val="352379"/>
                </a:solidFill>
                <a:latin typeface="Montserrat"/>
              </a:rPr>
              <a:t>            return path[::-1]</a:t>
            </a:r>
          </a:p>
          <a:p>
            <a:pPr>
              <a:lnSpc>
                <a:spcPts val="2500"/>
              </a:lnSpc>
            </a:pPr>
            <a:r>
              <a:rPr lang="en-US" sz="2000">
                <a:solidFill>
                  <a:srgbClr val="352379"/>
                </a:solidFill>
                <a:latin typeface="Montserrat"/>
              </a:rPr>
              <a:t>        v = parent[v]</a:t>
            </a:r>
          </a:p>
          <a:p>
            <a:pPr>
              <a:lnSpc>
                <a:spcPts val="2500"/>
              </a:lnSpc>
            </a:pPr>
            <a:r>
              <a:rPr lang="en-US" sz="2000">
                <a:solidFill>
                  <a:srgbClr val="352379"/>
                </a:solidFill>
                <a:latin typeface="Montserrat"/>
              </a:rPr>
              <a:t>    return []</a:t>
            </a:r>
            <a:endParaRPr lang="ru-RU" sz="2000">
              <a:solidFill>
                <a:srgbClr val="352379"/>
              </a:solidFill>
              <a:latin typeface="Montserrat"/>
            </a:endParaRPr>
          </a:p>
        </p:txBody>
      </p:sp>
      <p:sp>
        <p:nvSpPr>
          <p:cNvPr id="14" name="code-comment-body">
            <a:extLst>
              <a:ext uri="{FF2B5EF4-FFF2-40B4-BE49-F238E27FC236}">
                <a16:creationId xmlns:a16="http://schemas.microsoft.com/office/drawing/2014/main" id="{AC98ACC2-A1B6-4852-8B10-343542B54953}"/>
              </a:ext>
            </a:extLst>
          </p:cNvPr>
          <p:cNvSpPr/>
          <p:nvPr/>
        </p:nvSpPr>
        <p:spPr>
          <a:xfrm>
            <a:off x="8801100" y="1816100"/>
            <a:ext cx="2908300" cy="36576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code-comment-head">
            <a:extLst>
              <a:ext uri="{FF2B5EF4-FFF2-40B4-BE49-F238E27FC236}">
                <a16:creationId xmlns:a16="http://schemas.microsoft.com/office/drawing/2014/main" id="{9368A37D-80D0-4575-956A-17FE33CF7D4E}"/>
              </a:ext>
            </a:extLst>
          </p:cNvPr>
          <p:cNvSpPr/>
          <p:nvPr/>
        </p:nvSpPr>
        <p:spPr>
          <a:xfrm>
            <a:off x="8801100" y="1816100"/>
            <a:ext cx="29083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code-comment-heading">
            <a:extLst>
              <a:ext uri="{FF2B5EF4-FFF2-40B4-BE49-F238E27FC236}">
                <a16:creationId xmlns:a16="http://schemas.microsoft.com/office/drawing/2014/main" id="{AA778446-8A69-4673-A915-6383066315BA}"/>
              </a:ext>
            </a:extLst>
          </p:cNvPr>
          <p:cNvSpPr txBox="1"/>
          <p:nvPr/>
        </p:nvSpPr>
        <p:spPr bwMode="auto">
          <a:xfrm>
            <a:off x="8991600" y="1930399"/>
            <a:ext cx="2527300" cy="381000"/>
          </a:xfrm>
          <a:prstGeom prst="rect">
            <a:avLst/>
          </a:prstGeom>
        </p:spPr>
        <p:txBody>
          <a:bodyPr vert="horz" wrap="square" lIns="0" tIns="0" rIns="0" bIns="0" rtlCol="0">
            <a:noAutofit/>
          </a:bodyPr>
          <a:lstStyle/>
          <a:p>
            <a:r>
              <a:rPr lang="ru-RU" sz="2100">
                <a:solidFill>
                  <a:srgbClr val="FFFFFF"/>
                </a:solidFill>
                <a:latin typeface="Montserrat"/>
              </a:rPr>
              <a:t>Как читать</a:t>
            </a:r>
          </a:p>
        </p:txBody>
      </p:sp>
      <p:sp>
        <p:nvSpPr>
          <p:cNvPr id="17" name="code-comment-text">
            <a:extLst>
              <a:ext uri="{FF2B5EF4-FFF2-40B4-BE49-F238E27FC236}">
                <a16:creationId xmlns:a16="http://schemas.microsoft.com/office/drawing/2014/main" id="{72114B38-35DF-4B81-94C4-8D4E68EECB70}"/>
              </a:ext>
            </a:extLst>
          </p:cNvPr>
          <p:cNvSpPr txBox="1"/>
          <p:nvPr/>
        </p:nvSpPr>
        <p:spPr bwMode="auto">
          <a:xfrm>
            <a:off x="9017000" y="2641599"/>
            <a:ext cx="2476500" cy="2692400"/>
          </a:xfrm>
          <a:prstGeom prst="rect">
            <a:avLst/>
          </a:prstGeom>
        </p:spPr>
        <p:txBody>
          <a:bodyPr vert="horz" wrap="square" lIns="0" tIns="0" rIns="0" bIns="0" rtlCol="0">
            <a:noAutofit/>
          </a:bodyPr>
          <a:lstStyle/>
          <a:p>
            <a:r>
              <a:rPr lang="ru-RU" sz="1900">
                <a:solidFill>
                  <a:srgbClr val="352379"/>
                </a:solidFill>
                <a:latin typeface="Montserrat"/>
              </a:rPr>
              <a:t>Назад: F → D → C → A</a:t>
            </a:r>
          </a:p>
          <a:p>
            <a:endParaRPr lang="ru-RU" sz="1900">
              <a:solidFill>
                <a:srgbClr val="352379"/>
              </a:solidFill>
              <a:latin typeface="Montserrat"/>
            </a:endParaRPr>
          </a:p>
          <a:p>
            <a:r>
              <a:rPr lang="ru-RU" sz="1900">
                <a:solidFill>
                  <a:srgbClr val="352379"/>
                </a:solidFill>
                <a:latin typeface="Montserrat"/>
              </a:rPr>
              <a:t>Разворот:</a:t>
            </a:r>
          </a:p>
          <a:p>
            <a:r>
              <a:rPr lang="ru-RU" sz="1900">
                <a:solidFill>
                  <a:srgbClr val="352379"/>
                </a:solidFill>
                <a:latin typeface="Montserrat"/>
              </a:rPr>
              <a:t>A → C → D → F</a:t>
            </a:r>
          </a:p>
          <a:p>
            <a:endParaRPr lang="ru-RU" sz="1900">
              <a:solidFill>
                <a:srgbClr val="352379"/>
              </a:solidFill>
              <a:latin typeface="Montserrat"/>
            </a:endParaRPr>
          </a:p>
          <a:p>
            <a:r>
              <a:rPr lang="ru-RU" sz="1900">
                <a:solidFill>
                  <a:srgbClr val="352379"/>
                </a:solidFill>
                <a:latin typeface="Montserrat"/>
              </a:rPr>
              <a:t>Недостижима? Возвращаем [].</a:t>
            </a:r>
          </a:p>
        </p:txBody>
      </p:sp>
    </p:spTree>
    <p:extLst>
      <p:ext uri="{BB962C8B-B14F-4D97-AF65-F5344CB8AC3E}">
        <p14:creationId xmlns:p14="http://schemas.microsoft.com/office/powerpoint/2010/main" val="95767890"/>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EBF175-F63D-43F9-97FB-0C65A7F48C45}"/>
              </a:ext>
            </a:extLst>
          </p:cNvPr>
          <p:cNvSpPr>
            <a:spLocks noGrp="1"/>
          </p:cNvSpPr>
          <p:nvPr>
            <p:ph type="title"/>
          </p:nvPr>
        </p:nvSpPr>
        <p:spPr>
          <a:xfrm>
            <a:off x="479425" y="597855"/>
            <a:ext cx="11229975" cy="1140459"/>
          </a:xfrm>
        </p:spPr>
        <p:txBody>
          <a:bodyPr/>
          <a:lstStyle/>
          <a:p>
            <a:r>
              <a:rPr lang="ru-RU"/>
              <a:t>Готовый кратчайший маршрут</a:t>
            </a:r>
          </a:p>
        </p:txBody>
      </p:sp>
      <p:sp>
        <p:nvSpPr>
          <p:cNvPr id="7" name="Текст 6">
            <a:extLst>
              <a:ext uri="{FF2B5EF4-FFF2-40B4-BE49-F238E27FC236}">
                <a16:creationId xmlns:a16="http://schemas.microsoft.com/office/drawing/2014/main" id="{CA690B34-AAD3-471A-961A-13116C766149}"/>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1F70BC4F-DBA2-4B90-92EC-80E05099B297}"/>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93A9DE42-75EE-4138-AA90-FE32B517D87A}"/>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39</a:t>
            </a:r>
          </a:p>
        </p:txBody>
      </p:sp>
      <p:sp>
        <p:nvSpPr>
          <p:cNvPr id="10" name="bottom-band">
            <a:extLst>
              <a:ext uri="{FF2B5EF4-FFF2-40B4-BE49-F238E27FC236}">
                <a16:creationId xmlns:a16="http://schemas.microsoft.com/office/drawing/2014/main" id="{47B12AFF-AF1A-4B04-8E2E-6A9BDCAD11A8}"/>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D47B5CD0-E207-4A1A-AAFA-7F8B6CD9EDD1}"/>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A → C → D → F, стоимость 3 + 5 + 3 = 11</a:t>
            </a:r>
          </a:p>
        </p:txBody>
      </p:sp>
      <p:cxnSp>
        <p:nvCxnSpPr>
          <p:cNvPr id="12" name="!!g-edge-AB">
            <a:extLst>
              <a:ext uri="{FF2B5EF4-FFF2-40B4-BE49-F238E27FC236}">
                <a16:creationId xmlns:a16="http://schemas.microsoft.com/office/drawing/2014/main" id="{227B5933-B509-4241-9D14-1BA447338678}"/>
              </a:ext>
            </a:extLst>
          </p:cNvPr>
          <p:cNvCxnSpPr/>
          <p:nvPr/>
        </p:nvCxnSpPr>
        <p:spPr>
          <a:xfrm flipV="1">
            <a:off x="1425280" y="2925176"/>
            <a:ext cx="1276940" cy="880648"/>
          </a:xfrm>
          <a:prstGeom prst="straightConnector1">
            <a:avLst/>
          </a:prstGeom>
          <a:ln w="17780">
            <a:solidFill>
              <a:srgbClr val="8C7FB8"/>
            </a:solidFill>
          </a:ln>
        </p:spPr>
        <p:style>
          <a:lnRef idx="1">
            <a:schemeClr val="accent1"/>
          </a:lnRef>
          <a:fillRef idx="0">
            <a:schemeClr val="accent1"/>
          </a:fillRef>
          <a:effectRef idx="0">
            <a:schemeClr val="accent1"/>
          </a:effectRef>
          <a:fontRef idx="minor">
            <a:schemeClr val="tx1"/>
          </a:fontRef>
        </p:style>
      </p:cxnSp>
      <p:sp>
        <p:nvSpPr>
          <p:cNvPr id="13" name="!!g-weight-AB">
            <a:extLst>
              <a:ext uri="{FF2B5EF4-FFF2-40B4-BE49-F238E27FC236}">
                <a16:creationId xmlns:a16="http://schemas.microsoft.com/office/drawing/2014/main" id="{B74675B4-5DA6-4932-B0FE-EF15A82FFA13}"/>
              </a:ext>
            </a:extLst>
          </p:cNvPr>
          <p:cNvSpPr txBox="1"/>
          <p:nvPr/>
        </p:nvSpPr>
        <p:spPr bwMode="auto">
          <a:xfrm>
            <a:off x="2011636"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7</a:t>
            </a:r>
          </a:p>
        </p:txBody>
      </p:sp>
      <p:cxnSp>
        <p:nvCxnSpPr>
          <p:cNvPr id="14" name="!!g-edge-AC">
            <a:extLst>
              <a:ext uri="{FF2B5EF4-FFF2-40B4-BE49-F238E27FC236}">
                <a16:creationId xmlns:a16="http://schemas.microsoft.com/office/drawing/2014/main" id="{361E1AA3-90AF-4984-92E4-692A2B152854}"/>
              </a:ext>
            </a:extLst>
          </p:cNvPr>
          <p:cNvCxnSpPr/>
          <p:nvPr/>
        </p:nvCxnSpPr>
        <p:spPr>
          <a:xfrm>
            <a:off x="1425280" y="4195176"/>
            <a:ext cx="1276940" cy="880648"/>
          </a:xfrm>
          <a:prstGeom prst="straightConnector1">
            <a:avLst/>
          </a:prstGeom>
          <a:ln w="44450">
            <a:solidFill>
              <a:srgbClr val="762181"/>
            </a:solidFill>
          </a:ln>
        </p:spPr>
        <p:style>
          <a:lnRef idx="1">
            <a:schemeClr val="accent1"/>
          </a:lnRef>
          <a:fillRef idx="0">
            <a:schemeClr val="accent1"/>
          </a:fillRef>
          <a:effectRef idx="0">
            <a:schemeClr val="accent1"/>
          </a:effectRef>
          <a:fontRef idx="minor">
            <a:schemeClr val="tx1"/>
          </a:fontRef>
        </p:style>
      </p:cxnSp>
      <p:sp>
        <p:nvSpPr>
          <p:cNvPr id="15" name="!!g-weight-AC">
            <a:extLst>
              <a:ext uri="{FF2B5EF4-FFF2-40B4-BE49-F238E27FC236}">
                <a16:creationId xmlns:a16="http://schemas.microsoft.com/office/drawing/2014/main" id="{441B8EF6-8011-4E26-A263-20AE88973309}"/>
              </a:ext>
            </a:extLst>
          </p:cNvPr>
          <p:cNvSpPr txBox="1"/>
          <p:nvPr/>
        </p:nvSpPr>
        <p:spPr bwMode="auto">
          <a:xfrm>
            <a:off x="1607864"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762181"/>
                </a:solidFill>
                <a:latin typeface="Montserrat"/>
              </a:rPr>
              <a:t>3</a:t>
            </a:r>
          </a:p>
        </p:txBody>
      </p:sp>
      <p:cxnSp>
        <p:nvCxnSpPr>
          <p:cNvPr id="16" name="!!g-edge-BC">
            <a:extLst>
              <a:ext uri="{FF2B5EF4-FFF2-40B4-BE49-F238E27FC236}">
                <a16:creationId xmlns:a16="http://schemas.microsoft.com/office/drawing/2014/main" id="{5017963A-11BB-4365-9DF7-27A2DF67D0E6}"/>
              </a:ext>
            </a:extLst>
          </p:cNvPr>
          <p:cNvCxnSpPr/>
          <p:nvPr/>
        </p:nvCxnSpPr>
        <p:spPr>
          <a:xfrm>
            <a:off x="2984500" y="3073400"/>
            <a:ext cx="0" cy="1854200"/>
          </a:xfrm>
          <a:prstGeom prst="straightConnector1">
            <a:avLst/>
          </a:prstGeom>
          <a:ln w="17780">
            <a:solidFill>
              <a:srgbClr val="8C7FB8"/>
            </a:solidFill>
          </a:ln>
        </p:spPr>
        <p:style>
          <a:lnRef idx="1">
            <a:schemeClr val="accent1"/>
          </a:lnRef>
          <a:fillRef idx="0">
            <a:schemeClr val="accent1"/>
          </a:fillRef>
          <a:effectRef idx="0">
            <a:schemeClr val="accent1"/>
          </a:effectRef>
          <a:fontRef idx="minor">
            <a:schemeClr val="tx1"/>
          </a:fontRef>
        </p:style>
      </p:cxnSp>
      <p:sp>
        <p:nvSpPr>
          <p:cNvPr id="17" name="!!g-weight-BC">
            <a:extLst>
              <a:ext uri="{FF2B5EF4-FFF2-40B4-BE49-F238E27FC236}">
                <a16:creationId xmlns:a16="http://schemas.microsoft.com/office/drawing/2014/main" id="{F4B89824-CBAB-464B-BAB2-FD16FE816914}"/>
              </a:ext>
            </a:extLst>
          </p:cNvPr>
          <p:cNvSpPr txBox="1"/>
          <p:nvPr/>
        </p:nvSpPr>
        <p:spPr bwMode="auto">
          <a:xfrm>
            <a:off x="23749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18" name="!!g-edge-BD">
            <a:extLst>
              <a:ext uri="{FF2B5EF4-FFF2-40B4-BE49-F238E27FC236}">
                <a16:creationId xmlns:a16="http://schemas.microsoft.com/office/drawing/2014/main" id="{2B987BBB-7955-400A-A4C7-0564FCD570CC}"/>
              </a:ext>
            </a:extLst>
          </p:cNvPr>
          <p:cNvCxnSpPr/>
          <p:nvPr/>
        </p:nvCxnSpPr>
        <p:spPr>
          <a:xfrm>
            <a:off x="3327400" y="2730500"/>
            <a:ext cx="1409700" cy="0"/>
          </a:xfrm>
          <a:prstGeom prst="straightConnector1">
            <a:avLst/>
          </a:prstGeom>
          <a:ln w="17780">
            <a:solidFill>
              <a:srgbClr val="8C7FB8"/>
            </a:solidFill>
          </a:ln>
        </p:spPr>
        <p:style>
          <a:lnRef idx="1">
            <a:schemeClr val="accent1"/>
          </a:lnRef>
          <a:fillRef idx="0">
            <a:schemeClr val="accent1"/>
          </a:fillRef>
          <a:effectRef idx="0">
            <a:schemeClr val="accent1"/>
          </a:effectRef>
          <a:fontRef idx="minor">
            <a:schemeClr val="tx1"/>
          </a:fontRef>
        </p:style>
      </p:cxnSp>
      <p:sp>
        <p:nvSpPr>
          <p:cNvPr id="19" name="!!g-weight-BD">
            <a:extLst>
              <a:ext uri="{FF2B5EF4-FFF2-40B4-BE49-F238E27FC236}">
                <a16:creationId xmlns:a16="http://schemas.microsoft.com/office/drawing/2014/main" id="{94DB9D1E-CD96-4D33-A24A-D653D02DA97C}"/>
              </a:ext>
            </a:extLst>
          </p:cNvPr>
          <p:cNvSpPr txBox="1"/>
          <p:nvPr/>
        </p:nvSpPr>
        <p:spPr bwMode="auto">
          <a:xfrm>
            <a:off x="3778250" y="288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20" name="!!g-edge-CD">
            <a:extLst>
              <a:ext uri="{FF2B5EF4-FFF2-40B4-BE49-F238E27FC236}">
                <a16:creationId xmlns:a16="http://schemas.microsoft.com/office/drawing/2014/main" id="{55ED36D7-E590-431F-B7EA-F0926A879825}"/>
              </a:ext>
            </a:extLst>
          </p:cNvPr>
          <p:cNvCxnSpPr/>
          <p:nvPr/>
        </p:nvCxnSpPr>
        <p:spPr>
          <a:xfrm flipV="1">
            <a:off x="3202716" y="2995004"/>
            <a:ext cx="1659068" cy="2010992"/>
          </a:xfrm>
          <a:prstGeom prst="straightConnector1">
            <a:avLst/>
          </a:prstGeom>
          <a:ln w="44450">
            <a:solidFill>
              <a:srgbClr val="762181"/>
            </a:solidFill>
          </a:ln>
        </p:spPr>
        <p:style>
          <a:lnRef idx="1">
            <a:schemeClr val="accent1"/>
          </a:lnRef>
          <a:fillRef idx="0">
            <a:schemeClr val="accent1"/>
          </a:fillRef>
          <a:effectRef idx="0">
            <a:schemeClr val="accent1"/>
          </a:effectRef>
          <a:fontRef idx="minor">
            <a:schemeClr val="tx1"/>
          </a:fontRef>
        </p:style>
      </p:cxnSp>
      <p:sp>
        <p:nvSpPr>
          <p:cNvPr id="21" name="!!g-weight-CD">
            <a:extLst>
              <a:ext uri="{FF2B5EF4-FFF2-40B4-BE49-F238E27FC236}">
                <a16:creationId xmlns:a16="http://schemas.microsoft.com/office/drawing/2014/main" id="{20FF1243-E304-470F-9092-FCE69C07D593}"/>
              </a:ext>
            </a:extLst>
          </p:cNvPr>
          <p:cNvSpPr txBox="1"/>
          <p:nvPr/>
        </p:nvSpPr>
        <p:spPr bwMode="auto">
          <a:xfrm>
            <a:off x="4052550" y="4023597"/>
            <a:ext cx="508000" cy="381000"/>
          </a:xfrm>
          <a:prstGeom prst="rect">
            <a:avLst/>
          </a:prstGeom>
          <a:solidFill>
            <a:srgbClr val="FFFFFF"/>
          </a:solidFill>
        </p:spPr>
        <p:txBody>
          <a:bodyPr vert="horz" wrap="square" lIns="0" tIns="0" rIns="0" bIns="0" rtlCol="0">
            <a:noAutofit/>
          </a:bodyPr>
          <a:lstStyle/>
          <a:p>
            <a:pPr algn="ctr"/>
            <a:r>
              <a:rPr lang="ru-RU" sz="2000">
                <a:solidFill>
                  <a:srgbClr val="762181"/>
                </a:solidFill>
                <a:latin typeface="Montserrat"/>
              </a:rPr>
              <a:t>5</a:t>
            </a:r>
          </a:p>
        </p:txBody>
      </p:sp>
      <p:cxnSp>
        <p:nvCxnSpPr>
          <p:cNvPr id="22" name="!!g-edge-CE">
            <a:extLst>
              <a:ext uri="{FF2B5EF4-FFF2-40B4-BE49-F238E27FC236}">
                <a16:creationId xmlns:a16="http://schemas.microsoft.com/office/drawing/2014/main" id="{D329E3D3-7E0D-48BC-B2FD-941632E70FB2}"/>
              </a:ext>
            </a:extLst>
          </p:cNvPr>
          <p:cNvCxnSpPr/>
          <p:nvPr/>
        </p:nvCxnSpPr>
        <p:spPr>
          <a:xfrm>
            <a:off x="3327400" y="5270500"/>
            <a:ext cx="1409700" cy="0"/>
          </a:xfrm>
          <a:prstGeom prst="straightConnector1">
            <a:avLst/>
          </a:prstGeom>
          <a:ln w="17780">
            <a:solidFill>
              <a:srgbClr val="8C7FB8"/>
            </a:solidFill>
          </a:ln>
        </p:spPr>
        <p:style>
          <a:lnRef idx="1">
            <a:schemeClr val="accent1"/>
          </a:lnRef>
          <a:fillRef idx="0">
            <a:schemeClr val="accent1"/>
          </a:fillRef>
          <a:effectRef idx="0">
            <a:schemeClr val="accent1"/>
          </a:effectRef>
          <a:fontRef idx="minor">
            <a:schemeClr val="tx1"/>
          </a:fontRef>
        </p:style>
      </p:cxnSp>
      <p:sp>
        <p:nvSpPr>
          <p:cNvPr id="23" name="!!g-weight-CE">
            <a:extLst>
              <a:ext uri="{FF2B5EF4-FFF2-40B4-BE49-F238E27FC236}">
                <a16:creationId xmlns:a16="http://schemas.microsoft.com/office/drawing/2014/main" id="{AFD1DFB7-607D-46CC-B4FF-D730215458B3}"/>
              </a:ext>
            </a:extLst>
          </p:cNvPr>
          <p:cNvSpPr txBox="1"/>
          <p:nvPr/>
        </p:nvSpPr>
        <p:spPr bwMode="auto">
          <a:xfrm>
            <a:off x="3778250" y="542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8</a:t>
            </a:r>
          </a:p>
        </p:txBody>
      </p:sp>
      <p:cxnSp>
        <p:nvCxnSpPr>
          <p:cNvPr id="24" name="!!g-edge-DE">
            <a:extLst>
              <a:ext uri="{FF2B5EF4-FFF2-40B4-BE49-F238E27FC236}">
                <a16:creationId xmlns:a16="http://schemas.microsoft.com/office/drawing/2014/main" id="{66E0CB05-D2A9-4651-8E9E-7DBF73338899}"/>
              </a:ext>
            </a:extLst>
          </p:cNvPr>
          <p:cNvCxnSpPr/>
          <p:nvPr/>
        </p:nvCxnSpPr>
        <p:spPr>
          <a:xfrm>
            <a:off x="5080000" y="3073400"/>
            <a:ext cx="0" cy="1854200"/>
          </a:xfrm>
          <a:prstGeom prst="straightConnector1">
            <a:avLst/>
          </a:prstGeom>
          <a:ln w="17780">
            <a:solidFill>
              <a:srgbClr val="8C7FB8"/>
            </a:solidFill>
          </a:ln>
        </p:spPr>
        <p:style>
          <a:lnRef idx="1">
            <a:schemeClr val="accent1"/>
          </a:lnRef>
          <a:fillRef idx="0">
            <a:schemeClr val="accent1"/>
          </a:fillRef>
          <a:effectRef idx="0">
            <a:schemeClr val="accent1"/>
          </a:effectRef>
          <a:fontRef idx="minor">
            <a:schemeClr val="tx1"/>
          </a:fontRef>
        </p:style>
      </p:cxnSp>
      <p:sp>
        <p:nvSpPr>
          <p:cNvPr id="25" name="!!g-weight-DE">
            <a:extLst>
              <a:ext uri="{FF2B5EF4-FFF2-40B4-BE49-F238E27FC236}">
                <a16:creationId xmlns:a16="http://schemas.microsoft.com/office/drawing/2014/main" id="{927704D8-63A7-4723-B819-84DDF7205734}"/>
              </a:ext>
            </a:extLst>
          </p:cNvPr>
          <p:cNvSpPr txBox="1"/>
          <p:nvPr/>
        </p:nvSpPr>
        <p:spPr bwMode="auto">
          <a:xfrm>
            <a:off x="44704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cxnSp>
        <p:nvCxnSpPr>
          <p:cNvPr id="26" name="!!g-edge-DF">
            <a:extLst>
              <a:ext uri="{FF2B5EF4-FFF2-40B4-BE49-F238E27FC236}">
                <a16:creationId xmlns:a16="http://schemas.microsoft.com/office/drawing/2014/main" id="{92BB4AC1-D435-4054-9069-0663BA3071BE}"/>
              </a:ext>
            </a:extLst>
          </p:cNvPr>
          <p:cNvCxnSpPr/>
          <p:nvPr/>
        </p:nvCxnSpPr>
        <p:spPr>
          <a:xfrm>
            <a:off x="5362280" y="2925176"/>
            <a:ext cx="1276940" cy="880648"/>
          </a:xfrm>
          <a:prstGeom prst="straightConnector1">
            <a:avLst/>
          </a:prstGeom>
          <a:ln w="44450">
            <a:solidFill>
              <a:srgbClr val="762181"/>
            </a:solidFill>
          </a:ln>
        </p:spPr>
        <p:style>
          <a:lnRef idx="1">
            <a:schemeClr val="accent1"/>
          </a:lnRef>
          <a:fillRef idx="0">
            <a:schemeClr val="accent1"/>
          </a:fillRef>
          <a:effectRef idx="0">
            <a:schemeClr val="accent1"/>
          </a:effectRef>
          <a:fontRef idx="minor">
            <a:schemeClr val="tx1"/>
          </a:fontRef>
        </p:style>
      </p:cxnSp>
      <p:sp>
        <p:nvSpPr>
          <p:cNvPr id="27" name="!!g-weight-DF">
            <a:extLst>
              <a:ext uri="{FF2B5EF4-FFF2-40B4-BE49-F238E27FC236}">
                <a16:creationId xmlns:a16="http://schemas.microsoft.com/office/drawing/2014/main" id="{02E75F19-B2DA-435C-99EA-7694B7359E0A}"/>
              </a:ext>
            </a:extLst>
          </p:cNvPr>
          <p:cNvSpPr txBox="1"/>
          <p:nvPr/>
        </p:nvSpPr>
        <p:spPr bwMode="auto">
          <a:xfrm>
            <a:off x="5544864"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762181"/>
                </a:solidFill>
                <a:latin typeface="Montserrat"/>
              </a:rPr>
              <a:t>3</a:t>
            </a:r>
          </a:p>
        </p:txBody>
      </p:sp>
      <p:cxnSp>
        <p:nvCxnSpPr>
          <p:cNvPr id="28" name="!!g-edge-EF">
            <a:extLst>
              <a:ext uri="{FF2B5EF4-FFF2-40B4-BE49-F238E27FC236}">
                <a16:creationId xmlns:a16="http://schemas.microsoft.com/office/drawing/2014/main" id="{32FB79BE-6A9E-43E7-B8D1-1A57C9D00DC0}"/>
              </a:ext>
            </a:extLst>
          </p:cNvPr>
          <p:cNvCxnSpPr/>
          <p:nvPr/>
        </p:nvCxnSpPr>
        <p:spPr>
          <a:xfrm flipV="1">
            <a:off x="5362280" y="4195176"/>
            <a:ext cx="1276940" cy="880648"/>
          </a:xfrm>
          <a:prstGeom prst="straightConnector1">
            <a:avLst/>
          </a:prstGeom>
          <a:ln w="17780">
            <a:solidFill>
              <a:srgbClr val="8C7FB8"/>
            </a:solidFill>
          </a:ln>
        </p:spPr>
        <p:style>
          <a:lnRef idx="1">
            <a:schemeClr val="accent1"/>
          </a:lnRef>
          <a:fillRef idx="0">
            <a:schemeClr val="accent1"/>
          </a:fillRef>
          <a:effectRef idx="0">
            <a:schemeClr val="accent1"/>
          </a:effectRef>
          <a:fontRef idx="minor">
            <a:schemeClr val="tx1"/>
          </a:fontRef>
        </p:style>
      </p:cxnSp>
      <p:sp>
        <p:nvSpPr>
          <p:cNvPr id="29" name="!!g-weight-EF">
            <a:extLst>
              <a:ext uri="{FF2B5EF4-FFF2-40B4-BE49-F238E27FC236}">
                <a16:creationId xmlns:a16="http://schemas.microsoft.com/office/drawing/2014/main" id="{AEA72F75-617D-460D-B316-6674B84904D8}"/>
              </a:ext>
            </a:extLst>
          </p:cNvPr>
          <p:cNvSpPr txBox="1"/>
          <p:nvPr/>
        </p:nvSpPr>
        <p:spPr bwMode="auto">
          <a:xfrm>
            <a:off x="5948636"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sp>
        <p:nvSpPr>
          <p:cNvPr id="30" name="!!g-node-A">
            <a:extLst>
              <a:ext uri="{FF2B5EF4-FFF2-40B4-BE49-F238E27FC236}">
                <a16:creationId xmlns:a16="http://schemas.microsoft.com/office/drawing/2014/main" id="{CCBDC426-449E-4F89-BAC7-74C39F674ABE}"/>
              </a:ext>
            </a:extLst>
          </p:cNvPr>
          <p:cNvSpPr/>
          <p:nvPr/>
        </p:nvSpPr>
        <p:spPr>
          <a:xfrm>
            <a:off x="825500" y="368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31" name="!!g-node-B">
            <a:extLst>
              <a:ext uri="{FF2B5EF4-FFF2-40B4-BE49-F238E27FC236}">
                <a16:creationId xmlns:a16="http://schemas.microsoft.com/office/drawing/2014/main" id="{B59BDED5-C5DB-4C8D-8B4F-33BF2C99E1FA}"/>
              </a:ext>
            </a:extLst>
          </p:cNvPr>
          <p:cNvSpPr/>
          <p:nvPr/>
        </p:nvSpPr>
        <p:spPr>
          <a:xfrm>
            <a:off x="26670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32" name="!!g-node-C">
            <a:extLst>
              <a:ext uri="{FF2B5EF4-FFF2-40B4-BE49-F238E27FC236}">
                <a16:creationId xmlns:a16="http://schemas.microsoft.com/office/drawing/2014/main" id="{785E57D9-5D88-4345-A0F0-5899EB0F6F9F}"/>
              </a:ext>
            </a:extLst>
          </p:cNvPr>
          <p:cNvSpPr/>
          <p:nvPr/>
        </p:nvSpPr>
        <p:spPr>
          <a:xfrm>
            <a:off x="26670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33" name="!!g-node-D">
            <a:extLst>
              <a:ext uri="{FF2B5EF4-FFF2-40B4-BE49-F238E27FC236}">
                <a16:creationId xmlns:a16="http://schemas.microsoft.com/office/drawing/2014/main" id="{CC27903C-BCC7-4DD2-90B3-349034068EF6}"/>
              </a:ext>
            </a:extLst>
          </p:cNvPr>
          <p:cNvSpPr/>
          <p:nvPr/>
        </p:nvSpPr>
        <p:spPr>
          <a:xfrm>
            <a:off x="47625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34" name="!!g-node-E">
            <a:extLst>
              <a:ext uri="{FF2B5EF4-FFF2-40B4-BE49-F238E27FC236}">
                <a16:creationId xmlns:a16="http://schemas.microsoft.com/office/drawing/2014/main" id="{081B3D50-9FF9-4138-BF7E-77A094BECF88}"/>
              </a:ext>
            </a:extLst>
          </p:cNvPr>
          <p:cNvSpPr/>
          <p:nvPr/>
        </p:nvSpPr>
        <p:spPr>
          <a:xfrm>
            <a:off x="47625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35" name="!!g-node-F">
            <a:extLst>
              <a:ext uri="{FF2B5EF4-FFF2-40B4-BE49-F238E27FC236}">
                <a16:creationId xmlns:a16="http://schemas.microsoft.com/office/drawing/2014/main" id="{5FEAE7D9-6ABC-4732-A22D-4BE1D062621C}"/>
              </a:ext>
            </a:extLst>
          </p:cNvPr>
          <p:cNvSpPr/>
          <p:nvPr/>
        </p:nvSpPr>
        <p:spPr>
          <a:xfrm>
            <a:off x="6604000" y="368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F</a:t>
            </a:r>
            <a:endParaRPr lang="ru-RU" sz="2200">
              <a:solidFill>
                <a:srgbClr val="352379"/>
              </a:solidFill>
              <a:latin typeface="Montserrat"/>
            </a:endParaRPr>
          </a:p>
        </p:txBody>
      </p:sp>
      <p:sp>
        <p:nvSpPr>
          <p:cNvPr id="36" name="route-result-body">
            <a:extLst>
              <a:ext uri="{FF2B5EF4-FFF2-40B4-BE49-F238E27FC236}">
                <a16:creationId xmlns:a16="http://schemas.microsoft.com/office/drawing/2014/main" id="{D782B098-662C-47BF-8C15-6766F4D84724}"/>
              </a:ext>
            </a:extLst>
          </p:cNvPr>
          <p:cNvSpPr/>
          <p:nvPr/>
        </p:nvSpPr>
        <p:spPr>
          <a:xfrm>
            <a:off x="8001000" y="1816100"/>
            <a:ext cx="3708400" cy="36576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route-result-head">
            <a:extLst>
              <a:ext uri="{FF2B5EF4-FFF2-40B4-BE49-F238E27FC236}">
                <a16:creationId xmlns:a16="http://schemas.microsoft.com/office/drawing/2014/main" id="{0B08A755-BA83-4846-8131-473C169825F6}"/>
              </a:ext>
            </a:extLst>
          </p:cNvPr>
          <p:cNvSpPr/>
          <p:nvPr/>
        </p:nvSpPr>
        <p:spPr>
          <a:xfrm>
            <a:off x="8001000" y="1816100"/>
            <a:ext cx="37084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route-result-heading">
            <a:extLst>
              <a:ext uri="{FF2B5EF4-FFF2-40B4-BE49-F238E27FC236}">
                <a16:creationId xmlns:a16="http://schemas.microsoft.com/office/drawing/2014/main" id="{860F5F18-AA97-4EA6-A84F-F1BDCFCFAB5E}"/>
              </a:ext>
            </a:extLst>
          </p:cNvPr>
          <p:cNvSpPr txBox="1"/>
          <p:nvPr/>
        </p:nvSpPr>
        <p:spPr bwMode="auto">
          <a:xfrm>
            <a:off x="8191500" y="1930399"/>
            <a:ext cx="3327400" cy="381000"/>
          </a:xfrm>
          <a:prstGeom prst="rect">
            <a:avLst/>
          </a:prstGeom>
        </p:spPr>
        <p:txBody>
          <a:bodyPr vert="horz" wrap="square" lIns="0" tIns="0" rIns="0" bIns="0" rtlCol="0">
            <a:noAutofit/>
          </a:bodyPr>
          <a:lstStyle/>
          <a:p>
            <a:r>
              <a:rPr lang="ru-RU" sz="2100">
                <a:solidFill>
                  <a:srgbClr val="FFFFFF"/>
                </a:solidFill>
                <a:latin typeface="Montserrat"/>
              </a:rPr>
              <a:t>Результат</a:t>
            </a:r>
          </a:p>
        </p:txBody>
      </p:sp>
      <p:sp>
        <p:nvSpPr>
          <p:cNvPr id="39" name="route-result-text">
            <a:extLst>
              <a:ext uri="{FF2B5EF4-FFF2-40B4-BE49-F238E27FC236}">
                <a16:creationId xmlns:a16="http://schemas.microsoft.com/office/drawing/2014/main" id="{46ABEFC8-0E48-45BB-A07C-33A51FE123FF}"/>
              </a:ext>
            </a:extLst>
          </p:cNvPr>
          <p:cNvSpPr txBox="1"/>
          <p:nvPr/>
        </p:nvSpPr>
        <p:spPr bwMode="auto">
          <a:xfrm>
            <a:off x="8216900" y="2641599"/>
            <a:ext cx="3276600" cy="2692400"/>
          </a:xfrm>
          <a:prstGeom prst="rect">
            <a:avLst/>
          </a:prstGeom>
        </p:spPr>
        <p:txBody>
          <a:bodyPr vert="horz" wrap="square" lIns="0" tIns="0" rIns="0" bIns="0" rtlCol="0">
            <a:noAutofit/>
          </a:bodyPr>
          <a:lstStyle/>
          <a:p>
            <a:r>
              <a:rPr lang="en-US" sz="2200">
                <a:solidFill>
                  <a:srgbClr val="352379"/>
                </a:solidFill>
                <a:latin typeface="Montserrat"/>
              </a:rPr>
              <a:t>dist[F] = 11</a:t>
            </a:r>
          </a:p>
          <a:p>
            <a:endParaRPr lang="en-US" sz="2200">
              <a:solidFill>
                <a:srgbClr val="352379"/>
              </a:solidFill>
              <a:latin typeface="Montserrat"/>
            </a:endParaRPr>
          </a:p>
          <a:p>
            <a:r>
              <a:rPr lang="en-US" sz="2200">
                <a:solidFill>
                  <a:srgbClr val="352379"/>
                </a:solidFill>
                <a:latin typeface="Montserrat"/>
              </a:rPr>
              <a:t>A → C → D → F</a:t>
            </a:r>
          </a:p>
          <a:p>
            <a:endParaRPr lang="en-US" sz="2200">
              <a:solidFill>
                <a:srgbClr val="352379"/>
              </a:solidFill>
              <a:latin typeface="Montserrat"/>
            </a:endParaRPr>
          </a:p>
          <a:p>
            <a:r>
              <a:rPr lang="en-US" sz="2200">
                <a:solidFill>
                  <a:srgbClr val="352379"/>
                </a:solidFill>
                <a:latin typeface="Montserrat"/>
              </a:rPr>
              <a:t>3 + 5 + 3 = 11</a:t>
            </a:r>
            <a:endParaRPr lang="ru-RU" sz="2200">
              <a:solidFill>
                <a:srgbClr val="352379"/>
              </a:solidFill>
              <a:latin typeface="Montserrat"/>
            </a:endParaRPr>
          </a:p>
        </p:txBody>
      </p:sp>
    </p:spTree>
    <p:extLst>
      <p:ext uri="{BB962C8B-B14F-4D97-AF65-F5344CB8AC3E}">
        <p14:creationId xmlns:p14="http://schemas.microsoft.com/office/powerpoint/2010/main" val="3224796500"/>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F0152A-02F9-472F-9CBF-BFCDB4583647}"/>
              </a:ext>
            </a:extLst>
          </p:cNvPr>
          <p:cNvSpPr>
            <a:spLocks noGrp="1"/>
          </p:cNvSpPr>
          <p:nvPr>
            <p:ph type="title"/>
          </p:nvPr>
        </p:nvSpPr>
        <p:spPr>
          <a:xfrm>
            <a:off x="479425" y="597855"/>
            <a:ext cx="11229975" cy="1140459"/>
          </a:xfrm>
        </p:spPr>
        <p:txBody>
          <a:bodyPr/>
          <a:lstStyle/>
          <a:p>
            <a:r>
              <a:rPr lang="ru-RU"/>
              <a:t>Отрицательное ребро и условие Дейкстры</a:t>
            </a:r>
          </a:p>
        </p:txBody>
      </p:sp>
      <p:sp>
        <p:nvSpPr>
          <p:cNvPr id="7" name="Текст 6">
            <a:extLst>
              <a:ext uri="{FF2B5EF4-FFF2-40B4-BE49-F238E27FC236}">
                <a16:creationId xmlns:a16="http://schemas.microsoft.com/office/drawing/2014/main" id="{4A6A7254-0647-4BCB-9912-B4B9C25C7497}"/>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E47BBD73-B53F-4FD0-9513-E1021F02173A}"/>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9406B8A5-5933-42AC-BB57-A0A41A17A669}"/>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40</a:t>
            </a:r>
          </a:p>
        </p:txBody>
      </p:sp>
      <p:sp>
        <p:nvSpPr>
          <p:cNvPr id="10" name="bottom-band">
            <a:extLst>
              <a:ext uri="{FF2B5EF4-FFF2-40B4-BE49-F238E27FC236}">
                <a16:creationId xmlns:a16="http://schemas.microsoft.com/office/drawing/2014/main" id="{988B964C-0285-4908-8BA6-38F7A8806755}"/>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1D2CC636-4492-440B-91B9-B695A5ABACD9}"/>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Нулевые веса допустимы. Отрицательные требуют другого алгоритма.</a:t>
            </a:r>
          </a:p>
        </p:txBody>
      </p:sp>
      <p:sp>
        <p:nvSpPr>
          <p:cNvPr id="12" name="left-body">
            <a:extLst>
              <a:ext uri="{FF2B5EF4-FFF2-40B4-BE49-F238E27FC236}">
                <a16:creationId xmlns:a16="http://schemas.microsoft.com/office/drawing/2014/main" id="{62EDBD3F-F83B-4800-8731-F25BAC81682A}"/>
              </a:ext>
            </a:extLst>
          </p:cNvPr>
          <p:cNvSpPr/>
          <p:nvPr/>
        </p:nvSpPr>
        <p:spPr>
          <a:xfrm>
            <a:off x="698500" y="1816100"/>
            <a:ext cx="5207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left-head">
            <a:extLst>
              <a:ext uri="{FF2B5EF4-FFF2-40B4-BE49-F238E27FC236}">
                <a16:creationId xmlns:a16="http://schemas.microsoft.com/office/drawing/2014/main" id="{D7F21C00-F166-4913-B7D8-5E9CA77D67AC}"/>
              </a:ext>
            </a:extLst>
          </p:cNvPr>
          <p:cNvSpPr/>
          <p:nvPr/>
        </p:nvSpPr>
        <p:spPr>
          <a:xfrm>
            <a:off x="6985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left-heading">
            <a:extLst>
              <a:ext uri="{FF2B5EF4-FFF2-40B4-BE49-F238E27FC236}">
                <a16:creationId xmlns:a16="http://schemas.microsoft.com/office/drawing/2014/main" id="{9E019D4E-C007-4580-8443-05C7DA24D5CD}"/>
              </a:ext>
            </a:extLst>
          </p:cNvPr>
          <p:cNvSpPr txBox="1"/>
          <p:nvPr/>
        </p:nvSpPr>
        <p:spPr bwMode="auto">
          <a:xfrm>
            <a:off x="8890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Отрицательное ребро</a:t>
            </a:r>
          </a:p>
        </p:txBody>
      </p:sp>
      <p:sp>
        <p:nvSpPr>
          <p:cNvPr id="15" name="left-text">
            <a:extLst>
              <a:ext uri="{FF2B5EF4-FFF2-40B4-BE49-F238E27FC236}">
                <a16:creationId xmlns:a16="http://schemas.microsoft.com/office/drawing/2014/main" id="{F2C99B03-573B-406C-8E33-142D397462BF}"/>
              </a:ext>
            </a:extLst>
          </p:cNvPr>
          <p:cNvSpPr txBox="1"/>
          <p:nvPr/>
        </p:nvSpPr>
        <p:spPr bwMode="auto">
          <a:xfrm>
            <a:off x="914400" y="2641599"/>
            <a:ext cx="4775200" cy="2717800"/>
          </a:xfrm>
          <a:prstGeom prst="rect">
            <a:avLst/>
          </a:prstGeom>
        </p:spPr>
        <p:txBody>
          <a:bodyPr vert="horz" wrap="square" lIns="0" tIns="0" rIns="0" bIns="0" rtlCol="0">
            <a:noAutofit/>
          </a:bodyPr>
          <a:lstStyle/>
          <a:p>
            <a:r>
              <a:rPr lang="ru-RU" sz="2300">
                <a:solidFill>
                  <a:srgbClr val="352379"/>
                </a:solidFill>
                <a:latin typeface="Montserrat"/>
              </a:rPr>
              <a:t>Ребро с весом w(u, v) &lt; 0.</a:t>
            </a:r>
          </a:p>
          <a:p>
            <a:endParaRPr lang="ru-RU" sz="2300">
              <a:solidFill>
                <a:srgbClr val="352379"/>
              </a:solidFill>
              <a:latin typeface="Montserrat"/>
            </a:endParaRPr>
          </a:p>
          <a:p>
            <a:r>
              <a:rPr lang="ru-RU" sz="2300">
                <a:solidFill>
                  <a:srgbClr val="352379"/>
                </a:solidFill>
                <a:latin typeface="Montserrat"/>
              </a:rPr>
              <a:t>Например, скидка уменьшает суммарную стоимость переходов.</a:t>
            </a:r>
          </a:p>
        </p:txBody>
      </p:sp>
      <p:sp>
        <p:nvSpPr>
          <p:cNvPr id="16" name="right-body">
            <a:extLst>
              <a:ext uri="{FF2B5EF4-FFF2-40B4-BE49-F238E27FC236}">
                <a16:creationId xmlns:a16="http://schemas.microsoft.com/office/drawing/2014/main" id="{48A9C8D4-7CC3-4029-A030-3AE31A4305AF}"/>
              </a:ext>
            </a:extLst>
          </p:cNvPr>
          <p:cNvSpPr/>
          <p:nvPr/>
        </p:nvSpPr>
        <p:spPr>
          <a:xfrm>
            <a:off x="6477000" y="1816100"/>
            <a:ext cx="5207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right-head">
            <a:extLst>
              <a:ext uri="{FF2B5EF4-FFF2-40B4-BE49-F238E27FC236}">
                <a16:creationId xmlns:a16="http://schemas.microsoft.com/office/drawing/2014/main" id="{8B76840C-BC5D-4F4F-ADB8-F4D0BBC24975}"/>
              </a:ext>
            </a:extLst>
          </p:cNvPr>
          <p:cNvSpPr/>
          <p:nvPr/>
        </p:nvSpPr>
        <p:spPr>
          <a:xfrm>
            <a:off x="64770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right-heading">
            <a:extLst>
              <a:ext uri="{FF2B5EF4-FFF2-40B4-BE49-F238E27FC236}">
                <a16:creationId xmlns:a16="http://schemas.microsoft.com/office/drawing/2014/main" id="{9A74D7C7-3015-4704-A3EE-1CB69F48BF82}"/>
              </a:ext>
            </a:extLst>
          </p:cNvPr>
          <p:cNvSpPr txBox="1"/>
          <p:nvPr/>
        </p:nvSpPr>
        <p:spPr bwMode="auto">
          <a:xfrm>
            <a:off x="66675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Условие применимости</a:t>
            </a:r>
          </a:p>
        </p:txBody>
      </p:sp>
      <p:sp>
        <p:nvSpPr>
          <p:cNvPr id="19" name="right-text">
            <a:extLst>
              <a:ext uri="{FF2B5EF4-FFF2-40B4-BE49-F238E27FC236}">
                <a16:creationId xmlns:a16="http://schemas.microsoft.com/office/drawing/2014/main" id="{5476D98C-4916-4A65-A6B6-9D5966BAEFF8}"/>
              </a:ext>
            </a:extLst>
          </p:cNvPr>
          <p:cNvSpPr txBox="1"/>
          <p:nvPr/>
        </p:nvSpPr>
        <p:spPr bwMode="auto">
          <a:xfrm>
            <a:off x="6692900" y="2641599"/>
            <a:ext cx="4775200" cy="2717800"/>
          </a:xfrm>
          <a:prstGeom prst="rect">
            <a:avLst/>
          </a:prstGeom>
        </p:spPr>
        <p:txBody>
          <a:bodyPr vert="horz" wrap="square" lIns="0" tIns="0" rIns="0" bIns="0" rtlCol="0">
            <a:noAutofit/>
          </a:bodyPr>
          <a:lstStyle/>
          <a:p>
            <a:r>
              <a:rPr lang="ru-RU" sz="2300">
                <a:solidFill>
                  <a:srgbClr val="352379"/>
                </a:solidFill>
                <a:latin typeface="Montserrat"/>
              </a:rPr>
              <a:t>Дейкстра требует w(e) ≥ 0 для всех рёбер.</a:t>
            </a:r>
          </a:p>
          <a:p>
            <a:endParaRPr lang="ru-RU" sz="2300">
              <a:solidFill>
                <a:srgbClr val="352379"/>
              </a:solidFill>
              <a:latin typeface="Montserrat"/>
            </a:endParaRPr>
          </a:p>
          <a:p>
            <a:r>
              <a:rPr lang="ru-RU" sz="2300">
                <a:solidFill>
                  <a:srgbClr val="352379"/>
                </a:solidFill>
                <a:latin typeface="Montserrat"/>
              </a:rPr>
              <a:t>Иначе выбранный минимум может улучшиться позже.</a:t>
            </a:r>
          </a:p>
        </p:txBody>
      </p:sp>
    </p:spTree>
    <p:extLst>
      <p:ext uri="{BB962C8B-B14F-4D97-AF65-F5344CB8AC3E}">
        <p14:creationId xmlns:p14="http://schemas.microsoft.com/office/powerpoint/2010/main" val="3026659581"/>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C68D83-F32C-475E-B9B6-56E99B2EF1B8}"/>
              </a:ext>
            </a:extLst>
          </p:cNvPr>
          <p:cNvSpPr>
            <a:spLocks noGrp="1"/>
          </p:cNvSpPr>
          <p:nvPr>
            <p:ph type="title"/>
          </p:nvPr>
        </p:nvSpPr>
        <p:spPr>
          <a:xfrm>
            <a:off x="479425" y="597855"/>
            <a:ext cx="11229975" cy="1140459"/>
          </a:xfrm>
        </p:spPr>
        <p:txBody>
          <a:bodyPr/>
          <a:lstStyle/>
          <a:p>
            <a:r>
              <a:rPr lang="ru-RU"/>
              <a:t>Контрпример: минимум выбран слишком рано</a:t>
            </a:r>
          </a:p>
        </p:txBody>
      </p:sp>
      <p:sp>
        <p:nvSpPr>
          <p:cNvPr id="7" name="Текст 6">
            <a:extLst>
              <a:ext uri="{FF2B5EF4-FFF2-40B4-BE49-F238E27FC236}">
                <a16:creationId xmlns:a16="http://schemas.microsoft.com/office/drawing/2014/main" id="{EBCA6B87-FD99-4A52-A743-5C10DD86E132}"/>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159D26F9-9BB8-4055-B4A9-FCE6ABF5352C}"/>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1E4D0565-C016-4A5B-9378-110E6DA40757}"/>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41</a:t>
            </a:r>
          </a:p>
        </p:txBody>
      </p:sp>
      <p:sp>
        <p:nvSpPr>
          <p:cNvPr id="10" name="bottom-band">
            <a:extLst>
              <a:ext uri="{FF2B5EF4-FFF2-40B4-BE49-F238E27FC236}">
                <a16:creationId xmlns:a16="http://schemas.microsoft.com/office/drawing/2014/main" id="{ACB207C3-6CF2-4EDB-A943-3FA98EFDBC6E}"/>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EB145589-AD24-4EDD-B231-FF94B128B402}"/>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Ошибка ранней фиксации или остановки на цели: 2 вместо 1</a:t>
            </a:r>
          </a:p>
        </p:txBody>
      </p:sp>
      <p:cxnSp>
        <p:nvCxnSpPr>
          <p:cNvPr id="12" name="!!triangle-edge-AB">
            <a:extLst>
              <a:ext uri="{FF2B5EF4-FFF2-40B4-BE49-F238E27FC236}">
                <a16:creationId xmlns:a16="http://schemas.microsoft.com/office/drawing/2014/main" id="{52751092-929A-48FC-9300-E6F76AA775B5}"/>
              </a:ext>
            </a:extLst>
          </p:cNvPr>
          <p:cNvCxnSpPr/>
          <p:nvPr/>
        </p:nvCxnSpPr>
        <p:spPr>
          <a:xfrm flipV="1">
            <a:off x="1604417" y="2615801"/>
            <a:ext cx="4093666" cy="927898"/>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3" name="!!triangle-weight-AB">
            <a:extLst>
              <a:ext uri="{FF2B5EF4-FFF2-40B4-BE49-F238E27FC236}">
                <a16:creationId xmlns:a16="http://schemas.microsoft.com/office/drawing/2014/main" id="{0197CFFE-BA2D-4464-AF33-F8A40D8870E9}"/>
              </a:ext>
            </a:extLst>
          </p:cNvPr>
          <p:cNvSpPr txBox="1"/>
          <p:nvPr/>
        </p:nvSpPr>
        <p:spPr bwMode="auto">
          <a:xfrm>
            <a:off x="3475859" y="3223352"/>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14" name="!!triangle-edge-AC">
            <a:extLst>
              <a:ext uri="{FF2B5EF4-FFF2-40B4-BE49-F238E27FC236}">
                <a16:creationId xmlns:a16="http://schemas.microsoft.com/office/drawing/2014/main" id="{A158EE4C-6B41-4C7C-AA8B-8765DE8F0E8D}"/>
              </a:ext>
            </a:extLst>
          </p:cNvPr>
          <p:cNvCxnSpPr/>
          <p:nvPr/>
        </p:nvCxnSpPr>
        <p:spPr>
          <a:xfrm>
            <a:off x="1600200" y="3711956"/>
            <a:ext cx="4102100" cy="1148588"/>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5" name="!!triangle-weight-AC">
            <a:extLst>
              <a:ext uri="{FF2B5EF4-FFF2-40B4-BE49-F238E27FC236}">
                <a16:creationId xmlns:a16="http://schemas.microsoft.com/office/drawing/2014/main" id="{99053493-DD33-4C26-9782-B77241715AD5}"/>
              </a:ext>
            </a:extLst>
          </p:cNvPr>
          <p:cNvSpPr txBox="1"/>
          <p:nvPr/>
        </p:nvSpPr>
        <p:spPr bwMode="auto">
          <a:xfrm>
            <a:off x="3301369" y="442547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5</a:t>
            </a:r>
          </a:p>
        </p:txBody>
      </p:sp>
      <p:cxnSp>
        <p:nvCxnSpPr>
          <p:cNvPr id="16" name="!!triangle-edge-CB">
            <a:extLst>
              <a:ext uri="{FF2B5EF4-FFF2-40B4-BE49-F238E27FC236}">
                <a16:creationId xmlns:a16="http://schemas.microsoft.com/office/drawing/2014/main" id="{F4D1929F-172A-4448-A56C-2E625689C7B4}"/>
              </a:ext>
            </a:extLst>
          </p:cNvPr>
          <p:cNvCxnSpPr/>
          <p:nvPr/>
        </p:nvCxnSpPr>
        <p:spPr>
          <a:xfrm flipV="1">
            <a:off x="6032500" y="2882900"/>
            <a:ext cx="0" cy="172720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7" name="!!triangle-weight-CB">
            <a:extLst>
              <a:ext uri="{FF2B5EF4-FFF2-40B4-BE49-F238E27FC236}">
                <a16:creationId xmlns:a16="http://schemas.microsoft.com/office/drawing/2014/main" id="{CFC01041-E1C0-464E-AB3F-38DDA0D5F97E}"/>
              </a:ext>
            </a:extLst>
          </p:cNvPr>
          <p:cNvSpPr txBox="1"/>
          <p:nvPr/>
        </p:nvSpPr>
        <p:spPr bwMode="auto">
          <a:xfrm>
            <a:off x="5422900" y="3543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sp>
        <p:nvSpPr>
          <p:cNvPr id="18" name="!!triangle-node-A">
            <a:extLst>
              <a:ext uri="{FF2B5EF4-FFF2-40B4-BE49-F238E27FC236}">
                <a16:creationId xmlns:a16="http://schemas.microsoft.com/office/drawing/2014/main" id="{ABA27D80-C386-471A-BE3A-49A07BEB03DA}"/>
              </a:ext>
            </a:extLst>
          </p:cNvPr>
          <p:cNvSpPr/>
          <p:nvPr/>
        </p:nvSpPr>
        <p:spPr>
          <a:xfrm>
            <a:off x="952500" y="330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9" name="!!triangle-node-B">
            <a:extLst>
              <a:ext uri="{FF2B5EF4-FFF2-40B4-BE49-F238E27FC236}">
                <a16:creationId xmlns:a16="http://schemas.microsoft.com/office/drawing/2014/main" id="{A7BCF9DA-8572-40C2-A87F-70FE4C77456D}"/>
              </a:ext>
            </a:extLst>
          </p:cNvPr>
          <p:cNvSpPr/>
          <p:nvPr/>
        </p:nvSpPr>
        <p:spPr>
          <a:xfrm>
            <a:off x="5715000" y="2222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20" name="!!triangle-node-C">
            <a:extLst>
              <a:ext uri="{FF2B5EF4-FFF2-40B4-BE49-F238E27FC236}">
                <a16:creationId xmlns:a16="http://schemas.microsoft.com/office/drawing/2014/main" id="{A799A42B-FF43-466B-9FAE-DAAAA40DCC92}"/>
              </a:ext>
            </a:extLst>
          </p:cNvPr>
          <p:cNvSpPr/>
          <p:nvPr/>
        </p:nvSpPr>
        <p:spPr>
          <a:xfrm>
            <a:off x="5715000" y="4635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21" name="counter-body">
            <a:extLst>
              <a:ext uri="{FF2B5EF4-FFF2-40B4-BE49-F238E27FC236}">
                <a16:creationId xmlns:a16="http://schemas.microsoft.com/office/drawing/2014/main" id="{991F7F5C-6E3F-4EB7-A62B-E17BC9A8FC49}"/>
              </a:ext>
            </a:extLst>
          </p:cNvPr>
          <p:cNvSpPr/>
          <p:nvPr/>
        </p:nvSpPr>
        <p:spPr>
          <a:xfrm>
            <a:off x="7874000" y="1816100"/>
            <a:ext cx="3835400" cy="37846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counter-head">
            <a:extLst>
              <a:ext uri="{FF2B5EF4-FFF2-40B4-BE49-F238E27FC236}">
                <a16:creationId xmlns:a16="http://schemas.microsoft.com/office/drawing/2014/main" id="{D741ABE5-E26B-4E69-A3D3-DAA9F98B55C3}"/>
              </a:ext>
            </a:extLst>
          </p:cNvPr>
          <p:cNvSpPr/>
          <p:nvPr/>
        </p:nvSpPr>
        <p:spPr>
          <a:xfrm>
            <a:off x="7874000" y="1816100"/>
            <a:ext cx="38354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counter-heading">
            <a:extLst>
              <a:ext uri="{FF2B5EF4-FFF2-40B4-BE49-F238E27FC236}">
                <a16:creationId xmlns:a16="http://schemas.microsoft.com/office/drawing/2014/main" id="{4A8D2A5F-6792-4760-B248-EB7DC506A607}"/>
              </a:ext>
            </a:extLst>
          </p:cNvPr>
          <p:cNvSpPr txBox="1"/>
          <p:nvPr/>
        </p:nvSpPr>
        <p:spPr bwMode="auto">
          <a:xfrm>
            <a:off x="8064500" y="1930399"/>
            <a:ext cx="3454400" cy="381000"/>
          </a:xfrm>
          <a:prstGeom prst="rect">
            <a:avLst/>
          </a:prstGeom>
        </p:spPr>
        <p:txBody>
          <a:bodyPr vert="horz" wrap="square" lIns="0" tIns="0" rIns="0" bIns="0" rtlCol="0">
            <a:noAutofit/>
          </a:bodyPr>
          <a:lstStyle/>
          <a:p>
            <a:r>
              <a:rPr lang="ru-RU" sz="2100">
                <a:solidFill>
                  <a:srgbClr val="FFFFFF"/>
                </a:solidFill>
                <a:latin typeface="Montserrat"/>
              </a:rPr>
              <a:t>Сравнение</a:t>
            </a:r>
          </a:p>
        </p:txBody>
      </p:sp>
      <p:sp>
        <p:nvSpPr>
          <p:cNvPr id="24" name="counter-text">
            <a:extLst>
              <a:ext uri="{FF2B5EF4-FFF2-40B4-BE49-F238E27FC236}">
                <a16:creationId xmlns:a16="http://schemas.microsoft.com/office/drawing/2014/main" id="{D0D2932E-6549-4560-BCD6-95681A0C63C9}"/>
              </a:ext>
            </a:extLst>
          </p:cNvPr>
          <p:cNvSpPr txBox="1"/>
          <p:nvPr/>
        </p:nvSpPr>
        <p:spPr bwMode="auto">
          <a:xfrm>
            <a:off x="8089900" y="2641599"/>
            <a:ext cx="3403600" cy="2819400"/>
          </a:xfrm>
          <a:prstGeom prst="rect">
            <a:avLst/>
          </a:prstGeom>
        </p:spPr>
        <p:txBody>
          <a:bodyPr vert="horz" wrap="square" lIns="0" tIns="0" rIns="0" bIns="0" rtlCol="0">
            <a:noAutofit/>
          </a:bodyPr>
          <a:lstStyle/>
          <a:p>
            <a:r>
              <a:rPr lang="ru-RU" sz="2300">
                <a:solidFill>
                  <a:srgbClr val="352379"/>
                </a:solidFill>
                <a:latin typeface="Montserrat"/>
              </a:rPr>
              <a:t>Сначала B = 2 фиксируется.</a:t>
            </a:r>
          </a:p>
          <a:p>
            <a:endParaRPr lang="ru-RU" sz="2300">
              <a:solidFill>
                <a:srgbClr val="352379"/>
              </a:solidFill>
              <a:latin typeface="Montserrat"/>
            </a:endParaRPr>
          </a:p>
          <a:p>
            <a:r>
              <a:rPr lang="ru-RU" sz="2300">
                <a:solidFill>
                  <a:srgbClr val="352379"/>
                </a:solidFill>
                <a:latin typeface="Montserrat"/>
              </a:rPr>
              <a:t>Но через C:</a:t>
            </a:r>
          </a:p>
          <a:p>
            <a:r>
              <a:rPr lang="ru-RU" sz="2300">
                <a:solidFill>
                  <a:srgbClr val="352379"/>
                </a:solidFill>
                <a:latin typeface="Montserrat"/>
              </a:rPr>
              <a:t>5 + (−4) = 1</a:t>
            </a:r>
          </a:p>
          <a:p>
            <a:endParaRPr lang="ru-RU" sz="2300">
              <a:solidFill>
                <a:srgbClr val="352379"/>
              </a:solidFill>
              <a:latin typeface="Montserrat"/>
            </a:endParaRPr>
          </a:p>
          <a:p>
            <a:r>
              <a:rPr lang="ru-RU" sz="2300">
                <a:solidFill>
                  <a:srgbClr val="352379"/>
                </a:solidFill>
                <a:latin typeface="Montserrat"/>
              </a:rPr>
              <a:t>Нужно уменьшить уже выбранную B.</a:t>
            </a:r>
          </a:p>
        </p:txBody>
      </p:sp>
    </p:spTree>
    <p:extLst>
      <p:ext uri="{BB962C8B-B14F-4D97-AF65-F5344CB8AC3E}">
        <p14:creationId xmlns:p14="http://schemas.microsoft.com/office/powerpoint/2010/main" val="2080675157"/>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67684C-9437-4C83-A00F-0652CCE56940}"/>
              </a:ext>
            </a:extLst>
          </p:cNvPr>
          <p:cNvSpPr>
            <a:spLocks noGrp="1"/>
          </p:cNvSpPr>
          <p:nvPr>
            <p:ph type="title"/>
          </p:nvPr>
        </p:nvSpPr>
        <p:spPr>
          <a:xfrm>
            <a:off x="479425" y="597855"/>
            <a:ext cx="11229975" cy="1140459"/>
          </a:xfrm>
        </p:spPr>
        <p:txBody>
          <a:bodyPr/>
          <a:lstStyle/>
          <a:p>
            <a:r>
              <a:rPr lang="ru-RU"/>
              <a:t>Алгоритм Беллмана–Форда</a:t>
            </a:r>
          </a:p>
        </p:txBody>
      </p:sp>
      <p:sp>
        <p:nvSpPr>
          <p:cNvPr id="7" name="Текст 6">
            <a:extLst>
              <a:ext uri="{FF2B5EF4-FFF2-40B4-BE49-F238E27FC236}">
                <a16:creationId xmlns:a16="http://schemas.microsoft.com/office/drawing/2014/main" id="{C36B3E06-EC0C-4AB8-89C8-1FB4E6B87748}"/>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2B191637-E809-4451-823B-5F6F96A95AC2}"/>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B05A8AD2-1140-42F0-AF2D-1D525184A46E}"/>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42</a:t>
            </a:r>
          </a:p>
        </p:txBody>
      </p:sp>
      <p:sp>
        <p:nvSpPr>
          <p:cNvPr id="10" name="bottom-band">
            <a:extLst>
              <a:ext uri="{FF2B5EF4-FFF2-40B4-BE49-F238E27FC236}">
                <a16:creationId xmlns:a16="http://schemas.microsoft.com/office/drawing/2014/main" id="{9B19E295-1D56-44EE-A1A6-CE6E44E0A541}"/>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FBD02036-16A6-4A86-BF6C-E246B6598AB6}"/>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Корректные конечные расстояния получаем при отсутствии достижимого отрицательного цикла</a:t>
            </a:r>
          </a:p>
        </p:txBody>
      </p:sp>
      <p:sp>
        <p:nvSpPr>
          <p:cNvPr id="12" name="left-body">
            <a:extLst>
              <a:ext uri="{FF2B5EF4-FFF2-40B4-BE49-F238E27FC236}">
                <a16:creationId xmlns:a16="http://schemas.microsoft.com/office/drawing/2014/main" id="{1AF95D26-4B0A-4A0E-BF2A-720E7300A26E}"/>
              </a:ext>
            </a:extLst>
          </p:cNvPr>
          <p:cNvSpPr/>
          <p:nvPr/>
        </p:nvSpPr>
        <p:spPr>
          <a:xfrm>
            <a:off x="698500" y="1816100"/>
            <a:ext cx="5207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left-head">
            <a:extLst>
              <a:ext uri="{FF2B5EF4-FFF2-40B4-BE49-F238E27FC236}">
                <a16:creationId xmlns:a16="http://schemas.microsoft.com/office/drawing/2014/main" id="{5C3C3B75-BFA8-4998-B1B7-22F6A91A5731}"/>
              </a:ext>
            </a:extLst>
          </p:cNvPr>
          <p:cNvSpPr/>
          <p:nvPr/>
        </p:nvSpPr>
        <p:spPr>
          <a:xfrm>
            <a:off x="6985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left-heading">
            <a:extLst>
              <a:ext uri="{FF2B5EF4-FFF2-40B4-BE49-F238E27FC236}">
                <a16:creationId xmlns:a16="http://schemas.microsoft.com/office/drawing/2014/main" id="{8CD3700A-C8CF-4DA0-9E67-292B9603C19E}"/>
              </a:ext>
            </a:extLst>
          </p:cNvPr>
          <p:cNvSpPr txBox="1"/>
          <p:nvPr/>
        </p:nvSpPr>
        <p:spPr bwMode="auto">
          <a:xfrm>
            <a:off x="8890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Определение</a:t>
            </a:r>
          </a:p>
        </p:txBody>
      </p:sp>
      <p:sp>
        <p:nvSpPr>
          <p:cNvPr id="15" name="left-text">
            <a:extLst>
              <a:ext uri="{FF2B5EF4-FFF2-40B4-BE49-F238E27FC236}">
                <a16:creationId xmlns:a16="http://schemas.microsoft.com/office/drawing/2014/main" id="{9490200A-EF40-4E15-AA05-A970596B71EF}"/>
              </a:ext>
            </a:extLst>
          </p:cNvPr>
          <p:cNvSpPr txBox="1"/>
          <p:nvPr/>
        </p:nvSpPr>
        <p:spPr bwMode="auto">
          <a:xfrm>
            <a:off x="914400" y="2641599"/>
            <a:ext cx="4775200" cy="2717800"/>
          </a:xfrm>
          <a:prstGeom prst="rect">
            <a:avLst/>
          </a:prstGeom>
        </p:spPr>
        <p:txBody>
          <a:bodyPr vert="horz" wrap="square" lIns="0" tIns="0" rIns="0" bIns="0" rtlCol="0">
            <a:noAutofit/>
          </a:bodyPr>
          <a:lstStyle/>
          <a:p>
            <a:r>
              <a:rPr lang="ru-RU" sz="2300">
                <a:solidFill>
                  <a:srgbClr val="352379"/>
                </a:solidFill>
                <a:latin typeface="Montserrat"/>
              </a:rPr>
              <a:t>Беллман–Форд ищет кратчайшие расстояния от одного источника, допускает отрицательные веса и обнаруживает достижимый отрицательный цикл.</a:t>
            </a:r>
          </a:p>
        </p:txBody>
      </p:sp>
      <p:sp>
        <p:nvSpPr>
          <p:cNvPr id="16" name="right-body">
            <a:extLst>
              <a:ext uri="{FF2B5EF4-FFF2-40B4-BE49-F238E27FC236}">
                <a16:creationId xmlns:a16="http://schemas.microsoft.com/office/drawing/2014/main" id="{A27E2A00-9C72-4FB3-BEC8-950D7810B328}"/>
              </a:ext>
            </a:extLst>
          </p:cNvPr>
          <p:cNvSpPr/>
          <p:nvPr/>
        </p:nvSpPr>
        <p:spPr>
          <a:xfrm>
            <a:off x="6477000" y="1816100"/>
            <a:ext cx="52070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right-head">
            <a:extLst>
              <a:ext uri="{FF2B5EF4-FFF2-40B4-BE49-F238E27FC236}">
                <a16:creationId xmlns:a16="http://schemas.microsoft.com/office/drawing/2014/main" id="{E31C1BA5-EDD3-4225-8424-7725E5E6E767}"/>
              </a:ext>
            </a:extLst>
          </p:cNvPr>
          <p:cNvSpPr/>
          <p:nvPr/>
        </p:nvSpPr>
        <p:spPr>
          <a:xfrm>
            <a:off x="64770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right-heading">
            <a:extLst>
              <a:ext uri="{FF2B5EF4-FFF2-40B4-BE49-F238E27FC236}">
                <a16:creationId xmlns:a16="http://schemas.microsoft.com/office/drawing/2014/main" id="{F5D3CA97-D31F-425B-A1D0-FB6E7099691F}"/>
              </a:ext>
            </a:extLst>
          </p:cNvPr>
          <p:cNvSpPr txBox="1"/>
          <p:nvPr/>
        </p:nvSpPr>
        <p:spPr bwMode="auto">
          <a:xfrm>
            <a:off x="66675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Идея</a:t>
            </a:r>
          </a:p>
        </p:txBody>
      </p:sp>
      <p:sp>
        <p:nvSpPr>
          <p:cNvPr id="19" name="right-text">
            <a:extLst>
              <a:ext uri="{FF2B5EF4-FFF2-40B4-BE49-F238E27FC236}">
                <a16:creationId xmlns:a16="http://schemas.microsoft.com/office/drawing/2014/main" id="{FE0497F0-7FE6-4495-B4C0-E7E41506B7BD}"/>
              </a:ext>
            </a:extLst>
          </p:cNvPr>
          <p:cNvSpPr txBox="1"/>
          <p:nvPr/>
        </p:nvSpPr>
        <p:spPr bwMode="auto">
          <a:xfrm>
            <a:off x="6692900" y="2641599"/>
            <a:ext cx="4775200" cy="2717800"/>
          </a:xfrm>
          <a:prstGeom prst="rect">
            <a:avLst/>
          </a:prstGeom>
        </p:spPr>
        <p:txBody>
          <a:bodyPr vert="horz" wrap="square" lIns="0" tIns="0" rIns="0" bIns="0" rtlCol="0">
            <a:noAutofit/>
          </a:bodyPr>
          <a:lstStyle/>
          <a:p>
            <a:r>
              <a:rPr lang="ru-RU" sz="2300">
                <a:solidFill>
                  <a:srgbClr val="352379"/>
                </a:solidFill>
                <a:latin typeface="Montserrat"/>
              </a:rPr>
              <a:t>Повторяем релаксацию всех рёбер.</a:t>
            </a:r>
          </a:p>
          <a:p>
            <a:endParaRPr lang="ru-RU" sz="2300">
              <a:solidFill>
                <a:srgbClr val="352379"/>
              </a:solidFill>
              <a:latin typeface="Montserrat"/>
            </a:endParaRPr>
          </a:p>
          <a:p>
            <a:r>
              <a:rPr lang="ru-RU" sz="2300">
                <a:solidFill>
                  <a:srgbClr val="352379"/>
                </a:solidFill>
                <a:latin typeface="Montserrat"/>
              </a:rPr>
              <a:t>Не объявляем отдельную вершину окончательной после выбора минимума.</a:t>
            </a:r>
          </a:p>
        </p:txBody>
      </p:sp>
    </p:spTree>
    <p:extLst>
      <p:ext uri="{BB962C8B-B14F-4D97-AF65-F5344CB8AC3E}">
        <p14:creationId xmlns:p14="http://schemas.microsoft.com/office/powerpoint/2010/main" val="2385729261"/>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34EE99C-6279-4151-A75A-A135A36BFE1D}"/>
              </a:ext>
            </a:extLst>
          </p:cNvPr>
          <p:cNvSpPr>
            <a:spLocks noGrp="1"/>
          </p:cNvSpPr>
          <p:nvPr>
            <p:ph type="title"/>
          </p:nvPr>
        </p:nvSpPr>
        <p:spPr>
          <a:xfrm>
            <a:off x="479425" y="597855"/>
            <a:ext cx="11229975" cy="1140459"/>
          </a:xfrm>
        </p:spPr>
        <p:txBody>
          <a:bodyPr/>
          <a:lstStyle/>
          <a:p>
            <a:r>
              <a:rPr lang="ru-RU"/>
              <a:t>Почему достаточно V − 1 проходов</a:t>
            </a:r>
          </a:p>
        </p:txBody>
      </p:sp>
      <p:sp>
        <p:nvSpPr>
          <p:cNvPr id="7" name="Текст 6">
            <a:extLst>
              <a:ext uri="{FF2B5EF4-FFF2-40B4-BE49-F238E27FC236}">
                <a16:creationId xmlns:a16="http://schemas.microsoft.com/office/drawing/2014/main" id="{B9F2C7A2-5767-4362-A61F-62AB9F052A7D}"/>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4D60B5ED-0720-4D62-AB4B-53A9F506424A}"/>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AB2DDE16-0C7A-422D-B979-709F83342EA0}"/>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43</a:t>
            </a:r>
          </a:p>
        </p:txBody>
      </p:sp>
      <p:sp>
        <p:nvSpPr>
          <p:cNvPr id="10" name="bottom-band">
            <a:extLst>
              <a:ext uri="{FF2B5EF4-FFF2-40B4-BE49-F238E27FC236}">
                <a16:creationId xmlns:a16="http://schemas.microsoft.com/office/drawing/2014/main" id="{3B4AC65E-8A16-4602-A547-BECE11253F21}"/>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058F2C69-AFBA-44A5-A0BA-B76EDE5E89BA}"/>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Простой путь без повторов содержит не более V − 1 рёбер</a:t>
            </a:r>
          </a:p>
        </p:txBody>
      </p:sp>
      <p:cxnSp>
        <p:nvCxnSpPr>
          <p:cNvPr id="12" name="!!chain-edge-AB">
            <a:extLst>
              <a:ext uri="{FF2B5EF4-FFF2-40B4-BE49-F238E27FC236}">
                <a16:creationId xmlns:a16="http://schemas.microsoft.com/office/drawing/2014/main" id="{80561DC1-A374-45B3-8173-1166F1932A17}"/>
              </a:ext>
            </a:extLst>
          </p:cNvPr>
          <p:cNvCxnSpPr/>
          <p:nvPr/>
        </p:nvCxnSpPr>
        <p:spPr>
          <a:xfrm>
            <a:off x="1676400" y="2984500"/>
            <a:ext cx="1727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3" name="!!chain-weight-AB">
            <a:extLst>
              <a:ext uri="{FF2B5EF4-FFF2-40B4-BE49-F238E27FC236}">
                <a16:creationId xmlns:a16="http://schemas.microsoft.com/office/drawing/2014/main" id="{4FC458D1-5CB3-452A-A77E-A256DD934839}"/>
              </a:ext>
            </a:extLst>
          </p:cNvPr>
          <p:cNvSpPr txBox="1"/>
          <p:nvPr/>
        </p:nvSpPr>
        <p:spPr bwMode="auto">
          <a:xfrm>
            <a:off x="2286000" y="3136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14" name="!!chain-edge-BC">
            <a:extLst>
              <a:ext uri="{FF2B5EF4-FFF2-40B4-BE49-F238E27FC236}">
                <a16:creationId xmlns:a16="http://schemas.microsoft.com/office/drawing/2014/main" id="{83D60167-6FEC-4633-83FA-158D0684FEB9}"/>
              </a:ext>
            </a:extLst>
          </p:cNvPr>
          <p:cNvCxnSpPr/>
          <p:nvPr/>
        </p:nvCxnSpPr>
        <p:spPr>
          <a:xfrm>
            <a:off x="4089400" y="2984500"/>
            <a:ext cx="1727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5" name="!!chain-weight-BC">
            <a:extLst>
              <a:ext uri="{FF2B5EF4-FFF2-40B4-BE49-F238E27FC236}">
                <a16:creationId xmlns:a16="http://schemas.microsoft.com/office/drawing/2014/main" id="{90EAF31E-5C5E-4B1C-B46C-8321271DC93A}"/>
              </a:ext>
            </a:extLst>
          </p:cNvPr>
          <p:cNvSpPr txBox="1"/>
          <p:nvPr/>
        </p:nvSpPr>
        <p:spPr bwMode="auto">
          <a:xfrm>
            <a:off x="4699000" y="3136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16" name="!!chain-edge-CD">
            <a:extLst>
              <a:ext uri="{FF2B5EF4-FFF2-40B4-BE49-F238E27FC236}">
                <a16:creationId xmlns:a16="http://schemas.microsoft.com/office/drawing/2014/main" id="{3760EF4D-A486-463E-A984-6F3BA0AAD958}"/>
              </a:ext>
            </a:extLst>
          </p:cNvPr>
          <p:cNvCxnSpPr/>
          <p:nvPr/>
        </p:nvCxnSpPr>
        <p:spPr>
          <a:xfrm>
            <a:off x="6502400" y="2984500"/>
            <a:ext cx="1727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7" name="!!chain-weight-CD">
            <a:extLst>
              <a:ext uri="{FF2B5EF4-FFF2-40B4-BE49-F238E27FC236}">
                <a16:creationId xmlns:a16="http://schemas.microsoft.com/office/drawing/2014/main" id="{3E30FAED-0D77-47D7-ACCE-56466776ED27}"/>
              </a:ext>
            </a:extLst>
          </p:cNvPr>
          <p:cNvSpPr txBox="1"/>
          <p:nvPr/>
        </p:nvSpPr>
        <p:spPr bwMode="auto">
          <a:xfrm>
            <a:off x="7112000" y="3136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sp>
        <p:nvSpPr>
          <p:cNvPr id="18" name="!!chain-node-A">
            <a:extLst>
              <a:ext uri="{FF2B5EF4-FFF2-40B4-BE49-F238E27FC236}">
                <a16:creationId xmlns:a16="http://schemas.microsoft.com/office/drawing/2014/main" id="{D8857C8A-C4B6-4A22-AE3D-976C9DFA90EA}"/>
              </a:ext>
            </a:extLst>
          </p:cNvPr>
          <p:cNvSpPr/>
          <p:nvPr/>
        </p:nvSpPr>
        <p:spPr>
          <a:xfrm>
            <a:off x="1016000" y="2667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9" name="!!chain-node-B">
            <a:extLst>
              <a:ext uri="{FF2B5EF4-FFF2-40B4-BE49-F238E27FC236}">
                <a16:creationId xmlns:a16="http://schemas.microsoft.com/office/drawing/2014/main" id="{863831F7-33C9-4BB0-BD6E-8715E6DA65B4}"/>
              </a:ext>
            </a:extLst>
          </p:cNvPr>
          <p:cNvSpPr/>
          <p:nvPr/>
        </p:nvSpPr>
        <p:spPr>
          <a:xfrm>
            <a:off x="3429000" y="2667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20" name="!!chain-node-C">
            <a:extLst>
              <a:ext uri="{FF2B5EF4-FFF2-40B4-BE49-F238E27FC236}">
                <a16:creationId xmlns:a16="http://schemas.microsoft.com/office/drawing/2014/main" id="{908B7AEB-1FD3-482C-8DAB-D1AD3941FC07}"/>
              </a:ext>
            </a:extLst>
          </p:cNvPr>
          <p:cNvSpPr/>
          <p:nvPr/>
        </p:nvSpPr>
        <p:spPr>
          <a:xfrm>
            <a:off x="5842000" y="2667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21" name="!!chain-node-D">
            <a:extLst>
              <a:ext uri="{FF2B5EF4-FFF2-40B4-BE49-F238E27FC236}">
                <a16:creationId xmlns:a16="http://schemas.microsoft.com/office/drawing/2014/main" id="{A654362B-6154-40F6-989C-9A5FFDFEB9E9}"/>
              </a:ext>
            </a:extLst>
          </p:cNvPr>
          <p:cNvSpPr/>
          <p:nvPr/>
        </p:nvSpPr>
        <p:spPr>
          <a:xfrm>
            <a:off x="8255000" y="2667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22" name="vminus1">
            <a:extLst>
              <a:ext uri="{FF2B5EF4-FFF2-40B4-BE49-F238E27FC236}">
                <a16:creationId xmlns:a16="http://schemas.microsoft.com/office/drawing/2014/main" id="{53BEE8B2-E333-4390-8CB1-AFC10E0E1D5F}"/>
              </a:ext>
            </a:extLst>
          </p:cNvPr>
          <p:cNvSpPr txBox="1"/>
          <p:nvPr/>
        </p:nvSpPr>
        <p:spPr bwMode="auto">
          <a:xfrm>
            <a:off x="1143000" y="4038599"/>
            <a:ext cx="9906000" cy="558800"/>
          </a:xfrm>
          <a:prstGeom prst="rect">
            <a:avLst/>
          </a:prstGeom>
        </p:spPr>
        <p:txBody>
          <a:bodyPr vert="horz" wrap="square" lIns="0" tIns="0" rIns="0" bIns="0" rtlCol="0">
            <a:noAutofit/>
          </a:bodyPr>
          <a:lstStyle/>
          <a:p>
            <a:pPr algn="ctr"/>
            <a:r>
              <a:rPr lang="ru-RU" sz="3100" b="1">
                <a:solidFill>
                  <a:srgbClr val="352379"/>
                </a:solidFill>
                <a:latin typeface="Montserrat"/>
              </a:rPr>
              <a:t>4 вершины, 3 ребра</a:t>
            </a:r>
          </a:p>
        </p:txBody>
      </p:sp>
      <p:sp>
        <p:nvSpPr>
          <p:cNvPr id="23" name="pass-guarantee">
            <a:extLst>
              <a:ext uri="{FF2B5EF4-FFF2-40B4-BE49-F238E27FC236}">
                <a16:creationId xmlns:a16="http://schemas.microsoft.com/office/drawing/2014/main" id="{619F2145-B852-46F6-8E41-622B683BF0F7}"/>
              </a:ext>
            </a:extLst>
          </p:cNvPr>
          <p:cNvSpPr txBox="1"/>
          <p:nvPr/>
        </p:nvSpPr>
        <p:spPr bwMode="auto">
          <a:xfrm>
            <a:off x="863600" y="4838699"/>
            <a:ext cx="10464800" cy="762000"/>
          </a:xfrm>
          <a:prstGeom prst="rect">
            <a:avLst/>
          </a:prstGeom>
        </p:spPr>
        <p:txBody>
          <a:bodyPr vert="horz" wrap="square" lIns="0" tIns="0" rIns="0" bIns="0" rtlCol="0">
            <a:noAutofit/>
          </a:bodyPr>
          <a:lstStyle/>
          <a:p>
            <a:pPr algn="ctr"/>
            <a:r>
              <a:rPr lang="ru-RU" sz="2200">
                <a:solidFill>
                  <a:srgbClr val="352379"/>
                </a:solidFill>
                <a:latin typeface="Montserrat"/>
              </a:rPr>
              <a:t>После t полных проходов учтены пути</a:t>
            </a:r>
          </a:p>
          <a:p>
            <a:pPr algn="ctr"/>
            <a:r>
              <a:rPr lang="ru-RU" sz="2200">
                <a:solidFill>
                  <a:srgbClr val="352379"/>
                </a:solidFill>
                <a:latin typeface="Montserrat"/>
              </a:rPr>
              <a:t>не более чем из t рёбер (или больше при удачном порядке).</a:t>
            </a:r>
          </a:p>
        </p:txBody>
      </p:sp>
    </p:spTree>
    <p:extLst>
      <p:ext uri="{BB962C8B-B14F-4D97-AF65-F5344CB8AC3E}">
        <p14:creationId xmlns:p14="http://schemas.microsoft.com/office/powerpoint/2010/main" val="4080179967"/>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C55A8E4-A8DD-40E3-B44D-02DFF9B4FE25}"/>
              </a:ext>
            </a:extLst>
          </p:cNvPr>
          <p:cNvSpPr>
            <a:spLocks noGrp="1"/>
          </p:cNvSpPr>
          <p:nvPr>
            <p:ph type="title"/>
          </p:nvPr>
        </p:nvSpPr>
        <p:spPr>
          <a:xfrm>
            <a:off x="479425" y="597855"/>
            <a:ext cx="11229975" cy="1140459"/>
          </a:xfrm>
        </p:spPr>
        <p:txBody>
          <a:bodyPr/>
          <a:lstStyle/>
          <a:p>
            <a:r>
              <a:rPr lang="ru-RU"/>
              <a:t>Беллман–Форд: проход 1</a:t>
            </a:r>
          </a:p>
        </p:txBody>
      </p:sp>
      <p:sp>
        <p:nvSpPr>
          <p:cNvPr id="7" name="Текст 6">
            <a:extLst>
              <a:ext uri="{FF2B5EF4-FFF2-40B4-BE49-F238E27FC236}">
                <a16:creationId xmlns:a16="http://schemas.microsoft.com/office/drawing/2014/main" id="{A2E23711-E1C1-45F9-A782-E13B6C424AE1}"/>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E4310690-A9E6-4406-B982-18644BEF2FE5}"/>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F665F358-3EB8-42DC-B526-74750B6B59DD}"/>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44</a:t>
            </a:r>
          </a:p>
        </p:txBody>
      </p:sp>
      <p:sp>
        <p:nvSpPr>
          <p:cNvPr id="10" name="bottom-band">
            <a:extLst>
              <a:ext uri="{FF2B5EF4-FFF2-40B4-BE49-F238E27FC236}">
                <a16:creationId xmlns:a16="http://schemas.microsoft.com/office/drawing/2014/main" id="{C654EA2A-F2C7-45B7-9A3C-5CF902279495}"/>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D88AD8DF-8E10-44F4-9D41-F3A8A931F282}"/>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Порядок рёбер: </a:t>
            </a:r>
            <a:r>
              <a:rPr lang="en-US" sz="2000">
                <a:solidFill>
                  <a:srgbClr val="FFFFFF"/>
                </a:solidFill>
                <a:latin typeface="Montserrat"/>
              </a:rPr>
              <a:t>C→D, B→C, A→B, A→D</a:t>
            </a:r>
            <a:endParaRPr lang="ru-RU" sz="2000">
              <a:solidFill>
                <a:srgbClr val="FFFFFF"/>
              </a:solidFill>
              <a:latin typeface="Montserrat"/>
            </a:endParaRPr>
          </a:p>
        </p:txBody>
      </p:sp>
      <p:cxnSp>
        <p:nvCxnSpPr>
          <p:cNvPr id="12" name="!!bf-edge-CD">
            <a:extLst>
              <a:ext uri="{FF2B5EF4-FFF2-40B4-BE49-F238E27FC236}">
                <a16:creationId xmlns:a16="http://schemas.microsoft.com/office/drawing/2014/main" id="{62CBD98E-84DE-4957-8DE3-F8C2FE5BAF77}"/>
              </a:ext>
            </a:extLst>
          </p:cNvPr>
          <p:cNvCxnSpPr/>
          <p:nvPr/>
        </p:nvCxnSpPr>
        <p:spPr>
          <a:xfrm>
            <a:off x="5422900" y="2857500"/>
            <a:ext cx="1346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3" name="!!bf-weight-CD">
            <a:extLst>
              <a:ext uri="{FF2B5EF4-FFF2-40B4-BE49-F238E27FC236}">
                <a16:creationId xmlns:a16="http://schemas.microsoft.com/office/drawing/2014/main" id="{778B1495-982C-4888-B799-4AB384A27565}"/>
              </a:ext>
            </a:extLst>
          </p:cNvPr>
          <p:cNvSpPr txBox="1"/>
          <p:nvPr/>
        </p:nvSpPr>
        <p:spPr bwMode="auto">
          <a:xfrm>
            <a:off x="5842000" y="3009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4" name="!!bf-edge-BC">
            <a:extLst>
              <a:ext uri="{FF2B5EF4-FFF2-40B4-BE49-F238E27FC236}">
                <a16:creationId xmlns:a16="http://schemas.microsoft.com/office/drawing/2014/main" id="{5E15773B-BA01-4961-805E-4A3BF392C734}"/>
              </a:ext>
            </a:extLst>
          </p:cNvPr>
          <p:cNvCxnSpPr/>
          <p:nvPr/>
        </p:nvCxnSpPr>
        <p:spPr>
          <a:xfrm>
            <a:off x="3390900" y="2857500"/>
            <a:ext cx="1346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5" name="!!bf-weight-BC">
            <a:extLst>
              <a:ext uri="{FF2B5EF4-FFF2-40B4-BE49-F238E27FC236}">
                <a16:creationId xmlns:a16="http://schemas.microsoft.com/office/drawing/2014/main" id="{A8F1F98D-6771-4E8C-BF17-C87247AFA9C6}"/>
              </a:ext>
            </a:extLst>
          </p:cNvPr>
          <p:cNvSpPr txBox="1"/>
          <p:nvPr/>
        </p:nvSpPr>
        <p:spPr bwMode="auto">
          <a:xfrm>
            <a:off x="3810000" y="3009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16" name="!!bf-edge-AB">
            <a:extLst>
              <a:ext uri="{FF2B5EF4-FFF2-40B4-BE49-F238E27FC236}">
                <a16:creationId xmlns:a16="http://schemas.microsoft.com/office/drawing/2014/main" id="{D612F181-C79D-43FD-B82D-FFC424051E94}"/>
              </a:ext>
            </a:extLst>
          </p:cNvPr>
          <p:cNvCxnSpPr/>
          <p:nvPr/>
        </p:nvCxnSpPr>
        <p:spPr>
          <a:xfrm>
            <a:off x="1358900" y="2857500"/>
            <a:ext cx="1346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7" name="!!bf-weight-AB">
            <a:extLst>
              <a:ext uri="{FF2B5EF4-FFF2-40B4-BE49-F238E27FC236}">
                <a16:creationId xmlns:a16="http://schemas.microsoft.com/office/drawing/2014/main" id="{424F713A-3A55-4F76-85BF-B765506E441D}"/>
              </a:ext>
            </a:extLst>
          </p:cNvPr>
          <p:cNvSpPr txBox="1"/>
          <p:nvPr/>
        </p:nvSpPr>
        <p:spPr bwMode="auto">
          <a:xfrm>
            <a:off x="1778000" y="3009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sp>
        <p:nvSpPr>
          <p:cNvPr id="18" name="!!bf-node-A">
            <a:extLst>
              <a:ext uri="{FF2B5EF4-FFF2-40B4-BE49-F238E27FC236}">
                <a16:creationId xmlns:a16="http://schemas.microsoft.com/office/drawing/2014/main" id="{68F1A88E-9169-4C52-A55A-5B7A660B75EB}"/>
              </a:ext>
            </a:extLst>
          </p:cNvPr>
          <p:cNvSpPr/>
          <p:nvPr/>
        </p:nvSpPr>
        <p:spPr>
          <a:xfrm>
            <a:off x="698500" y="2540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9" name="!!bf-node-B">
            <a:extLst>
              <a:ext uri="{FF2B5EF4-FFF2-40B4-BE49-F238E27FC236}">
                <a16:creationId xmlns:a16="http://schemas.microsoft.com/office/drawing/2014/main" id="{C5AA308D-740F-4B67-8E01-3408A1610FD5}"/>
              </a:ext>
            </a:extLst>
          </p:cNvPr>
          <p:cNvSpPr/>
          <p:nvPr/>
        </p:nvSpPr>
        <p:spPr>
          <a:xfrm>
            <a:off x="2730500" y="2540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20" name="!!bf-node-C">
            <a:extLst>
              <a:ext uri="{FF2B5EF4-FFF2-40B4-BE49-F238E27FC236}">
                <a16:creationId xmlns:a16="http://schemas.microsoft.com/office/drawing/2014/main" id="{5D43D008-99CC-4D25-B0A2-EC9B1ECF1CFE}"/>
              </a:ext>
            </a:extLst>
          </p:cNvPr>
          <p:cNvSpPr/>
          <p:nvPr/>
        </p:nvSpPr>
        <p:spPr>
          <a:xfrm>
            <a:off x="4762500" y="2540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21" name="!!bf-node-D">
            <a:extLst>
              <a:ext uri="{FF2B5EF4-FFF2-40B4-BE49-F238E27FC236}">
                <a16:creationId xmlns:a16="http://schemas.microsoft.com/office/drawing/2014/main" id="{23038404-DA6D-41FC-B0C0-2A47DE507518}"/>
              </a:ext>
            </a:extLst>
          </p:cNvPr>
          <p:cNvSpPr/>
          <p:nvPr/>
        </p:nvSpPr>
        <p:spPr>
          <a:xfrm>
            <a:off x="6794500" y="2540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cxnSp>
        <p:nvCxnSpPr>
          <p:cNvPr id="22" name="!!bf-edge-AD-0">
            <a:extLst>
              <a:ext uri="{FF2B5EF4-FFF2-40B4-BE49-F238E27FC236}">
                <a16:creationId xmlns:a16="http://schemas.microsoft.com/office/drawing/2014/main" id="{C1485D18-D0E5-4A26-9CF2-3B6A8458DD8E}"/>
              </a:ext>
            </a:extLst>
          </p:cNvPr>
          <p:cNvCxnSpPr/>
          <p:nvPr/>
        </p:nvCxnSpPr>
        <p:spPr>
          <a:xfrm>
            <a:off x="1016000" y="3200400"/>
            <a:ext cx="0" cy="9906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23" name="!!bf-edge-AD-1">
            <a:extLst>
              <a:ext uri="{FF2B5EF4-FFF2-40B4-BE49-F238E27FC236}">
                <a16:creationId xmlns:a16="http://schemas.microsoft.com/office/drawing/2014/main" id="{D07510C4-21F2-4B7D-BA5C-F7CAEC0F1F8E}"/>
              </a:ext>
            </a:extLst>
          </p:cNvPr>
          <p:cNvCxnSpPr/>
          <p:nvPr/>
        </p:nvCxnSpPr>
        <p:spPr>
          <a:xfrm>
            <a:off x="1016000" y="4191000"/>
            <a:ext cx="60960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24" name="!!bf-edge-AD-2">
            <a:extLst>
              <a:ext uri="{FF2B5EF4-FFF2-40B4-BE49-F238E27FC236}">
                <a16:creationId xmlns:a16="http://schemas.microsoft.com/office/drawing/2014/main" id="{2A651ACB-D26E-438A-8A11-CFA0400CA3EE}"/>
              </a:ext>
            </a:extLst>
          </p:cNvPr>
          <p:cNvCxnSpPr/>
          <p:nvPr/>
        </p:nvCxnSpPr>
        <p:spPr>
          <a:xfrm flipV="1">
            <a:off x="7112000" y="3200400"/>
            <a:ext cx="0" cy="99060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25" name="!!bf-weight-AD">
            <a:extLst>
              <a:ext uri="{FF2B5EF4-FFF2-40B4-BE49-F238E27FC236}">
                <a16:creationId xmlns:a16="http://schemas.microsoft.com/office/drawing/2014/main" id="{0670C589-0288-4FEF-B448-88B440C502EB}"/>
              </a:ext>
            </a:extLst>
          </p:cNvPr>
          <p:cNvSpPr txBox="1"/>
          <p:nvPr/>
        </p:nvSpPr>
        <p:spPr bwMode="auto">
          <a:xfrm>
            <a:off x="3784600" y="4254499"/>
            <a:ext cx="558800" cy="355600"/>
          </a:xfrm>
          <a:prstGeom prst="rect">
            <a:avLst/>
          </a:prstGeom>
        </p:spPr>
        <p:txBody>
          <a:bodyPr vert="horz" wrap="square" lIns="0" tIns="0" rIns="0" bIns="0" rtlCol="0">
            <a:noAutofit/>
          </a:bodyPr>
          <a:lstStyle/>
          <a:p>
            <a:pPr algn="ctr"/>
            <a:r>
              <a:rPr lang="ru-RU" sz="2000">
                <a:solidFill>
                  <a:srgbClr val="352379"/>
                </a:solidFill>
                <a:latin typeface="Montserrat"/>
              </a:rPr>
              <a:t>10</a:t>
            </a:r>
          </a:p>
        </p:txBody>
      </p:sp>
      <p:graphicFrame>
        <p:nvGraphicFramePr>
          <p:cNvPr id="26" name="!!bf-table">
            <a:extLst>
              <a:ext uri="{FF2B5EF4-FFF2-40B4-BE49-F238E27FC236}">
                <a16:creationId xmlns:a16="http://schemas.microsoft.com/office/drawing/2014/main" id="{231B1620-042A-4EE9-8564-F703D45AC540}"/>
              </a:ext>
            </a:extLst>
          </p:cNvPr>
          <p:cNvGraphicFramePr>
            <a:graphicFrameLocks noGrp="1"/>
          </p:cNvGraphicFramePr>
          <p:nvPr>
            <p:extLst>
              <p:ext uri="{D42A27DB-BD31-4B8C-83A1-F6EECF244321}">
                <p14:modId xmlns:p14="http://schemas.microsoft.com/office/powerpoint/2010/main" val="3575097683"/>
              </p:ext>
            </p:extLst>
          </p:nvPr>
        </p:nvGraphicFramePr>
        <p:xfrm>
          <a:off x="8534400" y="1968500"/>
          <a:ext cx="3175000" cy="2844800"/>
        </p:xfrm>
        <a:graphic>
          <a:graphicData uri="http://schemas.openxmlformats.org/drawingml/2006/table">
            <a:tbl>
              <a:tblPr firstRow="1" bandRow="1">
                <a:tableStyleId>{0E3FDE45-AF77-4B5C-9715-49D594BDF05E}</a:tableStyleId>
              </a:tblPr>
              <a:tblGrid>
                <a:gridCol w="1587500">
                  <a:extLst>
                    <a:ext uri="{9D8B030D-6E8A-4147-A177-3AD203B41FA5}">
                      <a16:colId xmlns:a16="http://schemas.microsoft.com/office/drawing/2014/main" val="887893161"/>
                    </a:ext>
                  </a:extLst>
                </a:gridCol>
                <a:gridCol w="1587500">
                  <a:extLst>
                    <a:ext uri="{9D8B030D-6E8A-4147-A177-3AD203B41FA5}">
                      <a16:colId xmlns:a16="http://schemas.microsoft.com/office/drawing/2014/main" val="2571686426"/>
                    </a:ext>
                  </a:extLst>
                </a:gridCol>
              </a:tblGrid>
              <a:tr h="568960">
                <a:tc>
                  <a:txBody>
                    <a:bodyPr/>
                    <a:lstStyle/>
                    <a:p>
                      <a:pPr algn="ctr"/>
                      <a:r>
                        <a:rPr lang="en-US" sz="2300" b="1">
                          <a:solidFill>
                            <a:srgbClr val="FFFFFF"/>
                          </a:solidFill>
                          <a:latin typeface="Montserrat"/>
                        </a:rPr>
                        <a:t>v</a:t>
                      </a:r>
                      <a:endParaRPr lang="ru-RU" sz="23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300" b="1">
                          <a:solidFill>
                            <a:srgbClr val="FFFFFF"/>
                          </a:solidFill>
                          <a:latin typeface="Montserrat"/>
                        </a:rPr>
                        <a:t>dist</a:t>
                      </a:r>
                      <a:endParaRPr lang="ru-RU" sz="23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1022053391"/>
                  </a:ext>
                </a:extLst>
              </a:tr>
              <a:tr h="568960">
                <a:tc>
                  <a:txBody>
                    <a:bodyPr/>
                    <a:lstStyle/>
                    <a:p>
                      <a:pPr algn="ctr"/>
                      <a:r>
                        <a:rPr lang="en-US" sz="2300" b="0">
                          <a:solidFill>
                            <a:srgbClr val="352379"/>
                          </a:solidFill>
                          <a:latin typeface="Montserrat"/>
                        </a:rPr>
                        <a:t>A</a:t>
                      </a:r>
                      <a:endParaRPr lang="ru-RU" sz="23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300" b="0">
                          <a:solidFill>
                            <a:srgbClr val="352379"/>
                          </a:solidFill>
                          <a:latin typeface="Montserrat"/>
                        </a:rPr>
                        <a:t>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597827871"/>
                  </a:ext>
                </a:extLst>
              </a:tr>
              <a:tr h="568960">
                <a:tc>
                  <a:txBody>
                    <a:bodyPr/>
                    <a:lstStyle/>
                    <a:p>
                      <a:pPr algn="ctr"/>
                      <a:r>
                        <a:rPr lang="en-US" sz="2300" b="0">
                          <a:solidFill>
                            <a:srgbClr val="352379"/>
                          </a:solidFill>
                          <a:latin typeface="Montserrat"/>
                        </a:rPr>
                        <a:t>B</a:t>
                      </a:r>
                      <a:endParaRPr lang="ru-RU" sz="23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300" b="0">
                          <a:solidFill>
                            <a:srgbClr val="352379"/>
                          </a:solidFill>
                          <a:latin typeface="Montserrat"/>
                        </a:rPr>
                        <a:t>4</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2710180556"/>
                  </a:ext>
                </a:extLst>
              </a:tr>
              <a:tr h="568960">
                <a:tc>
                  <a:txBody>
                    <a:bodyPr/>
                    <a:lstStyle/>
                    <a:p>
                      <a:pPr algn="ctr"/>
                      <a:r>
                        <a:rPr lang="en-US" sz="2300" b="0">
                          <a:solidFill>
                            <a:srgbClr val="352379"/>
                          </a:solidFill>
                          <a:latin typeface="Montserrat"/>
                        </a:rPr>
                        <a:t>C</a:t>
                      </a:r>
                      <a:endParaRPr lang="ru-RU" sz="23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3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3515842462"/>
                  </a:ext>
                </a:extLst>
              </a:tr>
              <a:tr h="568960">
                <a:tc>
                  <a:txBody>
                    <a:bodyPr/>
                    <a:lstStyle/>
                    <a:p>
                      <a:pPr algn="ctr"/>
                      <a:r>
                        <a:rPr lang="en-US" sz="2300" b="0">
                          <a:solidFill>
                            <a:srgbClr val="352379"/>
                          </a:solidFill>
                          <a:latin typeface="Montserrat"/>
                        </a:rPr>
                        <a:t>D</a:t>
                      </a:r>
                      <a:endParaRPr lang="ru-RU" sz="23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300" b="0">
                          <a:solidFill>
                            <a:srgbClr val="352379"/>
                          </a:solidFill>
                          <a:latin typeface="Montserrat"/>
                        </a:rPr>
                        <a:t>10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2093655470"/>
                  </a:ext>
                </a:extLst>
              </a:tr>
            </a:tbl>
          </a:graphicData>
        </a:graphic>
      </p:graphicFrame>
      <p:sp>
        <p:nvSpPr>
          <p:cNvPr id="27" name="!!bf-changes">
            <a:extLst>
              <a:ext uri="{FF2B5EF4-FFF2-40B4-BE49-F238E27FC236}">
                <a16:creationId xmlns:a16="http://schemas.microsoft.com/office/drawing/2014/main" id="{D082B75A-C589-442F-83A0-0BDAA9F0F0BA}"/>
              </a:ext>
            </a:extLst>
          </p:cNvPr>
          <p:cNvSpPr txBox="1"/>
          <p:nvPr/>
        </p:nvSpPr>
        <p:spPr bwMode="auto">
          <a:xfrm>
            <a:off x="736600" y="4749799"/>
            <a:ext cx="6858000" cy="889000"/>
          </a:xfrm>
          <a:prstGeom prst="rect">
            <a:avLst/>
          </a:prstGeom>
        </p:spPr>
        <p:txBody>
          <a:bodyPr vert="horz" wrap="square" lIns="0" tIns="0" rIns="0" bIns="0" rtlCol="0">
            <a:noAutofit/>
          </a:bodyPr>
          <a:lstStyle/>
          <a:p>
            <a:r>
              <a:rPr lang="en-US" sz="2300">
                <a:solidFill>
                  <a:srgbClr val="352379"/>
                </a:solidFill>
                <a:latin typeface="Montserrat"/>
              </a:rPr>
              <a:t>B: ∞ → 4 </a:t>
            </a:r>
            <a:r>
              <a:rPr lang="ru-RU" sz="2300">
                <a:solidFill>
                  <a:srgbClr val="352379"/>
                </a:solidFill>
                <a:latin typeface="Montserrat"/>
              </a:rPr>
              <a:t>через </a:t>
            </a:r>
            <a:r>
              <a:rPr lang="en-US" sz="2300">
                <a:solidFill>
                  <a:srgbClr val="352379"/>
                </a:solidFill>
                <a:latin typeface="Montserrat"/>
              </a:rPr>
              <a:t>A</a:t>
            </a:r>
          </a:p>
          <a:p>
            <a:r>
              <a:rPr lang="en-US" sz="2300">
                <a:solidFill>
                  <a:srgbClr val="352379"/>
                </a:solidFill>
                <a:latin typeface="Montserrat"/>
              </a:rPr>
              <a:t>D: ∞ → 10 </a:t>
            </a:r>
            <a:r>
              <a:rPr lang="ru-RU" sz="2300">
                <a:solidFill>
                  <a:srgbClr val="352379"/>
                </a:solidFill>
                <a:latin typeface="Montserrat"/>
              </a:rPr>
              <a:t>через </a:t>
            </a:r>
            <a:r>
              <a:rPr lang="en-US" sz="2300">
                <a:solidFill>
                  <a:srgbClr val="352379"/>
                </a:solidFill>
                <a:latin typeface="Montserrat"/>
              </a:rPr>
              <a:t>A</a:t>
            </a:r>
            <a:endParaRPr lang="ru-RU" sz="2300">
              <a:solidFill>
                <a:srgbClr val="352379"/>
              </a:solidFill>
              <a:latin typeface="Montserrat"/>
            </a:endParaRPr>
          </a:p>
        </p:txBody>
      </p:sp>
      <p:sp>
        <p:nvSpPr>
          <p:cNvPr id="28" name="bf-order">
            <a:extLst>
              <a:ext uri="{FF2B5EF4-FFF2-40B4-BE49-F238E27FC236}">
                <a16:creationId xmlns:a16="http://schemas.microsoft.com/office/drawing/2014/main" id="{B7A6E32C-F4FF-4867-BA62-5D4C9A7E8CBB}"/>
              </a:ext>
            </a:extLst>
          </p:cNvPr>
          <p:cNvSpPr txBox="1"/>
          <p:nvPr/>
        </p:nvSpPr>
        <p:spPr bwMode="auto">
          <a:xfrm>
            <a:off x="736600" y="1689099"/>
            <a:ext cx="6985000" cy="444500"/>
          </a:xfrm>
          <a:prstGeom prst="rect">
            <a:avLst/>
          </a:prstGeom>
        </p:spPr>
        <p:txBody>
          <a:bodyPr vert="horz" wrap="square" lIns="0" tIns="0" rIns="0" bIns="0" rtlCol="0">
            <a:noAutofit/>
          </a:bodyPr>
          <a:lstStyle/>
          <a:p>
            <a:r>
              <a:rPr lang="ru-RU" sz="2100">
                <a:solidFill>
                  <a:srgbClr val="352379"/>
                </a:solidFill>
                <a:latin typeface="Montserrat"/>
              </a:rPr>
              <a:t>Проверяем все 4 ребра за один проход</a:t>
            </a:r>
          </a:p>
        </p:txBody>
      </p:sp>
    </p:spTree>
    <p:extLst>
      <p:ext uri="{BB962C8B-B14F-4D97-AF65-F5344CB8AC3E}">
        <p14:creationId xmlns:p14="http://schemas.microsoft.com/office/powerpoint/2010/main" val="534521237"/>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25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9"/>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C55A8E4-A8DD-40E3-B44D-02DFF9B4FE25}"/>
              </a:ext>
            </a:extLst>
          </p:cNvPr>
          <p:cNvSpPr>
            <a:spLocks noGrp="1"/>
          </p:cNvSpPr>
          <p:nvPr>
            <p:ph type="title"/>
          </p:nvPr>
        </p:nvSpPr>
        <p:spPr>
          <a:xfrm>
            <a:off x="479425" y="597855"/>
            <a:ext cx="11229975" cy="1140459"/>
          </a:xfrm>
        </p:spPr>
        <p:txBody>
          <a:bodyPr/>
          <a:lstStyle/>
          <a:p>
            <a:r>
              <a:rPr lang="ru-RU"/>
              <a:t>Беллман–Форд: проход 2</a:t>
            </a:r>
          </a:p>
        </p:txBody>
      </p:sp>
      <p:sp>
        <p:nvSpPr>
          <p:cNvPr id="7" name="Текст 6">
            <a:extLst>
              <a:ext uri="{FF2B5EF4-FFF2-40B4-BE49-F238E27FC236}">
                <a16:creationId xmlns:a16="http://schemas.microsoft.com/office/drawing/2014/main" id="{A2E23711-E1C1-45F9-A782-E13B6C424AE1}"/>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cxnSp>
        <p:nvCxnSpPr>
          <p:cNvPr id="12" name="!!bf-edge-CD">
            <a:extLst>
              <a:ext uri="{FF2B5EF4-FFF2-40B4-BE49-F238E27FC236}">
                <a16:creationId xmlns:a16="http://schemas.microsoft.com/office/drawing/2014/main" id="{62CBD98E-84DE-4957-8DE3-F8C2FE5BAF77}"/>
              </a:ext>
            </a:extLst>
          </p:cNvPr>
          <p:cNvCxnSpPr/>
          <p:nvPr/>
        </p:nvCxnSpPr>
        <p:spPr>
          <a:xfrm>
            <a:off x="5422900" y="2857500"/>
            <a:ext cx="1346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3" name="!!bf-weight-CD">
            <a:extLst>
              <a:ext uri="{FF2B5EF4-FFF2-40B4-BE49-F238E27FC236}">
                <a16:creationId xmlns:a16="http://schemas.microsoft.com/office/drawing/2014/main" id="{778B1495-982C-4888-B799-4AB384A27565}"/>
              </a:ext>
            </a:extLst>
          </p:cNvPr>
          <p:cNvSpPr txBox="1"/>
          <p:nvPr/>
        </p:nvSpPr>
        <p:spPr bwMode="auto">
          <a:xfrm>
            <a:off x="5842000" y="3009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4" name="!!bf-edge-BC">
            <a:extLst>
              <a:ext uri="{FF2B5EF4-FFF2-40B4-BE49-F238E27FC236}">
                <a16:creationId xmlns:a16="http://schemas.microsoft.com/office/drawing/2014/main" id="{5E15773B-BA01-4961-805E-4A3BF392C734}"/>
              </a:ext>
            </a:extLst>
          </p:cNvPr>
          <p:cNvCxnSpPr/>
          <p:nvPr/>
        </p:nvCxnSpPr>
        <p:spPr>
          <a:xfrm>
            <a:off x="3390900" y="2857500"/>
            <a:ext cx="1346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5" name="!!bf-weight-BC">
            <a:extLst>
              <a:ext uri="{FF2B5EF4-FFF2-40B4-BE49-F238E27FC236}">
                <a16:creationId xmlns:a16="http://schemas.microsoft.com/office/drawing/2014/main" id="{A8F1F98D-6771-4E8C-BF17-C87247AFA9C6}"/>
              </a:ext>
            </a:extLst>
          </p:cNvPr>
          <p:cNvSpPr txBox="1"/>
          <p:nvPr/>
        </p:nvSpPr>
        <p:spPr bwMode="auto">
          <a:xfrm>
            <a:off x="3810000" y="3009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16" name="!!bf-edge-AB">
            <a:extLst>
              <a:ext uri="{FF2B5EF4-FFF2-40B4-BE49-F238E27FC236}">
                <a16:creationId xmlns:a16="http://schemas.microsoft.com/office/drawing/2014/main" id="{D612F181-C79D-43FD-B82D-FFC424051E94}"/>
              </a:ext>
            </a:extLst>
          </p:cNvPr>
          <p:cNvCxnSpPr/>
          <p:nvPr/>
        </p:nvCxnSpPr>
        <p:spPr>
          <a:xfrm>
            <a:off x="1358900" y="2857500"/>
            <a:ext cx="1346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7" name="!!bf-weight-AB">
            <a:extLst>
              <a:ext uri="{FF2B5EF4-FFF2-40B4-BE49-F238E27FC236}">
                <a16:creationId xmlns:a16="http://schemas.microsoft.com/office/drawing/2014/main" id="{424F713A-3A55-4F76-85BF-B765506E441D}"/>
              </a:ext>
            </a:extLst>
          </p:cNvPr>
          <p:cNvSpPr txBox="1"/>
          <p:nvPr/>
        </p:nvSpPr>
        <p:spPr bwMode="auto">
          <a:xfrm>
            <a:off x="1778000" y="3009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sp>
        <p:nvSpPr>
          <p:cNvPr id="18" name="!!bf-node-A">
            <a:extLst>
              <a:ext uri="{FF2B5EF4-FFF2-40B4-BE49-F238E27FC236}">
                <a16:creationId xmlns:a16="http://schemas.microsoft.com/office/drawing/2014/main" id="{68F1A88E-9169-4C52-A55A-5B7A660B75EB}"/>
              </a:ext>
            </a:extLst>
          </p:cNvPr>
          <p:cNvSpPr/>
          <p:nvPr/>
        </p:nvSpPr>
        <p:spPr>
          <a:xfrm>
            <a:off x="698500" y="2540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9" name="!!bf-node-B">
            <a:extLst>
              <a:ext uri="{FF2B5EF4-FFF2-40B4-BE49-F238E27FC236}">
                <a16:creationId xmlns:a16="http://schemas.microsoft.com/office/drawing/2014/main" id="{C5AA308D-740F-4B67-8E01-3408A1610FD5}"/>
              </a:ext>
            </a:extLst>
          </p:cNvPr>
          <p:cNvSpPr/>
          <p:nvPr/>
        </p:nvSpPr>
        <p:spPr>
          <a:xfrm>
            <a:off x="2730500" y="2540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20" name="!!bf-node-C">
            <a:extLst>
              <a:ext uri="{FF2B5EF4-FFF2-40B4-BE49-F238E27FC236}">
                <a16:creationId xmlns:a16="http://schemas.microsoft.com/office/drawing/2014/main" id="{5D43D008-99CC-4D25-B0A2-EC9B1ECF1CFE}"/>
              </a:ext>
            </a:extLst>
          </p:cNvPr>
          <p:cNvSpPr/>
          <p:nvPr/>
        </p:nvSpPr>
        <p:spPr>
          <a:xfrm>
            <a:off x="4762500" y="2540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21" name="!!bf-node-D">
            <a:extLst>
              <a:ext uri="{FF2B5EF4-FFF2-40B4-BE49-F238E27FC236}">
                <a16:creationId xmlns:a16="http://schemas.microsoft.com/office/drawing/2014/main" id="{23038404-DA6D-41FC-B0C0-2A47DE507518}"/>
              </a:ext>
            </a:extLst>
          </p:cNvPr>
          <p:cNvSpPr/>
          <p:nvPr/>
        </p:nvSpPr>
        <p:spPr>
          <a:xfrm>
            <a:off x="6794500" y="2540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cxnSp>
        <p:nvCxnSpPr>
          <p:cNvPr id="22" name="!!bf-edge-AD-0">
            <a:extLst>
              <a:ext uri="{FF2B5EF4-FFF2-40B4-BE49-F238E27FC236}">
                <a16:creationId xmlns:a16="http://schemas.microsoft.com/office/drawing/2014/main" id="{C1485D18-D0E5-4A26-9CF2-3B6A8458DD8E}"/>
              </a:ext>
            </a:extLst>
          </p:cNvPr>
          <p:cNvCxnSpPr/>
          <p:nvPr/>
        </p:nvCxnSpPr>
        <p:spPr>
          <a:xfrm>
            <a:off x="1016000" y="3200400"/>
            <a:ext cx="0" cy="9906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23" name="!!bf-edge-AD-1">
            <a:extLst>
              <a:ext uri="{FF2B5EF4-FFF2-40B4-BE49-F238E27FC236}">
                <a16:creationId xmlns:a16="http://schemas.microsoft.com/office/drawing/2014/main" id="{D07510C4-21F2-4B7D-BA5C-F7CAEC0F1F8E}"/>
              </a:ext>
            </a:extLst>
          </p:cNvPr>
          <p:cNvCxnSpPr/>
          <p:nvPr/>
        </p:nvCxnSpPr>
        <p:spPr>
          <a:xfrm>
            <a:off x="1016000" y="4191000"/>
            <a:ext cx="60960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24" name="!!bf-edge-AD-2">
            <a:extLst>
              <a:ext uri="{FF2B5EF4-FFF2-40B4-BE49-F238E27FC236}">
                <a16:creationId xmlns:a16="http://schemas.microsoft.com/office/drawing/2014/main" id="{2A651ACB-D26E-438A-8A11-CFA0400CA3EE}"/>
              </a:ext>
            </a:extLst>
          </p:cNvPr>
          <p:cNvCxnSpPr/>
          <p:nvPr/>
        </p:nvCxnSpPr>
        <p:spPr>
          <a:xfrm flipV="1">
            <a:off x="7112000" y="3200400"/>
            <a:ext cx="0" cy="99060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25" name="!!bf-weight-AD">
            <a:extLst>
              <a:ext uri="{FF2B5EF4-FFF2-40B4-BE49-F238E27FC236}">
                <a16:creationId xmlns:a16="http://schemas.microsoft.com/office/drawing/2014/main" id="{0670C589-0288-4FEF-B448-88B440C502EB}"/>
              </a:ext>
            </a:extLst>
          </p:cNvPr>
          <p:cNvSpPr txBox="1"/>
          <p:nvPr/>
        </p:nvSpPr>
        <p:spPr bwMode="auto">
          <a:xfrm>
            <a:off x="3784600" y="4254499"/>
            <a:ext cx="558800" cy="355600"/>
          </a:xfrm>
          <a:prstGeom prst="rect">
            <a:avLst/>
          </a:prstGeom>
        </p:spPr>
        <p:txBody>
          <a:bodyPr vert="horz" wrap="square" lIns="0" tIns="0" rIns="0" bIns="0" rtlCol="0">
            <a:noAutofit/>
          </a:bodyPr>
          <a:lstStyle/>
          <a:p>
            <a:pPr algn="ctr"/>
            <a:r>
              <a:rPr lang="ru-RU" sz="2000">
                <a:solidFill>
                  <a:srgbClr val="352379"/>
                </a:solidFill>
                <a:latin typeface="Montserrat"/>
              </a:rPr>
              <a:t>10</a:t>
            </a:r>
          </a:p>
        </p:txBody>
      </p:sp>
      <p:graphicFrame>
        <p:nvGraphicFramePr>
          <p:cNvPr id="26" name="!!bf-table">
            <a:extLst>
              <a:ext uri="{FF2B5EF4-FFF2-40B4-BE49-F238E27FC236}">
                <a16:creationId xmlns:a16="http://schemas.microsoft.com/office/drawing/2014/main" id="{231B1620-042A-4EE9-8564-F703D45AC540}"/>
              </a:ext>
            </a:extLst>
          </p:cNvPr>
          <p:cNvGraphicFramePr>
            <a:graphicFrameLocks noGrp="1"/>
          </p:cNvGraphicFramePr>
          <p:nvPr>
            <p:extLst>
              <p:ext uri="{D42A27DB-BD31-4B8C-83A1-F6EECF244321}">
                <p14:modId xmlns:p14="http://schemas.microsoft.com/office/powerpoint/2010/main" val="1545025421"/>
              </p:ext>
            </p:extLst>
          </p:nvPr>
        </p:nvGraphicFramePr>
        <p:xfrm>
          <a:off x="8534400" y="1968500"/>
          <a:ext cx="3175000" cy="2844800"/>
        </p:xfrm>
        <a:graphic>
          <a:graphicData uri="http://schemas.openxmlformats.org/drawingml/2006/table">
            <a:tbl>
              <a:tblPr firstRow="1" bandRow="1">
                <a:tableStyleId>{0E3FDE45-AF77-4B5C-9715-49D594BDF05E}</a:tableStyleId>
              </a:tblPr>
              <a:tblGrid>
                <a:gridCol w="1587500">
                  <a:extLst>
                    <a:ext uri="{9D8B030D-6E8A-4147-A177-3AD203B41FA5}">
                      <a16:colId xmlns:a16="http://schemas.microsoft.com/office/drawing/2014/main" val="887893161"/>
                    </a:ext>
                  </a:extLst>
                </a:gridCol>
                <a:gridCol w="1587500">
                  <a:extLst>
                    <a:ext uri="{9D8B030D-6E8A-4147-A177-3AD203B41FA5}">
                      <a16:colId xmlns:a16="http://schemas.microsoft.com/office/drawing/2014/main" val="2571686426"/>
                    </a:ext>
                  </a:extLst>
                </a:gridCol>
              </a:tblGrid>
              <a:tr h="568960">
                <a:tc>
                  <a:txBody>
                    <a:bodyPr/>
                    <a:lstStyle/>
                    <a:p>
                      <a:pPr algn="ctr"/>
                      <a:r>
                        <a:rPr lang="en-US" sz="2300" b="1">
                          <a:solidFill>
                            <a:srgbClr val="FFFFFF"/>
                          </a:solidFill>
                          <a:latin typeface="Montserrat"/>
                        </a:rPr>
                        <a:t>v</a:t>
                      </a:r>
                      <a:endParaRPr lang="ru-RU" sz="23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300" b="1">
                          <a:solidFill>
                            <a:srgbClr val="FFFFFF"/>
                          </a:solidFill>
                          <a:latin typeface="Montserrat"/>
                        </a:rPr>
                        <a:t>dist</a:t>
                      </a:r>
                      <a:endParaRPr lang="ru-RU" sz="23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1022053391"/>
                  </a:ext>
                </a:extLst>
              </a:tr>
              <a:tr h="568960">
                <a:tc>
                  <a:txBody>
                    <a:bodyPr/>
                    <a:lstStyle/>
                    <a:p>
                      <a:pPr algn="ctr"/>
                      <a:r>
                        <a:rPr lang="en-US" sz="2300" b="0">
                          <a:solidFill>
                            <a:srgbClr val="352379"/>
                          </a:solidFill>
                          <a:latin typeface="Montserrat"/>
                        </a:rPr>
                        <a:t>A</a:t>
                      </a:r>
                      <a:endParaRPr lang="ru-RU" sz="23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300" b="0">
                          <a:solidFill>
                            <a:srgbClr val="352379"/>
                          </a:solidFill>
                          <a:latin typeface="Montserrat"/>
                        </a:rPr>
                        <a:t>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597827871"/>
                  </a:ext>
                </a:extLst>
              </a:tr>
              <a:tr h="568960">
                <a:tc>
                  <a:txBody>
                    <a:bodyPr/>
                    <a:lstStyle/>
                    <a:p>
                      <a:pPr algn="ctr"/>
                      <a:r>
                        <a:rPr lang="en-US" sz="2300" b="0">
                          <a:solidFill>
                            <a:srgbClr val="352379"/>
                          </a:solidFill>
                          <a:latin typeface="Montserrat"/>
                        </a:rPr>
                        <a:t>B</a:t>
                      </a:r>
                      <a:endParaRPr lang="ru-RU" sz="23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300" b="0">
                          <a:solidFill>
                            <a:srgbClr val="352379"/>
                          </a:solidFill>
                          <a:latin typeface="Montserrat"/>
                        </a:rPr>
                        <a:t>4</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2710180556"/>
                  </a:ext>
                </a:extLst>
              </a:tr>
              <a:tr h="568960">
                <a:tc>
                  <a:txBody>
                    <a:bodyPr/>
                    <a:lstStyle/>
                    <a:p>
                      <a:pPr algn="ctr"/>
                      <a:r>
                        <a:rPr lang="en-US" sz="2300" b="0">
                          <a:solidFill>
                            <a:srgbClr val="352379"/>
                          </a:solidFill>
                          <a:latin typeface="Montserrat"/>
                        </a:rPr>
                        <a:t>C</a:t>
                      </a:r>
                      <a:endParaRPr lang="ru-RU" sz="23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300" b="0">
                          <a:solidFill>
                            <a:srgbClr val="352379"/>
                          </a:solidFill>
                          <a:latin typeface="Montserrat"/>
                        </a:rPr>
                        <a:t>2</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3515842462"/>
                  </a:ext>
                </a:extLst>
              </a:tr>
              <a:tr h="568960">
                <a:tc>
                  <a:txBody>
                    <a:bodyPr/>
                    <a:lstStyle/>
                    <a:p>
                      <a:pPr algn="ctr"/>
                      <a:r>
                        <a:rPr lang="en-US" sz="2300" b="0">
                          <a:solidFill>
                            <a:srgbClr val="352379"/>
                          </a:solidFill>
                          <a:latin typeface="Montserrat"/>
                        </a:rPr>
                        <a:t>D</a:t>
                      </a:r>
                      <a:endParaRPr lang="ru-RU" sz="23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300" b="0">
                          <a:solidFill>
                            <a:srgbClr val="352379"/>
                          </a:solidFill>
                          <a:latin typeface="Montserrat"/>
                        </a:rPr>
                        <a:t>10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2093655470"/>
                  </a:ext>
                </a:extLst>
              </a:tr>
            </a:tbl>
          </a:graphicData>
        </a:graphic>
      </p:graphicFrame>
      <p:sp>
        <p:nvSpPr>
          <p:cNvPr id="27" name="!!bf-changes">
            <a:extLst>
              <a:ext uri="{FF2B5EF4-FFF2-40B4-BE49-F238E27FC236}">
                <a16:creationId xmlns:a16="http://schemas.microsoft.com/office/drawing/2014/main" id="{D082B75A-C589-442F-83A0-0BDAA9F0F0BA}"/>
              </a:ext>
            </a:extLst>
          </p:cNvPr>
          <p:cNvSpPr txBox="1"/>
          <p:nvPr/>
        </p:nvSpPr>
        <p:spPr bwMode="auto">
          <a:xfrm>
            <a:off x="736600" y="4749799"/>
            <a:ext cx="6858000" cy="889000"/>
          </a:xfrm>
          <a:prstGeom prst="rect">
            <a:avLst/>
          </a:prstGeom>
        </p:spPr>
        <p:txBody>
          <a:bodyPr vert="horz" wrap="square" lIns="0" tIns="0" rIns="0" bIns="0" rtlCol="0">
            <a:noAutofit/>
          </a:bodyPr>
          <a:lstStyle/>
          <a:p>
            <a:r>
              <a:rPr lang="en-US" sz="2300">
                <a:solidFill>
                  <a:srgbClr val="352379"/>
                </a:solidFill>
                <a:latin typeface="Montserrat"/>
              </a:rPr>
              <a:t>C: ∞ → 2 </a:t>
            </a:r>
            <a:r>
              <a:rPr lang="ru-RU" sz="2300">
                <a:solidFill>
                  <a:srgbClr val="352379"/>
                </a:solidFill>
                <a:latin typeface="Montserrat"/>
              </a:rPr>
              <a:t>через </a:t>
            </a:r>
            <a:r>
              <a:rPr lang="en-US" sz="2300">
                <a:solidFill>
                  <a:srgbClr val="352379"/>
                </a:solidFill>
                <a:latin typeface="Montserrat"/>
              </a:rPr>
              <a:t>B</a:t>
            </a:r>
            <a:endParaRPr lang="ru-RU" sz="2300">
              <a:solidFill>
                <a:srgbClr val="352379"/>
              </a:solidFill>
              <a:latin typeface="Montserrat"/>
            </a:endParaRPr>
          </a:p>
        </p:txBody>
      </p:sp>
      <p:sp>
        <p:nvSpPr>
          <p:cNvPr id="28" name="bf-order">
            <a:extLst>
              <a:ext uri="{FF2B5EF4-FFF2-40B4-BE49-F238E27FC236}">
                <a16:creationId xmlns:a16="http://schemas.microsoft.com/office/drawing/2014/main" id="{B7A6E32C-F4FF-4867-BA62-5D4C9A7E8CBB}"/>
              </a:ext>
            </a:extLst>
          </p:cNvPr>
          <p:cNvSpPr txBox="1"/>
          <p:nvPr/>
        </p:nvSpPr>
        <p:spPr bwMode="auto">
          <a:xfrm>
            <a:off x="736600" y="1689099"/>
            <a:ext cx="6985000" cy="444500"/>
          </a:xfrm>
          <a:prstGeom prst="rect">
            <a:avLst/>
          </a:prstGeom>
        </p:spPr>
        <p:txBody>
          <a:bodyPr vert="horz" wrap="square" lIns="0" tIns="0" rIns="0" bIns="0" rtlCol="0">
            <a:noAutofit/>
          </a:bodyPr>
          <a:lstStyle/>
          <a:p>
            <a:r>
              <a:rPr lang="ru-RU" sz="2100">
                <a:solidFill>
                  <a:srgbClr val="352379"/>
                </a:solidFill>
                <a:latin typeface="Montserrat"/>
              </a:rPr>
              <a:t>Проверяем все 4 ребра за один проход</a:t>
            </a:r>
          </a:p>
        </p:txBody>
      </p:sp>
      <p:sp>
        <p:nvSpPr>
          <p:cNvPr id="3" name="lecture-footer">
            <a:extLst>
              <a:ext uri="{FF2B5EF4-FFF2-40B4-BE49-F238E27FC236}">
                <a16:creationId xmlns:a16="http://schemas.microsoft.com/office/drawing/2014/main" id="{7E8AED75-38B9-43E0-A3C5-AEB539478A16}"/>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4" name="slide-number">
            <a:extLst>
              <a:ext uri="{FF2B5EF4-FFF2-40B4-BE49-F238E27FC236}">
                <a16:creationId xmlns:a16="http://schemas.microsoft.com/office/drawing/2014/main" id="{0C46A95F-474F-448D-AA6B-E8283C0E0C54}"/>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45</a:t>
            </a:r>
          </a:p>
        </p:txBody>
      </p:sp>
      <p:sp>
        <p:nvSpPr>
          <p:cNvPr id="5" name="bottom-band">
            <a:extLst>
              <a:ext uri="{FF2B5EF4-FFF2-40B4-BE49-F238E27FC236}">
                <a16:creationId xmlns:a16="http://schemas.microsoft.com/office/drawing/2014/main" id="{5E750CEF-9EBC-486E-875E-71EE4884F81E}"/>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bottom-message">
            <a:extLst>
              <a:ext uri="{FF2B5EF4-FFF2-40B4-BE49-F238E27FC236}">
                <a16:creationId xmlns:a16="http://schemas.microsoft.com/office/drawing/2014/main" id="{08CF6649-47AD-46C0-A0D1-A6626E3841A5}"/>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Порядок рёбер: </a:t>
            </a:r>
            <a:r>
              <a:rPr lang="en-US" sz="2000">
                <a:solidFill>
                  <a:srgbClr val="FFFFFF"/>
                </a:solidFill>
                <a:latin typeface="Montserrat"/>
              </a:rPr>
              <a:t>C→D, B→C, A→B, A→D</a:t>
            </a:r>
            <a:endParaRPr lang="ru-RU" sz="2000">
              <a:solidFill>
                <a:srgbClr val="FFFFFF"/>
              </a:solidFill>
              <a:latin typeface="Montserrat"/>
            </a:endParaRPr>
          </a:p>
        </p:txBody>
      </p:sp>
    </p:spTree>
    <p:extLst>
      <p:ext uri="{BB962C8B-B14F-4D97-AF65-F5344CB8AC3E}">
        <p14:creationId xmlns:p14="http://schemas.microsoft.com/office/powerpoint/2010/main" val="3277988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55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25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9"/>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C55A8E4-A8DD-40E3-B44D-02DFF9B4FE25}"/>
              </a:ext>
            </a:extLst>
          </p:cNvPr>
          <p:cNvSpPr>
            <a:spLocks noGrp="1"/>
          </p:cNvSpPr>
          <p:nvPr>
            <p:ph type="title"/>
          </p:nvPr>
        </p:nvSpPr>
        <p:spPr>
          <a:xfrm>
            <a:off x="479425" y="597855"/>
            <a:ext cx="11229975" cy="1140459"/>
          </a:xfrm>
        </p:spPr>
        <p:txBody>
          <a:bodyPr/>
          <a:lstStyle/>
          <a:p>
            <a:r>
              <a:rPr lang="ru-RU"/>
              <a:t>Беллман–Форд: проход 3</a:t>
            </a:r>
          </a:p>
        </p:txBody>
      </p:sp>
      <p:sp>
        <p:nvSpPr>
          <p:cNvPr id="7" name="Текст 6">
            <a:extLst>
              <a:ext uri="{FF2B5EF4-FFF2-40B4-BE49-F238E27FC236}">
                <a16:creationId xmlns:a16="http://schemas.microsoft.com/office/drawing/2014/main" id="{A2E23711-E1C1-45F9-A782-E13B6C424AE1}"/>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cxnSp>
        <p:nvCxnSpPr>
          <p:cNvPr id="12" name="!!bf-edge-CD">
            <a:extLst>
              <a:ext uri="{FF2B5EF4-FFF2-40B4-BE49-F238E27FC236}">
                <a16:creationId xmlns:a16="http://schemas.microsoft.com/office/drawing/2014/main" id="{62CBD98E-84DE-4957-8DE3-F8C2FE5BAF77}"/>
              </a:ext>
            </a:extLst>
          </p:cNvPr>
          <p:cNvCxnSpPr/>
          <p:nvPr/>
        </p:nvCxnSpPr>
        <p:spPr>
          <a:xfrm>
            <a:off x="5422900" y="2857500"/>
            <a:ext cx="1346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3" name="!!bf-weight-CD">
            <a:extLst>
              <a:ext uri="{FF2B5EF4-FFF2-40B4-BE49-F238E27FC236}">
                <a16:creationId xmlns:a16="http://schemas.microsoft.com/office/drawing/2014/main" id="{778B1495-982C-4888-B799-4AB384A27565}"/>
              </a:ext>
            </a:extLst>
          </p:cNvPr>
          <p:cNvSpPr txBox="1"/>
          <p:nvPr/>
        </p:nvSpPr>
        <p:spPr bwMode="auto">
          <a:xfrm>
            <a:off x="5842000" y="3009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4" name="!!bf-edge-BC">
            <a:extLst>
              <a:ext uri="{FF2B5EF4-FFF2-40B4-BE49-F238E27FC236}">
                <a16:creationId xmlns:a16="http://schemas.microsoft.com/office/drawing/2014/main" id="{5E15773B-BA01-4961-805E-4A3BF392C734}"/>
              </a:ext>
            </a:extLst>
          </p:cNvPr>
          <p:cNvCxnSpPr/>
          <p:nvPr/>
        </p:nvCxnSpPr>
        <p:spPr>
          <a:xfrm>
            <a:off x="3390900" y="2857500"/>
            <a:ext cx="1346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5" name="!!bf-weight-BC">
            <a:extLst>
              <a:ext uri="{FF2B5EF4-FFF2-40B4-BE49-F238E27FC236}">
                <a16:creationId xmlns:a16="http://schemas.microsoft.com/office/drawing/2014/main" id="{A8F1F98D-6771-4E8C-BF17-C87247AFA9C6}"/>
              </a:ext>
            </a:extLst>
          </p:cNvPr>
          <p:cNvSpPr txBox="1"/>
          <p:nvPr/>
        </p:nvSpPr>
        <p:spPr bwMode="auto">
          <a:xfrm>
            <a:off x="3810000" y="3009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16" name="!!bf-edge-AB">
            <a:extLst>
              <a:ext uri="{FF2B5EF4-FFF2-40B4-BE49-F238E27FC236}">
                <a16:creationId xmlns:a16="http://schemas.microsoft.com/office/drawing/2014/main" id="{D612F181-C79D-43FD-B82D-FFC424051E94}"/>
              </a:ext>
            </a:extLst>
          </p:cNvPr>
          <p:cNvCxnSpPr/>
          <p:nvPr/>
        </p:nvCxnSpPr>
        <p:spPr>
          <a:xfrm>
            <a:off x="1358900" y="2857500"/>
            <a:ext cx="1346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7" name="!!bf-weight-AB">
            <a:extLst>
              <a:ext uri="{FF2B5EF4-FFF2-40B4-BE49-F238E27FC236}">
                <a16:creationId xmlns:a16="http://schemas.microsoft.com/office/drawing/2014/main" id="{424F713A-3A55-4F76-85BF-B765506E441D}"/>
              </a:ext>
            </a:extLst>
          </p:cNvPr>
          <p:cNvSpPr txBox="1"/>
          <p:nvPr/>
        </p:nvSpPr>
        <p:spPr bwMode="auto">
          <a:xfrm>
            <a:off x="1778000" y="3009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sp>
        <p:nvSpPr>
          <p:cNvPr id="18" name="!!bf-node-A">
            <a:extLst>
              <a:ext uri="{FF2B5EF4-FFF2-40B4-BE49-F238E27FC236}">
                <a16:creationId xmlns:a16="http://schemas.microsoft.com/office/drawing/2014/main" id="{68F1A88E-9169-4C52-A55A-5B7A660B75EB}"/>
              </a:ext>
            </a:extLst>
          </p:cNvPr>
          <p:cNvSpPr/>
          <p:nvPr/>
        </p:nvSpPr>
        <p:spPr>
          <a:xfrm>
            <a:off x="698500" y="2540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9" name="!!bf-node-B">
            <a:extLst>
              <a:ext uri="{FF2B5EF4-FFF2-40B4-BE49-F238E27FC236}">
                <a16:creationId xmlns:a16="http://schemas.microsoft.com/office/drawing/2014/main" id="{C5AA308D-740F-4B67-8E01-3408A1610FD5}"/>
              </a:ext>
            </a:extLst>
          </p:cNvPr>
          <p:cNvSpPr/>
          <p:nvPr/>
        </p:nvSpPr>
        <p:spPr>
          <a:xfrm>
            <a:off x="2730500" y="2540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20" name="!!bf-node-C">
            <a:extLst>
              <a:ext uri="{FF2B5EF4-FFF2-40B4-BE49-F238E27FC236}">
                <a16:creationId xmlns:a16="http://schemas.microsoft.com/office/drawing/2014/main" id="{5D43D008-99CC-4D25-B0A2-EC9B1ECF1CFE}"/>
              </a:ext>
            </a:extLst>
          </p:cNvPr>
          <p:cNvSpPr/>
          <p:nvPr/>
        </p:nvSpPr>
        <p:spPr>
          <a:xfrm>
            <a:off x="4762500" y="2540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21" name="!!bf-node-D">
            <a:extLst>
              <a:ext uri="{FF2B5EF4-FFF2-40B4-BE49-F238E27FC236}">
                <a16:creationId xmlns:a16="http://schemas.microsoft.com/office/drawing/2014/main" id="{23038404-DA6D-41FC-B0C0-2A47DE507518}"/>
              </a:ext>
            </a:extLst>
          </p:cNvPr>
          <p:cNvSpPr/>
          <p:nvPr/>
        </p:nvSpPr>
        <p:spPr>
          <a:xfrm>
            <a:off x="6794500" y="2540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cxnSp>
        <p:nvCxnSpPr>
          <p:cNvPr id="22" name="!!bf-edge-AD-0">
            <a:extLst>
              <a:ext uri="{FF2B5EF4-FFF2-40B4-BE49-F238E27FC236}">
                <a16:creationId xmlns:a16="http://schemas.microsoft.com/office/drawing/2014/main" id="{C1485D18-D0E5-4A26-9CF2-3B6A8458DD8E}"/>
              </a:ext>
            </a:extLst>
          </p:cNvPr>
          <p:cNvCxnSpPr/>
          <p:nvPr/>
        </p:nvCxnSpPr>
        <p:spPr>
          <a:xfrm>
            <a:off x="1016000" y="3200400"/>
            <a:ext cx="0" cy="9906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23" name="!!bf-edge-AD-1">
            <a:extLst>
              <a:ext uri="{FF2B5EF4-FFF2-40B4-BE49-F238E27FC236}">
                <a16:creationId xmlns:a16="http://schemas.microsoft.com/office/drawing/2014/main" id="{D07510C4-21F2-4B7D-BA5C-F7CAEC0F1F8E}"/>
              </a:ext>
            </a:extLst>
          </p:cNvPr>
          <p:cNvCxnSpPr/>
          <p:nvPr/>
        </p:nvCxnSpPr>
        <p:spPr>
          <a:xfrm>
            <a:off x="1016000" y="4191000"/>
            <a:ext cx="60960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cxnSp>
        <p:nvCxnSpPr>
          <p:cNvPr id="24" name="!!bf-edge-AD-2">
            <a:extLst>
              <a:ext uri="{FF2B5EF4-FFF2-40B4-BE49-F238E27FC236}">
                <a16:creationId xmlns:a16="http://schemas.microsoft.com/office/drawing/2014/main" id="{2A651ACB-D26E-438A-8A11-CFA0400CA3EE}"/>
              </a:ext>
            </a:extLst>
          </p:cNvPr>
          <p:cNvCxnSpPr/>
          <p:nvPr/>
        </p:nvCxnSpPr>
        <p:spPr>
          <a:xfrm flipV="1">
            <a:off x="7112000" y="3200400"/>
            <a:ext cx="0" cy="99060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25" name="!!bf-weight-AD">
            <a:extLst>
              <a:ext uri="{FF2B5EF4-FFF2-40B4-BE49-F238E27FC236}">
                <a16:creationId xmlns:a16="http://schemas.microsoft.com/office/drawing/2014/main" id="{0670C589-0288-4FEF-B448-88B440C502EB}"/>
              </a:ext>
            </a:extLst>
          </p:cNvPr>
          <p:cNvSpPr txBox="1"/>
          <p:nvPr/>
        </p:nvSpPr>
        <p:spPr bwMode="auto">
          <a:xfrm>
            <a:off x="3784600" y="4254499"/>
            <a:ext cx="558800" cy="355600"/>
          </a:xfrm>
          <a:prstGeom prst="rect">
            <a:avLst/>
          </a:prstGeom>
        </p:spPr>
        <p:txBody>
          <a:bodyPr vert="horz" wrap="square" lIns="0" tIns="0" rIns="0" bIns="0" rtlCol="0">
            <a:noAutofit/>
          </a:bodyPr>
          <a:lstStyle/>
          <a:p>
            <a:pPr algn="ctr"/>
            <a:r>
              <a:rPr lang="ru-RU" sz="2000">
                <a:solidFill>
                  <a:srgbClr val="352379"/>
                </a:solidFill>
                <a:latin typeface="Montserrat"/>
              </a:rPr>
              <a:t>10</a:t>
            </a:r>
          </a:p>
        </p:txBody>
      </p:sp>
      <p:graphicFrame>
        <p:nvGraphicFramePr>
          <p:cNvPr id="26" name="!!bf-table">
            <a:extLst>
              <a:ext uri="{FF2B5EF4-FFF2-40B4-BE49-F238E27FC236}">
                <a16:creationId xmlns:a16="http://schemas.microsoft.com/office/drawing/2014/main" id="{231B1620-042A-4EE9-8564-F703D45AC540}"/>
              </a:ext>
            </a:extLst>
          </p:cNvPr>
          <p:cNvGraphicFramePr>
            <a:graphicFrameLocks noGrp="1"/>
          </p:cNvGraphicFramePr>
          <p:nvPr>
            <p:extLst>
              <p:ext uri="{D42A27DB-BD31-4B8C-83A1-F6EECF244321}">
                <p14:modId xmlns:p14="http://schemas.microsoft.com/office/powerpoint/2010/main" val="3186657745"/>
              </p:ext>
            </p:extLst>
          </p:nvPr>
        </p:nvGraphicFramePr>
        <p:xfrm>
          <a:off x="8534400" y="1968500"/>
          <a:ext cx="3175000" cy="2844800"/>
        </p:xfrm>
        <a:graphic>
          <a:graphicData uri="http://schemas.openxmlformats.org/drawingml/2006/table">
            <a:tbl>
              <a:tblPr firstRow="1" bandRow="1">
                <a:tableStyleId>{0E3FDE45-AF77-4B5C-9715-49D594BDF05E}</a:tableStyleId>
              </a:tblPr>
              <a:tblGrid>
                <a:gridCol w="1587500">
                  <a:extLst>
                    <a:ext uri="{9D8B030D-6E8A-4147-A177-3AD203B41FA5}">
                      <a16:colId xmlns:a16="http://schemas.microsoft.com/office/drawing/2014/main" val="887893161"/>
                    </a:ext>
                  </a:extLst>
                </a:gridCol>
                <a:gridCol w="1587500">
                  <a:extLst>
                    <a:ext uri="{9D8B030D-6E8A-4147-A177-3AD203B41FA5}">
                      <a16:colId xmlns:a16="http://schemas.microsoft.com/office/drawing/2014/main" val="2571686426"/>
                    </a:ext>
                  </a:extLst>
                </a:gridCol>
              </a:tblGrid>
              <a:tr h="568960">
                <a:tc>
                  <a:txBody>
                    <a:bodyPr/>
                    <a:lstStyle/>
                    <a:p>
                      <a:pPr algn="ctr"/>
                      <a:r>
                        <a:rPr lang="en-US" sz="2300" b="1">
                          <a:solidFill>
                            <a:srgbClr val="FFFFFF"/>
                          </a:solidFill>
                          <a:latin typeface="Montserrat"/>
                        </a:rPr>
                        <a:t>v</a:t>
                      </a:r>
                      <a:endParaRPr lang="ru-RU" sz="23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300" b="1">
                          <a:solidFill>
                            <a:srgbClr val="FFFFFF"/>
                          </a:solidFill>
                          <a:latin typeface="Montserrat"/>
                        </a:rPr>
                        <a:t>dist</a:t>
                      </a:r>
                      <a:endParaRPr lang="ru-RU" sz="23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1022053391"/>
                  </a:ext>
                </a:extLst>
              </a:tr>
              <a:tr h="568960">
                <a:tc>
                  <a:txBody>
                    <a:bodyPr/>
                    <a:lstStyle/>
                    <a:p>
                      <a:pPr algn="ctr"/>
                      <a:r>
                        <a:rPr lang="en-US" sz="2300" b="0">
                          <a:solidFill>
                            <a:srgbClr val="352379"/>
                          </a:solidFill>
                          <a:latin typeface="Montserrat"/>
                        </a:rPr>
                        <a:t>A</a:t>
                      </a:r>
                      <a:endParaRPr lang="ru-RU" sz="23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300" b="0">
                          <a:solidFill>
                            <a:srgbClr val="352379"/>
                          </a:solidFill>
                          <a:latin typeface="Montserrat"/>
                        </a:rPr>
                        <a:t>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597827871"/>
                  </a:ext>
                </a:extLst>
              </a:tr>
              <a:tr h="568960">
                <a:tc>
                  <a:txBody>
                    <a:bodyPr/>
                    <a:lstStyle/>
                    <a:p>
                      <a:pPr algn="ctr"/>
                      <a:r>
                        <a:rPr lang="en-US" sz="2300" b="0">
                          <a:solidFill>
                            <a:srgbClr val="352379"/>
                          </a:solidFill>
                          <a:latin typeface="Montserrat"/>
                        </a:rPr>
                        <a:t>B</a:t>
                      </a:r>
                      <a:endParaRPr lang="ru-RU" sz="23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300" b="0">
                          <a:solidFill>
                            <a:srgbClr val="352379"/>
                          </a:solidFill>
                          <a:latin typeface="Montserrat"/>
                        </a:rPr>
                        <a:t>4</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2710180556"/>
                  </a:ext>
                </a:extLst>
              </a:tr>
              <a:tr h="568960">
                <a:tc>
                  <a:txBody>
                    <a:bodyPr/>
                    <a:lstStyle/>
                    <a:p>
                      <a:pPr algn="ctr"/>
                      <a:r>
                        <a:rPr lang="en-US" sz="2300" b="0">
                          <a:solidFill>
                            <a:srgbClr val="352379"/>
                          </a:solidFill>
                          <a:latin typeface="Montserrat"/>
                        </a:rPr>
                        <a:t>C</a:t>
                      </a:r>
                      <a:endParaRPr lang="ru-RU" sz="23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300" b="0">
                          <a:solidFill>
                            <a:srgbClr val="352379"/>
                          </a:solidFill>
                          <a:latin typeface="Montserrat"/>
                        </a:rPr>
                        <a:t>2</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3515842462"/>
                  </a:ext>
                </a:extLst>
              </a:tr>
              <a:tr h="568960">
                <a:tc>
                  <a:txBody>
                    <a:bodyPr/>
                    <a:lstStyle/>
                    <a:p>
                      <a:pPr algn="ctr"/>
                      <a:r>
                        <a:rPr lang="en-US" sz="2300" b="0">
                          <a:solidFill>
                            <a:srgbClr val="352379"/>
                          </a:solidFill>
                          <a:latin typeface="Montserrat"/>
                        </a:rPr>
                        <a:t>D</a:t>
                      </a:r>
                      <a:endParaRPr lang="ru-RU" sz="23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300" b="0">
                          <a:solidFill>
                            <a:srgbClr val="352379"/>
                          </a:solidFill>
                          <a:latin typeface="Montserrat"/>
                        </a:rPr>
                        <a:t>5</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2093655470"/>
                  </a:ext>
                </a:extLst>
              </a:tr>
            </a:tbl>
          </a:graphicData>
        </a:graphic>
      </p:graphicFrame>
      <p:sp>
        <p:nvSpPr>
          <p:cNvPr id="27" name="!!bf-changes">
            <a:extLst>
              <a:ext uri="{FF2B5EF4-FFF2-40B4-BE49-F238E27FC236}">
                <a16:creationId xmlns:a16="http://schemas.microsoft.com/office/drawing/2014/main" id="{D082B75A-C589-442F-83A0-0BDAA9F0F0BA}"/>
              </a:ext>
            </a:extLst>
          </p:cNvPr>
          <p:cNvSpPr txBox="1"/>
          <p:nvPr/>
        </p:nvSpPr>
        <p:spPr bwMode="auto">
          <a:xfrm>
            <a:off x="736600" y="4749799"/>
            <a:ext cx="6858000" cy="889000"/>
          </a:xfrm>
          <a:prstGeom prst="rect">
            <a:avLst/>
          </a:prstGeom>
        </p:spPr>
        <p:txBody>
          <a:bodyPr vert="horz" wrap="square" lIns="0" tIns="0" rIns="0" bIns="0" rtlCol="0">
            <a:noAutofit/>
          </a:bodyPr>
          <a:lstStyle/>
          <a:p>
            <a:r>
              <a:rPr lang="ru-RU" sz="2300">
                <a:solidFill>
                  <a:srgbClr val="352379"/>
                </a:solidFill>
                <a:latin typeface="Montserrat"/>
              </a:rPr>
              <a:t>D: 10 → 5 через C</a:t>
            </a:r>
          </a:p>
        </p:txBody>
      </p:sp>
      <p:sp>
        <p:nvSpPr>
          <p:cNvPr id="28" name="bf-order">
            <a:extLst>
              <a:ext uri="{FF2B5EF4-FFF2-40B4-BE49-F238E27FC236}">
                <a16:creationId xmlns:a16="http://schemas.microsoft.com/office/drawing/2014/main" id="{B7A6E32C-F4FF-4867-BA62-5D4C9A7E8CBB}"/>
              </a:ext>
            </a:extLst>
          </p:cNvPr>
          <p:cNvSpPr txBox="1"/>
          <p:nvPr/>
        </p:nvSpPr>
        <p:spPr bwMode="auto">
          <a:xfrm>
            <a:off x="736600" y="1689099"/>
            <a:ext cx="6985000" cy="444500"/>
          </a:xfrm>
          <a:prstGeom prst="rect">
            <a:avLst/>
          </a:prstGeom>
        </p:spPr>
        <p:txBody>
          <a:bodyPr vert="horz" wrap="square" lIns="0" tIns="0" rIns="0" bIns="0" rtlCol="0">
            <a:noAutofit/>
          </a:bodyPr>
          <a:lstStyle/>
          <a:p>
            <a:r>
              <a:rPr lang="ru-RU" sz="2100">
                <a:solidFill>
                  <a:srgbClr val="352379"/>
                </a:solidFill>
                <a:latin typeface="Montserrat"/>
              </a:rPr>
              <a:t>Проверяем все 4 ребра за один проход</a:t>
            </a:r>
          </a:p>
        </p:txBody>
      </p:sp>
      <p:sp>
        <p:nvSpPr>
          <p:cNvPr id="8" name="lecture-footer">
            <a:extLst>
              <a:ext uri="{FF2B5EF4-FFF2-40B4-BE49-F238E27FC236}">
                <a16:creationId xmlns:a16="http://schemas.microsoft.com/office/drawing/2014/main" id="{C56757A2-8662-413F-A952-CD19D2EB37A4}"/>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4F69F915-8A85-4F1A-98C6-57DA74425D30}"/>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46</a:t>
            </a:r>
          </a:p>
        </p:txBody>
      </p:sp>
      <p:sp>
        <p:nvSpPr>
          <p:cNvPr id="10" name="bottom-band">
            <a:extLst>
              <a:ext uri="{FF2B5EF4-FFF2-40B4-BE49-F238E27FC236}">
                <a16:creationId xmlns:a16="http://schemas.microsoft.com/office/drawing/2014/main" id="{080F677E-3631-429F-9E9B-A105CA7B9BC2}"/>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07709C16-7D4C-4CCF-B60E-7CD65B0D9F9C}"/>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Порядок рёбер: </a:t>
            </a:r>
            <a:r>
              <a:rPr lang="en-US" sz="2000">
                <a:solidFill>
                  <a:srgbClr val="FFFFFF"/>
                </a:solidFill>
                <a:latin typeface="Montserrat"/>
              </a:rPr>
              <a:t>C→D, B→C, A→B, A→D</a:t>
            </a:r>
            <a:endParaRPr lang="ru-RU" sz="2000">
              <a:solidFill>
                <a:srgbClr val="FFFFFF"/>
              </a:solidFill>
              <a:latin typeface="Montserrat"/>
            </a:endParaRPr>
          </a:p>
        </p:txBody>
      </p:sp>
    </p:spTree>
    <p:extLst>
      <p:ext uri="{BB962C8B-B14F-4D97-AF65-F5344CB8AC3E}">
        <p14:creationId xmlns:p14="http://schemas.microsoft.com/office/powerpoint/2010/main" val="40747617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55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25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9"/>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D6F33E-5129-4452-8680-45BF5BB54D95}"/>
              </a:ext>
            </a:extLst>
          </p:cNvPr>
          <p:cNvSpPr>
            <a:spLocks noGrp="1"/>
          </p:cNvSpPr>
          <p:nvPr>
            <p:ph type="title"/>
          </p:nvPr>
        </p:nvSpPr>
        <p:spPr>
          <a:xfrm>
            <a:off x="479425" y="597855"/>
            <a:ext cx="11229975" cy="1140459"/>
          </a:xfrm>
        </p:spPr>
        <p:txBody>
          <a:bodyPr/>
          <a:lstStyle/>
          <a:p>
            <a:r>
              <a:rPr lang="en-US"/>
              <a:t>Python: </a:t>
            </a:r>
            <a:r>
              <a:rPr lang="ru-RU"/>
              <a:t>Беллман–Форд</a:t>
            </a:r>
          </a:p>
        </p:txBody>
      </p:sp>
      <p:sp>
        <p:nvSpPr>
          <p:cNvPr id="7" name="Текст 6">
            <a:extLst>
              <a:ext uri="{FF2B5EF4-FFF2-40B4-BE49-F238E27FC236}">
                <a16:creationId xmlns:a16="http://schemas.microsoft.com/office/drawing/2014/main" id="{752FB1D9-8EF2-43A7-A788-1F25BDF1A295}"/>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9C13E782-5420-490D-9789-992DBCE1730D}"/>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9E4137D9-957A-4CF3-839E-6835D7231255}"/>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47</a:t>
            </a:r>
          </a:p>
        </p:txBody>
      </p:sp>
      <p:sp>
        <p:nvSpPr>
          <p:cNvPr id="10" name="bottom-band">
            <a:extLst>
              <a:ext uri="{FF2B5EF4-FFF2-40B4-BE49-F238E27FC236}">
                <a16:creationId xmlns:a16="http://schemas.microsoft.com/office/drawing/2014/main" id="{7F8B12BA-D0CD-4C73-A03E-8A2B930239A2}"/>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77BD49F3-1678-439D-9E18-3F472393D788}"/>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Если улучшений нет, завершаем раньше. Проверка цикла — на слайде 50.</a:t>
            </a:r>
          </a:p>
        </p:txBody>
      </p:sp>
      <p:sp>
        <p:nvSpPr>
          <p:cNvPr id="12" name="code-background">
            <a:extLst>
              <a:ext uri="{FF2B5EF4-FFF2-40B4-BE49-F238E27FC236}">
                <a16:creationId xmlns:a16="http://schemas.microsoft.com/office/drawing/2014/main" id="{B1E0F876-EE59-4D0E-814D-05B7F8123D96}"/>
              </a:ext>
            </a:extLst>
          </p:cNvPr>
          <p:cNvSpPr/>
          <p:nvPr/>
        </p:nvSpPr>
        <p:spPr>
          <a:xfrm>
            <a:off x="609600" y="1676400"/>
            <a:ext cx="10795000" cy="40259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code-listing">
            <a:extLst>
              <a:ext uri="{FF2B5EF4-FFF2-40B4-BE49-F238E27FC236}">
                <a16:creationId xmlns:a16="http://schemas.microsoft.com/office/drawing/2014/main" id="{50A8CFA8-DD31-4B73-B01F-4493DB218D5E}"/>
              </a:ext>
            </a:extLst>
          </p:cNvPr>
          <p:cNvSpPr txBox="1"/>
          <p:nvPr/>
        </p:nvSpPr>
        <p:spPr bwMode="auto">
          <a:xfrm>
            <a:off x="812800" y="1854199"/>
            <a:ext cx="10439400" cy="3746500"/>
          </a:xfrm>
          <a:prstGeom prst="rect">
            <a:avLst/>
          </a:prstGeom>
        </p:spPr>
        <p:txBody>
          <a:bodyPr vert="horz" wrap="square" lIns="0" tIns="0" rIns="0" bIns="0" rtlCol="0">
            <a:noAutofit/>
          </a:bodyPr>
          <a:lstStyle/>
          <a:p>
            <a:pPr>
              <a:lnSpc>
                <a:spcPts val="2200"/>
              </a:lnSpc>
            </a:pPr>
            <a:r>
              <a:rPr lang="en-US" sz="1900">
                <a:solidFill>
                  <a:srgbClr val="352379"/>
                </a:solidFill>
                <a:latin typeface="Montserrat"/>
              </a:rPr>
              <a:t>def bellman_ford(vertices, edges, start):</a:t>
            </a:r>
          </a:p>
          <a:p>
            <a:pPr>
              <a:lnSpc>
                <a:spcPts val="2200"/>
              </a:lnSpc>
            </a:pPr>
            <a:r>
              <a:rPr lang="en-US" sz="1900">
                <a:solidFill>
                  <a:srgbClr val="352379"/>
                </a:solidFill>
                <a:latin typeface="Montserrat"/>
              </a:rPr>
              <a:t>    dist = {v: float("inf") for v in vertices}</a:t>
            </a:r>
          </a:p>
          <a:p>
            <a:pPr>
              <a:lnSpc>
                <a:spcPts val="2200"/>
              </a:lnSpc>
            </a:pPr>
            <a:r>
              <a:rPr lang="en-US" sz="1900">
                <a:solidFill>
                  <a:srgbClr val="352379"/>
                </a:solidFill>
                <a:latin typeface="Montserrat"/>
              </a:rPr>
              <a:t>    dist[start] = 0</a:t>
            </a:r>
          </a:p>
          <a:p>
            <a:pPr>
              <a:lnSpc>
                <a:spcPts val="2200"/>
              </a:lnSpc>
            </a:pPr>
            <a:r>
              <a:rPr lang="en-US" sz="1900">
                <a:solidFill>
                  <a:srgbClr val="352379"/>
                </a:solidFill>
                <a:latin typeface="Montserrat"/>
              </a:rPr>
              <a:t>    for _ in range(len(vertices) - 1):</a:t>
            </a:r>
          </a:p>
          <a:p>
            <a:pPr>
              <a:lnSpc>
                <a:spcPts val="2200"/>
              </a:lnSpc>
            </a:pPr>
            <a:r>
              <a:rPr lang="en-US" sz="1900">
                <a:solidFill>
                  <a:srgbClr val="352379"/>
                </a:solidFill>
                <a:latin typeface="Montserrat"/>
              </a:rPr>
              <a:t>        changed = False</a:t>
            </a:r>
          </a:p>
          <a:p>
            <a:pPr>
              <a:lnSpc>
                <a:spcPts val="2200"/>
              </a:lnSpc>
            </a:pPr>
            <a:r>
              <a:rPr lang="en-US" sz="1900">
                <a:solidFill>
                  <a:srgbClr val="352379"/>
                </a:solidFill>
                <a:latin typeface="Montserrat"/>
              </a:rPr>
              <a:t>        for u, v, weight in edges:</a:t>
            </a:r>
          </a:p>
          <a:p>
            <a:pPr>
              <a:lnSpc>
                <a:spcPts val="2200"/>
              </a:lnSpc>
            </a:pPr>
            <a:r>
              <a:rPr lang="en-US" sz="1900">
                <a:solidFill>
                  <a:srgbClr val="352379"/>
                </a:solidFill>
                <a:latin typeface="Montserrat"/>
              </a:rPr>
              <a:t>            if dist[u] != float("inf"):</a:t>
            </a:r>
          </a:p>
          <a:p>
            <a:pPr>
              <a:lnSpc>
                <a:spcPts val="2200"/>
              </a:lnSpc>
            </a:pPr>
            <a:r>
              <a:rPr lang="en-US" sz="1900">
                <a:solidFill>
                  <a:srgbClr val="352379"/>
                </a:solidFill>
                <a:latin typeface="Montserrat"/>
              </a:rPr>
              <a:t>                candidate = dist[u] + weight</a:t>
            </a:r>
          </a:p>
          <a:p>
            <a:pPr>
              <a:lnSpc>
                <a:spcPts val="2200"/>
              </a:lnSpc>
            </a:pPr>
            <a:r>
              <a:rPr lang="en-US" sz="1900">
                <a:solidFill>
                  <a:srgbClr val="352379"/>
                </a:solidFill>
                <a:latin typeface="Montserrat"/>
              </a:rPr>
              <a:t>                if candidate &lt; dist[v]:</a:t>
            </a:r>
          </a:p>
          <a:p>
            <a:pPr>
              <a:lnSpc>
                <a:spcPts val="2200"/>
              </a:lnSpc>
            </a:pPr>
            <a:r>
              <a:rPr lang="en-US" sz="1900">
                <a:solidFill>
                  <a:srgbClr val="352379"/>
                </a:solidFill>
                <a:latin typeface="Montserrat"/>
              </a:rPr>
              <a:t>                    dist[v] = candidate</a:t>
            </a:r>
          </a:p>
          <a:p>
            <a:pPr>
              <a:lnSpc>
                <a:spcPts val="2200"/>
              </a:lnSpc>
            </a:pPr>
            <a:r>
              <a:rPr lang="en-US" sz="1900">
                <a:solidFill>
                  <a:srgbClr val="352379"/>
                </a:solidFill>
                <a:latin typeface="Montserrat"/>
              </a:rPr>
              <a:t>                    changed = True</a:t>
            </a:r>
          </a:p>
          <a:p>
            <a:pPr>
              <a:lnSpc>
                <a:spcPts val="2200"/>
              </a:lnSpc>
            </a:pPr>
            <a:r>
              <a:rPr lang="en-US" sz="1900">
                <a:solidFill>
                  <a:srgbClr val="352379"/>
                </a:solidFill>
                <a:latin typeface="Montserrat"/>
              </a:rPr>
              <a:t>        if not changed:</a:t>
            </a:r>
          </a:p>
          <a:p>
            <a:pPr>
              <a:lnSpc>
                <a:spcPts val="2200"/>
              </a:lnSpc>
            </a:pPr>
            <a:r>
              <a:rPr lang="en-US" sz="1900">
                <a:solidFill>
                  <a:srgbClr val="352379"/>
                </a:solidFill>
                <a:latin typeface="Montserrat"/>
              </a:rPr>
              <a:t>            break</a:t>
            </a:r>
            <a:endParaRPr lang="ru-RU" sz="1900">
              <a:solidFill>
                <a:srgbClr val="352379"/>
              </a:solidFill>
              <a:latin typeface="Montserrat"/>
            </a:endParaRPr>
          </a:p>
        </p:txBody>
      </p:sp>
    </p:spTree>
    <p:extLst>
      <p:ext uri="{BB962C8B-B14F-4D97-AF65-F5344CB8AC3E}">
        <p14:creationId xmlns:p14="http://schemas.microsoft.com/office/powerpoint/2010/main" val="2242771053"/>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C0BBBB-3B76-41A5-9B47-B15DAC768204}"/>
              </a:ext>
            </a:extLst>
          </p:cNvPr>
          <p:cNvSpPr>
            <a:spLocks noGrp="1"/>
          </p:cNvSpPr>
          <p:nvPr>
            <p:ph type="title"/>
          </p:nvPr>
        </p:nvSpPr>
        <p:spPr>
          <a:xfrm>
            <a:off x="479425" y="597855"/>
            <a:ext cx="11229975" cy="1140459"/>
          </a:xfrm>
        </p:spPr>
        <p:txBody>
          <a:bodyPr/>
          <a:lstStyle/>
          <a:p>
            <a:r>
              <a:rPr lang="ru-RU"/>
              <a:t>Отрицательный цикл</a:t>
            </a:r>
          </a:p>
        </p:txBody>
      </p:sp>
      <p:sp>
        <p:nvSpPr>
          <p:cNvPr id="7" name="Текст 6">
            <a:extLst>
              <a:ext uri="{FF2B5EF4-FFF2-40B4-BE49-F238E27FC236}">
                <a16:creationId xmlns:a16="http://schemas.microsoft.com/office/drawing/2014/main" id="{2E4615DA-50DF-401D-B131-BD87E2A9A084}"/>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D337FBBA-5A9B-4EF1-9F94-E3BB19CE3A32}"/>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ADF860AD-75BD-4189-B4C5-10A510B2C6B9}"/>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48</a:t>
            </a:r>
          </a:p>
        </p:txBody>
      </p:sp>
      <p:sp>
        <p:nvSpPr>
          <p:cNvPr id="10" name="bottom-band">
            <a:extLst>
              <a:ext uri="{FF2B5EF4-FFF2-40B4-BE49-F238E27FC236}">
                <a16:creationId xmlns:a16="http://schemas.microsoft.com/office/drawing/2014/main" id="{AD396240-057D-47D5-AB4C-D7B4AE95D376}"/>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82CFA658-50FB-4701-974E-4BA5810F590F}"/>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Цикл с отрицательной суммой весов: 2 + (−5) + 1 = −2</a:t>
            </a:r>
          </a:p>
        </p:txBody>
      </p:sp>
      <p:cxnSp>
        <p:nvCxnSpPr>
          <p:cNvPr id="12" name="!!cycle-edge-AB">
            <a:extLst>
              <a:ext uri="{FF2B5EF4-FFF2-40B4-BE49-F238E27FC236}">
                <a16:creationId xmlns:a16="http://schemas.microsoft.com/office/drawing/2014/main" id="{5C552D8B-E024-4FF9-BAEE-4A5AE4D87E09}"/>
              </a:ext>
            </a:extLst>
          </p:cNvPr>
          <p:cNvCxnSpPr/>
          <p:nvPr/>
        </p:nvCxnSpPr>
        <p:spPr>
          <a:xfrm>
            <a:off x="3263900" y="2603500"/>
            <a:ext cx="30607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3" name="!!cycle-weight-AB">
            <a:extLst>
              <a:ext uri="{FF2B5EF4-FFF2-40B4-BE49-F238E27FC236}">
                <a16:creationId xmlns:a16="http://schemas.microsoft.com/office/drawing/2014/main" id="{C87B33FA-BBEE-4CCB-9326-9D78B5E1C842}"/>
              </a:ext>
            </a:extLst>
          </p:cNvPr>
          <p:cNvSpPr txBox="1"/>
          <p:nvPr/>
        </p:nvSpPr>
        <p:spPr bwMode="auto">
          <a:xfrm>
            <a:off x="4540250" y="2755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14" name="!!cycle-edge-BC">
            <a:extLst>
              <a:ext uri="{FF2B5EF4-FFF2-40B4-BE49-F238E27FC236}">
                <a16:creationId xmlns:a16="http://schemas.microsoft.com/office/drawing/2014/main" id="{2FC260C3-B545-41DF-809C-BDA68150D98E}"/>
              </a:ext>
            </a:extLst>
          </p:cNvPr>
          <p:cNvCxnSpPr/>
          <p:nvPr/>
        </p:nvCxnSpPr>
        <p:spPr>
          <a:xfrm flipH="1">
            <a:off x="5010428" y="2874706"/>
            <a:ext cx="1447244" cy="1870588"/>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5" name="!!cycle-weight-BC">
            <a:extLst>
              <a:ext uri="{FF2B5EF4-FFF2-40B4-BE49-F238E27FC236}">
                <a16:creationId xmlns:a16="http://schemas.microsoft.com/office/drawing/2014/main" id="{A78F80FD-DD08-411F-ACA4-8062586A83BE}"/>
              </a:ext>
            </a:extLst>
          </p:cNvPr>
          <p:cNvSpPr txBox="1"/>
          <p:nvPr/>
        </p:nvSpPr>
        <p:spPr bwMode="auto">
          <a:xfrm>
            <a:off x="5198799" y="3389200"/>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-5</a:t>
            </a:r>
          </a:p>
        </p:txBody>
      </p:sp>
      <p:cxnSp>
        <p:nvCxnSpPr>
          <p:cNvPr id="16" name="!!cycle-edge-CA">
            <a:extLst>
              <a:ext uri="{FF2B5EF4-FFF2-40B4-BE49-F238E27FC236}">
                <a16:creationId xmlns:a16="http://schemas.microsoft.com/office/drawing/2014/main" id="{FCE1DEBE-5DDC-49DF-AA92-6BF133CD2B51}"/>
              </a:ext>
            </a:extLst>
          </p:cNvPr>
          <p:cNvCxnSpPr/>
          <p:nvPr/>
        </p:nvCxnSpPr>
        <p:spPr>
          <a:xfrm flipH="1" flipV="1">
            <a:off x="3131717" y="2874015"/>
            <a:ext cx="1458166" cy="1871969"/>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7" name="!!cycle-weight-CA">
            <a:extLst>
              <a:ext uri="{FF2B5EF4-FFF2-40B4-BE49-F238E27FC236}">
                <a16:creationId xmlns:a16="http://schemas.microsoft.com/office/drawing/2014/main" id="{3BC5482B-0ED2-4F50-987C-2B9B80407668}"/>
              </a:ext>
            </a:extLst>
          </p:cNvPr>
          <p:cNvSpPr txBox="1"/>
          <p:nvPr/>
        </p:nvSpPr>
        <p:spPr bwMode="auto">
          <a:xfrm>
            <a:off x="3887334" y="3388277"/>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sp>
        <p:nvSpPr>
          <p:cNvPr id="18" name="!!cycle-node-A">
            <a:extLst>
              <a:ext uri="{FF2B5EF4-FFF2-40B4-BE49-F238E27FC236}">
                <a16:creationId xmlns:a16="http://schemas.microsoft.com/office/drawing/2014/main" id="{B7EAA9A0-DF4E-4E32-9741-F6082197689F}"/>
              </a:ext>
            </a:extLst>
          </p:cNvPr>
          <p:cNvSpPr/>
          <p:nvPr/>
        </p:nvSpPr>
        <p:spPr>
          <a:xfrm>
            <a:off x="2603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19" name="!!cycle-node-B">
            <a:extLst>
              <a:ext uri="{FF2B5EF4-FFF2-40B4-BE49-F238E27FC236}">
                <a16:creationId xmlns:a16="http://schemas.microsoft.com/office/drawing/2014/main" id="{FAD2ED78-1240-4312-9AF1-A1CC788AE865}"/>
              </a:ext>
            </a:extLst>
          </p:cNvPr>
          <p:cNvSpPr/>
          <p:nvPr/>
        </p:nvSpPr>
        <p:spPr>
          <a:xfrm>
            <a:off x="63500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20" name="!!cycle-node-C">
            <a:extLst>
              <a:ext uri="{FF2B5EF4-FFF2-40B4-BE49-F238E27FC236}">
                <a16:creationId xmlns:a16="http://schemas.microsoft.com/office/drawing/2014/main" id="{6759A608-A7D0-464C-ADD6-297DB9127210}"/>
              </a:ext>
            </a:extLst>
          </p:cNvPr>
          <p:cNvSpPr/>
          <p:nvPr/>
        </p:nvSpPr>
        <p:spPr>
          <a:xfrm>
            <a:off x="4483100" y="4699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21" name="cycle-definition-body">
            <a:extLst>
              <a:ext uri="{FF2B5EF4-FFF2-40B4-BE49-F238E27FC236}">
                <a16:creationId xmlns:a16="http://schemas.microsoft.com/office/drawing/2014/main" id="{A8733E20-ACDB-44DF-94CA-B34AA92E5336}"/>
              </a:ext>
            </a:extLst>
          </p:cNvPr>
          <p:cNvSpPr/>
          <p:nvPr/>
        </p:nvSpPr>
        <p:spPr>
          <a:xfrm>
            <a:off x="8572500" y="1816100"/>
            <a:ext cx="3136900" cy="368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cycle-definition-head">
            <a:extLst>
              <a:ext uri="{FF2B5EF4-FFF2-40B4-BE49-F238E27FC236}">
                <a16:creationId xmlns:a16="http://schemas.microsoft.com/office/drawing/2014/main" id="{FE2FF159-EB72-496F-B960-AC6FE3F619A2}"/>
              </a:ext>
            </a:extLst>
          </p:cNvPr>
          <p:cNvSpPr/>
          <p:nvPr/>
        </p:nvSpPr>
        <p:spPr>
          <a:xfrm>
            <a:off x="8572500" y="1816100"/>
            <a:ext cx="31369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cycle-definition-heading">
            <a:extLst>
              <a:ext uri="{FF2B5EF4-FFF2-40B4-BE49-F238E27FC236}">
                <a16:creationId xmlns:a16="http://schemas.microsoft.com/office/drawing/2014/main" id="{024B69CE-AEF5-4CE2-BC19-7C694F2AD153}"/>
              </a:ext>
            </a:extLst>
          </p:cNvPr>
          <p:cNvSpPr txBox="1"/>
          <p:nvPr/>
        </p:nvSpPr>
        <p:spPr bwMode="auto">
          <a:xfrm>
            <a:off x="8763000" y="1930399"/>
            <a:ext cx="2755900" cy="381000"/>
          </a:xfrm>
          <a:prstGeom prst="rect">
            <a:avLst/>
          </a:prstGeom>
        </p:spPr>
        <p:txBody>
          <a:bodyPr vert="horz" wrap="square" lIns="0" tIns="0" rIns="0" bIns="0" rtlCol="0">
            <a:noAutofit/>
          </a:bodyPr>
          <a:lstStyle/>
          <a:p>
            <a:r>
              <a:rPr lang="ru-RU" sz="2100">
                <a:solidFill>
                  <a:srgbClr val="FFFFFF"/>
                </a:solidFill>
                <a:latin typeface="Montserrat"/>
              </a:rPr>
              <a:t>Определение</a:t>
            </a:r>
          </a:p>
        </p:txBody>
      </p:sp>
      <p:sp>
        <p:nvSpPr>
          <p:cNvPr id="24" name="cycle-definition-text">
            <a:extLst>
              <a:ext uri="{FF2B5EF4-FFF2-40B4-BE49-F238E27FC236}">
                <a16:creationId xmlns:a16="http://schemas.microsoft.com/office/drawing/2014/main" id="{14D4AD33-462B-477A-9FD5-4A5A24FC6B8E}"/>
              </a:ext>
            </a:extLst>
          </p:cNvPr>
          <p:cNvSpPr txBox="1"/>
          <p:nvPr/>
        </p:nvSpPr>
        <p:spPr bwMode="auto">
          <a:xfrm>
            <a:off x="8788400" y="2641599"/>
            <a:ext cx="2705100" cy="2717800"/>
          </a:xfrm>
          <a:prstGeom prst="rect">
            <a:avLst/>
          </a:prstGeom>
        </p:spPr>
        <p:txBody>
          <a:bodyPr vert="horz" wrap="square" lIns="0" tIns="0" rIns="0" bIns="0" rtlCol="0">
            <a:noAutofit/>
          </a:bodyPr>
          <a:lstStyle/>
          <a:p>
            <a:r>
              <a:rPr lang="ru-RU" sz="2100">
                <a:solidFill>
                  <a:srgbClr val="352379"/>
                </a:solidFill>
                <a:latin typeface="Montserrat"/>
              </a:rPr>
              <a:t>Отрицательный цикл — цикл, суммарный вес которого меньше нуля.</a:t>
            </a:r>
          </a:p>
          <a:p>
            <a:endParaRPr lang="ru-RU" sz="2100">
              <a:solidFill>
                <a:srgbClr val="352379"/>
              </a:solidFill>
              <a:latin typeface="Montserrat"/>
            </a:endParaRPr>
          </a:p>
          <a:p>
            <a:r>
              <a:rPr lang="ru-RU" sz="2100">
                <a:solidFill>
                  <a:srgbClr val="352379"/>
                </a:solidFill>
                <a:latin typeface="Montserrat"/>
              </a:rPr>
              <a:t>Один круг: −2</a:t>
            </a:r>
          </a:p>
          <a:p>
            <a:r>
              <a:rPr lang="ru-RU" sz="2100">
                <a:solidFill>
                  <a:srgbClr val="352379"/>
                </a:solidFill>
                <a:latin typeface="Montserrat"/>
              </a:rPr>
              <a:t>Ещё круг: ещё −2</a:t>
            </a:r>
          </a:p>
        </p:txBody>
      </p:sp>
    </p:spTree>
    <p:extLst>
      <p:ext uri="{BB962C8B-B14F-4D97-AF65-F5344CB8AC3E}">
        <p14:creationId xmlns:p14="http://schemas.microsoft.com/office/powerpoint/2010/main" val="1419461118"/>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3184ECF-497E-47F5-9329-4A14B522B95A}"/>
              </a:ext>
            </a:extLst>
          </p:cNvPr>
          <p:cNvSpPr>
            <a:spLocks noGrp="1"/>
          </p:cNvSpPr>
          <p:nvPr>
            <p:ph type="title"/>
          </p:nvPr>
        </p:nvSpPr>
        <p:spPr>
          <a:xfrm>
            <a:off x="479425" y="597855"/>
            <a:ext cx="11229975" cy="1140459"/>
          </a:xfrm>
        </p:spPr>
        <p:txBody>
          <a:bodyPr/>
          <a:lstStyle/>
          <a:p>
            <a:r>
              <a:rPr lang="ru-RU"/>
              <a:t>Когда конечного кратчайшего пути нет</a:t>
            </a:r>
          </a:p>
        </p:txBody>
      </p:sp>
      <p:sp>
        <p:nvSpPr>
          <p:cNvPr id="7" name="Текст 6">
            <a:extLst>
              <a:ext uri="{FF2B5EF4-FFF2-40B4-BE49-F238E27FC236}">
                <a16:creationId xmlns:a16="http://schemas.microsoft.com/office/drawing/2014/main" id="{A663279F-BDCA-4190-841C-E1C476CD3FD2}"/>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8F913626-9B95-4C11-9028-50FBD7C7C7CC}"/>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FD211DC2-7C7F-4584-82F8-A013EDD0E918}"/>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49</a:t>
            </a:r>
          </a:p>
        </p:txBody>
      </p:sp>
      <p:sp>
        <p:nvSpPr>
          <p:cNvPr id="10" name="bottom-band">
            <a:extLst>
              <a:ext uri="{FF2B5EF4-FFF2-40B4-BE49-F238E27FC236}">
                <a16:creationId xmlns:a16="http://schemas.microsoft.com/office/drawing/2014/main" id="{3CC7D6E4-01E3-478F-B712-643057F1BB8F}"/>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BD785408-A96A-4EEA-B052-D30F643ADBAC}"/>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Не каждая вершина графа обязательно затронута отрицательным циклом</a:t>
            </a:r>
          </a:p>
        </p:txBody>
      </p:sp>
      <p:sp>
        <p:nvSpPr>
          <p:cNvPr id="12" name="definition">
            <a:extLst>
              <a:ext uri="{FF2B5EF4-FFF2-40B4-BE49-F238E27FC236}">
                <a16:creationId xmlns:a16="http://schemas.microsoft.com/office/drawing/2014/main" id="{DCA237FD-8B9C-4664-AC37-D3181EC55956}"/>
              </a:ext>
            </a:extLst>
          </p:cNvPr>
          <p:cNvSpPr txBox="1"/>
          <p:nvPr/>
        </p:nvSpPr>
        <p:spPr bwMode="auto">
          <a:xfrm>
            <a:off x="698500" y="1841499"/>
            <a:ext cx="10985500" cy="1270000"/>
          </a:xfrm>
          <a:prstGeom prst="rect">
            <a:avLst/>
          </a:prstGeom>
        </p:spPr>
        <p:txBody>
          <a:bodyPr vert="horz" wrap="square" lIns="0" tIns="0" rIns="0" bIns="0" rtlCol="0">
            <a:noAutofit/>
          </a:bodyPr>
          <a:lstStyle/>
          <a:p>
            <a:r>
              <a:rPr lang="ru-RU" sz="2500">
                <a:solidFill>
                  <a:srgbClr val="352379"/>
                </a:solidFill>
                <a:latin typeface="Montserrat"/>
              </a:rPr>
              <a:t>Если можно дойти до отрицательного цикла, повторять его и затем попасть в цель, стоимость до цели не ограничена снизу.</a:t>
            </a:r>
          </a:p>
        </p:txBody>
      </p:sp>
      <p:sp>
        <p:nvSpPr>
          <p:cNvPr id="13" name="main-formula">
            <a:extLst>
              <a:ext uri="{FF2B5EF4-FFF2-40B4-BE49-F238E27FC236}">
                <a16:creationId xmlns:a16="http://schemas.microsoft.com/office/drawing/2014/main" id="{21ADB468-E295-4B51-A56B-56BCD0B6099A}"/>
              </a:ext>
            </a:extLst>
          </p:cNvPr>
          <p:cNvSpPr txBox="1"/>
          <p:nvPr/>
        </p:nvSpPr>
        <p:spPr bwMode="auto">
          <a:xfrm>
            <a:off x="698500" y="3492499"/>
            <a:ext cx="10985500" cy="825500"/>
          </a:xfrm>
          <a:prstGeom prst="rect">
            <a:avLst/>
          </a:prstGeom>
        </p:spPr>
        <p:txBody>
          <a:bodyPr vert="horz" wrap="square" lIns="0" tIns="0" rIns="0" bIns="0" rtlCol="0">
            <a:noAutofit/>
          </a:bodyPr>
          <a:lstStyle/>
          <a:p>
            <a:pPr algn="ctr"/>
            <a:r>
              <a:rPr lang="ru-RU" sz="2900" b="1">
                <a:solidFill>
                  <a:srgbClr val="352379"/>
                </a:solidFill>
                <a:latin typeface="Montserrat"/>
              </a:rPr>
              <a:t>−2, −4, −6, …  →  −∞</a:t>
            </a:r>
          </a:p>
        </p:txBody>
      </p:sp>
      <p:sp>
        <p:nvSpPr>
          <p:cNvPr id="14" name="formula-detail">
            <a:extLst>
              <a:ext uri="{FF2B5EF4-FFF2-40B4-BE49-F238E27FC236}">
                <a16:creationId xmlns:a16="http://schemas.microsoft.com/office/drawing/2014/main" id="{E05CE6E4-8EBB-4148-8838-C0D1750903B2}"/>
              </a:ext>
            </a:extLst>
          </p:cNvPr>
          <p:cNvSpPr txBox="1"/>
          <p:nvPr/>
        </p:nvSpPr>
        <p:spPr bwMode="auto">
          <a:xfrm>
            <a:off x="1079500" y="4787899"/>
            <a:ext cx="10033000" cy="800100"/>
          </a:xfrm>
          <a:prstGeom prst="rect">
            <a:avLst/>
          </a:prstGeom>
        </p:spPr>
        <p:txBody>
          <a:bodyPr vert="horz" wrap="square" lIns="0" tIns="0" rIns="0" bIns="0" rtlCol="0">
            <a:noAutofit/>
          </a:bodyPr>
          <a:lstStyle/>
          <a:p>
            <a:pPr algn="ctr"/>
            <a:r>
              <a:rPr lang="ru-RU" sz="2300">
                <a:solidFill>
                  <a:srgbClr val="352379"/>
                </a:solidFill>
                <a:latin typeface="Montserrat"/>
              </a:rPr>
              <a:t>Цикл должен быть достижим из источника и вести к рассматриваемой цели.</a:t>
            </a:r>
          </a:p>
        </p:txBody>
      </p:sp>
    </p:spTree>
    <p:extLst>
      <p:ext uri="{BB962C8B-B14F-4D97-AF65-F5344CB8AC3E}">
        <p14:creationId xmlns:p14="http://schemas.microsoft.com/office/powerpoint/2010/main" val="1229204634"/>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601B24E-313F-45F7-B15A-04FA0BDF79C8}"/>
              </a:ext>
            </a:extLst>
          </p:cNvPr>
          <p:cNvSpPr>
            <a:spLocks noGrp="1"/>
          </p:cNvSpPr>
          <p:nvPr>
            <p:ph type="title"/>
          </p:nvPr>
        </p:nvSpPr>
        <p:spPr>
          <a:xfrm>
            <a:off x="479425" y="597855"/>
            <a:ext cx="11229975" cy="1140459"/>
          </a:xfrm>
        </p:spPr>
        <p:txBody>
          <a:bodyPr/>
          <a:lstStyle/>
          <a:p>
            <a:r>
              <a:rPr lang="ru-RU"/>
              <a:t>Проверка отрицательного цикла</a:t>
            </a:r>
          </a:p>
        </p:txBody>
      </p:sp>
      <p:sp>
        <p:nvSpPr>
          <p:cNvPr id="7" name="Текст 6">
            <a:extLst>
              <a:ext uri="{FF2B5EF4-FFF2-40B4-BE49-F238E27FC236}">
                <a16:creationId xmlns:a16="http://schemas.microsoft.com/office/drawing/2014/main" id="{45A3E241-2B32-46FE-AD77-BFF557B9B5A7}"/>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EBF2B0A8-F17B-4F87-9E9B-92B8A3D80035}"/>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DF15CF6C-936C-40DA-8B2F-E06A9FE48F8C}"/>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50</a:t>
            </a:r>
          </a:p>
        </p:txBody>
      </p:sp>
      <p:sp>
        <p:nvSpPr>
          <p:cNvPr id="10" name="bottom-band">
            <a:extLst>
              <a:ext uri="{FF2B5EF4-FFF2-40B4-BE49-F238E27FC236}">
                <a16:creationId xmlns:a16="http://schemas.microsoft.com/office/drawing/2014/main" id="{A5869C81-9CC4-4879-BBEC-0F34A98D0CF3}"/>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A79F254A-0935-464C-80CB-CAE1ED544192}"/>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Дополнительный проход проверяет возможность улучшения, а не продолжает поиск</a:t>
            </a:r>
          </a:p>
        </p:txBody>
      </p:sp>
      <p:sp>
        <p:nvSpPr>
          <p:cNvPr id="12" name="code-background">
            <a:extLst>
              <a:ext uri="{FF2B5EF4-FFF2-40B4-BE49-F238E27FC236}">
                <a16:creationId xmlns:a16="http://schemas.microsoft.com/office/drawing/2014/main" id="{ACD7E3C8-3D30-4241-8836-3B7638B91877}"/>
              </a:ext>
            </a:extLst>
          </p:cNvPr>
          <p:cNvSpPr/>
          <p:nvPr/>
        </p:nvSpPr>
        <p:spPr>
          <a:xfrm>
            <a:off x="609600" y="1676400"/>
            <a:ext cx="7937500" cy="40259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code-listing">
            <a:extLst>
              <a:ext uri="{FF2B5EF4-FFF2-40B4-BE49-F238E27FC236}">
                <a16:creationId xmlns:a16="http://schemas.microsoft.com/office/drawing/2014/main" id="{140F2FBE-0415-4EE3-AE9C-8D8D45746947}"/>
              </a:ext>
            </a:extLst>
          </p:cNvPr>
          <p:cNvSpPr txBox="1"/>
          <p:nvPr/>
        </p:nvSpPr>
        <p:spPr bwMode="auto">
          <a:xfrm>
            <a:off x="812800" y="1854199"/>
            <a:ext cx="7581900" cy="3746500"/>
          </a:xfrm>
          <a:prstGeom prst="rect">
            <a:avLst/>
          </a:prstGeom>
        </p:spPr>
        <p:txBody>
          <a:bodyPr vert="horz" wrap="square" lIns="0" tIns="0" rIns="0" bIns="0" rtlCol="0">
            <a:noAutofit/>
          </a:bodyPr>
          <a:lstStyle/>
          <a:p>
            <a:pPr>
              <a:lnSpc>
                <a:spcPts val="2500"/>
              </a:lnSpc>
            </a:pPr>
            <a:r>
              <a:rPr lang="ru-RU" sz="2000">
                <a:solidFill>
                  <a:srgbClr val="352379"/>
                </a:solidFill>
                <a:latin typeface="Montserrat"/>
              </a:rPr>
              <a:t>    # Продолжение </a:t>
            </a:r>
            <a:r>
              <a:rPr lang="en-US" sz="2000">
                <a:solidFill>
                  <a:srgbClr val="352379"/>
                </a:solidFill>
                <a:latin typeface="Montserrat"/>
              </a:rPr>
              <a:t>bellman_ford()</a:t>
            </a:r>
          </a:p>
          <a:p>
            <a:pPr>
              <a:lnSpc>
                <a:spcPts val="2500"/>
              </a:lnSpc>
            </a:pPr>
            <a:r>
              <a:rPr lang="en-US" sz="2000">
                <a:solidFill>
                  <a:srgbClr val="352379"/>
                </a:solidFill>
                <a:latin typeface="Montserrat"/>
              </a:rPr>
              <a:t>    for u, v, weight in edges:</a:t>
            </a:r>
          </a:p>
          <a:p>
            <a:pPr>
              <a:lnSpc>
                <a:spcPts val="2500"/>
              </a:lnSpc>
            </a:pPr>
            <a:r>
              <a:rPr lang="en-US" sz="2000">
                <a:solidFill>
                  <a:srgbClr val="352379"/>
                </a:solidFill>
                <a:latin typeface="Montserrat"/>
              </a:rPr>
              <a:t>        if dist[u] != float("inf"):</a:t>
            </a:r>
          </a:p>
          <a:p>
            <a:pPr>
              <a:lnSpc>
                <a:spcPts val="2500"/>
              </a:lnSpc>
            </a:pPr>
            <a:r>
              <a:rPr lang="en-US" sz="2000">
                <a:solidFill>
                  <a:srgbClr val="352379"/>
                </a:solidFill>
                <a:latin typeface="Montserrat"/>
              </a:rPr>
              <a:t>            if dist[u] + weight &lt; dist[v]:</a:t>
            </a:r>
          </a:p>
          <a:p>
            <a:pPr>
              <a:lnSpc>
                <a:spcPts val="2500"/>
              </a:lnSpc>
            </a:pPr>
            <a:r>
              <a:rPr lang="en-US" sz="2000">
                <a:solidFill>
                  <a:srgbClr val="352379"/>
                </a:solidFill>
                <a:latin typeface="Montserrat"/>
              </a:rPr>
              <a:t>                return None  # </a:t>
            </a:r>
            <a:r>
              <a:rPr lang="ru-RU" sz="2000">
                <a:solidFill>
                  <a:srgbClr val="352379"/>
                </a:solidFill>
                <a:latin typeface="Montserrat"/>
              </a:rPr>
              <a:t>достижимый отрицательный цикл</a:t>
            </a:r>
          </a:p>
          <a:p>
            <a:pPr>
              <a:lnSpc>
                <a:spcPts val="2500"/>
              </a:lnSpc>
            </a:pPr>
            <a:r>
              <a:rPr lang="ru-RU" sz="2000">
                <a:solidFill>
                  <a:srgbClr val="352379"/>
                </a:solidFill>
                <a:latin typeface="Montserrat"/>
              </a:rPr>
              <a:t>    </a:t>
            </a:r>
            <a:r>
              <a:rPr lang="en-US" sz="2000">
                <a:solidFill>
                  <a:srgbClr val="352379"/>
                </a:solidFill>
                <a:latin typeface="Montserrat"/>
              </a:rPr>
              <a:t>return dist</a:t>
            </a:r>
            <a:endParaRPr lang="ru-RU" sz="2000">
              <a:solidFill>
                <a:srgbClr val="352379"/>
              </a:solidFill>
              <a:latin typeface="Montserrat"/>
            </a:endParaRPr>
          </a:p>
        </p:txBody>
      </p:sp>
      <p:sp>
        <p:nvSpPr>
          <p:cNvPr id="14" name="code-comment-body">
            <a:extLst>
              <a:ext uri="{FF2B5EF4-FFF2-40B4-BE49-F238E27FC236}">
                <a16:creationId xmlns:a16="http://schemas.microsoft.com/office/drawing/2014/main" id="{44A45373-712E-40EC-B615-ACA09A52D496}"/>
              </a:ext>
            </a:extLst>
          </p:cNvPr>
          <p:cNvSpPr/>
          <p:nvPr/>
        </p:nvSpPr>
        <p:spPr>
          <a:xfrm>
            <a:off x="8801100" y="1816100"/>
            <a:ext cx="2908300" cy="36576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code-comment-head">
            <a:extLst>
              <a:ext uri="{FF2B5EF4-FFF2-40B4-BE49-F238E27FC236}">
                <a16:creationId xmlns:a16="http://schemas.microsoft.com/office/drawing/2014/main" id="{8B16FAC6-0CC6-4CE9-B6F2-1BB16FE468C2}"/>
              </a:ext>
            </a:extLst>
          </p:cNvPr>
          <p:cNvSpPr/>
          <p:nvPr/>
        </p:nvSpPr>
        <p:spPr>
          <a:xfrm>
            <a:off x="8801100" y="1816100"/>
            <a:ext cx="29083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code-comment-heading">
            <a:extLst>
              <a:ext uri="{FF2B5EF4-FFF2-40B4-BE49-F238E27FC236}">
                <a16:creationId xmlns:a16="http://schemas.microsoft.com/office/drawing/2014/main" id="{D1445B8B-7BA9-42AC-8CD6-F3C31214F836}"/>
              </a:ext>
            </a:extLst>
          </p:cNvPr>
          <p:cNvSpPr txBox="1"/>
          <p:nvPr/>
        </p:nvSpPr>
        <p:spPr bwMode="auto">
          <a:xfrm>
            <a:off x="8991600" y="1930399"/>
            <a:ext cx="2527300" cy="381000"/>
          </a:xfrm>
          <a:prstGeom prst="rect">
            <a:avLst/>
          </a:prstGeom>
        </p:spPr>
        <p:txBody>
          <a:bodyPr vert="horz" wrap="square" lIns="0" tIns="0" rIns="0" bIns="0" rtlCol="0">
            <a:noAutofit/>
          </a:bodyPr>
          <a:lstStyle/>
          <a:p>
            <a:r>
              <a:rPr lang="ru-RU" sz="2100">
                <a:solidFill>
                  <a:srgbClr val="FFFFFF"/>
                </a:solidFill>
                <a:latin typeface="Montserrat"/>
              </a:rPr>
              <a:t>Как читать</a:t>
            </a:r>
          </a:p>
        </p:txBody>
      </p:sp>
      <p:sp>
        <p:nvSpPr>
          <p:cNvPr id="17" name="code-comment-text">
            <a:extLst>
              <a:ext uri="{FF2B5EF4-FFF2-40B4-BE49-F238E27FC236}">
                <a16:creationId xmlns:a16="http://schemas.microsoft.com/office/drawing/2014/main" id="{B3699254-1E32-4A63-AAA0-8EEC238AA346}"/>
              </a:ext>
            </a:extLst>
          </p:cNvPr>
          <p:cNvSpPr txBox="1"/>
          <p:nvPr/>
        </p:nvSpPr>
        <p:spPr bwMode="auto">
          <a:xfrm>
            <a:off x="8991600" y="2534920"/>
            <a:ext cx="2476500" cy="2692400"/>
          </a:xfrm>
          <a:prstGeom prst="rect">
            <a:avLst/>
          </a:prstGeom>
        </p:spPr>
        <p:txBody>
          <a:bodyPr vert="horz" wrap="square" lIns="0" tIns="0" rIns="0" bIns="0" rtlCol="0">
            <a:noAutofit/>
          </a:bodyPr>
          <a:lstStyle/>
          <a:p>
            <a:r>
              <a:rPr lang="ru-RU" sz="1900" dirty="0">
                <a:solidFill>
                  <a:srgbClr val="352379"/>
                </a:solidFill>
                <a:latin typeface="Montserrat"/>
              </a:rPr>
              <a:t>После V − 1 проходов</a:t>
            </a:r>
          </a:p>
          <a:p>
            <a:r>
              <a:rPr lang="ru-RU" sz="1900" dirty="0">
                <a:solidFill>
                  <a:srgbClr val="352379"/>
                </a:solidFill>
                <a:latin typeface="Montserrat"/>
              </a:rPr>
              <a:t>ещё есть улучшение?</a:t>
            </a:r>
          </a:p>
          <a:p>
            <a:endParaRPr lang="ru-RU" sz="1900" dirty="0">
              <a:solidFill>
                <a:srgbClr val="352379"/>
              </a:solidFill>
              <a:latin typeface="Montserrat"/>
            </a:endParaRPr>
          </a:p>
          <a:p>
            <a:r>
              <a:rPr lang="ru-RU" sz="1900" dirty="0">
                <a:solidFill>
                  <a:srgbClr val="352379"/>
                </a:solidFill>
                <a:latin typeface="Montserrat"/>
              </a:rPr>
              <a:t>Да: цикл достижим.</a:t>
            </a:r>
          </a:p>
          <a:p>
            <a:endParaRPr lang="ru-RU" sz="1900" dirty="0">
              <a:solidFill>
                <a:srgbClr val="352379"/>
              </a:solidFill>
              <a:latin typeface="Montserrat"/>
            </a:endParaRPr>
          </a:p>
          <a:p>
            <a:r>
              <a:rPr lang="ru-RU" sz="1900" dirty="0">
                <a:solidFill>
                  <a:srgbClr val="352379"/>
                </a:solidFill>
                <a:latin typeface="Montserrat"/>
              </a:rPr>
              <a:t>Время O(VE)</a:t>
            </a:r>
          </a:p>
          <a:p>
            <a:r>
              <a:rPr lang="ru-RU" sz="1900" dirty="0">
                <a:solidFill>
                  <a:srgbClr val="352379"/>
                </a:solidFill>
                <a:latin typeface="Montserrat"/>
              </a:rPr>
              <a:t>Память O(V), кроме графа</a:t>
            </a:r>
          </a:p>
        </p:txBody>
      </p:sp>
    </p:spTree>
    <p:extLst>
      <p:ext uri="{BB962C8B-B14F-4D97-AF65-F5344CB8AC3E}">
        <p14:creationId xmlns:p14="http://schemas.microsoft.com/office/powerpoint/2010/main" val="838867666"/>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0D5DD0A-7483-4C37-A3F5-7402879F232A}"/>
              </a:ext>
            </a:extLst>
          </p:cNvPr>
          <p:cNvSpPr>
            <a:spLocks noGrp="1"/>
          </p:cNvSpPr>
          <p:nvPr>
            <p:ph type="title"/>
          </p:nvPr>
        </p:nvSpPr>
        <p:spPr>
          <a:xfrm>
            <a:off x="479425" y="597855"/>
            <a:ext cx="11229975" cy="1140459"/>
          </a:xfrm>
        </p:spPr>
        <p:txBody>
          <a:bodyPr/>
          <a:lstStyle/>
          <a:p>
            <a:r>
              <a:rPr lang="ru-RU"/>
              <a:t>Все пары: алгоритм Флойда–Уоршелла</a:t>
            </a:r>
          </a:p>
        </p:txBody>
      </p:sp>
      <p:sp>
        <p:nvSpPr>
          <p:cNvPr id="7" name="Текст 6">
            <a:extLst>
              <a:ext uri="{FF2B5EF4-FFF2-40B4-BE49-F238E27FC236}">
                <a16:creationId xmlns:a16="http://schemas.microsoft.com/office/drawing/2014/main" id="{5A889BCC-30F5-4AB9-8243-3A654B16236A}"/>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ACA804A9-80E1-48FB-AA5C-9A79BC4B26D6}"/>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91AC8D7B-C7FF-40EF-BA14-9796659906B2}"/>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51</a:t>
            </a:r>
          </a:p>
        </p:txBody>
      </p:sp>
      <p:sp>
        <p:nvSpPr>
          <p:cNvPr id="10" name="bottom-band">
            <a:extLst>
              <a:ext uri="{FF2B5EF4-FFF2-40B4-BE49-F238E27FC236}">
                <a16:creationId xmlns:a16="http://schemas.microsoft.com/office/drawing/2014/main" id="{5C42400E-8F7B-4897-9468-ECC16E860D60}"/>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F8EC83EE-C516-41F3-AC0C-C7AA4BB23D40}"/>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Отрицательные рёбра допустимы. Циклы проверяем по отрицательной диагонали.</a:t>
            </a:r>
          </a:p>
        </p:txBody>
      </p:sp>
      <p:graphicFrame>
        <p:nvGraphicFramePr>
          <p:cNvPr id="12" name="!!matrix">
            <a:extLst>
              <a:ext uri="{FF2B5EF4-FFF2-40B4-BE49-F238E27FC236}">
                <a16:creationId xmlns:a16="http://schemas.microsoft.com/office/drawing/2014/main" id="{CB58A1A5-F980-4974-A7AB-163F98B599C7}"/>
              </a:ext>
            </a:extLst>
          </p:cNvPr>
          <p:cNvGraphicFramePr>
            <a:graphicFrameLocks noGrp="1"/>
          </p:cNvGraphicFramePr>
          <p:nvPr>
            <p:extLst>
              <p:ext uri="{D42A27DB-BD31-4B8C-83A1-F6EECF244321}">
                <p14:modId xmlns:p14="http://schemas.microsoft.com/office/powerpoint/2010/main" val="197057456"/>
              </p:ext>
            </p:extLst>
          </p:nvPr>
        </p:nvGraphicFramePr>
        <p:xfrm>
          <a:off x="5397500" y="1993900"/>
          <a:ext cx="4191000" cy="3276600"/>
        </p:xfrm>
        <a:graphic>
          <a:graphicData uri="http://schemas.openxmlformats.org/drawingml/2006/table">
            <a:tbl>
              <a:tblPr firstRow="1" bandRow="1">
                <a:tableStyleId>{0E3FDE45-AF77-4B5C-9715-49D594BDF05E}</a:tableStyleId>
              </a:tblPr>
              <a:tblGrid>
                <a:gridCol w="838200">
                  <a:extLst>
                    <a:ext uri="{9D8B030D-6E8A-4147-A177-3AD203B41FA5}">
                      <a16:colId xmlns:a16="http://schemas.microsoft.com/office/drawing/2014/main" val="1187810240"/>
                    </a:ext>
                  </a:extLst>
                </a:gridCol>
                <a:gridCol w="838200">
                  <a:extLst>
                    <a:ext uri="{9D8B030D-6E8A-4147-A177-3AD203B41FA5}">
                      <a16:colId xmlns:a16="http://schemas.microsoft.com/office/drawing/2014/main" val="1203787645"/>
                    </a:ext>
                  </a:extLst>
                </a:gridCol>
                <a:gridCol w="838200">
                  <a:extLst>
                    <a:ext uri="{9D8B030D-6E8A-4147-A177-3AD203B41FA5}">
                      <a16:colId xmlns:a16="http://schemas.microsoft.com/office/drawing/2014/main" val="2096581342"/>
                    </a:ext>
                  </a:extLst>
                </a:gridCol>
                <a:gridCol w="838200">
                  <a:extLst>
                    <a:ext uri="{9D8B030D-6E8A-4147-A177-3AD203B41FA5}">
                      <a16:colId xmlns:a16="http://schemas.microsoft.com/office/drawing/2014/main" val="202836137"/>
                    </a:ext>
                  </a:extLst>
                </a:gridCol>
                <a:gridCol w="838200">
                  <a:extLst>
                    <a:ext uri="{9D8B030D-6E8A-4147-A177-3AD203B41FA5}">
                      <a16:colId xmlns:a16="http://schemas.microsoft.com/office/drawing/2014/main" val="3350247048"/>
                    </a:ext>
                  </a:extLst>
                </a:gridCol>
              </a:tblGrid>
              <a:tr h="655320">
                <a:tc>
                  <a:txBody>
                    <a:bodyPr/>
                    <a:lstStyle/>
                    <a:p>
                      <a:pPr algn="ctr"/>
                      <a:endParaRPr lang="ru-RU" sz="25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500" b="1">
                          <a:solidFill>
                            <a:srgbClr val="FFFFFF"/>
                          </a:solidFill>
                          <a:latin typeface="Montserrat"/>
                        </a:rPr>
                        <a:t>A</a:t>
                      </a:r>
                      <a:endParaRPr lang="ru-RU" sz="2500" b="1">
                        <a:solidFill>
                          <a:srgbClr val="FFFFFF"/>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500" b="1">
                          <a:solidFill>
                            <a:srgbClr val="FFFFFF"/>
                          </a:solidFill>
                          <a:latin typeface="Montserrat"/>
                        </a:rPr>
                        <a:t>B</a:t>
                      </a:r>
                      <a:endParaRPr lang="ru-RU" sz="2500" b="1">
                        <a:solidFill>
                          <a:srgbClr val="FFFFFF"/>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500" b="1">
                          <a:solidFill>
                            <a:srgbClr val="FFFFFF"/>
                          </a:solidFill>
                          <a:latin typeface="Montserrat"/>
                        </a:rPr>
                        <a:t>C</a:t>
                      </a:r>
                      <a:endParaRPr lang="ru-RU" sz="2500" b="1">
                        <a:solidFill>
                          <a:srgbClr val="FFFFFF"/>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500" b="1">
                          <a:solidFill>
                            <a:srgbClr val="FFFFFF"/>
                          </a:solidFill>
                          <a:latin typeface="Montserrat"/>
                        </a:rPr>
                        <a:t>D</a:t>
                      </a:r>
                      <a:endParaRPr lang="ru-RU" sz="25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36993023"/>
                  </a:ext>
                </a:extLst>
              </a:tr>
              <a:tr h="655320">
                <a:tc>
                  <a:txBody>
                    <a:bodyPr/>
                    <a:lstStyle/>
                    <a:p>
                      <a:pPr algn="ctr"/>
                      <a:r>
                        <a:rPr lang="en-US" sz="2500" b="0">
                          <a:solidFill>
                            <a:srgbClr val="352379"/>
                          </a:solidFill>
                          <a:latin typeface="Montserrat"/>
                        </a:rPr>
                        <a:t>A</a:t>
                      </a:r>
                      <a:endParaRPr lang="ru-RU" sz="25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0</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3</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10</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1857518938"/>
                  </a:ext>
                </a:extLst>
              </a:tr>
              <a:tr h="655320">
                <a:tc>
                  <a:txBody>
                    <a:bodyPr/>
                    <a:lstStyle/>
                    <a:p>
                      <a:pPr algn="ctr"/>
                      <a:r>
                        <a:rPr lang="en-US" sz="2500" b="0">
                          <a:solidFill>
                            <a:srgbClr val="352379"/>
                          </a:solidFill>
                          <a:latin typeface="Montserrat"/>
                        </a:rPr>
                        <a:t>B</a:t>
                      </a:r>
                      <a:endParaRPr lang="ru-RU" sz="25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0</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4</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1336329159"/>
                  </a:ext>
                </a:extLst>
              </a:tr>
              <a:tr h="655320">
                <a:tc>
                  <a:txBody>
                    <a:bodyPr/>
                    <a:lstStyle/>
                    <a:p>
                      <a:pPr algn="ctr"/>
                      <a:r>
                        <a:rPr lang="en-US" sz="2500" b="0">
                          <a:solidFill>
                            <a:srgbClr val="352379"/>
                          </a:solidFill>
                          <a:latin typeface="Montserrat"/>
                        </a:rPr>
                        <a:t>C</a:t>
                      </a:r>
                      <a:endParaRPr lang="ru-RU" sz="25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0</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2</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3565390176"/>
                  </a:ext>
                </a:extLst>
              </a:tr>
              <a:tr h="655320">
                <a:tc>
                  <a:txBody>
                    <a:bodyPr/>
                    <a:lstStyle/>
                    <a:p>
                      <a:pPr algn="ctr"/>
                      <a:r>
                        <a:rPr lang="en-US" sz="2500" b="0">
                          <a:solidFill>
                            <a:srgbClr val="352379"/>
                          </a:solidFill>
                          <a:latin typeface="Montserrat"/>
                        </a:rPr>
                        <a:t>D</a:t>
                      </a:r>
                      <a:endParaRPr lang="ru-RU" sz="25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1</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2563579995"/>
                  </a:ext>
                </a:extLst>
              </a:tr>
            </a:tbl>
          </a:graphicData>
        </a:graphic>
      </p:graphicFrame>
      <p:cxnSp>
        <p:nvCxnSpPr>
          <p:cNvPr id="13" name="!!fw-edge-AB">
            <a:extLst>
              <a:ext uri="{FF2B5EF4-FFF2-40B4-BE49-F238E27FC236}">
                <a16:creationId xmlns:a16="http://schemas.microsoft.com/office/drawing/2014/main" id="{DAB5D2DF-4D58-490E-936F-DAA09364C135}"/>
              </a:ext>
            </a:extLst>
          </p:cNvPr>
          <p:cNvCxnSpPr/>
          <p:nvPr/>
        </p:nvCxnSpPr>
        <p:spPr>
          <a:xfrm>
            <a:off x="1358900" y="2603500"/>
            <a:ext cx="2108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4" name="!!fw-weight-AB">
            <a:extLst>
              <a:ext uri="{FF2B5EF4-FFF2-40B4-BE49-F238E27FC236}">
                <a16:creationId xmlns:a16="http://schemas.microsoft.com/office/drawing/2014/main" id="{4D4B0E07-0566-4DF6-9215-B1565E40352B}"/>
              </a:ext>
            </a:extLst>
          </p:cNvPr>
          <p:cNvSpPr txBox="1"/>
          <p:nvPr/>
        </p:nvSpPr>
        <p:spPr bwMode="auto">
          <a:xfrm>
            <a:off x="2159000" y="2755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5" name="!!fw-edge-BC">
            <a:extLst>
              <a:ext uri="{FF2B5EF4-FFF2-40B4-BE49-F238E27FC236}">
                <a16:creationId xmlns:a16="http://schemas.microsoft.com/office/drawing/2014/main" id="{EA7DAA0D-3B07-459F-B487-451B4334A0FD}"/>
              </a:ext>
            </a:extLst>
          </p:cNvPr>
          <p:cNvCxnSpPr/>
          <p:nvPr/>
        </p:nvCxnSpPr>
        <p:spPr>
          <a:xfrm>
            <a:off x="3810000" y="2946400"/>
            <a:ext cx="0" cy="160020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6" name="!!fw-weight-BC">
            <a:extLst>
              <a:ext uri="{FF2B5EF4-FFF2-40B4-BE49-F238E27FC236}">
                <a16:creationId xmlns:a16="http://schemas.microsoft.com/office/drawing/2014/main" id="{1F1ACF1A-7DC0-4544-B717-5D11679FBCFA}"/>
              </a:ext>
            </a:extLst>
          </p:cNvPr>
          <p:cNvSpPr txBox="1"/>
          <p:nvPr/>
        </p:nvSpPr>
        <p:spPr bwMode="auto">
          <a:xfrm>
            <a:off x="3200400" y="3543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17" name="!!fw-edge-AC">
            <a:extLst>
              <a:ext uri="{FF2B5EF4-FFF2-40B4-BE49-F238E27FC236}">
                <a16:creationId xmlns:a16="http://schemas.microsoft.com/office/drawing/2014/main" id="{B8111AF5-FCF9-41E3-9EF8-34DFF30938F6}"/>
              </a:ext>
            </a:extLst>
          </p:cNvPr>
          <p:cNvCxnSpPr/>
          <p:nvPr/>
        </p:nvCxnSpPr>
        <p:spPr>
          <a:xfrm>
            <a:off x="1281390" y="2820637"/>
            <a:ext cx="2263220" cy="1851726"/>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8" name="!!fw-weight-AC">
            <a:extLst>
              <a:ext uri="{FF2B5EF4-FFF2-40B4-BE49-F238E27FC236}">
                <a16:creationId xmlns:a16="http://schemas.microsoft.com/office/drawing/2014/main" id="{E80486F4-0363-4788-B4AE-3DFCA727E09B}"/>
              </a:ext>
            </a:extLst>
          </p:cNvPr>
          <p:cNvSpPr txBox="1"/>
          <p:nvPr/>
        </p:nvSpPr>
        <p:spPr bwMode="auto">
          <a:xfrm>
            <a:off x="1933821" y="3818518"/>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10</a:t>
            </a:r>
          </a:p>
        </p:txBody>
      </p:sp>
      <p:cxnSp>
        <p:nvCxnSpPr>
          <p:cNvPr id="19" name="!!fw-edge-CD">
            <a:extLst>
              <a:ext uri="{FF2B5EF4-FFF2-40B4-BE49-F238E27FC236}">
                <a16:creationId xmlns:a16="http://schemas.microsoft.com/office/drawing/2014/main" id="{51EE1A2B-0911-4645-9E77-7B0F330600FF}"/>
              </a:ext>
            </a:extLst>
          </p:cNvPr>
          <p:cNvCxnSpPr/>
          <p:nvPr/>
        </p:nvCxnSpPr>
        <p:spPr>
          <a:xfrm flipH="1">
            <a:off x="1358900" y="4889500"/>
            <a:ext cx="2108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20" name="!!fw-weight-CD">
            <a:extLst>
              <a:ext uri="{FF2B5EF4-FFF2-40B4-BE49-F238E27FC236}">
                <a16:creationId xmlns:a16="http://schemas.microsoft.com/office/drawing/2014/main" id="{7B0A588F-1329-42DC-9967-C9F35F1FBEA0}"/>
              </a:ext>
            </a:extLst>
          </p:cNvPr>
          <p:cNvSpPr txBox="1"/>
          <p:nvPr/>
        </p:nvSpPr>
        <p:spPr bwMode="auto">
          <a:xfrm>
            <a:off x="2159000" y="43306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21" name="!!fw-edge-DA">
            <a:extLst>
              <a:ext uri="{FF2B5EF4-FFF2-40B4-BE49-F238E27FC236}">
                <a16:creationId xmlns:a16="http://schemas.microsoft.com/office/drawing/2014/main" id="{EB4E93E3-A27E-4423-B096-5429911B6E9F}"/>
              </a:ext>
            </a:extLst>
          </p:cNvPr>
          <p:cNvCxnSpPr/>
          <p:nvPr/>
        </p:nvCxnSpPr>
        <p:spPr>
          <a:xfrm flipV="1">
            <a:off x="1016000" y="2946400"/>
            <a:ext cx="0" cy="160020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22" name="!!fw-weight-DA">
            <a:extLst>
              <a:ext uri="{FF2B5EF4-FFF2-40B4-BE49-F238E27FC236}">
                <a16:creationId xmlns:a16="http://schemas.microsoft.com/office/drawing/2014/main" id="{9F602346-49B3-452C-9526-F18C6F7CD481}"/>
              </a:ext>
            </a:extLst>
          </p:cNvPr>
          <p:cNvSpPr txBox="1"/>
          <p:nvPr/>
        </p:nvSpPr>
        <p:spPr bwMode="auto">
          <a:xfrm>
            <a:off x="406400" y="3543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sp>
        <p:nvSpPr>
          <p:cNvPr id="23" name="!!fw-node-A">
            <a:extLst>
              <a:ext uri="{FF2B5EF4-FFF2-40B4-BE49-F238E27FC236}">
                <a16:creationId xmlns:a16="http://schemas.microsoft.com/office/drawing/2014/main" id="{B7C3C949-98BA-4C00-9A2C-8AFFE830F2F1}"/>
              </a:ext>
            </a:extLst>
          </p:cNvPr>
          <p:cNvSpPr/>
          <p:nvPr/>
        </p:nvSpPr>
        <p:spPr>
          <a:xfrm>
            <a:off x="698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24" name="!!fw-node-B">
            <a:extLst>
              <a:ext uri="{FF2B5EF4-FFF2-40B4-BE49-F238E27FC236}">
                <a16:creationId xmlns:a16="http://schemas.microsoft.com/office/drawing/2014/main" id="{DA75BC63-976A-4302-9C82-DED28E854AAF}"/>
              </a:ext>
            </a:extLst>
          </p:cNvPr>
          <p:cNvSpPr/>
          <p:nvPr/>
        </p:nvSpPr>
        <p:spPr>
          <a:xfrm>
            <a:off x="3492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25" name="!!fw-node-C">
            <a:extLst>
              <a:ext uri="{FF2B5EF4-FFF2-40B4-BE49-F238E27FC236}">
                <a16:creationId xmlns:a16="http://schemas.microsoft.com/office/drawing/2014/main" id="{DF2640EE-12EC-4DB2-A22D-BAADCD6C2BF4}"/>
              </a:ext>
            </a:extLst>
          </p:cNvPr>
          <p:cNvSpPr/>
          <p:nvPr/>
        </p:nvSpPr>
        <p:spPr>
          <a:xfrm>
            <a:off x="3492500" y="457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26" name="!!fw-node-D">
            <a:extLst>
              <a:ext uri="{FF2B5EF4-FFF2-40B4-BE49-F238E27FC236}">
                <a16:creationId xmlns:a16="http://schemas.microsoft.com/office/drawing/2014/main" id="{8194F289-9F7D-4285-B332-2E0E71C53DC4}"/>
              </a:ext>
            </a:extLst>
          </p:cNvPr>
          <p:cNvSpPr/>
          <p:nvPr/>
        </p:nvSpPr>
        <p:spPr>
          <a:xfrm>
            <a:off x="698500" y="457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27" name="!!matrix-caption">
            <a:extLst>
              <a:ext uri="{FF2B5EF4-FFF2-40B4-BE49-F238E27FC236}">
                <a16:creationId xmlns:a16="http://schemas.microsoft.com/office/drawing/2014/main" id="{F21FC2D6-65EE-4E8A-85C4-C02542F2CBC8}"/>
              </a:ext>
            </a:extLst>
          </p:cNvPr>
          <p:cNvSpPr txBox="1"/>
          <p:nvPr/>
        </p:nvSpPr>
        <p:spPr bwMode="auto">
          <a:xfrm>
            <a:off x="5397500" y="1625599"/>
            <a:ext cx="5842000" cy="355600"/>
          </a:xfrm>
          <a:prstGeom prst="rect">
            <a:avLst/>
          </a:prstGeom>
        </p:spPr>
        <p:txBody>
          <a:bodyPr vert="horz" wrap="square" lIns="0" tIns="0" rIns="0" bIns="0" rtlCol="0">
            <a:noAutofit/>
          </a:bodyPr>
          <a:lstStyle/>
          <a:p>
            <a:r>
              <a:rPr lang="ru-RU" sz="2100">
                <a:solidFill>
                  <a:srgbClr val="352379"/>
                </a:solidFill>
                <a:latin typeface="Montserrat"/>
              </a:rPr>
              <a:t>Начальная матрица</a:t>
            </a:r>
          </a:p>
        </p:txBody>
      </p:sp>
      <p:sp>
        <p:nvSpPr>
          <p:cNvPr id="28" name="!!matrix-explanation">
            <a:extLst>
              <a:ext uri="{FF2B5EF4-FFF2-40B4-BE49-F238E27FC236}">
                <a16:creationId xmlns:a16="http://schemas.microsoft.com/office/drawing/2014/main" id="{D5A943C0-2AA2-470D-AD15-C82A339C5EF9}"/>
              </a:ext>
            </a:extLst>
          </p:cNvPr>
          <p:cNvSpPr txBox="1"/>
          <p:nvPr/>
        </p:nvSpPr>
        <p:spPr bwMode="auto">
          <a:xfrm>
            <a:off x="9867900" y="1955799"/>
            <a:ext cx="1841500" cy="3784600"/>
          </a:xfrm>
          <a:prstGeom prst="rect">
            <a:avLst/>
          </a:prstGeom>
        </p:spPr>
        <p:txBody>
          <a:bodyPr vert="horz" wrap="square" lIns="0" tIns="0" rIns="0" bIns="0" rtlCol="0">
            <a:noAutofit/>
          </a:bodyPr>
          <a:lstStyle/>
          <a:p>
            <a:r>
              <a:rPr lang="ru-RU" sz="1900">
                <a:solidFill>
                  <a:srgbClr val="352379"/>
                </a:solidFill>
                <a:latin typeface="Montserrat"/>
              </a:rPr>
              <a:t>Диагональ: 0</a:t>
            </a:r>
          </a:p>
          <a:p>
            <a:r>
              <a:rPr lang="ru-RU" sz="1900">
                <a:solidFill>
                  <a:srgbClr val="352379"/>
                </a:solidFill>
                <a:latin typeface="Montserrat"/>
              </a:rPr>
              <a:t>Ребро: вес</a:t>
            </a:r>
          </a:p>
          <a:p>
            <a:r>
              <a:rPr lang="ru-RU" sz="1900">
                <a:solidFill>
                  <a:srgbClr val="352379"/>
                </a:solidFill>
                <a:latin typeface="Montserrat"/>
              </a:rPr>
              <a:t>Нет ребра: ∞</a:t>
            </a:r>
          </a:p>
        </p:txBody>
      </p:sp>
      <p:sp>
        <p:nvSpPr>
          <p:cNvPr id="29" name="fw-definition">
            <a:extLst>
              <a:ext uri="{FF2B5EF4-FFF2-40B4-BE49-F238E27FC236}">
                <a16:creationId xmlns:a16="http://schemas.microsoft.com/office/drawing/2014/main" id="{31400748-175F-4635-961F-EEE3142F2918}"/>
              </a:ext>
            </a:extLst>
          </p:cNvPr>
          <p:cNvSpPr txBox="1"/>
          <p:nvPr/>
        </p:nvSpPr>
        <p:spPr bwMode="auto">
          <a:xfrm>
            <a:off x="5397500" y="5308599"/>
            <a:ext cx="6311900" cy="546100"/>
          </a:xfrm>
          <a:prstGeom prst="rect">
            <a:avLst/>
          </a:prstGeom>
        </p:spPr>
        <p:txBody>
          <a:bodyPr vert="horz" wrap="square" lIns="0" tIns="0" rIns="0" bIns="0" rtlCol="0">
            <a:noAutofit/>
          </a:bodyPr>
          <a:lstStyle/>
          <a:p>
            <a:r>
              <a:rPr lang="ru-RU">
                <a:solidFill>
                  <a:srgbClr val="352379"/>
                </a:solidFill>
                <a:latin typeface="Montserrat"/>
              </a:rPr>
              <a:t>Флойд–Уоршелл вычисляет кратчайшие расстояния</a:t>
            </a:r>
          </a:p>
          <a:p>
            <a:r>
              <a:rPr lang="ru-RU">
                <a:solidFill>
                  <a:srgbClr val="352379"/>
                </a:solidFill>
                <a:latin typeface="Montserrat"/>
              </a:rPr>
              <a:t>между всеми парами вершин.</a:t>
            </a:r>
          </a:p>
        </p:txBody>
      </p:sp>
    </p:spTree>
    <p:extLst>
      <p:ext uri="{BB962C8B-B14F-4D97-AF65-F5344CB8AC3E}">
        <p14:creationId xmlns:p14="http://schemas.microsoft.com/office/powerpoint/2010/main" val="3954056466"/>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16E80F-9330-4B9B-858E-73D7BE6B2954}"/>
              </a:ext>
            </a:extLst>
          </p:cNvPr>
          <p:cNvSpPr>
            <a:spLocks noGrp="1"/>
          </p:cNvSpPr>
          <p:nvPr>
            <p:ph type="title"/>
          </p:nvPr>
        </p:nvSpPr>
        <p:spPr>
          <a:xfrm>
            <a:off x="479425" y="597855"/>
            <a:ext cx="11229975" cy="1140459"/>
          </a:xfrm>
        </p:spPr>
        <p:txBody>
          <a:bodyPr/>
          <a:lstStyle/>
          <a:p>
            <a:r>
              <a:rPr lang="ru-RU"/>
              <a:t>Можно ли пройти дешевле через k?</a:t>
            </a:r>
          </a:p>
        </p:txBody>
      </p:sp>
      <p:sp>
        <p:nvSpPr>
          <p:cNvPr id="7" name="Текст 6">
            <a:extLst>
              <a:ext uri="{FF2B5EF4-FFF2-40B4-BE49-F238E27FC236}">
                <a16:creationId xmlns:a16="http://schemas.microsoft.com/office/drawing/2014/main" id="{85FD6B93-54C5-4427-AF25-E74DB6D6089D}"/>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E5890835-20E6-4170-85E4-E3051D0612A8}"/>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6199A14F-76BE-4378-9520-ABE491444402}"/>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52</a:t>
            </a:r>
          </a:p>
        </p:txBody>
      </p:sp>
      <p:sp>
        <p:nvSpPr>
          <p:cNvPr id="10" name="bottom-band">
            <a:extLst>
              <a:ext uri="{FF2B5EF4-FFF2-40B4-BE49-F238E27FC236}">
                <a16:creationId xmlns:a16="http://schemas.microsoft.com/office/drawing/2014/main" id="{7AE642B7-00E7-428A-AD2F-0C2CCB576699}"/>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5370FECF-F6EE-4CC1-B70A-BEC16BB8938D}"/>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en-US" sz="2000">
                <a:solidFill>
                  <a:srgbClr val="FFFFFF"/>
                </a:solidFill>
                <a:latin typeface="Montserrat"/>
              </a:rPr>
              <a:t>d[i][j] = min(d[i][j], d[i][k] + d[k][j])</a:t>
            </a:r>
            <a:endParaRPr lang="ru-RU" sz="2000">
              <a:solidFill>
                <a:srgbClr val="FFFFFF"/>
              </a:solidFill>
              <a:latin typeface="Montserrat"/>
            </a:endParaRPr>
          </a:p>
        </p:txBody>
      </p:sp>
      <p:sp>
        <p:nvSpPr>
          <p:cNvPr id="12" name="fw-question">
            <a:extLst>
              <a:ext uri="{FF2B5EF4-FFF2-40B4-BE49-F238E27FC236}">
                <a16:creationId xmlns:a16="http://schemas.microsoft.com/office/drawing/2014/main" id="{FD360068-5C5A-4400-8795-136E05E93824}"/>
              </a:ext>
            </a:extLst>
          </p:cNvPr>
          <p:cNvSpPr txBox="1"/>
          <p:nvPr/>
        </p:nvSpPr>
        <p:spPr bwMode="auto">
          <a:xfrm>
            <a:off x="698500" y="1816099"/>
            <a:ext cx="10985500" cy="571500"/>
          </a:xfrm>
          <a:prstGeom prst="rect">
            <a:avLst/>
          </a:prstGeom>
        </p:spPr>
        <p:txBody>
          <a:bodyPr vert="horz" wrap="square" lIns="0" tIns="0" rIns="0" bIns="0" rtlCol="0">
            <a:noAutofit/>
          </a:bodyPr>
          <a:lstStyle/>
          <a:p>
            <a:r>
              <a:rPr lang="ru-RU" sz="2800">
                <a:solidFill>
                  <a:srgbClr val="352379"/>
                </a:solidFill>
                <a:latin typeface="Montserrat"/>
              </a:rPr>
              <a:t>Старый путь i → j или путь через k?</a:t>
            </a:r>
          </a:p>
        </p:txBody>
      </p:sp>
      <p:cxnSp>
        <p:nvCxnSpPr>
          <p:cNvPr id="13" name="!!formula-edge-ij">
            <a:extLst>
              <a:ext uri="{FF2B5EF4-FFF2-40B4-BE49-F238E27FC236}">
                <a16:creationId xmlns:a16="http://schemas.microsoft.com/office/drawing/2014/main" id="{8BAE9CA8-A559-4490-BE82-508D74A1314C}"/>
              </a:ext>
            </a:extLst>
          </p:cNvPr>
          <p:cNvCxnSpPr/>
          <p:nvPr/>
        </p:nvCxnSpPr>
        <p:spPr>
          <a:xfrm>
            <a:off x="1993900" y="4318000"/>
            <a:ext cx="80137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4" name="!!formula-weight-ij">
            <a:extLst>
              <a:ext uri="{FF2B5EF4-FFF2-40B4-BE49-F238E27FC236}">
                <a16:creationId xmlns:a16="http://schemas.microsoft.com/office/drawing/2014/main" id="{666BBAD6-8409-4C29-853B-B81AC959C0E0}"/>
              </a:ext>
            </a:extLst>
          </p:cNvPr>
          <p:cNvSpPr txBox="1"/>
          <p:nvPr/>
        </p:nvSpPr>
        <p:spPr bwMode="auto">
          <a:xfrm>
            <a:off x="5746750" y="44703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10</a:t>
            </a:r>
          </a:p>
        </p:txBody>
      </p:sp>
      <p:cxnSp>
        <p:nvCxnSpPr>
          <p:cNvPr id="15" name="!!formula-edge-ik">
            <a:extLst>
              <a:ext uri="{FF2B5EF4-FFF2-40B4-BE49-F238E27FC236}">
                <a16:creationId xmlns:a16="http://schemas.microsoft.com/office/drawing/2014/main" id="{18B5EF0D-95F9-40BC-BAF6-5BBAE3D86F22}"/>
              </a:ext>
            </a:extLst>
          </p:cNvPr>
          <p:cNvCxnSpPr/>
          <p:nvPr/>
        </p:nvCxnSpPr>
        <p:spPr>
          <a:xfrm flipV="1">
            <a:off x="1974351" y="2908124"/>
            <a:ext cx="3671298" cy="1295752"/>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6" name="!!formula-weight-ik">
            <a:extLst>
              <a:ext uri="{FF2B5EF4-FFF2-40B4-BE49-F238E27FC236}">
                <a16:creationId xmlns:a16="http://schemas.microsoft.com/office/drawing/2014/main" id="{C425CC7E-01AB-4820-AAF8-23830573AAF1}"/>
              </a:ext>
            </a:extLst>
          </p:cNvPr>
          <p:cNvSpPr txBox="1"/>
          <p:nvPr/>
        </p:nvSpPr>
        <p:spPr bwMode="auto">
          <a:xfrm>
            <a:off x="3674351" y="3688126"/>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7" name="!!formula-edge-kj">
            <a:extLst>
              <a:ext uri="{FF2B5EF4-FFF2-40B4-BE49-F238E27FC236}">
                <a16:creationId xmlns:a16="http://schemas.microsoft.com/office/drawing/2014/main" id="{3D061598-0822-4CDE-99D3-72ACCDD6FF45}"/>
              </a:ext>
            </a:extLst>
          </p:cNvPr>
          <p:cNvCxnSpPr/>
          <p:nvPr/>
        </p:nvCxnSpPr>
        <p:spPr>
          <a:xfrm>
            <a:off x="6292868" y="2906650"/>
            <a:ext cx="3733764" cy="129870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8" name="!!formula-weight-kj">
            <a:extLst>
              <a:ext uri="{FF2B5EF4-FFF2-40B4-BE49-F238E27FC236}">
                <a16:creationId xmlns:a16="http://schemas.microsoft.com/office/drawing/2014/main" id="{913E1042-639F-424D-A743-28377BCB5EEA}"/>
              </a:ext>
            </a:extLst>
          </p:cNvPr>
          <p:cNvSpPr txBox="1"/>
          <p:nvPr/>
        </p:nvSpPr>
        <p:spPr bwMode="auto">
          <a:xfrm>
            <a:off x="7788928" y="3688662"/>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sp>
        <p:nvSpPr>
          <p:cNvPr id="19" name="!!formula-node-i">
            <a:extLst>
              <a:ext uri="{FF2B5EF4-FFF2-40B4-BE49-F238E27FC236}">
                <a16:creationId xmlns:a16="http://schemas.microsoft.com/office/drawing/2014/main" id="{EB273925-9728-4F53-925A-238BD1504A5C}"/>
              </a:ext>
            </a:extLst>
          </p:cNvPr>
          <p:cNvSpPr/>
          <p:nvPr/>
        </p:nvSpPr>
        <p:spPr>
          <a:xfrm>
            <a:off x="13335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i</a:t>
            </a:r>
            <a:endParaRPr lang="ru-RU" sz="2200">
              <a:solidFill>
                <a:srgbClr val="352379"/>
              </a:solidFill>
              <a:latin typeface="Montserrat"/>
            </a:endParaRPr>
          </a:p>
        </p:txBody>
      </p:sp>
      <p:sp>
        <p:nvSpPr>
          <p:cNvPr id="20" name="!!formula-node-k">
            <a:extLst>
              <a:ext uri="{FF2B5EF4-FFF2-40B4-BE49-F238E27FC236}">
                <a16:creationId xmlns:a16="http://schemas.microsoft.com/office/drawing/2014/main" id="{A51B38D8-FCD1-48F5-83C2-6DC5B38C0ED8}"/>
              </a:ext>
            </a:extLst>
          </p:cNvPr>
          <p:cNvSpPr/>
          <p:nvPr/>
        </p:nvSpPr>
        <p:spPr>
          <a:xfrm>
            <a:off x="5651500" y="2476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k</a:t>
            </a:r>
            <a:endParaRPr lang="ru-RU" sz="2200">
              <a:solidFill>
                <a:srgbClr val="352379"/>
              </a:solidFill>
              <a:latin typeface="Montserrat"/>
            </a:endParaRPr>
          </a:p>
        </p:txBody>
      </p:sp>
      <p:sp>
        <p:nvSpPr>
          <p:cNvPr id="21" name="!!formula-node-j">
            <a:extLst>
              <a:ext uri="{FF2B5EF4-FFF2-40B4-BE49-F238E27FC236}">
                <a16:creationId xmlns:a16="http://schemas.microsoft.com/office/drawing/2014/main" id="{D12896D1-9A90-41DE-B5F4-90B436743B65}"/>
              </a:ext>
            </a:extLst>
          </p:cNvPr>
          <p:cNvSpPr/>
          <p:nvPr/>
        </p:nvSpPr>
        <p:spPr>
          <a:xfrm>
            <a:off x="10033000" y="40005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j</a:t>
            </a:r>
            <a:endParaRPr lang="ru-RU" sz="2200">
              <a:solidFill>
                <a:srgbClr val="352379"/>
              </a:solidFill>
              <a:latin typeface="Montserrat"/>
            </a:endParaRPr>
          </a:p>
        </p:txBody>
      </p:sp>
      <p:sp>
        <p:nvSpPr>
          <p:cNvPr id="22" name="fw-example">
            <a:extLst>
              <a:ext uri="{FF2B5EF4-FFF2-40B4-BE49-F238E27FC236}">
                <a16:creationId xmlns:a16="http://schemas.microsoft.com/office/drawing/2014/main" id="{C898226E-9CEA-44EF-9B90-56BD08E188FF}"/>
              </a:ext>
            </a:extLst>
          </p:cNvPr>
          <p:cNvSpPr txBox="1"/>
          <p:nvPr/>
        </p:nvSpPr>
        <p:spPr bwMode="auto">
          <a:xfrm>
            <a:off x="1270000" y="5029199"/>
            <a:ext cx="9652000" cy="635000"/>
          </a:xfrm>
          <a:prstGeom prst="rect">
            <a:avLst/>
          </a:prstGeom>
        </p:spPr>
        <p:txBody>
          <a:bodyPr vert="horz" wrap="square" lIns="0" tIns="0" rIns="0" bIns="0" rtlCol="0">
            <a:noAutofit/>
          </a:bodyPr>
          <a:lstStyle/>
          <a:p>
            <a:pPr algn="ctr"/>
            <a:r>
              <a:rPr lang="en-US" sz="2900" b="1">
                <a:solidFill>
                  <a:srgbClr val="352379"/>
                </a:solidFill>
                <a:latin typeface="Montserrat"/>
              </a:rPr>
              <a:t>10 → min(10, 3 + 4) = 7</a:t>
            </a:r>
            <a:endParaRPr lang="ru-RU" sz="2900" b="1">
              <a:solidFill>
                <a:srgbClr val="352379"/>
              </a:solidFill>
              <a:latin typeface="Montserrat"/>
            </a:endParaRPr>
          </a:p>
        </p:txBody>
      </p:sp>
    </p:spTree>
    <p:extLst>
      <p:ext uri="{BB962C8B-B14F-4D97-AF65-F5344CB8AC3E}">
        <p14:creationId xmlns:p14="http://schemas.microsoft.com/office/powerpoint/2010/main" val="1632313929"/>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40255B-C165-4AE9-83C0-9A79B4566E61}"/>
              </a:ext>
            </a:extLst>
          </p:cNvPr>
          <p:cNvSpPr>
            <a:spLocks noGrp="1"/>
          </p:cNvSpPr>
          <p:nvPr>
            <p:ph type="title"/>
          </p:nvPr>
        </p:nvSpPr>
        <p:spPr>
          <a:xfrm>
            <a:off x="479425" y="597855"/>
            <a:ext cx="11229975" cy="1140459"/>
          </a:xfrm>
        </p:spPr>
        <p:txBody>
          <a:bodyPr/>
          <a:lstStyle/>
          <a:p>
            <a:r>
              <a:rPr lang="ru-RU"/>
              <a:t>Флойд–Уоршелл: разрешаем k = A</a:t>
            </a:r>
          </a:p>
        </p:txBody>
      </p:sp>
      <p:sp>
        <p:nvSpPr>
          <p:cNvPr id="7" name="Текст 6">
            <a:extLst>
              <a:ext uri="{FF2B5EF4-FFF2-40B4-BE49-F238E27FC236}">
                <a16:creationId xmlns:a16="http://schemas.microsoft.com/office/drawing/2014/main" id="{51D9D354-5AA0-4F8C-942A-96EC2F441F4E}"/>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2E31CDFD-EA07-4AA6-87B8-A5AC0C7039EA}"/>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80908C25-EBA5-4EC2-BD3D-85FE780F6B5D}"/>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53</a:t>
            </a:r>
          </a:p>
        </p:txBody>
      </p:sp>
      <p:sp>
        <p:nvSpPr>
          <p:cNvPr id="10" name="bottom-band">
            <a:extLst>
              <a:ext uri="{FF2B5EF4-FFF2-40B4-BE49-F238E27FC236}">
                <a16:creationId xmlns:a16="http://schemas.microsoft.com/office/drawing/2014/main" id="{5673DC73-4C8A-46DE-9C53-01721704D98B}"/>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983A9B79-0C83-4A6B-8C93-270494CCE313}"/>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Выделены только ячейки, улучшенные на текущем этапе</a:t>
            </a:r>
          </a:p>
        </p:txBody>
      </p:sp>
      <p:graphicFrame>
        <p:nvGraphicFramePr>
          <p:cNvPr id="12" name="!!matrix">
            <a:extLst>
              <a:ext uri="{FF2B5EF4-FFF2-40B4-BE49-F238E27FC236}">
                <a16:creationId xmlns:a16="http://schemas.microsoft.com/office/drawing/2014/main" id="{09060006-5308-4DD6-B472-A7DCB637FF68}"/>
              </a:ext>
            </a:extLst>
          </p:cNvPr>
          <p:cNvGraphicFramePr>
            <a:graphicFrameLocks noGrp="1"/>
          </p:cNvGraphicFramePr>
          <p:nvPr>
            <p:extLst>
              <p:ext uri="{D42A27DB-BD31-4B8C-83A1-F6EECF244321}">
                <p14:modId xmlns:p14="http://schemas.microsoft.com/office/powerpoint/2010/main" val="1980993827"/>
              </p:ext>
            </p:extLst>
          </p:nvPr>
        </p:nvGraphicFramePr>
        <p:xfrm>
          <a:off x="5397500" y="1993900"/>
          <a:ext cx="4191000" cy="3276600"/>
        </p:xfrm>
        <a:graphic>
          <a:graphicData uri="http://schemas.openxmlformats.org/drawingml/2006/table">
            <a:tbl>
              <a:tblPr firstRow="1" bandRow="1">
                <a:tableStyleId>{0E3FDE45-AF77-4B5C-9715-49D594BDF05E}</a:tableStyleId>
              </a:tblPr>
              <a:tblGrid>
                <a:gridCol w="838200">
                  <a:extLst>
                    <a:ext uri="{9D8B030D-6E8A-4147-A177-3AD203B41FA5}">
                      <a16:colId xmlns:a16="http://schemas.microsoft.com/office/drawing/2014/main" val="3429180520"/>
                    </a:ext>
                  </a:extLst>
                </a:gridCol>
                <a:gridCol w="838200">
                  <a:extLst>
                    <a:ext uri="{9D8B030D-6E8A-4147-A177-3AD203B41FA5}">
                      <a16:colId xmlns:a16="http://schemas.microsoft.com/office/drawing/2014/main" val="2289574767"/>
                    </a:ext>
                  </a:extLst>
                </a:gridCol>
                <a:gridCol w="838200">
                  <a:extLst>
                    <a:ext uri="{9D8B030D-6E8A-4147-A177-3AD203B41FA5}">
                      <a16:colId xmlns:a16="http://schemas.microsoft.com/office/drawing/2014/main" val="1208756643"/>
                    </a:ext>
                  </a:extLst>
                </a:gridCol>
                <a:gridCol w="838200">
                  <a:extLst>
                    <a:ext uri="{9D8B030D-6E8A-4147-A177-3AD203B41FA5}">
                      <a16:colId xmlns:a16="http://schemas.microsoft.com/office/drawing/2014/main" val="786728619"/>
                    </a:ext>
                  </a:extLst>
                </a:gridCol>
                <a:gridCol w="838200">
                  <a:extLst>
                    <a:ext uri="{9D8B030D-6E8A-4147-A177-3AD203B41FA5}">
                      <a16:colId xmlns:a16="http://schemas.microsoft.com/office/drawing/2014/main" val="4091156280"/>
                    </a:ext>
                  </a:extLst>
                </a:gridCol>
              </a:tblGrid>
              <a:tr h="655320">
                <a:tc>
                  <a:txBody>
                    <a:bodyPr/>
                    <a:lstStyle/>
                    <a:p>
                      <a:pPr algn="ctr"/>
                      <a:endParaRPr lang="ru-RU" sz="25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500" b="1">
                          <a:solidFill>
                            <a:srgbClr val="FFFFFF"/>
                          </a:solidFill>
                          <a:latin typeface="Montserrat"/>
                        </a:rPr>
                        <a:t>A</a:t>
                      </a:r>
                      <a:endParaRPr lang="ru-RU" sz="2500" b="1">
                        <a:solidFill>
                          <a:srgbClr val="FFFFFF"/>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500" b="1">
                          <a:solidFill>
                            <a:srgbClr val="FFFFFF"/>
                          </a:solidFill>
                          <a:latin typeface="Montserrat"/>
                        </a:rPr>
                        <a:t>B</a:t>
                      </a:r>
                      <a:endParaRPr lang="ru-RU" sz="2500" b="1">
                        <a:solidFill>
                          <a:srgbClr val="FFFFFF"/>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500" b="1">
                          <a:solidFill>
                            <a:srgbClr val="FFFFFF"/>
                          </a:solidFill>
                          <a:latin typeface="Montserrat"/>
                        </a:rPr>
                        <a:t>C</a:t>
                      </a:r>
                      <a:endParaRPr lang="ru-RU" sz="2500" b="1">
                        <a:solidFill>
                          <a:srgbClr val="FFFFFF"/>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500" b="1">
                          <a:solidFill>
                            <a:srgbClr val="FFFFFF"/>
                          </a:solidFill>
                          <a:latin typeface="Montserrat"/>
                        </a:rPr>
                        <a:t>D</a:t>
                      </a:r>
                      <a:endParaRPr lang="ru-RU" sz="25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2501842761"/>
                  </a:ext>
                </a:extLst>
              </a:tr>
              <a:tr h="655320">
                <a:tc>
                  <a:txBody>
                    <a:bodyPr/>
                    <a:lstStyle/>
                    <a:p>
                      <a:pPr algn="ctr"/>
                      <a:r>
                        <a:rPr lang="en-US" sz="2500" b="0">
                          <a:solidFill>
                            <a:srgbClr val="352379"/>
                          </a:solidFill>
                          <a:latin typeface="Montserrat"/>
                        </a:rPr>
                        <a:t>A</a:t>
                      </a:r>
                      <a:endParaRPr lang="ru-RU" sz="25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0</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3</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10</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449228825"/>
                  </a:ext>
                </a:extLst>
              </a:tr>
              <a:tr h="655320">
                <a:tc>
                  <a:txBody>
                    <a:bodyPr/>
                    <a:lstStyle/>
                    <a:p>
                      <a:pPr algn="ctr"/>
                      <a:r>
                        <a:rPr lang="en-US" sz="2500" b="0">
                          <a:solidFill>
                            <a:srgbClr val="352379"/>
                          </a:solidFill>
                          <a:latin typeface="Montserrat"/>
                        </a:rPr>
                        <a:t>B</a:t>
                      </a:r>
                      <a:endParaRPr lang="ru-RU" sz="25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0</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4</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2185670031"/>
                  </a:ext>
                </a:extLst>
              </a:tr>
              <a:tr h="655320">
                <a:tc>
                  <a:txBody>
                    <a:bodyPr/>
                    <a:lstStyle/>
                    <a:p>
                      <a:pPr algn="ctr"/>
                      <a:r>
                        <a:rPr lang="en-US" sz="2500" b="0">
                          <a:solidFill>
                            <a:srgbClr val="352379"/>
                          </a:solidFill>
                          <a:latin typeface="Montserrat"/>
                        </a:rPr>
                        <a:t>C</a:t>
                      </a:r>
                      <a:endParaRPr lang="ru-RU" sz="25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0</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2</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1391908046"/>
                  </a:ext>
                </a:extLst>
              </a:tr>
              <a:tr h="655320">
                <a:tc>
                  <a:txBody>
                    <a:bodyPr/>
                    <a:lstStyle/>
                    <a:p>
                      <a:pPr algn="ctr"/>
                      <a:r>
                        <a:rPr lang="en-US" sz="2500" b="0">
                          <a:solidFill>
                            <a:srgbClr val="352379"/>
                          </a:solidFill>
                          <a:latin typeface="Montserrat"/>
                        </a:rPr>
                        <a:t>D</a:t>
                      </a:r>
                      <a:endParaRPr lang="ru-RU" sz="25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1</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1">
                          <a:solidFill>
                            <a:srgbClr val="352379"/>
                          </a:solidFill>
                          <a:latin typeface="Montserrat"/>
                        </a:rPr>
                        <a:t>4</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EDE9F5"/>
                    </a:solidFill>
                  </a:tcPr>
                </a:tc>
                <a:tc>
                  <a:txBody>
                    <a:bodyPr/>
                    <a:lstStyle/>
                    <a:p>
                      <a:pPr algn="ctr"/>
                      <a:r>
                        <a:rPr lang="ru-RU" sz="2500" b="1">
                          <a:solidFill>
                            <a:srgbClr val="352379"/>
                          </a:solidFill>
                          <a:latin typeface="Montserrat"/>
                        </a:rPr>
                        <a:t>11</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EDE9F5"/>
                    </a:solidFill>
                  </a:tcPr>
                </a:tc>
                <a:tc>
                  <a:txBody>
                    <a:bodyPr/>
                    <a:lstStyle/>
                    <a:p>
                      <a:pPr algn="ctr"/>
                      <a:r>
                        <a:rPr lang="ru-RU" sz="2500" b="0">
                          <a:solidFill>
                            <a:srgbClr val="352379"/>
                          </a:solidFill>
                          <a:latin typeface="Montserrat"/>
                        </a:rPr>
                        <a:t>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4129285120"/>
                  </a:ext>
                </a:extLst>
              </a:tr>
            </a:tbl>
          </a:graphicData>
        </a:graphic>
      </p:graphicFrame>
      <p:cxnSp>
        <p:nvCxnSpPr>
          <p:cNvPr id="13" name="!!fw-edge-AB">
            <a:extLst>
              <a:ext uri="{FF2B5EF4-FFF2-40B4-BE49-F238E27FC236}">
                <a16:creationId xmlns:a16="http://schemas.microsoft.com/office/drawing/2014/main" id="{58FD351F-2C6A-456D-86A7-BFA2B40FB39A}"/>
              </a:ext>
            </a:extLst>
          </p:cNvPr>
          <p:cNvCxnSpPr/>
          <p:nvPr/>
        </p:nvCxnSpPr>
        <p:spPr>
          <a:xfrm>
            <a:off x="1358900" y="2603500"/>
            <a:ext cx="2108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4" name="!!fw-weight-AB">
            <a:extLst>
              <a:ext uri="{FF2B5EF4-FFF2-40B4-BE49-F238E27FC236}">
                <a16:creationId xmlns:a16="http://schemas.microsoft.com/office/drawing/2014/main" id="{019073F3-3289-4285-BB05-186AB8FF1C9A}"/>
              </a:ext>
            </a:extLst>
          </p:cNvPr>
          <p:cNvSpPr txBox="1"/>
          <p:nvPr/>
        </p:nvSpPr>
        <p:spPr bwMode="auto">
          <a:xfrm>
            <a:off x="2159000" y="2755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5" name="!!fw-edge-BC">
            <a:extLst>
              <a:ext uri="{FF2B5EF4-FFF2-40B4-BE49-F238E27FC236}">
                <a16:creationId xmlns:a16="http://schemas.microsoft.com/office/drawing/2014/main" id="{C123DAB6-D726-4101-B3C0-72D66EB34670}"/>
              </a:ext>
            </a:extLst>
          </p:cNvPr>
          <p:cNvCxnSpPr/>
          <p:nvPr/>
        </p:nvCxnSpPr>
        <p:spPr>
          <a:xfrm>
            <a:off x="3810000" y="2946400"/>
            <a:ext cx="0" cy="160020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6" name="!!fw-weight-BC">
            <a:extLst>
              <a:ext uri="{FF2B5EF4-FFF2-40B4-BE49-F238E27FC236}">
                <a16:creationId xmlns:a16="http://schemas.microsoft.com/office/drawing/2014/main" id="{A1F120DC-3A70-4EA6-8E20-D1B61F5316F9}"/>
              </a:ext>
            </a:extLst>
          </p:cNvPr>
          <p:cNvSpPr txBox="1"/>
          <p:nvPr/>
        </p:nvSpPr>
        <p:spPr bwMode="auto">
          <a:xfrm>
            <a:off x="3200400" y="3543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17" name="!!fw-edge-AC">
            <a:extLst>
              <a:ext uri="{FF2B5EF4-FFF2-40B4-BE49-F238E27FC236}">
                <a16:creationId xmlns:a16="http://schemas.microsoft.com/office/drawing/2014/main" id="{8519AF20-CE13-46FC-BE07-1164127F3393}"/>
              </a:ext>
            </a:extLst>
          </p:cNvPr>
          <p:cNvCxnSpPr/>
          <p:nvPr/>
        </p:nvCxnSpPr>
        <p:spPr>
          <a:xfrm>
            <a:off x="1281390" y="2820637"/>
            <a:ext cx="2263220" cy="1851726"/>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8" name="!!fw-weight-AC">
            <a:extLst>
              <a:ext uri="{FF2B5EF4-FFF2-40B4-BE49-F238E27FC236}">
                <a16:creationId xmlns:a16="http://schemas.microsoft.com/office/drawing/2014/main" id="{D6898E2B-E95C-4E5C-844C-EDCAD7764218}"/>
              </a:ext>
            </a:extLst>
          </p:cNvPr>
          <p:cNvSpPr txBox="1"/>
          <p:nvPr/>
        </p:nvSpPr>
        <p:spPr bwMode="auto">
          <a:xfrm>
            <a:off x="1933821" y="3818518"/>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10</a:t>
            </a:r>
          </a:p>
        </p:txBody>
      </p:sp>
      <p:cxnSp>
        <p:nvCxnSpPr>
          <p:cNvPr id="19" name="!!fw-edge-CD">
            <a:extLst>
              <a:ext uri="{FF2B5EF4-FFF2-40B4-BE49-F238E27FC236}">
                <a16:creationId xmlns:a16="http://schemas.microsoft.com/office/drawing/2014/main" id="{FC079C0F-92AD-405E-95C0-F305EACE8431}"/>
              </a:ext>
            </a:extLst>
          </p:cNvPr>
          <p:cNvCxnSpPr/>
          <p:nvPr/>
        </p:nvCxnSpPr>
        <p:spPr>
          <a:xfrm flipH="1">
            <a:off x="1358900" y="4889500"/>
            <a:ext cx="2108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20" name="!!fw-weight-CD">
            <a:extLst>
              <a:ext uri="{FF2B5EF4-FFF2-40B4-BE49-F238E27FC236}">
                <a16:creationId xmlns:a16="http://schemas.microsoft.com/office/drawing/2014/main" id="{5CF328CB-9B67-472E-B097-E934820B5EF9}"/>
              </a:ext>
            </a:extLst>
          </p:cNvPr>
          <p:cNvSpPr txBox="1"/>
          <p:nvPr/>
        </p:nvSpPr>
        <p:spPr bwMode="auto">
          <a:xfrm>
            <a:off x="2159000" y="43306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21" name="!!fw-edge-DA">
            <a:extLst>
              <a:ext uri="{FF2B5EF4-FFF2-40B4-BE49-F238E27FC236}">
                <a16:creationId xmlns:a16="http://schemas.microsoft.com/office/drawing/2014/main" id="{78ADE1F7-F7E8-4797-BBD6-104A9FD5FDC1}"/>
              </a:ext>
            </a:extLst>
          </p:cNvPr>
          <p:cNvCxnSpPr/>
          <p:nvPr/>
        </p:nvCxnSpPr>
        <p:spPr>
          <a:xfrm flipV="1">
            <a:off x="1016000" y="2946400"/>
            <a:ext cx="0" cy="160020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22" name="!!fw-weight-DA">
            <a:extLst>
              <a:ext uri="{FF2B5EF4-FFF2-40B4-BE49-F238E27FC236}">
                <a16:creationId xmlns:a16="http://schemas.microsoft.com/office/drawing/2014/main" id="{E3EAF08A-9F52-4EBD-A68D-C38C15960613}"/>
              </a:ext>
            </a:extLst>
          </p:cNvPr>
          <p:cNvSpPr txBox="1"/>
          <p:nvPr/>
        </p:nvSpPr>
        <p:spPr bwMode="auto">
          <a:xfrm>
            <a:off x="406400" y="3543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sp>
        <p:nvSpPr>
          <p:cNvPr id="23" name="!!fw-node-A">
            <a:extLst>
              <a:ext uri="{FF2B5EF4-FFF2-40B4-BE49-F238E27FC236}">
                <a16:creationId xmlns:a16="http://schemas.microsoft.com/office/drawing/2014/main" id="{48DE360E-FDE2-4839-8814-55146DB4408A}"/>
              </a:ext>
            </a:extLst>
          </p:cNvPr>
          <p:cNvSpPr/>
          <p:nvPr/>
        </p:nvSpPr>
        <p:spPr>
          <a:xfrm>
            <a:off x="698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24" name="!!fw-node-B">
            <a:extLst>
              <a:ext uri="{FF2B5EF4-FFF2-40B4-BE49-F238E27FC236}">
                <a16:creationId xmlns:a16="http://schemas.microsoft.com/office/drawing/2014/main" id="{1FF3C1C1-0FE7-43CE-A872-07528806E515}"/>
              </a:ext>
            </a:extLst>
          </p:cNvPr>
          <p:cNvSpPr/>
          <p:nvPr/>
        </p:nvSpPr>
        <p:spPr>
          <a:xfrm>
            <a:off x="3492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25" name="!!fw-node-C">
            <a:extLst>
              <a:ext uri="{FF2B5EF4-FFF2-40B4-BE49-F238E27FC236}">
                <a16:creationId xmlns:a16="http://schemas.microsoft.com/office/drawing/2014/main" id="{F9032990-7FBD-4585-B9C7-AAFB26537EAE}"/>
              </a:ext>
            </a:extLst>
          </p:cNvPr>
          <p:cNvSpPr/>
          <p:nvPr/>
        </p:nvSpPr>
        <p:spPr>
          <a:xfrm>
            <a:off x="3492500" y="457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26" name="!!fw-node-D">
            <a:extLst>
              <a:ext uri="{FF2B5EF4-FFF2-40B4-BE49-F238E27FC236}">
                <a16:creationId xmlns:a16="http://schemas.microsoft.com/office/drawing/2014/main" id="{85FB85B9-F64D-450C-9218-EC382826454C}"/>
              </a:ext>
            </a:extLst>
          </p:cNvPr>
          <p:cNvSpPr/>
          <p:nvPr/>
        </p:nvSpPr>
        <p:spPr>
          <a:xfrm>
            <a:off x="698500" y="457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27" name="!!matrix-caption">
            <a:extLst>
              <a:ext uri="{FF2B5EF4-FFF2-40B4-BE49-F238E27FC236}">
                <a16:creationId xmlns:a16="http://schemas.microsoft.com/office/drawing/2014/main" id="{1D2BFBB3-4FEB-4C7A-B6FE-D9FD1A2516A7}"/>
              </a:ext>
            </a:extLst>
          </p:cNvPr>
          <p:cNvSpPr txBox="1"/>
          <p:nvPr/>
        </p:nvSpPr>
        <p:spPr bwMode="auto">
          <a:xfrm>
            <a:off x="5397500" y="1625599"/>
            <a:ext cx="5842000" cy="355600"/>
          </a:xfrm>
          <a:prstGeom prst="rect">
            <a:avLst/>
          </a:prstGeom>
        </p:spPr>
        <p:txBody>
          <a:bodyPr vert="horz" wrap="square" lIns="0" tIns="0" rIns="0" bIns="0" rtlCol="0">
            <a:noAutofit/>
          </a:bodyPr>
          <a:lstStyle/>
          <a:p>
            <a:r>
              <a:rPr lang="ru-RU" sz="2100">
                <a:solidFill>
                  <a:srgbClr val="352379"/>
                </a:solidFill>
                <a:latin typeface="Montserrat"/>
              </a:rPr>
              <a:t>После </a:t>
            </a:r>
            <a:r>
              <a:rPr lang="en-US" sz="2100">
                <a:solidFill>
                  <a:srgbClr val="352379"/>
                </a:solidFill>
                <a:latin typeface="Montserrat"/>
              </a:rPr>
              <a:t>k = A</a:t>
            </a:r>
            <a:endParaRPr lang="ru-RU" sz="2100">
              <a:solidFill>
                <a:srgbClr val="352379"/>
              </a:solidFill>
              <a:latin typeface="Montserrat"/>
            </a:endParaRPr>
          </a:p>
        </p:txBody>
      </p:sp>
      <p:sp>
        <p:nvSpPr>
          <p:cNvPr id="28" name="!!matrix-explanation">
            <a:extLst>
              <a:ext uri="{FF2B5EF4-FFF2-40B4-BE49-F238E27FC236}">
                <a16:creationId xmlns:a16="http://schemas.microsoft.com/office/drawing/2014/main" id="{96A1B3CC-1FA0-4BB6-8640-6A9789E9B6BB}"/>
              </a:ext>
            </a:extLst>
          </p:cNvPr>
          <p:cNvSpPr txBox="1"/>
          <p:nvPr/>
        </p:nvSpPr>
        <p:spPr bwMode="auto">
          <a:xfrm>
            <a:off x="9867900" y="1955799"/>
            <a:ext cx="1841500" cy="3784600"/>
          </a:xfrm>
          <a:prstGeom prst="rect">
            <a:avLst/>
          </a:prstGeom>
        </p:spPr>
        <p:txBody>
          <a:bodyPr vert="horz" wrap="square" lIns="0" tIns="0" rIns="0" bIns="0" rtlCol="0">
            <a:noAutofit/>
          </a:bodyPr>
          <a:lstStyle/>
          <a:p>
            <a:r>
              <a:rPr lang="en-US">
                <a:solidFill>
                  <a:srgbClr val="352379"/>
                </a:solidFill>
                <a:latin typeface="Montserrat"/>
              </a:rPr>
              <a:t>D→B: ∞ → 4</a:t>
            </a:r>
          </a:p>
          <a:p>
            <a:r>
              <a:rPr lang="en-US">
                <a:solidFill>
                  <a:srgbClr val="352379"/>
                </a:solidFill>
                <a:latin typeface="Montserrat"/>
              </a:rPr>
              <a:t>D→C: ∞ → 11</a:t>
            </a:r>
            <a:endParaRPr lang="ru-RU">
              <a:solidFill>
                <a:srgbClr val="352379"/>
              </a:solidFill>
              <a:latin typeface="Montserrat"/>
            </a:endParaRPr>
          </a:p>
        </p:txBody>
      </p:sp>
    </p:spTree>
    <p:extLst>
      <p:ext uri="{BB962C8B-B14F-4D97-AF65-F5344CB8AC3E}">
        <p14:creationId xmlns:p14="http://schemas.microsoft.com/office/powerpoint/2010/main" val="2677924078"/>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40255B-C165-4AE9-83C0-9A79B4566E61}"/>
              </a:ext>
            </a:extLst>
          </p:cNvPr>
          <p:cNvSpPr>
            <a:spLocks noGrp="1"/>
          </p:cNvSpPr>
          <p:nvPr>
            <p:ph type="title"/>
          </p:nvPr>
        </p:nvSpPr>
        <p:spPr>
          <a:xfrm>
            <a:off x="479425" y="597855"/>
            <a:ext cx="11229975" cy="1140459"/>
          </a:xfrm>
        </p:spPr>
        <p:txBody>
          <a:bodyPr/>
          <a:lstStyle/>
          <a:p>
            <a:r>
              <a:rPr lang="ru-RU"/>
              <a:t>Флойд–Уоршелл: разрешаем k = B</a:t>
            </a:r>
          </a:p>
        </p:txBody>
      </p:sp>
      <p:sp>
        <p:nvSpPr>
          <p:cNvPr id="7" name="Текст 6">
            <a:extLst>
              <a:ext uri="{FF2B5EF4-FFF2-40B4-BE49-F238E27FC236}">
                <a16:creationId xmlns:a16="http://schemas.microsoft.com/office/drawing/2014/main" id="{51D9D354-5AA0-4F8C-942A-96EC2F441F4E}"/>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graphicFrame>
        <p:nvGraphicFramePr>
          <p:cNvPr id="12" name="!!matrix">
            <a:extLst>
              <a:ext uri="{FF2B5EF4-FFF2-40B4-BE49-F238E27FC236}">
                <a16:creationId xmlns:a16="http://schemas.microsoft.com/office/drawing/2014/main" id="{09060006-5308-4DD6-B472-A7DCB637FF68}"/>
              </a:ext>
            </a:extLst>
          </p:cNvPr>
          <p:cNvGraphicFramePr>
            <a:graphicFrameLocks noGrp="1"/>
          </p:cNvGraphicFramePr>
          <p:nvPr>
            <p:extLst>
              <p:ext uri="{D42A27DB-BD31-4B8C-83A1-F6EECF244321}">
                <p14:modId xmlns:p14="http://schemas.microsoft.com/office/powerpoint/2010/main" val="1627120477"/>
              </p:ext>
            </p:extLst>
          </p:nvPr>
        </p:nvGraphicFramePr>
        <p:xfrm>
          <a:off x="5397500" y="1993900"/>
          <a:ext cx="4191000" cy="3276600"/>
        </p:xfrm>
        <a:graphic>
          <a:graphicData uri="http://schemas.openxmlformats.org/drawingml/2006/table">
            <a:tbl>
              <a:tblPr firstRow="1" bandRow="1">
                <a:tableStyleId>{0E3FDE45-AF77-4B5C-9715-49D594BDF05E}</a:tableStyleId>
              </a:tblPr>
              <a:tblGrid>
                <a:gridCol w="838200">
                  <a:extLst>
                    <a:ext uri="{9D8B030D-6E8A-4147-A177-3AD203B41FA5}">
                      <a16:colId xmlns:a16="http://schemas.microsoft.com/office/drawing/2014/main" val="3429180520"/>
                    </a:ext>
                  </a:extLst>
                </a:gridCol>
                <a:gridCol w="838200">
                  <a:extLst>
                    <a:ext uri="{9D8B030D-6E8A-4147-A177-3AD203B41FA5}">
                      <a16:colId xmlns:a16="http://schemas.microsoft.com/office/drawing/2014/main" val="2289574767"/>
                    </a:ext>
                  </a:extLst>
                </a:gridCol>
                <a:gridCol w="838200">
                  <a:extLst>
                    <a:ext uri="{9D8B030D-6E8A-4147-A177-3AD203B41FA5}">
                      <a16:colId xmlns:a16="http://schemas.microsoft.com/office/drawing/2014/main" val="1208756643"/>
                    </a:ext>
                  </a:extLst>
                </a:gridCol>
                <a:gridCol w="838200">
                  <a:extLst>
                    <a:ext uri="{9D8B030D-6E8A-4147-A177-3AD203B41FA5}">
                      <a16:colId xmlns:a16="http://schemas.microsoft.com/office/drawing/2014/main" val="786728619"/>
                    </a:ext>
                  </a:extLst>
                </a:gridCol>
                <a:gridCol w="838200">
                  <a:extLst>
                    <a:ext uri="{9D8B030D-6E8A-4147-A177-3AD203B41FA5}">
                      <a16:colId xmlns:a16="http://schemas.microsoft.com/office/drawing/2014/main" val="4091156280"/>
                    </a:ext>
                  </a:extLst>
                </a:gridCol>
              </a:tblGrid>
              <a:tr h="655320">
                <a:tc>
                  <a:txBody>
                    <a:bodyPr/>
                    <a:lstStyle/>
                    <a:p>
                      <a:pPr algn="ctr"/>
                      <a:endParaRPr lang="ru-RU" sz="25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500" b="1">
                          <a:solidFill>
                            <a:srgbClr val="FFFFFF"/>
                          </a:solidFill>
                          <a:latin typeface="Montserrat"/>
                        </a:rPr>
                        <a:t>A</a:t>
                      </a:r>
                      <a:endParaRPr lang="ru-RU" sz="2500" b="1">
                        <a:solidFill>
                          <a:srgbClr val="FFFFFF"/>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500" b="1">
                          <a:solidFill>
                            <a:srgbClr val="FFFFFF"/>
                          </a:solidFill>
                          <a:latin typeface="Montserrat"/>
                        </a:rPr>
                        <a:t>B</a:t>
                      </a:r>
                      <a:endParaRPr lang="ru-RU" sz="2500" b="1">
                        <a:solidFill>
                          <a:srgbClr val="FFFFFF"/>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500" b="1">
                          <a:solidFill>
                            <a:srgbClr val="FFFFFF"/>
                          </a:solidFill>
                          <a:latin typeface="Montserrat"/>
                        </a:rPr>
                        <a:t>C</a:t>
                      </a:r>
                      <a:endParaRPr lang="ru-RU" sz="2500" b="1">
                        <a:solidFill>
                          <a:srgbClr val="FFFFFF"/>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500" b="1">
                          <a:solidFill>
                            <a:srgbClr val="FFFFFF"/>
                          </a:solidFill>
                          <a:latin typeface="Montserrat"/>
                        </a:rPr>
                        <a:t>D</a:t>
                      </a:r>
                      <a:endParaRPr lang="ru-RU" sz="25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2501842761"/>
                  </a:ext>
                </a:extLst>
              </a:tr>
              <a:tr h="655320">
                <a:tc>
                  <a:txBody>
                    <a:bodyPr/>
                    <a:lstStyle/>
                    <a:p>
                      <a:pPr algn="ctr"/>
                      <a:r>
                        <a:rPr lang="en-US" sz="2500" b="0">
                          <a:solidFill>
                            <a:srgbClr val="352379"/>
                          </a:solidFill>
                          <a:latin typeface="Montserrat"/>
                        </a:rPr>
                        <a:t>A</a:t>
                      </a:r>
                      <a:endParaRPr lang="ru-RU" sz="25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0</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3</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1">
                          <a:solidFill>
                            <a:srgbClr val="352379"/>
                          </a:solidFill>
                          <a:latin typeface="Montserrat"/>
                        </a:rPr>
                        <a:t>7</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EDE9F5">
                        <a:alpha val="20000"/>
                      </a:srgbClr>
                    </a:solidFill>
                  </a:tcPr>
                </a:tc>
                <a:tc>
                  <a:txBody>
                    <a:bodyPr/>
                    <a:lstStyle/>
                    <a:p>
                      <a:pPr algn="ctr"/>
                      <a:r>
                        <a:rPr lang="ru-RU" sz="25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449228825"/>
                  </a:ext>
                </a:extLst>
              </a:tr>
              <a:tr h="655320">
                <a:tc>
                  <a:txBody>
                    <a:bodyPr/>
                    <a:lstStyle/>
                    <a:p>
                      <a:pPr algn="ctr"/>
                      <a:r>
                        <a:rPr lang="en-US" sz="2500" b="0">
                          <a:solidFill>
                            <a:srgbClr val="352379"/>
                          </a:solidFill>
                          <a:latin typeface="Montserrat"/>
                        </a:rPr>
                        <a:t>B</a:t>
                      </a:r>
                      <a:endParaRPr lang="ru-RU" sz="25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0</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4</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2185670031"/>
                  </a:ext>
                </a:extLst>
              </a:tr>
              <a:tr h="655320">
                <a:tc>
                  <a:txBody>
                    <a:bodyPr/>
                    <a:lstStyle/>
                    <a:p>
                      <a:pPr algn="ctr"/>
                      <a:r>
                        <a:rPr lang="en-US" sz="2500" b="0">
                          <a:solidFill>
                            <a:srgbClr val="352379"/>
                          </a:solidFill>
                          <a:latin typeface="Montserrat"/>
                        </a:rPr>
                        <a:t>C</a:t>
                      </a:r>
                      <a:endParaRPr lang="ru-RU" sz="25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0</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2</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1391908046"/>
                  </a:ext>
                </a:extLst>
              </a:tr>
              <a:tr h="655320">
                <a:tc>
                  <a:txBody>
                    <a:bodyPr/>
                    <a:lstStyle/>
                    <a:p>
                      <a:pPr algn="ctr"/>
                      <a:r>
                        <a:rPr lang="en-US" sz="2500" b="0">
                          <a:solidFill>
                            <a:srgbClr val="352379"/>
                          </a:solidFill>
                          <a:latin typeface="Montserrat"/>
                        </a:rPr>
                        <a:t>D</a:t>
                      </a:r>
                      <a:endParaRPr lang="ru-RU" sz="25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1</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4</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1">
                          <a:solidFill>
                            <a:srgbClr val="352379"/>
                          </a:solidFill>
                          <a:latin typeface="Montserrat"/>
                        </a:rPr>
                        <a:t>8</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EDE9F5"/>
                    </a:solidFill>
                  </a:tcPr>
                </a:tc>
                <a:tc>
                  <a:txBody>
                    <a:bodyPr/>
                    <a:lstStyle/>
                    <a:p>
                      <a:pPr algn="ctr"/>
                      <a:r>
                        <a:rPr lang="ru-RU" sz="2500" b="0">
                          <a:solidFill>
                            <a:srgbClr val="352379"/>
                          </a:solidFill>
                          <a:latin typeface="Montserrat"/>
                        </a:rPr>
                        <a:t>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4129285120"/>
                  </a:ext>
                </a:extLst>
              </a:tr>
            </a:tbl>
          </a:graphicData>
        </a:graphic>
      </p:graphicFrame>
      <p:cxnSp>
        <p:nvCxnSpPr>
          <p:cNvPr id="13" name="!!fw-edge-AB">
            <a:extLst>
              <a:ext uri="{FF2B5EF4-FFF2-40B4-BE49-F238E27FC236}">
                <a16:creationId xmlns:a16="http://schemas.microsoft.com/office/drawing/2014/main" id="{58FD351F-2C6A-456D-86A7-BFA2B40FB39A}"/>
              </a:ext>
            </a:extLst>
          </p:cNvPr>
          <p:cNvCxnSpPr/>
          <p:nvPr/>
        </p:nvCxnSpPr>
        <p:spPr>
          <a:xfrm>
            <a:off x="1358900" y="2603500"/>
            <a:ext cx="2108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4" name="!!fw-weight-AB">
            <a:extLst>
              <a:ext uri="{FF2B5EF4-FFF2-40B4-BE49-F238E27FC236}">
                <a16:creationId xmlns:a16="http://schemas.microsoft.com/office/drawing/2014/main" id="{019073F3-3289-4285-BB05-186AB8FF1C9A}"/>
              </a:ext>
            </a:extLst>
          </p:cNvPr>
          <p:cNvSpPr txBox="1"/>
          <p:nvPr/>
        </p:nvSpPr>
        <p:spPr bwMode="auto">
          <a:xfrm>
            <a:off x="2159000" y="2755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5" name="!!fw-edge-BC">
            <a:extLst>
              <a:ext uri="{FF2B5EF4-FFF2-40B4-BE49-F238E27FC236}">
                <a16:creationId xmlns:a16="http://schemas.microsoft.com/office/drawing/2014/main" id="{C123DAB6-D726-4101-B3C0-72D66EB34670}"/>
              </a:ext>
            </a:extLst>
          </p:cNvPr>
          <p:cNvCxnSpPr/>
          <p:nvPr/>
        </p:nvCxnSpPr>
        <p:spPr>
          <a:xfrm>
            <a:off x="3810000" y="2946400"/>
            <a:ext cx="0" cy="160020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6" name="!!fw-weight-BC">
            <a:extLst>
              <a:ext uri="{FF2B5EF4-FFF2-40B4-BE49-F238E27FC236}">
                <a16:creationId xmlns:a16="http://schemas.microsoft.com/office/drawing/2014/main" id="{A1F120DC-3A70-4EA6-8E20-D1B61F5316F9}"/>
              </a:ext>
            </a:extLst>
          </p:cNvPr>
          <p:cNvSpPr txBox="1"/>
          <p:nvPr/>
        </p:nvSpPr>
        <p:spPr bwMode="auto">
          <a:xfrm>
            <a:off x="3200400" y="3543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17" name="!!fw-edge-AC">
            <a:extLst>
              <a:ext uri="{FF2B5EF4-FFF2-40B4-BE49-F238E27FC236}">
                <a16:creationId xmlns:a16="http://schemas.microsoft.com/office/drawing/2014/main" id="{8519AF20-CE13-46FC-BE07-1164127F3393}"/>
              </a:ext>
            </a:extLst>
          </p:cNvPr>
          <p:cNvCxnSpPr/>
          <p:nvPr/>
        </p:nvCxnSpPr>
        <p:spPr>
          <a:xfrm>
            <a:off x="1281390" y="2820637"/>
            <a:ext cx="2263220" cy="1851726"/>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8" name="!!fw-weight-AC">
            <a:extLst>
              <a:ext uri="{FF2B5EF4-FFF2-40B4-BE49-F238E27FC236}">
                <a16:creationId xmlns:a16="http://schemas.microsoft.com/office/drawing/2014/main" id="{D6898E2B-E95C-4E5C-844C-EDCAD7764218}"/>
              </a:ext>
            </a:extLst>
          </p:cNvPr>
          <p:cNvSpPr txBox="1"/>
          <p:nvPr/>
        </p:nvSpPr>
        <p:spPr bwMode="auto">
          <a:xfrm>
            <a:off x="1933821" y="3818518"/>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10</a:t>
            </a:r>
          </a:p>
        </p:txBody>
      </p:sp>
      <p:cxnSp>
        <p:nvCxnSpPr>
          <p:cNvPr id="19" name="!!fw-edge-CD">
            <a:extLst>
              <a:ext uri="{FF2B5EF4-FFF2-40B4-BE49-F238E27FC236}">
                <a16:creationId xmlns:a16="http://schemas.microsoft.com/office/drawing/2014/main" id="{FC079C0F-92AD-405E-95C0-F305EACE8431}"/>
              </a:ext>
            </a:extLst>
          </p:cNvPr>
          <p:cNvCxnSpPr/>
          <p:nvPr/>
        </p:nvCxnSpPr>
        <p:spPr>
          <a:xfrm flipH="1">
            <a:off x="1358900" y="4889500"/>
            <a:ext cx="2108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20" name="!!fw-weight-CD">
            <a:extLst>
              <a:ext uri="{FF2B5EF4-FFF2-40B4-BE49-F238E27FC236}">
                <a16:creationId xmlns:a16="http://schemas.microsoft.com/office/drawing/2014/main" id="{5CF328CB-9B67-472E-B097-E934820B5EF9}"/>
              </a:ext>
            </a:extLst>
          </p:cNvPr>
          <p:cNvSpPr txBox="1"/>
          <p:nvPr/>
        </p:nvSpPr>
        <p:spPr bwMode="auto">
          <a:xfrm>
            <a:off x="2159000" y="43306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21" name="!!fw-edge-DA">
            <a:extLst>
              <a:ext uri="{FF2B5EF4-FFF2-40B4-BE49-F238E27FC236}">
                <a16:creationId xmlns:a16="http://schemas.microsoft.com/office/drawing/2014/main" id="{78ADE1F7-F7E8-4797-BBD6-104A9FD5FDC1}"/>
              </a:ext>
            </a:extLst>
          </p:cNvPr>
          <p:cNvCxnSpPr/>
          <p:nvPr/>
        </p:nvCxnSpPr>
        <p:spPr>
          <a:xfrm flipV="1">
            <a:off x="1016000" y="2946400"/>
            <a:ext cx="0" cy="160020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22" name="!!fw-weight-DA">
            <a:extLst>
              <a:ext uri="{FF2B5EF4-FFF2-40B4-BE49-F238E27FC236}">
                <a16:creationId xmlns:a16="http://schemas.microsoft.com/office/drawing/2014/main" id="{E3EAF08A-9F52-4EBD-A68D-C38C15960613}"/>
              </a:ext>
            </a:extLst>
          </p:cNvPr>
          <p:cNvSpPr txBox="1"/>
          <p:nvPr/>
        </p:nvSpPr>
        <p:spPr bwMode="auto">
          <a:xfrm>
            <a:off x="406400" y="3543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sp>
        <p:nvSpPr>
          <p:cNvPr id="23" name="!!fw-node-A">
            <a:extLst>
              <a:ext uri="{FF2B5EF4-FFF2-40B4-BE49-F238E27FC236}">
                <a16:creationId xmlns:a16="http://schemas.microsoft.com/office/drawing/2014/main" id="{48DE360E-FDE2-4839-8814-55146DB4408A}"/>
              </a:ext>
            </a:extLst>
          </p:cNvPr>
          <p:cNvSpPr/>
          <p:nvPr/>
        </p:nvSpPr>
        <p:spPr>
          <a:xfrm>
            <a:off x="698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24" name="!!fw-node-B">
            <a:extLst>
              <a:ext uri="{FF2B5EF4-FFF2-40B4-BE49-F238E27FC236}">
                <a16:creationId xmlns:a16="http://schemas.microsoft.com/office/drawing/2014/main" id="{1FF3C1C1-0FE7-43CE-A872-07528806E515}"/>
              </a:ext>
            </a:extLst>
          </p:cNvPr>
          <p:cNvSpPr/>
          <p:nvPr/>
        </p:nvSpPr>
        <p:spPr>
          <a:xfrm>
            <a:off x="3492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25" name="!!fw-node-C">
            <a:extLst>
              <a:ext uri="{FF2B5EF4-FFF2-40B4-BE49-F238E27FC236}">
                <a16:creationId xmlns:a16="http://schemas.microsoft.com/office/drawing/2014/main" id="{F9032990-7FBD-4585-B9C7-AAFB26537EAE}"/>
              </a:ext>
            </a:extLst>
          </p:cNvPr>
          <p:cNvSpPr/>
          <p:nvPr/>
        </p:nvSpPr>
        <p:spPr>
          <a:xfrm>
            <a:off x="3492500" y="457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26" name="!!fw-node-D">
            <a:extLst>
              <a:ext uri="{FF2B5EF4-FFF2-40B4-BE49-F238E27FC236}">
                <a16:creationId xmlns:a16="http://schemas.microsoft.com/office/drawing/2014/main" id="{85FB85B9-F64D-450C-9218-EC382826454C}"/>
              </a:ext>
            </a:extLst>
          </p:cNvPr>
          <p:cNvSpPr/>
          <p:nvPr/>
        </p:nvSpPr>
        <p:spPr>
          <a:xfrm>
            <a:off x="698500" y="457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27" name="!!matrix-caption">
            <a:extLst>
              <a:ext uri="{FF2B5EF4-FFF2-40B4-BE49-F238E27FC236}">
                <a16:creationId xmlns:a16="http://schemas.microsoft.com/office/drawing/2014/main" id="{1D2BFBB3-4FEB-4C7A-B6FE-D9FD1A2516A7}"/>
              </a:ext>
            </a:extLst>
          </p:cNvPr>
          <p:cNvSpPr txBox="1"/>
          <p:nvPr/>
        </p:nvSpPr>
        <p:spPr bwMode="auto">
          <a:xfrm>
            <a:off x="5397500" y="1625599"/>
            <a:ext cx="5842000" cy="355600"/>
          </a:xfrm>
          <a:prstGeom prst="rect">
            <a:avLst/>
          </a:prstGeom>
        </p:spPr>
        <p:txBody>
          <a:bodyPr vert="horz" wrap="square" lIns="0" tIns="0" rIns="0" bIns="0" rtlCol="0">
            <a:noAutofit/>
          </a:bodyPr>
          <a:lstStyle/>
          <a:p>
            <a:r>
              <a:rPr lang="ru-RU" sz="2100">
                <a:solidFill>
                  <a:srgbClr val="352379"/>
                </a:solidFill>
                <a:latin typeface="Montserrat"/>
              </a:rPr>
              <a:t>После </a:t>
            </a:r>
            <a:r>
              <a:rPr lang="en-US" sz="2100">
                <a:solidFill>
                  <a:srgbClr val="352379"/>
                </a:solidFill>
                <a:latin typeface="Montserrat"/>
              </a:rPr>
              <a:t>k = B</a:t>
            </a:r>
            <a:endParaRPr lang="ru-RU" sz="2100">
              <a:solidFill>
                <a:srgbClr val="352379"/>
              </a:solidFill>
              <a:latin typeface="Montserrat"/>
            </a:endParaRPr>
          </a:p>
        </p:txBody>
      </p:sp>
      <p:sp>
        <p:nvSpPr>
          <p:cNvPr id="28" name="!!matrix-explanation">
            <a:extLst>
              <a:ext uri="{FF2B5EF4-FFF2-40B4-BE49-F238E27FC236}">
                <a16:creationId xmlns:a16="http://schemas.microsoft.com/office/drawing/2014/main" id="{96A1B3CC-1FA0-4BB6-8640-6A9789E9B6BB}"/>
              </a:ext>
            </a:extLst>
          </p:cNvPr>
          <p:cNvSpPr txBox="1"/>
          <p:nvPr/>
        </p:nvSpPr>
        <p:spPr bwMode="auto">
          <a:xfrm>
            <a:off x="9867900" y="1955799"/>
            <a:ext cx="1841500" cy="3784600"/>
          </a:xfrm>
          <a:prstGeom prst="rect">
            <a:avLst/>
          </a:prstGeom>
        </p:spPr>
        <p:txBody>
          <a:bodyPr vert="horz" wrap="square" lIns="0" tIns="0" rIns="0" bIns="0" rtlCol="0">
            <a:noAutofit/>
          </a:bodyPr>
          <a:lstStyle/>
          <a:p>
            <a:r>
              <a:rPr lang="en-US" sz="2000">
                <a:solidFill>
                  <a:srgbClr val="352379"/>
                </a:solidFill>
                <a:latin typeface="Montserrat"/>
              </a:rPr>
              <a:t>A→C: 10 → 7</a:t>
            </a:r>
          </a:p>
          <a:p>
            <a:r>
              <a:rPr lang="en-US" sz="2000">
                <a:solidFill>
                  <a:srgbClr val="352379"/>
                </a:solidFill>
                <a:latin typeface="Montserrat"/>
              </a:rPr>
              <a:t>D→C: 11 → 8</a:t>
            </a:r>
            <a:endParaRPr lang="ru-RU" sz="2000">
              <a:solidFill>
                <a:srgbClr val="352379"/>
              </a:solidFill>
              <a:latin typeface="Montserrat"/>
            </a:endParaRPr>
          </a:p>
        </p:txBody>
      </p:sp>
      <p:sp>
        <p:nvSpPr>
          <p:cNvPr id="3" name="lecture-footer">
            <a:extLst>
              <a:ext uri="{FF2B5EF4-FFF2-40B4-BE49-F238E27FC236}">
                <a16:creationId xmlns:a16="http://schemas.microsoft.com/office/drawing/2014/main" id="{98F26EA4-314F-4709-8B63-1044707C1331}"/>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4" name="slide-number">
            <a:extLst>
              <a:ext uri="{FF2B5EF4-FFF2-40B4-BE49-F238E27FC236}">
                <a16:creationId xmlns:a16="http://schemas.microsoft.com/office/drawing/2014/main" id="{2149AAEB-2873-4011-9A4C-F509117E854C}"/>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54</a:t>
            </a:r>
          </a:p>
        </p:txBody>
      </p:sp>
      <p:sp>
        <p:nvSpPr>
          <p:cNvPr id="5" name="bottom-band">
            <a:extLst>
              <a:ext uri="{FF2B5EF4-FFF2-40B4-BE49-F238E27FC236}">
                <a16:creationId xmlns:a16="http://schemas.microsoft.com/office/drawing/2014/main" id="{D480F863-46BA-4401-A946-04857407CD83}"/>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bottom-message">
            <a:extLst>
              <a:ext uri="{FF2B5EF4-FFF2-40B4-BE49-F238E27FC236}">
                <a16:creationId xmlns:a16="http://schemas.microsoft.com/office/drawing/2014/main" id="{C226A61E-CF78-43E1-BABD-37358831D4B6}"/>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Выделены только ячейки, улучшенные на текущем этапе</a:t>
            </a:r>
          </a:p>
        </p:txBody>
      </p:sp>
    </p:spTree>
    <p:extLst>
      <p:ext uri="{BB962C8B-B14F-4D97-AF65-F5344CB8AC3E}">
        <p14:creationId xmlns:p14="http://schemas.microsoft.com/office/powerpoint/2010/main" val="3160453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55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40255B-C165-4AE9-83C0-9A79B4566E61}"/>
              </a:ext>
            </a:extLst>
          </p:cNvPr>
          <p:cNvSpPr>
            <a:spLocks noGrp="1"/>
          </p:cNvSpPr>
          <p:nvPr>
            <p:ph type="title"/>
          </p:nvPr>
        </p:nvSpPr>
        <p:spPr>
          <a:xfrm>
            <a:off x="479425" y="597855"/>
            <a:ext cx="11229975" cy="1140459"/>
          </a:xfrm>
        </p:spPr>
        <p:txBody>
          <a:bodyPr/>
          <a:lstStyle/>
          <a:p>
            <a:r>
              <a:rPr lang="ru-RU"/>
              <a:t>Флойд–Уоршелл: разрешаем k = C</a:t>
            </a:r>
          </a:p>
        </p:txBody>
      </p:sp>
      <p:sp>
        <p:nvSpPr>
          <p:cNvPr id="7" name="Текст 6">
            <a:extLst>
              <a:ext uri="{FF2B5EF4-FFF2-40B4-BE49-F238E27FC236}">
                <a16:creationId xmlns:a16="http://schemas.microsoft.com/office/drawing/2014/main" id="{51D9D354-5AA0-4F8C-942A-96EC2F441F4E}"/>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graphicFrame>
        <p:nvGraphicFramePr>
          <p:cNvPr id="12" name="!!matrix">
            <a:extLst>
              <a:ext uri="{FF2B5EF4-FFF2-40B4-BE49-F238E27FC236}">
                <a16:creationId xmlns:a16="http://schemas.microsoft.com/office/drawing/2014/main" id="{09060006-5308-4DD6-B472-A7DCB637FF68}"/>
              </a:ext>
            </a:extLst>
          </p:cNvPr>
          <p:cNvGraphicFramePr>
            <a:graphicFrameLocks noGrp="1"/>
          </p:cNvGraphicFramePr>
          <p:nvPr>
            <p:extLst>
              <p:ext uri="{D42A27DB-BD31-4B8C-83A1-F6EECF244321}">
                <p14:modId xmlns:p14="http://schemas.microsoft.com/office/powerpoint/2010/main" val="871666066"/>
              </p:ext>
            </p:extLst>
          </p:nvPr>
        </p:nvGraphicFramePr>
        <p:xfrm>
          <a:off x="5397500" y="1993900"/>
          <a:ext cx="4191000" cy="3276600"/>
        </p:xfrm>
        <a:graphic>
          <a:graphicData uri="http://schemas.openxmlformats.org/drawingml/2006/table">
            <a:tbl>
              <a:tblPr firstRow="1" bandRow="1">
                <a:tableStyleId>{0E3FDE45-AF77-4B5C-9715-49D594BDF05E}</a:tableStyleId>
              </a:tblPr>
              <a:tblGrid>
                <a:gridCol w="838200">
                  <a:extLst>
                    <a:ext uri="{9D8B030D-6E8A-4147-A177-3AD203B41FA5}">
                      <a16:colId xmlns:a16="http://schemas.microsoft.com/office/drawing/2014/main" val="3429180520"/>
                    </a:ext>
                  </a:extLst>
                </a:gridCol>
                <a:gridCol w="838200">
                  <a:extLst>
                    <a:ext uri="{9D8B030D-6E8A-4147-A177-3AD203B41FA5}">
                      <a16:colId xmlns:a16="http://schemas.microsoft.com/office/drawing/2014/main" val="2289574767"/>
                    </a:ext>
                  </a:extLst>
                </a:gridCol>
                <a:gridCol w="838200">
                  <a:extLst>
                    <a:ext uri="{9D8B030D-6E8A-4147-A177-3AD203B41FA5}">
                      <a16:colId xmlns:a16="http://schemas.microsoft.com/office/drawing/2014/main" val="1208756643"/>
                    </a:ext>
                  </a:extLst>
                </a:gridCol>
                <a:gridCol w="838200">
                  <a:extLst>
                    <a:ext uri="{9D8B030D-6E8A-4147-A177-3AD203B41FA5}">
                      <a16:colId xmlns:a16="http://schemas.microsoft.com/office/drawing/2014/main" val="786728619"/>
                    </a:ext>
                  </a:extLst>
                </a:gridCol>
                <a:gridCol w="838200">
                  <a:extLst>
                    <a:ext uri="{9D8B030D-6E8A-4147-A177-3AD203B41FA5}">
                      <a16:colId xmlns:a16="http://schemas.microsoft.com/office/drawing/2014/main" val="4091156280"/>
                    </a:ext>
                  </a:extLst>
                </a:gridCol>
              </a:tblGrid>
              <a:tr h="655320">
                <a:tc>
                  <a:txBody>
                    <a:bodyPr/>
                    <a:lstStyle/>
                    <a:p>
                      <a:pPr algn="ctr"/>
                      <a:endParaRPr lang="ru-RU" sz="25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500" b="1">
                          <a:solidFill>
                            <a:srgbClr val="FFFFFF"/>
                          </a:solidFill>
                          <a:latin typeface="Montserrat"/>
                        </a:rPr>
                        <a:t>A</a:t>
                      </a:r>
                      <a:endParaRPr lang="ru-RU" sz="2500" b="1">
                        <a:solidFill>
                          <a:srgbClr val="FFFFFF"/>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500" b="1">
                          <a:solidFill>
                            <a:srgbClr val="FFFFFF"/>
                          </a:solidFill>
                          <a:latin typeface="Montserrat"/>
                        </a:rPr>
                        <a:t>B</a:t>
                      </a:r>
                      <a:endParaRPr lang="ru-RU" sz="2500" b="1">
                        <a:solidFill>
                          <a:srgbClr val="FFFFFF"/>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500" b="1">
                          <a:solidFill>
                            <a:srgbClr val="FFFFFF"/>
                          </a:solidFill>
                          <a:latin typeface="Montserrat"/>
                        </a:rPr>
                        <a:t>C</a:t>
                      </a:r>
                      <a:endParaRPr lang="ru-RU" sz="2500" b="1">
                        <a:solidFill>
                          <a:srgbClr val="FFFFFF"/>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500" b="1">
                          <a:solidFill>
                            <a:srgbClr val="FFFFFF"/>
                          </a:solidFill>
                          <a:latin typeface="Montserrat"/>
                        </a:rPr>
                        <a:t>D</a:t>
                      </a:r>
                      <a:endParaRPr lang="ru-RU" sz="25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2501842761"/>
                  </a:ext>
                </a:extLst>
              </a:tr>
              <a:tr h="655320">
                <a:tc>
                  <a:txBody>
                    <a:bodyPr/>
                    <a:lstStyle/>
                    <a:p>
                      <a:pPr algn="ctr"/>
                      <a:r>
                        <a:rPr lang="en-US" sz="2500" b="0">
                          <a:solidFill>
                            <a:srgbClr val="352379"/>
                          </a:solidFill>
                          <a:latin typeface="Montserrat"/>
                        </a:rPr>
                        <a:t>A</a:t>
                      </a:r>
                      <a:endParaRPr lang="ru-RU" sz="25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0</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3</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7</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1">
                          <a:solidFill>
                            <a:srgbClr val="352379"/>
                          </a:solidFill>
                          <a:latin typeface="Montserrat"/>
                        </a:rPr>
                        <a:t>9</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EDE9F5">
                        <a:alpha val="20000"/>
                      </a:srgbClr>
                    </a:solidFill>
                  </a:tcPr>
                </a:tc>
                <a:extLst>
                  <a:ext uri="{0D108BD9-81ED-4DB2-BD59-A6C34878D82A}">
                    <a16:rowId xmlns:a16="http://schemas.microsoft.com/office/drawing/2014/main" val="449228825"/>
                  </a:ext>
                </a:extLst>
              </a:tr>
              <a:tr h="655320">
                <a:tc>
                  <a:txBody>
                    <a:bodyPr/>
                    <a:lstStyle/>
                    <a:p>
                      <a:pPr algn="ctr"/>
                      <a:r>
                        <a:rPr lang="en-US" sz="2500" b="0">
                          <a:solidFill>
                            <a:srgbClr val="352379"/>
                          </a:solidFill>
                          <a:latin typeface="Montserrat"/>
                        </a:rPr>
                        <a:t>B</a:t>
                      </a:r>
                      <a:endParaRPr lang="ru-RU" sz="25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0</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4</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1">
                          <a:solidFill>
                            <a:srgbClr val="352379"/>
                          </a:solidFill>
                          <a:latin typeface="Montserrat"/>
                        </a:rPr>
                        <a:t>6</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EDE9F5"/>
                    </a:solidFill>
                  </a:tcPr>
                </a:tc>
                <a:extLst>
                  <a:ext uri="{0D108BD9-81ED-4DB2-BD59-A6C34878D82A}">
                    <a16:rowId xmlns:a16="http://schemas.microsoft.com/office/drawing/2014/main" val="2185670031"/>
                  </a:ext>
                </a:extLst>
              </a:tr>
              <a:tr h="655320">
                <a:tc>
                  <a:txBody>
                    <a:bodyPr/>
                    <a:lstStyle/>
                    <a:p>
                      <a:pPr algn="ctr"/>
                      <a:r>
                        <a:rPr lang="en-US" sz="2500" b="0">
                          <a:solidFill>
                            <a:srgbClr val="352379"/>
                          </a:solidFill>
                          <a:latin typeface="Montserrat"/>
                        </a:rPr>
                        <a:t>C</a:t>
                      </a:r>
                      <a:endParaRPr lang="ru-RU" sz="25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0</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2</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1391908046"/>
                  </a:ext>
                </a:extLst>
              </a:tr>
              <a:tr h="655320">
                <a:tc>
                  <a:txBody>
                    <a:bodyPr/>
                    <a:lstStyle/>
                    <a:p>
                      <a:pPr algn="ctr"/>
                      <a:r>
                        <a:rPr lang="en-US" sz="2500" b="0">
                          <a:solidFill>
                            <a:srgbClr val="352379"/>
                          </a:solidFill>
                          <a:latin typeface="Montserrat"/>
                        </a:rPr>
                        <a:t>D</a:t>
                      </a:r>
                      <a:endParaRPr lang="ru-RU" sz="25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1</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4</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8</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4129285120"/>
                  </a:ext>
                </a:extLst>
              </a:tr>
            </a:tbl>
          </a:graphicData>
        </a:graphic>
      </p:graphicFrame>
      <p:cxnSp>
        <p:nvCxnSpPr>
          <p:cNvPr id="13" name="!!fw-edge-AB">
            <a:extLst>
              <a:ext uri="{FF2B5EF4-FFF2-40B4-BE49-F238E27FC236}">
                <a16:creationId xmlns:a16="http://schemas.microsoft.com/office/drawing/2014/main" id="{58FD351F-2C6A-456D-86A7-BFA2B40FB39A}"/>
              </a:ext>
            </a:extLst>
          </p:cNvPr>
          <p:cNvCxnSpPr/>
          <p:nvPr/>
        </p:nvCxnSpPr>
        <p:spPr>
          <a:xfrm>
            <a:off x="1358900" y="2603500"/>
            <a:ext cx="2108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4" name="!!fw-weight-AB">
            <a:extLst>
              <a:ext uri="{FF2B5EF4-FFF2-40B4-BE49-F238E27FC236}">
                <a16:creationId xmlns:a16="http://schemas.microsoft.com/office/drawing/2014/main" id="{019073F3-3289-4285-BB05-186AB8FF1C9A}"/>
              </a:ext>
            </a:extLst>
          </p:cNvPr>
          <p:cNvSpPr txBox="1"/>
          <p:nvPr/>
        </p:nvSpPr>
        <p:spPr bwMode="auto">
          <a:xfrm>
            <a:off x="2159000" y="2755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5" name="!!fw-edge-BC">
            <a:extLst>
              <a:ext uri="{FF2B5EF4-FFF2-40B4-BE49-F238E27FC236}">
                <a16:creationId xmlns:a16="http://schemas.microsoft.com/office/drawing/2014/main" id="{C123DAB6-D726-4101-B3C0-72D66EB34670}"/>
              </a:ext>
            </a:extLst>
          </p:cNvPr>
          <p:cNvCxnSpPr/>
          <p:nvPr/>
        </p:nvCxnSpPr>
        <p:spPr>
          <a:xfrm>
            <a:off x="3810000" y="2946400"/>
            <a:ext cx="0" cy="160020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6" name="!!fw-weight-BC">
            <a:extLst>
              <a:ext uri="{FF2B5EF4-FFF2-40B4-BE49-F238E27FC236}">
                <a16:creationId xmlns:a16="http://schemas.microsoft.com/office/drawing/2014/main" id="{A1F120DC-3A70-4EA6-8E20-D1B61F5316F9}"/>
              </a:ext>
            </a:extLst>
          </p:cNvPr>
          <p:cNvSpPr txBox="1"/>
          <p:nvPr/>
        </p:nvSpPr>
        <p:spPr bwMode="auto">
          <a:xfrm>
            <a:off x="3200400" y="3543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17" name="!!fw-edge-AC">
            <a:extLst>
              <a:ext uri="{FF2B5EF4-FFF2-40B4-BE49-F238E27FC236}">
                <a16:creationId xmlns:a16="http://schemas.microsoft.com/office/drawing/2014/main" id="{8519AF20-CE13-46FC-BE07-1164127F3393}"/>
              </a:ext>
            </a:extLst>
          </p:cNvPr>
          <p:cNvCxnSpPr/>
          <p:nvPr/>
        </p:nvCxnSpPr>
        <p:spPr>
          <a:xfrm>
            <a:off x="1281390" y="2820637"/>
            <a:ext cx="2263220" cy="1851726"/>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8" name="!!fw-weight-AC">
            <a:extLst>
              <a:ext uri="{FF2B5EF4-FFF2-40B4-BE49-F238E27FC236}">
                <a16:creationId xmlns:a16="http://schemas.microsoft.com/office/drawing/2014/main" id="{D6898E2B-E95C-4E5C-844C-EDCAD7764218}"/>
              </a:ext>
            </a:extLst>
          </p:cNvPr>
          <p:cNvSpPr txBox="1"/>
          <p:nvPr/>
        </p:nvSpPr>
        <p:spPr bwMode="auto">
          <a:xfrm>
            <a:off x="1933821" y="3818518"/>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10</a:t>
            </a:r>
          </a:p>
        </p:txBody>
      </p:sp>
      <p:cxnSp>
        <p:nvCxnSpPr>
          <p:cNvPr id="19" name="!!fw-edge-CD">
            <a:extLst>
              <a:ext uri="{FF2B5EF4-FFF2-40B4-BE49-F238E27FC236}">
                <a16:creationId xmlns:a16="http://schemas.microsoft.com/office/drawing/2014/main" id="{FC079C0F-92AD-405E-95C0-F305EACE8431}"/>
              </a:ext>
            </a:extLst>
          </p:cNvPr>
          <p:cNvCxnSpPr/>
          <p:nvPr/>
        </p:nvCxnSpPr>
        <p:spPr>
          <a:xfrm flipH="1">
            <a:off x="1358900" y="4889500"/>
            <a:ext cx="2108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20" name="!!fw-weight-CD">
            <a:extLst>
              <a:ext uri="{FF2B5EF4-FFF2-40B4-BE49-F238E27FC236}">
                <a16:creationId xmlns:a16="http://schemas.microsoft.com/office/drawing/2014/main" id="{5CF328CB-9B67-472E-B097-E934820B5EF9}"/>
              </a:ext>
            </a:extLst>
          </p:cNvPr>
          <p:cNvSpPr txBox="1"/>
          <p:nvPr/>
        </p:nvSpPr>
        <p:spPr bwMode="auto">
          <a:xfrm>
            <a:off x="2159000" y="43306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21" name="!!fw-edge-DA">
            <a:extLst>
              <a:ext uri="{FF2B5EF4-FFF2-40B4-BE49-F238E27FC236}">
                <a16:creationId xmlns:a16="http://schemas.microsoft.com/office/drawing/2014/main" id="{78ADE1F7-F7E8-4797-BBD6-104A9FD5FDC1}"/>
              </a:ext>
            </a:extLst>
          </p:cNvPr>
          <p:cNvCxnSpPr/>
          <p:nvPr/>
        </p:nvCxnSpPr>
        <p:spPr>
          <a:xfrm flipV="1">
            <a:off x="1016000" y="2946400"/>
            <a:ext cx="0" cy="160020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22" name="!!fw-weight-DA">
            <a:extLst>
              <a:ext uri="{FF2B5EF4-FFF2-40B4-BE49-F238E27FC236}">
                <a16:creationId xmlns:a16="http://schemas.microsoft.com/office/drawing/2014/main" id="{E3EAF08A-9F52-4EBD-A68D-C38C15960613}"/>
              </a:ext>
            </a:extLst>
          </p:cNvPr>
          <p:cNvSpPr txBox="1"/>
          <p:nvPr/>
        </p:nvSpPr>
        <p:spPr bwMode="auto">
          <a:xfrm>
            <a:off x="406400" y="3543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sp>
        <p:nvSpPr>
          <p:cNvPr id="23" name="!!fw-node-A">
            <a:extLst>
              <a:ext uri="{FF2B5EF4-FFF2-40B4-BE49-F238E27FC236}">
                <a16:creationId xmlns:a16="http://schemas.microsoft.com/office/drawing/2014/main" id="{48DE360E-FDE2-4839-8814-55146DB4408A}"/>
              </a:ext>
            </a:extLst>
          </p:cNvPr>
          <p:cNvSpPr/>
          <p:nvPr/>
        </p:nvSpPr>
        <p:spPr>
          <a:xfrm>
            <a:off x="698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24" name="!!fw-node-B">
            <a:extLst>
              <a:ext uri="{FF2B5EF4-FFF2-40B4-BE49-F238E27FC236}">
                <a16:creationId xmlns:a16="http://schemas.microsoft.com/office/drawing/2014/main" id="{1FF3C1C1-0FE7-43CE-A872-07528806E515}"/>
              </a:ext>
            </a:extLst>
          </p:cNvPr>
          <p:cNvSpPr/>
          <p:nvPr/>
        </p:nvSpPr>
        <p:spPr>
          <a:xfrm>
            <a:off x="3492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25" name="!!fw-node-C">
            <a:extLst>
              <a:ext uri="{FF2B5EF4-FFF2-40B4-BE49-F238E27FC236}">
                <a16:creationId xmlns:a16="http://schemas.microsoft.com/office/drawing/2014/main" id="{F9032990-7FBD-4585-B9C7-AAFB26537EAE}"/>
              </a:ext>
            </a:extLst>
          </p:cNvPr>
          <p:cNvSpPr/>
          <p:nvPr/>
        </p:nvSpPr>
        <p:spPr>
          <a:xfrm>
            <a:off x="3492500" y="457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26" name="!!fw-node-D">
            <a:extLst>
              <a:ext uri="{FF2B5EF4-FFF2-40B4-BE49-F238E27FC236}">
                <a16:creationId xmlns:a16="http://schemas.microsoft.com/office/drawing/2014/main" id="{85FB85B9-F64D-450C-9218-EC382826454C}"/>
              </a:ext>
            </a:extLst>
          </p:cNvPr>
          <p:cNvSpPr/>
          <p:nvPr/>
        </p:nvSpPr>
        <p:spPr>
          <a:xfrm>
            <a:off x="698500" y="457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27" name="!!matrix-caption">
            <a:extLst>
              <a:ext uri="{FF2B5EF4-FFF2-40B4-BE49-F238E27FC236}">
                <a16:creationId xmlns:a16="http://schemas.microsoft.com/office/drawing/2014/main" id="{1D2BFBB3-4FEB-4C7A-B6FE-D9FD1A2516A7}"/>
              </a:ext>
            </a:extLst>
          </p:cNvPr>
          <p:cNvSpPr txBox="1"/>
          <p:nvPr/>
        </p:nvSpPr>
        <p:spPr bwMode="auto">
          <a:xfrm>
            <a:off x="5397500" y="1625599"/>
            <a:ext cx="5842000" cy="355600"/>
          </a:xfrm>
          <a:prstGeom prst="rect">
            <a:avLst/>
          </a:prstGeom>
        </p:spPr>
        <p:txBody>
          <a:bodyPr vert="horz" wrap="square" lIns="0" tIns="0" rIns="0" bIns="0" rtlCol="0">
            <a:noAutofit/>
          </a:bodyPr>
          <a:lstStyle/>
          <a:p>
            <a:r>
              <a:rPr lang="ru-RU" sz="2100">
                <a:solidFill>
                  <a:srgbClr val="352379"/>
                </a:solidFill>
                <a:latin typeface="Montserrat"/>
              </a:rPr>
              <a:t>После </a:t>
            </a:r>
            <a:r>
              <a:rPr lang="en-US" sz="2100">
                <a:solidFill>
                  <a:srgbClr val="352379"/>
                </a:solidFill>
                <a:latin typeface="Montserrat"/>
              </a:rPr>
              <a:t>k = C</a:t>
            </a:r>
            <a:endParaRPr lang="ru-RU" sz="2100">
              <a:solidFill>
                <a:srgbClr val="352379"/>
              </a:solidFill>
              <a:latin typeface="Montserrat"/>
            </a:endParaRPr>
          </a:p>
        </p:txBody>
      </p:sp>
      <p:sp>
        <p:nvSpPr>
          <p:cNvPr id="28" name="!!matrix-explanation">
            <a:extLst>
              <a:ext uri="{FF2B5EF4-FFF2-40B4-BE49-F238E27FC236}">
                <a16:creationId xmlns:a16="http://schemas.microsoft.com/office/drawing/2014/main" id="{96A1B3CC-1FA0-4BB6-8640-6A9789E9B6BB}"/>
              </a:ext>
            </a:extLst>
          </p:cNvPr>
          <p:cNvSpPr txBox="1"/>
          <p:nvPr/>
        </p:nvSpPr>
        <p:spPr bwMode="auto">
          <a:xfrm>
            <a:off x="9867900" y="1955799"/>
            <a:ext cx="1841500" cy="3784600"/>
          </a:xfrm>
          <a:prstGeom prst="rect">
            <a:avLst/>
          </a:prstGeom>
        </p:spPr>
        <p:txBody>
          <a:bodyPr vert="horz" wrap="square" lIns="0" tIns="0" rIns="0" bIns="0" rtlCol="0">
            <a:noAutofit/>
          </a:bodyPr>
          <a:lstStyle/>
          <a:p>
            <a:r>
              <a:rPr lang="en-US" sz="2000">
                <a:solidFill>
                  <a:srgbClr val="352379"/>
                </a:solidFill>
                <a:latin typeface="Montserrat"/>
              </a:rPr>
              <a:t>A→D: ∞ → 9</a:t>
            </a:r>
          </a:p>
          <a:p>
            <a:r>
              <a:rPr lang="en-US" sz="2000">
                <a:solidFill>
                  <a:srgbClr val="352379"/>
                </a:solidFill>
                <a:latin typeface="Montserrat"/>
              </a:rPr>
              <a:t>B→D: ∞ → 6</a:t>
            </a:r>
            <a:endParaRPr lang="ru-RU" sz="2000">
              <a:solidFill>
                <a:srgbClr val="352379"/>
              </a:solidFill>
              <a:latin typeface="Montserrat"/>
            </a:endParaRPr>
          </a:p>
        </p:txBody>
      </p:sp>
      <p:sp>
        <p:nvSpPr>
          <p:cNvPr id="8" name="lecture-footer">
            <a:extLst>
              <a:ext uri="{FF2B5EF4-FFF2-40B4-BE49-F238E27FC236}">
                <a16:creationId xmlns:a16="http://schemas.microsoft.com/office/drawing/2014/main" id="{05E34168-D0CD-4BCF-B802-C01BF89487F9}"/>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7B6686A1-3804-43E7-B607-69684AFC7D20}"/>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55</a:t>
            </a:r>
          </a:p>
        </p:txBody>
      </p:sp>
      <p:sp>
        <p:nvSpPr>
          <p:cNvPr id="10" name="bottom-band">
            <a:extLst>
              <a:ext uri="{FF2B5EF4-FFF2-40B4-BE49-F238E27FC236}">
                <a16:creationId xmlns:a16="http://schemas.microsoft.com/office/drawing/2014/main" id="{AB43387C-D299-47B1-ABB1-E0D3758956B8}"/>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4A9D5174-93C1-4E24-BC63-CEA7C721B3F0}"/>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Выделены только ячейки, улучшенные на текущем этапе</a:t>
            </a:r>
          </a:p>
        </p:txBody>
      </p:sp>
    </p:spTree>
    <p:extLst>
      <p:ext uri="{BB962C8B-B14F-4D97-AF65-F5344CB8AC3E}">
        <p14:creationId xmlns:p14="http://schemas.microsoft.com/office/powerpoint/2010/main" val="1809060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55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40255B-C165-4AE9-83C0-9A79B4566E61}"/>
              </a:ext>
            </a:extLst>
          </p:cNvPr>
          <p:cNvSpPr>
            <a:spLocks noGrp="1"/>
          </p:cNvSpPr>
          <p:nvPr>
            <p:ph type="title"/>
          </p:nvPr>
        </p:nvSpPr>
        <p:spPr>
          <a:xfrm>
            <a:off x="479425" y="597855"/>
            <a:ext cx="11229975" cy="1140459"/>
          </a:xfrm>
        </p:spPr>
        <p:txBody>
          <a:bodyPr/>
          <a:lstStyle/>
          <a:p>
            <a:r>
              <a:rPr lang="ru-RU"/>
              <a:t>Флойд–Уоршелл: разрешаем k = D</a:t>
            </a:r>
          </a:p>
        </p:txBody>
      </p:sp>
      <p:sp>
        <p:nvSpPr>
          <p:cNvPr id="7" name="Текст 6">
            <a:extLst>
              <a:ext uri="{FF2B5EF4-FFF2-40B4-BE49-F238E27FC236}">
                <a16:creationId xmlns:a16="http://schemas.microsoft.com/office/drawing/2014/main" id="{51D9D354-5AA0-4F8C-942A-96EC2F441F4E}"/>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graphicFrame>
        <p:nvGraphicFramePr>
          <p:cNvPr id="12" name="!!matrix">
            <a:extLst>
              <a:ext uri="{FF2B5EF4-FFF2-40B4-BE49-F238E27FC236}">
                <a16:creationId xmlns:a16="http://schemas.microsoft.com/office/drawing/2014/main" id="{09060006-5308-4DD6-B472-A7DCB637FF68}"/>
              </a:ext>
            </a:extLst>
          </p:cNvPr>
          <p:cNvGraphicFramePr>
            <a:graphicFrameLocks noGrp="1"/>
          </p:cNvGraphicFramePr>
          <p:nvPr>
            <p:extLst>
              <p:ext uri="{D42A27DB-BD31-4B8C-83A1-F6EECF244321}">
                <p14:modId xmlns:p14="http://schemas.microsoft.com/office/powerpoint/2010/main" val="2595294136"/>
              </p:ext>
            </p:extLst>
          </p:nvPr>
        </p:nvGraphicFramePr>
        <p:xfrm>
          <a:off x="5397500" y="1993900"/>
          <a:ext cx="4191000" cy="3276600"/>
        </p:xfrm>
        <a:graphic>
          <a:graphicData uri="http://schemas.openxmlformats.org/drawingml/2006/table">
            <a:tbl>
              <a:tblPr firstRow="1" bandRow="1">
                <a:tableStyleId>{0E3FDE45-AF77-4B5C-9715-49D594BDF05E}</a:tableStyleId>
              </a:tblPr>
              <a:tblGrid>
                <a:gridCol w="838200">
                  <a:extLst>
                    <a:ext uri="{9D8B030D-6E8A-4147-A177-3AD203B41FA5}">
                      <a16:colId xmlns:a16="http://schemas.microsoft.com/office/drawing/2014/main" val="3429180520"/>
                    </a:ext>
                  </a:extLst>
                </a:gridCol>
                <a:gridCol w="838200">
                  <a:extLst>
                    <a:ext uri="{9D8B030D-6E8A-4147-A177-3AD203B41FA5}">
                      <a16:colId xmlns:a16="http://schemas.microsoft.com/office/drawing/2014/main" val="2289574767"/>
                    </a:ext>
                  </a:extLst>
                </a:gridCol>
                <a:gridCol w="838200">
                  <a:extLst>
                    <a:ext uri="{9D8B030D-6E8A-4147-A177-3AD203B41FA5}">
                      <a16:colId xmlns:a16="http://schemas.microsoft.com/office/drawing/2014/main" val="1208756643"/>
                    </a:ext>
                  </a:extLst>
                </a:gridCol>
                <a:gridCol w="838200">
                  <a:extLst>
                    <a:ext uri="{9D8B030D-6E8A-4147-A177-3AD203B41FA5}">
                      <a16:colId xmlns:a16="http://schemas.microsoft.com/office/drawing/2014/main" val="786728619"/>
                    </a:ext>
                  </a:extLst>
                </a:gridCol>
                <a:gridCol w="838200">
                  <a:extLst>
                    <a:ext uri="{9D8B030D-6E8A-4147-A177-3AD203B41FA5}">
                      <a16:colId xmlns:a16="http://schemas.microsoft.com/office/drawing/2014/main" val="4091156280"/>
                    </a:ext>
                  </a:extLst>
                </a:gridCol>
              </a:tblGrid>
              <a:tr h="655320">
                <a:tc>
                  <a:txBody>
                    <a:bodyPr/>
                    <a:lstStyle/>
                    <a:p>
                      <a:pPr algn="ctr"/>
                      <a:endParaRPr lang="ru-RU" sz="2500" b="1">
                        <a:solidFill>
                          <a:srgbClr val="FFFFFF"/>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500" b="1">
                          <a:solidFill>
                            <a:srgbClr val="FFFFFF"/>
                          </a:solidFill>
                          <a:latin typeface="Montserrat"/>
                        </a:rPr>
                        <a:t>A</a:t>
                      </a:r>
                      <a:endParaRPr lang="ru-RU" sz="2500" b="1">
                        <a:solidFill>
                          <a:srgbClr val="FFFFFF"/>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500" b="1">
                          <a:solidFill>
                            <a:srgbClr val="FFFFFF"/>
                          </a:solidFill>
                          <a:latin typeface="Montserrat"/>
                        </a:rPr>
                        <a:t>B</a:t>
                      </a:r>
                      <a:endParaRPr lang="ru-RU" sz="2500" b="1">
                        <a:solidFill>
                          <a:srgbClr val="FFFFFF"/>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500" b="1">
                          <a:solidFill>
                            <a:srgbClr val="FFFFFF"/>
                          </a:solidFill>
                          <a:latin typeface="Montserrat"/>
                        </a:rPr>
                        <a:t>C</a:t>
                      </a:r>
                      <a:endParaRPr lang="ru-RU" sz="2500" b="1">
                        <a:solidFill>
                          <a:srgbClr val="FFFFFF"/>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en-US" sz="2500" b="1">
                          <a:solidFill>
                            <a:srgbClr val="FFFFFF"/>
                          </a:solidFill>
                          <a:latin typeface="Montserrat"/>
                        </a:rPr>
                        <a:t>D</a:t>
                      </a:r>
                      <a:endParaRPr lang="ru-RU" sz="2500" b="1">
                        <a:solidFill>
                          <a:srgbClr val="FFFFFF"/>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2501842761"/>
                  </a:ext>
                </a:extLst>
              </a:tr>
              <a:tr h="655320">
                <a:tc>
                  <a:txBody>
                    <a:bodyPr/>
                    <a:lstStyle/>
                    <a:p>
                      <a:pPr algn="ctr"/>
                      <a:r>
                        <a:rPr lang="en-US" sz="2500" b="0">
                          <a:solidFill>
                            <a:srgbClr val="352379"/>
                          </a:solidFill>
                          <a:latin typeface="Montserrat"/>
                        </a:rPr>
                        <a:t>A</a:t>
                      </a:r>
                      <a:endParaRPr lang="ru-RU" sz="25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0</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3</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7</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9</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449228825"/>
                  </a:ext>
                </a:extLst>
              </a:tr>
              <a:tr h="655320">
                <a:tc>
                  <a:txBody>
                    <a:bodyPr/>
                    <a:lstStyle/>
                    <a:p>
                      <a:pPr algn="ctr"/>
                      <a:r>
                        <a:rPr lang="en-US" sz="2500" b="0">
                          <a:solidFill>
                            <a:srgbClr val="352379"/>
                          </a:solidFill>
                          <a:latin typeface="Montserrat"/>
                        </a:rPr>
                        <a:t>B</a:t>
                      </a:r>
                      <a:endParaRPr lang="ru-RU" sz="25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1">
                          <a:solidFill>
                            <a:srgbClr val="352379"/>
                          </a:solidFill>
                          <a:latin typeface="Montserrat"/>
                        </a:rPr>
                        <a:t>7</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EDE9F5"/>
                    </a:solidFill>
                  </a:tcPr>
                </a:tc>
                <a:tc>
                  <a:txBody>
                    <a:bodyPr/>
                    <a:lstStyle/>
                    <a:p>
                      <a:pPr algn="ctr"/>
                      <a:r>
                        <a:rPr lang="ru-RU" sz="2500" b="0">
                          <a:solidFill>
                            <a:srgbClr val="352379"/>
                          </a:solidFill>
                          <a:latin typeface="Montserrat"/>
                        </a:rPr>
                        <a:t>0</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4</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6</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2185670031"/>
                  </a:ext>
                </a:extLst>
              </a:tr>
              <a:tr h="655320">
                <a:tc>
                  <a:txBody>
                    <a:bodyPr/>
                    <a:lstStyle/>
                    <a:p>
                      <a:pPr algn="ctr"/>
                      <a:r>
                        <a:rPr lang="en-US" sz="2500" b="0">
                          <a:solidFill>
                            <a:srgbClr val="352379"/>
                          </a:solidFill>
                          <a:latin typeface="Montserrat"/>
                        </a:rPr>
                        <a:t>C</a:t>
                      </a:r>
                      <a:endParaRPr lang="ru-RU" sz="25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1">
                          <a:solidFill>
                            <a:srgbClr val="352379"/>
                          </a:solidFill>
                          <a:latin typeface="Montserrat"/>
                        </a:rPr>
                        <a:t>3</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EDE9F5">
                        <a:alpha val="20000"/>
                      </a:srgbClr>
                    </a:solidFill>
                  </a:tcPr>
                </a:tc>
                <a:tc>
                  <a:txBody>
                    <a:bodyPr/>
                    <a:lstStyle/>
                    <a:p>
                      <a:pPr algn="ctr"/>
                      <a:r>
                        <a:rPr lang="ru-RU" sz="2500" b="1">
                          <a:solidFill>
                            <a:srgbClr val="352379"/>
                          </a:solidFill>
                          <a:latin typeface="Montserrat"/>
                        </a:rPr>
                        <a:t>6</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EDE9F5">
                        <a:alpha val="20000"/>
                      </a:srgbClr>
                    </a:solidFill>
                  </a:tcPr>
                </a:tc>
                <a:tc>
                  <a:txBody>
                    <a:bodyPr/>
                    <a:lstStyle/>
                    <a:p>
                      <a:pPr algn="ctr"/>
                      <a:r>
                        <a:rPr lang="ru-RU" sz="2500" b="0">
                          <a:solidFill>
                            <a:srgbClr val="352379"/>
                          </a:solidFill>
                          <a:latin typeface="Montserrat"/>
                        </a:rPr>
                        <a:t>0</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2500" b="0">
                          <a:solidFill>
                            <a:srgbClr val="352379"/>
                          </a:solidFill>
                          <a:latin typeface="Montserrat"/>
                        </a:rPr>
                        <a:t>2</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1391908046"/>
                  </a:ext>
                </a:extLst>
              </a:tr>
              <a:tr h="655320">
                <a:tc>
                  <a:txBody>
                    <a:bodyPr/>
                    <a:lstStyle/>
                    <a:p>
                      <a:pPr algn="ctr"/>
                      <a:r>
                        <a:rPr lang="en-US" sz="2500" b="0">
                          <a:solidFill>
                            <a:srgbClr val="352379"/>
                          </a:solidFill>
                          <a:latin typeface="Montserrat"/>
                        </a:rPr>
                        <a:t>D</a:t>
                      </a:r>
                      <a:endParaRPr lang="ru-RU" sz="25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1</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4</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8</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2500" b="0">
                          <a:solidFill>
                            <a:srgbClr val="352379"/>
                          </a:solidFill>
                          <a:latin typeface="Montserrat"/>
                        </a:rPr>
                        <a:t>0</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4129285120"/>
                  </a:ext>
                </a:extLst>
              </a:tr>
            </a:tbl>
          </a:graphicData>
        </a:graphic>
      </p:graphicFrame>
      <p:cxnSp>
        <p:nvCxnSpPr>
          <p:cNvPr id="13" name="!!fw-edge-AB">
            <a:extLst>
              <a:ext uri="{FF2B5EF4-FFF2-40B4-BE49-F238E27FC236}">
                <a16:creationId xmlns:a16="http://schemas.microsoft.com/office/drawing/2014/main" id="{58FD351F-2C6A-456D-86A7-BFA2B40FB39A}"/>
              </a:ext>
            </a:extLst>
          </p:cNvPr>
          <p:cNvCxnSpPr/>
          <p:nvPr/>
        </p:nvCxnSpPr>
        <p:spPr>
          <a:xfrm>
            <a:off x="1358900" y="2603500"/>
            <a:ext cx="2108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4" name="!!fw-weight-AB">
            <a:extLst>
              <a:ext uri="{FF2B5EF4-FFF2-40B4-BE49-F238E27FC236}">
                <a16:creationId xmlns:a16="http://schemas.microsoft.com/office/drawing/2014/main" id="{019073F3-3289-4285-BB05-186AB8FF1C9A}"/>
              </a:ext>
            </a:extLst>
          </p:cNvPr>
          <p:cNvSpPr txBox="1"/>
          <p:nvPr/>
        </p:nvSpPr>
        <p:spPr bwMode="auto">
          <a:xfrm>
            <a:off x="2159000" y="2755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5" name="!!fw-edge-BC">
            <a:extLst>
              <a:ext uri="{FF2B5EF4-FFF2-40B4-BE49-F238E27FC236}">
                <a16:creationId xmlns:a16="http://schemas.microsoft.com/office/drawing/2014/main" id="{C123DAB6-D726-4101-B3C0-72D66EB34670}"/>
              </a:ext>
            </a:extLst>
          </p:cNvPr>
          <p:cNvCxnSpPr/>
          <p:nvPr/>
        </p:nvCxnSpPr>
        <p:spPr>
          <a:xfrm>
            <a:off x="3810000" y="2946400"/>
            <a:ext cx="0" cy="160020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6" name="!!fw-weight-BC">
            <a:extLst>
              <a:ext uri="{FF2B5EF4-FFF2-40B4-BE49-F238E27FC236}">
                <a16:creationId xmlns:a16="http://schemas.microsoft.com/office/drawing/2014/main" id="{A1F120DC-3A70-4EA6-8E20-D1B61F5316F9}"/>
              </a:ext>
            </a:extLst>
          </p:cNvPr>
          <p:cNvSpPr txBox="1"/>
          <p:nvPr/>
        </p:nvSpPr>
        <p:spPr bwMode="auto">
          <a:xfrm>
            <a:off x="3200400" y="3543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17" name="!!fw-edge-AC">
            <a:extLst>
              <a:ext uri="{FF2B5EF4-FFF2-40B4-BE49-F238E27FC236}">
                <a16:creationId xmlns:a16="http://schemas.microsoft.com/office/drawing/2014/main" id="{8519AF20-CE13-46FC-BE07-1164127F3393}"/>
              </a:ext>
            </a:extLst>
          </p:cNvPr>
          <p:cNvCxnSpPr/>
          <p:nvPr/>
        </p:nvCxnSpPr>
        <p:spPr>
          <a:xfrm>
            <a:off x="1281390" y="2820637"/>
            <a:ext cx="2263220" cy="1851726"/>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18" name="!!fw-weight-AC">
            <a:extLst>
              <a:ext uri="{FF2B5EF4-FFF2-40B4-BE49-F238E27FC236}">
                <a16:creationId xmlns:a16="http://schemas.microsoft.com/office/drawing/2014/main" id="{D6898E2B-E95C-4E5C-844C-EDCAD7764218}"/>
              </a:ext>
            </a:extLst>
          </p:cNvPr>
          <p:cNvSpPr txBox="1"/>
          <p:nvPr/>
        </p:nvSpPr>
        <p:spPr bwMode="auto">
          <a:xfrm>
            <a:off x="1933821" y="3818518"/>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10</a:t>
            </a:r>
          </a:p>
        </p:txBody>
      </p:sp>
      <p:cxnSp>
        <p:nvCxnSpPr>
          <p:cNvPr id="19" name="!!fw-edge-CD">
            <a:extLst>
              <a:ext uri="{FF2B5EF4-FFF2-40B4-BE49-F238E27FC236}">
                <a16:creationId xmlns:a16="http://schemas.microsoft.com/office/drawing/2014/main" id="{FC079C0F-92AD-405E-95C0-F305EACE8431}"/>
              </a:ext>
            </a:extLst>
          </p:cNvPr>
          <p:cNvCxnSpPr/>
          <p:nvPr/>
        </p:nvCxnSpPr>
        <p:spPr>
          <a:xfrm flipH="1">
            <a:off x="1358900" y="4889500"/>
            <a:ext cx="2108200" cy="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20" name="!!fw-weight-CD">
            <a:extLst>
              <a:ext uri="{FF2B5EF4-FFF2-40B4-BE49-F238E27FC236}">
                <a16:creationId xmlns:a16="http://schemas.microsoft.com/office/drawing/2014/main" id="{5CF328CB-9B67-472E-B097-E934820B5EF9}"/>
              </a:ext>
            </a:extLst>
          </p:cNvPr>
          <p:cNvSpPr txBox="1"/>
          <p:nvPr/>
        </p:nvSpPr>
        <p:spPr bwMode="auto">
          <a:xfrm>
            <a:off x="2159000" y="43306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21" name="!!fw-edge-DA">
            <a:extLst>
              <a:ext uri="{FF2B5EF4-FFF2-40B4-BE49-F238E27FC236}">
                <a16:creationId xmlns:a16="http://schemas.microsoft.com/office/drawing/2014/main" id="{78ADE1F7-F7E8-4797-BBD6-104A9FD5FDC1}"/>
              </a:ext>
            </a:extLst>
          </p:cNvPr>
          <p:cNvCxnSpPr/>
          <p:nvPr/>
        </p:nvCxnSpPr>
        <p:spPr>
          <a:xfrm flipV="1">
            <a:off x="1016000" y="2946400"/>
            <a:ext cx="0" cy="1600200"/>
          </a:xfrm>
          <a:prstGeom prst="straightConnector1">
            <a:avLst/>
          </a:prstGeom>
          <a:ln w="1778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22" name="!!fw-weight-DA">
            <a:extLst>
              <a:ext uri="{FF2B5EF4-FFF2-40B4-BE49-F238E27FC236}">
                <a16:creationId xmlns:a16="http://schemas.microsoft.com/office/drawing/2014/main" id="{E3EAF08A-9F52-4EBD-A68D-C38C15960613}"/>
              </a:ext>
            </a:extLst>
          </p:cNvPr>
          <p:cNvSpPr txBox="1"/>
          <p:nvPr/>
        </p:nvSpPr>
        <p:spPr bwMode="auto">
          <a:xfrm>
            <a:off x="406400" y="3543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sp>
        <p:nvSpPr>
          <p:cNvPr id="23" name="!!fw-node-A">
            <a:extLst>
              <a:ext uri="{FF2B5EF4-FFF2-40B4-BE49-F238E27FC236}">
                <a16:creationId xmlns:a16="http://schemas.microsoft.com/office/drawing/2014/main" id="{48DE360E-FDE2-4839-8814-55146DB4408A}"/>
              </a:ext>
            </a:extLst>
          </p:cNvPr>
          <p:cNvSpPr/>
          <p:nvPr/>
        </p:nvSpPr>
        <p:spPr>
          <a:xfrm>
            <a:off x="698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24" name="!!fw-node-B">
            <a:extLst>
              <a:ext uri="{FF2B5EF4-FFF2-40B4-BE49-F238E27FC236}">
                <a16:creationId xmlns:a16="http://schemas.microsoft.com/office/drawing/2014/main" id="{1FF3C1C1-0FE7-43CE-A872-07528806E515}"/>
              </a:ext>
            </a:extLst>
          </p:cNvPr>
          <p:cNvSpPr/>
          <p:nvPr/>
        </p:nvSpPr>
        <p:spPr>
          <a:xfrm>
            <a:off x="3492500" y="2286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25" name="!!fw-node-C">
            <a:extLst>
              <a:ext uri="{FF2B5EF4-FFF2-40B4-BE49-F238E27FC236}">
                <a16:creationId xmlns:a16="http://schemas.microsoft.com/office/drawing/2014/main" id="{F9032990-7FBD-4585-B9C7-AAFB26537EAE}"/>
              </a:ext>
            </a:extLst>
          </p:cNvPr>
          <p:cNvSpPr/>
          <p:nvPr/>
        </p:nvSpPr>
        <p:spPr>
          <a:xfrm>
            <a:off x="3492500" y="457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26" name="!!fw-node-D">
            <a:extLst>
              <a:ext uri="{FF2B5EF4-FFF2-40B4-BE49-F238E27FC236}">
                <a16:creationId xmlns:a16="http://schemas.microsoft.com/office/drawing/2014/main" id="{85FB85B9-F64D-450C-9218-EC382826454C}"/>
              </a:ext>
            </a:extLst>
          </p:cNvPr>
          <p:cNvSpPr/>
          <p:nvPr/>
        </p:nvSpPr>
        <p:spPr>
          <a:xfrm>
            <a:off x="698500" y="4572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27" name="!!matrix-caption">
            <a:extLst>
              <a:ext uri="{FF2B5EF4-FFF2-40B4-BE49-F238E27FC236}">
                <a16:creationId xmlns:a16="http://schemas.microsoft.com/office/drawing/2014/main" id="{1D2BFBB3-4FEB-4C7A-B6FE-D9FD1A2516A7}"/>
              </a:ext>
            </a:extLst>
          </p:cNvPr>
          <p:cNvSpPr txBox="1"/>
          <p:nvPr/>
        </p:nvSpPr>
        <p:spPr bwMode="auto">
          <a:xfrm>
            <a:off x="5397500" y="1625599"/>
            <a:ext cx="5842000" cy="355600"/>
          </a:xfrm>
          <a:prstGeom prst="rect">
            <a:avLst/>
          </a:prstGeom>
        </p:spPr>
        <p:txBody>
          <a:bodyPr vert="horz" wrap="square" lIns="0" tIns="0" rIns="0" bIns="0" rtlCol="0">
            <a:noAutofit/>
          </a:bodyPr>
          <a:lstStyle/>
          <a:p>
            <a:r>
              <a:rPr lang="ru-RU" sz="2100">
                <a:solidFill>
                  <a:srgbClr val="352379"/>
                </a:solidFill>
                <a:latin typeface="Montserrat"/>
              </a:rPr>
              <a:t>После </a:t>
            </a:r>
            <a:r>
              <a:rPr lang="en-US" sz="2100">
                <a:solidFill>
                  <a:srgbClr val="352379"/>
                </a:solidFill>
                <a:latin typeface="Montserrat"/>
              </a:rPr>
              <a:t>k = D</a:t>
            </a:r>
            <a:endParaRPr lang="ru-RU" sz="2100">
              <a:solidFill>
                <a:srgbClr val="352379"/>
              </a:solidFill>
              <a:latin typeface="Montserrat"/>
            </a:endParaRPr>
          </a:p>
        </p:txBody>
      </p:sp>
      <p:sp>
        <p:nvSpPr>
          <p:cNvPr id="28" name="!!matrix-explanation">
            <a:extLst>
              <a:ext uri="{FF2B5EF4-FFF2-40B4-BE49-F238E27FC236}">
                <a16:creationId xmlns:a16="http://schemas.microsoft.com/office/drawing/2014/main" id="{96A1B3CC-1FA0-4BB6-8640-6A9789E9B6BB}"/>
              </a:ext>
            </a:extLst>
          </p:cNvPr>
          <p:cNvSpPr txBox="1"/>
          <p:nvPr/>
        </p:nvSpPr>
        <p:spPr bwMode="auto">
          <a:xfrm>
            <a:off x="9867900" y="1955799"/>
            <a:ext cx="1841500" cy="3784600"/>
          </a:xfrm>
          <a:prstGeom prst="rect">
            <a:avLst/>
          </a:prstGeom>
        </p:spPr>
        <p:txBody>
          <a:bodyPr vert="horz" wrap="square" lIns="0" tIns="0" rIns="0" bIns="0" rtlCol="0">
            <a:noAutofit/>
          </a:bodyPr>
          <a:lstStyle/>
          <a:p>
            <a:r>
              <a:rPr lang="en-US" sz="2000">
                <a:solidFill>
                  <a:srgbClr val="352379"/>
                </a:solidFill>
                <a:latin typeface="Montserrat"/>
              </a:rPr>
              <a:t>B→A: ∞ → 7</a:t>
            </a:r>
          </a:p>
          <a:p>
            <a:r>
              <a:rPr lang="en-US" sz="2000">
                <a:solidFill>
                  <a:srgbClr val="352379"/>
                </a:solidFill>
                <a:latin typeface="Montserrat"/>
              </a:rPr>
              <a:t>C→A: ∞ → 3</a:t>
            </a:r>
          </a:p>
          <a:p>
            <a:r>
              <a:rPr lang="en-US" sz="2000">
                <a:solidFill>
                  <a:srgbClr val="352379"/>
                </a:solidFill>
                <a:latin typeface="Montserrat"/>
              </a:rPr>
              <a:t>C→B: ∞ → 6</a:t>
            </a:r>
            <a:endParaRPr lang="ru-RU" sz="2000">
              <a:solidFill>
                <a:srgbClr val="352379"/>
              </a:solidFill>
              <a:latin typeface="Montserrat"/>
            </a:endParaRPr>
          </a:p>
        </p:txBody>
      </p:sp>
      <p:sp>
        <p:nvSpPr>
          <p:cNvPr id="3" name="lecture-footer">
            <a:extLst>
              <a:ext uri="{FF2B5EF4-FFF2-40B4-BE49-F238E27FC236}">
                <a16:creationId xmlns:a16="http://schemas.microsoft.com/office/drawing/2014/main" id="{142500FC-25FC-48A9-A2FB-F45D00375ACC}"/>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4" name="slide-number">
            <a:extLst>
              <a:ext uri="{FF2B5EF4-FFF2-40B4-BE49-F238E27FC236}">
                <a16:creationId xmlns:a16="http://schemas.microsoft.com/office/drawing/2014/main" id="{03A62F48-26A2-4F85-B66C-FCCE5E5C1EFA}"/>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56</a:t>
            </a:r>
          </a:p>
        </p:txBody>
      </p:sp>
      <p:sp>
        <p:nvSpPr>
          <p:cNvPr id="5" name="bottom-band">
            <a:extLst>
              <a:ext uri="{FF2B5EF4-FFF2-40B4-BE49-F238E27FC236}">
                <a16:creationId xmlns:a16="http://schemas.microsoft.com/office/drawing/2014/main" id="{CE08412B-2EEA-44B4-B398-C7D2D24C45B7}"/>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bottom-message">
            <a:extLst>
              <a:ext uri="{FF2B5EF4-FFF2-40B4-BE49-F238E27FC236}">
                <a16:creationId xmlns:a16="http://schemas.microsoft.com/office/drawing/2014/main" id="{C5BCDF46-E626-4189-B824-8BC7CD562ED4}"/>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Выделены только ячейки, улучшенные на текущем этапе</a:t>
            </a:r>
          </a:p>
        </p:txBody>
      </p:sp>
    </p:spTree>
    <p:extLst>
      <p:ext uri="{BB962C8B-B14F-4D97-AF65-F5344CB8AC3E}">
        <p14:creationId xmlns:p14="http://schemas.microsoft.com/office/powerpoint/2010/main" val="11453889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55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F4D6D9E-8492-4D5D-BE96-79F4C0261554}"/>
              </a:ext>
            </a:extLst>
          </p:cNvPr>
          <p:cNvSpPr>
            <a:spLocks noGrp="1"/>
          </p:cNvSpPr>
          <p:nvPr>
            <p:ph type="title"/>
          </p:nvPr>
        </p:nvSpPr>
        <p:spPr>
          <a:xfrm>
            <a:off x="479425" y="597855"/>
            <a:ext cx="11229975" cy="1140459"/>
          </a:xfrm>
        </p:spPr>
        <p:txBody>
          <a:bodyPr/>
          <a:lstStyle/>
          <a:p>
            <a:r>
              <a:rPr lang="en-US"/>
              <a:t>Python: </a:t>
            </a:r>
            <a:r>
              <a:rPr lang="ru-RU"/>
              <a:t>Флойд–Уоршелл</a:t>
            </a:r>
          </a:p>
        </p:txBody>
      </p:sp>
      <p:sp>
        <p:nvSpPr>
          <p:cNvPr id="7" name="Текст 6">
            <a:extLst>
              <a:ext uri="{FF2B5EF4-FFF2-40B4-BE49-F238E27FC236}">
                <a16:creationId xmlns:a16="http://schemas.microsoft.com/office/drawing/2014/main" id="{454432A1-7C19-40C6-93AA-782060A3A22B}"/>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468E5183-1696-4F8A-BC33-BC9FBC107102}"/>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C4C857A9-CA99-414E-B6CD-7310D194CE1E}"/>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57</a:t>
            </a:r>
          </a:p>
        </p:txBody>
      </p:sp>
      <p:sp>
        <p:nvSpPr>
          <p:cNvPr id="10" name="bottom-band">
            <a:extLst>
              <a:ext uri="{FF2B5EF4-FFF2-40B4-BE49-F238E27FC236}">
                <a16:creationId xmlns:a16="http://schemas.microsoft.com/office/drawing/2014/main" id="{501DBC7B-4475-43FB-AE6D-A2A88AAF350F}"/>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EFDE90BA-2A06-4A74-8C82-581683A54CB7}"/>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100 вершин: 10⁶ проверок. 1000 вершин: 10⁹ проверок.</a:t>
            </a:r>
          </a:p>
        </p:txBody>
      </p:sp>
      <p:sp>
        <p:nvSpPr>
          <p:cNvPr id="12" name="code-background">
            <a:extLst>
              <a:ext uri="{FF2B5EF4-FFF2-40B4-BE49-F238E27FC236}">
                <a16:creationId xmlns:a16="http://schemas.microsoft.com/office/drawing/2014/main" id="{EF1AF724-E0C3-4B31-A012-B6FFBF44A148}"/>
              </a:ext>
            </a:extLst>
          </p:cNvPr>
          <p:cNvSpPr/>
          <p:nvPr/>
        </p:nvSpPr>
        <p:spPr>
          <a:xfrm>
            <a:off x="609600" y="1676400"/>
            <a:ext cx="7937500" cy="40259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code-listing">
            <a:extLst>
              <a:ext uri="{FF2B5EF4-FFF2-40B4-BE49-F238E27FC236}">
                <a16:creationId xmlns:a16="http://schemas.microsoft.com/office/drawing/2014/main" id="{2B7B42FE-D49A-4746-83F7-A66243335380}"/>
              </a:ext>
            </a:extLst>
          </p:cNvPr>
          <p:cNvSpPr txBox="1"/>
          <p:nvPr/>
        </p:nvSpPr>
        <p:spPr bwMode="auto">
          <a:xfrm>
            <a:off x="812800" y="1854199"/>
            <a:ext cx="7581900" cy="3746500"/>
          </a:xfrm>
          <a:prstGeom prst="rect">
            <a:avLst/>
          </a:prstGeom>
        </p:spPr>
        <p:txBody>
          <a:bodyPr vert="horz" wrap="square" lIns="0" tIns="0" rIns="0" bIns="0" rtlCol="0">
            <a:noAutofit/>
          </a:bodyPr>
          <a:lstStyle/>
          <a:p>
            <a:pPr>
              <a:lnSpc>
                <a:spcPts val="2500"/>
              </a:lnSpc>
            </a:pPr>
            <a:r>
              <a:rPr lang="en-US" sz="2000">
                <a:solidFill>
                  <a:srgbClr val="352379"/>
                </a:solidFill>
                <a:latin typeface="Montserrat"/>
              </a:rPr>
              <a:t>def floyd_warshall(matrix):</a:t>
            </a:r>
          </a:p>
          <a:p>
            <a:pPr>
              <a:lnSpc>
                <a:spcPts val="2500"/>
              </a:lnSpc>
            </a:pPr>
            <a:r>
              <a:rPr lang="en-US" sz="2000">
                <a:solidFill>
                  <a:srgbClr val="352379"/>
                </a:solidFill>
                <a:latin typeface="Montserrat"/>
              </a:rPr>
              <a:t>    d = [row[:] for row in matrix]</a:t>
            </a:r>
          </a:p>
          <a:p>
            <a:pPr>
              <a:lnSpc>
                <a:spcPts val="2500"/>
              </a:lnSpc>
            </a:pPr>
            <a:r>
              <a:rPr lang="en-US" sz="2000">
                <a:solidFill>
                  <a:srgbClr val="352379"/>
                </a:solidFill>
                <a:latin typeface="Montserrat"/>
              </a:rPr>
              <a:t>    n = len(d)</a:t>
            </a:r>
          </a:p>
          <a:p>
            <a:pPr>
              <a:lnSpc>
                <a:spcPts val="2500"/>
              </a:lnSpc>
            </a:pPr>
            <a:r>
              <a:rPr lang="en-US" sz="2000">
                <a:solidFill>
                  <a:srgbClr val="352379"/>
                </a:solidFill>
                <a:latin typeface="Montserrat"/>
              </a:rPr>
              <a:t>    for k in range(n):</a:t>
            </a:r>
          </a:p>
          <a:p>
            <a:pPr>
              <a:lnSpc>
                <a:spcPts val="2500"/>
              </a:lnSpc>
            </a:pPr>
            <a:r>
              <a:rPr lang="en-US" sz="2000">
                <a:solidFill>
                  <a:srgbClr val="352379"/>
                </a:solidFill>
                <a:latin typeface="Montserrat"/>
              </a:rPr>
              <a:t>        for i in range(n):</a:t>
            </a:r>
          </a:p>
          <a:p>
            <a:pPr>
              <a:lnSpc>
                <a:spcPts val="2500"/>
              </a:lnSpc>
            </a:pPr>
            <a:r>
              <a:rPr lang="en-US" sz="2000">
                <a:solidFill>
                  <a:srgbClr val="352379"/>
                </a:solidFill>
                <a:latin typeface="Montserrat"/>
              </a:rPr>
              <a:t>            for j in range(n):</a:t>
            </a:r>
          </a:p>
          <a:p>
            <a:pPr>
              <a:lnSpc>
                <a:spcPts val="2500"/>
              </a:lnSpc>
            </a:pPr>
            <a:r>
              <a:rPr lang="en-US" sz="2000">
                <a:solidFill>
                  <a:srgbClr val="352379"/>
                </a:solidFill>
                <a:latin typeface="Montserrat"/>
              </a:rPr>
              <a:t>                candidate = d[i][k] + d[k][j]</a:t>
            </a:r>
          </a:p>
          <a:p>
            <a:pPr>
              <a:lnSpc>
                <a:spcPts val="2500"/>
              </a:lnSpc>
            </a:pPr>
            <a:r>
              <a:rPr lang="en-US" sz="2000">
                <a:solidFill>
                  <a:srgbClr val="352379"/>
                </a:solidFill>
                <a:latin typeface="Montserrat"/>
              </a:rPr>
              <a:t>                if candidate &lt; d[i][j]:</a:t>
            </a:r>
          </a:p>
          <a:p>
            <a:pPr>
              <a:lnSpc>
                <a:spcPts val="2500"/>
              </a:lnSpc>
            </a:pPr>
            <a:r>
              <a:rPr lang="en-US" sz="2000">
                <a:solidFill>
                  <a:srgbClr val="352379"/>
                </a:solidFill>
                <a:latin typeface="Montserrat"/>
              </a:rPr>
              <a:t>                    d[i][j] = candidate</a:t>
            </a:r>
          </a:p>
          <a:p>
            <a:pPr>
              <a:lnSpc>
                <a:spcPts val="2500"/>
              </a:lnSpc>
            </a:pPr>
            <a:r>
              <a:rPr lang="en-US" sz="2000">
                <a:solidFill>
                  <a:srgbClr val="352379"/>
                </a:solidFill>
                <a:latin typeface="Montserrat"/>
              </a:rPr>
              <a:t>    return d</a:t>
            </a:r>
            <a:endParaRPr lang="ru-RU" sz="2000">
              <a:solidFill>
                <a:srgbClr val="352379"/>
              </a:solidFill>
              <a:latin typeface="Montserrat"/>
            </a:endParaRPr>
          </a:p>
        </p:txBody>
      </p:sp>
      <p:sp>
        <p:nvSpPr>
          <p:cNvPr id="14" name="code-comment-body">
            <a:extLst>
              <a:ext uri="{FF2B5EF4-FFF2-40B4-BE49-F238E27FC236}">
                <a16:creationId xmlns:a16="http://schemas.microsoft.com/office/drawing/2014/main" id="{891F77CF-F08C-4D55-9CB7-CC8D2E0058F7}"/>
              </a:ext>
            </a:extLst>
          </p:cNvPr>
          <p:cNvSpPr/>
          <p:nvPr/>
        </p:nvSpPr>
        <p:spPr>
          <a:xfrm>
            <a:off x="8801100" y="1816100"/>
            <a:ext cx="2908300" cy="36576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code-comment-head">
            <a:extLst>
              <a:ext uri="{FF2B5EF4-FFF2-40B4-BE49-F238E27FC236}">
                <a16:creationId xmlns:a16="http://schemas.microsoft.com/office/drawing/2014/main" id="{F8B7F079-6699-4766-9E2D-1E12B86D2142}"/>
              </a:ext>
            </a:extLst>
          </p:cNvPr>
          <p:cNvSpPr/>
          <p:nvPr/>
        </p:nvSpPr>
        <p:spPr>
          <a:xfrm>
            <a:off x="8801100" y="1816100"/>
            <a:ext cx="29083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code-comment-heading">
            <a:extLst>
              <a:ext uri="{FF2B5EF4-FFF2-40B4-BE49-F238E27FC236}">
                <a16:creationId xmlns:a16="http://schemas.microsoft.com/office/drawing/2014/main" id="{66480994-34C9-4420-A1E6-59B65E888E5F}"/>
              </a:ext>
            </a:extLst>
          </p:cNvPr>
          <p:cNvSpPr txBox="1"/>
          <p:nvPr/>
        </p:nvSpPr>
        <p:spPr bwMode="auto">
          <a:xfrm>
            <a:off x="8991600" y="1930399"/>
            <a:ext cx="2527300" cy="381000"/>
          </a:xfrm>
          <a:prstGeom prst="rect">
            <a:avLst/>
          </a:prstGeom>
        </p:spPr>
        <p:txBody>
          <a:bodyPr vert="horz" wrap="square" lIns="0" tIns="0" rIns="0" bIns="0" rtlCol="0">
            <a:noAutofit/>
          </a:bodyPr>
          <a:lstStyle/>
          <a:p>
            <a:r>
              <a:rPr lang="ru-RU" sz="2100">
                <a:solidFill>
                  <a:srgbClr val="FFFFFF"/>
                </a:solidFill>
                <a:latin typeface="Montserrat"/>
              </a:rPr>
              <a:t>Как читать</a:t>
            </a:r>
          </a:p>
        </p:txBody>
      </p:sp>
      <p:sp>
        <p:nvSpPr>
          <p:cNvPr id="17" name="code-comment-text">
            <a:extLst>
              <a:ext uri="{FF2B5EF4-FFF2-40B4-BE49-F238E27FC236}">
                <a16:creationId xmlns:a16="http://schemas.microsoft.com/office/drawing/2014/main" id="{D75F2C98-77DF-4F12-ADD5-135B009AA91B}"/>
              </a:ext>
            </a:extLst>
          </p:cNvPr>
          <p:cNvSpPr txBox="1"/>
          <p:nvPr/>
        </p:nvSpPr>
        <p:spPr bwMode="auto">
          <a:xfrm>
            <a:off x="9017000" y="2641599"/>
            <a:ext cx="2476500" cy="2692400"/>
          </a:xfrm>
          <a:prstGeom prst="rect">
            <a:avLst/>
          </a:prstGeom>
        </p:spPr>
        <p:txBody>
          <a:bodyPr vert="horz" wrap="square" lIns="0" tIns="0" rIns="0" bIns="0" rtlCol="0">
            <a:noAutofit/>
          </a:bodyPr>
          <a:lstStyle/>
          <a:p>
            <a:r>
              <a:rPr lang="ru-RU" sz="1900">
                <a:solidFill>
                  <a:srgbClr val="352379"/>
                </a:solidFill>
                <a:latin typeface="Montserrat"/>
              </a:rPr>
              <a:t>k — внешний цикл</a:t>
            </a:r>
          </a:p>
          <a:p>
            <a:endParaRPr lang="ru-RU" sz="1900">
              <a:solidFill>
                <a:srgbClr val="352379"/>
              </a:solidFill>
              <a:latin typeface="Montserrat"/>
            </a:endParaRPr>
          </a:p>
          <a:p>
            <a:r>
              <a:rPr lang="ru-RU" sz="1900">
                <a:solidFill>
                  <a:srgbClr val="352379"/>
                </a:solidFill>
                <a:latin typeface="Montserrat"/>
              </a:rPr>
              <a:t>O(V³) времени</a:t>
            </a:r>
          </a:p>
          <a:p>
            <a:r>
              <a:rPr lang="ru-RU" sz="1900">
                <a:solidFill>
                  <a:srgbClr val="352379"/>
                </a:solidFill>
                <a:latin typeface="Montserrat"/>
              </a:rPr>
              <a:t>O(V²) памяти</a:t>
            </a:r>
          </a:p>
          <a:p>
            <a:endParaRPr lang="ru-RU" sz="1900">
              <a:solidFill>
                <a:srgbClr val="352379"/>
              </a:solidFill>
              <a:latin typeface="Montserrat"/>
            </a:endParaRPr>
          </a:p>
          <a:p>
            <a:r>
              <a:rPr lang="ru-RU" sz="1900">
                <a:solidFill>
                  <a:srgbClr val="352379"/>
                </a:solidFill>
                <a:latin typeface="Montserrat"/>
              </a:rPr>
              <a:t>d[v][v] &lt; 0:</a:t>
            </a:r>
          </a:p>
          <a:p>
            <a:r>
              <a:rPr lang="ru-RU" sz="1900">
                <a:solidFill>
                  <a:srgbClr val="352379"/>
                </a:solidFill>
                <a:latin typeface="Montserrat"/>
              </a:rPr>
              <a:t>отрицательный цикл</a:t>
            </a:r>
          </a:p>
        </p:txBody>
      </p:sp>
    </p:spTree>
    <p:extLst>
      <p:ext uri="{BB962C8B-B14F-4D97-AF65-F5344CB8AC3E}">
        <p14:creationId xmlns:p14="http://schemas.microsoft.com/office/powerpoint/2010/main" val="1760687479"/>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F04501-D393-4EBF-BDA1-B3BAD605CB12}"/>
              </a:ext>
            </a:extLst>
          </p:cNvPr>
          <p:cNvSpPr>
            <a:spLocks noGrp="1"/>
          </p:cNvSpPr>
          <p:nvPr>
            <p:ph type="title"/>
          </p:nvPr>
        </p:nvSpPr>
        <p:spPr>
          <a:xfrm>
            <a:off x="479425" y="597855"/>
            <a:ext cx="11229975" cy="1140459"/>
          </a:xfrm>
        </p:spPr>
        <p:txBody>
          <a:bodyPr/>
          <a:lstStyle/>
          <a:p>
            <a:r>
              <a:rPr lang="ru-RU"/>
              <a:t>Сравнение алгоритмов</a:t>
            </a:r>
          </a:p>
        </p:txBody>
      </p:sp>
      <p:sp>
        <p:nvSpPr>
          <p:cNvPr id="7" name="Текст 6">
            <a:extLst>
              <a:ext uri="{FF2B5EF4-FFF2-40B4-BE49-F238E27FC236}">
                <a16:creationId xmlns:a16="http://schemas.microsoft.com/office/drawing/2014/main" id="{DCDCC26E-7353-4E8B-B078-F88753ED8D8E}"/>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442E5685-1F9B-4F14-B21C-322AEE09DD2C}"/>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0644ACB1-9C56-4B1C-BE7B-FB8199D36704}"/>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58</a:t>
            </a:r>
          </a:p>
        </p:txBody>
      </p:sp>
      <p:sp>
        <p:nvSpPr>
          <p:cNvPr id="10" name="bottom-band">
            <a:extLst>
              <a:ext uri="{FF2B5EF4-FFF2-40B4-BE49-F238E27FC236}">
                <a16:creationId xmlns:a16="http://schemas.microsoft.com/office/drawing/2014/main" id="{AACF8478-F28D-4EC5-B32E-349C52BC575E}"/>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BC441845-ED30-4E7F-BA8C-66D380AF24C3}"/>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Больше допустимых условий обычно означает больше вычислений</a:t>
            </a:r>
          </a:p>
        </p:txBody>
      </p:sp>
      <p:graphicFrame>
        <p:nvGraphicFramePr>
          <p:cNvPr id="12" name="comparison-table">
            <a:extLst>
              <a:ext uri="{FF2B5EF4-FFF2-40B4-BE49-F238E27FC236}">
                <a16:creationId xmlns:a16="http://schemas.microsoft.com/office/drawing/2014/main" id="{C9D3213E-C682-42CD-BA89-1D14AF1DC0AF}"/>
              </a:ext>
            </a:extLst>
          </p:cNvPr>
          <p:cNvGraphicFramePr>
            <a:graphicFrameLocks noGrp="1"/>
          </p:cNvGraphicFramePr>
          <p:nvPr>
            <p:extLst>
              <p:ext uri="{D42A27DB-BD31-4B8C-83A1-F6EECF244321}">
                <p14:modId xmlns:p14="http://schemas.microsoft.com/office/powerpoint/2010/main" val="1542214791"/>
              </p:ext>
            </p:extLst>
          </p:nvPr>
        </p:nvGraphicFramePr>
        <p:xfrm>
          <a:off x="482600" y="1816100"/>
          <a:ext cx="11226800" cy="3754120"/>
        </p:xfrm>
        <a:graphic>
          <a:graphicData uri="http://schemas.openxmlformats.org/drawingml/2006/table">
            <a:tbl>
              <a:tblPr firstRow="1" bandRow="1">
                <a:tableStyleId>{0E3FDE45-AF77-4B5C-9715-49D594BDF05E}</a:tableStyleId>
              </a:tblPr>
              <a:tblGrid>
                <a:gridCol w="2108200">
                  <a:extLst>
                    <a:ext uri="{9D8B030D-6E8A-4147-A177-3AD203B41FA5}">
                      <a16:colId xmlns:a16="http://schemas.microsoft.com/office/drawing/2014/main" val="876179941"/>
                    </a:ext>
                  </a:extLst>
                </a:gridCol>
                <a:gridCol w="1549400">
                  <a:extLst>
                    <a:ext uri="{9D8B030D-6E8A-4147-A177-3AD203B41FA5}">
                      <a16:colId xmlns:a16="http://schemas.microsoft.com/office/drawing/2014/main" val="2158971191"/>
                    </a:ext>
                  </a:extLst>
                </a:gridCol>
                <a:gridCol w="1917700">
                  <a:extLst>
                    <a:ext uri="{9D8B030D-6E8A-4147-A177-3AD203B41FA5}">
                      <a16:colId xmlns:a16="http://schemas.microsoft.com/office/drawing/2014/main" val="954393652"/>
                    </a:ext>
                  </a:extLst>
                </a:gridCol>
                <a:gridCol w="1854200">
                  <a:extLst>
                    <a:ext uri="{9D8B030D-6E8A-4147-A177-3AD203B41FA5}">
                      <a16:colId xmlns:a16="http://schemas.microsoft.com/office/drawing/2014/main" val="1749694442"/>
                    </a:ext>
                  </a:extLst>
                </a:gridCol>
                <a:gridCol w="2311400">
                  <a:extLst>
                    <a:ext uri="{9D8B030D-6E8A-4147-A177-3AD203B41FA5}">
                      <a16:colId xmlns:a16="http://schemas.microsoft.com/office/drawing/2014/main" val="2205959444"/>
                    </a:ext>
                  </a:extLst>
                </a:gridCol>
                <a:gridCol w="1485900">
                  <a:extLst>
                    <a:ext uri="{9D8B030D-6E8A-4147-A177-3AD203B41FA5}">
                      <a16:colId xmlns:a16="http://schemas.microsoft.com/office/drawing/2014/main" val="283783843"/>
                    </a:ext>
                  </a:extLst>
                </a:gridCol>
              </a:tblGrid>
              <a:tr h="731520">
                <a:tc>
                  <a:txBody>
                    <a:bodyPr/>
                    <a:lstStyle/>
                    <a:p>
                      <a:pPr algn="ctr"/>
                      <a:r>
                        <a:rPr lang="ru-RU" sz="1700" b="1">
                          <a:solidFill>
                            <a:srgbClr val="FFFFFF"/>
                          </a:solidFill>
                          <a:latin typeface="Montserrat"/>
                        </a:rPr>
                        <a:t>Алгоритм</a:t>
                      </a: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ru-RU" sz="1700" b="1">
                          <a:solidFill>
                            <a:srgbClr val="FFFFFF"/>
                          </a:solidFill>
                          <a:latin typeface="Montserrat"/>
                        </a:rPr>
                        <a:t>Задача</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ru-RU" sz="1700" b="1">
                          <a:solidFill>
                            <a:srgbClr val="FFFFFF"/>
                          </a:solidFill>
                          <a:latin typeface="Montserrat"/>
                        </a:rPr>
                        <a:t>Веса</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ru-RU" sz="1700" b="1">
                          <a:solidFill>
                            <a:srgbClr val="FFFFFF"/>
                          </a:solidFill>
                          <a:latin typeface="Montserrat"/>
                        </a:rPr>
                        <a:t>Цикл &lt; 0</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ru-RU" sz="1700" b="1">
                          <a:solidFill>
                            <a:srgbClr val="FFFFFF"/>
                          </a:solidFill>
                          <a:latin typeface="Montserrat"/>
                        </a:rPr>
                        <a:t>Время</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352379"/>
                    </a:solidFill>
                  </a:tcPr>
                </a:tc>
                <a:tc>
                  <a:txBody>
                    <a:bodyPr/>
                    <a:lstStyle/>
                    <a:p>
                      <a:pPr algn="ctr"/>
                      <a:r>
                        <a:rPr lang="ru-RU" sz="1700" b="1">
                          <a:solidFill>
                            <a:srgbClr val="FFFFFF"/>
                          </a:solidFill>
                          <a:latin typeface="Montserrat"/>
                        </a:rPr>
                        <a:t>Структура</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352379"/>
                    </a:solidFill>
                  </a:tcPr>
                </a:tc>
                <a:extLst>
                  <a:ext uri="{0D108BD9-81ED-4DB2-BD59-A6C34878D82A}">
                    <a16:rowId xmlns:a16="http://schemas.microsoft.com/office/drawing/2014/main" val="3993829155"/>
                  </a:ext>
                </a:extLst>
              </a:tr>
              <a:tr h="731520">
                <a:tc>
                  <a:txBody>
                    <a:bodyPr/>
                    <a:lstStyle/>
                    <a:p>
                      <a:pPr algn="ctr"/>
                      <a:r>
                        <a:rPr lang="en-US" sz="1700" b="0">
                          <a:solidFill>
                            <a:srgbClr val="352379"/>
                          </a:solidFill>
                          <a:latin typeface="Montserrat"/>
                        </a:rPr>
                        <a:t>BFS</a:t>
                      </a:r>
                      <a:endParaRPr lang="ru-RU" sz="17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1700" b="0">
                          <a:solidFill>
                            <a:srgbClr val="352379"/>
                          </a:solidFill>
                          <a:latin typeface="Montserrat"/>
                        </a:rPr>
                        <a:t>Источник</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1700" b="0">
                          <a:solidFill>
                            <a:srgbClr val="352379"/>
                          </a:solidFill>
                          <a:latin typeface="Montserrat"/>
                        </a:rPr>
                        <a:t>Одинаковые</a:t>
                      </a:r>
                    </a:p>
                    <a:p>
                      <a:pPr algn="ctr"/>
                      <a:r>
                        <a:rPr lang="ru-RU" sz="1700" b="0">
                          <a:solidFill>
                            <a:srgbClr val="352379"/>
                          </a:solidFill>
                          <a:latin typeface="Montserrat"/>
                        </a:rPr>
                        <a:t>положительные</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1700" b="0">
                          <a:solidFill>
                            <a:srgbClr val="352379"/>
                          </a:solidFill>
                          <a:latin typeface="Montserrat"/>
                        </a:rPr>
                        <a:t>Нет</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en-US" sz="1700" b="0">
                          <a:solidFill>
                            <a:srgbClr val="352379"/>
                          </a:solidFill>
                          <a:latin typeface="Montserrat"/>
                        </a:rPr>
                        <a:t>O(V + E)</a:t>
                      </a:r>
                      <a:endParaRPr lang="ru-RU" sz="1700" b="0">
                        <a:solidFill>
                          <a:srgbClr val="352379"/>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en-US" sz="1700" b="0">
                          <a:solidFill>
                            <a:srgbClr val="352379"/>
                          </a:solidFill>
                          <a:latin typeface="Montserrat"/>
                        </a:rPr>
                        <a:t>FIFO</a:t>
                      </a:r>
                      <a:endParaRPr lang="ru-RU" sz="1700" b="0">
                        <a:solidFill>
                          <a:srgbClr val="352379"/>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3310409106"/>
                  </a:ext>
                </a:extLst>
              </a:tr>
              <a:tr h="731520">
                <a:tc>
                  <a:txBody>
                    <a:bodyPr/>
                    <a:lstStyle/>
                    <a:p>
                      <a:pPr algn="ctr"/>
                      <a:r>
                        <a:rPr lang="en-US" sz="1700" b="0">
                          <a:solidFill>
                            <a:srgbClr val="352379"/>
                          </a:solidFill>
                          <a:latin typeface="Montserrat"/>
                        </a:rPr>
                        <a:t>Dijkstra</a:t>
                      </a:r>
                      <a:endParaRPr lang="ru-RU" sz="17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1700" b="0">
                          <a:solidFill>
                            <a:srgbClr val="352379"/>
                          </a:solidFill>
                          <a:latin typeface="Montserrat"/>
                        </a:rPr>
                        <a:t>Источник</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1700" b="0">
                          <a:solidFill>
                            <a:srgbClr val="352379"/>
                          </a:solidFill>
                          <a:latin typeface="Montserrat"/>
                        </a:rPr>
                        <a:t>≥ 0</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1700" b="0">
                          <a:solidFill>
                            <a:srgbClr val="352379"/>
                          </a:solidFill>
                          <a:latin typeface="Montserrat"/>
                        </a:rPr>
                        <a:t>Нет</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pt-BR" sz="1700" b="0">
                          <a:solidFill>
                            <a:srgbClr val="352379"/>
                          </a:solidFill>
                          <a:latin typeface="Montserrat"/>
                        </a:rPr>
                        <a:t>O((V+E) log V)</a:t>
                      </a:r>
                      <a:endParaRPr lang="ru-RU" sz="1700" b="0">
                        <a:solidFill>
                          <a:srgbClr val="352379"/>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en-US" sz="1700" b="0">
                          <a:solidFill>
                            <a:srgbClr val="352379"/>
                          </a:solidFill>
                          <a:latin typeface="Montserrat"/>
                        </a:rPr>
                        <a:t>Min-heap</a:t>
                      </a:r>
                      <a:endParaRPr lang="ru-RU" sz="1700" b="0">
                        <a:solidFill>
                          <a:srgbClr val="352379"/>
                        </a:solidFill>
                        <a:latin typeface="Montserrat"/>
                      </a:endParaRP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1682010913"/>
                  </a:ext>
                </a:extLst>
              </a:tr>
              <a:tr h="731520">
                <a:tc>
                  <a:txBody>
                    <a:bodyPr/>
                    <a:lstStyle/>
                    <a:p>
                      <a:pPr algn="ctr"/>
                      <a:r>
                        <a:rPr lang="en-US" sz="1700" b="0">
                          <a:solidFill>
                            <a:srgbClr val="352379"/>
                          </a:solidFill>
                          <a:latin typeface="Montserrat"/>
                        </a:rPr>
                        <a:t>Bellman–Ford</a:t>
                      </a:r>
                      <a:endParaRPr lang="ru-RU" sz="17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1700" b="0">
                          <a:solidFill>
                            <a:srgbClr val="352379"/>
                          </a:solidFill>
                          <a:latin typeface="Montserrat"/>
                        </a:rPr>
                        <a:t>Источник</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1700" b="0">
                          <a:solidFill>
                            <a:srgbClr val="352379"/>
                          </a:solidFill>
                          <a:latin typeface="Montserrat"/>
                        </a:rPr>
                        <a:t>Любые</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1700" b="0">
                          <a:solidFill>
                            <a:srgbClr val="352379"/>
                          </a:solidFill>
                          <a:latin typeface="Montserrat"/>
                        </a:rPr>
                        <a:t>Достижимый</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en-US" sz="1700" b="0">
                          <a:solidFill>
                            <a:srgbClr val="352379"/>
                          </a:solidFill>
                          <a:latin typeface="Montserrat"/>
                        </a:rPr>
                        <a:t>O(VE)</a:t>
                      </a:r>
                      <a:endParaRPr lang="ru-RU" sz="1700" b="0">
                        <a:solidFill>
                          <a:srgbClr val="352379"/>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alpha val="20000"/>
                      </a:srgbClr>
                    </a:solidFill>
                  </a:tcPr>
                </a:tc>
                <a:tc>
                  <a:txBody>
                    <a:bodyPr/>
                    <a:lstStyle/>
                    <a:p>
                      <a:pPr algn="ctr"/>
                      <a:r>
                        <a:rPr lang="ru-RU" sz="1700" b="0">
                          <a:solidFill>
                            <a:srgbClr val="352379"/>
                          </a:solidFill>
                          <a:latin typeface="Montserrat"/>
                        </a:rPr>
                        <a:t>Рёбра</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alpha val="20000"/>
                      </a:srgbClr>
                    </a:solidFill>
                  </a:tcPr>
                </a:tc>
                <a:extLst>
                  <a:ext uri="{0D108BD9-81ED-4DB2-BD59-A6C34878D82A}">
                    <a16:rowId xmlns:a16="http://schemas.microsoft.com/office/drawing/2014/main" val="1817647351"/>
                  </a:ext>
                </a:extLst>
              </a:tr>
              <a:tr h="731520">
                <a:tc>
                  <a:txBody>
                    <a:bodyPr/>
                    <a:lstStyle/>
                    <a:p>
                      <a:pPr algn="ctr"/>
                      <a:r>
                        <a:rPr lang="en-US" sz="1700" b="0">
                          <a:solidFill>
                            <a:srgbClr val="352379"/>
                          </a:solidFill>
                          <a:latin typeface="Montserrat"/>
                        </a:rPr>
                        <a:t>Floyd–Warshall</a:t>
                      </a:r>
                      <a:endParaRPr lang="ru-RU" sz="1700" b="0">
                        <a:solidFill>
                          <a:srgbClr val="352379"/>
                        </a:solidFill>
                        <a:latin typeface="Montserrat"/>
                      </a:endParaRPr>
                    </a:p>
                  </a:txBody>
                  <a:tcPr marL="63500" marR="63500" marT="25400" marB="25400" anchor="ctr">
                    <a:lnL w="7620">
                      <a:solidFill>
                        <a:schemeClr val="tx1"/>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1700" b="0">
                          <a:solidFill>
                            <a:srgbClr val="352379"/>
                          </a:solidFill>
                          <a:latin typeface="Montserrat"/>
                        </a:rPr>
                        <a:t>Все пары</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1700" b="0">
                          <a:solidFill>
                            <a:srgbClr val="352379"/>
                          </a:solidFill>
                          <a:latin typeface="Montserrat"/>
                        </a:rPr>
                        <a:t>Любые</a:t>
                      </a: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en-US" sz="1700" b="0">
                          <a:solidFill>
                            <a:srgbClr val="352379"/>
                          </a:solidFill>
                          <a:latin typeface="Montserrat"/>
                        </a:rPr>
                        <a:t>d[v][v] &lt; 0</a:t>
                      </a:r>
                      <a:endParaRPr lang="ru-RU" sz="1700" b="0">
                        <a:solidFill>
                          <a:srgbClr val="352379"/>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en-US" sz="1700" b="0">
                          <a:solidFill>
                            <a:srgbClr val="352379"/>
                          </a:solidFill>
                          <a:latin typeface="Montserrat"/>
                        </a:rPr>
                        <a:t>O(V³)</a:t>
                      </a:r>
                      <a:endParaRPr lang="ru-RU" sz="1700" b="0">
                        <a:solidFill>
                          <a:srgbClr val="352379"/>
                        </a:solidFill>
                        <a:latin typeface="Montserrat"/>
                      </a:endParaRPr>
                    </a:p>
                  </a:txBody>
                  <a:tcPr marL="63500" marR="63500" marT="25400" marB="25400" anchor="ctr">
                    <a:lnL w="7620">
                      <a:solidFill>
                        <a:srgbClr val="352379"/>
                      </a:solidFill>
                    </a:lnL>
                    <a:lnR w="7620">
                      <a:solidFill>
                        <a:srgbClr val="352379"/>
                      </a:solidFill>
                    </a:lnR>
                    <a:lnT w="7620">
                      <a:solidFill>
                        <a:srgbClr val="352379"/>
                      </a:solidFill>
                    </a:lnT>
                    <a:lnB w="7620">
                      <a:solidFill>
                        <a:srgbClr val="352379"/>
                      </a:solidFill>
                    </a:lnB>
                    <a:solidFill>
                      <a:srgbClr val="FFFFFF"/>
                    </a:solidFill>
                  </a:tcPr>
                </a:tc>
                <a:tc>
                  <a:txBody>
                    <a:bodyPr/>
                    <a:lstStyle/>
                    <a:p>
                      <a:pPr algn="ctr"/>
                      <a:r>
                        <a:rPr lang="ru-RU" sz="1700" b="0">
                          <a:solidFill>
                            <a:srgbClr val="352379"/>
                          </a:solidFill>
                          <a:latin typeface="Montserrat"/>
                        </a:rPr>
                        <a:t>Матрица</a:t>
                      </a:r>
                    </a:p>
                  </a:txBody>
                  <a:tcPr marL="63500" marR="63500" marT="25400" marB="25400" anchor="ctr">
                    <a:lnL w="7620">
                      <a:solidFill>
                        <a:srgbClr val="352379"/>
                      </a:solidFill>
                    </a:lnL>
                    <a:lnR w="7620">
                      <a:solidFill>
                        <a:schemeClr val="tx1"/>
                      </a:solidFill>
                    </a:lnR>
                    <a:lnT w="7620">
                      <a:solidFill>
                        <a:srgbClr val="352379"/>
                      </a:solidFill>
                    </a:lnT>
                    <a:lnB w="7620">
                      <a:solidFill>
                        <a:srgbClr val="352379"/>
                      </a:solidFill>
                    </a:lnB>
                    <a:solidFill>
                      <a:srgbClr val="FFFFFF"/>
                    </a:solidFill>
                  </a:tcPr>
                </a:tc>
                <a:extLst>
                  <a:ext uri="{0D108BD9-81ED-4DB2-BD59-A6C34878D82A}">
                    <a16:rowId xmlns:a16="http://schemas.microsoft.com/office/drawing/2014/main" val="851538092"/>
                  </a:ext>
                </a:extLst>
              </a:tr>
            </a:tbl>
          </a:graphicData>
        </a:graphic>
      </p:graphicFrame>
    </p:spTree>
    <p:extLst>
      <p:ext uri="{BB962C8B-B14F-4D97-AF65-F5344CB8AC3E}">
        <p14:creationId xmlns:p14="http://schemas.microsoft.com/office/powerpoint/2010/main" val="3638881142"/>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1F6D64-CF2E-4731-9CDF-2ECC8932D6AE}"/>
              </a:ext>
            </a:extLst>
          </p:cNvPr>
          <p:cNvSpPr>
            <a:spLocks noGrp="1"/>
          </p:cNvSpPr>
          <p:nvPr>
            <p:ph type="title"/>
          </p:nvPr>
        </p:nvSpPr>
        <p:spPr>
          <a:xfrm>
            <a:off x="479425" y="597855"/>
            <a:ext cx="11229975" cy="1140459"/>
          </a:xfrm>
        </p:spPr>
        <p:txBody>
          <a:bodyPr/>
          <a:lstStyle/>
          <a:p>
            <a:r>
              <a:rPr lang="ru-RU"/>
              <a:t>Как выбрать алгоритм?</a:t>
            </a:r>
          </a:p>
        </p:txBody>
      </p:sp>
      <p:sp>
        <p:nvSpPr>
          <p:cNvPr id="7" name="Текст 6">
            <a:extLst>
              <a:ext uri="{FF2B5EF4-FFF2-40B4-BE49-F238E27FC236}">
                <a16:creationId xmlns:a16="http://schemas.microsoft.com/office/drawing/2014/main" id="{24B3D0CB-DB63-44B7-8DFB-D309F5926AB3}"/>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8D636F48-58B9-42B3-8C7D-860DC4377BE4}"/>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E61673EC-B118-4396-882C-4B1935BC89E8}"/>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59</a:t>
            </a:r>
          </a:p>
        </p:txBody>
      </p:sp>
      <p:sp>
        <p:nvSpPr>
          <p:cNvPr id="10" name="bottom-band">
            <a:extLst>
              <a:ext uri="{FF2B5EF4-FFF2-40B4-BE49-F238E27FC236}">
                <a16:creationId xmlns:a16="http://schemas.microsoft.com/office/drawing/2014/main" id="{152B4DC2-3269-4CD0-B27D-FD2598606827}"/>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3EBDB2D3-98CE-4F1E-8718-CE47981044ED}"/>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Сначала определите задачу: один источник или все пары</a:t>
            </a:r>
          </a:p>
        </p:txBody>
      </p:sp>
      <p:sp>
        <p:nvSpPr>
          <p:cNvPr id="12" name="all-pairs-body">
            <a:extLst>
              <a:ext uri="{FF2B5EF4-FFF2-40B4-BE49-F238E27FC236}">
                <a16:creationId xmlns:a16="http://schemas.microsoft.com/office/drawing/2014/main" id="{8A2FB8E6-384C-478A-B569-FED7E8320D80}"/>
              </a:ext>
            </a:extLst>
          </p:cNvPr>
          <p:cNvSpPr/>
          <p:nvPr/>
        </p:nvSpPr>
        <p:spPr>
          <a:xfrm>
            <a:off x="698500" y="1778000"/>
            <a:ext cx="5207000" cy="15748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all-pairs-head">
            <a:extLst>
              <a:ext uri="{FF2B5EF4-FFF2-40B4-BE49-F238E27FC236}">
                <a16:creationId xmlns:a16="http://schemas.microsoft.com/office/drawing/2014/main" id="{A3DE6D98-6BBB-4349-925C-1CEF9CAAEB3A}"/>
              </a:ext>
            </a:extLst>
          </p:cNvPr>
          <p:cNvSpPr/>
          <p:nvPr/>
        </p:nvSpPr>
        <p:spPr>
          <a:xfrm>
            <a:off x="698500" y="17780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all-pairs-heading">
            <a:extLst>
              <a:ext uri="{FF2B5EF4-FFF2-40B4-BE49-F238E27FC236}">
                <a16:creationId xmlns:a16="http://schemas.microsoft.com/office/drawing/2014/main" id="{CB3C0F59-36DB-4194-9A60-06F3E395F462}"/>
              </a:ext>
            </a:extLst>
          </p:cNvPr>
          <p:cNvSpPr txBox="1"/>
          <p:nvPr/>
        </p:nvSpPr>
        <p:spPr bwMode="auto">
          <a:xfrm>
            <a:off x="889000" y="1892299"/>
            <a:ext cx="4826000" cy="381000"/>
          </a:xfrm>
          <a:prstGeom prst="rect">
            <a:avLst/>
          </a:prstGeom>
        </p:spPr>
        <p:txBody>
          <a:bodyPr vert="horz" wrap="square" lIns="0" tIns="0" rIns="0" bIns="0" rtlCol="0">
            <a:noAutofit/>
          </a:bodyPr>
          <a:lstStyle/>
          <a:p>
            <a:r>
              <a:rPr lang="ru-RU" sz="2100">
                <a:solidFill>
                  <a:srgbClr val="FFFFFF"/>
                </a:solidFill>
                <a:latin typeface="Montserrat"/>
              </a:rPr>
              <a:t>Нужны все пары?</a:t>
            </a:r>
          </a:p>
        </p:txBody>
      </p:sp>
      <p:sp>
        <p:nvSpPr>
          <p:cNvPr id="15" name="all-pairs-text">
            <a:extLst>
              <a:ext uri="{FF2B5EF4-FFF2-40B4-BE49-F238E27FC236}">
                <a16:creationId xmlns:a16="http://schemas.microsoft.com/office/drawing/2014/main" id="{51B7DED8-13F1-4AEE-891D-2CE2BBC3B02A}"/>
              </a:ext>
            </a:extLst>
          </p:cNvPr>
          <p:cNvSpPr txBox="1"/>
          <p:nvPr/>
        </p:nvSpPr>
        <p:spPr bwMode="auto">
          <a:xfrm>
            <a:off x="914400" y="2603499"/>
            <a:ext cx="4775200" cy="609600"/>
          </a:xfrm>
          <a:prstGeom prst="rect">
            <a:avLst/>
          </a:prstGeom>
        </p:spPr>
        <p:txBody>
          <a:bodyPr vert="horz" wrap="square" lIns="0" tIns="0" rIns="0" bIns="0" rtlCol="0">
            <a:noAutofit/>
          </a:bodyPr>
          <a:lstStyle/>
          <a:p>
            <a:r>
              <a:rPr lang="ru-RU" sz="2000">
                <a:solidFill>
                  <a:srgbClr val="352379"/>
                </a:solidFill>
                <a:latin typeface="Montserrat"/>
              </a:rPr>
              <a:t>Да: Floyd–Warshall</a:t>
            </a:r>
          </a:p>
          <a:p>
            <a:r>
              <a:rPr lang="ru-RU" sz="2000">
                <a:solidFill>
                  <a:srgbClr val="352379"/>
                </a:solidFill>
                <a:latin typeface="Montserrat"/>
              </a:rPr>
              <a:t>Умеренное число вершин</a:t>
            </a:r>
          </a:p>
        </p:txBody>
      </p:sp>
      <p:sp>
        <p:nvSpPr>
          <p:cNvPr id="16" name="equal-body">
            <a:extLst>
              <a:ext uri="{FF2B5EF4-FFF2-40B4-BE49-F238E27FC236}">
                <a16:creationId xmlns:a16="http://schemas.microsoft.com/office/drawing/2014/main" id="{00E7842E-2024-4E14-ADC1-D6CDC81FA467}"/>
              </a:ext>
            </a:extLst>
          </p:cNvPr>
          <p:cNvSpPr/>
          <p:nvPr/>
        </p:nvSpPr>
        <p:spPr>
          <a:xfrm>
            <a:off x="6477000" y="1778000"/>
            <a:ext cx="5207000" cy="15748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equal-head">
            <a:extLst>
              <a:ext uri="{FF2B5EF4-FFF2-40B4-BE49-F238E27FC236}">
                <a16:creationId xmlns:a16="http://schemas.microsoft.com/office/drawing/2014/main" id="{8E8196B7-25FA-41B9-9F2D-9961337A095D}"/>
              </a:ext>
            </a:extLst>
          </p:cNvPr>
          <p:cNvSpPr/>
          <p:nvPr/>
        </p:nvSpPr>
        <p:spPr>
          <a:xfrm>
            <a:off x="6477000" y="17780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equal-heading">
            <a:extLst>
              <a:ext uri="{FF2B5EF4-FFF2-40B4-BE49-F238E27FC236}">
                <a16:creationId xmlns:a16="http://schemas.microsoft.com/office/drawing/2014/main" id="{251E7FEF-2F72-4E9D-9DB1-65B232DC1DAB}"/>
              </a:ext>
            </a:extLst>
          </p:cNvPr>
          <p:cNvSpPr txBox="1"/>
          <p:nvPr/>
        </p:nvSpPr>
        <p:spPr bwMode="auto">
          <a:xfrm>
            <a:off x="6667500" y="1892299"/>
            <a:ext cx="4826000" cy="381000"/>
          </a:xfrm>
          <a:prstGeom prst="rect">
            <a:avLst/>
          </a:prstGeom>
        </p:spPr>
        <p:txBody>
          <a:bodyPr vert="horz" wrap="square" lIns="0" tIns="0" rIns="0" bIns="0" rtlCol="0">
            <a:noAutofit/>
          </a:bodyPr>
          <a:lstStyle/>
          <a:p>
            <a:r>
              <a:rPr lang="ru-RU" sz="2100">
                <a:solidFill>
                  <a:srgbClr val="FFFFFF"/>
                </a:solidFill>
                <a:latin typeface="Montserrat"/>
              </a:rPr>
              <a:t>Один источник</a:t>
            </a:r>
          </a:p>
        </p:txBody>
      </p:sp>
      <p:sp>
        <p:nvSpPr>
          <p:cNvPr id="19" name="equal-text">
            <a:extLst>
              <a:ext uri="{FF2B5EF4-FFF2-40B4-BE49-F238E27FC236}">
                <a16:creationId xmlns:a16="http://schemas.microsoft.com/office/drawing/2014/main" id="{E0CB14BD-710A-4E59-ACBD-D6D6F8BDB618}"/>
              </a:ext>
            </a:extLst>
          </p:cNvPr>
          <p:cNvSpPr txBox="1"/>
          <p:nvPr/>
        </p:nvSpPr>
        <p:spPr bwMode="auto">
          <a:xfrm>
            <a:off x="6692900" y="2603499"/>
            <a:ext cx="4775200" cy="609600"/>
          </a:xfrm>
          <a:prstGeom prst="rect">
            <a:avLst/>
          </a:prstGeom>
        </p:spPr>
        <p:txBody>
          <a:bodyPr vert="horz" wrap="square" lIns="0" tIns="0" rIns="0" bIns="0" rtlCol="0">
            <a:noAutofit/>
          </a:bodyPr>
          <a:lstStyle/>
          <a:p>
            <a:r>
              <a:rPr lang="ru-RU" sz="2000">
                <a:solidFill>
                  <a:srgbClr val="352379"/>
                </a:solidFill>
                <a:latin typeface="Montserrat"/>
              </a:rPr>
              <a:t>Все веса одинаковы</a:t>
            </a:r>
          </a:p>
          <a:p>
            <a:r>
              <a:rPr lang="ru-RU" sz="2000">
                <a:solidFill>
                  <a:srgbClr val="352379"/>
                </a:solidFill>
                <a:latin typeface="Montserrat"/>
              </a:rPr>
              <a:t>и положительны? Да: BFS</a:t>
            </a:r>
          </a:p>
        </p:txBody>
      </p:sp>
      <p:sp>
        <p:nvSpPr>
          <p:cNvPr id="20" name="negative-body">
            <a:extLst>
              <a:ext uri="{FF2B5EF4-FFF2-40B4-BE49-F238E27FC236}">
                <a16:creationId xmlns:a16="http://schemas.microsoft.com/office/drawing/2014/main" id="{035F8AF6-C4B0-4C66-8C29-30C0E4664868}"/>
              </a:ext>
            </a:extLst>
          </p:cNvPr>
          <p:cNvSpPr/>
          <p:nvPr/>
        </p:nvSpPr>
        <p:spPr>
          <a:xfrm>
            <a:off x="6477000" y="4013200"/>
            <a:ext cx="5207000" cy="15748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negative-head">
            <a:extLst>
              <a:ext uri="{FF2B5EF4-FFF2-40B4-BE49-F238E27FC236}">
                <a16:creationId xmlns:a16="http://schemas.microsoft.com/office/drawing/2014/main" id="{4C3C8C3F-4E1F-419E-BD50-C4962885FA87}"/>
              </a:ext>
            </a:extLst>
          </p:cNvPr>
          <p:cNvSpPr/>
          <p:nvPr/>
        </p:nvSpPr>
        <p:spPr>
          <a:xfrm>
            <a:off x="6477000" y="40132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negative-heading">
            <a:extLst>
              <a:ext uri="{FF2B5EF4-FFF2-40B4-BE49-F238E27FC236}">
                <a16:creationId xmlns:a16="http://schemas.microsoft.com/office/drawing/2014/main" id="{7DAF0526-9C66-4527-81D8-FDEAC3DD0872}"/>
              </a:ext>
            </a:extLst>
          </p:cNvPr>
          <p:cNvSpPr txBox="1"/>
          <p:nvPr/>
        </p:nvSpPr>
        <p:spPr bwMode="auto">
          <a:xfrm>
            <a:off x="6667500" y="4127499"/>
            <a:ext cx="4826000" cy="381000"/>
          </a:xfrm>
          <a:prstGeom prst="rect">
            <a:avLst/>
          </a:prstGeom>
        </p:spPr>
        <p:txBody>
          <a:bodyPr vert="horz" wrap="square" lIns="0" tIns="0" rIns="0" bIns="0" rtlCol="0">
            <a:noAutofit/>
          </a:bodyPr>
          <a:lstStyle/>
          <a:p>
            <a:r>
              <a:rPr lang="ru-RU" sz="2100">
                <a:solidFill>
                  <a:srgbClr val="FFFFFF"/>
                </a:solidFill>
                <a:latin typeface="Montserrat"/>
              </a:rPr>
              <a:t>Есть отрицательные рёбра?</a:t>
            </a:r>
          </a:p>
        </p:txBody>
      </p:sp>
      <p:sp>
        <p:nvSpPr>
          <p:cNvPr id="23" name="negative-text">
            <a:extLst>
              <a:ext uri="{FF2B5EF4-FFF2-40B4-BE49-F238E27FC236}">
                <a16:creationId xmlns:a16="http://schemas.microsoft.com/office/drawing/2014/main" id="{B6866159-E37F-4436-B5D8-CC73C76E7407}"/>
              </a:ext>
            </a:extLst>
          </p:cNvPr>
          <p:cNvSpPr txBox="1"/>
          <p:nvPr/>
        </p:nvSpPr>
        <p:spPr bwMode="auto">
          <a:xfrm>
            <a:off x="6692900" y="4838699"/>
            <a:ext cx="4775200" cy="609600"/>
          </a:xfrm>
          <a:prstGeom prst="rect">
            <a:avLst/>
          </a:prstGeom>
        </p:spPr>
        <p:txBody>
          <a:bodyPr vert="horz" wrap="square" lIns="0" tIns="0" rIns="0" bIns="0" rtlCol="0">
            <a:noAutofit/>
          </a:bodyPr>
          <a:lstStyle/>
          <a:p>
            <a:r>
              <a:rPr lang="ru-RU" sz="2000">
                <a:solidFill>
                  <a:srgbClr val="352379"/>
                </a:solidFill>
                <a:latin typeface="Montserrat"/>
              </a:rPr>
              <a:t>Да: Bellman–Ford</a:t>
            </a:r>
          </a:p>
          <a:p>
            <a:r>
              <a:rPr lang="ru-RU" sz="2000">
                <a:solidFill>
                  <a:srgbClr val="352379"/>
                </a:solidFill>
                <a:latin typeface="Montserrat"/>
              </a:rPr>
              <a:t>Проверяем достижимый цикл</a:t>
            </a:r>
          </a:p>
        </p:txBody>
      </p:sp>
      <p:sp>
        <p:nvSpPr>
          <p:cNvPr id="24" name="nonnegative-body">
            <a:extLst>
              <a:ext uri="{FF2B5EF4-FFF2-40B4-BE49-F238E27FC236}">
                <a16:creationId xmlns:a16="http://schemas.microsoft.com/office/drawing/2014/main" id="{5D38CBF3-E1F7-4249-9B34-A6C9AEFFDFE4}"/>
              </a:ext>
            </a:extLst>
          </p:cNvPr>
          <p:cNvSpPr/>
          <p:nvPr/>
        </p:nvSpPr>
        <p:spPr>
          <a:xfrm>
            <a:off x="698500" y="4013200"/>
            <a:ext cx="5207000" cy="15748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nonnegative-head">
            <a:extLst>
              <a:ext uri="{FF2B5EF4-FFF2-40B4-BE49-F238E27FC236}">
                <a16:creationId xmlns:a16="http://schemas.microsoft.com/office/drawing/2014/main" id="{F84A7FE0-CB64-46FD-A74D-D1B2DDF6D0FB}"/>
              </a:ext>
            </a:extLst>
          </p:cNvPr>
          <p:cNvSpPr/>
          <p:nvPr/>
        </p:nvSpPr>
        <p:spPr>
          <a:xfrm>
            <a:off x="698500" y="40132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nonnegative-heading">
            <a:extLst>
              <a:ext uri="{FF2B5EF4-FFF2-40B4-BE49-F238E27FC236}">
                <a16:creationId xmlns:a16="http://schemas.microsoft.com/office/drawing/2014/main" id="{FC72939D-DEC7-49CB-92A1-4F0F1FFEE350}"/>
              </a:ext>
            </a:extLst>
          </p:cNvPr>
          <p:cNvSpPr txBox="1"/>
          <p:nvPr/>
        </p:nvSpPr>
        <p:spPr bwMode="auto">
          <a:xfrm>
            <a:off x="889000" y="4127499"/>
            <a:ext cx="4826000" cy="381000"/>
          </a:xfrm>
          <a:prstGeom prst="rect">
            <a:avLst/>
          </a:prstGeom>
        </p:spPr>
        <p:txBody>
          <a:bodyPr vert="horz" wrap="square" lIns="0" tIns="0" rIns="0" bIns="0" rtlCol="0">
            <a:noAutofit/>
          </a:bodyPr>
          <a:lstStyle/>
          <a:p>
            <a:r>
              <a:rPr lang="ru-RU" sz="2100">
                <a:solidFill>
                  <a:srgbClr val="FFFFFF"/>
                </a:solidFill>
                <a:latin typeface="Montserrat"/>
              </a:rPr>
              <a:t>Все веса ≥ 0</a:t>
            </a:r>
          </a:p>
        </p:txBody>
      </p:sp>
      <p:sp>
        <p:nvSpPr>
          <p:cNvPr id="27" name="nonnegative-text">
            <a:extLst>
              <a:ext uri="{FF2B5EF4-FFF2-40B4-BE49-F238E27FC236}">
                <a16:creationId xmlns:a16="http://schemas.microsoft.com/office/drawing/2014/main" id="{0038B148-172D-4375-BD12-9F88DB69BB3E}"/>
              </a:ext>
            </a:extLst>
          </p:cNvPr>
          <p:cNvSpPr txBox="1"/>
          <p:nvPr/>
        </p:nvSpPr>
        <p:spPr bwMode="auto">
          <a:xfrm>
            <a:off x="914400" y="4838699"/>
            <a:ext cx="4775200" cy="609600"/>
          </a:xfrm>
          <a:prstGeom prst="rect">
            <a:avLst/>
          </a:prstGeom>
        </p:spPr>
        <p:txBody>
          <a:bodyPr vert="horz" wrap="square" lIns="0" tIns="0" rIns="0" bIns="0" rtlCol="0">
            <a:noAutofit/>
          </a:bodyPr>
          <a:lstStyle/>
          <a:p>
            <a:r>
              <a:rPr lang="ru-RU" sz="2000">
                <a:solidFill>
                  <a:srgbClr val="352379"/>
                </a:solidFill>
                <a:latin typeface="Montserrat"/>
              </a:rPr>
              <a:t>Dijkstra</a:t>
            </a:r>
          </a:p>
          <a:p>
            <a:r>
              <a:rPr lang="ru-RU" sz="2000">
                <a:solidFill>
                  <a:srgbClr val="352379"/>
                </a:solidFill>
                <a:latin typeface="Montserrat"/>
              </a:rPr>
              <a:t>Выбор минимума через heap</a:t>
            </a:r>
          </a:p>
        </p:txBody>
      </p:sp>
      <p:cxnSp>
        <p:nvCxnSpPr>
          <p:cNvPr id="28" name="decision-one">
            <a:extLst>
              <a:ext uri="{FF2B5EF4-FFF2-40B4-BE49-F238E27FC236}">
                <a16:creationId xmlns:a16="http://schemas.microsoft.com/office/drawing/2014/main" id="{EC127111-8F65-4B73-BB30-054425AE093F}"/>
              </a:ext>
            </a:extLst>
          </p:cNvPr>
          <p:cNvCxnSpPr/>
          <p:nvPr/>
        </p:nvCxnSpPr>
        <p:spPr>
          <a:xfrm>
            <a:off x="5905500" y="2540000"/>
            <a:ext cx="546100" cy="0"/>
          </a:xfrm>
          <a:prstGeom prst="straightConnector1">
            <a:avLst/>
          </a:prstGeom>
          <a:ln w="25400">
            <a:solidFill>
              <a:srgbClr val="352379"/>
            </a:solidFill>
            <a:tailEnd type="arrow"/>
          </a:ln>
        </p:spPr>
        <p:style>
          <a:lnRef idx="1">
            <a:schemeClr val="accent1"/>
          </a:lnRef>
          <a:fillRef idx="0">
            <a:schemeClr val="accent1"/>
          </a:fillRef>
          <a:effectRef idx="0">
            <a:schemeClr val="accent1"/>
          </a:effectRef>
          <a:fontRef idx="minor">
            <a:schemeClr val="tx1"/>
          </a:fontRef>
        </p:style>
      </p:cxnSp>
      <p:cxnSp>
        <p:nvCxnSpPr>
          <p:cNvPr id="29" name="decision-neg">
            <a:extLst>
              <a:ext uri="{FF2B5EF4-FFF2-40B4-BE49-F238E27FC236}">
                <a16:creationId xmlns:a16="http://schemas.microsoft.com/office/drawing/2014/main" id="{2A12B305-6799-49A2-A858-F8705C7301B0}"/>
              </a:ext>
            </a:extLst>
          </p:cNvPr>
          <p:cNvCxnSpPr/>
          <p:nvPr/>
        </p:nvCxnSpPr>
        <p:spPr>
          <a:xfrm>
            <a:off x="9080500" y="3365500"/>
            <a:ext cx="0" cy="584200"/>
          </a:xfrm>
          <a:prstGeom prst="straightConnector1">
            <a:avLst/>
          </a:prstGeom>
          <a:ln w="25400">
            <a:solidFill>
              <a:srgbClr val="352379"/>
            </a:solidFill>
            <a:tailEnd type="arrow"/>
          </a:ln>
        </p:spPr>
        <p:style>
          <a:lnRef idx="1">
            <a:schemeClr val="accent1"/>
          </a:lnRef>
          <a:fillRef idx="0">
            <a:schemeClr val="accent1"/>
          </a:fillRef>
          <a:effectRef idx="0">
            <a:schemeClr val="accent1"/>
          </a:effectRef>
          <a:fontRef idx="minor">
            <a:schemeClr val="tx1"/>
          </a:fontRef>
        </p:style>
      </p:cxnSp>
      <p:cxnSp>
        <p:nvCxnSpPr>
          <p:cNvPr id="30" name="decision-dij">
            <a:extLst>
              <a:ext uri="{FF2B5EF4-FFF2-40B4-BE49-F238E27FC236}">
                <a16:creationId xmlns:a16="http://schemas.microsoft.com/office/drawing/2014/main" id="{9534B4B8-16A9-4C18-8E97-110B0F1AE86D}"/>
              </a:ext>
            </a:extLst>
          </p:cNvPr>
          <p:cNvCxnSpPr/>
          <p:nvPr/>
        </p:nvCxnSpPr>
        <p:spPr>
          <a:xfrm flipH="1">
            <a:off x="5956300" y="4813300"/>
            <a:ext cx="508000" cy="0"/>
          </a:xfrm>
          <a:prstGeom prst="straightConnector1">
            <a:avLst/>
          </a:prstGeom>
          <a:ln w="25400">
            <a:solidFill>
              <a:srgbClr val="352379"/>
            </a:solidFill>
            <a:tailEnd type="arrow"/>
          </a:ln>
        </p:spPr>
        <p:style>
          <a:lnRef idx="1">
            <a:schemeClr val="accent1"/>
          </a:lnRef>
          <a:fillRef idx="0">
            <a:schemeClr val="accent1"/>
          </a:fillRef>
          <a:effectRef idx="0">
            <a:schemeClr val="accent1"/>
          </a:effectRef>
          <a:fontRef idx="minor">
            <a:schemeClr val="tx1"/>
          </a:fontRef>
        </p:style>
      </p:cxnSp>
      <p:sp>
        <p:nvSpPr>
          <p:cNvPr id="31" name="decision-no1">
            <a:extLst>
              <a:ext uri="{FF2B5EF4-FFF2-40B4-BE49-F238E27FC236}">
                <a16:creationId xmlns:a16="http://schemas.microsoft.com/office/drawing/2014/main" id="{E92D1264-509B-4FA8-9CFE-0389726C6E49}"/>
              </a:ext>
            </a:extLst>
          </p:cNvPr>
          <p:cNvSpPr txBox="1"/>
          <p:nvPr/>
        </p:nvSpPr>
        <p:spPr bwMode="auto">
          <a:xfrm>
            <a:off x="5918200" y="2235199"/>
            <a:ext cx="546100" cy="304800"/>
          </a:xfrm>
          <a:prstGeom prst="rect">
            <a:avLst/>
          </a:prstGeom>
        </p:spPr>
        <p:txBody>
          <a:bodyPr vert="horz" wrap="square" lIns="0" tIns="0" rIns="0" bIns="0" rtlCol="0">
            <a:noAutofit/>
          </a:bodyPr>
          <a:lstStyle/>
          <a:p>
            <a:pPr algn="ctr"/>
            <a:r>
              <a:rPr lang="ru-RU" sz="1400">
                <a:solidFill>
                  <a:srgbClr val="352379"/>
                </a:solidFill>
                <a:latin typeface="Montserrat"/>
              </a:rPr>
              <a:t>Нет</a:t>
            </a:r>
          </a:p>
        </p:txBody>
      </p:sp>
      <p:sp>
        <p:nvSpPr>
          <p:cNvPr id="32" name="decision-no2">
            <a:extLst>
              <a:ext uri="{FF2B5EF4-FFF2-40B4-BE49-F238E27FC236}">
                <a16:creationId xmlns:a16="http://schemas.microsoft.com/office/drawing/2014/main" id="{69BCE33B-5FCB-4320-AB21-8F5A36288FFB}"/>
              </a:ext>
            </a:extLst>
          </p:cNvPr>
          <p:cNvSpPr txBox="1"/>
          <p:nvPr/>
        </p:nvSpPr>
        <p:spPr bwMode="auto">
          <a:xfrm>
            <a:off x="9359900" y="3479799"/>
            <a:ext cx="952500" cy="342900"/>
          </a:xfrm>
          <a:prstGeom prst="rect">
            <a:avLst/>
          </a:prstGeom>
        </p:spPr>
        <p:txBody>
          <a:bodyPr vert="horz" wrap="square" lIns="0" tIns="0" rIns="0" bIns="0" rtlCol="0">
            <a:noAutofit/>
          </a:bodyPr>
          <a:lstStyle/>
          <a:p>
            <a:r>
              <a:rPr lang="ru-RU" sz="1600">
                <a:solidFill>
                  <a:srgbClr val="352379"/>
                </a:solidFill>
                <a:latin typeface="Montserrat"/>
              </a:rPr>
              <a:t>Нет</a:t>
            </a:r>
          </a:p>
        </p:txBody>
      </p:sp>
      <p:sp>
        <p:nvSpPr>
          <p:cNvPr id="33" name="decision-no3">
            <a:extLst>
              <a:ext uri="{FF2B5EF4-FFF2-40B4-BE49-F238E27FC236}">
                <a16:creationId xmlns:a16="http://schemas.microsoft.com/office/drawing/2014/main" id="{9F02FC12-0C74-4813-9A8E-8FCED8EB0AB8}"/>
              </a:ext>
            </a:extLst>
          </p:cNvPr>
          <p:cNvSpPr txBox="1"/>
          <p:nvPr/>
        </p:nvSpPr>
        <p:spPr bwMode="auto">
          <a:xfrm>
            <a:off x="5918200" y="4432299"/>
            <a:ext cx="546100" cy="304800"/>
          </a:xfrm>
          <a:prstGeom prst="rect">
            <a:avLst/>
          </a:prstGeom>
        </p:spPr>
        <p:txBody>
          <a:bodyPr vert="horz" wrap="square" lIns="0" tIns="0" rIns="0" bIns="0" rtlCol="0">
            <a:noAutofit/>
          </a:bodyPr>
          <a:lstStyle/>
          <a:p>
            <a:pPr algn="ctr"/>
            <a:r>
              <a:rPr lang="ru-RU" sz="1400">
                <a:solidFill>
                  <a:srgbClr val="352379"/>
                </a:solidFill>
                <a:latin typeface="Montserrat"/>
              </a:rPr>
              <a:t>Нет</a:t>
            </a:r>
          </a:p>
        </p:txBody>
      </p:sp>
    </p:spTree>
    <p:extLst>
      <p:ext uri="{BB962C8B-B14F-4D97-AF65-F5344CB8AC3E}">
        <p14:creationId xmlns:p14="http://schemas.microsoft.com/office/powerpoint/2010/main" val="3308951181"/>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579DD7-9E7D-4395-9FAA-972BAF402041}"/>
              </a:ext>
            </a:extLst>
          </p:cNvPr>
          <p:cNvSpPr>
            <a:spLocks noGrp="1"/>
          </p:cNvSpPr>
          <p:nvPr>
            <p:ph type="title"/>
          </p:nvPr>
        </p:nvSpPr>
        <p:spPr>
          <a:xfrm>
            <a:off x="479425" y="597855"/>
            <a:ext cx="11229975" cy="1140459"/>
          </a:xfrm>
        </p:spPr>
        <p:txBody>
          <a:bodyPr/>
          <a:lstStyle/>
          <a:p>
            <a:r>
              <a:rPr lang="ru-RU" dirty="0"/>
              <a:t>Дорожная сеть</a:t>
            </a:r>
          </a:p>
        </p:txBody>
      </p:sp>
      <p:sp>
        <p:nvSpPr>
          <p:cNvPr id="7" name="Текст 6">
            <a:extLst>
              <a:ext uri="{FF2B5EF4-FFF2-40B4-BE49-F238E27FC236}">
                <a16:creationId xmlns:a16="http://schemas.microsoft.com/office/drawing/2014/main" id="{693FF3F7-521D-47D4-AA46-04AF8FBDFF23}"/>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A6342946-B699-4036-9393-02348E1D104E}"/>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B871EDCF-73E1-4351-B708-0F94C97F73E0}"/>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60</a:t>
            </a:r>
          </a:p>
        </p:txBody>
      </p:sp>
      <p:sp>
        <p:nvSpPr>
          <p:cNvPr id="10" name="bottom-band">
            <a:extLst>
              <a:ext uri="{FF2B5EF4-FFF2-40B4-BE49-F238E27FC236}">
                <a16:creationId xmlns:a16="http://schemas.microsoft.com/office/drawing/2014/main" id="{C7B26592-0AFE-46DC-9172-7EEC23C22774}"/>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FEFC54EC-918B-4316-A3A4-B6161A8A9264}"/>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Обоснуйте выбор свойствами задачи и весов</a:t>
            </a:r>
          </a:p>
        </p:txBody>
      </p:sp>
      <p:sp>
        <p:nvSpPr>
          <p:cNvPr id="12" name="question">
            <a:extLst>
              <a:ext uri="{FF2B5EF4-FFF2-40B4-BE49-F238E27FC236}">
                <a16:creationId xmlns:a16="http://schemas.microsoft.com/office/drawing/2014/main" id="{754F568B-F9CB-42C4-9071-E0882B18D6AD}"/>
              </a:ext>
            </a:extLst>
          </p:cNvPr>
          <p:cNvSpPr txBox="1"/>
          <p:nvPr/>
        </p:nvSpPr>
        <p:spPr bwMode="auto">
          <a:xfrm>
            <a:off x="825500" y="1917699"/>
            <a:ext cx="10541000" cy="1943100"/>
          </a:xfrm>
          <a:prstGeom prst="rect">
            <a:avLst/>
          </a:prstGeom>
        </p:spPr>
        <p:txBody>
          <a:bodyPr vert="horz" wrap="square" lIns="0" tIns="0" rIns="0" bIns="0" rtlCol="0">
            <a:noAutofit/>
          </a:bodyPr>
          <a:lstStyle/>
          <a:p>
            <a:r>
              <a:rPr lang="ru-RU" sz="2900">
                <a:solidFill>
                  <a:srgbClr val="352379"/>
                </a:solidFill>
                <a:latin typeface="Montserrat"/>
              </a:rPr>
              <a:t>Один склад, много пунктов доставки.</a:t>
            </a:r>
          </a:p>
          <a:p>
            <a:r>
              <a:rPr lang="ru-RU" sz="2900">
                <a:solidFill>
                  <a:srgbClr val="352379"/>
                </a:solidFill>
                <a:latin typeface="Montserrat"/>
              </a:rPr>
              <a:t>Все расстояния неотрицательны.</a:t>
            </a:r>
          </a:p>
          <a:p>
            <a:endParaRPr lang="ru-RU" sz="2900">
              <a:solidFill>
                <a:srgbClr val="352379"/>
              </a:solidFill>
              <a:latin typeface="Montserrat"/>
            </a:endParaRPr>
          </a:p>
          <a:p>
            <a:r>
              <a:rPr lang="ru-RU" sz="2900">
                <a:solidFill>
                  <a:srgbClr val="352379"/>
                </a:solidFill>
                <a:latin typeface="Montserrat"/>
              </a:rPr>
              <a:t>Как получить расстояния от склада?</a:t>
            </a:r>
          </a:p>
        </p:txBody>
      </p:sp>
      <p:sp>
        <p:nvSpPr>
          <p:cNvPr id="13" name="answer-background">
            <a:extLst>
              <a:ext uri="{FF2B5EF4-FFF2-40B4-BE49-F238E27FC236}">
                <a16:creationId xmlns:a16="http://schemas.microsoft.com/office/drawing/2014/main" id="{B047228F-4BCB-4BBB-B5A5-0F1F882C4B44}"/>
              </a:ext>
            </a:extLst>
          </p:cNvPr>
          <p:cNvSpPr/>
          <p:nvPr/>
        </p:nvSpPr>
        <p:spPr>
          <a:xfrm>
            <a:off x="825500" y="4279900"/>
            <a:ext cx="10541000" cy="1143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quiz-answer">
            <a:extLst>
              <a:ext uri="{FF2B5EF4-FFF2-40B4-BE49-F238E27FC236}">
                <a16:creationId xmlns:a16="http://schemas.microsoft.com/office/drawing/2014/main" id="{E8EDAB4D-5389-4F83-8595-CD97C808EEC7}"/>
              </a:ext>
            </a:extLst>
          </p:cNvPr>
          <p:cNvSpPr txBox="1"/>
          <p:nvPr/>
        </p:nvSpPr>
        <p:spPr bwMode="auto">
          <a:xfrm>
            <a:off x="1054100" y="4521199"/>
            <a:ext cx="10083800" cy="825500"/>
          </a:xfrm>
          <a:prstGeom prst="rect">
            <a:avLst/>
          </a:prstGeom>
        </p:spPr>
        <p:txBody>
          <a:bodyPr vert="horz" wrap="square" lIns="0" tIns="0" rIns="0" bIns="0" rtlCol="0">
            <a:noAutofit/>
          </a:bodyPr>
          <a:lstStyle/>
          <a:p>
            <a:r>
              <a:rPr lang="ru-RU" sz="2500" b="1">
                <a:solidFill>
                  <a:srgbClr val="352379"/>
                </a:solidFill>
                <a:latin typeface="Montserrat"/>
              </a:rPr>
              <a:t>Дейкстра: один источник, неотрицательные веса.</a:t>
            </a:r>
          </a:p>
        </p:txBody>
      </p:sp>
    </p:spTree>
    <p:extLst>
      <p:ext uri="{BB962C8B-B14F-4D97-AF65-F5344CB8AC3E}">
        <p14:creationId xmlns:p14="http://schemas.microsoft.com/office/powerpoint/2010/main" val="12767116"/>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657A966-86C7-4FBC-A356-CE15497F382E}"/>
              </a:ext>
            </a:extLst>
          </p:cNvPr>
          <p:cNvSpPr>
            <a:spLocks noGrp="1"/>
          </p:cNvSpPr>
          <p:nvPr>
            <p:ph type="title"/>
          </p:nvPr>
        </p:nvSpPr>
        <p:spPr>
          <a:xfrm>
            <a:off x="479425" y="597855"/>
            <a:ext cx="11229975" cy="1140459"/>
          </a:xfrm>
        </p:spPr>
        <p:txBody>
          <a:bodyPr/>
          <a:lstStyle/>
          <a:p>
            <a:r>
              <a:rPr lang="ru-RU" dirty="0"/>
              <a:t>Два новых условия</a:t>
            </a:r>
          </a:p>
        </p:txBody>
      </p:sp>
      <p:sp>
        <p:nvSpPr>
          <p:cNvPr id="7" name="Текст 6">
            <a:extLst>
              <a:ext uri="{FF2B5EF4-FFF2-40B4-BE49-F238E27FC236}">
                <a16:creationId xmlns:a16="http://schemas.microsoft.com/office/drawing/2014/main" id="{FA2E9DBB-FE72-4F2B-827F-1D15DBE4E3BB}"/>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9F8D2D0F-C43D-4FEC-94E2-BE3C0D3E77A3}"/>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82CEA0B4-9AEE-4745-8D8B-6A9217F05781}"/>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61</a:t>
            </a:r>
          </a:p>
        </p:txBody>
      </p:sp>
      <p:sp>
        <p:nvSpPr>
          <p:cNvPr id="10" name="bottom-band">
            <a:extLst>
              <a:ext uri="{FF2B5EF4-FFF2-40B4-BE49-F238E27FC236}">
                <a16:creationId xmlns:a16="http://schemas.microsoft.com/office/drawing/2014/main" id="{C93A4680-9D29-4731-A25F-9FD10C2B669F}"/>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130FCCFC-F415-4C7C-B191-0F49F249F2AC}"/>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Отдельный щелчок раскрывает ответ на каждую задачу</a:t>
            </a:r>
          </a:p>
        </p:txBody>
      </p:sp>
      <p:sp>
        <p:nvSpPr>
          <p:cNvPr id="12" name="question-0-body">
            <a:extLst>
              <a:ext uri="{FF2B5EF4-FFF2-40B4-BE49-F238E27FC236}">
                <a16:creationId xmlns:a16="http://schemas.microsoft.com/office/drawing/2014/main" id="{04F3B9A8-94B0-4E60-A391-B8E3CE910E43}"/>
              </a:ext>
            </a:extLst>
          </p:cNvPr>
          <p:cNvSpPr/>
          <p:nvPr/>
        </p:nvSpPr>
        <p:spPr>
          <a:xfrm>
            <a:off x="698500" y="1816100"/>
            <a:ext cx="5207000" cy="25527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question-0-head">
            <a:extLst>
              <a:ext uri="{FF2B5EF4-FFF2-40B4-BE49-F238E27FC236}">
                <a16:creationId xmlns:a16="http://schemas.microsoft.com/office/drawing/2014/main" id="{E779A98D-173D-4301-AD14-0BA6D2B422CC}"/>
              </a:ext>
            </a:extLst>
          </p:cNvPr>
          <p:cNvSpPr/>
          <p:nvPr/>
        </p:nvSpPr>
        <p:spPr>
          <a:xfrm>
            <a:off x="6985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question-0-heading">
            <a:extLst>
              <a:ext uri="{FF2B5EF4-FFF2-40B4-BE49-F238E27FC236}">
                <a16:creationId xmlns:a16="http://schemas.microsoft.com/office/drawing/2014/main" id="{34DB3470-977A-47C3-8F29-719BF4FC747F}"/>
              </a:ext>
            </a:extLst>
          </p:cNvPr>
          <p:cNvSpPr txBox="1"/>
          <p:nvPr/>
        </p:nvSpPr>
        <p:spPr bwMode="auto">
          <a:xfrm>
            <a:off x="8890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Задача 1</a:t>
            </a:r>
          </a:p>
        </p:txBody>
      </p:sp>
      <p:sp>
        <p:nvSpPr>
          <p:cNvPr id="15" name="question-0-text">
            <a:extLst>
              <a:ext uri="{FF2B5EF4-FFF2-40B4-BE49-F238E27FC236}">
                <a16:creationId xmlns:a16="http://schemas.microsoft.com/office/drawing/2014/main" id="{358F5D0D-EF9B-4AD6-BCCE-7D782CD90FB5}"/>
              </a:ext>
            </a:extLst>
          </p:cNvPr>
          <p:cNvSpPr txBox="1"/>
          <p:nvPr/>
        </p:nvSpPr>
        <p:spPr bwMode="auto">
          <a:xfrm>
            <a:off x="914400" y="2641599"/>
            <a:ext cx="4775200" cy="1587500"/>
          </a:xfrm>
          <a:prstGeom prst="rect">
            <a:avLst/>
          </a:prstGeom>
        </p:spPr>
        <p:txBody>
          <a:bodyPr vert="horz" wrap="square" lIns="0" tIns="0" rIns="0" bIns="0" rtlCol="0">
            <a:noAutofit/>
          </a:bodyPr>
          <a:lstStyle/>
          <a:p>
            <a:r>
              <a:rPr lang="ru-RU" sz="2200">
                <a:solidFill>
                  <a:srgbClr val="352379"/>
                </a:solidFill>
                <a:latin typeface="Montserrat"/>
              </a:rPr>
              <a:t>Один источник. Есть отрицательные рёбра,</a:t>
            </a:r>
          </a:p>
          <a:p>
            <a:r>
              <a:rPr lang="ru-RU" sz="2200">
                <a:solidFill>
                  <a:srgbClr val="352379"/>
                </a:solidFill>
                <a:latin typeface="Montserrat"/>
              </a:rPr>
              <a:t>достижимых отрицательных циклов нет.</a:t>
            </a:r>
          </a:p>
        </p:txBody>
      </p:sp>
      <p:sp>
        <p:nvSpPr>
          <p:cNvPr id="16" name="answer-0">
            <a:extLst>
              <a:ext uri="{FF2B5EF4-FFF2-40B4-BE49-F238E27FC236}">
                <a16:creationId xmlns:a16="http://schemas.microsoft.com/office/drawing/2014/main" id="{426A73FE-7FC4-4689-BC40-0515B600275E}"/>
              </a:ext>
            </a:extLst>
          </p:cNvPr>
          <p:cNvSpPr txBox="1"/>
          <p:nvPr/>
        </p:nvSpPr>
        <p:spPr bwMode="auto">
          <a:xfrm>
            <a:off x="800100" y="4711699"/>
            <a:ext cx="5029200" cy="876300"/>
          </a:xfrm>
          <a:prstGeom prst="rect">
            <a:avLst/>
          </a:prstGeom>
        </p:spPr>
        <p:txBody>
          <a:bodyPr vert="horz" wrap="square" lIns="0" tIns="0" rIns="0" bIns="0" rtlCol="0">
            <a:noAutofit/>
          </a:bodyPr>
          <a:lstStyle/>
          <a:p>
            <a:r>
              <a:rPr lang="ru-RU" sz="2300" b="1">
                <a:solidFill>
                  <a:srgbClr val="352379"/>
                </a:solidFill>
                <a:latin typeface="Montserrat"/>
              </a:rPr>
              <a:t>Беллман–Форд</a:t>
            </a:r>
          </a:p>
        </p:txBody>
      </p:sp>
      <p:sp>
        <p:nvSpPr>
          <p:cNvPr id="17" name="question-1-body">
            <a:extLst>
              <a:ext uri="{FF2B5EF4-FFF2-40B4-BE49-F238E27FC236}">
                <a16:creationId xmlns:a16="http://schemas.microsoft.com/office/drawing/2014/main" id="{566104C6-1360-4C5B-9E7D-CBF1EAFFDFFD}"/>
              </a:ext>
            </a:extLst>
          </p:cNvPr>
          <p:cNvSpPr/>
          <p:nvPr/>
        </p:nvSpPr>
        <p:spPr>
          <a:xfrm>
            <a:off x="6477000" y="1816100"/>
            <a:ext cx="5207000" cy="25527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question-1-head">
            <a:extLst>
              <a:ext uri="{FF2B5EF4-FFF2-40B4-BE49-F238E27FC236}">
                <a16:creationId xmlns:a16="http://schemas.microsoft.com/office/drawing/2014/main" id="{51FEFC42-DA0C-4EA9-8771-DE666CC1568F}"/>
              </a:ext>
            </a:extLst>
          </p:cNvPr>
          <p:cNvSpPr/>
          <p:nvPr/>
        </p:nvSpPr>
        <p:spPr>
          <a:xfrm>
            <a:off x="64770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question-1-heading">
            <a:extLst>
              <a:ext uri="{FF2B5EF4-FFF2-40B4-BE49-F238E27FC236}">
                <a16:creationId xmlns:a16="http://schemas.microsoft.com/office/drawing/2014/main" id="{21CB44B5-64F7-4BE4-A52C-D88B62BE665D}"/>
              </a:ext>
            </a:extLst>
          </p:cNvPr>
          <p:cNvSpPr txBox="1"/>
          <p:nvPr/>
        </p:nvSpPr>
        <p:spPr bwMode="auto">
          <a:xfrm>
            <a:off x="66675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Задача 2</a:t>
            </a:r>
          </a:p>
        </p:txBody>
      </p:sp>
      <p:sp>
        <p:nvSpPr>
          <p:cNvPr id="20" name="question-1-text">
            <a:extLst>
              <a:ext uri="{FF2B5EF4-FFF2-40B4-BE49-F238E27FC236}">
                <a16:creationId xmlns:a16="http://schemas.microsoft.com/office/drawing/2014/main" id="{49C36702-67F9-4041-9943-A8FF1B54FCB6}"/>
              </a:ext>
            </a:extLst>
          </p:cNvPr>
          <p:cNvSpPr txBox="1"/>
          <p:nvPr/>
        </p:nvSpPr>
        <p:spPr bwMode="auto">
          <a:xfrm>
            <a:off x="6692900" y="2641599"/>
            <a:ext cx="4775200" cy="1587500"/>
          </a:xfrm>
          <a:prstGeom prst="rect">
            <a:avLst/>
          </a:prstGeom>
        </p:spPr>
        <p:txBody>
          <a:bodyPr vert="horz" wrap="square" lIns="0" tIns="0" rIns="0" bIns="0" rtlCol="0">
            <a:noAutofit/>
          </a:bodyPr>
          <a:lstStyle/>
          <a:p>
            <a:r>
              <a:rPr lang="ru-RU" sz="2200">
                <a:solidFill>
                  <a:srgbClr val="352379"/>
                </a:solidFill>
                <a:latin typeface="Montserrat"/>
              </a:rPr>
              <a:t>Нужна таблица расстояний между всеми</a:t>
            </a:r>
          </a:p>
          <a:p>
            <a:r>
              <a:rPr lang="ru-RU" sz="2200">
                <a:solidFill>
                  <a:srgbClr val="352379"/>
                </a:solidFill>
                <a:latin typeface="Montserrat"/>
              </a:rPr>
              <a:t>парами из 100 вершин.</a:t>
            </a:r>
          </a:p>
        </p:txBody>
      </p:sp>
      <p:sp>
        <p:nvSpPr>
          <p:cNvPr id="21" name="answer-1">
            <a:extLst>
              <a:ext uri="{FF2B5EF4-FFF2-40B4-BE49-F238E27FC236}">
                <a16:creationId xmlns:a16="http://schemas.microsoft.com/office/drawing/2014/main" id="{2D487D58-FE68-4CEE-A1C5-30B9CDC31B1C}"/>
              </a:ext>
            </a:extLst>
          </p:cNvPr>
          <p:cNvSpPr txBox="1"/>
          <p:nvPr/>
        </p:nvSpPr>
        <p:spPr bwMode="auto">
          <a:xfrm>
            <a:off x="6578600" y="4711699"/>
            <a:ext cx="5029200" cy="876300"/>
          </a:xfrm>
          <a:prstGeom prst="rect">
            <a:avLst/>
          </a:prstGeom>
        </p:spPr>
        <p:txBody>
          <a:bodyPr vert="horz" wrap="square" lIns="0" tIns="0" rIns="0" bIns="0" rtlCol="0">
            <a:noAutofit/>
          </a:bodyPr>
          <a:lstStyle/>
          <a:p>
            <a:r>
              <a:rPr lang="ru-RU" sz="2300" b="1">
                <a:solidFill>
                  <a:srgbClr val="352379"/>
                </a:solidFill>
                <a:latin typeface="Montserrat"/>
              </a:rPr>
              <a:t>Флойд–Уоршелл: 100³ = 10⁶ проверок</a:t>
            </a:r>
          </a:p>
        </p:txBody>
      </p:sp>
    </p:spTree>
    <p:extLst>
      <p:ext uri="{BB962C8B-B14F-4D97-AF65-F5344CB8AC3E}">
        <p14:creationId xmlns:p14="http://schemas.microsoft.com/office/powerpoint/2010/main" val="1347892221"/>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9"/>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1"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3839865-A249-412F-BD02-7C8293C5550A}"/>
              </a:ext>
            </a:extLst>
          </p:cNvPr>
          <p:cNvSpPr>
            <a:spLocks noGrp="1"/>
          </p:cNvSpPr>
          <p:nvPr>
            <p:ph type="title"/>
          </p:nvPr>
        </p:nvSpPr>
        <p:spPr>
          <a:xfrm>
            <a:off x="479425" y="597855"/>
            <a:ext cx="11229975" cy="1140459"/>
          </a:xfrm>
        </p:spPr>
        <p:txBody>
          <a:bodyPr/>
          <a:lstStyle/>
          <a:p>
            <a:r>
              <a:rPr lang="ru-RU"/>
              <a:t>Что нужно запомнить</a:t>
            </a:r>
          </a:p>
        </p:txBody>
      </p:sp>
      <p:sp>
        <p:nvSpPr>
          <p:cNvPr id="7" name="Текст 6">
            <a:extLst>
              <a:ext uri="{FF2B5EF4-FFF2-40B4-BE49-F238E27FC236}">
                <a16:creationId xmlns:a16="http://schemas.microsoft.com/office/drawing/2014/main" id="{0AA311E8-74E2-403F-A847-9783B8424E21}"/>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248FBE52-A5B6-4CCD-AA7A-896B974B3D0C}"/>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A6C7242E-950D-4E07-B52E-BAA15FA20D6B}"/>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63</a:t>
            </a:r>
          </a:p>
        </p:txBody>
      </p:sp>
      <p:sp>
        <p:nvSpPr>
          <p:cNvPr id="10" name="bottom-band">
            <a:extLst>
              <a:ext uri="{FF2B5EF4-FFF2-40B4-BE49-F238E27FC236}">
                <a16:creationId xmlns:a16="http://schemas.microsoft.com/office/drawing/2014/main" id="{B2A417CD-53F3-4BC3-BFA8-A4C1BB437A2E}"/>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F62A82E6-EF2B-46C4-88BC-097561E3E056}"/>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Релаксация связывает все три алгоритма для взвешенных графов</a:t>
            </a:r>
          </a:p>
        </p:txBody>
      </p:sp>
      <p:sp>
        <p:nvSpPr>
          <p:cNvPr id="12" name="summary-one-body">
            <a:extLst>
              <a:ext uri="{FF2B5EF4-FFF2-40B4-BE49-F238E27FC236}">
                <a16:creationId xmlns:a16="http://schemas.microsoft.com/office/drawing/2014/main" id="{073FA6B4-BCE9-4358-8E9A-41EB036091FB}"/>
              </a:ext>
            </a:extLst>
          </p:cNvPr>
          <p:cNvSpPr/>
          <p:nvPr/>
        </p:nvSpPr>
        <p:spPr>
          <a:xfrm>
            <a:off x="698500" y="1816100"/>
            <a:ext cx="5207000" cy="38735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summary-one-head">
            <a:extLst>
              <a:ext uri="{FF2B5EF4-FFF2-40B4-BE49-F238E27FC236}">
                <a16:creationId xmlns:a16="http://schemas.microsoft.com/office/drawing/2014/main" id="{00DB48F0-32EF-4983-858C-F4DFE5544A1D}"/>
              </a:ext>
            </a:extLst>
          </p:cNvPr>
          <p:cNvSpPr/>
          <p:nvPr/>
        </p:nvSpPr>
        <p:spPr>
          <a:xfrm>
            <a:off x="6985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summary-one-heading">
            <a:extLst>
              <a:ext uri="{FF2B5EF4-FFF2-40B4-BE49-F238E27FC236}">
                <a16:creationId xmlns:a16="http://schemas.microsoft.com/office/drawing/2014/main" id="{CB63820B-3DA7-4BBA-8954-206B0703CE9A}"/>
              </a:ext>
            </a:extLst>
          </p:cNvPr>
          <p:cNvSpPr txBox="1"/>
          <p:nvPr/>
        </p:nvSpPr>
        <p:spPr bwMode="auto">
          <a:xfrm>
            <a:off x="8890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Путь и состояние</a:t>
            </a:r>
          </a:p>
        </p:txBody>
      </p:sp>
      <p:sp>
        <p:nvSpPr>
          <p:cNvPr id="15" name="summary-one-text">
            <a:extLst>
              <a:ext uri="{FF2B5EF4-FFF2-40B4-BE49-F238E27FC236}">
                <a16:creationId xmlns:a16="http://schemas.microsoft.com/office/drawing/2014/main" id="{0841A39B-42E0-4503-9432-08C0DFF12C30}"/>
              </a:ext>
            </a:extLst>
          </p:cNvPr>
          <p:cNvSpPr txBox="1"/>
          <p:nvPr/>
        </p:nvSpPr>
        <p:spPr bwMode="auto">
          <a:xfrm>
            <a:off x="914400" y="2641599"/>
            <a:ext cx="4775200" cy="2908300"/>
          </a:xfrm>
          <a:prstGeom prst="rect">
            <a:avLst/>
          </a:prstGeom>
        </p:spPr>
        <p:txBody>
          <a:bodyPr vert="horz" wrap="square" lIns="0" tIns="0" rIns="0" bIns="0" rtlCol="0">
            <a:noAutofit/>
          </a:bodyPr>
          <a:lstStyle/>
          <a:p>
            <a:r>
              <a:rPr lang="ru-RU" sz="2000">
                <a:solidFill>
                  <a:srgbClr val="352379"/>
                </a:solidFill>
                <a:latin typeface="Montserrat"/>
              </a:rPr>
              <a:t>BFS: одинаковые положительные веса</a:t>
            </a:r>
          </a:p>
          <a:p>
            <a:endParaRPr lang="ru-RU" sz="2000">
              <a:solidFill>
                <a:srgbClr val="352379"/>
              </a:solidFill>
              <a:latin typeface="Montserrat"/>
            </a:endParaRPr>
          </a:p>
          <a:p>
            <a:r>
              <a:rPr lang="ru-RU" sz="2000">
                <a:solidFill>
                  <a:srgbClr val="352379"/>
                </a:solidFill>
                <a:latin typeface="Montserrat"/>
              </a:rPr>
              <a:t>Dijkstra: все веса ≥ 0</a:t>
            </a:r>
          </a:p>
          <a:p>
            <a:endParaRPr lang="ru-RU" sz="2000">
              <a:solidFill>
                <a:srgbClr val="352379"/>
              </a:solidFill>
              <a:latin typeface="Montserrat"/>
            </a:endParaRPr>
          </a:p>
          <a:p>
            <a:r>
              <a:rPr lang="ru-RU" sz="2000">
                <a:solidFill>
                  <a:srgbClr val="352379"/>
                </a:solidFill>
                <a:latin typeface="Montserrat"/>
              </a:rPr>
              <a:t>Релаксация: улучшить оценку</a:t>
            </a:r>
          </a:p>
          <a:p>
            <a:endParaRPr lang="ru-RU" sz="2000">
              <a:solidFill>
                <a:srgbClr val="352379"/>
              </a:solidFill>
              <a:latin typeface="Montserrat"/>
            </a:endParaRPr>
          </a:p>
          <a:p>
            <a:r>
              <a:rPr lang="ru-RU" sz="2000">
                <a:solidFill>
                  <a:srgbClr val="352379"/>
                </a:solidFill>
                <a:latin typeface="Montserrat"/>
              </a:rPr>
              <a:t>Heap: быстро выбрать минимум</a:t>
            </a:r>
          </a:p>
        </p:txBody>
      </p:sp>
      <p:sp>
        <p:nvSpPr>
          <p:cNvPr id="16" name="summary-two-body">
            <a:extLst>
              <a:ext uri="{FF2B5EF4-FFF2-40B4-BE49-F238E27FC236}">
                <a16:creationId xmlns:a16="http://schemas.microsoft.com/office/drawing/2014/main" id="{A01EDBA3-D3FB-4D40-A9A3-2F6240868D73}"/>
              </a:ext>
            </a:extLst>
          </p:cNvPr>
          <p:cNvSpPr/>
          <p:nvPr/>
        </p:nvSpPr>
        <p:spPr>
          <a:xfrm>
            <a:off x="6477000" y="1816100"/>
            <a:ext cx="5207000" cy="38735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summary-two-head">
            <a:extLst>
              <a:ext uri="{FF2B5EF4-FFF2-40B4-BE49-F238E27FC236}">
                <a16:creationId xmlns:a16="http://schemas.microsoft.com/office/drawing/2014/main" id="{02C025A7-ED67-4E08-9D83-1B2DD0A2AAB1}"/>
              </a:ext>
            </a:extLst>
          </p:cNvPr>
          <p:cNvSpPr/>
          <p:nvPr/>
        </p:nvSpPr>
        <p:spPr>
          <a:xfrm>
            <a:off x="6477000" y="1816100"/>
            <a:ext cx="52070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summary-two-heading">
            <a:extLst>
              <a:ext uri="{FF2B5EF4-FFF2-40B4-BE49-F238E27FC236}">
                <a16:creationId xmlns:a16="http://schemas.microsoft.com/office/drawing/2014/main" id="{CDA74348-6360-4AA8-9DD1-6378283D2A3D}"/>
              </a:ext>
            </a:extLst>
          </p:cNvPr>
          <p:cNvSpPr txBox="1"/>
          <p:nvPr/>
        </p:nvSpPr>
        <p:spPr bwMode="auto">
          <a:xfrm>
            <a:off x="6667500" y="1930399"/>
            <a:ext cx="4826000" cy="381000"/>
          </a:xfrm>
          <a:prstGeom prst="rect">
            <a:avLst/>
          </a:prstGeom>
        </p:spPr>
        <p:txBody>
          <a:bodyPr vert="horz" wrap="square" lIns="0" tIns="0" rIns="0" bIns="0" rtlCol="0">
            <a:noAutofit/>
          </a:bodyPr>
          <a:lstStyle/>
          <a:p>
            <a:r>
              <a:rPr lang="ru-RU" sz="2100">
                <a:solidFill>
                  <a:srgbClr val="FFFFFF"/>
                </a:solidFill>
                <a:latin typeface="Montserrat"/>
              </a:rPr>
              <a:t>Границы и расширение</a:t>
            </a:r>
          </a:p>
        </p:txBody>
      </p:sp>
      <p:sp>
        <p:nvSpPr>
          <p:cNvPr id="19" name="summary-two-text">
            <a:extLst>
              <a:ext uri="{FF2B5EF4-FFF2-40B4-BE49-F238E27FC236}">
                <a16:creationId xmlns:a16="http://schemas.microsoft.com/office/drawing/2014/main" id="{6AB8721A-591B-47FE-91C9-5FEB30BB83F5}"/>
              </a:ext>
            </a:extLst>
          </p:cNvPr>
          <p:cNvSpPr txBox="1"/>
          <p:nvPr/>
        </p:nvSpPr>
        <p:spPr bwMode="auto">
          <a:xfrm>
            <a:off x="6692900" y="2641599"/>
            <a:ext cx="4775200" cy="2908300"/>
          </a:xfrm>
          <a:prstGeom prst="rect">
            <a:avLst/>
          </a:prstGeom>
        </p:spPr>
        <p:txBody>
          <a:bodyPr vert="horz" wrap="square" lIns="0" tIns="0" rIns="0" bIns="0" rtlCol="0">
            <a:noAutofit/>
          </a:bodyPr>
          <a:lstStyle/>
          <a:p>
            <a:r>
              <a:rPr lang="en-US" sz="2000">
                <a:solidFill>
                  <a:srgbClr val="352379"/>
                </a:solidFill>
                <a:latin typeface="Montserrat"/>
              </a:rPr>
              <a:t>parent: </a:t>
            </a:r>
            <a:r>
              <a:rPr lang="ru-RU" sz="2000">
                <a:solidFill>
                  <a:srgbClr val="352379"/>
                </a:solidFill>
                <a:latin typeface="Montserrat"/>
              </a:rPr>
              <a:t>восстановить маршрут</a:t>
            </a:r>
          </a:p>
          <a:p>
            <a:endParaRPr lang="ru-RU" sz="2000">
              <a:solidFill>
                <a:srgbClr val="352379"/>
              </a:solidFill>
              <a:latin typeface="Montserrat"/>
            </a:endParaRPr>
          </a:p>
          <a:p>
            <a:r>
              <a:rPr lang="ru-RU" sz="2000">
                <a:solidFill>
                  <a:srgbClr val="352379"/>
                </a:solidFill>
                <a:latin typeface="Montserrat"/>
              </a:rPr>
              <a:t>Отрицательное ребро ломает</a:t>
            </a:r>
          </a:p>
          <a:p>
            <a:r>
              <a:rPr lang="ru-RU" sz="2000">
                <a:solidFill>
                  <a:srgbClr val="352379"/>
                </a:solidFill>
                <a:latin typeface="Montserrat"/>
              </a:rPr>
              <a:t>гарантию Дейкстры</a:t>
            </a:r>
          </a:p>
          <a:p>
            <a:endParaRPr lang="ru-RU" sz="2000">
              <a:solidFill>
                <a:srgbClr val="352379"/>
              </a:solidFill>
              <a:latin typeface="Montserrat"/>
            </a:endParaRPr>
          </a:p>
          <a:p>
            <a:r>
              <a:rPr lang="en-US" sz="2000">
                <a:solidFill>
                  <a:srgbClr val="352379"/>
                </a:solidFill>
                <a:latin typeface="Montserrat"/>
              </a:rPr>
              <a:t>Bellman–Ford: </a:t>
            </a:r>
            <a:r>
              <a:rPr lang="ru-RU" sz="2000">
                <a:solidFill>
                  <a:srgbClr val="352379"/>
                </a:solidFill>
                <a:latin typeface="Montserrat"/>
              </a:rPr>
              <a:t>веса и цикл</a:t>
            </a:r>
          </a:p>
          <a:p>
            <a:endParaRPr lang="ru-RU" sz="2000">
              <a:solidFill>
                <a:srgbClr val="352379"/>
              </a:solidFill>
              <a:latin typeface="Montserrat"/>
            </a:endParaRPr>
          </a:p>
          <a:p>
            <a:r>
              <a:rPr lang="en-US" sz="2000">
                <a:solidFill>
                  <a:srgbClr val="352379"/>
                </a:solidFill>
                <a:latin typeface="Montserrat"/>
              </a:rPr>
              <a:t>Floyd–Warshall: </a:t>
            </a:r>
            <a:r>
              <a:rPr lang="ru-RU" sz="2000">
                <a:solidFill>
                  <a:srgbClr val="352379"/>
                </a:solidFill>
                <a:latin typeface="Montserrat"/>
              </a:rPr>
              <a:t>все пары</a:t>
            </a:r>
          </a:p>
        </p:txBody>
      </p:sp>
    </p:spTree>
    <p:extLst>
      <p:ext uri="{BB962C8B-B14F-4D97-AF65-F5344CB8AC3E}">
        <p14:creationId xmlns:p14="http://schemas.microsoft.com/office/powerpoint/2010/main" val="4264645520"/>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98D495-5885-49FF-9EEF-BE0D0D0C63B2}"/>
              </a:ext>
            </a:extLst>
          </p:cNvPr>
          <p:cNvSpPr>
            <a:spLocks noGrp="1"/>
          </p:cNvSpPr>
          <p:nvPr>
            <p:ph type="title"/>
          </p:nvPr>
        </p:nvSpPr>
        <p:spPr>
          <a:xfrm>
            <a:off x="479425" y="597855"/>
            <a:ext cx="11229975" cy="1140459"/>
          </a:xfrm>
        </p:spPr>
        <p:txBody>
          <a:bodyPr/>
          <a:lstStyle/>
          <a:p>
            <a:r>
              <a:rPr lang="ru-RU"/>
              <a:t>Следующая лекция: соединить все вершины</a:t>
            </a:r>
          </a:p>
        </p:txBody>
      </p:sp>
      <p:sp>
        <p:nvSpPr>
          <p:cNvPr id="7" name="Текст 6">
            <a:extLst>
              <a:ext uri="{FF2B5EF4-FFF2-40B4-BE49-F238E27FC236}">
                <a16:creationId xmlns:a16="http://schemas.microsoft.com/office/drawing/2014/main" id="{52B9B33F-F738-4FA5-81EA-7F362E1E6F11}"/>
              </a:ext>
            </a:extLst>
          </p:cNvPr>
          <p:cNvSpPr>
            <a:spLocks noGrp="1"/>
          </p:cNvSpPr>
          <p:nvPr>
            <p:ph type="body" sz="quarter" idx="19"/>
          </p:nvPr>
        </p:nvSpPr>
        <p:spPr>
          <a:xfrm>
            <a:off x="479424" y="149225"/>
            <a:ext cx="9940926" cy="276546"/>
          </a:xfrm>
        </p:spPr>
        <p:txBody>
          <a:bodyPr/>
          <a:lstStyle/>
          <a:p>
            <a:r>
              <a:rPr lang="ru-RU" sz="1200"/>
              <a:t>Лекция 5. Кратчайшие пути</a:t>
            </a:r>
          </a:p>
        </p:txBody>
      </p:sp>
      <p:sp>
        <p:nvSpPr>
          <p:cNvPr id="8" name="lecture-footer">
            <a:extLst>
              <a:ext uri="{FF2B5EF4-FFF2-40B4-BE49-F238E27FC236}">
                <a16:creationId xmlns:a16="http://schemas.microsoft.com/office/drawing/2014/main" id="{6F822D73-D950-4D98-9B92-8D109F9EC118}"/>
              </a:ext>
            </a:extLst>
          </p:cNvPr>
          <p:cNvSpPr txBox="1"/>
          <p:nvPr/>
        </p:nvSpPr>
        <p:spPr bwMode="auto">
          <a:xfrm>
            <a:off x="482600" y="6598920"/>
            <a:ext cx="9525000" cy="236220"/>
          </a:xfrm>
          <a:prstGeom prst="rect">
            <a:avLst/>
          </a:prstGeom>
        </p:spPr>
        <p:txBody>
          <a:bodyPr vert="horz" wrap="square" lIns="0" tIns="0" rIns="0" bIns="0" rtlCol="0">
            <a:noAutofit/>
          </a:bodyPr>
          <a:lstStyle/>
          <a:p>
            <a:r>
              <a:rPr lang="ru-RU" sz="1200">
                <a:solidFill>
                  <a:srgbClr val="352379"/>
                </a:solidFill>
                <a:latin typeface="Montserrat"/>
              </a:rPr>
              <a:t>Структуры и алгоритмы обработки данных · Лекция 5</a:t>
            </a:r>
          </a:p>
        </p:txBody>
      </p:sp>
      <p:sp>
        <p:nvSpPr>
          <p:cNvPr id="9" name="slide-number">
            <a:extLst>
              <a:ext uri="{FF2B5EF4-FFF2-40B4-BE49-F238E27FC236}">
                <a16:creationId xmlns:a16="http://schemas.microsoft.com/office/drawing/2014/main" id="{E37C5BD0-76DF-4BD9-923F-6CF8331F60AA}"/>
              </a:ext>
            </a:extLst>
          </p:cNvPr>
          <p:cNvSpPr txBox="1"/>
          <p:nvPr/>
        </p:nvSpPr>
        <p:spPr bwMode="auto">
          <a:xfrm>
            <a:off x="11023600" y="6573520"/>
            <a:ext cx="685800" cy="236220"/>
          </a:xfrm>
          <a:prstGeom prst="rect">
            <a:avLst/>
          </a:prstGeom>
        </p:spPr>
        <p:txBody>
          <a:bodyPr vert="horz" wrap="square" lIns="0" tIns="0" rIns="0" bIns="0" rtlCol="0">
            <a:noAutofit/>
          </a:bodyPr>
          <a:lstStyle/>
          <a:p>
            <a:pPr algn="ctr"/>
            <a:r>
              <a:rPr lang="ru-RU" sz="1200">
                <a:solidFill>
                  <a:srgbClr val="352379"/>
                </a:solidFill>
                <a:latin typeface="Montserrat"/>
              </a:rPr>
              <a:t>64</a:t>
            </a:r>
          </a:p>
        </p:txBody>
      </p:sp>
      <p:sp>
        <p:nvSpPr>
          <p:cNvPr id="10" name="bottom-band">
            <a:extLst>
              <a:ext uri="{FF2B5EF4-FFF2-40B4-BE49-F238E27FC236}">
                <a16:creationId xmlns:a16="http://schemas.microsoft.com/office/drawing/2014/main" id="{3ADFFBC9-E3CE-445B-B08C-19F013B170EB}"/>
              </a:ext>
            </a:extLst>
          </p:cNvPr>
          <p:cNvSpPr/>
          <p:nvPr/>
        </p:nvSpPr>
        <p:spPr>
          <a:xfrm>
            <a:off x="482600" y="5905500"/>
            <a:ext cx="11226800" cy="5842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bottom-message">
            <a:extLst>
              <a:ext uri="{FF2B5EF4-FFF2-40B4-BE49-F238E27FC236}">
                <a16:creationId xmlns:a16="http://schemas.microsoft.com/office/drawing/2014/main" id="{B66DE5D9-1837-4BF7-BBF8-D8F9F031E3F5}"/>
              </a:ext>
            </a:extLst>
          </p:cNvPr>
          <p:cNvSpPr txBox="1"/>
          <p:nvPr/>
        </p:nvSpPr>
        <p:spPr bwMode="auto">
          <a:xfrm>
            <a:off x="660400" y="5981699"/>
            <a:ext cx="10871200" cy="406400"/>
          </a:xfrm>
          <a:prstGeom prst="rect">
            <a:avLst/>
          </a:prstGeom>
        </p:spPr>
        <p:txBody>
          <a:bodyPr vert="horz" wrap="square" lIns="0" tIns="0" rIns="0" bIns="0" rtlCol="0">
            <a:noAutofit/>
          </a:bodyPr>
          <a:lstStyle/>
          <a:p>
            <a:r>
              <a:rPr lang="ru-RU" sz="2000">
                <a:solidFill>
                  <a:srgbClr val="FFFFFF"/>
                </a:solidFill>
                <a:latin typeface="Montserrat"/>
              </a:rPr>
              <a:t>Лекция 6. Минимальные остовные деревья и DSU</a:t>
            </a:r>
          </a:p>
        </p:txBody>
      </p:sp>
      <p:cxnSp>
        <p:nvCxnSpPr>
          <p:cNvPr id="12" name="!!g-edge-AB">
            <a:extLst>
              <a:ext uri="{FF2B5EF4-FFF2-40B4-BE49-F238E27FC236}">
                <a16:creationId xmlns:a16="http://schemas.microsoft.com/office/drawing/2014/main" id="{47C5AEF0-5632-41F7-89AD-54C5E939FEE5}"/>
              </a:ext>
            </a:extLst>
          </p:cNvPr>
          <p:cNvCxnSpPr/>
          <p:nvPr/>
        </p:nvCxnSpPr>
        <p:spPr>
          <a:xfrm flipV="1">
            <a:off x="1425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3" name="!!g-weight-AB">
            <a:extLst>
              <a:ext uri="{FF2B5EF4-FFF2-40B4-BE49-F238E27FC236}">
                <a16:creationId xmlns:a16="http://schemas.microsoft.com/office/drawing/2014/main" id="{46163375-D5E7-4E70-AC4C-2005C9734E54}"/>
              </a:ext>
            </a:extLst>
          </p:cNvPr>
          <p:cNvSpPr txBox="1"/>
          <p:nvPr/>
        </p:nvSpPr>
        <p:spPr bwMode="auto">
          <a:xfrm>
            <a:off x="2011636"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7</a:t>
            </a:r>
          </a:p>
        </p:txBody>
      </p:sp>
      <p:cxnSp>
        <p:nvCxnSpPr>
          <p:cNvPr id="14" name="!!g-edge-AC">
            <a:extLst>
              <a:ext uri="{FF2B5EF4-FFF2-40B4-BE49-F238E27FC236}">
                <a16:creationId xmlns:a16="http://schemas.microsoft.com/office/drawing/2014/main" id="{2A8016F0-D04D-4438-94B1-8E66368B04C2}"/>
              </a:ext>
            </a:extLst>
          </p:cNvPr>
          <p:cNvCxnSpPr/>
          <p:nvPr/>
        </p:nvCxnSpPr>
        <p:spPr>
          <a:xfrm>
            <a:off x="1425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5" name="!!g-weight-AC">
            <a:extLst>
              <a:ext uri="{FF2B5EF4-FFF2-40B4-BE49-F238E27FC236}">
                <a16:creationId xmlns:a16="http://schemas.microsoft.com/office/drawing/2014/main" id="{963D6D72-BCB7-497A-81D9-2442081F421B}"/>
              </a:ext>
            </a:extLst>
          </p:cNvPr>
          <p:cNvSpPr txBox="1"/>
          <p:nvPr/>
        </p:nvSpPr>
        <p:spPr bwMode="auto">
          <a:xfrm>
            <a:off x="1607864"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16" name="!!g-edge-BC">
            <a:extLst>
              <a:ext uri="{FF2B5EF4-FFF2-40B4-BE49-F238E27FC236}">
                <a16:creationId xmlns:a16="http://schemas.microsoft.com/office/drawing/2014/main" id="{DED488DE-F9B9-4C0B-AA37-B9A0581A1ECD}"/>
              </a:ext>
            </a:extLst>
          </p:cNvPr>
          <p:cNvCxnSpPr/>
          <p:nvPr/>
        </p:nvCxnSpPr>
        <p:spPr>
          <a:xfrm>
            <a:off x="29845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7" name="!!g-weight-BC">
            <a:extLst>
              <a:ext uri="{FF2B5EF4-FFF2-40B4-BE49-F238E27FC236}">
                <a16:creationId xmlns:a16="http://schemas.microsoft.com/office/drawing/2014/main" id="{9962B5C0-576D-42FF-82DC-2CAB5458A4B9}"/>
              </a:ext>
            </a:extLst>
          </p:cNvPr>
          <p:cNvSpPr txBox="1"/>
          <p:nvPr/>
        </p:nvSpPr>
        <p:spPr bwMode="auto">
          <a:xfrm>
            <a:off x="23749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cxnSp>
        <p:nvCxnSpPr>
          <p:cNvPr id="18" name="!!g-edge-BD">
            <a:extLst>
              <a:ext uri="{FF2B5EF4-FFF2-40B4-BE49-F238E27FC236}">
                <a16:creationId xmlns:a16="http://schemas.microsoft.com/office/drawing/2014/main" id="{F3AB6CB4-6377-481B-890F-D852E36CE3CD}"/>
              </a:ext>
            </a:extLst>
          </p:cNvPr>
          <p:cNvCxnSpPr/>
          <p:nvPr/>
        </p:nvCxnSpPr>
        <p:spPr>
          <a:xfrm>
            <a:off x="3327400" y="273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19" name="!!g-weight-BD">
            <a:extLst>
              <a:ext uri="{FF2B5EF4-FFF2-40B4-BE49-F238E27FC236}">
                <a16:creationId xmlns:a16="http://schemas.microsoft.com/office/drawing/2014/main" id="{CE8F3ED1-C92D-4057-ABB5-B4DF0593D9A5}"/>
              </a:ext>
            </a:extLst>
          </p:cNvPr>
          <p:cNvSpPr txBox="1"/>
          <p:nvPr/>
        </p:nvSpPr>
        <p:spPr bwMode="auto">
          <a:xfrm>
            <a:off x="3778250" y="288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4</a:t>
            </a:r>
          </a:p>
        </p:txBody>
      </p:sp>
      <p:cxnSp>
        <p:nvCxnSpPr>
          <p:cNvPr id="20" name="!!g-edge-CD">
            <a:extLst>
              <a:ext uri="{FF2B5EF4-FFF2-40B4-BE49-F238E27FC236}">
                <a16:creationId xmlns:a16="http://schemas.microsoft.com/office/drawing/2014/main" id="{4B95B999-3AE0-4A29-A167-5B3A65BF19AC}"/>
              </a:ext>
            </a:extLst>
          </p:cNvPr>
          <p:cNvCxnSpPr/>
          <p:nvPr/>
        </p:nvCxnSpPr>
        <p:spPr>
          <a:xfrm flipV="1">
            <a:off x="3202716" y="2995004"/>
            <a:ext cx="1659068" cy="2010992"/>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1" name="!!g-weight-CD">
            <a:extLst>
              <a:ext uri="{FF2B5EF4-FFF2-40B4-BE49-F238E27FC236}">
                <a16:creationId xmlns:a16="http://schemas.microsoft.com/office/drawing/2014/main" id="{6A28F666-9AEC-431E-ADBC-F674AF55204F}"/>
              </a:ext>
            </a:extLst>
          </p:cNvPr>
          <p:cNvSpPr txBox="1"/>
          <p:nvPr/>
        </p:nvSpPr>
        <p:spPr bwMode="auto">
          <a:xfrm>
            <a:off x="4052550" y="4023597"/>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5</a:t>
            </a:r>
          </a:p>
        </p:txBody>
      </p:sp>
      <p:cxnSp>
        <p:nvCxnSpPr>
          <p:cNvPr id="22" name="!!g-edge-CE">
            <a:extLst>
              <a:ext uri="{FF2B5EF4-FFF2-40B4-BE49-F238E27FC236}">
                <a16:creationId xmlns:a16="http://schemas.microsoft.com/office/drawing/2014/main" id="{EB9596A2-0DE1-4277-A367-8D6080435904}"/>
              </a:ext>
            </a:extLst>
          </p:cNvPr>
          <p:cNvCxnSpPr/>
          <p:nvPr/>
        </p:nvCxnSpPr>
        <p:spPr>
          <a:xfrm>
            <a:off x="3327400" y="5270500"/>
            <a:ext cx="1409700" cy="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3" name="!!g-weight-CE">
            <a:extLst>
              <a:ext uri="{FF2B5EF4-FFF2-40B4-BE49-F238E27FC236}">
                <a16:creationId xmlns:a16="http://schemas.microsoft.com/office/drawing/2014/main" id="{F8661AE2-DC81-4B59-916F-C5FD015B7B99}"/>
              </a:ext>
            </a:extLst>
          </p:cNvPr>
          <p:cNvSpPr txBox="1"/>
          <p:nvPr/>
        </p:nvSpPr>
        <p:spPr bwMode="auto">
          <a:xfrm>
            <a:off x="3778250" y="54228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8</a:t>
            </a:r>
          </a:p>
        </p:txBody>
      </p:sp>
      <p:cxnSp>
        <p:nvCxnSpPr>
          <p:cNvPr id="24" name="!!g-edge-DE">
            <a:extLst>
              <a:ext uri="{FF2B5EF4-FFF2-40B4-BE49-F238E27FC236}">
                <a16:creationId xmlns:a16="http://schemas.microsoft.com/office/drawing/2014/main" id="{0FB00F94-05D8-4EB6-8AF4-6649F22EE9B4}"/>
              </a:ext>
            </a:extLst>
          </p:cNvPr>
          <p:cNvCxnSpPr/>
          <p:nvPr/>
        </p:nvCxnSpPr>
        <p:spPr>
          <a:xfrm>
            <a:off x="5080000" y="3073400"/>
            <a:ext cx="0" cy="1854200"/>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5" name="!!g-weight-DE">
            <a:extLst>
              <a:ext uri="{FF2B5EF4-FFF2-40B4-BE49-F238E27FC236}">
                <a16:creationId xmlns:a16="http://schemas.microsoft.com/office/drawing/2014/main" id="{6E5A396D-254F-4BCE-A4F3-D4DEBD515BD4}"/>
              </a:ext>
            </a:extLst>
          </p:cNvPr>
          <p:cNvSpPr txBox="1"/>
          <p:nvPr/>
        </p:nvSpPr>
        <p:spPr bwMode="auto">
          <a:xfrm>
            <a:off x="4470400" y="3797299"/>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1</a:t>
            </a:r>
          </a:p>
        </p:txBody>
      </p:sp>
      <p:cxnSp>
        <p:nvCxnSpPr>
          <p:cNvPr id="26" name="!!g-edge-DF">
            <a:extLst>
              <a:ext uri="{FF2B5EF4-FFF2-40B4-BE49-F238E27FC236}">
                <a16:creationId xmlns:a16="http://schemas.microsoft.com/office/drawing/2014/main" id="{10E80AB3-4BBD-4C5B-BFE6-F40498832A7F}"/>
              </a:ext>
            </a:extLst>
          </p:cNvPr>
          <p:cNvCxnSpPr/>
          <p:nvPr/>
        </p:nvCxnSpPr>
        <p:spPr>
          <a:xfrm>
            <a:off x="5362280" y="292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7" name="!!g-weight-DF">
            <a:extLst>
              <a:ext uri="{FF2B5EF4-FFF2-40B4-BE49-F238E27FC236}">
                <a16:creationId xmlns:a16="http://schemas.microsoft.com/office/drawing/2014/main" id="{EA658515-90AE-4E03-AF99-0DBF0520126F}"/>
              </a:ext>
            </a:extLst>
          </p:cNvPr>
          <p:cNvSpPr txBox="1"/>
          <p:nvPr/>
        </p:nvSpPr>
        <p:spPr bwMode="auto">
          <a:xfrm>
            <a:off x="5544864" y="345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3</a:t>
            </a:r>
          </a:p>
        </p:txBody>
      </p:sp>
      <p:cxnSp>
        <p:nvCxnSpPr>
          <p:cNvPr id="28" name="!!g-edge-EF">
            <a:extLst>
              <a:ext uri="{FF2B5EF4-FFF2-40B4-BE49-F238E27FC236}">
                <a16:creationId xmlns:a16="http://schemas.microsoft.com/office/drawing/2014/main" id="{163AFFEE-F855-41E1-84D6-C4B63A367299}"/>
              </a:ext>
            </a:extLst>
          </p:cNvPr>
          <p:cNvCxnSpPr/>
          <p:nvPr/>
        </p:nvCxnSpPr>
        <p:spPr>
          <a:xfrm flipV="1">
            <a:off x="5362280" y="4195176"/>
            <a:ext cx="1276940" cy="880648"/>
          </a:xfrm>
          <a:prstGeom prst="straightConnector1">
            <a:avLst/>
          </a:prstGeom>
          <a:ln w="17780">
            <a:solidFill>
              <a:srgbClr val="352379"/>
            </a:solidFill>
          </a:ln>
        </p:spPr>
        <p:style>
          <a:lnRef idx="1">
            <a:schemeClr val="accent1"/>
          </a:lnRef>
          <a:fillRef idx="0">
            <a:schemeClr val="accent1"/>
          </a:fillRef>
          <a:effectRef idx="0">
            <a:schemeClr val="accent1"/>
          </a:effectRef>
          <a:fontRef idx="minor">
            <a:schemeClr val="tx1"/>
          </a:fontRef>
        </p:style>
      </p:cxnSp>
      <p:sp>
        <p:nvSpPr>
          <p:cNvPr id="29" name="!!g-weight-EF">
            <a:extLst>
              <a:ext uri="{FF2B5EF4-FFF2-40B4-BE49-F238E27FC236}">
                <a16:creationId xmlns:a16="http://schemas.microsoft.com/office/drawing/2014/main" id="{929552A1-C734-45DE-A6E5-9BE2E86BAD85}"/>
              </a:ext>
            </a:extLst>
          </p:cNvPr>
          <p:cNvSpPr txBox="1"/>
          <p:nvPr/>
        </p:nvSpPr>
        <p:spPr bwMode="auto">
          <a:xfrm>
            <a:off x="5948636" y="4725033"/>
            <a:ext cx="508000" cy="381000"/>
          </a:xfrm>
          <a:prstGeom prst="rect">
            <a:avLst/>
          </a:prstGeom>
          <a:solidFill>
            <a:srgbClr val="FFFFFF"/>
          </a:solidFill>
        </p:spPr>
        <p:txBody>
          <a:bodyPr vert="horz" wrap="square" lIns="0" tIns="0" rIns="0" bIns="0" rtlCol="0">
            <a:noAutofit/>
          </a:bodyPr>
          <a:lstStyle/>
          <a:p>
            <a:pPr algn="ctr"/>
            <a:r>
              <a:rPr lang="ru-RU" sz="2000">
                <a:solidFill>
                  <a:srgbClr val="352379"/>
                </a:solidFill>
                <a:latin typeface="Montserrat"/>
              </a:rPr>
              <a:t>2</a:t>
            </a:r>
          </a:p>
        </p:txBody>
      </p:sp>
      <p:sp>
        <p:nvSpPr>
          <p:cNvPr id="30" name="!!g-node-A">
            <a:extLst>
              <a:ext uri="{FF2B5EF4-FFF2-40B4-BE49-F238E27FC236}">
                <a16:creationId xmlns:a16="http://schemas.microsoft.com/office/drawing/2014/main" id="{BB65FEC0-344D-47C0-B4FF-9CA4EBC6DE4B}"/>
              </a:ext>
            </a:extLst>
          </p:cNvPr>
          <p:cNvSpPr/>
          <p:nvPr/>
        </p:nvSpPr>
        <p:spPr>
          <a:xfrm>
            <a:off x="825500" y="368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A</a:t>
            </a:r>
            <a:endParaRPr lang="ru-RU" sz="2200">
              <a:solidFill>
                <a:srgbClr val="352379"/>
              </a:solidFill>
              <a:latin typeface="Montserrat"/>
            </a:endParaRPr>
          </a:p>
        </p:txBody>
      </p:sp>
      <p:sp>
        <p:nvSpPr>
          <p:cNvPr id="31" name="!!g-node-B">
            <a:extLst>
              <a:ext uri="{FF2B5EF4-FFF2-40B4-BE49-F238E27FC236}">
                <a16:creationId xmlns:a16="http://schemas.microsoft.com/office/drawing/2014/main" id="{85318F8A-E0CF-4B93-A713-28C8B94DA85F}"/>
              </a:ext>
            </a:extLst>
          </p:cNvPr>
          <p:cNvSpPr/>
          <p:nvPr/>
        </p:nvSpPr>
        <p:spPr>
          <a:xfrm>
            <a:off x="26670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B</a:t>
            </a:r>
            <a:endParaRPr lang="ru-RU" sz="2200">
              <a:solidFill>
                <a:srgbClr val="352379"/>
              </a:solidFill>
              <a:latin typeface="Montserrat"/>
            </a:endParaRPr>
          </a:p>
        </p:txBody>
      </p:sp>
      <p:sp>
        <p:nvSpPr>
          <p:cNvPr id="32" name="!!g-node-C">
            <a:extLst>
              <a:ext uri="{FF2B5EF4-FFF2-40B4-BE49-F238E27FC236}">
                <a16:creationId xmlns:a16="http://schemas.microsoft.com/office/drawing/2014/main" id="{015D0437-0F00-4306-94A2-FF2E743835A3}"/>
              </a:ext>
            </a:extLst>
          </p:cNvPr>
          <p:cNvSpPr/>
          <p:nvPr/>
        </p:nvSpPr>
        <p:spPr>
          <a:xfrm>
            <a:off x="26670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C</a:t>
            </a:r>
            <a:endParaRPr lang="ru-RU" sz="2200">
              <a:solidFill>
                <a:srgbClr val="352379"/>
              </a:solidFill>
              <a:latin typeface="Montserrat"/>
            </a:endParaRPr>
          </a:p>
        </p:txBody>
      </p:sp>
      <p:sp>
        <p:nvSpPr>
          <p:cNvPr id="33" name="!!g-node-D">
            <a:extLst>
              <a:ext uri="{FF2B5EF4-FFF2-40B4-BE49-F238E27FC236}">
                <a16:creationId xmlns:a16="http://schemas.microsoft.com/office/drawing/2014/main" id="{442DE32F-DAA2-4843-A89D-D2A8610B6A99}"/>
              </a:ext>
            </a:extLst>
          </p:cNvPr>
          <p:cNvSpPr/>
          <p:nvPr/>
        </p:nvSpPr>
        <p:spPr>
          <a:xfrm>
            <a:off x="4762500" y="241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D</a:t>
            </a:r>
            <a:endParaRPr lang="ru-RU" sz="2200">
              <a:solidFill>
                <a:srgbClr val="352379"/>
              </a:solidFill>
              <a:latin typeface="Montserrat"/>
            </a:endParaRPr>
          </a:p>
        </p:txBody>
      </p:sp>
      <p:sp>
        <p:nvSpPr>
          <p:cNvPr id="34" name="!!g-node-E">
            <a:extLst>
              <a:ext uri="{FF2B5EF4-FFF2-40B4-BE49-F238E27FC236}">
                <a16:creationId xmlns:a16="http://schemas.microsoft.com/office/drawing/2014/main" id="{0A1C09C3-D1C6-46AD-8F8E-F6CAF344204D}"/>
              </a:ext>
            </a:extLst>
          </p:cNvPr>
          <p:cNvSpPr/>
          <p:nvPr/>
        </p:nvSpPr>
        <p:spPr>
          <a:xfrm>
            <a:off x="4762500" y="495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E</a:t>
            </a:r>
            <a:endParaRPr lang="ru-RU" sz="2200">
              <a:solidFill>
                <a:srgbClr val="352379"/>
              </a:solidFill>
              <a:latin typeface="Montserrat"/>
            </a:endParaRPr>
          </a:p>
        </p:txBody>
      </p:sp>
      <p:sp>
        <p:nvSpPr>
          <p:cNvPr id="35" name="!!g-node-F">
            <a:extLst>
              <a:ext uri="{FF2B5EF4-FFF2-40B4-BE49-F238E27FC236}">
                <a16:creationId xmlns:a16="http://schemas.microsoft.com/office/drawing/2014/main" id="{6FAD676E-8A8D-4BA5-88D7-8073A3A4EAE6}"/>
              </a:ext>
            </a:extLst>
          </p:cNvPr>
          <p:cNvSpPr/>
          <p:nvPr/>
        </p:nvSpPr>
        <p:spPr>
          <a:xfrm>
            <a:off x="6604000" y="3683000"/>
            <a:ext cx="635000" cy="635000"/>
          </a:xfrm>
          <a:prstGeom prst="ellipse">
            <a:avLst/>
          </a:prstGeom>
          <a:solidFill>
            <a:srgbClr val="FFFFFF"/>
          </a:solidFill>
          <a:ln w="1270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352379"/>
                </a:solidFill>
                <a:latin typeface="Montserrat"/>
              </a:rPr>
              <a:t>F</a:t>
            </a:r>
            <a:endParaRPr lang="ru-RU" sz="2200">
              <a:solidFill>
                <a:srgbClr val="352379"/>
              </a:solidFill>
              <a:latin typeface="Montserrat"/>
            </a:endParaRPr>
          </a:p>
        </p:txBody>
      </p:sp>
      <p:sp>
        <p:nvSpPr>
          <p:cNvPr id="36" name="next-question-body">
            <a:extLst>
              <a:ext uri="{FF2B5EF4-FFF2-40B4-BE49-F238E27FC236}">
                <a16:creationId xmlns:a16="http://schemas.microsoft.com/office/drawing/2014/main" id="{0B95E81F-8E5B-4746-934C-954839D2DE57}"/>
              </a:ext>
            </a:extLst>
          </p:cNvPr>
          <p:cNvSpPr/>
          <p:nvPr/>
        </p:nvSpPr>
        <p:spPr>
          <a:xfrm>
            <a:off x="8001000" y="1816100"/>
            <a:ext cx="3708400" cy="3810000"/>
          </a:xfrm>
          <a:prstGeom prst="roundRect">
            <a:avLst/>
          </a:prstGeom>
          <a:solidFill>
            <a:srgbClr val="FFFFFF"/>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next-question-head">
            <a:extLst>
              <a:ext uri="{FF2B5EF4-FFF2-40B4-BE49-F238E27FC236}">
                <a16:creationId xmlns:a16="http://schemas.microsoft.com/office/drawing/2014/main" id="{1AD533DC-C0C6-417B-A396-45EA8CE97396}"/>
              </a:ext>
            </a:extLst>
          </p:cNvPr>
          <p:cNvSpPr/>
          <p:nvPr/>
        </p:nvSpPr>
        <p:spPr>
          <a:xfrm>
            <a:off x="8001000" y="1816100"/>
            <a:ext cx="3708400" cy="609600"/>
          </a:xfrm>
          <a:prstGeom prst="roundRect">
            <a:avLst/>
          </a:prstGeom>
          <a:solidFill>
            <a:srgbClr val="352379"/>
          </a:solidFill>
          <a:ln w="10160">
            <a:solidFill>
              <a:srgbClr val="3523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next-question-heading">
            <a:extLst>
              <a:ext uri="{FF2B5EF4-FFF2-40B4-BE49-F238E27FC236}">
                <a16:creationId xmlns:a16="http://schemas.microsoft.com/office/drawing/2014/main" id="{3C7603BB-B406-46C3-9D20-E01F3D164617}"/>
              </a:ext>
            </a:extLst>
          </p:cNvPr>
          <p:cNvSpPr txBox="1"/>
          <p:nvPr/>
        </p:nvSpPr>
        <p:spPr bwMode="auto">
          <a:xfrm>
            <a:off x="8191500" y="1930399"/>
            <a:ext cx="3327400" cy="381000"/>
          </a:xfrm>
          <a:prstGeom prst="rect">
            <a:avLst/>
          </a:prstGeom>
        </p:spPr>
        <p:txBody>
          <a:bodyPr vert="horz" wrap="square" lIns="0" tIns="0" rIns="0" bIns="0" rtlCol="0">
            <a:noAutofit/>
          </a:bodyPr>
          <a:lstStyle/>
          <a:p>
            <a:r>
              <a:rPr lang="ru-RU" sz="2100">
                <a:solidFill>
                  <a:srgbClr val="FFFFFF"/>
                </a:solidFill>
                <a:latin typeface="Montserrat"/>
              </a:rPr>
              <a:t>Новая задача</a:t>
            </a:r>
          </a:p>
        </p:txBody>
      </p:sp>
      <p:sp>
        <p:nvSpPr>
          <p:cNvPr id="39" name="next-question-text">
            <a:extLst>
              <a:ext uri="{FF2B5EF4-FFF2-40B4-BE49-F238E27FC236}">
                <a16:creationId xmlns:a16="http://schemas.microsoft.com/office/drawing/2014/main" id="{D7E5334F-95BD-48DE-9E8D-C44FE33FA7BF}"/>
              </a:ext>
            </a:extLst>
          </p:cNvPr>
          <p:cNvSpPr txBox="1"/>
          <p:nvPr/>
        </p:nvSpPr>
        <p:spPr bwMode="auto">
          <a:xfrm>
            <a:off x="8216900" y="2641599"/>
            <a:ext cx="3276600" cy="2844800"/>
          </a:xfrm>
          <a:prstGeom prst="rect">
            <a:avLst/>
          </a:prstGeom>
        </p:spPr>
        <p:txBody>
          <a:bodyPr vert="horz" wrap="square" lIns="0" tIns="0" rIns="0" bIns="0" rtlCol="0">
            <a:noAutofit/>
          </a:bodyPr>
          <a:lstStyle/>
          <a:p>
            <a:r>
              <a:rPr lang="ru-RU" sz="2200">
                <a:solidFill>
                  <a:srgbClr val="352379"/>
                </a:solidFill>
                <a:latin typeface="Montserrat"/>
              </a:rPr>
              <a:t>Как дешёво соединить ВСЕ вершины?</a:t>
            </a:r>
          </a:p>
          <a:p>
            <a:endParaRPr lang="ru-RU" sz="2200">
              <a:solidFill>
                <a:srgbClr val="352379"/>
              </a:solidFill>
              <a:latin typeface="Montserrat"/>
            </a:endParaRPr>
          </a:p>
          <a:p>
            <a:r>
              <a:rPr lang="ru-RU" sz="2200">
                <a:solidFill>
                  <a:srgbClr val="352379"/>
                </a:solidFill>
                <a:latin typeface="Montserrat"/>
              </a:rPr>
              <a:t>Минимизируем суммарный вес сети, сохраняя связность.</a:t>
            </a:r>
          </a:p>
        </p:txBody>
      </p:sp>
    </p:spTree>
    <p:extLst>
      <p:ext uri="{BB962C8B-B14F-4D97-AF65-F5344CB8AC3E}">
        <p14:creationId xmlns:p14="http://schemas.microsoft.com/office/powerpoint/2010/main" val="1846756081"/>
      </p:ext>
    </p:extLst>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3C8C16-CDAE-4110-998A-AA5F2453A752}"/>
              </a:ext>
            </a:extLst>
          </p:cNvPr>
          <p:cNvSpPr>
            <a:spLocks noGrp="1"/>
          </p:cNvSpPr>
          <p:nvPr>
            <p:ph type="title"/>
          </p:nvPr>
        </p:nvSpPr>
        <p:spPr>
          <a:xfrm>
            <a:off x="479424" y="728553"/>
            <a:ext cx="11229975" cy="814486"/>
          </a:xfrm>
        </p:spPr>
        <p:txBody>
          <a:bodyPr/>
          <a:lstStyle/>
          <a:p>
            <a:r>
              <a:rPr lang="ru-RU" dirty="0"/>
              <a:t>Пароль для теста</a:t>
            </a:r>
          </a:p>
        </p:txBody>
      </p:sp>
      <p:sp>
        <p:nvSpPr>
          <p:cNvPr id="7" name="Текст 6">
            <a:extLst>
              <a:ext uri="{FF2B5EF4-FFF2-40B4-BE49-F238E27FC236}">
                <a16:creationId xmlns:a16="http://schemas.microsoft.com/office/drawing/2014/main" id="{E0DD9A40-8298-4417-8524-24F518938BC0}"/>
              </a:ext>
            </a:extLst>
          </p:cNvPr>
          <p:cNvSpPr>
            <a:spLocks noGrp="1"/>
          </p:cNvSpPr>
          <p:nvPr>
            <p:ph type="body" sz="quarter" idx="19"/>
          </p:nvPr>
        </p:nvSpPr>
        <p:spPr/>
        <p:txBody>
          <a:bodyPr/>
          <a:lstStyle/>
          <a:p>
            <a:endParaRPr lang="ru-RU"/>
          </a:p>
        </p:txBody>
      </p:sp>
      <p:sp>
        <p:nvSpPr>
          <p:cNvPr id="8" name="TextBox 7">
            <a:extLst>
              <a:ext uri="{FF2B5EF4-FFF2-40B4-BE49-F238E27FC236}">
                <a16:creationId xmlns:a16="http://schemas.microsoft.com/office/drawing/2014/main" id="{1873DF5E-D02B-4CC4-B969-AF4C59439265}"/>
              </a:ext>
            </a:extLst>
          </p:cNvPr>
          <p:cNvSpPr txBox="1"/>
          <p:nvPr/>
        </p:nvSpPr>
        <p:spPr bwMode="auto">
          <a:xfrm>
            <a:off x="1718058" y="1697903"/>
            <a:ext cx="9537130" cy="3770263"/>
          </a:xfrm>
          <a:prstGeom prst="rect">
            <a:avLst/>
          </a:prstGeom>
        </p:spPr>
        <p:txBody>
          <a:bodyPr wrap="square" rtlCol="0">
            <a:spAutoFit/>
          </a:bodyPr>
          <a:lstStyle/>
          <a:p>
            <a:r>
              <a:rPr lang="ru-RU" sz="23900"/>
              <a:t>3694</a:t>
            </a:r>
            <a:endParaRPr lang="ru-RU" sz="23900" dirty="0"/>
          </a:p>
        </p:txBody>
      </p:sp>
    </p:spTree>
    <p:extLst>
      <p:ext uri="{BB962C8B-B14F-4D97-AF65-F5344CB8AC3E}">
        <p14:creationId xmlns:p14="http://schemas.microsoft.com/office/powerpoint/2010/main" val="1484687000"/>
      </p:ext>
    </p:extLst>
  </p:cSld>
  <p:clrMapOvr>
    <a:masterClrMapping/>
  </p:clrMapOvr>
</p:sld>
</file>

<file path=ppt/theme/theme1.xml><?xml version="1.0" encoding="utf-8"?>
<a:theme xmlns:a="http://schemas.openxmlformats.org/drawingml/2006/main" name="Тема Office">
  <a:themeElements>
    <a:clrScheme name="МТУСИ">
      <a:dk1>
        <a:srgbClr val="352379"/>
      </a:dk1>
      <a:lt1>
        <a:srgbClr val="FFFFFF"/>
      </a:lt1>
      <a:dk2>
        <a:srgbClr val="352379"/>
      </a:dk2>
      <a:lt2>
        <a:srgbClr val="FFFFFF"/>
      </a:lt2>
      <a:accent1>
        <a:srgbClr val="352379"/>
      </a:accent1>
      <a:accent2>
        <a:srgbClr val="C7ADEB"/>
      </a:accent2>
      <a:accent3>
        <a:srgbClr val="532494"/>
      </a:accent3>
      <a:accent4>
        <a:srgbClr val="E3D6F5"/>
      </a:accent4>
      <a:accent5>
        <a:srgbClr val="8C64D8"/>
      </a:accent5>
      <a:accent6>
        <a:srgbClr val="000000"/>
      </a:accent6>
      <a:hlink>
        <a:srgbClr val="8C64D8"/>
      </a:hlink>
      <a:folHlink>
        <a:srgbClr val="352379"/>
      </a:folHlink>
    </a:clrScheme>
    <a:fontScheme name="МТУСИ">
      <a:majorFont>
        <a:latin typeface="Montserrat SemiBold"/>
        <a:ea typeface="Arial"/>
        <a:cs typeface="Arial"/>
      </a:majorFont>
      <a:minorFont>
        <a:latin typeface="Montserrat"/>
        <a:ea typeface="Arial"/>
        <a:cs typeface="Arial"/>
      </a:minorFont>
    </a:fontScheme>
    <a:fmtScheme name="Стандартная">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bodyPr/>
      <a:lstStyle/>
    </a:tx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2428</TotalTime>
  <Words>9823</Words>
  <Application>Microsoft Office PowerPoint</Application>
  <DocSecurity>0</DocSecurity>
  <PresentationFormat>Широкоэкранный</PresentationFormat>
  <Paragraphs>1762</Paragraphs>
  <Slides>64</Slides>
  <Notes>63</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64</vt:i4>
      </vt:variant>
    </vt:vector>
  </HeadingPairs>
  <TitlesOfParts>
    <vt:vector size="69" baseType="lpstr">
      <vt:lpstr>Montserrat</vt:lpstr>
      <vt:lpstr>Arial</vt:lpstr>
      <vt:lpstr>Montserrat SemiBold</vt:lpstr>
      <vt:lpstr>Calibri</vt:lpstr>
      <vt:lpstr>Тема Office</vt:lpstr>
      <vt:lpstr>Лекция 5. Кратчайшие пути во взвешенных графах</vt:lpstr>
      <vt:lpstr>Где мы остановились</vt:lpstr>
      <vt:lpstr>Нам нужен лучший маршрут</vt:lpstr>
      <vt:lpstr>Вес ребра и взвешенный граф</vt:lpstr>
      <vt:lpstr>Стоимость пути</vt:lpstr>
      <vt:lpstr>Кратчайший путь</vt:lpstr>
      <vt:lpstr>Какой путь дешевле?</vt:lpstr>
      <vt:lpstr>Три задачи кратчайшего пути</vt:lpstr>
      <vt:lpstr>BFS: расстояние по слоям</vt:lpstr>
      <vt:lpstr>Почему BFS не учитывает стоимость</vt:lpstr>
      <vt:lpstr>Алгоритм Дейкстры</vt:lpstr>
      <vt:lpstr>Расстояние и текущая оценка</vt:lpstr>
      <vt:lpstr>Обработка вершины</vt:lpstr>
      <vt:lpstr>Релаксация ребра</vt:lpstr>
      <vt:lpstr>Релаксация: 10 становится 7</vt:lpstr>
      <vt:lpstr>Нужна ли релаксация?</vt:lpstr>
      <vt:lpstr>Дейкстра: исходный граф</vt:lpstr>
      <vt:lpstr>Шаг 1: выбираем A</vt:lpstr>
      <vt:lpstr>Из A: релаксируем A — B</vt:lpstr>
      <vt:lpstr>Из A: релаксируем A — C</vt:lpstr>
      <vt:lpstr>Шаг 2: выбираем C</vt:lpstr>
      <vt:lpstr>Из C: оценка B уменьшается</vt:lpstr>
      <vt:lpstr>Из C: открываем D и E</vt:lpstr>
      <vt:lpstr>Шаг 3: выбираем B</vt:lpstr>
      <vt:lpstr>Устаревшая запись и выбор D</vt:lpstr>
      <vt:lpstr>Из D: улучшаем E, открываем F</vt:lpstr>
      <vt:lpstr>Шаг 5: выбираем E</vt:lpstr>
      <vt:lpstr>Все кратчайшие расстояния найдены</vt:lpstr>
      <vt:lpstr>Что делает Дейкстра</vt:lpstr>
      <vt:lpstr>Выбор минимума: просмотр или куча</vt:lpstr>
      <vt:lpstr>Записи очереди и улучшения</vt:lpstr>
      <vt:lpstr>Устаревшая запись</vt:lpstr>
      <vt:lpstr>Дейкстра: псевдокод</vt:lpstr>
      <vt:lpstr>Python: состояние Дейкстры</vt:lpstr>
      <vt:lpstr>Python: извлечение и релаксация</vt:lpstr>
      <vt:lpstr>Сложность Дейкстры</vt:lpstr>
      <vt:lpstr>parent хранит маршрут</vt:lpstr>
      <vt:lpstr>Python: восстановление пути</vt:lpstr>
      <vt:lpstr>Готовый кратчайший маршрут</vt:lpstr>
      <vt:lpstr>Отрицательное ребро и условие Дейкстры</vt:lpstr>
      <vt:lpstr>Контрпример: минимум выбран слишком рано</vt:lpstr>
      <vt:lpstr>Алгоритм Беллмана–Форда</vt:lpstr>
      <vt:lpstr>Почему достаточно V − 1 проходов</vt:lpstr>
      <vt:lpstr>Беллман–Форд: проход 1</vt:lpstr>
      <vt:lpstr>Беллман–Форд: проход 2</vt:lpstr>
      <vt:lpstr>Беллман–Форд: проход 3</vt:lpstr>
      <vt:lpstr>Python: Беллман–Форд</vt:lpstr>
      <vt:lpstr>Отрицательный цикл</vt:lpstr>
      <vt:lpstr>Когда конечного кратчайшего пути нет</vt:lpstr>
      <vt:lpstr>Проверка отрицательного цикла</vt:lpstr>
      <vt:lpstr>Все пары: алгоритм Флойда–Уоршелла</vt:lpstr>
      <vt:lpstr>Можно ли пройти дешевле через k?</vt:lpstr>
      <vt:lpstr>Флойд–Уоршелл: разрешаем k = A</vt:lpstr>
      <vt:lpstr>Флойд–Уоршелл: разрешаем k = B</vt:lpstr>
      <vt:lpstr>Флойд–Уоршелл: разрешаем k = C</vt:lpstr>
      <vt:lpstr>Флойд–Уоршелл: разрешаем k = D</vt:lpstr>
      <vt:lpstr>Python: Флойд–Уоршелл</vt:lpstr>
      <vt:lpstr>Сравнение алгоритмов</vt:lpstr>
      <vt:lpstr>Как выбрать алгоритм?</vt:lpstr>
      <vt:lpstr>Дорожная сеть</vt:lpstr>
      <vt:lpstr>Два новых условия</vt:lpstr>
      <vt:lpstr>Что нужно запомнить</vt:lpstr>
      <vt:lpstr>Следующая лекция: соединить все вершины</vt:lpstr>
      <vt:lpstr>Пароль для теста</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user [v4]</dc:creator>
  <cp:keywords/>
  <dc:description/>
  <cp:lastModifiedBy>вадим борзов</cp:lastModifiedBy>
  <cp:revision>99</cp:revision>
  <dcterms:created xsi:type="dcterms:W3CDTF">2023-04-19T21:39:12Z</dcterms:created>
  <dcterms:modified xsi:type="dcterms:W3CDTF">2026-10-08T06:09:48Z</dcterms:modified>
  <cp:category/>
  <dc:identifier/>
  <cp:contentStatus/>
  <dc:language/>
  <cp:version/>
</cp:coreProperties>
</file>