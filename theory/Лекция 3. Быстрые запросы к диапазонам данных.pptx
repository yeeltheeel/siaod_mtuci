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4"/>
  </p:notesMasterIdLst>
  <p:sldIdLst>
    <p:sldId id="256" r:id="rId2"/>
    <p:sldId id="257" r:id="rId3"/>
    <p:sldId id="344" r:id="rId4"/>
    <p:sldId id="345" r:id="rId5"/>
    <p:sldId id="346" r:id="rId6"/>
    <p:sldId id="347" r:id="rId7"/>
    <p:sldId id="348" r:id="rId8"/>
    <p:sldId id="349" r:id="rId9"/>
    <p:sldId id="350" r:id="rId10"/>
    <p:sldId id="351" r:id="rId11"/>
    <p:sldId id="352" r:id="rId12"/>
    <p:sldId id="353" r:id="rId13"/>
    <p:sldId id="354" r:id="rId14"/>
    <p:sldId id="355" r:id="rId15"/>
    <p:sldId id="356" r:id="rId16"/>
    <p:sldId id="357" r:id="rId17"/>
    <p:sldId id="358" r:id="rId18"/>
    <p:sldId id="359" r:id="rId19"/>
    <p:sldId id="360" r:id="rId20"/>
    <p:sldId id="361" r:id="rId21"/>
    <p:sldId id="362" r:id="rId22"/>
    <p:sldId id="363" r:id="rId23"/>
    <p:sldId id="364" r:id="rId24"/>
    <p:sldId id="366" r:id="rId25"/>
    <p:sldId id="367" r:id="rId26"/>
    <p:sldId id="368" r:id="rId27"/>
    <p:sldId id="369" r:id="rId28"/>
    <p:sldId id="370" r:id="rId29"/>
    <p:sldId id="371" r:id="rId30"/>
    <p:sldId id="372" r:id="rId31"/>
    <p:sldId id="373" r:id="rId32"/>
    <p:sldId id="374" r:id="rId33"/>
    <p:sldId id="375" r:id="rId34"/>
    <p:sldId id="376" r:id="rId35"/>
    <p:sldId id="377" r:id="rId36"/>
    <p:sldId id="378" r:id="rId37"/>
    <p:sldId id="379" r:id="rId38"/>
    <p:sldId id="380" r:id="rId39"/>
    <p:sldId id="381" r:id="rId40"/>
    <p:sldId id="382" r:id="rId41"/>
    <p:sldId id="383" r:id="rId42"/>
    <p:sldId id="384" r:id="rId43"/>
    <p:sldId id="385" r:id="rId44"/>
    <p:sldId id="388" r:id="rId45"/>
    <p:sldId id="389" r:id="rId46"/>
    <p:sldId id="390" r:id="rId47"/>
    <p:sldId id="391" r:id="rId48"/>
    <p:sldId id="392" r:id="rId49"/>
    <p:sldId id="393" r:id="rId50"/>
    <p:sldId id="394" r:id="rId51"/>
    <p:sldId id="280" r:id="rId52"/>
    <p:sldId id="290" r:id="rId53"/>
  </p:sldIdLst>
  <p:sldSz cx="12192000" cy="6858000"/>
  <p:notesSz cx="12192000" cy="6858000"/>
  <p:embeddedFontLst>
    <p:embeddedFont>
      <p:font typeface="Calibri" panose="020F0502020204030204" pitchFamily="34" charset="0"/>
      <p:regular r:id="rId55"/>
      <p:bold r:id="rId56"/>
      <p:italic r:id="rId57"/>
      <p:boldItalic r:id="rId58"/>
    </p:embeddedFont>
    <p:embeddedFont>
      <p:font typeface="Montserrat" pitchFamily="2" charset="-52"/>
      <p:regular r:id="rId59"/>
      <p:bold r:id="rId60"/>
      <p:italic r:id="rId61"/>
      <p:boldItalic r:id="rId62"/>
    </p:embeddedFont>
    <p:embeddedFont>
      <p:font typeface="Montserrat SemiBold" pitchFamily="2" charset="-52"/>
      <p:bold r:id="rId63"/>
      <p:boldItalic r:id="rId64"/>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8F54E60A-E40A-4C6B-A923-DCFEA0F4468B}">
          <p14:sldIdLst>
            <p14:sldId id="256"/>
            <p14:sldId id="257"/>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8"/>
            <p14:sldId id="389"/>
            <p14:sldId id="390"/>
            <p14:sldId id="391"/>
            <p14:sldId id="392"/>
            <p14:sldId id="393"/>
            <p14:sldId id="394"/>
          </p14:sldIdLst>
        </p14:section>
        <p14:section name="Финальный блок" id="{BBE011A7-FDCD-41A5-9104-E0BD02CAFD64}">
          <p14:sldIdLst>
            <p14:sldId id="280"/>
            <p14:sldId id="290"/>
          </p14:sldIdLst>
        </p14:section>
      </p14:sectionLst>
    </p:ex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Стиль из темы 1 - акцент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16" autoAdjust="0"/>
  </p:normalViewPr>
  <p:slideViewPr>
    <p:cSldViewPr snapToGrid="0" showGuides="1">
      <p:cViewPr varScale="1">
        <p:scale>
          <a:sx n="71" d="100"/>
          <a:sy n="71" d="100"/>
        </p:scale>
        <p:origin x="858" y="66"/>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font" Target="fonts/font9.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DFDF331-AEE9-4187-8642-DBB3BDF28E90}" type="datetimeFigureOut">
              <a:rPr lang="ru-RU" smtClean="0"/>
              <a:t>22.09.2026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8093857-F793-4960-89DF-D50C2129606D}" type="slidenum">
              <a:rPr lang="ru-RU" smtClean="0"/>
              <a:t>‹#›</a:t>
            </a:fld>
            <a:endParaRPr lang="ru-RU"/>
          </a:p>
        </p:txBody>
      </p:sp>
    </p:spTree>
    <p:extLst>
      <p:ext uri="{BB962C8B-B14F-4D97-AF65-F5344CB8AC3E}">
        <p14:creationId xmlns:p14="http://schemas.microsoft.com/office/powerpoint/2010/main" val="1370318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15</a:t>
            </a:fld>
            <a:endParaRPr lang="ru-RU"/>
          </a:p>
        </p:txBody>
      </p:sp>
    </p:spTree>
    <p:extLst>
      <p:ext uri="{BB962C8B-B14F-4D97-AF65-F5344CB8AC3E}">
        <p14:creationId xmlns:p14="http://schemas.microsoft.com/office/powerpoint/2010/main" val="1201511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16</a:t>
            </a:fld>
            <a:endParaRPr lang="ru-RU"/>
          </a:p>
        </p:txBody>
      </p:sp>
    </p:spTree>
    <p:extLst>
      <p:ext uri="{BB962C8B-B14F-4D97-AF65-F5344CB8AC3E}">
        <p14:creationId xmlns:p14="http://schemas.microsoft.com/office/powerpoint/2010/main" val="3629076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17</a:t>
            </a:fld>
            <a:endParaRPr lang="ru-RU"/>
          </a:p>
        </p:txBody>
      </p:sp>
    </p:spTree>
    <p:extLst>
      <p:ext uri="{BB962C8B-B14F-4D97-AF65-F5344CB8AC3E}">
        <p14:creationId xmlns:p14="http://schemas.microsoft.com/office/powerpoint/2010/main" val="3120337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18</a:t>
            </a:fld>
            <a:endParaRPr lang="ru-RU"/>
          </a:p>
        </p:txBody>
      </p:sp>
    </p:spTree>
    <p:extLst>
      <p:ext uri="{BB962C8B-B14F-4D97-AF65-F5344CB8AC3E}">
        <p14:creationId xmlns:p14="http://schemas.microsoft.com/office/powerpoint/2010/main" val="1554291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19</a:t>
            </a:fld>
            <a:endParaRPr lang="ru-RU"/>
          </a:p>
        </p:txBody>
      </p:sp>
    </p:spTree>
    <p:extLst>
      <p:ext uri="{BB962C8B-B14F-4D97-AF65-F5344CB8AC3E}">
        <p14:creationId xmlns:p14="http://schemas.microsoft.com/office/powerpoint/2010/main" val="2583937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20</a:t>
            </a:fld>
            <a:endParaRPr lang="ru-RU"/>
          </a:p>
        </p:txBody>
      </p:sp>
    </p:spTree>
    <p:extLst>
      <p:ext uri="{BB962C8B-B14F-4D97-AF65-F5344CB8AC3E}">
        <p14:creationId xmlns:p14="http://schemas.microsoft.com/office/powerpoint/2010/main" val="525066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21</a:t>
            </a:fld>
            <a:endParaRPr lang="ru-RU"/>
          </a:p>
        </p:txBody>
      </p:sp>
    </p:spTree>
    <p:extLst>
      <p:ext uri="{BB962C8B-B14F-4D97-AF65-F5344CB8AC3E}">
        <p14:creationId xmlns:p14="http://schemas.microsoft.com/office/powerpoint/2010/main" val="2181316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22</a:t>
            </a:fld>
            <a:endParaRPr lang="ru-RU"/>
          </a:p>
        </p:txBody>
      </p:sp>
    </p:spTree>
    <p:extLst>
      <p:ext uri="{BB962C8B-B14F-4D97-AF65-F5344CB8AC3E}">
        <p14:creationId xmlns:p14="http://schemas.microsoft.com/office/powerpoint/2010/main" val="3481437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23</a:t>
            </a:fld>
            <a:endParaRPr lang="ru-RU"/>
          </a:p>
        </p:txBody>
      </p:sp>
    </p:spTree>
    <p:extLst>
      <p:ext uri="{BB962C8B-B14F-4D97-AF65-F5344CB8AC3E}">
        <p14:creationId xmlns:p14="http://schemas.microsoft.com/office/powerpoint/2010/main" val="1691377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24</a:t>
            </a:fld>
            <a:endParaRPr lang="ru-RU"/>
          </a:p>
        </p:txBody>
      </p:sp>
    </p:spTree>
    <p:extLst>
      <p:ext uri="{BB962C8B-B14F-4D97-AF65-F5344CB8AC3E}">
        <p14:creationId xmlns:p14="http://schemas.microsoft.com/office/powerpoint/2010/main" val="1790519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22.09.2026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png"/><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4.bin"/><Relationship Id="rId4" Type="http://schemas.openxmlformats.org/officeDocument/2006/relationships/image" Target="../media/image11.wmf"/></Relationships>
</file>

<file path=ppt/slides/_rels/slide11.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2.wmf"/><Relationship Id="rId5" Type="http://schemas.openxmlformats.org/officeDocument/2006/relationships/oleObject" Target="../embeddings/oleObject7.bin"/><Relationship Id="rId4" Type="http://schemas.openxmlformats.org/officeDocument/2006/relationships/image" Target="../media/image11.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7.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8.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8.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8.wmf"/></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p:txBody>
          <a:bodyPr/>
          <a:lstStyle/>
          <a:p>
            <a:pPr>
              <a:defRPr/>
            </a:pPr>
            <a:r>
              <a:rPr lang="ru-RU" dirty="0"/>
              <a:t>Лектор</a:t>
            </a:r>
            <a:r>
              <a:rPr lang="en-US" dirty="0"/>
              <a:t>: </a:t>
            </a:r>
            <a:r>
              <a:rPr lang="ru-RU" dirty="0"/>
              <a:t>Борзов Вадим Максимович</a:t>
            </a:r>
          </a:p>
        </p:txBody>
      </p:sp>
      <p:sp>
        <p:nvSpPr>
          <p:cNvPr id="8" name="Текст 7"/>
          <p:cNvSpPr>
            <a:spLocks noGrp="1"/>
          </p:cNvSpPr>
          <p:nvPr>
            <p:ph type="body" sz="quarter" idx="13"/>
          </p:nvPr>
        </p:nvSpPr>
        <p:spPr bwMode="auto"/>
        <p:txBody>
          <a:bodyPr/>
          <a:lstStyle/>
          <a:p>
            <a:pPr>
              <a:defRPr/>
            </a:pPr>
            <a:r>
              <a:rPr lang="ru-RU" dirty="0"/>
              <a:t>Как быстро получать информацию о части массива, если запросов очень много?</a:t>
            </a:r>
          </a:p>
        </p:txBody>
      </p:sp>
      <p:sp>
        <p:nvSpPr>
          <p:cNvPr id="6" name="Заголовок 5"/>
          <p:cNvSpPr>
            <a:spLocks noGrp="1"/>
          </p:cNvSpPr>
          <p:nvPr>
            <p:ph type="title"/>
          </p:nvPr>
        </p:nvSpPr>
        <p:spPr bwMode="auto"/>
        <p:txBody>
          <a:bodyPr/>
          <a:lstStyle/>
          <a:p>
            <a:pPr>
              <a:defRPr/>
            </a:pPr>
            <a:r>
              <a:rPr lang="ru-RU" dirty="0"/>
              <a:t>Лекция 2. Быстрые запросы к диапазонам данных</a:t>
            </a:r>
          </a:p>
        </p:txBody>
      </p:sp>
      <p:sp>
        <p:nvSpPr>
          <p:cNvPr id="3" name="Текст 2">
            <a:extLst>
              <a:ext uri="{FF2B5EF4-FFF2-40B4-BE49-F238E27FC236}">
                <a16:creationId xmlns:a16="http://schemas.microsoft.com/office/drawing/2014/main" id="{7F2E92DB-442A-49A9-B510-5F7115017154}"/>
              </a:ext>
            </a:extLst>
          </p:cNvPr>
          <p:cNvSpPr>
            <a:spLocks noGrp="1"/>
          </p:cNvSpPr>
          <p:nvPr>
            <p:ph type="body" sz="quarter" idx="14"/>
          </p:nvPr>
        </p:nvSpPr>
        <p:spPr/>
        <p:txBody>
          <a:bodyPr/>
          <a:lstStyle/>
          <a:p>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805215-0081-473B-B5D3-EE8A0319E349}"/>
              </a:ext>
            </a:extLst>
          </p:cNvPr>
          <p:cNvSpPr>
            <a:spLocks noGrp="1"/>
          </p:cNvSpPr>
          <p:nvPr>
            <p:ph type="title"/>
          </p:nvPr>
        </p:nvSpPr>
        <p:spPr>
          <a:xfrm>
            <a:off x="479424" y="597855"/>
            <a:ext cx="11229975" cy="1140459"/>
          </a:xfrm>
        </p:spPr>
        <p:txBody>
          <a:bodyPr/>
          <a:lstStyle/>
          <a:p>
            <a:r>
              <a:rPr lang="ru-RU" dirty="0"/>
              <a:t>Что такое запрос к диапазону?</a:t>
            </a:r>
          </a:p>
        </p:txBody>
      </p:sp>
      <p:sp>
        <p:nvSpPr>
          <p:cNvPr id="7" name="Текст 6">
            <a:extLst>
              <a:ext uri="{FF2B5EF4-FFF2-40B4-BE49-F238E27FC236}">
                <a16:creationId xmlns:a16="http://schemas.microsoft.com/office/drawing/2014/main" id="{63BB8E7F-7152-4DB6-870E-59B8A07FDABC}"/>
              </a:ext>
            </a:extLst>
          </p:cNvPr>
          <p:cNvSpPr>
            <a:spLocks noGrp="1"/>
          </p:cNvSpPr>
          <p:nvPr>
            <p:ph type="body" sz="quarter" idx="19"/>
          </p:nvPr>
        </p:nvSpPr>
        <p:spPr/>
        <p:txBody>
          <a:bodyPr/>
          <a:lstStyle/>
          <a:p>
            <a:endParaRPr lang="ru-RU"/>
          </a:p>
        </p:txBody>
      </p:sp>
      <p:grpSp>
        <p:nvGrpSpPr>
          <p:cNvPr id="9" name="Группа 8">
            <a:extLst>
              <a:ext uri="{FF2B5EF4-FFF2-40B4-BE49-F238E27FC236}">
                <a16:creationId xmlns:a16="http://schemas.microsoft.com/office/drawing/2014/main" id="{270E3E57-F32D-43FC-B44C-AB3827E2B553}"/>
              </a:ext>
            </a:extLst>
          </p:cNvPr>
          <p:cNvGrpSpPr/>
          <p:nvPr/>
        </p:nvGrpSpPr>
        <p:grpSpPr>
          <a:xfrm>
            <a:off x="1741391" y="1740578"/>
            <a:ext cx="4411430" cy="1479176"/>
            <a:chOff x="479424" y="1394767"/>
            <a:chExt cx="4411430" cy="1479176"/>
          </a:xfrm>
        </p:grpSpPr>
        <p:sp>
          <p:nvSpPr>
            <p:cNvPr id="3" name="Прямоугольник: скругленные углы 2">
              <a:extLst>
                <a:ext uri="{FF2B5EF4-FFF2-40B4-BE49-F238E27FC236}">
                  <a16:creationId xmlns:a16="http://schemas.microsoft.com/office/drawing/2014/main" id="{7695D9C8-3221-4E41-B5EC-880DAD6A578B}"/>
                </a:ext>
              </a:extLst>
            </p:cNvPr>
            <p:cNvSpPr/>
            <p:nvPr/>
          </p:nvSpPr>
          <p:spPr>
            <a:xfrm>
              <a:off x="479424" y="1394767"/>
              <a:ext cx="4411430" cy="147917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sz="2000" dirty="0"/>
                <a:t>A = </a:t>
              </a:r>
              <a:r>
                <a:rPr lang="ru-RU" sz="2000" dirty="0"/>
                <a:t>[5, 2, 7, 3, 6, 1, 4, 8]</a:t>
              </a:r>
            </a:p>
          </p:txBody>
        </p:sp>
        <p:sp>
          <p:nvSpPr>
            <p:cNvPr id="5" name="TextBox 4">
              <a:extLst>
                <a:ext uri="{FF2B5EF4-FFF2-40B4-BE49-F238E27FC236}">
                  <a16:creationId xmlns:a16="http://schemas.microsoft.com/office/drawing/2014/main" id="{0C9085A9-60DE-4899-A6D6-878CD9025EA6}"/>
                </a:ext>
              </a:extLst>
            </p:cNvPr>
            <p:cNvSpPr txBox="1"/>
            <p:nvPr/>
          </p:nvSpPr>
          <p:spPr bwMode="auto">
            <a:xfrm>
              <a:off x="1819746" y="2227449"/>
              <a:ext cx="2236206" cy="307777"/>
            </a:xfrm>
            <a:prstGeom prst="rect">
              <a:avLst/>
            </a:prstGeom>
          </p:spPr>
          <p:txBody>
            <a:bodyPr wrap="square" rtlCol="0">
              <a:spAutoFit/>
            </a:bodyPr>
            <a:lstStyle/>
            <a:p>
              <a:r>
                <a:rPr lang="en-US" sz="1400" dirty="0"/>
                <a:t>0   1     2    3    4   5   6  7</a:t>
              </a:r>
              <a:endParaRPr lang="ru-RU" sz="1400" dirty="0"/>
            </a:p>
          </p:txBody>
        </p:sp>
      </p:grpSp>
      <p:sp>
        <p:nvSpPr>
          <p:cNvPr id="8" name="Прямоугольник: скругленные углы 7">
            <a:extLst>
              <a:ext uri="{FF2B5EF4-FFF2-40B4-BE49-F238E27FC236}">
                <a16:creationId xmlns:a16="http://schemas.microsoft.com/office/drawing/2014/main" id="{B5A81F89-6DC5-4FB8-807F-97D3EBF40D26}"/>
              </a:ext>
            </a:extLst>
          </p:cNvPr>
          <p:cNvSpPr/>
          <p:nvPr/>
        </p:nvSpPr>
        <p:spPr>
          <a:xfrm>
            <a:off x="7414788" y="1333123"/>
            <a:ext cx="3748135" cy="160246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SUM(2,6)</a:t>
            </a:r>
            <a:endParaRPr lang="ru-RU" sz="2000" dirty="0"/>
          </a:p>
        </p:txBody>
      </p:sp>
      <p:sp>
        <p:nvSpPr>
          <p:cNvPr id="18" name="Прямоугольник: скругленные углы 17">
            <a:extLst>
              <a:ext uri="{FF2B5EF4-FFF2-40B4-BE49-F238E27FC236}">
                <a16:creationId xmlns:a16="http://schemas.microsoft.com/office/drawing/2014/main" id="{4D1CCC18-5F93-4B4F-A874-59224B219BD2}"/>
              </a:ext>
            </a:extLst>
          </p:cNvPr>
          <p:cNvSpPr/>
          <p:nvPr/>
        </p:nvSpPr>
        <p:spPr>
          <a:xfrm>
            <a:off x="7414788" y="3121183"/>
            <a:ext cx="3748135" cy="160246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MIN(1, 5) </a:t>
            </a:r>
            <a:endParaRPr lang="ru-RU" sz="2000" dirty="0"/>
          </a:p>
        </p:txBody>
      </p:sp>
      <p:sp>
        <p:nvSpPr>
          <p:cNvPr id="19" name="Прямоугольник: скругленные углы 18">
            <a:extLst>
              <a:ext uri="{FF2B5EF4-FFF2-40B4-BE49-F238E27FC236}">
                <a16:creationId xmlns:a16="http://schemas.microsoft.com/office/drawing/2014/main" id="{7E79179A-7335-4632-8BFA-41B714275E34}"/>
              </a:ext>
            </a:extLst>
          </p:cNvPr>
          <p:cNvSpPr/>
          <p:nvPr/>
        </p:nvSpPr>
        <p:spPr>
          <a:xfrm>
            <a:off x="7414788" y="4909243"/>
            <a:ext cx="3748135" cy="160246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UPDATE(3, 10) </a:t>
            </a:r>
            <a:endParaRPr lang="ru-RU" sz="2000" dirty="0"/>
          </a:p>
        </p:txBody>
      </p:sp>
      <p:sp>
        <p:nvSpPr>
          <p:cNvPr id="10" name="Прямоугольник: скругленные углы 9">
            <a:extLst>
              <a:ext uri="{FF2B5EF4-FFF2-40B4-BE49-F238E27FC236}">
                <a16:creationId xmlns:a16="http://schemas.microsoft.com/office/drawing/2014/main" id="{01C0F4E1-5B37-41C1-B9E5-E197B96887A9}"/>
              </a:ext>
            </a:extLst>
          </p:cNvPr>
          <p:cNvSpPr/>
          <p:nvPr/>
        </p:nvSpPr>
        <p:spPr>
          <a:xfrm>
            <a:off x="479423" y="4054479"/>
            <a:ext cx="6446477" cy="1059255"/>
          </a:xfrm>
          <a:prstGeom prst="roundRect">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ru-RU" b="1" dirty="0"/>
              <a:t>Запрос</a:t>
            </a:r>
            <a:r>
              <a:rPr lang="ru-RU" dirty="0"/>
              <a:t> — операция получения информации о данных без их изменения.</a:t>
            </a:r>
          </a:p>
        </p:txBody>
      </p:sp>
      <p:sp>
        <p:nvSpPr>
          <p:cNvPr id="21" name="Прямоугольник: скругленные углы 20">
            <a:extLst>
              <a:ext uri="{FF2B5EF4-FFF2-40B4-BE49-F238E27FC236}">
                <a16:creationId xmlns:a16="http://schemas.microsoft.com/office/drawing/2014/main" id="{759F493F-79F3-4DE5-9892-5511B04ACB56}"/>
              </a:ext>
            </a:extLst>
          </p:cNvPr>
          <p:cNvSpPr/>
          <p:nvPr/>
        </p:nvSpPr>
        <p:spPr>
          <a:xfrm>
            <a:off x="479423" y="5452451"/>
            <a:ext cx="6446477" cy="1059255"/>
          </a:xfrm>
          <a:prstGeom prst="roundRect">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ru-RU" b="1" dirty="0"/>
              <a:t>Обновление данных</a:t>
            </a:r>
            <a:r>
              <a:rPr lang="ru-RU" dirty="0"/>
              <a:t> — операция, которая изменяет одно или несколько значений в структуре данных.</a:t>
            </a:r>
          </a:p>
        </p:txBody>
      </p:sp>
    </p:spTree>
    <p:extLst>
      <p:ext uri="{BB962C8B-B14F-4D97-AF65-F5344CB8AC3E}">
        <p14:creationId xmlns:p14="http://schemas.microsoft.com/office/powerpoint/2010/main" val="81561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19" grpId="0" animBg="1"/>
      <p:bldP spid="10"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805215-0081-473B-B5D3-EE8A0319E349}"/>
              </a:ext>
            </a:extLst>
          </p:cNvPr>
          <p:cNvSpPr>
            <a:spLocks noGrp="1"/>
          </p:cNvSpPr>
          <p:nvPr>
            <p:ph type="title"/>
          </p:nvPr>
        </p:nvSpPr>
        <p:spPr>
          <a:xfrm>
            <a:off x="479424" y="597855"/>
            <a:ext cx="11229975" cy="1140459"/>
          </a:xfrm>
        </p:spPr>
        <p:txBody>
          <a:bodyPr/>
          <a:lstStyle/>
          <a:p>
            <a:r>
              <a:rPr lang="ru-RU" dirty="0"/>
              <a:t>Самое простое решение</a:t>
            </a:r>
          </a:p>
        </p:txBody>
      </p:sp>
      <p:sp>
        <p:nvSpPr>
          <p:cNvPr id="7" name="Текст 6">
            <a:extLst>
              <a:ext uri="{FF2B5EF4-FFF2-40B4-BE49-F238E27FC236}">
                <a16:creationId xmlns:a16="http://schemas.microsoft.com/office/drawing/2014/main" id="{63BB8E7F-7152-4DB6-870E-59B8A07FDABC}"/>
              </a:ext>
            </a:extLst>
          </p:cNvPr>
          <p:cNvSpPr>
            <a:spLocks noGrp="1"/>
          </p:cNvSpPr>
          <p:nvPr>
            <p:ph type="body" sz="quarter" idx="19"/>
          </p:nvPr>
        </p:nvSpPr>
        <p:spPr/>
        <p:txBody>
          <a:bodyPr/>
          <a:lstStyle/>
          <a:p>
            <a:endParaRPr lang="ru-RU"/>
          </a:p>
        </p:txBody>
      </p:sp>
      <p:grpSp>
        <p:nvGrpSpPr>
          <p:cNvPr id="9" name="Группа 8">
            <a:extLst>
              <a:ext uri="{FF2B5EF4-FFF2-40B4-BE49-F238E27FC236}">
                <a16:creationId xmlns:a16="http://schemas.microsoft.com/office/drawing/2014/main" id="{270E3E57-F32D-43FC-B44C-AB3827E2B553}"/>
              </a:ext>
            </a:extLst>
          </p:cNvPr>
          <p:cNvGrpSpPr/>
          <p:nvPr/>
        </p:nvGrpSpPr>
        <p:grpSpPr>
          <a:xfrm>
            <a:off x="479422" y="1217375"/>
            <a:ext cx="5042093" cy="1479176"/>
            <a:chOff x="479424" y="1394767"/>
            <a:chExt cx="4411430" cy="1479176"/>
          </a:xfrm>
        </p:grpSpPr>
        <p:sp>
          <p:nvSpPr>
            <p:cNvPr id="3" name="Прямоугольник: скругленные углы 2">
              <a:extLst>
                <a:ext uri="{FF2B5EF4-FFF2-40B4-BE49-F238E27FC236}">
                  <a16:creationId xmlns:a16="http://schemas.microsoft.com/office/drawing/2014/main" id="{7695D9C8-3221-4E41-B5EC-880DAD6A578B}"/>
                </a:ext>
              </a:extLst>
            </p:cNvPr>
            <p:cNvSpPr/>
            <p:nvPr/>
          </p:nvSpPr>
          <p:spPr>
            <a:xfrm>
              <a:off x="479424" y="1394767"/>
              <a:ext cx="4411430" cy="147917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sz="2000" dirty="0"/>
                <a:t>A = </a:t>
              </a:r>
              <a:r>
                <a:rPr lang="ru-RU" sz="2000" dirty="0"/>
                <a:t>[5, 2, 7, 3, 6, 1, 4, 8]</a:t>
              </a:r>
            </a:p>
          </p:txBody>
        </p:sp>
        <p:sp>
          <p:nvSpPr>
            <p:cNvPr id="5" name="TextBox 4">
              <a:extLst>
                <a:ext uri="{FF2B5EF4-FFF2-40B4-BE49-F238E27FC236}">
                  <a16:creationId xmlns:a16="http://schemas.microsoft.com/office/drawing/2014/main" id="{0C9085A9-60DE-4899-A6D6-878CD9025EA6}"/>
                </a:ext>
              </a:extLst>
            </p:cNvPr>
            <p:cNvSpPr txBox="1"/>
            <p:nvPr/>
          </p:nvSpPr>
          <p:spPr bwMode="auto">
            <a:xfrm>
              <a:off x="1819746" y="2227449"/>
              <a:ext cx="2236206" cy="307777"/>
            </a:xfrm>
            <a:prstGeom prst="rect">
              <a:avLst/>
            </a:prstGeom>
          </p:spPr>
          <p:txBody>
            <a:bodyPr wrap="square" rtlCol="0">
              <a:spAutoFit/>
            </a:bodyPr>
            <a:lstStyle/>
            <a:p>
              <a:r>
                <a:rPr lang="en-US" sz="1400" dirty="0"/>
                <a:t>0   1     2    3    4   5   6  7</a:t>
              </a:r>
              <a:endParaRPr lang="ru-RU" sz="1400" dirty="0"/>
            </a:p>
          </p:txBody>
        </p:sp>
      </p:grpSp>
      <p:sp>
        <p:nvSpPr>
          <p:cNvPr id="13" name="Прямоугольник: скругленные углы 12">
            <a:extLst>
              <a:ext uri="{FF2B5EF4-FFF2-40B4-BE49-F238E27FC236}">
                <a16:creationId xmlns:a16="http://schemas.microsoft.com/office/drawing/2014/main" id="{460EC1F1-9453-4508-96A4-7C5112786773}"/>
              </a:ext>
            </a:extLst>
          </p:cNvPr>
          <p:cNvSpPr/>
          <p:nvPr/>
        </p:nvSpPr>
        <p:spPr>
          <a:xfrm>
            <a:off x="479423" y="2917917"/>
            <a:ext cx="5042094" cy="147917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sz="2000" dirty="0"/>
              <a:t>Sum(2,6) -&gt; </a:t>
            </a:r>
            <a:r>
              <a:rPr lang="ru-RU" sz="2000" dirty="0"/>
              <a:t>7 + 3 + 6 + 1 + 4 = 21</a:t>
            </a:r>
          </a:p>
        </p:txBody>
      </p:sp>
      <p:grpSp>
        <p:nvGrpSpPr>
          <p:cNvPr id="22" name="Группа 21">
            <a:extLst>
              <a:ext uri="{FF2B5EF4-FFF2-40B4-BE49-F238E27FC236}">
                <a16:creationId xmlns:a16="http://schemas.microsoft.com/office/drawing/2014/main" id="{F009BF17-98D4-4FDB-B901-73CD86C830C1}"/>
              </a:ext>
            </a:extLst>
          </p:cNvPr>
          <p:cNvGrpSpPr/>
          <p:nvPr/>
        </p:nvGrpSpPr>
        <p:grpSpPr>
          <a:xfrm>
            <a:off x="6670483" y="1168084"/>
            <a:ext cx="4411430" cy="2462542"/>
            <a:chOff x="6670484" y="1122630"/>
            <a:chExt cx="4411430" cy="2580237"/>
          </a:xfrm>
        </p:grpSpPr>
        <p:sp>
          <p:nvSpPr>
            <p:cNvPr id="16" name="Прямоугольник: скругленные углы 15">
              <a:extLst>
                <a:ext uri="{FF2B5EF4-FFF2-40B4-BE49-F238E27FC236}">
                  <a16:creationId xmlns:a16="http://schemas.microsoft.com/office/drawing/2014/main" id="{672F5059-72FA-44EF-A091-3A370C2C73EB}"/>
                </a:ext>
              </a:extLst>
            </p:cNvPr>
            <p:cNvSpPr/>
            <p:nvPr/>
          </p:nvSpPr>
          <p:spPr>
            <a:xfrm>
              <a:off x="6670484" y="1122630"/>
              <a:ext cx="4411430" cy="258023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ru-RU" sz="2000" dirty="0"/>
            </a:p>
          </p:txBody>
        </p:sp>
        <p:pic>
          <p:nvPicPr>
            <p:cNvPr id="4" name="Рисунок 3">
              <a:extLst>
                <a:ext uri="{FF2B5EF4-FFF2-40B4-BE49-F238E27FC236}">
                  <a16:creationId xmlns:a16="http://schemas.microsoft.com/office/drawing/2014/main" id="{ACCBBE57-A35F-48BC-BA98-2066D67B912A}"/>
                </a:ext>
              </a:extLst>
            </p:cNvPr>
            <p:cNvPicPr>
              <a:picLocks noChangeAspect="1"/>
            </p:cNvPicPr>
            <p:nvPr/>
          </p:nvPicPr>
          <p:blipFill>
            <a:blip r:embed="rId2"/>
            <a:stretch>
              <a:fillRect/>
            </a:stretch>
          </p:blipFill>
          <p:spPr>
            <a:xfrm>
              <a:off x="6983847" y="1301156"/>
              <a:ext cx="3784704" cy="2113356"/>
            </a:xfrm>
            <a:prstGeom prst="rect">
              <a:avLst/>
            </a:prstGeom>
          </p:spPr>
        </p:pic>
      </p:grpSp>
      <p:sp>
        <p:nvSpPr>
          <p:cNvPr id="11" name="Прямоугольник: скругленные углы 10">
            <a:extLst>
              <a:ext uri="{FF2B5EF4-FFF2-40B4-BE49-F238E27FC236}">
                <a16:creationId xmlns:a16="http://schemas.microsoft.com/office/drawing/2014/main" id="{DB98ABAA-D0B5-4ABB-B5B7-FF13EBBEF273}"/>
              </a:ext>
            </a:extLst>
          </p:cNvPr>
          <p:cNvSpPr/>
          <p:nvPr/>
        </p:nvSpPr>
        <p:spPr>
          <a:xfrm>
            <a:off x="471580" y="4794126"/>
            <a:ext cx="4978307" cy="1692998"/>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ru-RU" dirty="0"/>
              <a:t>Сложность</a:t>
            </a:r>
            <a:r>
              <a:rPr lang="en-US" dirty="0"/>
              <a:t>: O(R-L+1)</a:t>
            </a:r>
            <a:br>
              <a:rPr lang="en-US" dirty="0"/>
            </a:br>
            <a:r>
              <a:rPr lang="ru-RU" dirty="0"/>
              <a:t>В худшем случае</a:t>
            </a:r>
            <a:r>
              <a:rPr lang="en-US" dirty="0"/>
              <a:t>: O(n)</a:t>
            </a:r>
            <a:endParaRPr lang="ru-RU" dirty="0"/>
          </a:p>
        </p:txBody>
      </p:sp>
      <p:pic>
        <p:nvPicPr>
          <p:cNvPr id="20" name="Рисунок 19">
            <a:extLst>
              <a:ext uri="{FF2B5EF4-FFF2-40B4-BE49-F238E27FC236}">
                <a16:creationId xmlns:a16="http://schemas.microsoft.com/office/drawing/2014/main" id="{FDC9EADD-DA76-4B1B-B829-3A3605DC617A}"/>
              </a:ext>
            </a:extLst>
          </p:cNvPr>
          <p:cNvPicPr>
            <a:picLocks noChangeAspect="1"/>
          </p:cNvPicPr>
          <p:nvPr/>
        </p:nvPicPr>
        <p:blipFill>
          <a:blip r:embed="rId3"/>
          <a:stretch>
            <a:fillRect/>
          </a:stretch>
        </p:blipFill>
        <p:spPr>
          <a:xfrm>
            <a:off x="5937326" y="3739081"/>
            <a:ext cx="5877745" cy="3077004"/>
          </a:xfrm>
          <a:prstGeom prst="rect">
            <a:avLst/>
          </a:prstGeom>
        </p:spPr>
      </p:pic>
    </p:spTree>
    <p:extLst>
      <p:ext uri="{BB962C8B-B14F-4D97-AF65-F5344CB8AC3E}">
        <p14:creationId xmlns:p14="http://schemas.microsoft.com/office/powerpoint/2010/main" val="2301057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805215-0081-473B-B5D3-EE8A0319E349}"/>
              </a:ext>
            </a:extLst>
          </p:cNvPr>
          <p:cNvSpPr>
            <a:spLocks noGrp="1"/>
          </p:cNvSpPr>
          <p:nvPr>
            <p:ph type="title"/>
          </p:nvPr>
        </p:nvSpPr>
        <p:spPr>
          <a:xfrm>
            <a:off x="479424" y="597855"/>
            <a:ext cx="11229975" cy="1140459"/>
          </a:xfrm>
        </p:spPr>
        <p:txBody>
          <a:bodyPr/>
          <a:lstStyle/>
          <a:p>
            <a:r>
              <a:rPr lang="ru-RU" dirty="0"/>
              <a:t>А если запросов много?</a:t>
            </a:r>
          </a:p>
        </p:txBody>
      </p:sp>
      <p:sp>
        <p:nvSpPr>
          <p:cNvPr id="7" name="Текст 6">
            <a:extLst>
              <a:ext uri="{FF2B5EF4-FFF2-40B4-BE49-F238E27FC236}">
                <a16:creationId xmlns:a16="http://schemas.microsoft.com/office/drawing/2014/main" id="{63BB8E7F-7152-4DB6-870E-59B8A07FDABC}"/>
              </a:ext>
            </a:extLst>
          </p:cNvPr>
          <p:cNvSpPr>
            <a:spLocks noGrp="1"/>
          </p:cNvSpPr>
          <p:nvPr>
            <p:ph type="body" sz="quarter" idx="19"/>
          </p:nvPr>
        </p:nvSpPr>
        <p:spPr/>
        <p:txBody>
          <a:bodyPr/>
          <a:lstStyle/>
          <a:p>
            <a:endParaRPr lang="ru-RU"/>
          </a:p>
        </p:txBody>
      </p:sp>
      <p:sp>
        <p:nvSpPr>
          <p:cNvPr id="6" name="Прямоугольник: скругленные углы 5">
            <a:extLst>
              <a:ext uri="{FF2B5EF4-FFF2-40B4-BE49-F238E27FC236}">
                <a16:creationId xmlns:a16="http://schemas.microsoft.com/office/drawing/2014/main" id="{FCB6F171-90C1-49BC-A615-FC310436B685}"/>
              </a:ext>
            </a:extLst>
          </p:cNvPr>
          <p:cNvSpPr/>
          <p:nvPr/>
        </p:nvSpPr>
        <p:spPr>
          <a:xfrm>
            <a:off x="479424" y="1358020"/>
            <a:ext cx="5459649" cy="23176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Массив</a:t>
            </a:r>
            <a:r>
              <a:rPr lang="en-US" sz="2400" dirty="0"/>
              <a:t>: 1 000 000</a:t>
            </a:r>
            <a:r>
              <a:rPr lang="ru-RU" sz="2400" dirty="0"/>
              <a:t> элементов</a:t>
            </a:r>
            <a:br>
              <a:rPr lang="ru-RU" sz="2400" dirty="0"/>
            </a:br>
            <a:r>
              <a:rPr lang="ru-RU" sz="2400" dirty="0"/>
              <a:t>Запросов</a:t>
            </a:r>
            <a:r>
              <a:rPr lang="en-US" sz="2400" dirty="0"/>
              <a:t>:</a:t>
            </a:r>
            <a:r>
              <a:rPr lang="ru-RU" sz="2400" dirty="0"/>
              <a:t> 1 000 000</a:t>
            </a:r>
          </a:p>
        </p:txBody>
      </p:sp>
      <p:sp>
        <p:nvSpPr>
          <p:cNvPr id="14" name="Прямоугольник: скругленные углы 13">
            <a:extLst>
              <a:ext uri="{FF2B5EF4-FFF2-40B4-BE49-F238E27FC236}">
                <a16:creationId xmlns:a16="http://schemas.microsoft.com/office/drawing/2014/main" id="{6DE4AFD8-55AC-4CA2-B7CD-A59E16E06ABF}"/>
              </a:ext>
            </a:extLst>
          </p:cNvPr>
          <p:cNvSpPr/>
          <p:nvPr/>
        </p:nvSpPr>
        <p:spPr>
          <a:xfrm>
            <a:off x="479423" y="3727765"/>
            <a:ext cx="5459649" cy="61789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n = 1 000 000; q = 1 000 000</a:t>
            </a:r>
            <a:endParaRPr lang="ru-RU" sz="2400" dirty="0"/>
          </a:p>
        </p:txBody>
      </p:sp>
      <p:grpSp>
        <p:nvGrpSpPr>
          <p:cNvPr id="21" name="Группа 20">
            <a:extLst>
              <a:ext uri="{FF2B5EF4-FFF2-40B4-BE49-F238E27FC236}">
                <a16:creationId xmlns:a16="http://schemas.microsoft.com/office/drawing/2014/main" id="{F7D46B55-3008-4C6B-AB25-673404CE2E5B}"/>
              </a:ext>
            </a:extLst>
          </p:cNvPr>
          <p:cNvGrpSpPr/>
          <p:nvPr/>
        </p:nvGrpSpPr>
        <p:grpSpPr>
          <a:xfrm>
            <a:off x="6094411" y="1358019"/>
            <a:ext cx="5853899" cy="2987644"/>
            <a:chOff x="6094411" y="1358019"/>
            <a:chExt cx="5853899" cy="2987644"/>
          </a:xfrm>
        </p:grpSpPr>
        <p:sp>
          <p:nvSpPr>
            <p:cNvPr id="15" name="Прямоугольник: скругленные углы 14">
              <a:extLst>
                <a:ext uri="{FF2B5EF4-FFF2-40B4-BE49-F238E27FC236}">
                  <a16:creationId xmlns:a16="http://schemas.microsoft.com/office/drawing/2014/main" id="{C81428EC-04DB-47AD-8538-D063A2B31C3B}"/>
                </a:ext>
              </a:extLst>
            </p:cNvPr>
            <p:cNvSpPr/>
            <p:nvPr/>
          </p:nvSpPr>
          <p:spPr>
            <a:xfrm>
              <a:off x="6094411" y="1358019"/>
              <a:ext cx="5459649" cy="29876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ru-RU" sz="2400" dirty="0"/>
            </a:p>
          </p:txBody>
        </p:sp>
        <p:sp>
          <p:nvSpPr>
            <p:cNvPr id="8" name="TextBox 7">
              <a:extLst>
                <a:ext uri="{FF2B5EF4-FFF2-40B4-BE49-F238E27FC236}">
                  <a16:creationId xmlns:a16="http://schemas.microsoft.com/office/drawing/2014/main" id="{5387CF96-0B1B-4E94-8864-376BCF85BABB}"/>
                </a:ext>
              </a:extLst>
            </p:cNvPr>
            <p:cNvSpPr txBox="1"/>
            <p:nvPr/>
          </p:nvSpPr>
          <p:spPr bwMode="auto">
            <a:xfrm>
              <a:off x="7289671" y="1642648"/>
              <a:ext cx="3069125" cy="461665"/>
            </a:xfrm>
            <a:prstGeom prst="rect">
              <a:avLst/>
            </a:prstGeom>
          </p:spPr>
          <p:txBody>
            <a:bodyPr wrap="square" rtlCol="0">
              <a:spAutoFit/>
            </a:bodyPr>
            <a:lstStyle/>
            <a:p>
              <a:pPr algn="ctr"/>
              <a:r>
                <a:rPr lang="en-US" sz="2400" dirty="0"/>
                <a:t>O(n) * q = O(nq)</a:t>
              </a:r>
              <a:endParaRPr lang="ru-RU" sz="2400" dirty="0"/>
            </a:p>
          </p:txBody>
        </p:sp>
        <p:sp>
          <p:nvSpPr>
            <p:cNvPr id="17" name="TextBox 16">
              <a:extLst>
                <a:ext uri="{FF2B5EF4-FFF2-40B4-BE49-F238E27FC236}">
                  <a16:creationId xmlns:a16="http://schemas.microsoft.com/office/drawing/2014/main" id="{49367804-C34D-4E5C-9A71-8D9543879ACB}"/>
                </a:ext>
              </a:extLst>
            </p:cNvPr>
            <p:cNvSpPr txBox="1"/>
            <p:nvPr/>
          </p:nvSpPr>
          <p:spPr bwMode="auto">
            <a:xfrm>
              <a:off x="6719304" y="2222797"/>
              <a:ext cx="4209860" cy="461665"/>
            </a:xfrm>
            <a:prstGeom prst="rect">
              <a:avLst/>
            </a:prstGeom>
          </p:spPr>
          <p:txBody>
            <a:bodyPr wrap="square" rtlCol="0">
              <a:spAutoFit/>
            </a:bodyPr>
            <a:lstStyle/>
            <a:p>
              <a:pPr algn="ctr"/>
              <a:r>
                <a:rPr lang="ru-RU" sz="2400" dirty="0"/>
                <a:t>При </a:t>
              </a:r>
              <a:r>
                <a:rPr lang="en-US" sz="2400" dirty="0"/>
                <a:t>n = 10^6; q = 10^6</a:t>
              </a:r>
              <a:endParaRPr lang="ru-RU" sz="2400" dirty="0"/>
            </a:p>
          </p:txBody>
        </p:sp>
        <p:sp>
          <p:nvSpPr>
            <p:cNvPr id="18" name="TextBox 17">
              <a:extLst>
                <a:ext uri="{FF2B5EF4-FFF2-40B4-BE49-F238E27FC236}">
                  <a16:creationId xmlns:a16="http://schemas.microsoft.com/office/drawing/2014/main" id="{DB096322-9B71-4905-820F-B4973CBFB8D8}"/>
                </a:ext>
              </a:extLst>
            </p:cNvPr>
            <p:cNvSpPr txBox="1"/>
            <p:nvPr/>
          </p:nvSpPr>
          <p:spPr bwMode="auto">
            <a:xfrm>
              <a:off x="8199545" y="2747429"/>
              <a:ext cx="1249379" cy="461665"/>
            </a:xfrm>
            <a:prstGeom prst="rect">
              <a:avLst/>
            </a:prstGeom>
          </p:spPr>
          <p:txBody>
            <a:bodyPr wrap="square" rtlCol="0">
              <a:spAutoFit/>
            </a:bodyPr>
            <a:lstStyle/>
            <a:p>
              <a:pPr algn="ctr"/>
              <a:r>
                <a:rPr lang="en-US" sz="2400" dirty="0"/>
                <a:t>10^12</a:t>
              </a:r>
              <a:endParaRPr lang="ru-RU" sz="2400" dirty="0"/>
            </a:p>
          </p:txBody>
        </p:sp>
        <p:sp>
          <p:nvSpPr>
            <p:cNvPr id="19" name="TextBox 18">
              <a:extLst>
                <a:ext uri="{FF2B5EF4-FFF2-40B4-BE49-F238E27FC236}">
                  <a16:creationId xmlns:a16="http://schemas.microsoft.com/office/drawing/2014/main" id="{16B7D108-D827-4094-A45F-D99CAAA0B89F}"/>
                </a:ext>
              </a:extLst>
            </p:cNvPr>
            <p:cNvSpPr txBox="1"/>
            <p:nvPr/>
          </p:nvSpPr>
          <p:spPr bwMode="auto">
            <a:xfrm>
              <a:off x="7245035" y="3776675"/>
              <a:ext cx="4703275" cy="461665"/>
            </a:xfrm>
            <a:prstGeom prst="rect">
              <a:avLst/>
            </a:prstGeom>
          </p:spPr>
          <p:txBody>
            <a:bodyPr wrap="square" rtlCol="0">
              <a:spAutoFit/>
            </a:bodyPr>
            <a:lstStyle/>
            <a:p>
              <a:r>
                <a:rPr lang="en-US" sz="2400" dirty="0"/>
                <a:t>1 000 000 000 000</a:t>
              </a:r>
              <a:endParaRPr lang="ru-RU" sz="2400" dirty="0"/>
            </a:p>
          </p:txBody>
        </p:sp>
        <p:sp>
          <p:nvSpPr>
            <p:cNvPr id="10" name="TextBox 9">
              <a:extLst>
                <a:ext uri="{FF2B5EF4-FFF2-40B4-BE49-F238E27FC236}">
                  <a16:creationId xmlns:a16="http://schemas.microsoft.com/office/drawing/2014/main" id="{15BF17C4-E50D-4024-A9F9-656DF7D23147}"/>
                </a:ext>
              </a:extLst>
            </p:cNvPr>
            <p:cNvSpPr txBox="1"/>
            <p:nvPr/>
          </p:nvSpPr>
          <p:spPr bwMode="auto">
            <a:xfrm>
              <a:off x="8131643" y="3262052"/>
              <a:ext cx="1385180" cy="461665"/>
            </a:xfrm>
            <a:prstGeom prst="rect">
              <a:avLst/>
            </a:prstGeom>
          </p:spPr>
          <p:txBody>
            <a:bodyPr wrap="square" rtlCol="0">
              <a:spAutoFit/>
            </a:bodyPr>
            <a:lstStyle/>
            <a:p>
              <a:pPr algn="ctr"/>
              <a:r>
                <a:rPr lang="ru-RU" sz="2400" dirty="0"/>
                <a:t>или</a:t>
              </a:r>
              <a:endParaRPr lang="ru-RU" dirty="0"/>
            </a:p>
          </p:txBody>
        </p:sp>
      </p:grpSp>
      <p:sp>
        <p:nvSpPr>
          <p:cNvPr id="12" name="Прямоугольник: скругленные углы 11">
            <a:extLst>
              <a:ext uri="{FF2B5EF4-FFF2-40B4-BE49-F238E27FC236}">
                <a16:creationId xmlns:a16="http://schemas.microsoft.com/office/drawing/2014/main" id="{BB820324-6D02-4DBA-B1A7-30FF9C597573}"/>
              </a:ext>
            </a:extLst>
          </p:cNvPr>
          <p:cNvSpPr/>
          <p:nvPr/>
        </p:nvSpPr>
        <p:spPr>
          <a:xfrm>
            <a:off x="401753" y="4625888"/>
            <a:ext cx="11074637" cy="1550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Можно ли один раз подготовить данные, чтобы потом отвечать на запросы быстрее?</a:t>
            </a:r>
          </a:p>
        </p:txBody>
      </p:sp>
    </p:spTree>
    <p:extLst>
      <p:ext uri="{BB962C8B-B14F-4D97-AF65-F5344CB8AC3E}">
        <p14:creationId xmlns:p14="http://schemas.microsoft.com/office/powerpoint/2010/main" val="3547279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F8EEAA-C1E8-4B4F-ABC5-3135390207A3}"/>
              </a:ext>
            </a:extLst>
          </p:cNvPr>
          <p:cNvSpPr>
            <a:spLocks noGrp="1"/>
          </p:cNvSpPr>
          <p:nvPr>
            <p:ph type="title"/>
          </p:nvPr>
        </p:nvSpPr>
        <p:spPr/>
        <p:txBody>
          <a:bodyPr/>
          <a:lstStyle/>
          <a:p>
            <a:r>
              <a:rPr lang="ru-RU" dirty="0"/>
              <a:t>Предварительная обработка данных</a:t>
            </a:r>
          </a:p>
        </p:txBody>
      </p:sp>
      <p:sp>
        <p:nvSpPr>
          <p:cNvPr id="7" name="Текст 6">
            <a:extLst>
              <a:ext uri="{FF2B5EF4-FFF2-40B4-BE49-F238E27FC236}">
                <a16:creationId xmlns:a16="http://schemas.microsoft.com/office/drawing/2014/main" id="{B0E76411-FE98-482B-AE27-95C129AD998D}"/>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7C52CCEA-1DAD-4EB8-A75C-0CBD0FB05F0A}"/>
              </a:ext>
            </a:extLst>
          </p:cNvPr>
          <p:cNvSpPr/>
          <p:nvPr/>
        </p:nvSpPr>
        <p:spPr>
          <a:xfrm>
            <a:off x="479424" y="1421394"/>
            <a:ext cx="5495863" cy="388846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9" name="Прямоугольник: скругленные углы 8">
            <a:extLst>
              <a:ext uri="{FF2B5EF4-FFF2-40B4-BE49-F238E27FC236}">
                <a16:creationId xmlns:a16="http://schemas.microsoft.com/office/drawing/2014/main" id="{51B6CDAF-C46E-4409-B3B3-3BF60A2A6A8D}"/>
              </a:ext>
            </a:extLst>
          </p:cNvPr>
          <p:cNvSpPr/>
          <p:nvPr/>
        </p:nvSpPr>
        <p:spPr>
          <a:xfrm>
            <a:off x="6216715" y="1421394"/>
            <a:ext cx="5495863" cy="388846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10" name="TextBox 9">
            <a:extLst>
              <a:ext uri="{FF2B5EF4-FFF2-40B4-BE49-F238E27FC236}">
                <a16:creationId xmlns:a16="http://schemas.microsoft.com/office/drawing/2014/main" id="{4B139F54-82BB-42D1-9305-6578B142A232}"/>
              </a:ext>
            </a:extLst>
          </p:cNvPr>
          <p:cNvSpPr txBox="1"/>
          <p:nvPr/>
        </p:nvSpPr>
        <p:spPr bwMode="auto">
          <a:xfrm>
            <a:off x="1581178" y="1548143"/>
            <a:ext cx="3277355" cy="461665"/>
          </a:xfrm>
          <a:prstGeom prst="rect">
            <a:avLst/>
          </a:prstGeom>
        </p:spPr>
        <p:txBody>
          <a:bodyPr wrap="square" rtlCol="0">
            <a:spAutoFit/>
          </a:bodyPr>
          <a:lstStyle/>
          <a:p>
            <a:pPr algn="ctr"/>
            <a:r>
              <a:rPr lang="ru-RU" sz="2400" dirty="0"/>
              <a:t>Исходный массив</a:t>
            </a:r>
          </a:p>
        </p:txBody>
      </p:sp>
      <p:sp>
        <p:nvSpPr>
          <p:cNvPr id="11" name="TextBox 10">
            <a:extLst>
              <a:ext uri="{FF2B5EF4-FFF2-40B4-BE49-F238E27FC236}">
                <a16:creationId xmlns:a16="http://schemas.microsoft.com/office/drawing/2014/main" id="{958CA249-C302-43EB-B3F3-A2A1CD8C62E4}"/>
              </a:ext>
            </a:extLst>
          </p:cNvPr>
          <p:cNvSpPr txBox="1"/>
          <p:nvPr/>
        </p:nvSpPr>
        <p:spPr bwMode="auto">
          <a:xfrm>
            <a:off x="-128583" y="2524294"/>
            <a:ext cx="6711875" cy="1631216"/>
          </a:xfrm>
          <a:prstGeom prst="rect">
            <a:avLst/>
          </a:prstGeom>
        </p:spPr>
        <p:txBody>
          <a:bodyPr wrap="square" rtlCol="0">
            <a:spAutoFit/>
          </a:bodyPr>
          <a:lstStyle/>
          <a:p>
            <a:pPr algn="ctr"/>
            <a:r>
              <a:rPr lang="ru-RU" sz="2000" dirty="0"/>
              <a:t>Запрос 1 → проходим диапазон</a:t>
            </a:r>
          </a:p>
          <a:p>
            <a:pPr algn="ctr"/>
            <a:r>
              <a:rPr lang="ru-RU" sz="2000" dirty="0"/>
              <a:t>Запрос 2 → снова проходим диапазон </a:t>
            </a:r>
          </a:p>
          <a:p>
            <a:pPr algn="ctr"/>
            <a:r>
              <a:rPr lang="ru-RU" sz="2000" dirty="0"/>
              <a:t>Запрос 3 → снова проходим диапазон</a:t>
            </a:r>
          </a:p>
          <a:p>
            <a:pPr algn="ctr"/>
            <a:r>
              <a:rPr lang="ru-RU" sz="2000" dirty="0"/>
              <a:t>... </a:t>
            </a:r>
          </a:p>
          <a:p>
            <a:pPr algn="ctr"/>
            <a:r>
              <a:rPr lang="ru-RU" sz="2000" dirty="0"/>
              <a:t>Запрос q → снова проходим диапазон</a:t>
            </a:r>
          </a:p>
        </p:txBody>
      </p:sp>
      <p:sp>
        <p:nvSpPr>
          <p:cNvPr id="12" name="Прямоугольник 11">
            <a:extLst>
              <a:ext uri="{FF2B5EF4-FFF2-40B4-BE49-F238E27FC236}">
                <a16:creationId xmlns:a16="http://schemas.microsoft.com/office/drawing/2014/main" id="{F7F790DB-4517-4728-8B3C-7FEF0CC875AE}"/>
              </a:ext>
            </a:extLst>
          </p:cNvPr>
          <p:cNvSpPr/>
          <p:nvPr/>
        </p:nvSpPr>
        <p:spPr>
          <a:xfrm>
            <a:off x="2199785" y="4294485"/>
            <a:ext cx="2055137" cy="751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 </a:t>
            </a:r>
            <a:r>
              <a:rPr lang="ru-RU" dirty="0"/>
              <a:t>на запрос </a:t>
            </a:r>
          </a:p>
        </p:txBody>
      </p:sp>
      <p:cxnSp>
        <p:nvCxnSpPr>
          <p:cNvPr id="14" name="Прямая со стрелкой 13">
            <a:extLst>
              <a:ext uri="{FF2B5EF4-FFF2-40B4-BE49-F238E27FC236}">
                <a16:creationId xmlns:a16="http://schemas.microsoft.com/office/drawing/2014/main" id="{063E06AC-50E1-408C-97E4-9CD3565144AD}"/>
              </a:ext>
            </a:extLst>
          </p:cNvPr>
          <p:cNvCxnSpPr>
            <a:stCxn id="10" idx="2"/>
            <a:endCxn id="11" idx="0"/>
          </p:cNvCxnSpPr>
          <p:nvPr/>
        </p:nvCxnSpPr>
        <p:spPr>
          <a:xfrm>
            <a:off x="3219856" y="2009808"/>
            <a:ext cx="7499" cy="514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48BCB3A-B45A-4D9C-8420-61D6466B3C79}"/>
              </a:ext>
            </a:extLst>
          </p:cNvPr>
          <p:cNvSpPr txBox="1"/>
          <p:nvPr/>
        </p:nvSpPr>
        <p:spPr bwMode="auto">
          <a:xfrm>
            <a:off x="7325968" y="1548142"/>
            <a:ext cx="3277355" cy="461665"/>
          </a:xfrm>
          <a:prstGeom prst="rect">
            <a:avLst/>
          </a:prstGeom>
        </p:spPr>
        <p:txBody>
          <a:bodyPr wrap="square" rtlCol="0">
            <a:spAutoFit/>
          </a:bodyPr>
          <a:lstStyle/>
          <a:p>
            <a:pPr algn="ctr"/>
            <a:r>
              <a:rPr lang="ru-RU" sz="2400" dirty="0"/>
              <a:t>Исходный массив</a:t>
            </a:r>
          </a:p>
        </p:txBody>
      </p:sp>
      <p:sp>
        <p:nvSpPr>
          <p:cNvPr id="16" name="TextBox 15">
            <a:extLst>
              <a:ext uri="{FF2B5EF4-FFF2-40B4-BE49-F238E27FC236}">
                <a16:creationId xmlns:a16="http://schemas.microsoft.com/office/drawing/2014/main" id="{A8D69215-730F-4480-B491-340C4FA4E975}"/>
              </a:ext>
            </a:extLst>
          </p:cNvPr>
          <p:cNvSpPr txBox="1"/>
          <p:nvPr/>
        </p:nvSpPr>
        <p:spPr bwMode="auto">
          <a:xfrm>
            <a:off x="6213537" y="2136555"/>
            <a:ext cx="5495863" cy="461665"/>
          </a:xfrm>
          <a:prstGeom prst="rect">
            <a:avLst/>
          </a:prstGeom>
        </p:spPr>
        <p:txBody>
          <a:bodyPr wrap="square" rtlCol="0">
            <a:spAutoFit/>
          </a:bodyPr>
          <a:lstStyle/>
          <a:p>
            <a:pPr algn="ctr"/>
            <a:r>
              <a:rPr lang="ru-RU" sz="2400" dirty="0"/>
              <a:t>Предварительная обработка</a:t>
            </a:r>
          </a:p>
        </p:txBody>
      </p:sp>
      <p:sp>
        <p:nvSpPr>
          <p:cNvPr id="17" name="TextBox 16">
            <a:extLst>
              <a:ext uri="{FF2B5EF4-FFF2-40B4-BE49-F238E27FC236}">
                <a16:creationId xmlns:a16="http://schemas.microsoft.com/office/drawing/2014/main" id="{A6DBC6D9-38CC-45EE-842B-E2E16E55510B}"/>
              </a:ext>
            </a:extLst>
          </p:cNvPr>
          <p:cNvSpPr txBox="1"/>
          <p:nvPr/>
        </p:nvSpPr>
        <p:spPr bwMode="auto">
          <a:xfrm>
            <a:off x="6213536" y="2724968"/>
            <a:ext cx="5495863" cy="461665"/>
          </a:xfrm>
          <a:prstGeom prst="rect">
            <a:avLst/>
          </a:prstGeom>
        </p:spPr>
        <p:txBody>
          <a:bodyPr wrap="square" rtlCol="0">
            <a:spAutoFit/>
          </a:bodyPr>
          <a:lstStyle/>
          <a:p>
            <a:pPr algn="ctr"/>
            <a:r>
              <a:rPr lang="ru-RU" sz="2400" dirty="0"/>
              <a:t>Дополнительная структура</a:t>
            </a:r>
          </a:p>
        </p:txBody>
      </p:sp>
      <p:sp>
        <p:nvSpPr>
          <p:cNvPr id="18" name="TextBox 17">
            <a:extLst>
              <a:ext uri="{FF2B5EF4-FFF2-40B4-BE49-F238E27FC236}">
                <a16:creationId xmlns:a16="http://schemas.microsoft.com/office/drawing/2014/main" id="{933326A3-299A-4BBE-B7F8-EEB896A888F7}"/>
              </a:ext>
            </a:extLst>
          </p:cNvPr>
          <p:cNvSpPr txBox="1"/>
          <p:nvPr/>
        </p:nvSpPr>
        <p:spPr bwMode="auto">
          <a:xfrm>
            <a:off x="6363825" y="3363361"/>
            <a:ext cx="5495863" cy="1569660"/>
          </a:xfrm>
          <a:prstGeom prst="rect">
            <a:avLst/>
          </a:prstGeom>
        </p:spPr>
        <p:txBody>
          <a:bodyPr wrap="square" rtlCol="0">
            <a:spAutoFit/>
          </a:bodyPr>
          <a:lstStyle/>
          <a:p>
            <a:pPr algn="ctr"/>
            <a:r>
              <a:rPr lang="ru-RU" sz="2400" dirty="0"/>
              <a:t>Запрос 1 → быстрый ответ </a:t>
            </a:r>
          </a:p>
          <a:p>
            <a:pPr algn="ctr"/>
            <a:r>
              <a:rPr lang="ru-RU" sz="2400" dirty="0"/>
              <a:t>Запрос 2 → быстрый ответ </a:t>
            </a:r>
          </a:p>
          <a:p>
            <a:pPr algn="ctr"/>
            <a:r>
              <a:rPr lang="ru-RU" sz="2400" dirty="0"/>
              <a:t>Запрос 3 → быстрый ответ</a:t>
            </a:r>
          </a:p>
          <a:p>
            <a:pPr algn="ctr"/>
            <a:r>
              <a:rPr lang="ru-RU" sz="2400" dirty="0"/>
              <a:t>…</a:t>
            </a:r>
          </a:p>
        </p:txBody>
      </p:sp>
      <p:cxnSp>
        <p:nvCxnSpPr>
          <p:cNvPr id="21" name="Прямая со стрелкой 20">
            <a:extLst>
              <a:ext uri="{FF2B5EF4-FFF2-40B4-BE49-F238E27FC236}">
                <a16:creationId xmlns:a16="http://schemas.microsoft.com/office/drawing/2014/main" id="{89B15E7C-AC30-414B-8611-BF1CFE7686E5}"/>
              </a:ext>
            </a:extLst>
          </p:cNvPr>
          <p:cNvCxnSpPr>
            <a:cxnSpLocks/>
            <a:stCxn id="15" idx="2"/>
          </p:cNvCxnSpPr>
          <p:nvPr/>
        </p:nvCxnSpPr>
        <p:spPr>
          <a:xfrm flipH="1">
            <a:off x="8961468" y="2009807"/>
            <a:ext cx="3178" cy="257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47EB71C7-D05E-47AD-99DF-208D25115270}"/>
              </a:ext>
            </a:extLst>
          </p:cNvPr>
          <p:cNvCxnSpPr>
            <a:cxnSpLocks/>
          </p:cNvCxnSpPr>
          <p:nvPr/>
        </p:nvCxnSpPr>
        <p:spPr>
          <a:xfrm flipH="1">
            <a:off x="8974932" y="2576102"/>
            <a:ext cx="3178" cy="257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7F936EA3-CD99-41E5-A83F-FCD366A98035}"/>
              </a:ext>
            </a:extLst>
          </p:cNvPr>
          <p:cNvCxnSpPr>
            <a:cxnSpLocks/>
          </p:cNvCxnSpPr>
          <p:nvPr/>
        </p:nvCxnSpPr>
        <p:spPr>
          <a:xfrm flipH="1">
            <a:off x="8974932" y="3104406"/>
            <a:ext cx="3178" cy="257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Прямоугольник: скругленные углы 25">
            <a:extLst>
              <a:ext uri="{FF2B5EF4-FFF2-40B4-BE49-F238E27FC236}">
                <a16:creationId xmlns:a16="http://schemas.microsoft.com/office/drawing/2014/main" id="{B24583C0-5DAC-447F-92F4-D373484D9E1A}"/>
              </a:ext>
            </a:extLst>
          </p:cNvPr>
          <p:cNvSpPr/>
          <p:nvPr/>
        </p:nvSpPr>
        <p:spPr>
          <a:xfrm>
            <a:off x="389299" y="5580917"/>
            <a:ext cx="11320100" cy="10643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Предварительная обработка — это обмен дополнительного времени и памяти на более быстрые будущие запросы.</a:t>
            </a:r>
          </a:p>
        </p:txBody>
      </p:sp>
    </p:spTree>
    <p:extLst>
      <p:ext uri="{BB962C8B-B14F-4D97-AF65-F5344CB8AC3E}">
        <p14:creationId xmlns:p14="http://schemas.microsoft.com/office/powerpoint/2010/main" val="991139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F8EEAA-C1E8-4B4F-ABC5-3135390207A3}"/>
              </a:ext>
            </a:extLst>
          </p:cNvPr>
          <p:cNvSpPr>
            <a:spLocks noGrp="1"/>
          </p:cNvSpPr>
          <p:nvPr>
            <p:ph type="title"/>
          </p:nvPr>
        </p:nvSpPr>
        <p:spPr/>
        <p:txBody>
          <a:bodyPr/>
          <a:lstStyle/>
          <a:p>
            <a:r>
              <a:rPr lang="ru-RU" dirty="0"/>
              <a:t>Префиксные суммы: основная идея</a:t>
            </a:r>
          </a:p>
        </p:txBody>
      </p:sp>
      <p:sp>
        <p:nvSpPr>
          <p:cNvPr id="7" name="Текст 6">
            <a:extLst>
              <a:ext uri="{FF2B5EF4-FFF2-40B4-BE49-F238E27FC236}">
                <a16:creationId xmlns:a16="http://schemas.microsoft.com/office/drawing/2014/main" id="{B0E76411-FE98-482B-AE27-95C129AD998D}"/>
              </a:ext>
            </a:extLst>
          </p:cNvPr>
          <p:cNvSpPr>
            <a:spLocks noGrp="1"/>
          </p:cNvSpPr>
          <p:nvPr>
            <p:ph type="body" sz="quarter" idx="19"/>
          </p:nvPr>
        </p:nvSpPr>
        <p:spPr/>
        <p:txBody>
          <a:bodyPr/>
          <a:lstStyle/>
          <a:p>
            <a:endParaRPr lang="ru-RU"/>
          </a:p>
        </p:txBody>
      </p:sp>
      <p:grpSp>
        <p:nvGrpSpPr>
          <p:cNvPr id="19" name="Группа 18">
            <a:extLst>
              <a:ext uri="{FF2B5EF4-FFF2-40B4-BE49-F238E27FC236}">
                <a16:creationId xmlns:a16="http://schemas.microsoft.com/office/drawing/2014/main" id="{304E8D82-1208-4834-9931-417FDE5560A2}"/>
              </a:ext>
            </a:extLst>
          </p:cNvPr>
          <p:cNvGrpSpPr/>
          <p:nvPr/>
        </p:nvGrpSpPr>
        <p:grpSpPr>
          <a:xfrm>
            <a:off x="479422" y="1217375"/>
            <a:ext cx="5042093" cy="1479176"/>
            <a:chOff x="479424" y="1394767"/>
            <a:chExt cx="4411430" cy="1479176"/>
          </a:xfrm>
        </p:grpSpPr>
        <p:sp>
          <p:nvSpPr>
            <p:cNvPr id="20" name="Прямоугольник: скругленные углы 19">
              <a:extLst>
                <a:ext uri="{FF2B5EF4-FFF2-40B4-BE49-F238E27FC236}">
                  <a16:creationId xmlns:a16="http://schemas.microsoft.com/office/drawing/2014/main" id="{3AFDF866-166D-43BD-86C9-926237C8C107}"/>
                </a:ext>
              </a:extLst>
            </p:cNvPr>
            <p:cNvSpPr/>
            <p:nvPr/>
          </p:nvSpPr>
          <p:spPr>
            <a:xfrm>
              <a:off x="479424" y="1394767"/>
              <a:ext cx="4411430" cy="147917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sz="2400" dirty="0"/>
                <a:t>A = </a:t>
              </a:r>
              <a:r>
                <a:rPr lang="ru-RU" sz="2400" dirty="0"/>
                <a:t>[5, 2, 7, 3, 6, 1, 4, 8]</a:t>
              </a:r>
            </a:p>
          </p:txBody>
        </p:sp>
        <p:sp>
          <p:nvSpPr>
            <p:cNvPr id="22" name="TextBox 21">
              <a:extLst>
                <a:ext uri="{FF2B5EF4-FFF2-40B4-BE49-F238E27FC236}">
                  <a16:creationId xmlns:a16="http://schemas.microsoft.com/office/drawing/2014/main" id="{02B68B89-7925-45FB-A7B2-50ED0268FB22}"/>
                </a:ext>
              </a:extLst>
            </p:cNvPr>
            <p:cNvSpPr txBox="1"/>
            <p:nvPr/>
          </p:nvSpPr>
          <p:spPr bwMode="auto">
            <a:xfrm>
              <a:off x="1881812" y="2227449"/>
              <a:ext cx="2423844" cy="338554"/>
            </a:xfrm>
            <a:prstGeom prst="rect">
              <a:avLst/>
            </a:prstGeom>
          </p:spPr>
          <p:txBody>
            <a:bodyPr wrap="square" rtlCol="0">
              <a:spAutoFit/>
            </a:bodyPr>
            <a:lstStyle/>
            <a:p>
              <a:r>
                <a:rPr lang="en-US" sz="1600" dirty="0"/>
                <a:t>0   1     2    3    4   5   6  7</a:t>
              </a:r>
              <a:endParaRPr lang="ru-RU" sz="1600" dirty="0"/>
            </a:p>
          </p:txBody>
        </p:sp>
      </p:grpSp>
      <p:sp>
        <p:nvSpPr>
          <p:cNvPr id="27" name="Прямоугольник: скругленные углы 26">
            <a:extLst>
              <a:ext uri="{FF2B5EF4-FFF2-40B4-BE49-F238E27FC236}">
                <a16:creationId xmlns:a16="http://schemas.microsoft.com/office/drawing/2014/main" id="{5B82E269-2548-402F-8DF0-C8DB3EB0A0F0}"/>
              </a:ext>
            </a:extLst>
          </p:cNvPr>
          <p:cNvSpPr/>
          <p:nvPr/>
        </p:nvSpPr>
        <p:spPr>
          <a:xfrm>
            <a:off x="479422" y="2908864"/>
            <a:ext cx="5042093" cy="147917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sz="2000" dirty="0"/>
              <a:t>prefix = </a:t>
            </a:r>
            <a:r>
              <a:rPr lang="ru-RU" sz="2000" dirty="0"/>
              <a:t>[</a:t>
            </a:r>
            <a:r>
              <a:rPr lang="en-US" sz="2000" dirty="0"/>
              <a:t>0, </a:t>
            </a:r>
            <a:r>
              <a:rPr lang="ru-RU" sz="2000" dirty="0"/>
              <a:t>5, </a:t>
            </a:r>
            <a:r>
              <a:rPr lang="en-US" sz="2000" dirty="0"/>
              <a:t>7</a:t>
            </a:r>
            <a:r>
              <a:rPr lang="ru-RU" sz="2000" dirty="0"/>
              <a:t>, </a:t>
            </a:r>
            <a:r>
              <a:rPr lang="en-US" sz="2000" dirty="0"/>
              <a:t>14</a:t>
            </a:r>
            <a:r>
              <a:rPr lang="ru-RU" sz="2000" dirty="0"/>
              <a:t>, </a:t>
            </a:r>
            <a:r>
              <a:rPr lang="en-US" sz="2000" dirty="0"/>
              <a:t>17</a:t>
            </a:r>
            <a:r>
              <a:rPr lang="ru-RU" sz="2000" dirty="0"/>
              <a:t>, </a:t>
            </a:r>
            <a:r>
              <a:rPr lang="en-US" sz="2000" dirty="0"/>
              <a:t>23</a:t>
            </a:r>
            <a:r>
              <a:rPr lang="ru-RU" sz="2000" dirty="0"/>
              <a:t>, </a:t>
            </a:r>
            <a:r>
              <a:rPr lang="en-US" sz="2000" dirty="0"/>
              <a:t>24</a:t>
            </a:r>
            <a:r>
              <a:rPr lang="ru-RU" sz="2000" dirty="0"/>
              <a:t>, </a:t>
            </a:r>
            <a:r>
              <a:rPr lang="en-US" sz="2000" dirty="0"/>
              <a:t>28</a:t>
            </a:r>
            <a:r>
              <a:rPr lang="ru-RU" sz="2000" dirty="0"/>
              <a:t>, </a:t>
            </a:r>
            <a:r>
              <a:rPr lang="en-US" sz="2000" dirty="0"/>
              <a:t>3</a:t>
            </a:r>
            <a:r>
              <a:rPr lang="ru-RU" sz="2000" dirty="0"/>
              <a:t>6]</a:t>
            </a:r>
          </a:p>
        </p:txBody>
      </p:sp>
      <p:sp>
        <p:nvSpPr>
          <p:cNvPr id="3" name="Прямоугольник: скругленные углы 2">
            <a:extLst>
              <a:ext uri="{FF2B5EF4-FFF2-40B4-BE49-F238E27FC236}">
                <a16:creationId xmlns:a16="http://schemas.microsoft.com/office/drawing/2014/main" id="{B4800CA8-31A0-4E83-A5EE-423C0D05741C}"/>
              </a:ext>
            </a:extLst>
          </p:cNvPr>
          <p:cNvSpPr/>
          <p:nvPr/>
        </p:nvSpPr>
        <p:spPr>
          <a:xfrm>
            <a:off x="479422" y="4713394"/>
            <a:ext cx="5042093" cy="14791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t>Префиксная сумма</a:t>
            </a:r>
            <a:r>
              <a:rPr lang="ru-RU" dirty="0"/>
              <a:t> — сумма всех элементов массива от начала до некоторой позиции.</a:t>
            </a:r>
          </a:p>
        </p:txBody>
      </p:sp>
      <p:sp>
        <p:nvSpPr>
          <p:cNvPr id="4" name="Прямоугольник: скругленные углы 3">
            <a:extLst>
              <a:ext uri="{FF2B5EF4-FFF2-40B4-BE49-F238E27FC236}">
                <a16:creationId xmlns:a16="http://schemas.microsoft.com/office/drawing/2014/main" id="{CD9299F7-AFE9-471C-8FD4-8537D23F73D3}"/>
              </a:ext>
            </a:extLst>
          </p:cNvPr>
          <p:cNvSpPr/>
          <p:nvPr/>
        </p:nvSpPr>
        <p:spPr>
          <a:xfrm>
            <a:off x="6373640" y="1217375"/>
            <a:ext cx="5042093" cy="317066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buFont typeface="Arial" panose="020B0604020202020204" pitchFamily="34" charset="0"/>
              <a:buChar char="•"/>
            </a:pPr>
            <a:r>
              <a:rPr lang="en-US" dirty="0"/>
              <a:t>prefix[0] = 0 </a:t>
            </a:r>
          </a:p>
          <a:p>
            <a:pPr marL="285750" indent="-285750">
              <a:buFont typeface="Arial" panose="020B0604020202020204" pitchFamily="34" charset="0"/>
              <a:buChar char="•"/>
            </a:pPr>
            <a:r>
              <a:rPr lang="en-US" dirty="0"/>
              <a:t>prefix[1] =  0 + 5 = 5</a:t>
            </a:r>
            <a:endParaRPr lang="ru-RU" dirty="0"/>
          </a:p>
          <a:p>
            <a:pPr marL="285750" indent="-285750">
              <a:buFont typeface="Arial" panose="020B0604020202020204" pitchFamily="34" charset="0"/>
              <a:buChar char="•"/>
            </a:pPr>
            <a:r>
              <a:rPr lang="en-US" dirty="0"/>
              <a:t>prefix[2] = 5 + 2 = 7</a:t>
            </a:r>
          </a:p>
          <a:p>
            <a:pPr marL="285750" indent="-285750">
              <a:buFont typeface="Arial" panose="020B0604020202020204" pitchFamily="34" charset="0"/>
              <a:buChar char="•"/>
            </a:pPr>
            <a:r>
              <a:rPr lang="en-US" dirty="0"/>
              <a:t>prefix[3] = 7 + 7 = 14 </a:t>
            </a:r>
            <a:endParaRPr lang="ru-RU" dirty="0"/>
          </a:p>
        </p:txBody>
      </p:sp>
      <p:sp>
        <p:nvSpPr>
          <p:cNvPr id="13" name="Прямоугольник: скругленные углы 12">
            <a:extLst>
              <a:ext uri="{FF2B5EF4-FFF2-40B4-BE49-F238E27FC236}">
                <a16:creationId xmlns:a16="http://schemas.microsoft.com/office/drawing/2014/main" id="{C5CBAA21-1626-4A11-81D5-CA70B402E982}"/>
              </a:ext>
            </a:extLst>
          </p:cNvPr>
          <p:cNvSpPr/>
          <p:nvPr/>
        </p:nvSpPr>
        <p:spPr>
          <a:xfrm>
            <a:off x="6264998" y="4825497"/>
            <a:ext cx="5042093" cy="13670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29" name="Объект 28">
            <a:extLst>
              <a:ext uri="{FF2B5EF4-FFF2-40B4-BE49-F238E27FC236}">
                <a16:creationId xmlns:a16="http://schemas.microsoft.com/office/drawing/2014/main" id="{903A662D-8E23-447F-B584-A9BD6D606BE7}"/>
              </a:ext>
            </a:extLst>
          </p:cNvPr>
          <p:cNvGraphicFramePr>
            <a:graphicFrameLocks noChangeAspect="1"/>
          </p:cNvGraphicFramePr>
          <p:nvPr>
            <p:extLst>
              <p:ext uri="{D42A27DB-BD31-4B8C-83A1-F6EECF244321}">
                <p14:modId xmlns:p14="http://schemas.microsoft.com/office/powerpoint/2010/main" val="32304508"/>
              </p:ext>
            </p:extLst>
          </p:nvPr>
        </p:nvGraphicFramePr>
        <p:xfrm>
          <a:off x="6526213" y="5197475"/>
          <a:ext cx="4479925" cy="515938"/>
        </p:xfrm>
        <a:graphic>
          <a:graphicData uri="http://schemas.openxmlformats.org/presentationml/2006/ole">
            <mc:AlternateContent xmlns:mc="http://schemas.openxmlformats.org/markup-compatibility/2006">
              <mc:Choice xmlns:v="urn:schemas-microsoft-com:vml" Requires="v">
                <p:oleObj spid="_x0000_s27656" name="Equation" r:id="rId3" imgW="1765080" imgH="203040" progId="Equation.DSMT4">
                  <p:embed/>
                </p:oleObj>
              </mc:Choice>
              <mc:Fallback>
                <p:oleObj name="Equation" r:id="rId3" imgW="1765080" imgH="203040" progId="Equation.DSMT4">
                  <p:embed/>
                  <p:pic>
                    <p:nvPicPr>
                      <p:cNvPr id="0" name=""/>
                      <p:cNvPicPr/>
                      <p:nvPr/>
                    </p:nvPicPr>
                    <p:blipFill>
                      <a:blip r:embed="rId4"/>
                      <a:stretch>
                        <a:fillRect/>
                      </a:stretch>
                    </p:blipFill>
                    <p:spPr>
                      <a:xfrm>
                        <a:off x="6526213" y="5197475"/>
                        <a:ext cx="4479925" cy="515938"/>
                      </a:xfrm>
                      <a:prstGeom prst="rect">
                        <a:avLst/>
                      </a:prstGeom>
                    </p:spPr>
                  </p:pic>
                </p:oleObj>
              </mc:Fallback>
            </mc:AlternateContent>
          </a:graphicData>
        </a:graphic>
      </p:graphicFrame>
    </p:spTree>
    <p:extLst>
      <p:ext uri="{BB962C8B-B14F-4D97-AF65-F5344CB8AC3E}">
        <p14:creationId xmlns:p14="http://schemas.microsoft.com/office/powerpoint/2010/main" val="23860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EDFE13-F1B4-4334-ADF8-5A058C120446}"/>
              </a:ext>
            </a:extLst>
          </p:cNvPr>
          <p:cNvSpPr>
            <a:spLocks noGrp="1"/>
          </p:cNvSpPr>
          <p:nvPr>
            <p:ph type="title"/>
          </p:nvPr>
        </p:nvSpPr>
        <p:spPr/>
        <p:txBody>
          <a:bodyPr/>
          <a:lstStyle/>
          <a:p>
            <a:r>
              <a:rPr lang="ru-RU" dirty="0"/>
              <a:t>Как получить сумму на диапазоне?</a:t>
            </a:r>
          </a:p>
        </p:txBody>
      </p:sp>
      <p:sp>
        <p:nvSpPr>
          <p:cNvPr id="7" name="Текст 6">
            <a:extLst>
              <a:ext uri="{FF2B5EF4-FFF2-40B4-BE49-F238E27FC236}">
                <a16:creationId xmlns:a16="http://schemas.microsoft.com/office/drawing/2014/main" id="{CFF4919D-46FB-42AB-9BA9-7CFE58D29227}"/>
              </a:ext>
            </a:extLst>
          </p:cNvPr>
          <p:cNvSpPr>
            <a:spLocks noGrp="1"/>
          </p:cNvSpPr>
          <p:nvPr>
            <p:ph type="body" sz="quarter" idx="19"/>
          </p:nvPr>
        </p:nvSpPr>
        <p:spPr/>
        <p:txBody>
          <a:bodyPr/>
          <a:lstStyle/>
          <a:p>
            <a:endParaRPr lang="ru-RU"/>
          </a:p>
        </p:txBody>
      </p:sp>
      <p:sp>
        <p:nvSpPr>
          <p:cNvPr id="9" name="Прямоугольник: скругленные углы 8">
            <a:extLst>
              <a:ext uri="{FF2B5EF4-FFF2-40B4-BE49-F238E27FC236}">
                <a16:creationId xmlns:a16="http://schemas.microsoft.com/office/drawing/2014/main" id="{A3B3A4C3-B587-40A5-B98E-114C987AAA86}"/>
              </a:ext>
            </a:extLst>
          </p:cNvPr>
          <p:cNvSpPr/>
          <p:nvPr/>
        </p:nvSpPr>
        <p:spPr>
          <a:xfrm>
            <a:off x="479424" y="1252291"/>
            <a:ext cx="8773218" cy="65810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sz="2400" dirty="0"/>
          </a:p>
          <a:p>
            <a:pPr algn="ctr"/>
            <a:r>
              <a:rPr lang="en-US" sz="2400" dirty="0"/>
              <a:t>A = </a:t>
            </a:r>
            <a:r>
              <a:rPr lang="ru-RU" sz="2400" dirty="0"/>
              <a:t>[5, 2, 7, 3, 6, 1, 4, 8]</a:t>
            </a:r>
            <a:r>
              <a:rPr lang="en-US" sz="2400" dirty="0"/>
              <a:t>, prefix = </a:t>
            </a:r>
            <a:r>
              <a:rPr lang="ru-RU" sz="2400" dirty="0"/>
              <a:t>[</a:t>
            </a:r>
            <a:r>
              <a:rPr lang="en-US" sz="2400" dirty="0"/>
              <a:t>0, </a:t>
            </a:r>
            <a:r>
              <a:rPr lang="ru-RU" sz="2400" dirty="0"/>
              <a:t>5, </a:t>
            </a:r>
            <a:r>
              <a:rPr lang="en-US" sz="2400" dirty="0"/>
              <a:t>7</a:t>
            </a:r>
            <a:r>
              <a:rPr lang="ru-RU" sz="2400" dirty="0"/>
              <a:t>, </a:t>
            </a:r>
            <a:r>
              <a:rPr lang="en-US" sz="2400" dirty="0"/>
              <a:t>14</a:t>
            </a:r>
            <a:r>
              <a:rPr lang="ru-RU" sz="2400" dirty="0"/>
              <a:t>, </a:t>
            </a:r>
            <a:r>
              <a:rPr lang="en-US" sz="2400" dirty="0"/>
              <a:t>17</a:t>
            </a:r>
            <a:r>
              <a:rPr lang="ru-RU" sz="2400" dirty="0"/>
              <a:t>, </a:t>
            </a:r>
            <a:r>
              <a:rPr lang="en-US" sz="2400" dirty="0"/>
              <a:t>23</a:t>
            </a:r>
            <a:r>
              <a:rPr lang="ru-RU" sz="2400" dirty="0"/>
              <a:t>, </a:t>
            </a:r>
            <a:r>
              <a:rPr lang="en-US" sz="2400" dirty="0"/>
              <a:t>24</a:t>
            </a:r>
            <a:r>
              <a:rPr lang="ru-RU" sz="2400" dirty="0"/>
              <a:t>, </a:t>
            </a:r>
            <a:r>
              <a:rPr lang="en-US" sz="2400" dirty="0"/>
              <a:t>28</a:t>
            </a:r>
            <a:r>
              <a:rPr lang="ru-RU" sz="2400" dirty="0"/>
              <a:t>, </a:t>
            </a:r>
            <a:r>
              <a:rPr lang="en-US" sz="2400" dirty="0"/>
              <a:t>3</a:t>
            </a:r>
            <a:r>
              <a:rPr lang="ru-RU" sz="2400" dirty="0"/>
              <a:t>6]</a:t>
            </a:r>
          </a:p>
          <a:p>
            <a:pPr algn="ctr"/>
            <a:endParaRPr lang="ru-RU" sz="2400" dirty="0"/>
          </a:p>
        </p:txBody>
      </p:sp>
      <p:sp>
        <p:nvSpPr>
          <p:cNvPr id="12" name="Прямоугольник: скругленные углы 11">
            <a:extLst>
              <a:ext uri="{FF2B5EF4-FFF2-40B4-BE49-F238E27FC236}">
                <a16:creationId xmlns:a16="http://schemas.microsoft.com/office/drawing/2014/main" id="{4EDDFF73-A4D2-453E-AF29-C385E4325A57}"/>
              </a:ext>
            </a:extLst>
          </p:cNvPr>
          <p:cNvSpPr/>
          <p:nvPr/>
        </p:nvSpPr>
        <p:spPr>
          <a:xfrm>
            <a:off x="9451818" y="1252291"/>
            <a:ext cx="2257582" cy="65810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sum(2,6)</a:t>
            </a:r>
            <a:endParaRPr lang="ru-RU" sz="2400" dirty="0"/>
          </a:p>
        </p:txBody>
      </p:sp>
      <p:grpSp>
        <p:nvGrpSpPr>
          <p:cNvPr id="20" name="Группа 19">
            <a:extLst>
              <a:ext uri="{FF2B5EF4-FFF2-40B4-BE49-F238E27FC236}">
                <a16:creationId xmlns:a16="http://schemas.microsoft.com/office/drawing/2014/main" id="{5C8C1376-576C-4B32-9A03-6030AB41D012}"/>
              </a:ext>
            </a:extLst>
          </p:cNvPr>
          <p:cNvGrpSpPr/>
          <p:nvPr/>
        </p:nvGrpSpPr>
        <p:grpSpPr>
          <a:xfrm>
            <a:off x="6609029" y="2940712"/>
            <a:ext cx="4716856" cy="1086416"/>
            <a:chOff x="3735984" y="2021626"/>
            <a:chExt cx="4716856" cy="1086416"/>
          </a:xfrm>
        </p:grpSpPr>
        <p:sp>
          <p:nvSpPr>
            <p:cNvPr id="13" name="Прямоугольник: скругленные углы 12">
              <a:extLst>
                <a:ext uri="{FF2B5EF4-FFF2-40B4-BE49-F238E27FC236}">
                  <a16:creationId xmlns:a16="http://schemas.microsoft.com/office/drawing/2014/main" id="{01C41366-3907-4396-9B8B-B5931AF7970A}"/>
                </a:ext>
              </a:extLst>
            </p:cNvPr>
            <p:cNvSpPr/>
            <p:nvPr/>
          </p:nvSpPr>
          <p:spPr>
            <a:xfrm>
              <a:off x="3735984" y="2021626"/>
              <a:ext cx="4716856" cy="1086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4" name="Объект 13">
              <a:extLst>
                <a:ext uri="{FF2B5EF4-FFF2-40B4-BE49-F238E27FC236}">
                  <a16:creationId xmlns:a16="http://schemas.microsoft.com/office/drawing/2014/main" id="{52DD7DE0-384F-4CF1-9509-93BFE24863DE}"/>
                </a:ext>
              </a:extLst>
            </p:cNvPr>
            <p:cNvGraphicFramePr>
              <a:graphicFrameLocks noChangeAspect="1"/>
            </p:cNvGraphicFramePr>
            <p:nvPr>
              <p:extLst>
                <p:ext uri="{D42A27DB-BD31-4B8C-83A1-F6EECF244321}">
                  <p14:modId xmlns:p14="http://schemas.microsoft.com/office/powerpoint/2010/main" val="2248983843"/>
                </p:ext>
              </p:extLst>
            </p:nvPr>
          </p:nvGraphicFramePr>
          <p:xfrm>
            <a:off x="3947442" y="2317687"/>
            <a:ext cx="4297116" cy="419231"/>
          </p:xfrm>
          <a:graphic>
            <a:graphicData uri="http://schemas.openxmlformats.org/presentationml/2006/ole">
              <mc:AlternateContent xmlns:mc="http://schemas.openxmlformats.org/markup-compatibility/2006">
                <mc:Choice xmlns:v="urn:schemas-microsoft-com:vml" Requires="v">
                  <p:oleObj spid="_x0000_s28684" name="Equation" r:id="rId3" imgW="2082600" imgH="203040" progId="Equation.DSMT4">
                    <p:embed/>
                  </p:oleObj>
                </mc:Choice>
                <mc:Fallback>
                  <p:oleObj name="Equation" r:id="rId3" imgW="2082600" imgH="203040" progId="Equation.DSMT4">
                    <p:embed/>
                    <p:pic>
                      <p:nvPicPr>
                        <p:cNvPr id="0" name=""/>
                        <p:cNvPicPr/>
                        <p:nvPr/>
                      </p:nvPicPr>
                      <p:blipFill>
                        <a:blip r:embed="rId4"/>
                        <a:stretch>
                          <a:fillRect/>
                        </a:stretch>
                      </p:blipFill>
                      <p:spPr>
                        <a:xfrm>
                          <a:off x="3947442" y="2317687"/>
                          <a:ext cx="4297116" cy="419231"/>
                        </a:xfrm>
                        <a:prstGeom prst="rect">
                          <a:avLst/>
                        </a:prstGeom>
                      </p:spPr>
                    </p:pic>
                  </p:oleObj>
                </mc:Fallback>
              </mc:AlternateContent>
            </a:graphicData>
          </a:graphic>
        </p:graphicFrame>
      </p:grpSp>
      <p:pic>
        <p:nvPicPr>
          <p:cNvPr id="18" name="Рисунок 17">
            <a:extLst>
              <a:ext uri="{FF2B5EF4-FFF2-40B4-BE49-F238E27FC236}">
                <a16:creationId xmlns:a16="http://schemas.microsoft.com/office/drawing/2014/main" id="{D1984B4D-60D3-49B4-8424-1518B75AC2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9424" y="2009869"/>
            <a:ext cx="5783682" cy="4250276"/>
          </a:xfrm>
          <a:prstGeom prst="rect">
            <a:avLst/>
          </a:prstGeom>
        </p:spPr>
      </p:pic>
      <p:sp>
        <p:nvSpPr>
          <p:cNvPr id="19" name="Прямоугольник: скругленные углы 18">
            <a:extLst>
              <a:ext uri="{FF2B5EF4-FFF2-40B4-BE49-F238E27FC236}">
                <a16:creationId xmlns:a16="http://schemas.microsoft.com/office/drawing/2014/main" id="{8866258F-D33B-4BE0-911D-4404676C7087}"/>
              </a:ext>
            </a:extLst>
          </p:cNvPr>
          <p:cNvSpPr/>
          <p:nvPr/>
        </p:nvSpPr>
        <p:spPr>
          <a:xfrm>
            <a:off x="6609029" y="4425339"/>
            <a:ext cx="4716856" cy="11404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ru-RU" sz="2000" dirty="0"/>
              <a:t>Сложность</a:t>
            </a:r>
            <a:r>
              <a:rPr lang="en-US" sz="2000" dirty="0"/>
              <a:t> </a:t>
            </a:r>
            <a:r>
              <a:rPr lang="ru-RU" sz="2000" dirty="0"/>
              <a:t>построения</a:t>
            </a:r>
            <a:r>
              <a:rPr lang="en-US" sz="2000" dirty="0"/>
              <a:t>: O(n)</a:t>
            </a:r>
            <a:br>
              <a:rPr lang="en-US" sz="2000" dirty="0"/>
            </a:br>
            <a:r>
              <a:rPr lang="ru-RU" sz="2000" dirty="0"/>
              <a:t>Сложность запроса</a:t>
            </a:r>
            <a:r>
              <a:rPr lang="en-US" sz="2000" dirty="0"/>
              <a:t>: O(1)</a:t>
            </a:r>
            <a:endParaRPr lang="ru-RU" sz="2000" dirty="0"/>
          </a:p>
        </p:txBody>
      </p:sp>
    </p:spTree>
    <p:extLst>
      <p:ext uri="{BB962C8B-B14F-4D97-AF65-F5344CB8AC3E}">
        <p14:creationId xmlns:p14="http://schemas.microsoft.com/office/powerpoint/2010/main" val="1372440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EDFE13-F1B4-4334-ADF8-5A058C120446}"/>
              </a:ext>
            </a:extLst>
          </p:cNvPr>
          <p:cNvSpPr>
            <a:spLocks noGrp="1"/>
          </p:cNvSpPr>
          <p:nvPr>
            <p:ph type="title"/>
          </p:nvPr>
        </p:nvSpPr>
        <p:spPr>
          <a:xfrm>
            <a:off x="479425" y="597855"/>
            <a:ext cx="11229975" cy="693095"/>
          </a:xfrm>
        </p:spPr>
        <p:txBody>
          <a:bodyPr/>
          <a:lstStyle/>
          <a:p>
            <a:r>
              <a:rPr lang="ru-RU" dirty="0"/>
              <a:t>А если массив изменился?</a:t>
            </a:r>
          </a:p>
        </p:txBody>
      </p:sp>
      <p:sp>
        <p:nvSpPr>
          <p:cNvPr id="7" name="Текст 6">
            <a:extLst>
              <a:ext uri="{FF2B5EF4-FFF2-40B4-BE49-F238E27FC236}">
                <a16:creationId xmlns:a16="http://schemas.microsoft.com/office/drawing/2014/main" id="{CFF4919D-46FB-42AB-9BA9-7CFE58D29227}"/>
              </a:ext>
            </a:extLst>
          </p:cNvPr>
          <p:cNvSpPr>
            <a:spLocks noGrp="1"/>
          </p:cNvSpPr>
          <p:nvPr>
            <p:ph type="body" sz="quarter" idx="19"/>
          </p:nvPr>
        </p:nvSpPr>
        <p:spPr/>
        <p:txBody>
          <a:bodyPr/>
          <a:lstStyle/>
          <a:p>
            <a:endParaRPr lang="ru-RU"/>
          </a:p>
        </p:txBody>
      </p:sp>
      <p:sp>
        <p:nvSpPr>
          <p:cNvPr id="9" name="Прямоугольник: скругленные углы 8">
            <a:extLst>
              <a:ext uri="{FF2B5EF4-FFF2-40B4-BE49-F238E27FC236}">
                <a16:creationId xmlns:a16="http://schemas.microsoft.com/office/drawing/2014/main" id="{A3B3A4C3-B587-40A5-B98E-114C987AAA86}"/>
              </a:ext>
            </a:extLst>
          </p:cNvPr>
          <p:cNvSpPr/>
          <p:nvPr/>
        </p:nvSpPr>
        <p:spPr>
          <a:xfrm>
            <a:off x="479424" y="1223152"/>
            <a:ext cx="3449780" cy="65810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sz="2400" dirty="0"/>
          </a:p>
          <a:p>
            <a:pPr algn="ctr"/>
            <a:r>
              <a:rPr lang="en-US" sz="2400" dirty="0"/>
              <a:t>A = </a:t>
            </a:r>
            <a:r>
              <a:rPr lang="ru-RU" sz="2400" dirty="0"/>
              <a:t>[5, 2, 7, 3, 6, 1, 4, 8]</a:t>
            </a:r>
          </a:p>
          <a:p>
            <a:pPr algn="ctr"/>
            <a:endParaRPr lang="ru-RU" sz="2400" dirty="0"/>
          </a:p>
        </p:txBody>
      </p:sp>
      <p:sp>
        <p:nvSpPr>
          <p:cNvPr id="12" name="Прямоугольник: скругленные углы 11">
            <a:extLst>
              <a:ext uri="{FF2B5EF4-FFF2-40B4-BE49-F238E27FC236}">
                <a16:creationId xmlns:a16="http://schemas.microsoft.com/office/drawing/2014/main" id="{4EDDFF73-A4D2-453E-AF29-C385E4325A57}"/>
              </a:ext>
            </a:extLst>
          </p:cNvPr>
          <p:cNvSpPr/>
          <p:nvPr/>
        </p:nvSpPr>
        <p:spPr>
          <a:xfrm>
            <a:off x="4634415" y="1223152"/>
            <a:ext cx="2257582" cy="65810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update(2,</a:t>
            </a:r>
            <a:r>
              <a:rPr lang="ru-RU" sz="2400" dirty="0"/>
              <a:t>10</a:t>
            </a:r>
            <a:r>
              <a:rPr lang="en-US" sz="2400" dirty="0"/>
              <a:t>)</a:t>
            </a:r>
            <a:endParaRPr lang="ru-RU" sz="2400" dirty="0"/>
          </a:p>
        </p:txBody>
      </p:sp>
      <p:sp>
        <p:nvSpPr>
          <p:cNvPr id="11" name="Прямоугольник: скругленные углы 10">
            <a:extLst>
              <a:ext uri="{FF2B5EF4-FFF2-40B4-BE49-F238E27FC236}">
                <a16:creationId xmlns:a16="http://schemas.microsoft.com/office/drawing/2014/main" id="{AD93DF09-57F3-4759-ABC4-9F62FD7BA201}"/>
              </a:ext>
            </a:extLst>
          </p:cNvPr>
          <p:cNvSpPr/>
          <p:nvPr/>
        </p:nvSpPr>
        <p:spPr>
          <a:xfrm>
            <a:off x="7597208" y="1269148"/>
            <a:ext cx="4112192" cy="612111"/>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sz="2400" dirty="0"/>
          </a:p>
          <a:p>
            <a:pPr algn="ctr"/>
            <a:r>
              <a:rPr lang="en-US" sz="2400" dirty="0"/>
              <a:t>A = </a:t>
            </a:r>
            <a:r>
              <a:rPr lang="ru-RU" sz="2400" dirty="0"/>
              <a:t>[5, 2, 10, 3, 6, 1, 4, 8]</a:t>
            </a:r>
          </a:p>
          <a:p>
            <a:pPr algn="ctr"/>
            <a:endParaRPr lang="ru-RU" sz="2400" dirty="0"/>
          </a:p>
        </p:txBody>
      </p:sp>
      <p:sp>
        <p:nvSpPr>
          <p:cNvPr id="15" name="Прямоугольник: скругленные углы 14">
            <a:extLst>
              <a:ext uri="{FF2B5EF4-FFF2-40B4-BE49-F238E27FC236}">
                <a16:creationId xmlns:a16="http://schemas.microsoft.com/office/drawing/2014/main" id="{97F17B95-7B06-45F1-B6C1-F0B300F7512B}"/>
              </a:ext>
            </a:extLst>
          </p:cNvPr>
          <p:cNvSpPr/>
          <p:nvPr/>
        </p:nvSpPr>
        <p:spPr>
          <a:xfrm>
            <a:off x="479424" y="2215919"/>
            <a:ext cx="5495863" cy="65810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sz="2400" dirty="0"/>
              <a:t>prefix = </a:t>
            </a:r>
            <a:r>
              <a:rPr lang="ru-RU" sz="2400" dirty="0"/>
              <a:t>[</a:t>
            </a:r>
            <a:r>
              <a:rPr lang="en-US" sz="2400" dirty="0"/>
              <a:t>0, </a:t>
            </a:r>
            <a:r>
              <a:rPr lang="ru-RU" sz="2400" dirty="0"/>
              <a:t>5, </a:t>
            </a:r>
            <a:r>
              <a:rPr lang="en-US" sz="2400" dirty="0">
                <a:solidFill>
                  <a:srgbClr val="002060"/>
                </a:solidFill>
              </a:rPr>
              <a:t>7</a:t>
            </a:r>
            <a:r>
              <a:rPr lang="ru-RU" sz="2400" dirty="0">
                <a:solidFill>
                  <a:srgbClr val="002060"/>
                </a:solidFill>
              </a:rPr>
              <a:t>, </a:t>
            </a:r>
            <a:r>
              <a:rPr lang="en-US" sz="2400" dirty="0">
                <a:solidFill>
                  <a:srgbClr val="FF0000"/>
                </a:solidFill>
              </a:rPr>
              <a:t>14</a:t>
            </a:r>
            <a:r>
              <a:rPr lang="ru-RU" sz="2400" dirty="0">
                <a:solidFill>
                  <a:srgbClr val="FF0000"/>
                </a:solidFill>
              </a:rPr>
              <a:t>, </a:t>
            </a:r>
            <a:r>
              <a:rPr lang="en-US" sz="2400" dirty="0">
                <a:solidFill>
                  <a:srgbClr val="FF0000"/>
                </a:solidFill>
              </a:rPr>
              <a:t>17</a:t>
            </a:r>
            <a:r>
              <a:rPr lang="ru-RU" sz="2400" dirty="0">
                <a:solidFill>
                  <a:srgbClr val="FF0000"/>
                </a:solidFill>
              </a:rPr>
              <a:t>, </a:t>
            </a:r>
            <a:r>
              <a:rPr lang="en-US" sz="2400" dirty="0">
                <a:solidFill>
                  <a:srgbClr val="FF0000"/>
                </a:solidFill>
              </a:rPr>
              <a:t>23</a:t>
            </a:r>
            <a:r>
              <a:rPr lang="ru-RU" sz="2400" dirty="0">
                <a:solidFill>
                  <a:srgbClr val="FF0000"/>
                </a:solidFill>
              </a:rPr>
              <a:t>, </a:t>
            </a:r>
            <a:r>
              <a:rPr lang="en-US" sz="2400" dirty="0">
                <a:solidFill>
                  <a:srgbClr val="FF0000"/>
                </a:solidFill>
              </a:rPr>
              <a:t>24</a:t>
            </a:r>
            <a:r>
              <a:rPr lang="ru-RU" sz="2400" dirty="0">
                <a:solidFill>
                  <a:srgbClr val="FF0000"/>
                </a:solidFill>
              </a:rPr>
              <a:t>, </a:t>
            </a:r>
            <a:r>
              <a:rPr lang="en-US" sz="2400" dirty="0">
                <a:solidFill>
                  <a:srgbClr val="FF0000"/>
                </a:solidFill>
              </a:rPr>
              <a:t>28</a:t>
            </a:r>
            <a:r>
              <a:rPr lang="ru-RU" sz="2400" dirty="0">
                <a:solidFill>
                  <a:srgbClr val="FF0000"/>
                </a:solidFill>
              </a:rPr>
              <a:t>, </a:t>
            </a:r>
            <a:r>
              <a:rPr lang="en-US" sz="2400" dirty="0">
                <a:solidFill>
                  <a:srgbClr val="FF0000"/>
                </a:solidFill>
              </a:rPr>
              <a:t>3</a:t>
            </a:r>
            <a:r>
              <a:rPr lang="ru-RU" sz="2400" dirty="0">
                <a:solidFill>
                  <a:srgbClr val="FF0000"/>
                </a:solidFill>
              </a:rPr>
              <a:t>6</a:t>
            </a:r>
            <a:r>
              <a:rPr lang="ru-RU" sz="2400" dirty="0"/>
              <a:t>]</a:t>
            </a:r>
          </a:p>
        </p:txBody>
      </p:sp>
      <p:sp>
        <p:nvSpPr>
          <p:cNvPr id="16" name="Прямоугольник: скругленные углы 15">
            <a:extLst>
              <a:ext uri="{FF2B5EF4-FFF2-40B4-BE49-F238E27FC236}">
                <a16:creationId xmlns:a16="http://schemas.microsoft.com/office/drawing/2014/main" id="{9ED6A833-32E8-47C0-B1FA-CB9053A0166D}"/>
              </a:ext>
            </a:extLst>
          </p:cNvPr>
          <p:cNvSpPr/>
          <p:nvPr/>
        </p:nvSpPr>
        <p:spPr>
          <a:xfrm>
            <a:off x="479423" y="3203842"/>
            <a:ext cx="5495863" cy="65810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sz="2400" dirty="0"/>
              <a:t>prefix = </a:t>
            </a:r>
            <a:r>
              <a:rPr lang="ru-RU" sz="2400" dirty="0"/>
              <a:t>[0, 5, </a:t>
            </a:r>
            <a:r>
              <a:rPr lang="ru-RU" sz="2400" dirty="0">
                <a:solidFill>
                  <a:srgbClr val="002060"/>
                </a:solidFill>
              </a:rPr>
              <a:t>7, </a:t>
            </a:r>
            <a:r>
              <a:rPr lang="ru-RU" sz="2400" dirty="0">
                <a:solidFill>
                  <a:srgbClr val="00B050"/>
                </a:solidFill>
              </a:rPr>
              <a:t>17, 20, 26, 27, 31, 39</a:t>
            </a:r>
            <a:r>
              <a:rPr lang="ru-RU" sz="2400" dirty="0"/>
              <a:t>]</a:t>
            </a:r>
          </a:p>
        </p:txBody>
      </p:sp>
      <p:sp>
        <p:nvSpPr>
          <p:cNvPr id="3" name="Прямоугольник: скругленные углы 2">
            <a:extLst>
              <a:ext uri="{FF2B5EF4-FFF2-40B4-BE49-F238E27FC236}">
                <a16:creationId xmlns:a16="http://schemas.microsoft.com/office/drawing/2014/main" id="{784A73D1-F799-4B67-AA20-19B06ADC1178}"/>
              </a:ext>
            </a:extLst>
          </p:cNvPr>
          <p:cNvSpPr/>
          <p:nvPr/>
        </p:nvSpPr>
        <p:spPr>
          <a:xfrm>
            <a:off x="6346480" y="2037342"/>
            <a:ext cx="5362921" cy="400131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sp>
        <p:nvSpPr>
          <p:cNvPr id="4" name="TextBox 3">
            <a:extLst>
              <a:ext uri="{FF2B5EF4-FFF2-40B4-BE49-F238E27FC236}">
                <a16:creationId xmlns:a16="http://schemas.microsoft.com/office/drawing/2014/main" id="{E5423308-0754-48D0-B0BD-8123F4F99240}"/>
              </a:ext>
            </a:extLst>
          </p:cNvPr>
          <p:cNvSpPr txBox="1"/>
          <p:nvPr/>
        </p:nvSpPr>
        <p:spPr bwMode="auto">
          <a:xfrm>
            <a:off x="6620850" y="2253009"/>
            <a:ext cx="5218065" cy="3785652"/>
          </a:xfrm>
          <a:prstGeom prst="rect">
            <a:avLst/>
          </a:prstGeom>
        </p:spPr>
        <p:txBody>
          <a:bodyPr wrap="square" rtlCol="0">
            <a:spAutoFit/>
          </a:bodyPr>
          <a:lstStyle/>
          <a:p>
            <a:r>
              <a:rPr lang="ru-RU" sz="2400" dirty="0"/>
              <a:t>Изменился только один элемент массива</a:t>
            </a:r>
            <a:r>
              <a:rPr lang="en-US" sz="2400" dirty="0"/>
              <a:t>:</a:t>
            </a:r>
          </a:p>
          <a:p>
            <a:pPr algn="ctr"/>
            <a:r>
              <a:rPr lang="en-US" sz="2400" dirty="0"/>
              <a:t>A[2]: 7 </a:t>
            </a:r>
            <a:r>
              <a:rPr lang="ru-RU" sz="2400" dirty="0"/>
              <a:t>→ 10</a:t>
            </a:r>
            <a:endParaRPr lang="en-US" sz="2400" dirty="0"/>
          </a:p>
          <a:p>
            <a:r>
              <a:rPr lang="ru-RU" sz="2400" dirty="0"/>
              <a:t>Но изменились:</a:t>
            </a:r>
            <a:endParaRPr lang="en-US" sz="2400" dirty="0"/>
          </a:p>
          <a:p>
            <a:pPr algn="ctr"/>
            <a:r>
              <a:rPr lang="en-US" sz="2400" dirty="0"/>
              <a:t>prefix[3]</a:t>
            </a:r>
          </a:p>
          <a:p>
            <a:pPr algn="ctr"/>
            <a:r>
              <a:rPr lang="en-US" sz="2400" dirty="0"/>
              <a:t>prefix[4]</a:t>
            </a:r>
          </a:p>
          <a:p>
            <a:pPr algn="ctr"/>
            <a:r>
              <a:rPr lang="en-US" sz="2400" dirty="0"/>
              <a:t>prefix[5]</a:t>
            </a:r>
          </a:p>
          <a:p>
            <a:pPr algn="ctr"/>
            <a:r>
              <a:rPr lang="en-US" sz="2400" dirty="0"/>
              <a:t>…</a:t>
            </a:r>
          </a:p>
          <a:p>
            <a:pPr algn="ctr"/>
            <a:r>
              <a:rPr lang="en-US" sz="2400" dirty="0"/>
              <a:t>prefix[n]</a:t>
            </a:r>
          </a:p>
          <a:p>
            <a:endParaRPr lang="ru-RU" sz="2400" dirty="0"/>
          </a:p>
        </p:txBody>
      </p:sp>
      <p:sp>
        <p:nvSpPr>
          <p:cNvPr id="5" name="Прямоугольник: скругленные углы 4">
            <a:extLst>
              <a:ext uri="{FF2B5EF4-FFF2-40B4-BE49-F238E27FC236}">
                <a16:creationId xmlns:a16="http://schemas.microsoft.com/office/drawing/2014/main" id="{E9BC9A86-AB9C-43F2-A76C-EAB107D23971}"/>
              </a:ext>
            </a:extLst>
          </p:cNvPr>
          <p:cNvSpPr/>
          <p:nvPr/>
        </p:nvSpPr>
        <p:spPr>
          <a:xfrm>
            <a:off x="353085" y="3983975"/>
            <a:ext cx="5492437" cy="20546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Point update </a:t>
            </a:r>
            <a:r>
              <a:rPr lang="ru-RU" sz="2400" dirty="0"/>
              <a:t>для </a:t>
            </a:r>
            <a:r>
              <a:rPr lang="en-US" sz="2400" dirty="0"/>
              <a:t>prefix: O(n)</a:t>
            </a:r>
            <a:endParaRPr lang="ru-RU" sz="2400" dirty="0"/>
          </a:p>
        </p:txBody>
      </p:sp>
    </p:spTree>
    <p:extLst>
      <p:ext uri="{BB962C8B-B14F-4D97-AF65-F5344CB8AC3E}">
        <p14:creationId xmlns:p14="http://schemas.microsoft.com/office/powerpoint/2010/main" val="2999655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CF5160-212B-4A7A-B96D-0419CC9AA4B4}"/>
              </a:ext>
            </a:extLst>
          </p:cNvPr>
          <p:cNvSpPr>
            <a:spLocks noGrp="1"/>
          </p:cNvSpPr>
          <p:nvPr>
            <p:ph type="title"/>
          </p:nvPr>
        </p:nvSpPr>
        <p:spPr/>
        <p:txBody>
          <a:bodyPr/>
          <a:lstStyle/>
          <a:p>
            <a:r>
              <a:rPr lang="ru-RU" dirty="0"/>
              <a:t>Дерево </a:t>
            </a:r>
            <a:r>
              <a:rPr lang="ru-RU" dirty="0" err="1"/>
              <a:t>Фенвика</a:t>
            </a:r>
            <a:endParaRPr lang="ru-RU" dirty="0"/>
          </a:p>
        </p:txBody>
      </p:sp>
      <p:sp>
        <p:nvSpPr>
          <p:cNvPr id="7" name="Текст 6">
            <a:extLst>
              <a:ext uri="{FF2B5EF4-FFF2-40B4-BE49-F238E27FC236}">
                <a16:creationId xmlns:a16="http://schemas.microsoft.com/office/drawing/2014/main" id="{214918F8-0BB7-4B4D-AC19-183569CB8812}"/>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BBE0E43A-E721-44E1-ACFF-BC7487D3CCEB}"/>
              </a:ext>
            </a:extLst>
          </p:cNvPr>
          <p:cNvSpPr/>
          <p:nvPr/>
        </p:nvSpPr>
        <p:spPr>
          <a:xfrm>
            <a:off x="479424" y="1168084"/>
            <a:ext cx="11229974" cy="15118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t>Дерево </a:t>
            </a:r>
            <a:r>
              <a:rPr lang="ru-RU" sz="2400" b="1" dirty="0" err="1"/>
              <a:t>Фенвика</a:t>
            </a:r>
            <a:r>
              <a:rPr lang="ru-RU" sz="2400" b="1" dirty="0"/>
              <a:t> (</a:t>
            </a:r>
            <a:r>
              <a:rPr lang="ru-RU" sz="2400" b="1" dirty="0" err="1"/>
              <a:t>Fenwick</a:t>
            </a:r>
            <a:r>
              <a:rPr lang="ru-RU" sz="2400" b="1" dirty="0"/>
              <a:t> </a:t>
            </a:r>
            <a:r>
              <a:rPr lang="ru-RU" sz="2400" b="1" dirty="0" err="1"/>
              <a:t>Tree</a:t>
            </a:r>
            <a:r>
              <a:rPr lang="ru-RU" sz="2400" b="1" dirty="0"/>
              <a:t> / </a:t>
            </a:r>
            <a:r>
              <a:rPr lang="ru-RU" sz="2400" b="1" dirty="0" err="1"/>
              <a:t>Binary</a:t>
            </a:r>
            <a:r>
              <a:rPr lang="ru-RU" sz="2400" b="1" dirty="0"/>
              <a:t> </a:t>
            </a:r>
            <a:r>
              <a:rPr lang="ru-RU" sz="2400" b="1" dirty="0" err="1"/>
              <a:t>Indexed</a:t>
            </a:r>
            <a:r>
              <a:rPr lang="ru-RU" sz="2400" b="1" dirty="0"/>
              <a:t> </a:t>
            </a:r>
            <a:r>
              <a:rPr lang="ru-RU" sz="2400" b="1" dirty="0" err="1"/>
              <a:t>Tree</a:t>
            </a:r>
            <a:r>
              <a:rPr lang="ru-RU" sz="2400" b="1" dirty="0"/>
              <a:t>)</a:t>
            </a:r>
            <a:r>
              <a:rPr lang="ru-RU" sz="2400" dirty="0"/>
              <a:t> — структура данных, в которой каждая ячейка хранит сумму некоторого диапазона исходного массива.</a:t>
            </a:r>
          </a:p>
        </p:txBody>
      </p:sp>
      <p:sp>
        <p:nvSpPr>
          <p:cNvPr id="10" name="Прямоугольник: скругленные углы 9">
            <a:extLst>
              <a:ext uri="{FF2B5EF4-FFF2-40B4-BE49-F238E27FC236}">
                <a16:creationId xmlns:a16="http://schemas.microsoft.com/office/drawing/2014/main" id="{FB081D64-E7E1-4ADE-ADFD-06B5A2807F8F}"/>
              </a:ext>
            </a:extLst>
          </p:cNvPr>
          <p:cNvSpPr/>
          <p:nvPr/>
        </p:nvSpPr>
        <p:spPr>
          <a:xfrm>
            <a:off x="479424" y="2788467"/>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11" name="Прямоугольник: скругленные углы 10">
            <a:extLst>
              <a:ext uri="{FF2B5EF4-FFF2-40B4-BE49-F238E27FC236}">
                <a16:creationId xmlns:a16="http://schemas.microsoft.com/office/drawing/2014/main" id="{B53A75C5-6702-496C-9564-CD26DA477C7E}"/>
              </a:ext>
            </a:extLst>
          </p:cNvPr>
          <p:cNvSpPr/>
          <p:nvPr/>
        </p:nvSpPr>
        <p:spPr>
          <a:xfrm>
            <a:off x="479424" y="4054110"/>
            <a:ext cx="5432489" cy="254899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tree:</a:t>
            </a:r>
          </a:p>
          <a:p>
            <a:pPr algn="ctr"/>
            <a:r>
              <a:rPr lang="en-US" dirty="0"/>
              <a:t>tree[1] = 5</a:t>
            </a:r>
          </a:p>
          <a:p>
            <a:pPr algn="ctr"/>
            <a:r>
              <a:rPr lang="en-US" dirty="0"/>
              <a:t>tree[2] = 7</a:t>
            </a:r>
          </a:p>
          <a:p>
            <a:pPr algn="ctr"/>
            <a:r>
              <a:rPr lang="en-US" dirty="0"/>
              <a:t>tree[3] = 7</a:t>
            </a:r>
          </a:p>
          <a:p>
            <a:pPr algn="ctr"/>
            <a:r>
              <a:rPr lang="en-US" dirty="0"/>
              <a:t>tree[4] = 17</a:t>
            </a:r>
          </a:p>
          <a:p>
            <a:pPr algn="ctr"/>
            <a:r>
              <a:rPr lang="en-US" dirty="0"/>
              <a:t>tree[5] = 6</a:t>
            </a:r>
          </a:p>
          <a:p>
            <a:pPr algn="ctr"/>
            <a:r>
              <a:rPr lang="en-US" dirty="0"/>
              <a:t>tree[6] = 7</a:t>
            </a:r>
          </a:p>
          <a:p>
            <a:pPr algn="ctr"/>
            <a:r>
              <a:rPr lang="en-US" dirty="0"/>
              <a:t>tree[7] = 4</a:t>
            </a:r>
          </a:p>
          <a:p>
            <a:pPr algn="ctr"/>
            <a:r>
              <a:rPr lang="en-US" dirty="0"/>
              <a:t>tree[8] = 36</a:t>
            </a:r>
            <a:endParaRPr lang="ru-RU" dirty="0"/>
          </a:p>
        </p:txBody>
      </p:sp>
      <p:pic>
        <p:nvPicPr>
          <p:cNvPr id="15" name="Рисунок 14">
            <a:extLst>
              <a:ext uri="{FF2B5EF4-FFF2-40B4-BE49-F238E27FC236}">
                <a16:creationId xmlns:a16="http://schemas.microsoft.com/office/drawing/2014/main" id="{B61C487B-F2FF-46C2-8926-7ADAA5206C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91333" y="2788467"/>
            <a:ext cx="4961299" cy="3720974"/>
          </a:xfrm>
          <a:prstGeom prst="rect">
            <a:avLst/>
          </a:prstGeom>
        </p:spPr>
      </p:pic>
    </p:spTree>
    <p:extLst>
      <p:ext uri="{BB962C8B-B14F-4D97-AF65-F5344CB8AC3E}">
        <p14:creationId xmlns:p14="http://schemas.microsoft.com/office/powerpoint/2010/main" val="1073968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Как определяется диапазон</a:t>
            </a:r>
            <a:r>
              <a:rPr lang="en-US" dirty="0"/>
              <a:t> tree[</a:t>
            </a:r>
            <a:r>
              <a:rPr lang="en-US" dirty="0" err="1"/>
              <a:t>i</a:t>
            </a:r>
            <a:r>
              <a:rPr lang="en-US" dirty="0"/>
              <a:t>]</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grpSp>
        <p:nvGrpSpPr>
          <p:cNvPr id="8" name="Группа 7">
            <a:extLst>
              <a:ext uri="{FF2B5EF4-FFF2-40B4-BE49-F238E27FC236}">
                <a16:creationId xmlns:a16="http://schemas.microsoft.com/office/drawing/2014/main" id="{86E4810B-32A5-4AA8-A054-69312D7DDBC1}"/>
              </a:ext>
            </a:extLst>
          </p:cNvPr>
          <p:cNvGrpSpPr/>
          <p:nvPr/>
        </p:nvGrpSpPr>
        <p:grpSpPr>
          <a:xfrm>
            <a:off x="479425" y="1457779"/>
            <a:ext cx="3188993" cy="1086416"/>
            <a:chOff x="3735984" y="2021626"/>
            <a:chExt cx="4716856" cy="1086416"/>
          </a:xfrm>
        </p:grpSpPr>
        <p:sp>
          <p:nvSpPr>
            <p:cNvPr id="9" name="Прямоугольник: скругленные углы 8">
              <a:extLst>
                <a:ext uri="{FF2B5EF4-FFF2-40B4-BE49-F238E27FC236}">
                  <a16:creationId xmlns:a16="http://schemas.microsoft.com/office/drawing/2014/main" id="{C3CC3815-48AC-424A-B948-170E5FA3270C}"/>
                </a:ext>
              </a:extLst>
            </p:cNvPr>
            <p:cNvSpPr/>
            <p:nvPr/>
          </p:nvSpPr>
          <p:spPr>
            <a:xfrm>
              <a:off x="3735984" y="2021626"/>
              <a:ext cx="4716856" cy="1086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aphicFrame>
          <p:nvGraphicFramePr>
            <p:cNvPr id="10" name="Объект 9">
              <a:extLst>
                <a:ext uri="{FF2B5EF4-FFF2-40B4-BE49-F238E27FC236}">
                  <a16:creationId xmlns:a16="http://schemas.microsoft.com/office/drawing/2014/main" id="{3F5FD3D8-6D49-463D-85C3-1239CDA6677E}"/>
                </a:ext>
              </a:extLst>
            </p:cNvPr>
            <p:cNvGraphicFramePr>
              <a:graphicFrameLocks noChangeAspect="1"/>
            </p:cNvGraphicFramePr>
            <p:nvPr>
              <p:extLst>
                <p:ext uri="{D42A27DB-BD31-4B8C-83A1-F6EECF244321}">
                  <p14:modId xmlns:p14="http://schemas.microsoft.com/office/powerpoint/2010/main" val="4112862674"/>
                </p:ext>
              </p:extLst>
            </p:nvPr>
          </p:nvGraphicFramePr>
          <p:xfrm>
            <a:off x="4110482" y="2324309"/>
            <a:ext cx="3898779" cy="419100"/>
          </p:xfrm>
          <a:graphic>
            <a:graphicData uri="http://schemas.openxmlformats.org/presentationml/2006/ole">
              <mc:AlternateContent xmlns:mc="http://schemas.openxmlformats.org/markup-compatibility/2006">
                <mc:Choice xmlns:v="urn:schemas-microsoft-com:vml" Requires="v">
                  <p:oleObj spid="_x0000_s31754" name="Equation" r:id="rId3" imgW="1193760" imgH="203040" progId="Equation.DSMT4">
                    <p:embed/>
                  </p:oleObj>
                </mc:Choice>
                <mc:Fallback>
                  <p:oleObj name="Equation" r:id="rId3" imgW="1193760" imgH="203040" progId="Equation.DSMT4">
                    <p:embed/>
                    <p:pic>
                      <p:nvPicPr>
                        <p:cNvPr id="14" name="Объект 13">
                          <a:extLst>
                            <a:ext uri="{FF2B5EF4-FFF2-40B4-BE49-F238E27FC236}">
                              <a16:creationId xmlns:a16="http://schemas.microsoft.com/office/drawing/2014/main" id="{52DD7DE0-384F-4CF1-9509-93BFE24863DE}"/>
                            </a:ext>
                          </a:extLst>
                        </p:cNvPr>
                        <p:cNvPicPr/>
                        <p:nvPr/>
                      </p:nvPicPr>
                      <p:blipFill>
                        <a:blip r:embed="rId4"/>
                        <a:stretch>
                          <a:fillRect/>
                        </a:stretch>
                      </p:blipFill>
                      <p:spPr>
                        <a:xfrm>
                          <a:off x="4110482" y="2324309"/>
                          <a:ext cx="3898779" cy="419100"/>
                        </a:xfrm>
                        <a:prstGeom prst="rect">
                          <a:avLst/>
                        </a:prstGeom>
                      </p:spPr>
                    </p:pic>
                  </p:oleObj>
                </mc:Fallback>
              </mc:AlternateContent>
            </a:graphicData>
          </a:graphic>
        </p:graphicFrame>
      </p:grpSp>
      <p:grpSp>
        <p:nvGrpSpPr>
          <p:cNvPr id="11" name="Группа 10">
            <a:extLst>
              <a:ext uri="{FF2B5EF4-FFF2-40B4-BE49-F238E27FC236}">
                <a16:creationId xmlns:a16="http://schemas.microsoft.com/office/drawing/2014/main" id="{AAEF1E03-7566-4636-B997-3D4A438D3BB2}"/>
              </a:ext>
            </a:extLst>
          </p:cNvPr>
          <p:cNvGrpSpPr/>
          <p:nvPr/>
        </p:nvGrpSpPr>
        <p:grpSpPr>
          <a:xfrm>
            <a:off x="4286277" y="1448652"/>
            <a:ext cx="3188993" cy="1086416"/>
            <a:chOff x="3735984" y="2021626"/>
            <a:chExt cx="4716856" cy="1086416"/>
          </a:xfrm>
        </p:grpSpPr>
        <p:sp>
          <p:nvSpPr>
            <p:cNvPr id="12" name="Прямоугольник: скругленные углы 11">
              <a:extLst>
                <a:ext uri="{FF2B5EF4-FFF2-40B4-BE49-F238E27FC236}">
                  <a16:creationId xmlns:a16="http://schemas.microsoft.com/office/drawing/2014/main" id="{18D3D97F-5531-4FD3-8FD5-9D7DEACC8B3C}"/>
                </a:ext>
              </a:extLst>
            </p:cNvPr>
            <p:cNvSpPr/>
            <p:nvPr/>
          </p:nvSpPr>
          <p:spPr>
            <a:xfrm>
              <a:off x="3735984" y="2021626"/>
              <a:ext cx="4716856" cy="1086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3" name="Объект 12">
              <a:extLst>
                <a:ext uri="{FF2B5EF4-FFF2-40B4-BE49-F238E27FC236}">
                  <a16:creationId xmlns:a16="http://schemas.microsoft.com/office/drawing/2014/main" id="{78529702-C12C-4CC3-AC20-169039962DDF}"/>
                </a:ext>
              </a:extLst>
            </p:cNvPr>
            <p:cNvGraphicFramePr>
              <a:graphicFrameLocks noChangeAspect="1"/>
            </p:cNvGraphicFramePr>
            <p:nvPr>
              <p:extLst>
                <p:ext uri="{D42A27DB-BD31-4B8C-83A1-F6EECF244321}">
                  <p14:modId xmlns:p14="http://schemas.microsoft.com/office/powerpoint/2010/main" val="4063005632"/>
                </p:ext>
              </p:extLst>
            </p:nvPr>
          </p:nvGraphicFramePr>
          <p:xfrm>
            <a:off x="4149412" y="2346157"/>
            <a:ext cx="4001922" cy="419100"/>
          </p:xfrm>
          <a:graphic>
            <a:graphicData uri="http://schemas.openxmlformats.org/presentationml/2006/ole">
              <mc:AlternateContent xmlns:mc="http://schemas.openxmlformats.org/markup-compatibility/2006">
                <mc:Choice xmlns:v="urn:schemas-microsoft-com:vml" Requires="v">
                  <p:oleObj spid="_x0000_s31755" name="Equation" r:id="rId5" imgW="1193760" imgH="203040" progId="Equation.DSMT4">
                    <p:embed/>
                  </p:oleObj>
                </mc:Choice>
                <mc:Fallback>
                  <p:oleObj name="Equation" r:id="rId5" imgW="1193760" imgH="203040" progId="Equation.DSMT4">
                    <p:embed/>
                    <p:pic>
                      <p:nvPicPr>
                        <p:cNvPr id="10" name="Объект 9">
                          <a:extLst>
                            <a:ext uri="{FF2B5EF4-FFF2-40B4-BE49-F238E27FC236}">
                              <a16:creationId xmlns:a16="http://schemas.microsoft.com/office/drawing/2014/main" id="{3F5FD3D8-6D49-463D-85C3-1239CDA6677E}"/>
                            </a:ext>
                          </a:extLst>
                        </p:cNvPr>
                        <p:cNvPicPr/>
                        <p:nvPr/>
                      </p:nvPicPr>
                      <p:blipFill>
                        <a:blip r:embed="rId6"/>
                        <a:stretch>
                          <a:fillRect/>
                        </a:stretch>
                      </p:blipFill>
                      <p:spPr>
                        <a:xfrm>
                          <a:off x="4149412" y="2346157"/>
                          <a:ext cx="4001922" cy="419100"/>
                        </a:xfrm>
                        <a:prstGeom prst="rect">
                          <a:avLst/>
                        </a:prstGeom>
                      </p:spPr>
                    </p:pic>
                  </p:oleObj>
                </mc:Fallback>
              </mc:AlternateContent>
            </a:graphicData>
          </a:graphic>
        </p:graphicFrame>
      </p:grpSp>
      <p:grpSp>
        <p:nvGrpSpPr>
          <p:cNvPr id="15" name="Группа 14">
            <a:extLst>
              <a:ext uri="{FF2B5EF4-FFF2-40B4-BE49-F238E27FC236}">
                <a16:creationId xmlns:a16="http://schemas.microsoft.com/office/drawing/2014/main" id="{82CC2915-238C-47E8-9625-CBA22B74486D}"/>
              </a:ext>
            </a:extLst>
          </p:cNvPr>
          <p:cNvGrpSpPr/>
          <p:nvPr/>
        </p:nvGrpSpPr>
        <p:grpSpPr>
          <a:xfrm>
            <a:off x="8093129" y="1457779"/>
            <a:ext cx="3188993" cy="1077289"/>
            <a:chOff x="3735984" y="2021626"/>
            <a:chExt cx="4716856" cy="1086416"/>
          </a:xfrm>
        </p:grpSpPr>
        <p:sp>
          <p:nvSpPr>
            <p:cNvPr id="16" name="Прямоугольник: скругленные углы 15">
              <a:extLst>
                <a:ext uri="{FF2B5EF4-FFF2-40B4-BE49-F238E27FC236}">
                  <a16:creationId xmlns:a16="http://schemas.microsoft.com/office/drawing/2014/main" id="{162A3A99-4F28-40BB-A463-F56C23AB1D73}"/>
                </a:ext>
              </a:extLst>
            </p:cNvPr>
            <p:cNvSpPr/>
            <p:nvPr/>
          </p:nvSpPr>
          <p:spPr>
            <a:xfrm>
              <a:off x="3735984" y="2021626"/>
              <a:ext cx="4716856" cy="1086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7" name="Объект 16">
              <a:extLst>
                <a:ext uri="{FF2B5EF4-FFF2-40B4-BE49-F238E27FC236}">
                  <a16:creationId xmlns:a16="http://schemas.microsoft.com/office/drawing/2014/main" id="{B1DE1F86-C104-4C27-8521-CF9557A13A52}"/>
                </a:ext>
              </a:extLst>
            </p:cNvPr>
            <p:cNvGraphicFramePr>
              <a:graphicFrameLocks noChangeAspect="1"/>
            </p:cNvGraphicFramePr>
            <p:nvPr>
              <p:extLst>
                <p:ext uri="{D42A27DB-BD31-4B8C-83A1-F6EECF244321}">
                  <p14:modId xmlns:p14="http://schemas.microsoft.com/office/powerpoint/2010/main" val="3361630052"/>
                </p:ext>
              </p:extLst>
            </p:nvPr>
          </p:nvGraphicFramePr>
          <p:xfrm>
            <a:off x="3869459" y="2317570"/>
            <a:ext cx="4474752" cy="419100"/>
          </p:xfrm>
          <a:graphic>
            <a:graphicData uri="http://schemas.openxmlformats.org/presentationml/2006/ole">
              <mc:AlternateContent xmlns:mc="http://schemas.openxmlformats.org/markup-compatibility/2006">
                <mc:Choice xmlns:v="urn:schemas-microsoft-com:vml" Requires="v">
                  <p:oleObj spid="_x0000_s31756" name="Equation" r:id="rId7" imgW="901440" imgH="203040" progId="Equation.DSMT4">
                    <p:embed/>
                  </p:oleObj>
                </mc:Choice>
                <mc:Fallback>
                  <p:oleObj name="Equation" r:id="rId7" imgW="901440" imgH="203040" progId="Equation.DSMT4">
                    <p:embed/>
                    <p:pic>
                      <p:nvPicPr>
                        <p:cNvPr id="13" name="Объект 12">
                          <a:extLst>
                            <a:ext uri="{FF2B5EF4-FFF2-40B4-BE49-F238E27FC236}">
                              <a16:creationId xmlns:a16="http://schemas.microsoft.com/office/drawing/2014/main" id="{78529702-C12C-4CC3-AC20-169039962DDF}"/>
                            </a:ext>
                          </a:extLst>
                        </p:cNvPr>
                        <p:cNvPicPr/>
                        <p:nvPr/>
                      </p:nvPicPr>
                      <p:blipFill>
                        <a:blip r:embed="rId8"/>
                        <a:stretch>
                          <a:fillRect/>
                        </a:stretch>
                      </p:blipFill>
                      <p:spPr>
                        <a:xfrm>
                          <a:off x="3869459" y="2317570"/>
                          <a:ext cx="4474752" cy="419100"/>
                        </a:xfrm>
                        <a:prstGeom prst="rect">
                          <a:avLst/>
                        </a:prstGeom>
                      </p:spPr>
                    </p:pic>
                  </p:oleObj>
                </mc:Fallback>
              </mc:AlternateContent>
            </a:graphicData>
          </a:graphic>
        </p:graphicFrame>
      </p:grpSp>
      <p:graphicFrame>
        <p:nvGraphicFramePr>
          <p:cNvPr id="18" name="Таблица 17">
            <a:extLst>
              <a:ext uri="{FF2B5EF4-FFF2-40B4-BE49-F238E27FC236}">
                <a16:creationId xmlns:a16="http://schemas.microsoft.com/office/drawing/2014/main" id="{A6369DA5-0413-4F3C-9E17-078522A5D4C3}"/>
              </a:ext>
            </a:extLst>
          </p:cNvPr>
          <p:cNvGraphicFramePr>
            <a:graphicFrameLocks noGrp="1"/>
          </p:cNvGraphicFramePr>
          <p:nvPr>
            <p:extLst>
              <p:ext uri="{D42A27DB-BD31-4B8C-83A1-F6EECF244321}">
                <p14:modId xmlns:p14="http://schemas.microsoft.com/office/powerpoint/2010/main" val="2742122837"/>
              </p:ext>
            </p:extLst>
          </p:nvPr>
        </p:nvGraphicFramePr>
        <p:xfrm>
          <a:off x="479424" y="2688879"/>
          <a:ext cx="10802697" cy="3691287"/>
        </p:xfrm>
        <a:graphic>
          <a:graphicData uri="http://schemas.openxmlformats.org/drawingml/2006/table">
            <a:tbl>
              <a:tblPr>
                <a:tableStyleId>{616DA210-FB5B-4158-B5E0-FEB733F419BA}</a:tableStyleId>
              </a:tblPr>
              <a:tblGrid>
                <a:gridCol w="3600899">
                  <a:extLst>
                    <a:ext uri="{9D8B030D-6E8A-4147-A177-3AD203B41FA5}">
                      <a16:colId xmlns:a16="http://schemas.microsoft.com/office/drawing/2014/main" val="4143867952"/>
                    </a:ext>
                  </a:extLst>
                </a:gridCol>
                <a:gridCol w="3600899">
                  <a:extLst>
                    <a:ext uri="{9D8B030D-6E8A-4147-A177-3AD203B41FA5}">
                      <a16:colId xmlns:a16="http://schemas.microsoft.com/office/drawing/2014/main" val="1749526237"/>
                    </a:ext>
                  </a:extLst>
                </a:gridCol>
                <a:gridCol w="3600899">
                  <a:extLst>
                    <a:ext uri="{9D8B030D-6E8A-4147-A177-3AD203B41FA5}">
                      <a16:colId xmlns:a16="http://schemas.microsoft.com/office/drawing/2014/main" val="1549897634"/>
                    </a:ext>
                  </a:extLst>
                </a:gridCol>
              </a:tblGrid>
              <a:tr h="410143">
                <a:tc>
                  <a:txBody>
                    <a:bodyPr/>
                    <a:lstStyle/>
                    <a:p>
                      <a:pPr algn="r"/>
                      <a:r>
                        <a:rPr lang="en-US" sz="1500"/>
                        <a:t>i</a:t>
                      </a:r>
                    </a:p>
                  </a:txBody>
                  <a:tcPr marL="74436" marR="74436" marT="37218" marB="37218" anchor="ctr"/>
                </a:tc>
                <a:tc>
                  <a:txBody>
                    <a:bodyPr/>
                    <a:lstStyle/>
                    <a:p>
                      <a:pPr algn="r"/>
                      <a:r>
                        <a:rPr lang="en-US" sz="1500"/>
                        <a:t>lowbit(i)</a:t>
                      </a:r>
                    </a:p>
                  </a:txBody>
                  <a:tcPr marL="74436" marR="74436" marT="37218" marB="37218" anchor="ctr"/>
                </a:tc>
                <a:tc>
                  <a:txBody>
                    <a:bodyPr/>
                    <a:lstStyle/>
                    <a:p>
                      <a:r>
                        <a:rPr lang="ru-RU" sz="1500"/>
                        <a:t>Диапазон </a:t>
                      </a:r>
                      <a:r>
                        <a:rPr lang="en-US" sz="1500"/>
                        <a:t>tree[i]</a:t>
                      </a:r>
                    </a:p>
                  </a:txBody>
                  <a:tcPr marL="74436" marR="74436" marT="37218" marB="37218" anchor="ctr"/>
                </a:tc>
                <a:extLst>
                  <a:ext uri="{0D108BD9-81ED-4DB2-BD59-A6C34878D82A}">
                    <a16:rowId xmlns:a16="http://schemas.microsoft.com/office/drawing/2014/main" val="3949262584"/>
                  </a:ext>
                </a:extLst>
              </a:tr>
              <a:tr h="410143">
                <a:tc>
                  <a:txBody>
                    <a:bodyPr/>
                    <a:lstStyle/>
                    <a:p>
                      <a:pPr algn="r"/>
                      <a:r>
                        <a:rPr lang="ru-RU" sz="1500"/>
                        <a:t>1</a:t>
                      </a:r>
                    </a:p>
                  </a:txBody>
                  <a:tcPr marL="74436" marR="74436" marT="37218" marB="37218" anchor="ctr"/>
                </a:tc>
                <a:tc>
                  <a:txBody>
                    <a:bodyPr/>
                    <a:lstStyle/>
                    <a:p>
                      <a:pPr algn="r"/>
                      <a:r>
                        <a:rPr lang="ru-RU" sz="1500"/>
                        <a:t>1</a:t>
                      </a:r>
                    </a:p>
                  </a:txBody>
                  <a:tcPr marL="74436" marR="74436" marT="37218" marB="37218" anchor="ctr"/>
                </a:tc>
                <a:tc>
                  <a:txBody>
                    <a:bodyPr/>
                    <a:lstStyle/>
                    <a:p>
                      <a:r>
                        <a:rPr lang="ru-RU" sz="1500"/>
                        <a:t>[1..1]</a:t>
                      </a:r>
                    </a:p>
                  </a:txBody>
                  <a:tcPr marL="74436" marR="74436" marT="37218" marB="37218" anchor="ctr"/>
                </a:tc>
                <a:extLst>
                  <a:ext uri="{0D108BD9-81ED-4DB2-BD59-A6C34878D82A}">
                    <a16:rowId xmlns:a16="http://schemas.microsoft.com/office/drawing/2014/main" val="621860917"/>
                  </a:ext>
                </a:extLst>
              </a:tr>
              <a:tr h="410143">
                <a:tc>
                  <a:txBody>
                    <a:bodyPr/>
                    <a:lstStyle/>
                    <a:p>
                      <a:pPr algn="r"/>
                      <a:r>
                        <a:rPr lang="ru-RU" sz="1500"/>
                        <a:t>2</a:t>
                      </a:r>
                    </a:p>
                  </a:txBody>
                  <a:tcPr marL="74436" marR="74436" marT="37218" marB="37218" anchor="ctr"/>
                </a:tc>
                <a:tc>
                  <a:txBody>
                    <a:bodyPr/>
                    <a:lstStyle/>
                    <a:p>
                      <a:pPr algn="r"/>
                      <a:r>
                        <a:rPr lang="ru-RU" sz="1500" dirty="0"/>
                        <a:t>2</a:t>
                      </a:r>
                    </a:p>
                  </a:txBody>
                  <a:tcPr marL="74436" marR="74436" marT="37218" marB="37218" anchor="ctr"/>
                </a:tc>
                <a:tc>
                  <a:txBody>
                    <a:bodyPr/>
                    <a:lstStyle/>
                    <a:p>
                      <a:r>
                        <a:rPr lang="ru-RU" sz="1500"/>
                        <a:t>[1..2]</a:t>
                      </a:r>
                    </a:p>
                  </a:txBody>
                  <a:tcPr marL="74436" marR="74436" marT="37218" marB="37218" anchor="ctr"/>
                </a:tc>
                <a:extLst>
                  <a:ext uri="{0D108BD9-81ED-4DB2-BD59-A6C34878D82A}">
                    <a16:rowId xmlns:a16="http://schemas.microsoft.com/office/drawing/2014/main" val="2364383387"/>
                  </a:ext>
                </a:extLst>
              </a:tr>
              <a:tr h="410143">
                <a:tc>
                  <a:txBody>
                    <a:bodyPr/>
                    <a:lstStyle/>
                    <a:p>
                      <a:pPr algn="r"/>
                      <a:r>
                        <a:rPr lang="ru-RU" sz="1500"/>
                        <a:t>3</a:t>
                      </a:r>
                    </a:p>
                  </a:txBody>
                  <a:tcPr marL="74436" marR="74436" marT="37218" marB="37218" anchor="ctr"/>
                </a:tc>
                <a:tc>
                  <a:txBody>
                    <a:bodyPr/>
                    <a:lstStyle/>
                    <a:p>
                      <a:pPr algn="r"/>
                      <a:r>
                        <a:rPr lang="ru-RU" sz="1500"/>
                        <a:t>1</a:t>
                      </a:r>
                    </a:p>
                  </a:txBody>
                  <a:tcPr marL="74436" marR="74436" marT="37218" marB="37218" anchor="ctr"/>
                </a:tc>
                <a:tc>
                  <a:txBody>
                    <a:bodyPr/>
                    <a:lstStyle/>
                    <a:p>
                      <a:r>
                        <a:rPr lang="ru-RU" sz="1500"/>
                        <a:t>[3..3]</a:t>
                      </a:r>
                    </a:p>
                  </a:txBody>
                  <a:tcPr marL="74436" marR="74436" marT="37218" marB="37218" anchor="ctr"/>
                </a:tc>
                <a:extLst>
                  <a:ext uri="{0D108BD9-81ED-4DB2-BD59-A6C34878D82A}">
                    <a16:rowId xmlns:a16="http://schemas.microsoft.com/office/drawing/2014/main" val="2776311710"/>
                  </a:ext>
                </a:extLst>
              </a:tr>
              <a:tr h="410143">
                <a:tc>
                  <a:txBody>
                    <a:bodyPr/>
                    <a:lstStyle/>
                    <a:p>
                      <a:pPr algn="r"/>
                      <a:r>
                        <a:rPr lang="ru-RU" sz="1500"/>
                        <a:t>4</a:t>
                      </a:r>
                    </a:p>
                  </a:txBody>
                  <a:tcPr marL="74436" marR="74436" marT="37218" marB="37218" anchor="ctr"/>
                </a:tc>
                <a:tc>
                  <a:txBody>
                    <a:bodyPr/>
                    <a:lstStyle/>
                    <a:p>
                      <a:pPr algn="r"/>
                      <a:r>
                        <a:rPr lang="ru-RU" sz="1500"/>
                        <a:t>4</a:t>
                      </a:r>
                    </a:p>
                  </a:txBody>
                  <a:tcPr marL="74436" marR="74436" marT="37218" marB="37218" anchor="ctr"/>
                </a:tc>
                <a:tc>
                  <a:txBody>
                    <a:bodyPr/>
                    <a:lstStyle/>
                    <a:p>
                      <a:r>
                        <a:rPr lang="ru-RU" sz="1500"/>
                        <a:t>[1..4]</a:t>
                      </a:r>
                    </a:p>
                  </a:txBody>
                  <a:tcPr marL="74436" marR="74436" marT="37218" marB="37218" anchor="ctr"/>
                </a:tc>
                <a:extLst>
                  <a:ext uri="{0D108BD9-81ED-4DB2-BD59-A6C34878D82A}">
                    <a16:rowId xmlns:a16="http://schemas.microsoft.com/office/drawing/2014/main" val="1406694174"/>
                  </a:ext>
                </a:extLst>
              </a:tr>
              <a:tr h="410143">
                <a:tc>
                  <a:txBody>
                    <a:bodyPr/>
                    <a:lstStyle/>
                    <a:p>
                      <a:pPr algn="r"/>
                      <a:r>
                        <a:rPr lang="ru-RU" sz="1500"/>
                        <a:t>5</a:t>
                      </a:r>
                    </a:p>
                  </a:txBody>
                  <a:tcPr marL="74436" marR="74436" marT="37218" marB="37218" anchor="ctr"/>
                </a:tc>
                <a:tc>
                  <a:txBody>
                    <a:bodyPr/>
                    <a:lstStyle/>
                    <a:p>
                      <a:pPr algn="r"/>
                      <a:r>
                        <a:rPr lang="ru-RU" sz="1500"/>
                        <a:t>1</a:t>
                      </a:r>
                    </a:p>
                  </a:txBody>
                  <a:tcPr marL="74436" marR="74436" marT="37218" marB="37218" anchor="ctr"/>
                </a:tc>
                <a:tc>
                  <a:txBody>
                    <a:bodyPr/>
                    <a:lstStyle/>
                    <a:p>
                      <a:r>
                        <a:rPr lang="ru-RU" sz="1500"/>
                        <a:t>[5..5]</a:t>
                      </a:r>
                    </a:p>
                  </a:txBody>
                  <a:tcPr marL="74436" marR="74436" marT="37218" marB="37218" anchor="ctr"/>
                </a:tc>
                <a:extLst>
                  <a:ext uri="{0D108BD9-81ED-4DB2-BD59-A6C34878D82A}">
                    <a16:rowId xmlns:a16="http://schemas.microsoft.com/office/drawing/2014/main" val="2716044812"/>
                  </a:ext>
                </a:extLst>
              </a:tr>
              <a:tr h="410143">
                <a:tc>
                  <a:txBody>
                    <a:bodyPr/>
                    <a:lstStyle/>
                    <a:p>
                      <a:pPr algn="r"/>
                      <a:r>
                        <a:rPr lang="ru-RU" sz="1500" dirty="0"/>
                        <a:t>6</a:t>
                      </a:r>
                    </a:p>
                  </a:txBody>
                  <a:tcPr marL="74436" marR="74436" marT="37218" marB="37218" anchor="ctr"/>
                </a:tc>
                <a:tc>
                  <a:txBody>
                    <a:bodyPr/>
                    <a:lstStyle/>
                    <a:p>
                      <a:pPr algn="r"/>
                      <a:r>
                        <a:rPr lang="ru-RU" sz="1500" dirty="0"/>
                        <a:t>2</a:t>
                      </a:r>
                    </a:p>
                  </a:txBody>
                  <a:tcPr marL="74436" marR="74436" marT="37218" marB="37218" anchor="ctr"/>
                </a:tc>
                <a:tc>
                  <a:txBody>
                    <a:bodyPr/>
                    <a:lstStyle/>
                    <a:p>
                      <a:r>
                        <a:rPr lang="ru-RU" sz="1500"/>
                        <a:t>[5..6]</a:t>
                      </a:r>
                    </a:p>
                  </a:txBody>
                  <a:tcPr marL="74436" marR="74436" marT="37218" marB="37218" anchor="ctr"/>
                </a:tc>
                <a:extLst>
                  <a:ext uri="{0D108BD9-81ED-4DB2-BD59-A6C34878D82A}">
                    <a16:rowId xmlns:a16="http://schemas.microsoft.com/office/drawing/2014/main" val="3123735321"/>
                  </a:ext>
                </a:extLst>
              </a:tr>
              <a:tr h="410143">
                <a:tc>
                  <a:txBody>
                    <a:bodyPr/>
                    <a:lstStyle/>
                    <a:p>
                      <a:pPr algn="r"/>
                      <a:r>
                        <a:rPr lang="ru-RU" sz="1500"/>
                        <a:t>7</a:t>
                      </a:r>
                    </a:p>
                  </a:txBody>
                  <a:tcPr marL="74436" marR="74436" marT="37218" marB="37218" anchor="ctr"/>
                </a:tc>
                <a:tc>
                  <a:txBody>
                    <a:bodyPr/>
                    <a:lstStyle/>
                    <a:p>
                      <a:pPr algn="r"/>
                      <a:r>
                        <a:rPr lang="ru-RU" sz="1500"/>
                        <a:t>1</a:t>
                      </a:r>
                    </a:p>
                  </a:txBody>
                  <a:tcPr marL="74436" marR="74436" marT="37218" marB="37218" anchor="ctr"/>
                </a:tc>
                <a:tc>
                  <a:txBody>
                    <a:bodyPr/>
                    <a:lstStyle/>
                    <a:p>
                      <a:r>
                        <a:rPr lang="ru-RU" sz="1500"/>
                        <a:t>[7..7]</a:t>
                      </a:r>
                    </a:p>
                  </a:txBody>
                  <a:tcPr marL="74436" marR="74436" marT="37218" marB="37218" anchor="ctr"/>
                </a:tc>
                <a:extLst>
                  <a:ext uri="{0D108BD9-81ED-4DB2-BD59-A6C34878D82A}">
                    <a16:rowId xmlns:a16="http://schemas.microsoft.com/office/drawing/2014/main" val="3993204628"/>
                  </a:ext>
                </a:extLst>
              </a:tr>
              <a:tr h="410143">
                <a:tc>
                  <a:txBody>
                    <a:bodyPr/>
                    <a:lstStyle/>
                    <a:p>
                      <a:pPr algn="r"/>
                      <a:r>
                        <a:rPr lang="ru-RU" sz="1500"/>
                        <a:t>8</a:t>
                      </a:r>
                    </a:p>
                  </a:txBody>
                  <a:tcPr marL="74436" marR="74436" marT="37218" marB="37218" anchor="ctr"/>
                </a:tc>
                <a:tc>
                  <a:txBody>
                    <a:bodyPr/>
                    <a:lstStyle/>
                    <a:p>
                      <a:pPr algn="r"/>
                      <a:r>
                        <a:rPr lang="ru-RU" sz="1500" dirty="0"/>
                        <a:t>8</a:t>
                      </a:r>
                    </a:p>
                  </a:txBody>
                  <a:tcPr marL="74436" marR="74436" marT="37218" marB="37218" anchor="ctr"/>
                </a:tc>
                <a:tc>
                  <a:txBody>
                    <a:bodyPr/>
                    <a:lstStyle/>
                    <a:p>
                      <a:r>
                        <a:rPr lang="ru-RU" sz="1500" dirty="0"/>
                        <a:t>[1..8]</a:t>
                      </a:r>
                    </a:p>
                  </a:txBody>
                  <a:tcPr marL="74436" marR="74436" marT="37218" marB="37218" anchor="ctr"/>
                </a:tc>
                <a:extLst>
                  <a:ext uri="{0D108BD9-81ED-4DB2-BD59-A6C34878D82A}">
                    <a16:rowId xmlns:a16="http://schemas.microsoft.com/office/drawing/2014/main" val="732243096"/>
                  </a:ext>
                </a:extLst>
              </a:tr>
            </a:tbl>
          </a:graphicData>
        </a:graphic>
      </p:graphicFrame>
    </p:spTree>
    <p:extLst>
      <p:ext uri="{BB962C8B-B14F-4D97-AF65-F5344CB8AC3E}">
        <p14:creationId xmlns:p14="http://schemas.microsoft.com/office/powerpoint/2010/main" val="1855858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Как определяется диапазон</a:t>
            </a:r>
            <a:r>
              <a:rPr lang="en-US" dirty="0"/>
              <a:t> tree[</a:t>
            </a:r>
            <a:r>
              <a:rPr lang="en-US" dirty="0" err="1"/>
              <a:t>i</a:t>
            </a:r>
            <a:r>
              <a:rPr lang="en-US" dirty="0"/>
              <a:t>]</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grpSp>
        <p:nvGrpSpPr>
          <p:cNvPr id="8" name="Группа 7">
            <a:extLst>
              <a:ext uri="{FF2B5EF4-FFF2-40B4-BE49-F238E27FC236}">
                <a16:creationId xmlns:a16="http://schemas.microsoft.com/office/drawing/2014/main" id="{86E4810B-32A5-4AA8-A054-69312D7DDBC1}"/>
              </a:ext>
            </a:extLst>
          </p:cNvPr>
          <p:cNvGrpSpPr/>
          <p:nvPr/>
        </p:nvGrpSpPr>
        <p:grpSpPr>
          <a:xfrm>
            <a:off x="479425" y="1457779"/>
            <a:ext cx="3188993" cy="1086416"/>
            <a:chOff x="3735984" y="2021626"/>
            <a:chExt cx="4716856" cy="1086416"/>
          </a:xfrm>
        </p:grpSpPr>
        <p:sp>
          <p:nvSpPr>
            <p:cNvPr id="9" name="Прямоугольник: скругленные углы 8">
              <a:extLst>
                <a:ext uri="{FF2B5EF4-FFF2-40B4-BE49-F238E27FC236}">
                  <a16:creationId xmlns:a16="http://schemas.microsoft.com/office/drawing/2014/main" id="{C3CC3815-48AC-424A-B948-170E5FA3270C}"/>
                </a:ext>
              </a:extLst>
            </p:cNvPr>
            <p:cNvSpPr/>
            <p:nvPr/>
          </p:nvSpPr>
          <p:spPr>
            <a:xfrm>
              <a:off x="3735984" y="2021626"/>
              <a:ext cx="4716856" cy="1086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aphicFrame>
          <p:nvGraphicFramePr>
            <p:cNvPr id="10" name="Объект 9">
              <a:extLst>
                <a:ext uri="{FF2B5EF4-FFF2-40B4-BE49-F238E27FC236}">
                  <a16:creationId xmlns:a16="http://schemas.microsoft.com/office/drawing/2014/main" id="{3F5FD3D8-6D49-463D-85C3-1239CDA6677E}"/>
                </a:ext>
              </a:extLst>
            </p:cNvPr>
            <p:cNvGraphicFramePr>
              <a:graphicFrameLocks noChangeAspect="1"/>
            </p:cNvGraphicFramePr>
            <p:nvPr/>
          </p:nvGraphicFramePr>
          <p:xfrm>
            <a:off x="4109329" y="2324385"/>
            <a:ext cx="3900159" cy="419100"/>
          </p:xfrm>
          <a:graphic>
            <a:graphicData uri="http://schemas.openxmlformats.org/presentationml/2006/ole">
              <mc:AlternateContent xmlns:mc="http://schemas.openxmlformats.org/markup-compatibility/2006">
                <mc:Choice xmlns:v="urn:schemas-microsoft-com:vml" Requires="v">
                  <p:oleObj spid="_x0000_s32779" name="Equation" r:id="rId3" imgW="1193760" imgH="203040" progId="Equation.DSMT4">
                    <p:embed/>
                  </p:oleObj>
                </mc:Choice>
                <mc:Fallback>
                  <p:oleObj name="Equation" r:id="rId3" imgW="1193760" imgH="203040" progId="Equation.DSMT4">
                    <p:embed/>
                    <p:pic>
                      <p:nvPicPr>
                        <p:cNvPr id="10" name="Объект 9">
                          <a:extLst>
                            <a:ext uri="{FF2B5EF4-FFF2-40B4-BE49-F238E27FC236}">
                              <a16:creationId xmlns:a16="http://schemas.microsoft.com/office/drawing/2014/main" id="{3F5FD3D8-6D49-463D-85C3-1239CDA6677E}"/>
                            </a:ext>
                          </a:extLst>
                        </p:cNvPr>
                        <p:cNvPicPr/>
                        <p:nvPr/>
                      </p:nvPicPr>
                      <p:blipFill>
                        <a:blip r:embed="rId4"/>
                        <a:stretch>
                          <a:fillRect/>
                        </a:stretch>
                      </p:blipFill>
                      <p:spPr>
                        <a:xfrm>
                          <a:off x="4109329" y="2324385"/>
                          <a:ext cx="3900159" cy="419100"/>
                        </a:xfrm>
                        <a:prstGeom prst="rect">
                          <a:avLst/>
                        </a:prstGeom>
                      </p:spPr>
                    </p:pic>
                  </p:oleObj>
                </mc:Fallback>
              </mc:AlternateContent>
            </a:graphicData>
          </a:graphic>
        </p:graphicFrame>
      </p:grpSp>
      <p:grpSp>
        <p:nvGrpSpPr>
          <p:cNvPr id="11" name="Группа 10">
            <a:extLst>
              <a:ext uri="{FF2B5EF4-FFF2-40B4-BE49-F238E27FC236}">
                <a16:creationId xmlns:a16="http://schemas.microsoft.com/office/drawing/2014/main" id="{AAEF1E03-7566-4636-B997-3D4A438D3BB2}"/>
              </a:ext>
            </a:extLst>
          </p:cNvPr>
          <p:cNvGrpSpPr/>
          <p:nvPr/>
        </p:nvGrpSpPr>
        <p:grpSpPr>
          <a:xfrm>
            <a:off x="4286277" y="1448652"/>
            <a:ext cx="3188993" cy="1086416"/>
            <a:chOff x="3735984" y="2021626"/>
            <a:chExt cx="4716856" cy="1086416"/>
          </a:xfrm>
        </p:grpSpPr>
        <p:sp>
          <p:nvSpPr>
            <p:cNvPr id="12" name="Прямоугольник: скругленные углы 11">
              <a:extLst>
                <a:ext uri="{FF2B5EF4-FFF2-40B4-BE49-F238E27FC236}">
                  <a16:creationId xmlns:a16="http://schemas.microsoft.com/office/drawing/2014/main" id="{18D3D97F-5531-4FD3-8FD5-9D7DEACC8B3C}"/>
                </a:ext>
              </a:extLst>
            </p:cNvPr>
            <p:cNvSpPr/>
            <p:nvPr/>
          </p:nvSpPr>
          <p:spPr>
            <a:xfrm>
              <a:off x="3735984" y="2021626"/>
              <a:ext cx="4716856" cy="1086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3" name="Объект 12">
              <a:extLst>
                <a:ext uri="{FF2B5EF4-FFF2-40B4-BE49-F238E27FC236}">
                  <a16:creationId xmlns:a16="http://schemas.microsoft.com/office/drawing/2014/main" id="{78529702-C12C-4CC3-AC20-169039962DDF}"/>
                </a:ext>
              </a:extLst>
            </p:cNvPr>
            <p:cNvGraphicFramePr>
              <a:graphicFrameLocks noChangeAspect="1"/>
            </p:cNvGraphicFramePr>
            <p:nvPr/>
          </p:nvGraphicFramePr>
          <p:xfrm>
            <a:off x="4149206" y="2346212"/>
            <a:ext cx="4001127" cy="419100"/>
          </p:xfrm>
          <a:graphic>
            <a:graphicData uri="http://schemas.openxmlformats.org/presentationml/2006/ole">
              <mc:AlternateContent xmlns:mc="http://schemas.openxmlformats.org/markup-compatibility/2006">
                <mc:Choice xmlns:v="urn:schemas-microsoft-com:vml" Requires="v">
                  <p:oleObj spid="_x0000_s32780" name="Equation" r:id="rId5" imgW="1193760" imgH="203040" progId="Equation.DSMT4">
                    <p:embed/>
                  </p:oleObj>
                </mc:Choice>
                <mc:Fallback>
                  <p:oleObj name="Equation" r:id="rId5" imgW="1193760" imgH="203040" progId="Equation.DSMT4">
                    <p:embed/>
                    <p:pic>
                      <p:nvPicPr>
                        <p:cNvPr id="13" name="Объект 12">
                          <a:extLst>
                            <a:ext uri="{FF2B5EF4-FFF2-40B4-BE49-F238E27FC236}">
                              <a16:creationId xmlns:a16="http://schemas.microsoft.com/office/drawing/2014/main" id="{78529702-C12C-4CC3-AC20-169039962DDF}"/>
                            </a:ext>
                          </a:extLst>
                        </p:cNvPr>
                        <p:cNvPicPr/>
                        <p:nvPr/>
                      </p:nvPicPr>
                      <p:blipFill>
                        <a:blip r:embed="rId6"/>
                        <a:stretch>
                          <a:fillRect/>
                        </a:stretch>
                      </p:blipFill>
                      <p:spPr>
                        <a:xfrm>
                          <a:off x="4149206" y="2346212"/>
                          <a:ext cx="4001127" cy="419100"/>
                        </a:xfrm>
                        <a:prstGeom prst="rect">
                          <a:avLst/>
                        </a:prstGeom>
                      </p:spPr>
                    </p:pic>
                  </p:oleObj>
                </mc:Fallback>
              </mc:AlternateContent>
            </a:graphicData>
          </a:graphic>
        </p:graphicFrame>
      </p:grpSp>
      <p:grpSp>
        <p:nvGrpSpPr>
          <p:cNvPr id="15" name="Группа 14">
            <a:extLst>
              <a:ext uri="{FF2B5EF4-FFF2-40B4-BE49-F238E27FC236}">
                <a16:creationId xmlns:a16="http://schemas.microsoft.com/office/drawing/2014/main" id="{82CC2915-238C-47E8-9625-CBA22B74486D}"/>
              </a:ext>
            </a:extLst>
          </p:cNvPr>
          <p:cNvGrpSpPr/>
          <p:nvPr/>
        </p:nvGrpSpPr>
        <p:grpSpPr>
          <a:xfrm>
            <a:off x="8093129" y="1457779"/>
            <a:ext cx="3188993" cy="1077289"/>
            <a:chOff x="3735984" y="2021626"/>
            <a:chExt cx="4716856" cy="1086416"/>
          </a:xfrm>
        </p:grpSpPr>
        <p:sp>
          <p:nvSpPr>
            <p:cNvPr id="16" name="Прямоугольник: скругленные углы 15">
              <a:extLst>
                <a:ext uri="{FF2B5EF4-FFF2-40B4-BE49-F238E27FC236}">
                  <a16:creationId xmlns:a16="http://schemas.microsoft.com/office/drawing/2014/main" id="{162A3A99-4F28-40BB-A463-F56C23AB1D73}"/>
                </a:ext>
              </a:extLst>
            </p:cNvPr>
            <p:cNvSpPr/>
            <p:nvPr/>
          </p:nvSpPr>
          <p:spPr>
            <a:xfrm>
              <a:off x="3735984" y="2021626"/>
              <a:ext cx="4716856" cy="1086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7" name="Объект 16">
              <a:extLst>
                <a:ext uri="{FF2B5EF4-FFF2-40B4-BE49-F238E27FC236}">
                  <a16:creationId xmlns:a16="http://schemas.microsoft.com/office/drawing/2014/main" id="{B1DE1F86-C104-4C27-8521-CF9557A13A52}"/>
                </a:ext>
              </a:extLst>
            </p:cNvPr>
            <p:cNvGraphicFramePr>
              <a:graphicFrameLocks noChangeAspect="1"/>
            </p:cNvGraphicFramePr>
            <p:nvPr/>
          </p:nvGraphicFramePr>
          <p:xfrm>
            <a:off x="3869459" y="2317570"/>
            <a:ext cx="4474752" cy="419100"/>
          </p:xfrm>
          <a:graphic>
            <a:graphicData uri="http://schemas.openxmlformats.org/presentationml/2006/ole">
              <mc:AlternateContent xmlns:mc="http://schemas.openxmlformats.org/markup-compatibility/2006">
                <mc:Choice xmlns:v="urn:schemas-microsoft-com:vml" Requires="v">
                  <p:oleObj spid="_x0000_s32781" name="Equation" r:id="rId7" imgW="901440" imgH="203040" progId="Equation.DSMT4">
                    <p:embed/>
                  </p:oleObj>
                </mc:Choice>
                <mc:Fallback>
                  <p:oleObj name="Equation" r:id="rId7" imgW="901440" imgH="203040" progId="Equation.DSMT4">
                    <p:embed/>
                    <p:pic>
                      <p:nvPicPr>
                        <p:cNvPr id="17" name="Объект 16">
                          <a:extLst>
                            <a:ext uri="{FF2B5EF4-FFF2-40B4-BE49-F238E27FC236}">
                              <a16:creationId xmlns:a16="http://schemas.microsoft.com/office/drawing/2014/main" id="{B1DE1F86-C104-4C27-8521-CF9557A13A52}"/>
                            </a:ext>
                          </a:extLst>
                        </p:cNvPr>
                        <p:cNvPicPr/>
                        <p:nvPr/>
                      </p:nvPicPr>
                      <p:blipFill>
                        <a:blip r:embed="rId8"/>
                        <a:stretch>
                          <a:fillRect/>
                        </a:stretch>
                      </p:blipFill>
                      <p:spPr>
                        <a:xfrm>
                          <a:off x="3869459" y="2317570"/>
                          <a:ext cx="4474752" cy="419100"/>
                        </a:xfrm>
                        <a:prstGeom prst="rect">
                          <a:avLst/>
                        </a:prstGeom>
                      </p:spPr>
                    </p:pic>
                  </p:oleObj>
                </mc:Fallback>
              </mc:AlternateContent>
            </a:graphicData>
          </a:graphic>
        </p:graphicFrame>
      </p:grpSp>
      <p:sp>
        <p:nvSpPr>
          <p:cNvPr id="3" name="Прямоугольник 2">
            <a:extLst>
              <a:ext uri="{FF2B5EF4-FFF2-40B4-BE49-F238E27FC236}">
                <a16:creationId xmlns:a16="http://schemas.microsoft.com/office/drawing/2014/main" id="{59FB1620-ADE1-42B0-B1D0-F7B15949E0C7}"/>
              </a:ext>
            </a:extLst>
          </p:cNvPr>
          <p:cNvSpPr/>
          <p:nvPr/>
        </p:nvSpPr>
        <p:spPr>
          <a:xfrm>
            <a:off x="479424" y="2845676"/>
            <a:ext cx="3300629" cy="2554545"/>
          </a:xfrm>
          <a:prstGeom prst="rect">
            <a:avLst/>
          </a:prstGeom>
        </p:spPr>
        <p:txBody>
          <a:bodyPr wrap="square">
            <a:spAutoFit/>
          </a:bodyPr>
          <a:lstStyle/>
          <a:p>
            <a:r>
              <a:rPr lang="ru-RU" sz="4000" dirty="0"/>
              <a:t>6  = 0110</a:t>
            </a:r>
          </a:p>
          <a:p>
            <a:r>
              <a:rPr lang="ru-RU" sz="4000" dirty="0"/>
              <a:t>-6 = 1010</a:t>
            </a:r>
          </a:p>
          <a:p>
            <a:r>
              <a:rPr lang="ru-RU" sz="4000" dirty="0"/>
              <a:t>------------</a:t>
            </a:r>
          </a:p>
          <a:p>
            <a:r>
              <a:rPr lang="ru-RU" sz="4000" dirty="0"/>
              <a:t>&amp;  = 0010 = 2</a:t>
            </a:r>
          </a:p>
        </p:txBody>
      </p:sp>
      <p:sp>
        <p:nvSpPr>
          <p:cNvPr id="4" name="Прямоугольник 3">
            <a:extLst>
              <a:ext uri="{FF2B5EF4-FFF2-40B4-BE49-F238E27FC236}">
                <a16:creationId xmlns:a16="http://schemas.microsoft.com/office/drawing/2014/main" id="{2A0B466B-9A82-4F0F-B731-9B9BAF46D680}"/>
              </a:ext>
            </a:extLst>
          </p:cNvPr>
          <p:cNvSpPr/>
          <p:nvPr/>
        </p:nvSpPr>
        <p:spPr>
          <a:xfrm>
            <a:off x="4444097" y="3401709"/>
            <a:ext cx="3300629" cy="769441"/>
          </a:xfrm>
          <a:prstGeom prst="rect">
            <a:avLst/>
          </a:prstGeom>
        </p:spPr>
        <p:txBody>
          <a:bodyPr wrap="square">
            <a:spAutoFit/>
          </a:bodyPr>
          <a:lstStyle/>
          <a:p>
            <a:r>
              <a:rPr lang="en-US" sz="4400" dirty="0"/>
              <a:t>L=6−2+1=5</a:t>
            </a:r>
            <a:endParaRPr lang="ru-RU" sz="4400" dirty="0"/>
          </a:p>
        </p:txBody>
      </p:sp>
      <p:sp>
        <p:nvSpPr>
          <p:cNvPr id="5" name="Прямоугольник 4">
            <a:extLst>
              <a:ext uri="{FF2B5EF4-FFF2-40B4-BE49-F238E27FC236}">
                <a16:creationId xmlns:a16="http://schemas.microsoft.com/office/drawing/2014/main" id="{0724C194-90B8-4F6F-BA93-C4BEBDC46DF9}"/>
              </a:ext>
            </a:extLst>
          </p:cNvPr>
          <p:cNvSpPr/>
          <p:nvPr/>
        </p:nvSpPr>
        <p:spPr>
          <a:xfrm>
            <a:off x="8084690" y="3429000"/>
            <a:ext cx="3624710" cy="769441"/>
          </a:xfrm>
          <a:prstGeom prst="rect">
            <a:avLst/>
          </a:prstGeom>
        </p:spPr>
        <p:txBody>
          <a:bodyPr wrap="none">
            <a:spAutoFit/>
          </a:bodyPr>
          <a:lstStyle/>
          <a:p>
            <a:r>
              <a:rPr lang="en-US" sz="4400" dirty="0"/>
              <a:t>tree[6]→[5..6]</a:t>
            </a:r>
            <a:endParaRPr lang="ru-RU" sz="4400" dirty="0"/>
          </a:p>
        </p:txBody>
      </p:sp>
      <p:sp>
        <p:nvSpPr>
          <p:cNvPr id="6" name="Прямоугольник: скругленные углы 5">
            <a:extLst>
              <a:ext uri="{FF2B5EF4-FFF2-40B4-BE49-F238E27FC236}">
                <a16:creationId xmlns:a16="http://schemas.microsoft.com/office/drawing/2014/main" id="{993CE0C8-EC59-46E3-AA90-33464AE9C31D}"/>
              </a:ext>
            </a:extLst>
          </p:cNvPr>
          <p:cNvSpPr/>
          <p:nvPr/>
        </p:nvSpPr>
        <p:spPr>
          <a:xfrm>
            <a:off x="479424" y="5531945"/>
            <a:ext cx="11229975"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lowbit</a:t>
            </a:r>
            <a:r>
              <a:rPr lang="en-US" sz="2400" b="1" dirty="0"/>
              <a:t>(</a:t>
            </a:r>
            <a:r>
              <a:rPr lang="en-US" sz="2400" b="1" dirty="0" err="1"/>
              <a:t>i</a:t>
            </a:r>
            <a:r>
              <a:rPr lang="en-US" sz="2400" b="1" dirty="0"/>
              <a:t>) </a:t>
            </a:r>
            <a:r>
              <a:rPr lang="ru-RU" sz="2400" dirty="0"/>
              <a:t>определяет длину диапазона, который хранит</a:t>
            </a:r>
            <a:r>
              <a:rPr lang="en-US" sz="2400" dirty="0"/>
              <a:t> </a:t>
            </a:r>
            <a:r>
              <a:rPr lang="en-US" sz="2400" b="1" dirty="0"/>
              <a:t>tree[</a:t>
            </a:r>
            <a:r>
              <a:rPr lang="en-US" sz="2400" b="1" dirty="0" err="1"/>
              <a:t>i</a:t>
            </a:r>
            <a:r>
              <a:rPr lang="en-US" sz="2400" b="1" dirty="0"/>
              <a:t>]</a:t>
            </a:r>
            <a:endParaRPr lang="ru-RU" sz="2400" b="1" dirty="0"/>
          </a:p>
        </p:txBody>
      </p:sp>
    </p:spTree>
    <p:extLst>
      <p:ext uri="{BB962C8B-B14F-4D97-AF65-F5344CB8AC3E}">
        <p14:creationId xmlns:p14="http://schemas.microsoft.com/office/powerpoint/2010/main" val="2510119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8" name="Прямоугольник: скругленные углы 17">
            <a:extLst>
              <a:ext uri="{FF2B5EF4-FFF2-40B4-BE49-F238E27FC236}">
                <a16:creationId xmlns:a16="http://schemas.microsoft.com/office/drawing/2014/main" id="{C7FF734F-5B1E-4816-8136-C63DB95345D0}"/>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sp>
        <p:nvSpPr>
          <p:cNvPr id="14" name="Прямоугольник: скругленные углы 13">
            <a:extLst>
              <a:ext uri="{FF2B5EF4-FFF2-40B4-BE49-F238E27FC236}">
                <a16:creationId xmlns:a16="http://schemas.microsoft.com/office/drawing/2014/main" id="{09219C3A-2A0E-43DC-9AD6-17E5F9308BAB}"/>
              </a:ext>
            </a:extLst>
          </p:cNvPr>
          <p:cNvSpPr/>
          <p:nvPr/>
        </p:nvSpPr>
        <p:spPr>
          <a:xfrm>
            <a:off x="4211086" y="3050691"/>
            <a:ext cx="3766651" cy="11590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j ← j + </a:t>
            </a:r>
            <a:r>
              <a:rPr lang="en-US" sz="3200" dirty="0" err="1">
                <a:latin typeface="Times New Roman" panose="02020603050405020304" pitchFamily="18" charset="0"/>
                <a:cs typeface="Times New Roman" panose="02020603050405020304" pitchFamily="18" charset="0"/>
              </a:rPr>
              <a:t>lowbit</a:t>
            </a:r>
            <a:r>
              <a:rPr lang="en-US" sz="3200" dirty="0">
                <a:latin typeface="Times New Roman" panose="02020603050405020304" pitchFamily="18" charset="0"/>
                <a:cs typeface="Times New Roman" panose="02020603050405020304" pitchFamily="18" charset="0"/>
              </a:rPr>
              <a:t>(j)</a:t>
            </a:r>
            <a:endParaRPr lang="ru-RU"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863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2258122344"/>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rgbClr val="92D050"/>
                          </a:solidFill>
                        </a:rPr>
                        <a:t>0</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A[1] = 5</a:t>
            </a:r>
            <a:endParaRPr lang="ru-RU" sz="4000" dirty="0"/>
          </a:p>
        </p:txBody>
      </p:sp>
      <p:sp>
        <p:nvSpPr>
          <p:cNvPr id="5" name="TextBox 4">
            <a:extLst>
              <a:ext uri="{FF2B5EF4-FFF2-40B4-BE49-F238E27FC236}">
                <a16:creationId xmlns:a16="http://schemas.microsoft.com/office/drawing/2014/main" id="{E2ADC114-5C42-44B7-9A9E-D25393961B4A}"/>
              </a:ext>
            </a:extLst>
          </p:cNvPr>
          <p:cNvSpPr txBox="1"/>
          <p:nvPr/>
        </p:nvSpPr>
        <p:spPr bwMode="auto">
          <a:xfrm>
            <a:off x="3376942" y="4614582"/>
            <a:ext cx="1611517" cy="707886"/>
          </a:xfrm>
          <a:prstGeom prst="rect">
            <a:avLst/>
          </a:prstGeom>
        </p:spPr>
        <p:txBody>
          <a:bodyPr wrap="square" rtlCol="0">
            <a:spAutoFit/>
          </a:bodyPr>
          <a:lstStyle/>
          <a:p>
            <a:r>
              <a:rPr lang="en-US" sz="4000" dirty="0"/>
              <a:t>j = 1</a:t>
            </a:r>
            <a:endParaRPr lang="ru-RU" sz="4000" dirty="0"/>
          </a:p>
        </p:txBody>
      </p:sp>
      <p:sp>
        <p:nvSpPr>
          <p:cNvPr id="11" name="Прямоугольник 10">
            <a:extLst>
              <a:ext uri="{FF2B5EF4-FFF2-40B4-BE49-F238E27FC236}">
                <a16:creationId xmlns:a16="http://schemas.microsoft.com/office/drawing/2014/main" id="{B6E8BB6A-A53E-4A6D-B567-2BD2C799E6D7}"/>
              </a:ext>
            </a:extLst>
          </p:cNvPr>
          <p:cNvSpPr/>
          <p:nvPr/>
        </p:nvSpPr>
        <p:spPr>
          <a:xfrm>
            <a:off x="5087638" y="3877770"/>
            <a:ext cx="3300629" cy="2554545"/>
          </a:xfrm>
          <a:prstGeom prst="rect">
            <a:avLst/>
          </a:prstGeom>
        </p:spPr>
        <p:txBody>
          <a:bodyPr wrap="square">
            <a:spAutoFit/>
          </a:bodyPr>
          <a:lstStyle/>
          <a:p>
            <a:r>
              <a:rPr lang="en-US" sz="4000" dirty="0"/>
              <a:t>1</a:t>
            </a:r>
            <a:r>
              <a:rPr lang="ru-RU" sz="4000" dirty="0"/>
              <a:t>  = </a:t>
            </a:r>
            <a:r>
              <a:rPr lang="en-US" sz="4000" dirty="0"/>
              <a:t>0001</a:t>
            </a:r>
            <a:endParaRPr lang="ru-RU" sz="4000" dirty="0"/>
          </a:p>
          <a:p>
            <a:r>
              <a:rPr lang="ru-RU" sz="4000" dirty="0"/>
              <a:t>-</a:t>
            </a:r>
            <a:r>
              <a:rPr lang="en-US" sz="4000" dirty="0"/>
              <a:t>1</a:t>
            </a:r>
            <a:r>
              <a:rPr lang="ru-RU" sz="4000" dirty="0"/>
              <a:t> = 1</a:t>
            </a:r>
            <a:r>
              <a:rPr lang="en-US" sz="4000" dirty="0"/>
              <a:t>111</a:t>
            </a:r>
            <a:endParaRPr lang="ru-RU" sz="4000" dirty="0"/>
          </a:p>
          <a:p>
            <a:r>
              <a:rPr lang="ru-RU" sz="4000" dirty="0"/>
              <a:t>------------</a:t>
            </a:r>
          </a:p>
          <a:p>
            <a:r>
              <a:rPr lang="ru-RU" sz="4000" dirty="0"/>
              <a:t>&amp;  = 00</a:t>
            </a:r>
            <a:r>
              <a:rPr lang="en-US" sz="4000" dirty="0"/>
              <a:t>01</a:t>
            </a:r>
            <a:r>
              <a:rPr lang="ru-RU" sz="4000" dirty="0"/>
              <a:t> = </a:t>
            </a:r>
            <a:r>
              <a:rPr lang="en-US" sz="4000" dirty="0"/>
              <a:t>1</a:t>
            </a:r>
            <a:endParaRPr lang="ru-RU" sz="4000" dirty="0"/>
          </a:p>
        </p:txBody>
      </p:sp>
      <p:sp>
        <p:nvSpPr>
          <p:cNvPr id="6" name="Прямоугольник 5">
            <a:extLst>
              <a:ext uri="{FF2B5EF4-FFF2-40B4-BE49-F238E27FC236}">
                <a16:creationId xmlns:a16="http://schemas.microsoft.com/office/drawing/2014/main" id="{3F7CBB85-1F7D-4714-89C6-40F8DC59D764}"/>
              </a:ext>
            </a:extLst>
          </p:cNvPr>
          <p:cNvSpPr/>
          <p:nvPr/>
        </p:nvSpPr>
        <p:spPr>
          <a:xfrm>
            <a:off x="8648740" y="4931845"/>
            <a:ext cx="2988319" cy="584775"/>
          </a:xfrm>
          <a:prstGeom prst="rect">
            <a:avLst/>
          </a:prstGeom>
        </p:spPr>
        <p:txBody>
          <a:bodyPr wrap="none">
            <a:spAutoFit/>
          </a:bodyPr>
          <a:lstStyle/>
          <a:p>
            <a:pPr algn="ctr"/>
            <a:r>
              <a:rPr lang="en-US" sz="3200" dirty="0">
                <a:cs typeface="Times New Roman" panose="02020603050405020304" pitchFamily="18" charset="0"/>
              </a:rPr>
              <a:t>j ← j + </a:t>
            </a:r>
            <a:r>
              <a:rPr lang="en-US" sz="3200" dirty="0" err="1">
                <a:cs typeface="Times New Roman" panose="02020603050405020304" pitchFamily="18" charset="0"/>
              </a:rPr>
              <a:t>lowbit</a:t>
            </a:r>
            <a:r>
              <a:rPr lang="en-US" sz="3200" dirty="0">
                <a:cs typeface="Times New Roman" panose="02020603050405020304" pitchFamily="18" charset="0"/>
              </a:rPr>
              <a:t>(j)</a:t>
            </a:r>
            <a:endParaRPr lang="ru-RU" sz="3200" dirty="0">
              <a:cs typeface="Times New Roman" panose="02020603050405020304" pitchFamily="18" charset="0"/>
            </a:endParaRPr>
          </a:p>
        </p:txBody>
      </p:sp>
    </p:spTree>
    <p:extLst>
      <p:ext uri="{BB962C8B-B14F-4D97-AF65-F5344CB8AC3E}">
        <p14:creationId xmlns:p14="http://schemas.microsoft.com/office/powerpoint/2010/main" val="1411824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1856839692"/>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rgbClr val="92D050"/>
                          </a:solidFill>
                        </a:rPr>
                        <a:t>0</a:t>
                      </a:r>
                      <a:endParaRPr lang="ru-RU" sz="4800" b="0" dirty="0">
                        <a:solidFill>
                          <a:srgbClr val="92D050"/>
                        </a:solidFill>
                      </a:endParaRPr>
                    </a:p>
                  </a:txBody>
                  <a:tcPr/>
                </a:tc>
                <a:tc>
                  <a:txBody>
                    <a:bodyPr/>
                    <a:lstStyle/>
                    <a:p>
                      <a:pPr algn="ctr"/>
                      <a:r>
                        <a:rPr lang="en-US" sz="4800" b="0" dirty="0">
                          <a:solidFill>
                            <a:srgbClr val="92D050"/>
                          </a:solidFill>
                        </a:rPr>
                        <a:t>0</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A[1] = 5</a:t>
            </a:r>
            <a:endParaRPr lang="ru-RU" sz="4000" dirty="0"/>
          </a:p>
        </p:txBody>
      </p:sp>
      <p:sp>
        <p:nvSpPr>
          <p:cNvPr id="5" name="TextBox 4">
            <a:extLst>
              <a:ext uri="{FF2B5EF4-FFF2-40B4-BE49-F238E27FC236}">
                <a16:creationId xmlns:a16="http://schemas.microsoft.com/office/drawing/2014/main" id="{E2ADC114-5C42-44B7-9A9E-D25393961B4A}"/>
              </a:ext>
            </a:extLst>
          </p:cNvPr>
          <p:cNvSpPr txBox="1"/>
          <p:nvPr/>
        </p:nvSpPr>
        <p:spPr bwMode="auto">
          <a:xfrm>
            <a:off x="3376942" y="4614582"/>
            <a:ext cx="1611517" cy="707886"/>
          </a:xfrm>
          <a:prstGeom prst="rect">
            <a:avLst/>
          </a:prstGeom>
        </p:spPr>
        <p:txBody>
          <a:bodyPr wrap="square" rtlCol="0">
            <a:spAutoFit/>
          </a:bodyPr>
          <a:lstStyle/>
          <a:p>
            <a:r>
              <a:rPr lang="en-US" sz="4000" dirty="0"/>
              <a:t>j = 2</a:t>
            </a:r>
            <a:endParaRPr lang="ru-RU" sz="4000" dirty="0"/>
          </a:p>
        </p:txBody>
      </p:sp>
      <p:sp>
        <p:nvSpPr>
          <p:cNvPr id="11" name="Прямоугольник 10">
            <a:extLst>
              <a:ext uri="{FF2B5EF4-FFF2-40B4-BE49-F238E27FC236}">
                <a16:creationId xmlns:a16="http://schemas.microsoft.com/office/drawing/2014/main" id="{B6E8BB6A-A53E-4A6D-B567-2BD2C799E6D7}"/>
              </a:ext>
            </a:extLst>
          </p:cNvPr>
          <p:cNvSpPr/>
          <p:nvPr/>
        </p:nvSpPr>
        <p:spPr>
          <a:xfrm>
            <a:off x="5087638" y="3877770"/>
            <a:ext cx="3300629" cy="2554545"/>
          </a:xfrm>
          <a:prstGeom prst="rect">
            <a:avLst/>
          </a:prstGeom>
        </p:spPr>
        <p:txBody>
          <a:bodyPr wrap="square">
            <a:spAutoFit/>
          </a:bodyPr>
          <a:lstStyle/>
          <a:p>
            <a:r>
              <a:rPr lang="en-US" sz="4000" dirty="0"/>
              <a:t>2</a:t>
            </a:r>
            <a:r>
              <a:rPr lang="ru-RU" sz="4000" dirty="0"/>
              <a:t>  = </a:t>
            </a:r>
            <a:r>
              <a:rPr lang="en-US" sz="4000" dirty="0"/>
              <a:t>0010</a:t>
            </a:r>
            <a:endParaRPr lang="ru-RU" sz="4000" dirty="0"/>
          </a:p>
          <a:p>
            <a:r>
              <a:rPr lang="ru-RU" sz="4000" dirty="0"/>
              <a:t>-</a:t>
            </a:r>
            <a:r>
              <a:rPr lang="en-US" sz="4000" dirty="0"/>
              <a:t>2</a:t>
            </a:r>
            <a:r>
              <a:rPr lang="ru-RU" sz="4000" dirty="0"/>
              <a:t> = </a:t>
            </a:r>
            <a:r>
              <a:rPr lang="en-US" sz="4000" dirty="0"/>
              <a:t>1110</a:t>
            </a:r>
            <a:endParaRPr lang="ru-RU" sz="4000" dirty="0"/>
          </a:p>
          <a:p>
            <a:r>
              <a:rPr lang="ru-RU" sz="4000" dirty="0"/>
              <a:t>------------</a:t>
            </a:r>
          </a:p>
          <a:p>
            <a:r>
              <a:rPr lang="ru-RU" sz="4000" dirty="0"/>
              <a:t>&amp;  = 00</a:t>
            </a:r>
            <a:r>
              <a:rPr lang="en-US" sz="4000" dirty="0"/>
              <a:t>10</a:t>
            </a:r>
            <a:r>
              <a:rPr lang="ru-RU" sz="4000" dirty="0"/>
              <a:t> = </a:t>
            </a:r>
            <a:r>
              <a:rPr lang="en-US" sz="4000" dirty="0"/>
              <a:t>2</a:t>
            </a:r>
            <a:endParaRPr lang="ru-RU" sz="4000" dirty="0"/>
          </a:p>
        </p:txBody>
      </p:sp>
      <p:sp>
        <p:nvSpPr>
          <p:cNvPr id="6" name="Прямоугольник 5">
            <a:extLst>
              <a:ext uri="{FF2B5EF4-FFF2-40B4-BE49-F238E27FC236}">
                <a16:creationId xmlns:a16="http://schemas.microsoft.com/office/drawing/2014/main" id="{3F7CBB85-1F7D-4714-89C6-40F8DC59D764}"/>
              </a:ext>
            </a:extLst>
          </p:cNvPr>
          <p:cNvSpPr/>
          <p:nvPr/>
        </p:nvSpPr>
        <p:spPr>
          <a:xfrm>
            <a:off x="8648740" y="4931845"/>
            <a:ext cx="2988319" cy="584775"/>
          </a:xfrm>
          <a:prstGeom prst="rect">
            <a:avLst/>
          </a:prstGeom>
        </p:spPr>
        <p:txBody>
          <a:bodyPr wrap="none">
            <a:spAutoFit/>
          </a:bodyPr>
          <a:lstStyle/>
          <a:p>
            <a:pPr algn="ctr"/>
            <a:r>
              <a:rPr lang="en-US" sz="3200" dirty="0">
                <a:cs typeface="Times New Roman" panose="02020603050405020304" pitchFamily="18" charset="0"/>
              </a:rPr>
              <a:t>j ← j + </a:t>
            </a:r>
            <a:r>
              <a:rPr lang="en-US" sz="3200" dirty="0" err="1">
                <a:cs typeface="Times New Roman" panose="02020603050405020304" pitchFamily="18" charset="0"/>
              </a:rPr>
              <a:t>lowbit</a:t>
            </a:r>
            <a:r>
              <a:rPr lang="en-US" sz="3200" dirty="0">
                <a:cs typeface="Times New Roman" panose="02020603050405020304" pitchFamily="18" charset="0"/>
              </a:rPr>
              <a:t>(j)</a:t>
            </a:r>
            <a:endParaRPr lang="ru-RU" sz="3200" dirty="0">
              <a:cs typeface="Times New Roman" panose="02020603050405020304" pitchFamily="18" charset="0"/>
            </a:endParaRPr>
          </a:p>
        </p:txBody>
      </p:sp>
    </p:spTree>
    <p:extLst>
      <p:ext uri="{BB962C8B-B14F-4D97-AF65-F5344CB8AC3E}">
        <p14:creationId xmlns:p14="http://schemas.microsoft.com/office/powerpoint/2010/main" val="2781158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2593086864"/>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rgbClr val="92D050"/>
                          </a:solidFill>
                        </a:rPr>
                        <a:t>0</a:t>
                      </a:r>
                      <a:endParaRPr lang="ru-RU" sz="4800" b="0" dirty="0">
                        <a:solidFill>
                          <a:srgbClr val="92D050"/>
                        </a:solidFill>
                      </a:endParaRPr>
                    </a:p>
                  </a:txBody>
                  <a:tcPr/>
                </a:tc>
                <a:tc>
                  <a:txBody>
                    <a:bodyPr/>
                    <a:lstStyle/>
                    <a:p>
                      <a:pPr algn="ctr"/>
                      <a:r>
                        <a:rPr lang="en-US" sz="4800" b="0" dirty="0">
                          <a:solidFill>
                            <a:srgbClr val="92D050"/>
                          </a:solidFill>
                        </a:rPr>
                        <a:t>0</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0</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0</a:t>
                      </a:r>
                      <a:endParaRPr lang="ru-RU" sz="4800" b="0" dirty="0">
                        <a:solidFill>
                          <a:srgbClr val="92D050"/>
                        </a:solidFill>
                      </a:endParaRP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A[1] = 5</a:t>
            </a:r>
            <a:endParaRPr lang="ru-RU" sz="4000" dirty="0"/>
          </a:p>
        </p:txBody>
      </p:sp>
      <p:sp>
        <p:nvSpPr>
          <p:cNvPr id="5" name="TextBox 4">
            <a:extLst>
              <a:ext uri="{FF2B5EF4-FFF2-40B4-BE49-F238E27FC236}">
                <a16:creationId xmlns:a16="http://schemas.microsoft.com/office/drawing/2014/main" id="{E2ADC114-5C42-44B7-9A9E-D25393961B4A}"/>
              </a:ext>
            </a:extLst>
          </p:cNvPr>
          <p:cNvSpPr txBox="1"/>
          <p:nvPr/>
        </p:nvSpPr>
        <p:spPr bwMode="auto">
          <a:xfrm>
            <a:off x="3376942" y="4614582"/>
            <a:ext cx="1611517" cy="707886"/>
          </a:xfrm>
          <a:prstGeom prst="rect">
            <a:avLst/>
          </a:prstGeom>
        </p:spPr>
        <p:txBody>
          <a:bodyPr wrap="square" rtlCol="0">
            <a:spAutoFit/>
          </a:bodyPr>
          <a:lstStyle/>
          <a:p>
            <a:r>
              <a:rPr lang="en-US" sz="4000" dirty="0"/>
              <a:t>j = 4</a:t>
            </a:r>
            <a:endParaRPr lang="ru-RU" sz="4000" dirty="0"/>
          </a:p>
        </p:txBody>
      </p:sp>
      <p:sp>
        <p:nvSpPr>
          <p:cNvPr id="11" name="Прямоугольник 10">
            <a:extLst>
              <a:ext uri="{FF2B5EF4-FFF2-40B4-BE49-F238E27FC236}">
                <a16:creationId xmlns:a16="http://schemas.microsoft.com/office/drawing/2014/main" id="{B6E8BB6A-A53E-4A6D-B567-2BD2C799E6D7}"/>
              </a:ext>
            </a:extLst>
          </p:cNvPr>
          <p:cNvSpPr/>
          <p:nvPr/>
        </p:nvSpPr>
        <p:spPr>
          <a:xfrm>
            <a:off x="5087638" y="3877770"/>
            <a:ext cx="3395459" cy="2554545"/>
          </a:xfrm>
          <a:prstGeom prst="rect">
            <a:avLst/>
          </a:prstGeom>
        </p:spPr>
        <p:txBody>
          <a:bodyPr wrap="square">
            <a:spAutoFit/>
          </a:bodyPr>
          <a:lstStyle/>
          <a:p>
            <a:r>
              <a:rPr lang="en-US" sz="4000" dirty="0"/>
              <a:t>4</a:t>
            </a:r>
            <a:r>
              <a:rPr lang="ru-RU" sz="4000" dirty="0"/>
              <a:t>  = </a:t>
            </a:r>
            <a:r>
              <a:rPr lang="en-US" sz="4000" dirty="0"/>
              <a:t>0100</a:t>
            </a:r>
            <a:endParaRPr lang="ru-RU" sz="4000" dirty="0"/>
          </a:p>
          <a:p>
            <a:r>
              <a:rPr lang="ru-RU" sz="4000" dirty="0"/>
              <a:t>-</a:t>
            </a:r>
            <a:r>
              <a:rPr lang="en-US" sz="4000" dirty="0"/>
              <a:t>4</a:t>
            </a:r>
            <a:r>
              <a:rPr lang="ru-RU" sz="4000" dirty="0"/>
              <a:t> = </a:t>
            </a:r>
            <a:r>
              <a:rPr lang="en-US" sz="4000" dirty="0"/>
              <a:t>1100</a:t>
            </a:r>
            <a:endParaRPr lang="ru-RU" sz="4000" dirty="0"/>
          </a:p>
          <a:p>
            <a:r>
              <a:rPr lang="ru-RU" sz="4000" dirty="0"/>
              <a:t>------------</a:t>
            </a:r>
          </a:p>
          <a:p>
            <a:r>
              <a:rPr lang="ru-RU" sz="4000" dirty="0"/>
              <a:t>&amp;  = 0</a:t>
            </a:r>
            <a:r>
              <a:rPr lang="en-US" sz="4000" dirty="0"/>
              <a:t>100</a:t>
            </a:r>
            <a:r>
              <a:rPr lang="ru-RU" sz="4000" dirty="0"/>
              <a:t> = </a:t>
            </a:r>
            <a:r>
              <a:rPr lang="en-US" sz="4000" dirty="0"/>
              <a:t>4</a:t>
            </a:r>
            <a:endParaRPr lang="ru-RU" sz="4000" dirty="0"/>
          </a:p>
        </p:txBody>
      </p:sp>
      <p:sp>
        <p:nvSpPr>
          <p:cNvPr id="6" name="Прямоугольник 5">
            <a:extLst>
              <a:ext uri="{FF2B5EF4-FFF2-40B4-BE49-F238E27FC236}">
                <a16:creationId xmlns:a16="http://schemas.microsoft.com/office/drawing/2014/main" id="{3F7CBB85-1F7D-4714-89C6-40F8DC59D764}"/>
              </a:ext>
            </a:extLst>
          </p:cNvPr>
          <p:cNvSpPr/>
          <p:nvPr/>
        </p:nvSpPr>
        <p:spPr>
          <a:xfrm>
            <a:off x="8648740" y="4931845"/>
            <a:ext cx="2988319" cy="584775"/>
          </a:xfrm>
          <a:prstGeom prst="rect">
            <a:avLst/>
          </a:prstGeom>
        </p:spPr>
        <p:txBody>
          <a:bodyPr wrap="none">
            <a:spAutoFit/>
          </a:bodyPr>
          <a:lstStyle/>
          <a:p>
            <a:pPr algn="ctr"/>
            <a:r>
              <a:rPr lang="en-US" sz="3200" dirty="0">
                <a:cs typeface="Times New Roman" panose="02020603050405020304" pitchFamily="18" charset="0"/>
              </a:rPr>
              <a:t>j ← j + </a:t>
            </a:r>
            <a:r>
              <a:rPr lang="en-US" sz="3200" dirty="0" err="1">
                <a:cs typeface="Times New Roman" panose="02020603050405020304" pitchFamily="18" charset="0"/>
              </a:rPr>
              <a:t>lowbit</a:t>
            </a:r>
            <a:r>
              <a:rPr lang="en-US" sz="3200" dirty="0">
                <a:cs typeface="Times New Roman" panose="02020603050405020304" pitchFamily="18" charset="0"/>
              </a:rPr>
              <a:t>(j)</a:t>
            </a:r>
            <a:endParaRPr lang="ru-RU" sz="3200" dirty="0">
              <a:cs typeface="Times New Roman" panose="02020603050405020304" pitchFamily="18" charset="0"/>
            </a:endParaRPr>
          </a:p>
        </p:txBody>
      </p:sp>
    </p:spTree>
    <p:extLst>
      <p:ext uri="{BB962C8B-B14F-4D97-AF65-F5344CB8AC3E}">
        <p14:creationId xmlns:p14="http://schemas.microsoft.com/office/powerpoint/2010/main" val="9338833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3789364432"/>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rgbClr val="92D050"/>
                          </a:solidFill>
                        </a:rPr>
                        <a:t>5</a:t>
                      </a:r>
                      <a:endParaRPr lang="ru-RU" sz="4800" b="0" dirty="0">
                        <a:solidFill>
                          <a:srgbClr val="92D050"/>
                        </a:solidFill>
                      </a:endParaRPr>
                    </a:p>
                  </a:txBody>
                  <a:tcPr/>
                </a:tc>
                <a:tc>
                  <a:txBody>
                    <a:bodyPr/>
                    <a:lstStyle/>
                    <a:p>
                      <a:pPr algn="ctr"/>
                      <a:r>
                        <a:rPr lang="en-US" sz="4800" b="0" dirty="0">
                          <a:solidFill>
                            <a:srgbClr val="92D050"/>
                          </a:solidFill>
                        </a:rPr>
                        <a:t>5</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5</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5</a:t>
                      </a:r>
                      <a:endParaRPr lang="ru-RU" sz="4800" b="0" dirty="0">
                        <a:solidFill>
                          <a:srgbClr val="92D050"/>
                        </a:solidFill>
                      </a:endParaRP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A[1] = 5</a:t>
            </a:r>
            <a:endParaRPr lang="ru-RU" sz="4000" dirty="0"/>
          </a:p>
        </p:txBody>
      </p:sp>
      <p:sp>
        <p:nvSpPr>
          <p:cNvPr id="5" name="TextBox 4">
            <a:extLst>
              <a:ext uri="{FF2B5EF4-FFF2-40B4-BE49-F238E27FC236}">
                <a16:creationId xmlns:a16="http://schemas.microsoft.com/office/drawing/2014/main" id="{E2ADC114-5C42-44B7-9A9E-D25393961B4A}"/>
              </a:ext>
            </a:extLst>
          </p:cNvPr>
          <p:cNvSpPr txBox="1"/>
          <p:nvPr/>
        </p:nvSpPr>
        <p:spPr bwMode="auto">
          <a:xfrm>
            <a:off x="3376942" y="4614582"/>
            <a:ext cx="1611517" cy="707886"/>
          </a:xfrm>
          <a:prstGeom prst="rect">
            <a:avLst/>
          </a:prstGeom>
        </p:spPr>
        <p:txBody>
          <a:bodyPr wrap="square" rtlCol="0">
            <a:spAutoFit/>
          </a:bodyPr>
          <a:lstStyle/>
          <a:p>
            <a:r>
              <a:rPr lang="en-US" sz="4000" dirty="0"/>
              <a:t>j = 8</a:t>
            </a:r>
            <a:endParaRPr lang="ru-RU" sz="4000" dirty="0"/>
          </a:p>
        </p:txBody>
      </p:sp>
    </p:spTree>
    <p:extLst>
      <p:ext uri="{BB962C8B-B14F-4D97-AF65-F5344CB8AC3E}">
        <p14:creationId xmlns:p14="http://schemas.microsoft.com/office/powerpoint/2010/main" val="26856733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176875876"/>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rgbClr val="92D050"/>
                          </a:solidFill>
                        </a:rPr>
                        <a:t>5</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5</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5</a:t>
                      </a:r>
                      <a:endParaRPr lang="ru-RU" sz="4800" b="0" dirty="0">
                        <a:solidFill>
                          <a:srgbClr val="92D050"/>
                        </a:solidFill>
                      </a:endParaRP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A[2] = 2</a:t>
            </a:r>
            <a:endParaRPr lang="ru-RU" sz="4000" dirty="0"/>
          </a:p>
        </p:txBody>
      </p:sp>
      <p:sp>
        <p:nvSpPr>
          <p:cNvPr id="5" name="TextBox 4">
            <a:extLst>
              <a:ext uri="{FF2B5EF4-FFF2-40B4-BE49-F238E27FC236}">
                <a16:creationId xmlns:a16="http://schemas.microsoft.com/office/drawing/2014/main" id="{E2ADC114-5C42-44B7-9A9E-D25393961B4A}"/>
              </a:ext>
            </a:extLst>
          </p:cNvPr>
          <p:cNvSpPr txBox="1"/>
          <p:nvPr/>
        </p:nvSpPr>
        <p:spPr bwMode="auto">
          <a:xfrm>
            <a:off x="3376942" y="4614582"/>
            <a:ext cx="1611517" cy="707886"/>
          </a:xfrm>
          <a:prstGeom prst="rect">
            <a:avLst/>
          </a:prstGeom>
        </p:spPr>
        <p:txBody>
          <a:bodyPr wrap="square" rtlCol="0">
            <a:spAutoFit/>
          </a:bodyPr>
          <a:lstStyle/>
          <a:p>
            <a:r>
              <a:rPr lang="en-US" sz="4000" dirty="0"/>
              <a:t>j = 2</a:t>
            </a:r>
            <a:endParaRPr lang="ru-RU" sz="4000" dirty="0"/>
          </a:p>
        </p:txBody>
      </p:sp>
    </p:spTree>
    <p:extLst>
      <p:ext uri="{BB962C8B-B14F-4D97-AF65-F5344CB8AC3E}">
        <p14:creationId xmlns:p14="http://schemas.microsoft.com/office/powerpoint/2010/main" val="19388562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3510703457"/>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rgbClr val="92D050"/>
                          </a:solidFill>
                        </a:rPr>
                        <a:t>7</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7</a:t>
                      </a:r>
                      <a:endParaRPr lang="ru-RU" sz="4800" b="0" dirty="0">
                        <a:solidFill>
                          <a:srgbClr val="92D050"/>
                        </a:solidFill>
                      </a:endParaRPr>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t>0</a:t>
                      </a:r>
                      <a:endParaRPr lang="ru-RU" sz="4800" b="0" dirty="0"/>
                    </a:p>
                  </a:txBody>
                  <a:tcPr/>
                </a:tc>
                <a:tc>
                  <a:txBody>
                    <a:bodyPr/>
                    <a:lstStyle/>
                    <a:p>
                      <a:pPr algn="ctr"/>
                      <a:r>
                        <a:rPr lang="en-US" sz="4800" b="0" dirty="0">
                          <a:solidFill>
                            <a:srgbClr val="92D050"/>
                          </a:solidFill>
                        </a:rPr>
                        <a:t>7</a:t>
                      </a:r>
                      <a:endParaRPr lang="ru-RU" sz="4800" b="0" dirty="0">
                        <a:solidFill>
                          <a:srgbClr val="92D050"/>
                        </a:solidFill>
                      </a:endParaRP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A[2] = 2</a:t>
            </a:r>
            <a:endParaRPr lang="ru-RU" sz="4000" dirty="0"/>
          </a:p>
        </p:txBody>
      </p:sp>
    </p:spTree>
    <p:extLst>
      <p:ext uri="{BB962C8B-B14F-4D97-AF65-F5344CB8AC3E}">
        <p14:creationId xmlns:p14="http://schemas.microsoft.com/office/powerpoint/2010/main" val="22570355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2849334942"/>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rgbClr val="92D050"/>
                          </a:solidFill>
                        </a:rPr>
                        <a:t>7</a:t>
                      </a:r>
                      <a:endParaRPr lang="ru-RU" sz="4800" b="0" dirty="0">
                        <a:solidFill>
                          <a:srgbClr val="92D050"/>
                        </a:solidFill>
                      </a:endParaRPr>
                    </a:p>
                  </a:txBody>
                  <a:tcPr/>
                </a:tc>
                <a:tc>
                  <a:txBody>
                    <a:bodyPr/>
                    <a:lstStyle/>
                    <a:p>
                      <a:pPr algn="ctr"/>
                      <a:r>
                        <a:rPr lang="ru-RU" sz="4800" b="0" dirty="0">
                          <a:solidFill>
                            <a:srgbClr val="92D050"/>
                          </a:solidFill>
                        </a:rPr>
                        <a:t>14</a:t>
                      </a:r>
                    </a:p>
                  </a:txBody>
                  <a:tcPr/>
                </a:tc>
                <a:tc>
                  <a:txBody>
                    <a:bodyPr/>
                    <a:lstStyle/>
                    <a:p>
                      <a:pPr algn="ctr"/>
                      <a:r>
                        <a:rPr lang="en-US" sz="4800" b="0" dirty="0">
                          <a:solidFill>
                            <a:schemeClr val="tx1"/>
                          </a:solidFill>
                        </a:rPr>
                        <a:t>0</a:t>
                      </a:r>
                      <a:endParaRPr lang="ru-RU" sz="4800" b="0" dirty="0">
                        <a:solidFill>
                          <a:schemeClr val="tx1"/>
                        </a:solidFill>
                      </a:endParaRPr>
                    </a:p>
                  </a:txBody>
                  <a:tcPr/>
                </a:tc>
                <a:tc>
                  <a:txBody>
                    <a:bodyPr/>
                    <a:lstStyle/>
                    <a:p>
                      <a:pPr algn="ctr"/>
                      <a:r>
                        <a:rPr lang="ru-RU" sz="4800" b="0" dirty="0">
                          <a:solidFill>
                            <a:schemeClr val="tx1"/>
                          </a:solidFill>
                        </a:rPr>
                        <a:t>0</a:t>
                      </a:r>
                    </a:p>
                  </a:txBody>
                  <a:tcPr/>
                </a:tc>
                <a:tc>
                  <a:txBody>
                    <a:bodyPr/>
                    <a:lstStyle/>
                    <a:p>
                      <a:pPr algn="ctr"/>
                      <a:r>
                        <a:rPr lang="en-US" sz="4800" b="0" dirty="0">
                          <a:solidFill>
                            <a:schemeClr val="tx1"/>
                          </a:solidFill>
                        </a:rPr>
                        <a:t>0</a:t>
                      </a:r>
                      <a:endParaRPr lang="ru-RU" sz="4800" b="0" dirty="0">
                        <a:solidFill>
                          <a:schemeClr val="tx1"/>
                        </a:solidFill>
                      </a:endParaRPr>
                    </a:p>
                  </a:txBody>
                  <a:tcPr/>
                </a:tc>
                <a:tc>
                  <a:txBody>
                    <a:bodyPr/>
                    <a:lstStyle/>
                    <a:p>
                      <a:pPr algn="ctr"/>
                      <a:r>
                        <a:rPr lang="en-US" sz="4800" b="0" u="none" dirty="0">
                          <a:solidFill>
                            <a:srgbClr val="92D050"/>
                          </a:solidFill>
                        </a:rPr>
                        <a:t>14</a:t>
                      </a:r>
                      <a:endParaRPr lang="ru-RU" sz="4800" b="0" u="none" dirty="0">
                        <a:solidFill>
                          <a:srgbClr val="92D050"/>
                        </a:solidFill>
                      </a:endParaRP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A[3] = 7</a:t>
            </a:r>
            <a:endParaRPr lang="ru-RU" sz="4000" dirty="0"/>
          </a:p>
        </p:txBody>
      </p:sp>
    </p:spTree>
    <p:extLst>
      <p:ext uri="{BB962C8B-B14F-4D97-AF65-F5344CB8AC3E}">
        <p14:creationId xmlns:p14="http://schemas.microsoft.com/office/powerpoint/2010/main" val="30357077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121570950"/>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rgbClr val="92D050"/>
                          </a:solidFill>
                        </a:rPr>
                        <a:t>1</a:t>
                      </a:r>
                      <a:r>
                        <a:rPr lang="ru-RU" sz="4800" b="0" dirty="0">
                          <a:solidFill>
                            <a:srgbClr val="92D050"/>
                          </a:solidFill>
                        </a:rPr>
                        <a:t>7</a:t>
                      </a:r>
                    </a:p>
                  </a:txBody>
                  <a:tcPr/>
                </a:tc>
                <a:tc>
                  <a:txBody>
                    <a:bodyPr/>
                    <a:lstStyle/>
                    <a:p>
                      <a:pPr algn="ctr"/>
                      <a:r>
                        <a:rPr lang="en-US" sz="4800" b="0" dirty="0">
                          <a:solidFill>
                            <a:schemeClr val="tx1"/>
                          </a:solidFill>
                        </a:rPr>
                        <a:t>0</a:t>
                      </a:r>
                      <a:endParaRPr lang="ru-RU" sz="4800" b="0" dirty="0">
                        <a:solidFill>
                          <a:schemeClr val="tx1"/>
                        </a:solidFill>
                      </a:endParaRPr>
                    </a:p>
                  </a:txBody>
                  <a:tcPr/>
                </a:tc>
                <a:tc>
                  <a:txBody>
                    <a:bodyPr/>
                    <a:lstStyle/>
                    <a:p>
                      <a:pPr algn="ctr"/>
                      <a:r>
                        <a:rPr lang="ru-RU" sz="4800" b="0" dirty="0">
                          <a:solidFill>
                            <a:schemeClr val="tx1"/>
                          </a:solidFill>
                        </a:rPr>
                        <a:t>0</a:t>
                      </a:r>
                    </a:p>
                  </a:txBody>
                  <a:tcPr/>
                </a:tc>
                <a:tc>
                  <a:txBody>
                    <a:bodyPr/>
                    <a:lstStyle/>
                    <a:p>
                      <a:pPr algn="ctr"/>
                      <a:r>
                        <a:rPr lang="en-US" sz="4800" b="0" dirty="0">
                          <a:solidFill>
                            <a:schemeClr val="tx1"/>
                          </a:solidFill>
                        </a:rPr>
                        <a:t>0</a:t>
                      </a:r>
                      <a:endParaRPr lang="ru-RU" sz="4800" b="0" dirty="0">
                        <a:solidFill>
                          <a:schemeClr val="tx1"/>
                        </a:solidFill>
                      </a:endParaRPr>
                    </a:p>
                  </a:txBody>
                  <a:tcPr/>
                </a:tc>
                <a:tc>
                  <a:txBody>
                    <a:bodyPr/>
                    <a:lstStyle/>
                    <a:p>
                      <a:pPr algn="ctr"/>
                      <a:r>
                        <a:rPr lang="ru-RU" sz="4800" b="0" dirty="0">
                          <a:solidFill>
                            <a:srgbClr val="92D050"/>
                          </a:solidFill>
                        </a:rPr>
                        <a:t>17</a:t>
                      </a: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A[4] = 3</a:t>
            </a:r>
            <a:endParaRPr lang="ru-RU" sz="4000" dirty="0"/>
          </a:p>
        </p:txBody>
      </p:sp>
    </p:spTree>
    <p:extLst>
      <p:ext uri="{BB962C8B-B14F-4D97-AF65-F5344CB8AC3E}">
        <p14:creationId xmlns:p14="http://schemas.microsoft.com/office/powerpoint/2010/main" val="16401854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535554555"/>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ru-RU" sz="4800" b="0" dirty="0">
                          <a:solidFill>
                            <a:schemeClr val="tx1"/>
                          </a:solidFill>
                        </a:rPr>
                        <a:t>17</a:t>
                      </a:r>
                    </a:p>
                  </a:txBody>
                  <a:tcPr/>
                </a:tc>
                <a:tc>
                  <a:txBody>
                    <a:bodyPr/>
                    <a:lstStyle/>
                    <a:p>
                      <a:pPr algn="ctr"/>
                      <a:r>
                        <a:rPr lang="en-US" sz="4800" b="0" dirty="0">
                          <a:solidFill>
                            <a:srgbClr val="92D050"/>
                          </a:solidFill>
                        </a:rPr>
                        <a:t>6</a:t>
                      </a:r>
                      <a:endParaRPr lang="ru-RU" sz="4800" b="0" dirty="0">
                        <a:solidFill>
                          <a:srgbClr val="92D050"/>
                        </a:solidFill>
                      </a:endParaRPr>
                    </a:p>
                  </a:txBody>
                  <a:tcPr/>
                </a:tc>
                <a:tc>
                  <a:txBody>
                    <a:bodyPr/>
                    <a:lstStyle/>
                    <a:p>
                      <a:pPr algn="ctr"/>
                      <a:r>
                        <a:rPr lang="ru-RU" sz="4800" b="0" dirty="0">
                          <a:solidFill>
                            <a:srgbClr val="92D050"/>
                          </a:solidFill>
                        </a:rPr>
                        <a:t>6</a:t>
                      </a:r>
                    </a:p>
                  </a:txBody>
                  <a:tcPr/>
                </a:tc>
                <a:tc>
                  <a:txBody>
                    <a:bodyPr/>
                    <a:lstStyle/>
                    <a:p>
                      <a:pPr algn="ctr"/>
                      <a:r>
                        <a:rPr lang="en-US" sz="4800" b="0" dirty="0">
                          <a:solidFill>
                            <a:schemeClr val="tx1"/>
                          </a:solidFill>
                        </a:rPr>
                        <a:t>0</a:t>
                      </a:r>
                      <a:endParaRPr lang="ru-RU" sz="4800" b="0" dirty="0">
                        <a:solidFill>
                          <a:schemeClr val="tx1"/>
                        </a:solidFill>
                      </a:endParaRPr>
                    </a:p>
                  </a:txBody>
                  <a:tcPr/>
                </a:tc>
                <a:tc>
                  <a:txBody>
                    <a:bodyPr/>
                    <a:lstStyle/>
                    <a:p>
                      <a:pPr algn="ctr"/>
                      <a:r>
                        <a:rPr lang="ru-RU" sz="4800" b="0" dirty="0">
                          <a:solidFill>
                            <a:srgbClr val="92D050"/>
                          </a:solidFill>
                        </a:rPr>
                        <a:t>23</a:t>
                      </a: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A[5] = 6</a:t>
            </a:r>
            <a:endParaRPr lang="ru-RU" sz="4000" dirty="0"/>
          </a:p>
        </p:txBody>
      </p:sp>
    </p:spTree>
    <p:extLst>
      <p:ext uri="{BB962C8B-B14F-4D97-AF65-F5344CB8AC3E}">
        <p14:creationId xmlns:p14="http://schemas.microsoft.com/office/powerpoint/2010/main" val="18505091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2676453956"/>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1</a:t>
                      </a:r>
                      <a:r>
                        <a:rPr lang="ru-RU" sz="4800" b="0" dirty="0">
                          <a:solidFill>
                            <a:schemeClr val="tx1"/>
                          </a:solidFill>
                        </a:rPr>
                        <a:t>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rgbClr val="92D050"/>
                          </a:solidFill>
                        </a:rPr>
                        <a:t>7</a:t>
                      </a:r>
                    </a:p>
                  </a:txBody>
                  <a:tcPr/>
                </a:tc>
                <a:tc>
                  <a:txBody>
                    <a:bodyPr/>
                    <a:lstStyle/>
                    <a:p>
                      <a:pPr algn="ctr"/>
                      <a:r>
                        <a:rPr lang="en-US" sz="4800" b="0" dirty="0">
                          <a:solidFill>
                            <a:schemeClr val="tx1"/>
                          </a:solidFill>
                        </a:rPr>
                        <a:t>0</a:t>
                      </a:r>
                      <a:endParaRPr lang="ru-RU" sz="4800" b="0" dirty="0">
                        <a:solidFill>
                          <a:schemeClr val="tx1"/>
                        </a:solidFill>
                      </a:endParaRPr>
                    </a:p>
                  </a:txBody>
                  <a:tcPr/>
                </a:tc>
                <a:tc>
                  <a:txBody>
                    <a:bodyPr/>
                    <a:lstStyle/>
                    <a:p>
                      <a:pPr algn="ctr"/>
                      <a:r>
                        <a:rPr lang="ru-RU" sz="4800" b="0" dirty="0">
                          <a:solidFill>
                            <a:srgbClr val="92D050"/>
                          </a:solidFill>
                        </a:rPr>
                        <a:t>24</a:t>
                      </a: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A[6] = 1</a:t>
            </a:r>
            <a:endParaRPr lang="ru-RU" sz="4000" dirty="0"/>
          </a:p>
        </p:txBody>
      </p:sp>
    </p:spTree>
    <p:extLst>
      <p:ext uri="{BB962C8B-B14F-4D97-AF65-F5344CB8AC3E}">
        <p14:creationId xmlns:p14="http://schemas.microsoft.com/office/powerpoint/2010/main" val="29667071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3667491962"/>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ru-RU" sz="4800" b="0" dirty="0">
                          <a:solidFill>
                            <a:schemeClr val="tx1"/>
                          </a:solidFill>
                        </a:rPr>
                        <a:t>17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rgbClr val="92D050"/>
                          </a:solidFill>
                        </a:rPr>
                        <a:t>4</a:t>
                      </a:r>
                    </a:p>
                  </a:txBody>
                  <a:tcPr/>
                </a:tc>
                <a:tc>
                  <a:txBody>
                    <a:bodyPr/>
                    <a:lstStyle/>
                    <a:p>
                      <a:pPr algn="ctr"/>
                      <a:r>
                        <a:rPr lang="ru-RU" sz="4800" b="0" dirty="0">
                          <a:solidFill>
                            <a:srgbClr val="92D050"/>
                          </a:solidFill>
                        </a:rPr>
                        <a:t>28</a:t>
                      </a: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A[7] = 4</a:t>
            </a:r>
            <a:endParaRPr lang="ru-RU" sz="4000" dirty="0"/>
          </a:p>
        </p:txBody>
      </p:sp>
    </p:spTree>
    <p:extLst>
      <p:ext uri="{BB962C8B-B14F-4D97-AF65-F5344CB8AC3E}">
        <p14:creationId xmlns:p14="http://schemas.microsoft.com/office/powerpoint/2010/main" val="6247712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2FB3-F010-46A6-BF1F-5D535BB3F9BF}"/>
              </a:ext>
            </a:extLst>
          </p:cNvPr>
          <p:cNvSpPr>
            <a:spLocks noGrp="1"/>
          </p:cNvSpPr>
          <p:nvPr>
            <p:ph type="title"/>
          </p:nvPr>
        </p:nvSpPr>
        <p:spPr/>
        <p:txBody>
          <a:bodyPr/>
          <a:lstStyle/>
          <a:p>
            <a:r>
              <a:rPr lang="ru-RU" dirty="0"/>
              <a:t>Построение дерева </a:t>
            </a:r>
            <a:r>
              <a:rPr lang="ru-RU" dirty="0" err="1"/>
              <a:t>Фенвика</a:t>
            </a:r>
            <a:endParaRPr lang="ru-RU" dirty="0"/>
          </a:p>
        </p:txBody>
      </p:sp>
      <p:sp>
        <p:nvSpPr>
          <p:cNvPr id="7" name="Текст 6">
            <a:extLst>
              <a:ext uri="{FF2B5EF4-FFF2-40B4-BE49-F238E27FC236}">
                <a16:creationId xmlns:a16="http://schemas.microsoft.com/office/drawing/2014/main" id="{ABDB701F-B0EF-462F-8FCB-CA3EE8FF1B27}"/>
              </a:ext>
            </a:extLst>
          </p:cNvPr>
          <p:cNvSpPr>
            <a:spLocks noGrp="1"/>
          </p:cNvSpPr>
          <p:nvPr>
            <p:ph type="body" sz="quarter" idx="19"/>
          </p:nvPr>
        </p:nvSpPr>
        <p:spPr/>
        <p:txBody>
          <a:bodyPr/>
          <a:lstStyle/>
          <a:p>
            <a:endParaRPr lang="ru-RU"/>
          </a:p>
        </p:txBody>
      </p:sp>
      <p:sp>
        <p:nvSpPr>
          <p:cNvPr id="19" name="Прямоугольник: скругленные углы 18">
            <a:extLst>
              <a:ext uri="{FF2B5EF4-FFF2-40B4-BE49-F238E27FC236}">
                <a16:creationId xmlns:a16="http://schemas.microsoft.com/office/drawing/2014/main" id="{DAA6E7A8-C86B-4F66-B756-1DAB91C952EA}"/>
              </a:ext>
            </a:extLst>
          </p:cNvPr>
          <p:cNvSpPr/>
          <p:nvPr/>
        </p:nvSpPr>
        <p:spPr>
          <a:xfrm>
            <a:off x="6276911"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tree:</a:t>
            </a:r>
          </a:p>
          <a:p>
            <a:pPr algn="ctr"/>
            <a:r>
              <a:rPr lang="ru-RU" dirty="0"/>
              <a:t>значение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 [</a:t>
            </a:r>
            <a:r>
              <a:rPr lang="en-US" dirty="0"/>
              <a:t>0</a:t>
            </a:r>
            <a:r>
              <a:rPr lang="ru-RU" dirty="0"/>
              <a:t>]</a:t>
            </a:r>
          </a:p>
        </p:txBody>
      </p:sp>
      <p:graphicFrame>
        <p:nvGraphicFramePr>
          <p:cNvPr id="3" name="Таблица 2">
            <a:extLst>
              <a:ext uri="{FF2B5EF4-FFF2-40B4-BE49-F238E27FC236}">
                <a16:creationId xmlns:a16="http://schemas.microsoft.com/office/drawing/2014/main" id="{460EF879-07B9-4B17-95B7-AF57AA780A8F}"/>
              </a:ext>
            </a:extLst>
          </p:cNvPr>
          <p:cNvGraphicFramePr>
            <a:graphicFrameLocks noGrp="1"/>
          </p:cNvGraphicFramePr>
          <p:nvPr>
            <p:extLst>
              <p:ext uri="{D42A27DB-BD31-4B8C-83A1-F6EECF244321}">
                <p14:modId xmlns:p14="http://schemas.microsoft.com/office/powerpoint/2010/main" val="3624967115"/>
              </p:ext>
            </p:extLst>
          </p:nvPr>
        </p:nvGraphicFramePr>
        <p:xfrm>
          <a:off x="1213164" y="2960483"/>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35122758"/>
                    </a:ext>
                  </a:extLst>
                </a:gridCol>
                <a:gridCol w="1102511">
                  <a:extLst>
                    <a:ext uri="{9D8B030D-6E8A-4147-A177-3AD203B41FA5}">
                      <a16:colId xmlns:a16="http://schemas.microsoft.com/office/drawing/2014/main" val="2489444450"/>
                    </a:ext>
                  </a:extLst>
                </a:gridCol>
                <a:gridCol w="1102511">
                  <a:extLst>
                    <a:ext uri="{9D8B030D-6E8A-4147-A177-3AD203B41FA5}">
                      <a16:colId xmlns:a16="http://schemas.microsoft.com/office/drawing/2014/main" val="2066146406"/>
                    </a:ext>
                  </a:extLst>
                </a:gridCol>
                <a:gridCol w="1102511">
                  <a:extLst>
                    <a:ext uri="{9D8B030D-6E8A-4147-A177-3AD203B41FA5}">
                      <a16:colId xmlns:a16="http://schemas.microsoft.com/office/drawing/2014/main" val="514278222"/>
                    </a:ext>
                  </a:extLst>
                </a:gridCol>
                <a:gridCol w="1102511">
                  <a:extLst>
                    <a:ext uri="{9D8B030D-6E8A-4147-A177-3AD203B41FA5}">
                      <a16:colId xmlns:a16="http://schemas.microsoft.com/office/drawing/2014/main" val="3981551110"/>
                    </a:ext>
                  </a:extLst>
                </a:gridCol>
                <a:gridCol w="1102511">
                  <a:extLst>
                    <a:ext uri="{9D8B030D-6E8A-4147-A177-3AD203B41FA5}">
                      <a16:colId xmlns:a16="http://schemas.microsoft.com/office/drawing/2014/main" val="3620663349"/>
                    </a:ext>
                  </a:extLst>
                </a:gridCol>
                <a:gridCol w="1102511">
                  <a:extLst>
                    <a:ext uri="{9D8B030D-6E8A-4147-A177-3AD203B41FA5}">
                      <a16:colId xmlns:a16="http://schemas.microsoft.com/office/drawing/2014/main" val="2756626063"/>
                    </a:ext>
                  </a:extLst>
                </a:gridCol>
                <a:gridCol w="1102511">
                  <a:extLst>
                    <a:ext uri="{9D8B030D-6E8A-4147-A177-3AD203B41FA5}">
                      <a16:colId xmlns:a16="http://schemas.microsoft.com/office/drawing/2014/main" val="2212244383"/>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ru-RU" sz="4800" b="0" dirty="0">
                          <a:solidFill>
                            <a:schemeClr val="tx1"/>
                          </a:solidFill>
                        </a:rPr>
                        <a:t>17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chemeClr val="tx1"/>
                          </a:solidFill>
                        </a:rPr>
                        <a:t>4</a:t>
                      </a:r>
                    </a:p>
                  </a:txBody>
                  <a:tcPr/>
                </a:tc>
                <a:tc>
                  <a:txBody>
                    <a:bodyPr/>
                    <a:lstStyle/>
                    <a:p>
                      <a:pPr algn="ctr"/>
                      <a:r>
                        <a:rPr lang="ru-RU" sz="4800" b="0" dirty="0">
                          <a:solidFill>
                            <a:srgbClr val="92D050"/>
                          </a:solidFill>
                        </a:rPr>
                        <a:t>36</a:t>
                      </a:r>
                    </a:p>
                  </a:txBody>
                  <a:tcPr/>
                </a:tc>
                <a:extLst>
                  <a:ext uri="{0D108BD9-81ED-4DB2-BD59-A6C34878D82A}">
                    <a16:rowId xmlns:a16="http://schemas.microsoft.com/office/drawing/2014/main" val="476268171"/>
                  </a:ext>
                </a:extLst>
              </a:tr>
            </a:tbl>
          </a:graphicData>
        </a:graphic>
      </p:graphicFrame>
      <p:sp>
        <p:nvSpPr>
          <p:cNvPr id="8" name="Прямоугольник: скругленные углы 7">
            <a:extLst>
              <a:ext uri="{FF2B5EF4-FFF2-40B4-BE49-F238E27FC236}">
                <a16:creationId xmlns:a16="http://schemas.microsoft.com/office/drawing/2014/main" id="{D03BE328-250C-4736-8772-D3C676544C62}"/>
              </a:ext>
            </a:extLst>
          </p:cNvPr>
          <p:cNvSpPr/>
          <p:nvPr/>
        </p:nvSpPr>
        <p:spPr>
          <a:xfrm>
            <a:off x="479424" y="1276538"/>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1   2   3   4   5   6   7   8</a:t>
            </a:r>
          </a:p>
          <a:p>
            <a:pPr algn="ctr"/>
            <a:r>
              <a:rPr lang="ru-RU" dirty="0"/>
              <a:t>значение   [5] [2] [7] [3] [6] [1] [4] [8]</a:t>
            </a:r>
          </a:p>
        </p:txBody>
      </p:sp>
      <p:sp>
        <p:nvSpPr>
          <p:cNvPr id="4" name="TextBox 3">
            <a:extLst>
              <a:ext uri="{FF2B5EF4-FFF2-40B4-BE49-F238E27FC236}">
                <a16:creationId xmlns:a16="http://schemas.microsoft.com/office/drawing/2014/main" id="{2452A1A7-1F9D-4588-83F7-959F95067F5F}"/>
              </a:ext>
            </a:extLst>
          </p:cNvPr>
          <p:cNvSpPr txBox="1"/>
          <p:nvPr/>
        </p:nvSpPr>
        <p:spPr bwMode="auto">
          <a:xfrm>
            <a:off x="715223" y="4593291"/>
            <a:ext cx="2136618" cy="707886"/>
          </a:xfrm>
          <a:prstGeom prst="rect">
            <a:avLst/>
          </a:prstGeom>
        </p:spPr>
        <p:txBody>
          <a:bodyPr wrap="square" rtlCol="0">
            <a:spAutoFit/>
          </a:bodyPr>
          <a:lstStyle/>
          <a:p>
            <a:r>
              <a:rPr lang="en-US" sz="4000" dirty="0"/>
              <a:t>A[</a:t>
            </a:r>
            <a:r>
              <a:rPr lang="ru-RU" sz="4000" dirty="0"/>
              <a:t>8</a:t>
            </a:r>
            <a:r>
              <a:rPr lang="en-US" sz="4000" dirty="0"/>
              <a:t>] = </a:t>
            </a:r>
            <a:r>
              <a:rPr lang="ru-RU" sz="4000" dirty="0"/>
              <a:t>8</a:t>
            </a:r>
          </a:p>
        </p:txBody>
      </p:sp>
      <p:sp>
        <p:nvSpPr>
          <p:cNvPr id="5" name="Прямоугольник: скругленные углы 4">
            <a:extLst>
              <a:ext uri="{FF2B5EF4-FFF2-40B4-BE49-F238E27FC236}">
                <a16:creationId xmlns:a16="http://schemas.microsoft.com/office/drawing/2014/main" id="{76D979B9-367E-4DEC-AF11-A3A190114BAB}"/>
              </a:ext>
            </a:extLst>
          </p:cNvPr>
          <p:cNvSpPr/>
          <p:nvPr/>
        </p:nvSpPr>
        <p:spPr>
          <a:xfrm>
            <a:off x="5580529" y="4371918"/>
            <a:ext cx="4452723" cy="194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O(</a:t>
            </a:r>
            <a:r>
              <a:rPr lang="en-US" sz="4400" dirty="0" err="1"/>
              <a:t>nlog</a:t>
            </a:r>
            <a:r>
              <a:rPr lang="en-US" sz="4400" dirty="0"/>
              <a:t>(n))</a:t>
            </a:r>
            <a:endParaRPr lang="ru-RU" sz="4400" dirty="0"/>
          </a:p>
        </p:txBody>
      </p:sp>
    </p:spTree>
    <p:extLst>
      <p:ext uri="{BB962C8B-B14F-4D97-AF65-F5344CB8AC3E}">
        <p14:creationId xmlns:p14="http://schemas.microsoft.com/office/powerpoint/2010/main" val="42882372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451B5D-FDC3-4063-85E3-1DF9F7DD6BAE}"/>
              </a:ext>
            </a:extLst>
          </p:cNvPr>
          <p:cNvSpPr>
            <a:spLocks noGrp="1"/>
          </p:cNvSpPr>
          <p:nvPr>
            <p:ph type="title"/>
          </p:nvPr>
        </p:nvSpPr>
        <p:spPr/>
        <p:txBody>
          <a:bodyPr/>
          <a:lstStyle/>
          <a:p>
            <a:r>
              <a:rPr lang="ru-RU"/>
              <a:t>Получение префиксной суммы</a:t>
            </a:r>
            <a:endParaRPr lang="ru-RU" dirty="0"/>
          </a:p>
        </p:txBody>
      </p:sp>
      <p:sp>
        <p:nvSpPr>
          <p:cNvPr id="7" name="Текст 6">
            <a:extLst>
              <a:ext uri="{FF2B5EF4-FFF2-40B4-BE49-F238E27FC236}">
                <a16:creationId xmlns:a16="http://schemas.microsoft.com/office/drawing/2014/main" id="{D6923171-1912-4C07-8C89-7C669C3ACA99}"/>
              </a:ext>
            </a:extLst>
          </p:cNvPr>
          <p:cNvSpPr>
            <a:spLocks noGrp="1"/>
          </p:cNvSpPr>
          <p:nvPr>
            <p:ph type="body" sz="quarter" idx="19"/>
          </p:nvPr>
        </p:nvSpPr>
        <p:spPr/>
        <p:txBody>
          <a:bodyPr/>
          <a:lstStyle/>
          <a:p>
            <a:endParaRPr lang="ru-RU"/>
          </a:p>
        </p:txBody>
      </p:sp>
      <p:graphicFrame>
        <p:nvGraphicFramePr>
          <p:cNvPr id="10" name="Таблица 9">
            <a:extLst>
              <a:ext uri="{FF2B5EF4-FFF2-40B4-BE49-F238E27FC236}">
                <a16:creationId xmlns:a16="http://schemas.microsoft.com/office/drawing/2014/main" id="{0450A18E-A9A3-4027-BF43-90F9A705E888}"/>
              </a:ext>
            </a:extLst>
          </p:cNvPr>
          <p:cNvGraphicFramePr>
            <a:graphicFrameLocks noGrp="1"/>
          </p:cNvGraphicFramePr>
          <p:nvPr>
            <p:extLst>
              <p:ext uri="{D42A27DB-BD31-4B8C-83A1-F6EECF244321}">
                <p14:modId xmlns:p14="http://schemas.microsoft.com/office/powerpoint/2010/main" val="2982218918"/>
              </p:ext>
            </p:extLst>
          </p:nvPr>
        </p:nvGraphicFramePr>
        <p:xfrm>
          <a:off x="1600262" y="1498918"/>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2083962846"/>
                    </a:ext>
                  </a:extLst>
                </a:gridCol>
                <a:gridCol w="1102511">
                  <a:extLst>
                    <a:ext uri="{9D8B030D-6E8A-4147-A177-3AD203B41FA5}">
                      <a16:colId xmlns:a16="http://schemas.microsoft.com/office/drawing/2014/main" val="3362560792"/>
                    </a:ext>
                  </a:extLst>
                </a:gridCol>
                <a:gridCol w="1102511">
                  <a:extLst>
                    <a:ext uri="{9D8B030D-6E8A-4147-A177-3AD203B41FA5}">
                      <a16:colId xmlns:a16="http://schemas.microsoft.com/office/drawing/2014/main" val="2902360567"/>
                    </a:ext>
                  </a:extLst>
                </a:gridCol>
                <a:gridCol w="1102511">
                  <a:extLst>
                    <a:ext uri="{9D8B030D-6E8A-4147-A177-3AD203B41FA5}">
                      <a16:colId xmlns:a16="http://schemas.microsoft.com/office/drawing/2014/main" val="3683038319"/>
                    </a:ext>
                  </a:extLst>
                </a:gridCol>
                <a:gridCol w="1102511">
                  <a:extLst>
                    <a:ext uri="{9D8B030D-6E8A-4147-A177-3AD203B41FA5}">
                      <a16:colId xmlns:a16="http://schemas.microsoft.com/office/drawing/2014/main" val="1709151692"/>
                    </a:ext>
                  </a:extLst>
                </a:gridCol>
                <a:gridCol w="1102511">
                  <a:extLst>
                    <a:ext uri="{9D8B030D-6E8A-4147-A177-3AD203B41FA5}">
                      <a16:colId xmlns:a16="http://schemas.microsoft.com/office/drawing/2014/main" val="399888629"/>
                    </a:ext>
                  </a:extLst>
                </a:gridCol>
                <a:gridCol w="1102511">
                  <a:extLst>
                    <a:ext uri="{9D8B030D-6E8A-4147-A177-3AD203B41FA5}">
                      <a16:colId xmlns:a16="http://schemas.microsoft.com/office/drawing/2014/main" val="9954084"/>
                    </a:ext>
                  </a:extLst>
                </a:gridCol>
                <a:gridCol w="1102511">
                  <a:extLst>
                    <a:ext uri="{9D8B030D-6E8A-4147-A177-3AD203B41FA5}">
                      <a16:colId xmlns:a16="http://schemas.microsoft.com/office/drawing/2014/main" val="1026558749"/>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ru-RU" sz="4800" b="0" dirty="0">
                          <a:solidFill>
                            <a:schemeClr val="tx1"/>
                          </a:solidFill>
                        </a:rPr>
                        <a:t>17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chemeClr val="tx1"/>
                          </a:solidFill>
                        </a:rPr>
                        <a:t>4</a:t>
                      </a:r>
                    </a:p>
                  </a:txBody>
                  <a:tcPr/>
                </a:tc>
                <a:tc>
                  <a:txBody>
                    <a:bodyPr/>
                    <a:lstStyle/>
                    <a:p>
                      <a:pPr algn="ctr"/>
                      <a:r>
                        <a:rPr lang="ru-RU" sz="4800" b="0" dirty="0">
                          <a:solidFill>
                            <a:schemeClr val="tx1"/>
                          </a:solidFill>
                        </a:rPr>
                        <a:t>36</a:t>
                      </a:r>
                    </a:p>
                  </a:txBody>
                  <a:tcPr/>
                </a:tc>
                <a:extLst>
                  <a:ext uri="{0D108BD9-81ED-4DB2-BD59-A6C34878D82A}">
                    <a16:rowId xmlns:a16="http://schemas.microsoft.com/office/drawing/2014/main" val="1997305274"/>
                  </a:ext>
                </a:extLst>
              </a:tr>
            </a:tbl>
          </a:graphicData>
        </a:graphic>
      </p:graphicFrame>
      <p:sp>
        <p:nvSpPr>
          <p:cNvPr id="11" name="Прямоугольник 10">
            <a:extLst>
              <a:ext uri="{FF2B5EF4-FFF2-40B4-BE49-F238E27FC236}">
                <a16:creationId xmlns:a16="http://schemas.microsoft.com/office/drawing/2014/main" id="{B10BC986-79BC-41B8-88A4-849B909FCF5C}"/>
              </a:ext>
            </a:extLst>
          </p:cNvPr>
          <p:cNvSpPr/>
          <p:nvPr/>
        </p:nvSpPr>
        <p:spPr>
          <a:xfrm>
            <a:off x="754573" y="2721114"/>
            <a:ext cx="3666388" cy="707886"/>
          </a:xfrm>
          <a:prstGeom prst="rect">
            <a:avLst/>
          </a:prstGeom>
        </p:spPr>
        <p:txBody>
          <a:bodyPr wrap="none">
            <a:spAutoFit/>
          </a:bodyPr>
          <a:lstStyle/>
          <a:p>
            <a:r>
              <a:rPr lang="en-US" sz="4000" dirty="0" err="1"/>
              <a:t>prefix_sum</a:t>
            </a:r>
            <a:r>
              <a:rPr lang="en-US" sz="4000" dirty="0"/>
              <a:t>(7)</a:t>
            </a:r>
            <a:endParaRPr lang="ru-RU" sz="4000" dirty="0"/>
          </a:p>
        </p:txBody>
      </p:sp>
      <p:sp>
        <p:nvSpPr>
          <p:cNvPr id="12" name="Прямоугольник 11">
            <a:extLst>
              <a:ext uri="{FF2B5EF4-FFF2-40B4-BE49-F238E27FC236}">
                <a16:creationId xmlns:a16="http://schemas.microsoft.com/office/drawing/2014/main" id="{D4F9902F-503D-4B74-8E9A-F0B9A38C0D7B}"/>
              </a:ext>
            </a:extLst>
          </p:cNvPr>
          <p:cNvSpPr/>
          <p:nvPr/>
        </p:nvSpPr>
        <p:spPr>
          <a:xfrm>
            <a:off x="4658702" y="2721114"/>
            <a:ext cx="1188146" cy="707886"/>
          </a:xfrm>
          <a:prstGeom prst="rect">
            <a:avLst/>
          </a:prstGeom>
        </p:spPr>
        <p:txBody>
          <a:bodyPr wrap="none">
            <a:spAutoFit/>
          </a:bodyPr>
          <a:lstStyle/>
          <a:p>
            <a:r>
              <a:rPr lang="en-US" sz="4000" dirty="0" err="1"/>
              <a:t>i</a:t>
            </a:r>
            <a:r>
              <a:rPr lang="en-US" sz="4000" dirty="0"/>
              <a:t> = 7</a:t>
            </a:r>
            <a:endParaRPr lang="ru-RU" sz="4000" dirty="0"/>
          </a:p>
        </p:txBody>
      </p:sp>
      <p:sp>
        <p:nvSpPr>
          <p:cNvPr id="13" name="Прямоугольник 12">
            <a:extLst>
              <a:ext uri="{FF2B5EF4-FFF2-40B4-BE49-F238E27FC236}">
                <a16:creationId xmlns:a16="http://schemas.microsoft.com/office/drawing/2014/main" id="{FAB81B5A-E085-4526-AC54-EC77F09A8615}"/>
              </a:ext>
            </a:extLst>
          </p:cNvPr>
          <p:cNvSpPr/>
          <p:nvPr/>
        </p:nvSpPr>
        <p:spPr>
          <a:xfrm>
            <a:off x="6345154" y="2721114"/>
            <a:ext cx="4801314" cy="707886"/>
          </a:xfrm>
          <a:prstGeom prst="rect">
            <a:avLst/>
          </a:prstGeom>
        </p:spPr>
        <p:txBody>
          <a:bodyPr wrap="none">
            <a:spAutoFit/>
          </a:bodyPr>
          <a:lstStyle/>
          <a:p>
            <a:r>
              <a:rPr lang="en-US" sz="4000" dirty="0"/>
              <a:t>sum =</a:t>
            </a:r>
            <a:r>
              <a:rPr lang="ru-RU" sz="4000" dirty="0"/>
              <a:t> 0 + </a:t>
            </a:r>
            <a:r>
              <a:rPr lang="en-US" sz="4000" dirty="0"/>
              <a:t>4 = 4 	</a:t>
            </a:r>
            <a:endParaRPr lang="ru-RU" sz="4000" dirty="0"/>
          </a:p>
        </p:txBody>
      </p:sp>
      <p:sp>
        <p:nvSpPr>
          <p:cNvPr id="14" name="Прямоугольник 13">
            <a:extLst>
              <a:ext uri="{FF2B5EF4-FFF2-40B4-BE49-F238E27FC236}">
                <a16:creationId xmlns:a16="http://schemas.microsoft.com/office/drawing/2014/main" id="{03FFD0AF-84BB-4494-A6F8-6BA27779F515}"/>
              </a:ext>
            </a:extLst>
          </p:cNvPr>
          <p:cNvSpPr/>
          <p:nvPr/>
        </p:nvSpPr>
        <p:spPr>
          <a:xfrm>
            <a:off x="754573" y="3937581"/>
            <a:ext cx="3680816" cy="707886"/>
          </a:xfrm>
          <a:prstGeom prst="rect">
            <a:avLst/>
          </a:prstGeom>
        </p:spPr>
        <p:txBody>
          <a:bodyPr wrap="none">
            <a:spAutoFit/>
          </a:bodyPr>
          <a:lstStyle/>
          <a:p>
            <a:r>
              <a:rPr lang="en-US" sz="4000" dirty="0" err="1"/>
              <a:t>i</a:t>
            </a:r>
            <a:r>
              <a:rPr lang="en-US" sz="4000" dirty="0"/>
              <a:t> ← </a:t>
            </a:r>
            <a:r>
              <a:rPr lang="en-US" sz="4000" dirty="0" err="1"/>
              <a:t>i</a:t>
            </a:r>
            <a:r>
              <a:rPr lang="en-US" sz="4000" dirty="0"/>
              <a:t> − </a:t>
            </a:r>
            <a:r>
              <a:rPr lang="en-US" sz="4000" dirty="0" err="1"/>
              <a:t>lowbit</a:t>
            </a:r>
            <a:r>
              <a:rPr lang="en-US" sz="4000" dirty="0"/>
              <a:t>(</a:t>
            </a:r>
            <a:r>
              <a:rPr lang="en-US" sz="4000" dirty="0" err="1"/>
              <a:t>i</a:t>
            </a:r>
            <a:r>
              <a:rPr lang="en-US" sz="4000" dirty="0"/>
              <a:t>)</a:t>
            </a:r>
            <a:endParaRPr lang="ru-RU" sz="4000" dirty="0"/>
          </a:p>
        </p:txBody>
      </p:sp>
      <p:sp>
        <p:nvSpPr>
          <p:cNvPr id="15" name="Прямоугольник 14">
            <a:extLst>
              <a:ext uri="{FF2B5EF4-FFF2-40B4-BE49-F238E27FC236}">
                <a16:creationId xmlns:a16="http://schemas.microsoft.com/office/drawing/2014/main" id="{E290ECF9-8412-4ADA-BC7F-649739AE4D6F}"/>
              </a:ext>
            </a:extLst>
          </p:cNvPr>
          <p:cNvSpPr/>
          <p:nvPr/>
        </p:nvSpPr>
        <p:spPr>
          <a:xfrm>
            <a:off x="740145" y="5359082"/>
            <a:ext cx="1951175" cy="707886"/>
          </a:xfrm>
          <a:prstGeom prst="rect">
            <a:avLst/>
          </a:prstGeom>
        </p:spPr>
        <p:txBody>
          <a:bodyPr wrap="none">
            <a:spAutoFit/>
          </a:bodyPr>
          <a:lstStyle/>
          <a:p>
            <a:r>
              <a:rPr lang="en-US" sz="4000" dirty="0" err="1"/>
              <a:t>i</a:t>
            </a:r>
            <a:r>
              <a:rPr lang="en-US" sz="4000" dirty="0"/>
              <a:t> ← 7 − 1</a:t>
            </a:r>
            <a:endParaRPr lang="ru-RU" sz="4000" dirty="0"/>
          </a:p>
        </p:txBody>
      </p:sp>
      <p:sp>
        <p:nvSpPr>
          <p:cNvPr id="16" name="Прямоугольник 15">
            <a:extLst>
              <a:ext uri="{FF2B5EF4-FFF2-40B4-BE49-F238E27FC236}">
                <a16:creationId xmlns:a16="http://schemas.microsoft.com/office/drawing/2014/main" id="{A5404A6E-10D5-4DFA-B898-44BB21A27A14}"/>
              </a:ext>
            </a:extLst>
          </p:cNvPr>
          <p:cNvSpPr/>
          <p:nvPr/>
        </p:nvSpPr>
        <p:spPr>
          <a:xfrm>
            <a:off x="5846848" y="3705600"/>
            <a:ext cx="3395459" cy="2554545"/>
          </a:xfrm>
          <a:prstGeom prst="rect">
            <a:avLst/>
          </a:prstGeom>
        </p:spPr>
        <p:txBody>
          <a:bodyPr wrap="square">
            <a:spAutoFit/>
          </a:bodyPr>
          <a:lstStyle/>
          <a:p>
            <a:r>
              <a:rPr lang="en-US" sz="4000" dirty="0"/>
              <a:t>7</a:t>
            </a:r>
            <a:r>
              <a:rPr lang="ru-RU" sz="4000" dirty="0"/>
              <a:t>  = </a:t>
            </a:r>
            <a:r>
              <a:rPr lang="en-US" sz="4000" dirty="0"/>
              <a:t>0111</a:t>
            </a:r>
            <a:endParaRPr lang="ru-RU" sz="4000" dirty="0"/>
          </a:p>
          <a:p>
            <a:r>
              <a:rPr lang="ru-RU" sz="4000" dirty="0"/>
              <a:t>-</a:t>
            </a:r>
            <a:r>
              <a:rPr lang="en-US" sz="4000" dirty="0"/>
              <a:t>7</a:t>
            </a:r>
            <a:r>
              <a:rPr lang="ru-RU" sz="4000" dirty="0"/>
              <a:t> = </a:t>
            </a:r>
            <a:r>
              <a:rPr lang="en-US" sz="4000" dirty="0"/>
              <a:t>1001</a:t>
            </a:r>
            <a:endParaRPr lang="ru-RU" sz="4000" dirty="0"/>
          </a:p>
          <a:p>
            <a:r>
              <a:rPr lang="ru-RU" sz="4000" dirty="0"/>
              <a:t>------------</a:t>
            </a:r>
          </a:p>
          <a:p>
            <a:r>
              <a:rPr lang="ru-RU" sz="4000" dirty="0"/>
              <a:t>&amp;  = </a:t>
            </a:r>
            <a:r>
              <a:rPr lang="en-US" sz="4000" dirty="0"/>
              <a:t>0001</a:t>
            </a:r>
            <a:r>
              <a:rPr lang="ru-RU" sz="4000" dirty="0"/>
              <a:t> = </a:t>
            </a:r>
            <a:r>
              <a:rPr lang="en-US" sz="4000" dirty="0"/>
              <a:t>1</a:t>
            </a:r>
            <a:endParaRPr lang="ru-RU" sz="4000" dirty="0"/>
          </a:p>
        </p:txBody>
      </p:sp>
    </p:spTree>
    <p:extLst>
      <p:ext uri="{BB962C8B-B14F-4D97-AF65-F5344CB8AC3E}">
        <p14:creationId xmlns:p14="http://schemas.microsoft.com/office/powerpoint/2010/main" val="3480133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451B5D-FDC3-4063-85E3-1DF9F7DD6BAE}"/>
              </a:ext>
            </a:extLst>
          </p:cNvPr>
          <p:cNvSpPr>
            <a:spLocks noGrp="1"/>
          </p:cNvSpPr>
          <p:nvPr>
            <p:ph type="title"/>
          </p:nvPr>
        </p:nvSpPr>
        <p:spPr/>
        <p:txBody>
          <a:bodyPr/>
          <a:lstStyle/>
          <a:p>
            <a:r>
              <a:rPr lang="ru-RU"/>
              <a:t>Получение префиксной суммы</a:t>
            </a:r>
            <a:endParaRPr lang="ru-RU" dirty="0"/>
          </a:p>
        </p:txBody>
      </p:sp>
      <p:sp>
        <p:nvSpPr>
          <p:cNvPr id="7" name="Текст 6">
            <a:extLst>
              <a:ext uri="{FF2B5EF4-FFF2-40B4-BE49-F238E27FC236}">
                <a16:creationId xmlns:a16="http://schemas.microsoft.com/office/drawing/2014/main" id="{D6923171-1912-4C07-8C89-7C669C3ACA99}"/>
              </a:ext>
            </a:extLst>
          </p:cNvPr>
          <p:cNvSpPr>
            <a:spLocks noGrp="1"/>
          </p:cNvSpPr>
          <p:nvPr>
            <p:ph type="body" sz="quarter" idx="19"/>
          </p:nvPr>
        </p:nvSpPr>
        <p:spPr/>
        <p:txBody>
          <a:bodyPr/>
          <a:lstStyle/>
          <a:p>
            <a:endParaRPr lang="ru-RU"/>
          </a:p>
        </p:txBody>
      </p:sp>
      <p:graphicFrame>
        <p:nvGraphicFramePr>
          <p:cNvPr id="10" name="Таблица 9">
            <a:extLst>
              <a:ext uri="{FF2B5EF4-FFF2-40B4-BE49-F238E27FC236}">
                <a16:creationId xmlns:a16="http://schemas.microsoft.com/office/drawing/2014/main" id="{0450A18E-A9A3-4027-BF43-90F9A705E888}"/>
              </a:ext>
            </a:extLst>
          </p:cNvPr>
          <p:cNvGraphicFramePr>
            <a:graphicFrameLocks noGrp="1"/>
          </p:cNvGraphicFramePr>
          <p:nvPr/>
        </p:nvGraphicFramePr>
        <p:xfrm>
          <a:off x="1600262" y="1498918"/>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2083962846"/>
                    </a:ext>
                  </a:extLst>
                </a:gridCol>
                <a:gridCol w="1102511">
                  <a:extLst>
                    <a:ext uri="{9D8B030D-6E8A-4147-A177-3AD203B41FA5}">
                      <a16:colId xmlns:a16="http://schemas.microsoft.com/office/drawing/2014/main" val="3362560792"/>
                    </a:ext>
                  </a:extLst>
                </a:gridCol>
                <a:gridCol w="1102511">
                  <a:extLst>
                    <a:ext uri="{9D8B030D-6E8A-4147-A177-3AD203B41FA5}">
                      <a16:colId xmlns:a16="http://schemas.microsoft.com/office/drawing/2014/main" val="2902360567"/>
                    </a:ext>
                  </a:extLst>
                </a:gridCol>
                <a:gridCol w="1102511">
                  <a:extLst>
                    <a:ext uri="{9D8B030D-6E8A-4147-A177-3AD203B41FA5}">
                      <a16:colId xmlns:a16="http://schemas.microsoft.com/office/drawing/2014/main" val="3683038319"/>
                    </a:ext>
                  </a:extLst>
                </a:gridCol>
                <a:gridCol w="1102511">
                  <a:extLst>
                    <a:ext uri="{9D8B030D-6E8A-4147-A177-3AD203B41FA5}">
                      <a16:colId xmlns:a16="http://schemas.microsoft.com/office/drawing/2014/main" val="1709151692"/>
                    </a:ext>
                  </a:extLst>
                </a:gridCol>
                <a:gridCol w="1102511">
                  <a:extLst>
                    <a:ext uri="{9D8B030D-6E8A-4147-A177-3AD203B41FA5}">
                      <a16:colId xmlns:a16="http://schemas.microsoft.com/office/drawing/2014/main" val="399888629"/>
                    </a:ext>
                  </a:extLst>
                </a:gridCol>
                <a:gridCol w="1102511">
                  <a:extLst>
                    <a:ext uri="{9D8B030D-6E8A-4147-A177-3AD203B41FA5}">
                      <a16:colId xmlns:a16="http://schemas.microsoft.com/office/drawing/2014/main" val="9954084"/>
                    </a:ext>
                  </a:extLst>
                </a:gridCol>
                <a:gridCol w="1102511">
                  <a:extLst>
                    <a:ext uri="{9D8B030D-6E8A-4147-A177-3AD203B41FA5}">
                      <a16:colId xmlns:a16="http://schemas.microsoft.com/office/drawing/2014/main" val="1026558749"/>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ru-RU" sz="4800" b="0" dirty="0">
                          <a:solidFill>
                            <a:schemeClr val="tx1"/>
                          </a:solidFill>
                        </a:rPr>
                        <a:t>17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chemeClr val="tx1"/>
                          </a:solidFill>
                        </a:rPr>
                        <a:t>4</a:t>
                      </a:r>
                    </a:p>
                  </a:txBody>
                  <a:tcPr/>
                </a:tc>
                <a:tc>
                  <a:txBody>
                    <a:bodyPr/>
                    <a:lstStyle/>
                    <a:p>
                      <a:pPr algn="ctr"/>
                      <a:r>
                        <a:rPr lang="ru-RU" sz="4800" b="0" dirty="0">
                          <a:solidFill>
                            <a:schemeClr val="tx1"/>
                          </a:solidFill>
                        </a:rPr>
                        <a:t>36</a:t>
                      </a:r>
                    </a:p>
                  </a:txBody>
                  <a:tcPr/>
                </a:tc>
                <a:extLst>
                  <a:ext uri="{0D108BD9-81ED-4DB2-BD59-A6C34878D82A}">
                    <a16:rowId xmlns:a16="http://schemas.microsoft.com/office/drawing/2014/main" val="1997305274"/>
                  </a:ext>
                </a:extLst>
              </a:tr>
            </a:tbl>
          </a:graphicData>
        </a:graphic>
      </p:graphicFrame>
      <p:sp>
        <p:nvSpPr>
          <p:cNvPr id="11" name="Прямоугольник 10">
            <a:extLst>
              <a:ext uri="{FF2B5EF4-FFF2-40B4-BE49-F238E27FC236}">
                <a16:creationId xmlns:a16="http://schemas.microsoft.com/office/drawing/2014/main" id="{B10BC986-79BC-41B8-88A4-849B909FCF5C}"/>
              </a:ext>
            </a:extLst>
          </p:cNvPr>
          <p:cNvSpPr/>
          <p:nvPr/>
        </p:nvSpPr>
        <p:spPr>
          <a:xfrm>
            <a:off x="754573" y="2721114"/>
            <a:ext cx="3666388" cy="707886"/>
          </a:xfrm>
          <a:prstGeom prst="rect">
            <a:avLst/>
          </a:prstGeom>
        </p:spPr>
        <p:txBody>
          <a:bodyPr wrap="none">
            <a:spAutoFit/>
          </a:bodyPr>
          <a:lstStyle/>
          <a:p>
            <a:r>
              <a:rPr lang="en-US" sz="4000" dirty="0" err="1"/>
              <a:t>prefix_sum</a:t>
            </a:r>
            <a:r>
              <a:rPr lang="en-US" sz="4000" dirty="0"/>
              <a:t>(7)</a:t>
            </a:r>
            <a:endParaRPr lang="ru-RU" sz="4000" dirty="0"/>
          </a:p>
        </p:txBody>
      </p:sp>
      <p:sp>
        <p:nvSpPr>
          <p:cNvPr id="12" name="Прямоугольник 11">
            <a:extLst>
              <a:ext uri="{FF2B5EF4-FFF2-40B4-BE49-F238E27FC236}">
                <a16:creationId xmlns:a16="http://schemas.microsoft.com/office/drawing/2014/main" id="{D4F9902F-503D-4B74-8E9A-F0B9A38C0D7B}"/>
              </a:ext>
            </a:extLst>
          </p:cNvPr>
          <p:cNvSpPr/>
          <p:nvPr/>
        </p:nvSpPr>
        <p:spPr>
          <a:xfrm>
            <a:off x="4658702" y="2721114"/>
            <a:ext cx="1188146" cy="707886"/>
          </a:xfrm>
          <a:prstGeom prst="rect">
            <a:avLst/>
          </a:prstGeom>
        </p:spPr>
        <p:txBody>
          <a:bodyPr wrap="none">
            <a:spAutoFit/>
          </a:bodyPr>
          <a:lstStyle/>
          <a:p>
            <a:r>
              <a:rPr lang="en-US" sz="4000" dirty="0" err="1"/>
              <a:t>i</a:t>
            </a:r>
            <a:r>
              <a:rPr lang="en-US" sz="4000" dirty="0"/>
              <a:t> = 6</a:t>
            </a:r>
            <a:endParaRPr lang="ru-RU" sz="4000" dirty="0"/>
          </a:p>
        </p:txBody>
      </p:sp>
      <p:sp>
        <p:nvSpPr>
          <p:cNvPr id="13" name="Прямоугольник 12">
            <a:extLst>
              <a:ext uri="{FF2B5EF4-FFF2-40B4-BE49-F238E27FC236}">
                <a16:creationId xmlns:a16="http://schemas.microsoft.com/office/drawing/2014/main" id="{FAB81B5A-E085-4526-AC54-EC77F09A8615}"/>
              </a:ext>
            </a:extLst>
          </p:cNvPr>
          <p:cNvSpPr/>
          <p:nvPr/>
        </p:nvSpPr>
        <p:spPr>
          <a:xfrm>
            <a:off x="6345154" y="2721114"/>
            <a:ext cx="4801314" cy="707886"/>
          </a:xfrm>
          <a:prstGeom prst="rect">
            <a:avLst/>
          </a:prstGeom>
        </p:spPr>
        <p:txBody>
          <a:bodyPr wrap="none">
            <a:spAutoFit/>
          </a:bodyPr>
          <a:lstStyle/>
          <a:p>
            <a:r>
              <a:rPr lang="en-US" sz="4000" dirty="0"/>
              <a:t>sum =</a:t>
            </a:r>
            <a:r>
              <a:rPr lang="ru-RU" sz="4000" dirty="0"/>
              <a:t> </a:t>
            </a:r>
            <a:r>
              <a:rPr lang="en-US" sz="4000" dirty="0"/>
              <a:t>4</a:t>
            </a:r>
            <a:r>
              <a:rPr lang="ru-RU" sz="4000" dirty="0"/>
              <a:t> + </a:t>
            </a:r>
            <a:r>
              <a:rPr lang="en-US" sz="4000" dirty="0"/>
              <a:t>7 = 11 	</a:t>
            </a:r>
            <a:endParaRPr lang="ru-RU" sz="4000" dirty="0"/>
          </a:p>
        </p:txBody>
      </p:sp>
      <p:sp>
        <p:nvSpPr>
          <p:cNvPr id="14" name="Прямоугольник 13">
            <a:extLst>
              <a:ext uri="{FF2B5EF4-FFF2-40B4-BE49-F238E27FC236}">
                <a16:creationId xmlns:a16="http://schemas.microsoft.com/office/drawing/2014/main" id="{03FFD0AF-84BB-4494-A6F8-6BA27779F515}"/>
              </a:ext>
            </a:extLst>
          </p:cNvPr>
          <p:cNvSpPr/>
          <p:nvPr/>
        </p:nvSpPr>
        <p:spPr>
          <a:xfrm>
            <a:off x="754573" y="3937581"/>
            <a:ext cx="3680816" cy="707886"/>
          </a:xfrm>
          <a:prstGeom prst="rect">
            <a:avLst/>
          </a:prstGeom>
        </p:spPr>
        <p:txBody>
          <a:bodyPr wrap="none">
            <a:spAutoFit/>
          </a:bodyPr>
          <a:lstStyle/>
          <a:p>
            <a:r>
              <a:rPr lang="en-US" sz="4000" dirty="0" err="1"/>
              <a:t>i</a:t>
            </a:r>
            <a:r>
              <a:rPr lang="en-US" sz="4000" dirty="0"/>
              <a:t> ← </a:t>
            </a:r>
            <a:r>
              <a:rPr lang="en-US" sz="4000" dirty="0" err="1"/>
              <a:t>i</a:t>
            </a:r>
            <a:r>
              <a:rPr lang="en-US" sz="4000" dirty="0"/>
              <a:t> − </a:t>
            </a:r>
            <a:r>
              <a:rPr lang="en-US" sz="4000" dirty="0" err="1"/>
              <a:t>lowbit</a:t>
            </a:r>
            <a:r>
              <a:rPr lang="en-US" sz="4000" dirty="0"/>
              <a:t>(</a:t>
            </a:r>
            <a:r>
              <a:rPr lang="en-US" sz="4000" dirty="0" err="1"/>
              <a:t>i</a:t>
            </a:r>
            <a:r>
              <a:rPr lang="en-US" sz="4000" dirty="0"/>
              <a:t>)</a:t>
            </a:r>
            <a:endParaRPr lang="ru-RU" sz="4000" dirty="0"/>
          </a:p>
        </p:txBody>
      </p:sp>
      <p:sp>
        <p:nvSpPr>
          <p:cNvPr id="15" name="Прямоугольник 14">
            <a:extLst>
              <a:ext uri="{FF2B5EF4-FFF2-40B4-BE49-F238E27FC236}">
                <a16:creationId xmlns:a16="http://schemas.microsoft.com/office/drawing/2014/main" id="{E290ECF9-8412-4ADA-BC7F-649739AE4D6F}"/>
              </a:ext>
            </a:extLst>
          </p:cNvPr>
          <p:cNvSpPr/>
          <p:nvPr/>
        </p:nvSpPr>
        <p:spPr>
          <a:xfrm>
            <a:off x="740145" y="5359082"/>
            <a:ext cx="2068195" cy="707886"/>
          </a:xfrm>
          <a:prstGeom prst="rect">
            <a:avLst/>
          </a:prstGeom>
        </p:spPr>
        <p:txBody>
          <a:bodyPr wrap="none">
            <a:spAutoFit/>
          </a:bodyPr>
          <a:lstStyle/>
          <a:p>
            <a:r>
              <a:rPr lang="en-US" sz="4000" dirty="0" err="1"/>
              <a:t>i</a:t>
            </a:r>
            <a:r>
              <a:rPr lang="en-US" sz="4000" dirty="0"/>
              <a:t> ← 6 − 2</a:t>
            </a:r>
            <a:endParaRPr lang="ru-RU" sz="4000" dirty="0"/>
          </a:p>
        </p:txBody>
      </p:sp>
      <p:sp>
        <p:nvSpPr>
          <p:cNvPr id="16" name="Прямоугольник 15">
            <a:extLst>
              <a:ext uri="{FF2B5EF4-FFF2-40B4-BE49-F238E27FC236}">
                <a16:creationId xmlns:a16="http://schemas.microsoft.com/office/drawing/2014/main" id="{A5404A6E-10D5-4DFA-B898-44BB21A27A14}"/>
              </a:ext>
            </a:extLst>
          </p:cNvPr>
          <p:cNvSpPr/>
          <p:nvPr/>
        </p:nvSpPr>
        <p:spPr>
          <a:xfrm>
            <a:off x="5846848" y="3705600"/>
            <a:ext cx="3395459" cy="2554545"/>
          </a:xfrm>
          <a:prstGeom prst="rect">
            <a:avLst/>
          </a:prstGeom>
        </p:spPr>
        <p:txBody>
          <a:bodyPr wrap="square">
            <a:spAutoFit/>
          </a:bodyPr>
          <a:lstStyle/>
          <a:p>
            <a:r>
              <a:rPr lang="en-US" sz="4000" dirty="0"/>
              <a:t>6</a:t>
            </a:r>
            <a:r>
              <a:rPr lang="ru-RU" sz="4000" dirty="0"/>
              <a:t>  = </a:t>
            </a:r>
            <a:r>
              <a:rPr lang="en-US" sz="4000" dirty="0"/>
              <a:t>0110</a:t>
            </a:r>
            <a:endParaRPr lang="ru-RU" sz="4000" dirty="0"/>
          </a:p>
          <a:p>
            <a:r>
              <a:rPr lang="ru-RU" sz="4000" dirty="0"/>
              <a:t>-</a:t>
            </a:r>
            <a:r>
              <a:rPr lang="en-US" sz="4000" dirty="0"/>
              <a:t>6</a:t>
            </a:r>
            <a:r>
              <a:rPr lang="ru-RU" sz="4000" dirty="0"/>
              <a:t> = </a:t>
            </a:r>
            <a:r>
              <a:rPr lang="en-US" sz="4000" dirty="0"/>
              <a:t>1010</a:t>
            </a:r>
            <a:endParaRPr lang="ru-RU" sz="4000" dirty="0"/>
          </a:p>
          <a:p>
            <a:r>
              <a:rPr lang="ru-RU" sz="4000" dirty="0"/>
              <a:t>------------</a:t>
            </a:r>
          </a:p>
          <a:p>
            <a:r>
              <a:rPr lang="ru-RU" sz="4000" dirty="0"/>
              <a:t>&amp;  = </a:t>
            </a:r>
            <a:r>
              <a:rPr lang="en-US" sz="4000" dirty="0"/>
              <a:t>0010</a:t>
            </a:r>
            <a:r>
              <a:rPr lang="ru-RU" sz="4000" dirty="0"/>
              <a:t> = </a:t>
            </a:r>
            <a:r>
              <a:rPr lang="en-US" sz="4000" dirty="0"/>
              <a:t>2</a:t>
            </a:r>
            <a:endParaRPr lang="ru-RU" sz="4000" dirty="0"/>
          </a:p>
        </p:txBody>
      </p:sp>
    </p:spTree>
    <p:extLst>
      <p:ext uri="{BB962C8B-B14F-4D97-AF65-F5344CB8AC3E}">
        <p14:creationId xmlns:p14="http://schemas.microsoft.com/office/powerpoint/2010/main" val="31669122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451B5D-FDC3-4063-85E3-1DF9F7DD6BAE}"/>
              </a:ext>
            </a:extLst>
          </p:cNvPr>
          <p:cNvSpPr>
            <a:spLocks noGrp="1"/>
          </p:cNvSpPr>
          <p:nvPr>
            <p:ph type="title"/>
          </p:nvPr>
        </p:nvSpPr>
        <p:spPr/>
        <p:txBody>
          <a:bodyPr/>
          <a:lstStyle/>
          <a:p>
            <a:r>
              <a:rPr lang="ru-RU"/>
              <a:t>Получение префиксной суммы</a:t>
            </a:r>
            <a:endParaRPr lang="ru-RU" dirty="0"/>
          </a:p>
        </p:txBody>
      </p:sp>
      <p:sp>
        <p:nvSpPr>
          <p:cNvPr id="7" name="Текст 6">
            <a:extLst>
              <a:ext uri="{FF2B5EF4-FFF2-40B4-BE49-F238E27FC236}">
                <a16:creationId xmlns:a16="http://schemas.microsoft.com/office/drawing/2014/main" id="{D6923171-1912-4C07-8C89-7C669C3ACA99}"/>
              </a:ext>
            </a:extLst>
          </p:cNvPr>
          <p:cNvSpPr>
            <a:spLocks noGrp="1"/>
          </p:cNvSpPr>
          <p:nvPr>
            <p:ph type="body" sz="quarter" idx="19"/>
          </p:nvPr>
        </p:nvSpPr>
        <p:spPr/>
        <p:txBody>
          <a:bodyPr/>
          <a:lstStyle/>
          <a:p>
            <a:endParaRPr lang="ru-RU"/>
          </a:p>
        </p:txBody>
      </p:sp>
      <p:graphicFrame>
        <p:nvGraphicFramePr>
          <p:cNvPr id="10" name="Таблица 9">
            <a:extLst>
              <a:ext uri="{FF2B5EF4-FFF2-40B4-BE49-F238E27FC236}">
                <a16:creationId xmlns:a16="http://schemas.microsoft.com/office/drawing/2014/main" id="{0450A18E-A9A3-4027-BF43-90F9A705E888}"/>
              </a:ext>
            </a:extLst>
          </p:cNvPr>
          <p:cNvGraphicFramePr>
            <a:graphicFrameLocks noGrp="1"/>
          </p:cNvGraphicFramePr>
          <p:nvPr/>
        </p:nvGraphicFramePr>
        <p:xfrm>
          <a:off x="1600262" y="1498918"/>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2083962846"/>
                    </a:ext>
                  </a:extLst>
                </a:gridCol>
                <a:gridCol w="1102511">
                  <a:extLst>
                    <a:ext uri="{9D8B030D-6E8A-4147-A177-3AD203B41FA5}">
                      <a16:colId xmlns:a16="http://schemas.microsoft.com/office/drawing/2014/main" val="3362560792"/>
                    </a:ext>
                  </a:extLst>
                </a:gridCol>
                <a:gridCol w="1102511">
                  <a:extLst>
                    <a:ext uri="{9D8B030D-6E8A-4147-A177-3AD203B41FA5}">
                      <a16:colId xmlns:a16="http://schemas.microsoft.com/office/drawing/2014/main" val="2902360567"/>
                    </a:ext>
                  </a:extLst>
                </a:gridCol>
                <a:gridCol w="1102511">
                  <a:extLst>
                    <a:ext uri="{9D8B030D-6E8A-4147-A177-3AD203B41FA5}">
                      <a16:colId xmlns:a16="http://schemas.microsoft.com/office/drawing/2014/main" val="3683038319"/>
                    </a:ext>
                  </a:extLst>
                </a:gridCol>
                <a:gridCol w="1102511">
                  <a:extLst>
                    <a:ext uri="{9D8B030D-6E8A-4147-A177-3AD203B41FA5}">
                      <a16:colId xmlns:a16="http://schemas.microsoft.com/office/drawing/2014/main" val="1709151692"/>
                    </a:ext>
                  </a:extLst>
                </a:gridCol>
                <a:gridCol w="1102511">
                  <a:extLst>
                    <a:ext uri="{9D8B030D-6E8A-4147-A177-3AD203B41FA5}">
                      <a16:colId xmlns:a16="http://schemas.microsoft.com/office/drawing/2014/main" val="399888629"/>
                    </a:ext>
                  </a:extLst>
                </a:gridCol>
                <a:gridCol w="1102511">
                  <a:extLst>
                    <a:ext uri="{9D8B030D-6E8A-4147-A177-3AD203B41FA5}">
                      <a16:colId xmlns:a16="http://schemas.microsoft.com/office/drawing/2014/main" val="9954084"/>
                    </a:ext>
                  </a:extLst>
                </a:gridCol>
                <a:gridCol w="1102511">
                  <a:extLst>
                    <a:ext uri="{9D8B030D-6E8A-4147-A177-3AD203B41FA5}">
                      <a16:colId xmlns:a16="http://schemas.microsoft.com/office/drawing/2014/main" val="1026558749"/>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ru-RU" sz="4800" b="0" dirty="0">
                          <a:solidFill>
                            <a:schemeClr val="tx1"/>
                          </a:solidFill>
                        </a:rPr>
                        <a:t>17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chemeClr val="tx1"/>
                          </a:solidFill>
                        </a:rPr>
                        <a:t>4</a:t>
                      </a:r>
                    </a:p>
                  </a:txBody>
                  <a:tcPr/>
                </a:tc>
                <a:tc>
                  <a:txBody>
                    <a:bodyPr/>
                    <a:lstStyle/>
                    <a:p>
                      <a:pPr algn="ctr"/>
                      <a:r>
                        <a:rPr lang="ru-RU" sz="4800" b="0" dirty="0">
                          <a:solidFill>
                            <a:schemeClr val="tx1"/>
                          </a:solidFill>
                        </a:rPr>
                        <a:t>36</a:t>
                      </a:r>
                    </a:p>
                  </a:txBody>
                  <a:tcPr/>
                </a:tc>
                <a:extLst>
                  <a:ext uri="{0D108BD9-81ED-4DB2-BD59-A6C34878D82A}">
                    <a16:rowId xmlns:a16="http://schemas.microsoft.com/office/drawing/2014/main" val="1997305274"/>
                  </a:ext>
                </a:extLst>
              </a:tr>
            </a:tbl>
          </a:graphicData>
        </a:graphic>
      </p:graphicFrame>
      <p:sp>
        <p:nvSpPr>
          <p:cNvPr id="11" name="Прямоугольник 10">
            <a:extLst>
              <a:ext uri="{FF2B5EF4-FFF2-40B4-BE49-F238E27FC236}">
                <a16:creationId xmlns:a16="http://schemas.microsoft.com/office/drawing/2014/main" id="{B10BC986-79BC-41B8-88A4-849B909FCF5C}"/>
              </a:ext>
            </a:extLst>
          </p:cNvPr>
          <p:cNvSpPr/>
          <p:nvPr/>
        </p:nvSpPr>
        <p:spPr>
          <a:xfrm>
            <a:off x="754573" y="2721114"/>
            <a:ext cx="3666388" cy="707886"/>
          </a:xfrm>
          <a:prstGeom prst="rect">
            <a:avLst/>
          </a:prstGeom>
        </p:spPr>
        <p:txBody>
          <a:bodyPr wrap="none">
            <a:spAutoFit/>
          </a:bodyPr>
          <a:lstStyle/>
          <a:p>
            <a:r>
              <a:rPr lang="en-US" sz="4000" dirty="0" err="1"/>
              <a:t>prefix_sum</a:t>
            </a:r>
            <a:r>
              <a:rPr lang="en-US" sz="4000" dirty="0"/>
              <a:t>(7)</a:t>
            </a:r>
            <a:endParaRPr lang="ru-RU" sz="4000" dirty="0"/>
          </a:p>
        </p:txBody>
      </p:sp>
      <p:sp>
        <p:nvSpPr>
          <p:cNvPr id="12" name="Прямоугольник 11">
            <a:extLst>
              <a:ext uri="{FF2B5EF4-FFF2-40B4-BE49-F238E27FC236}">
                <a16:creationId xmlns:a16="http://schemas.microsoft.com/office/drawing/2014/main" id="{D4F9902F-503D-4B74-8E9A-F0B9A38C0D7B}"/>
              </a:ext>
            </a:extLst>
          </p:cNvPr>
          <p:cNvSpPr/>
          <p:nvPr/>
        </p:nvSpPr>
        <p:spPr>
          <a:xfrm>
            <a:off x="4658702" y="2721114"/>
            <a:ext cx="1226618" cy="707886"/>
          </a:xfrm>
          <a:prstGeom prst="rect">
            <a:avLst/>
          </a:prstGeom>
        </p:spPr>
        <p:txBody>
          <a:bodyPr wrap="none">
            <a:spAutoFit/>
          </a:bodyPr>
          <a:lstStyle/>
          <a:p>
            <a:r>
              <a:rPr lang="en-US" sz="4000" dirty="0" err="1"/>
              <a:t>i</a:t>
            </a:r>
            <a:r>
              <a:rPr lang="en-US" sz="4000" dirty="0"/>
              <a:t> = 4</a:t>
            </a:r>
            <a:endParaRPr lang="ru-RU" sz="4000" dirty="0"/>
          </a:p>
        </p:txBody>
      </p:sp>
      <p:sp>
        <p:nvSpPr>
          <p:cNvPr id="13" name="Прямоугольник 12">
            <a:extLst>
              <a:ext uri="{FF2B5EF4-FFF2-40B4-BE49-F238E27FC236}">
                <a16:creationId xmlns:a16="http://schemas.microsoft.com/office/drawing/2014/main" id="{FAB81B5A-E085-4526-AC54-EC77F09A8615}"/>
              </a:ext>
            </a:extLst>
          </p:cNvPr>
          <p:cNvSpPr/>
          <p:nvPr/>
        </p:nvSpPr>
        <p:spPr>
          <a:xfrm>
            <a:off x="6345154" y="2721114"/>
            <a:ext cx="4801314" cy="707886"/>
          </a:xfrm>
          <a:prstGeom prst="rect">
            <a:avLst/>
          </a:prstGeom>
        </p:spPr>
        <p:txBody>
          <a:bodyPr wrap="none">
            <a:spAutoFit/>
          </a:bodyPr>
          <a:lstStyle/>
          <a:p>
            <a:r>
              <a:rPr lang="en-US" sz="4000" dirty="0"/>
              <a:t>sum =</a:t>
            </a:r>
            <a:r>
              <a:rPr lang="ru-RU" sz="4000" dirty="0"/>
              <a:t> </a:t>
            </a:r>
            <a:r>
              <a:rPr lang="en-US" sz="4000" dirty="0"/>
              <a:t>17</a:t>
            </a:r>
            <a:r>
              <a:rPr lang="ru-RU" sz="4000" dirty="0"/>
              <a:t> + </a:t>
            </a:r>
            <a:r>
              <a:rPr lang="en-US" sz="4000" dirty="0"/>
              <a:t>11 = 27 	</a:t>
            </a:r>
            <a:endParaRPr lang="ru-RU" sz="4000" dirty="0"/>
          </a:p>
        </p:txBody>
      </p:sp>
      <p:sp>
        <p:nvSpPr>
          <p:cNvPr id="14" name="Прямоугольник 13">
            <a:extLst>
              <a:ext uri="{FF2B5EF4-FFF2-40B4-BE49-F238E27FC236}">
                <a16:creationId xmlns:a16="http://schemas.microsoft.com/office/drawing/2014/main" id="{03FFD0AF-84BB-4494-A6F8-6BA27779F515}"/>
              </a:ext>
            </a:extLst>
          </p:cNvPr>
          <p:cNvSpPr/>
          <p:nvPr/>
        </p:nvSpPr>
        <p:spPr>
          <a:xfrm>
            <a:off x="754573" y="3937581"/>
            <a:ext cx="3680816" cy="707886"/>
          </a:xfrm>
          <a:prstGeom prst="rect">
            <a:avLst/>
          </a:prstGeom>
        </p:spPr>
        <p:txBody>
          <a:bodyPr wrap="none">
            <a:spAutoFit/>
          </a:bodyPr>
          <a:lstStyle/>
          <a:p>
            <a:r>
              <a:rPr lang="en-US" sz="4000" dirty="0" err="1"/>
              <a:t>i</a:t>
            </a:r>
            <a:r>
              <a:rPr lang="en-US" sz="4000" dirty="0"/>
              <a:t> ← </a:t>
            </a:r>
            <a:r>
              <a:rPr lang="en-US" sz="4000" dirty="0" err="1"/>
              <a:t>i</a:t>
            </a:r>
            <a:r>
              <a:rPr lang="en-US" sz="4000" dirty="0"/>
              <a:t> − </a:t>
            </a:r>
            <a:r>
              <a:rPr lang="en-US" sz="4000" dirty="0" err="1"/>
              <a:t>lowbit</a:t>
            </a:r>
            <a:r>
              <a:rPr lang="en-US" sz="4000" dirty="0"/>
              <a:t>(</a:t>
            </a:r>
            <a:r>
              <a:rPr lang="en-US" sz="4000" dirty="0" err="1"/>
              <a:t>i</a:t>
            </a:r>
            <a:r>
              <a:rPr lang="en-US" sz="4000" dirty="0"/>
              <a:t>)</a:t>
            </a:r>
            <a:endParaRPr lang="ru-RU" sz="4000" dirty="0"/>
          </a:p>
        </p:txBody>
      </p:sp>
      <p:sp>
        <p:nvSpPr>
          <p:cNvPr id="15" name="Прямоугольник 14">
            <a:extLst>
              <a:ext uri="{FF2B5EF4-FFF2-40B4-BE49-F238E27FC236}">
                <a16:creationId xmlns:a16="http://schemas.microsoft.com/office/drawing/2014/main" id="{E290ECF9-8412-4ADA-BC7F-649739AE4D6F}"/>
              </a:ext>
            </a:extLst>
          </p:cNvPr>
          <p:cNvSpPr/>
          <p:nvPr/>
        </p:nvSpPr>
        <p:spPr>
          <a:xfrm>
            <a:off x="740145" y="5359082"/>
            <a:ext cx="2143536" cy="707886"/>
          </a:xfrm>
          <a:prstGeom prst="rect">
            <a:avLst/>
          </a:prstGeom>
        </p:spPr>
        <p:txBody>
          <a:bodyPr wrap="none">
            <a:spAutoFit/>
          </a:bodyPr>
          <a:lstStyle/>
          <a:p>
            <a:r>
              <a:rPr lang="en-US" sz="4000" dirty="0" err="1"/>
              <a:t>i</a:t>
            </a:r>
            <a:r>
              <a:rPr lang="en-US" sz="4000" dirty="0"/>
              <a:t> ← 4 − 4</a:t>
            </a:r>
            <a:endParaRPr lang="ru-RU" sz="4000" dirty="0"/>
          </a:p>
        </p:txBody>
      </p:sp>
      <p:sp>
        <p:nvSpPr>
          <p:cNvPr id="16" name="Прямоугольник 15">
            <a:extLst>
              <a:ext uri="{FF2B5EF4-FFF2-40B4-BE49-F238E27FC236}">
                <a16:creationId xmlns:a16="http://schemas.microsoft.com/office/drawing/2014/main" id="{A5404A6E-10D5-4DFA-B898-44BB21A27A14}"/>
              </a:ext>
            </a:extLst>
          </p:cNvPr>
          <p:cNvSpPr/>
          <p:nvPr/>
        </p:nvSpPr>
        <p:spPr>
          <a:xfrm>
            <a:off x="5846848" y="3705600"/>
            <a:ext cx="3395459" cy="2554545"/>
          </a:xfrm>
          <a:prstGeom prst="rect">
            <a:avLst/>
          </a:prstGeom>
        </p:spPr>
        <p:txBody>
          <a:bodyPr wrap="square">
            <a:spAutoFit/>
          </a:bodyPr>
          <a:lstStyle/>
          <a:p>
            <a:r>
              <a:rPr lang="en-US" sz="4000" dirty="0"/>
              <a:t>4</a:t>
            </a:r>
            <a:r>
              <a:rPr lang="ru-RU" sz="4000" dirty="0"/>
              <a:t>  = </a:t>
            </a:r>
            <a:r>
              <a:rPr lang="en-US" sz="4000" dirty="0"/>
              <a:t>0100</a:t>
            </a:r>
            <a:endParaRPr lang="ru-RU" sz="4000" dirty="0"/>
          </a:p>
          <a:p>
            <a:r>
              <a:rPr lang="ru-RU" sz="4000" dirty="0"/>
              <a:t>-</a:t>
            </a:r>
            <a:r>
              <a:rPr lang="en-US" sz="4000" dirty="0"/>
              <a:t>4</a:t>
            </a:r>
            <a:r>
              <a:rPr lang="ru-RU" sz="4000" dirty="0"/>
              <a:t> = </a:t>
            </a:r>
            <a:r>
              <a:rPr lang="en-US" sz="4000" dirty="0"/>
              <a:t>1100</a:t>
            </a:r>
            <a:endParaRPr lang="ru-RU" sz="4000" dirty="0"/>
          </a:p>
          <a:p>
            <a:r>
              <a:rPr lang="ru-RU" sz="4000" dirty="0"/>
              <a:t>------------</a:t>
            </a:r>
          </a:p>
          <a:p>
            <a:r>
              <a:rPr lang="ru-RU" sz="4000" dirty="0"/>
              <a:t>&amp;  = </a:t>
            </a:r>
            <a:r>
              <a:rPr lang="en-US" sz="4000" dirty="0"/>
              <a:t>0100</a:t>
            </a:r>
            <a:r>
              <a:rPr lang="ru-RU" sz="4000" dirty="0"/>
              <a:t> = </a:t>
            </a:r>
            <a:r>
              <a:rPr lang="en-US" sz="4000" dirty="0"/>
              <a:t>4</a:t>
            </a:r>
            <a:endParaRPr lang="ru-RU" sz="4000" dirty="0"/>
          </a:p>
        </p:txBody>
      </p:sp>
    </p:spTree>
    <p:extLst>
      <p:ext uri="{BB962C8B-B14F-4D97-AF65-F5344CB8AC3E}">
        <p14:creationId xmlns:p14="http://schemas.microsoft.com/office/powerpoint/2010/main" val="10673948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451B5D-FDC3-4063-85E3-1DF9F7DD6BAE}"/>
              </a:ext>
            </a:extLst>
          </p:cNvPr>
          <p:cNvSpPr>
            <a:spLocks noGrp="1"/>
          </p:cNvSpPr>
          <p:nvPr>
            <p:ph type="title"/>
          </p:nvPr>
        </p:nvSpPr>
        <p:spPr/>
        <p:txBody>
          <a:bodyPr/>
          <a:lstStyle/>
          <a:p>
            <a:r>
              <a:rPr lang="ru-RU"/>
              <a:t>Получение префиксной суммы</a:t>
            </a:r>
            <a:endParaRPr lang="ru-RU" dirty="0"/>
          </a:p>
        </p:txBody>
      </p:sp>
      <p:sp>
        <p:nvSpPr>
          <p:cNvPr id="7" name="Текст 6">
            <a:extLst>
              <a:ext uri="{FF2B5EF4-FFF2-40B4-BE49-F238E27FC236}">
                <a16:creationId xmlns:a16="http://schemas.microsoft.com/office/drawing/2014/main" id="{D6923171-1912-4C07-8C89-7C669C3ACA99}"/>
              </a:ext>
            </a:extLst>
          </p:cNvPr>
          <p:cNvSpPr>
            <a:spLocks noGrp="1"/>
          </p:cNvSpPr>
          <p:nvPr>
            <p:ph type="body" sz="quarter" idx="19"/>
          </p:nvPr>
        </p:nvSpPr>
        <p:spPr/>
        <p:txBody>
          <a:bodyPr/>
          <a:lstStyle/>
          <a:p>
            <a:endParaRPr lang="ru-RU"/>
          </a:p>
        </p:txBody>
      </p:sp>
      <p:graphicFrame>
        <p:nvGraphicFramePr>
          <p:cNvPr id="10" name="Таблица 9">
            <a:extLst>
              <a:ext uri="{FF2B5EF4-FFF2-40B4-BE49-F238E27FC236}">
                <a16:creationId xmlns:a16="http://schemas.microsoft.com/office/drawing/2014/main" id="{0450A18E-A9A3-4027-BF43-90F9A705E888}"/>
              </a:ext>
            </a:extLst>
          </p:cNvPr>
          <p:cNvGraphicFramePr>
            <a:graphicFrameLocks noGrp="1"/>
          </p:cNvGraphicFramePr>
          <p:nvPr/>
        </p:nvGraphicFramePr>
        <p:xfrm>
          <a:off x="1600262" y="1498918"/>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2083962846"/>
                    </a:ext>
                  </a:extLst>
                </a:gridCol>
                <a:gridCol w="1102511">
                  <a:extLst>
                    <a:ext uri="{9D8B030D-6E8A-4147-A177-3AD203B41FA5}">
                      <a16:colId xmlns:a16="http://schemas.microsoft.com/office/drawing/2014/main" val="3362560792"/>
                    </a:ext>
                  </a:extLst>
                </a:gridCol>
                <a:gridCol w="1102511">
                  <a:extLst>
                    <a:ext uri="{9D8B030D-6E8A-4147-A177-3AD203B41FA5}">
                      <a16:colId xmlns:a16="http://schemas.microsoft.com/office/drawing/2014/main" val="2902360567"/>
                    </a:ext>
                  </a:extLst>
                </a:gridCol>
                <a:gridCol w="1102511">
                  <a:extLst>
                    <a:ext uri="{9D8B030D-6E8A-4147-A177-3AD203B41FA5}">
                      <a16:colId xmlns:a16="http://schemas.microsoft.com/office/drawing/2014/main" val="3683038319"/>
                    </a:ext>
                  </a:extLst>
                </a:gridCol>
                <a:gridCol w="1102511">
                  <a:extLst>
                    <a:ext uri="{9D8B030D-6E8A-4147-A177-3AD203B41FA5}">
                      <a16:colId xmlns:a16="http://schemas.microsoft.com/office/drawing/2014/main" val="1709151692"/>
                    </a:ext>
                  </a:extLst>
                </a:gridCol>
                <a:gridCol w="1102511">
                  <a:extLst>
                    <a:ext uri="{9D8B030D-6E8A-4147-A177-3AD203B41FA5}">
                      <a16:colId xmlns:a16="http://schemas.microsoft.com/office/drawing/2014/main" val="399888629"/>
                    </a:ext>
                  </a:extLst>
                </a:gridCol>
                <a:gridCol w="1102511">
                  <a:extLst>
                    <a:ext uri="{9D8B030D-6E8A-4147-A177-3AD203B41FA5}">
                      <a16:colId xmlns:a16="http://schemas.microsoft.com/office/drawing/2014/main" val="9954084"/>
                    </a:ext>
                  </a:extLst>
                </a:gridCol>
                <a:gridCol w="1102511">
                  <a:extLst>
                    <a:ext uri="{9D8B030D-6E8A-4147-A177-3AD203B41FA5}">
                      <a16:colId xmlns:a16="http://schemas.microsoft.com/office/drawing/2014/main" val="1026558749"/>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ru-RU" sz="4800" b="0" dirty="0">
                          <a:solidFill>
                            <a:schemeClr val="tx1"/>
                          </a:solidFill>
                        </a:rPr>
                        <a:t>17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chemeClr val="tx1"/>
                          </a:solidFill>
                        </a:rPr>
                        <a:t>4</a:t>
                      </a:r>
                    </a:p>
                  </a:txBody>
                  <a:tcPr/>
                </a:tc>
                <a:tc>
                  <a:txBody>
                    <a:bodyPr/>
                    <a:lstStyle/>
                    <a:p>
                      <a:pPr algn="ctr"/>
                      <a:r>
                        <a:rPr lang="ru-RU" sz="4800" b="0" dirty="0">
                          <a:solidFill>
                            <a:schemeClr val="tx1"/>
                          </a:solidFill>
                        </a:rPr>
                        <a:t>36</a:t>
                      </a:r>
                    </a:p>
                  </a:txBody>
                  <a:tcPr/>
                </a:tc>
                <a:extLst>
                  <a:ext uri="{0D108BD9-81ED-4DB2-BD59-A6C34878D82A}">
                    <a16:rowId xmlns:a16="http://schemas.microsoft.com/office/drawing/2014/main" val="1997305274"/>
                  </a:ext>
                </a:extLst>
              </a:tr>
            </a:tbl>
          </a:graphicData>
        </a:graphic>
      </p:graphicFrame>
      <p:sp>
        <p:nvSpPr>
          <p:cNvPr id="11" name="Прямоугольник 10">
            <a:extLst>
              <a:ext uri="{FF2B5EF4-FFF2-40B4-BE49-F238E27FC236}">
                <a16:creationId xmlns:a16="http://schemas.microsoft.com/office/drawing/2014/main" id="{B10BC986-79BC-41B8-88A4-849B909FCF5C}"/>
              </a:ext>
            </a:extLst>
          </p:cNvPr>
          <p:cNvSpPr/>
          <p:nvPr/>
        </p:nvSpPr>
        <p:spPr>
          <a:xfrm>
            <a:off x="754573" y="2721114"/>
            <a:ext cx="3666388" cy="707886"/>
          </a:xfrm>
          <a:prstGeom prst="rect">
            <a:avLst/>
          </a:prstGeom>
        </p:spPr>
        <p:txBody>
          <a:bodyPr wrap="none">
            <a:spAutoFit/>
          </a:bodyPr>
          <a:lstStyle/>
          <a:p>
            <a:r>
              <a:rPr lang="en-US" sz="4000" dirty="0" err="1"/>
              <a:t>prefix_sum</a:t>
            </a:r>
            <a:r>
              <a:rPr lang="en-US" sz="4000" dirty="0"/>
              <a:t>(7)</a:t>
            </a:r>
            <a:endParaRPr lang="ru-RU" sz="4000" dirty="0"/>
          </a:p>
        </p:txBody>
      </p:sp>
      <p:sp>
        <p:nvSpPr>
          <p:cNvPr id="12" name="Прямоугольник 11">
            <a:extLst>
              <a:ext uri="{FF2B5EF4-FFF2-40B4-BE49-F238E27FC236}">
                <a16:creationId xmlns:a16="http://schemas.microsoft.com/office/drawing/2014/main" id="{D4F9902F-503D-4B74-8E9A-F0B9A38C0D7B}"/>
              </a:ext>
            </a:extLst>
          </p:cNvPr>
          <p:cNvSpPr/>
          <p:nvPr/>
        </p:nvSpPr>
        <p:spPr>
          <a:xfrm>
            <a:off x="4658702" y="2721114"/>
            <a:ext cx="1226618" cy="707886"/>
          </a:xfrm>
          <a:prstGeom prst="rect">
            <a:avLst/>
          </a:prstGeom>
        </p:spPr>
        <p:txBody>
          <a:bodyPr wrap="none">
            <a:spAutoFit/>
          </a:bodyPr>
          <a:lstStyle/>
          <a:p>
            <a:r>
              <a:rPr lang="en-US" sz="4000" dirty="0" err="1"/>
              <a:t>i</a:t>
            </a:r>
            <a:r>
              <a:rPr lang="en-US" sz="4000" dirty="0"/>
              <a:t> = 0</a:t>
            </a:r>
            <a:endParaRPr lang="ru-RU" sz="4000" dirty="0"/>
          </a:p>
        </p:txBody>
      </p:sp>
      <p:sp>
        <p:nvSpPr>
          <p:cNvPr id="13" name="Прямоугольник 12">
            <a:extLst>
              <a:ext uri="{FF2B5EF4-FFF2-40B4-BE49-F238E27FC236}">
                <a16:creationId xmlns:a16="http://schemas.microsoft.com/office/drawing/2014/main" id="{FAB81B5A-E085-4526-AC54-EC77F09A8615}"/>
              </a:ext>
            </a:extLst>
          </p:cNvPr>
          <p:cNvSpPr/>
          <p:nvPr/>
        </p:nvSpPr>
        <p:spPr>
          <a:xfrm>
            <a:off x="6345154" y="2721114"/>
            <a:ext cx="2954655" cy="707886"/>
          </a:xfrm>
          <a:prstGeom prst="rect">
            <a:avLst/>
          </a:prstGeom>
        </p:spPr>
        <p:txBody>
          <a:bodyPr wrap="none">
            <a:spAutoFit/>
          </a:bodyPr>
          <a:lstStyle/>
          <a:p>
            <a:r>
              <a:rPr lang="en-US" sz="4000" dirty="0"/>
              <a:t>sum = 27 	</a:t>
            </a:r>
            <a:endParaRPr lang="ru-RU" sz="4000" dirty="0"/>
          </a:p>
        </p:txBody>
      </p:sp>
      <p:sp>
        <p:nvSpPr>
          <p:cNvPr id="17" name="Прямоугольник: скругленные углы 16">
            <a:extLst>
              <a:ext uri="{FF2B5EF4-FFF2-40B4-BE49-F238E27FC236}">
                <a16:creationId xmlns:a16="http://schemas.microsoft.com/office/drawing/2014/main" id="{B5D5FD95-C2A0-4F44-994A-9704289F854E}"/>
              </a:ext>
            </a:extLst>
          </p:cNvPr>
          <p:cNvSpPr/>
          <p:nvPr/>
        </p:nvSpPr>
        <p:spPr>
          <a:xfrm>
            <a:off x="635702" y="3568985"/>
            <a:ext cx="3904129" cy="14541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O(log(n))</a:t>
            </a:r>
            <a:endParaRPr lang="ru-RU" sz="4400" dirty="0"/>
          </a:p>
        </p:txBody>
      </p:sp>
      <p:sp>
        <p:nvSpPr>
          <p:cNvPr id="18" name="Прямоугольник: скругленные углы 17">
            <a:extLst>
              <a:ext uri="{FF2B5EF4-FFF2-40B4-BE49-F238E27FC236}">
                <a16:creationId xmlns:a16="http://schemas.microsoft.com/office/drawing/2014/main" id="{58EF5DBC-18AD-4B15-B38C-9F802FB06BA2}"/>
              </a:ext>
            </a:extLst>
          </p:cNvPr>
          <p:cNvSpPr/>
          <p:nvPr/>
        </p:nvSpPr>
        <p:spPr>
          <a:xfrm>
            <a:off x="635702" y="5254614"/>
            <a:ext cx="11348845" cy="14541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4400" dirty="0"/>
              <a:t>sum(l,r)=prefix_sum(r)−prefix_sum(l−1)</a:t>
            </a:r>
            <a:endParaRPr lang="ru-RU" sz="4400" dirty="0"/>
          </a:p>
        </p:txBody>
      </p:sp>
    </p:spTree>
    <p:extLst>
      <p:ext uri="{BB962C8B-B14F-4D97-AF65-F5344CB8AC3E}">
        <p14:creationId xmlns:p14="http://schemas.microsoft.com/office/powerpoint/2010/main" val="5530922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451B5D-FDC3-4063-85E3-1DF9F7DD6BAE}"/>
              </a:ext>
            </a:extLst>
          </p:cNvPr>
          <p:cNvSpPr>
            <a:spLocks noGrp="1"/>
          </p:cNvSpPr>
          <p:nvPr>
            <p:ph type="title"/>
          </p:nvPr>
        </p:nvSpPr>
        <p:spPr/>
        <p:txBody>
          <a:bodyPr/>
          <a:lstStyle/>
          <a:p>
            <a:r>
              <a:rPr lang="ru-RU" dirty="0"/>
              <a:t>Точечное обновление</a:t>
            </a:r>
          </a:p>
        </p:txBody>
      </p:sp>
      <p:sp>
        <p:nvSpPr>
          <p:cNvPr id="7" name="Текст 6">
            <a:extLst>
              <a:ext uri="{FF2B5EF4-FFF2-40B4-BE49-F238E27FC236}">
                <a16:creationId xmlns:a16="http://schemas.microsoft.com/office/drawing/2014/main" id="{D6923171-1912-4C07-8C89-7C669C3ACA99}"/>
              </a:ext>
            </a:extLst>
          </p:cNvPr>
          <p:cNvSpPr>
            <a:spLocks noGrp="1"/>
          </p:cNvSpPr>
          <p:nvPr>
            <p:ph type="body" sz="quarter" idx="19"/>
          </p:nvPr>
        </p:nvSpPr>
        <p:spPr/>
        <p:txBody>
          <a:bodyPr/>
          <a:lstStyle/>
          <a:p>
            <a:endParaRPr lang="ru-RU"/>
          </a:p>
        </p:txBody>
      </p:sp>
      <p:graphicFrame>
        <p:nvGraphicFramePr>
          <p:cNvPr id="10" name="Таблица 9">
            <a:extLst>
              <a:ext uri="{FF2B5EF4-FFF2-40B4-BE49-F238E27FC236}">
                <a16:creationId xmlns:a16="http://schemas.microsoft.com/office/drawing/2014/main" id="{0450A18E-A9A3-4027-BF43-90F9A705E888}"/>
              </a:ext>
            </a:extLst>
          </p:cNvPr>
          <p:cNvGraphicFramePr>
            <a:graphicFrameLocks noGrp="1"/>
          </p:cNvGraphicFramePr>
          <p:nvPr>
            <p:extLst>
              <p:ext uri="{D42A27DB-BD31-4B8C-83A1-F6EECF244321}">
                <p14:modId xmlns:p14="http://schemas.microsoft.com/office/powerpoint/2010/main" val="2600373432"/>
              </p:ext>
            </p:extLst>
          </p:nvPr>
        </p:nvGraphicFramePr>
        <p:xfrm>
          <a:off x="1600262" y="1498918"/>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2083962846"/>
                    </a:ext>
                  </a:extLst>
                </a:gridCol>
                <a:gridCol w="1102511">
                  <a:extLst>
                    <a:ext uri="{9D8B030D-6E8A-4147-A177-3AD203B41FA5}">
                      <a16:colId xmlns:a16="http://schemas.microsoft.com/office/drawing/2014/main" val="3362560792"/>
                    </a:ext>
                  </a:extLst>
                </a:gridCol>
                <a:gridCol w="1102511">
                  <a:extLst>
                    <a:ext uri="{9D8B030D-6E8A-4147-A177-3AD203B41FA5}">
                      <a16:colId xmlns:a16="http://schemas.microsoft.com/office/drawing/2014/main" val="2902360567"/>
                    </a:ext>
                  </a:extLst>
                </a:gridCol>
                <a:gridCol w="1102511">
                  <a:extLst>
                    <a:ext uri="{9D8B030D-6E8A-4147-A177-3AD203B41FA5}">
                      <a16:colId xmlns:a16="http://schemas.microsoft.com/office/drawing/2014/main" val="3683038319"/>
                    </a:ext>
                  </a:extLst>
                </a:gridCol>
                <a:gridCol w="1102511">
                  <a:extLst>
                    <a:ext uri="{9D8B030D-6E8A-4147-A177-3AD203B41FA5}">
                      <a16:colId xmlns:a16="http://schemas.microsoft.com/office/drawing/2014/main" val="1709151692"/>
                    </a:ext>
                  </a:extLst>
                </a:gridCol>
                <a:gridCol w="1102511">
                  <a:extLst>
                    <a:ext uri="{9D8B030D-6E8A-4147-A177-3AD203B41FA5}">
                      <a16:colId xmlns:a16="http://schemas.microsoft.com/office/drawing/2014/main" val="399888629"/>
                    </a:ext>
                  </a:extLst>
                </a:gridCol>
                <a:gridCol w="1102511">
                  <a:extLst>
                    <a:ext uri="{9D8B030D-6E8A-4147-A177-3AD203B41FA5}">
                      <a16:colId xmlns:a16="http://schemas.microsoft.com/office/drawing/2014/main" val="9954084"/>
                    </a:ext>
                  </a:extLst>
                </a:gridCol>
                <a:gridCol w="1102511">
                  <a:extLst>
                    <a:ext uri="{9D8B030D-6E8A-4147-A177-3AD203B41FA5}">
                      <a16:colId xmlns:a16="http://schemas.microsoft.com/office/drawing/2014/main" val="1026558749"/>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rgbClr val="FF0000"/>
                          </a:solidFill>
                        </a:rPr>
                        <a:t>10</a:t>
                      </a:r>
                      <a:endParaRPr lang="ru-RU" sz="4800" b="0" dirty="0">
                        <a:solidFill>
                          <a:srgbClr val="FF0000"/>
                        </a:solidFill>
                      </a:endParaRPr>
                    </a:p>
                  </a:txBody>
                  <a:tcPr/>
                </a:tc>
                <a:tc>
                  <a:txBody>
                    <a:bodyPr/>
                    <a:lstStyle/>
                    <a:p>
                      <a:pPr algn="ctr"/>
                      <a:r>
                        <a:rPr lang="ru-RU" sz="4800" b="0" dirty="0">
                          <a:solidFill>
                            <a:srgbClr val="92D050"/>
                          </a:solidFill>
                        </a:rPr>
                        <a:t>17</a:t>
                      </a: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chemeClr val="tx1"/>
                          </a:solidFill>
                        </a:rPr>
                        <a:t>4</a:t>
                      </a:r>
                    </a:p>
                  </a:txBody>
                  <a:tcPr/>
                </a:tc>
                <a:tc>
                  <a:txBody>
                    <a:bodyPr/>
                    <a:lstStyle/>
                    <a:p>
                      <a:pPr algn="ctr"/>
                      <a:r>
                        <a:rPr lang="ru-RU" sz="4800" b="0" dirty="0">
                          <a:solidFill>
                            <a:srgbClr val="92D050"/>
                          </a:solidFill>
                        </a:rPr>
                        <a:t>36</a:t>
                      </a:r>
                    </a:p>
                  </a:txBody>
                  <a:tcPr/>
                </a:tc>
                <a:extLst>
                  <a:ext uri="{0D108BD9-81ED-4DB2-BD59-A6C34878D82A}">
                    <a16:rowId xmlns:a16="http://schemas.microsoft.com/office/drawing/2014/main" val="1997305274"/>
                  </a:ext>
                </a:extLst>
              </a:tr>
            </a:tbl>
          </a:graphicData>
        </a:graphic>
      </p:graphicFrame>
      <p:sp>
        <p:nvSpPr>
          <p:cNvPr id="13" name="Прямоугольник 12">
            <a:extLst>
              <a:ext uri="{FF2B5EF4-FFF2-40B4-BE49-F238E27FC236}">
                <a16:creationId xmlns:a16="http://schemas.microsoft.com/office/drawing/2014/main" id="{FAB81B5A-E085-4526-AC54-EC77F09A8615}"/>
              </a:ext>
            </a:extLst>
          </p:cNvPr>
          <p:cNvSpPr/>
          <p:nvPr/>
        </p:nvSpPr>
        <p:spPr>
          <a:xfrm>
            <a:off x="1600262" y="2639377"/>
            <a:ext cx="3877985" cy="707886"/>
          </a:xfrm>
          <a:prstGeom prst="rect">
            <a:avLst/>
          </a:prstGeom>
        </p:spPr>
        <p:txBody>
          <a:bodyPr wrap="none">
            <a:spAutoFit/>
          </a:bodyPr>
          <a:lstStyle/>
          <a:p>
            <a:r>
              <a:rPr lang="en-US" sz="4000" dirty="0"/>
              <a:t>update(3,10) 	</a:t>
            </a:r>
            <a:endParaRPr lang="ru-RU" sz="4000" dirty="0"/>
          </a:p>
        </p:txBody>
      </p:sp>
      <p:sp>
        <p:nvSpPr>
          <p:cNvPr id="3" name="Прямоугольник 2">
            <a:extLst>
              <a:ext uri="{FF2B5EF4-FFF2-40B4-BE49-F238E27FC236}">
                <a16:creationId xmlns:a16="http://schemas.microsoft.com/office/drawing/2014/main" id="{76D33DE2-9BA1-410E-B406-6F4EAC8A67E7}"/>
              </a:ext>
            </a:extLst>
          </p:cNvPr>
          <p:cNvSpPr/>
          <p:nvPr/>
        </p:nvSpPr>
        <p:spPr>
          <a:xfrm>
            <a:off x="6713755" y="2703314"/>
            <a:ext cx="2552302" cy="707886"/>
          </a:xfrm>
          <a:prstGeom prst="rect">
            <a:avLst/>
          </a:prstGeom>
        </p:spPr>
        <p:txBody>
          <a:bodyPr wrap="none">
            <a:spAutoFit/>
          </a:bodyPr>
          <a:lstStyle/>
          <a:p>
            <a:r>
              <a:rPr lang="el-GR" sz="4000" dirty="0"/>
              <a:t>Δ=10−7=3</a:t>
            </a:r>
            <a:endParaRPr lang="ru-RU" sz="4000" dirty="0"/>
          </a:p>
        </p:txBody>
      </p:sp>
      <p:sp>
        <p:nvSpPr>
          <p:cNvPr id="15" name="Прямоугольник 14">
            <a:extLst>
              <a:ext uri="{FF2B5EF4-FFF2-40B4-BE49-F238E27FC236}">
                <a16:creationId xmlns:a16="http://schemas.microsoft.com/office/drawing/2014/main" id="{BC8A6DB6-E00D-4595-8CFD-CE5C1DC16052}"/>
              </a:ext>
            </a:extLst>
          </p:cNvPr>
          <p:cNvSpPr/>
          <p:nvPr/>
        </p:nvSpPr>
        <p:spPr>
          <a:xfrm>
            <a:off x="1600262" y="3778768"/>
            <a:ext cx="3680816" cy="707886"/>
          </a:xfrm>
          <a:prstGeom prst="rect">
            <a:avLst/>
          </a:prstGeom>
        </p:spPr>
        <p:txBody>
          <a:bodyPr wrap="none">
            <a:spAutoFit/>
          </a:bodyPr>
          <a:lstStyle/>
          <a:p>
            <a:r>
              <a:rPr lang="en-US" sz="4000" dirty="0" err="1"/>
              <a:t>i</a:t>
            </a:r>
            <a:r>
              <a:rPr lang="en-US" sz="4000" dirty="0"/>
              <a:t> ← </a:t>
            </a:r>
            <a:r>
              <a:rPr lang="en-US" sz="4000" dirty="0" err="1"/>
              <a:t>i</a:t>
            </a:r>
            <a:r>
              <a:rPr lang="en-US" sz="4000" dirty="0"/>
              <a:t> + </a:t>
            </a:r>
            <a:r>
              <a:rPr lang="en-US" sz="4000" dirty="0" err="1"/>
              <a:t>lowbit</a:t>
            </a:r>
            <a:r>
              <a:rPr lang="en-US" sz="4000" dirty="0"/>
              <a:t>(</a:t>
            </a:r>
            <a:r>
              <a:rPr lang="en-US" sz="4000" dirty="0" err="1"/>
              <a:t>i</a:t>
            </a:r>
            <a:r>
              <a:rPr lang="en-US" sz="4000" dirty="0"/>
              <a:t>)</a:t>
            </a:r>
            <a:endParaRPr lang="ru-RU" sz="4000" dirty="0"/>
          </a:p>
        </p:txBody>
      </p:sp>
    </p:spTree>
    <p:extLst>
      <p:ext uri="{BB962C8B-B14F-4D97-AF65-F5344CB8AC3E}">
        <p14:creationId xmlns:p14="http://schemas.microsoft.com/office/powerpoint/2010/main" val="2501292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451B5D-FDC3-4063-85E3-1DF9F7DD6BAE}"/>
              </a:ext>
            </a:extLst>
          </p:cNvPr>
          <p:cNvSpPr>
            <a:spLocks noGrp="1"/>
          </p:cNvSpPr>
          <p:nvPr>
            <p:ph type="title"/>
          </p:nvPr>
        </p:nvSpPr>
        <p:spPr/>
        <p:txBody>
          <a:bodyPr/>
          <a:lstStyle/>
          <a:p>
            <a:r>
              <a:rPr lang="ru-RU" dirty="0"/>
              <a:t>Точечное обновление</a:t>
            </a:r>
          </a:p>
        </p:txBody>
      </p:sp>
      <p:sp>
        <p:nvSpPr>
          <p:cNvPr id="7" name="Текст 6">
            <a:extLst>
              <a:ext uri="{FF2B5EF4-FFF2-40B4-BE49-F238E27FC236}">
                <a16:creationId xmlns:a16="http://schemas.microsoft.com/office/drawing/2014/main" id="{D6923171-1912-4C07-8C89-7C669C3ACA99}"/>
              </a:ext>
            </a:extLst>
          </p:cNvPr>
          <p:cNvSpPr>
            <a:spLocks noGrp="1"/>
          </p:cNvSpPr>
          <p:nvPr>
            <p:ph type="body" sz="quarter" idx="19"/>
          </p:nvPr>
        </p:nvSpPr>
        <p:spPr/>
        <p:txBody>
          <a:bodyPr/>
          <a:lstStyle/>
          <a:p>
            <a:endParaRPr lang="ru-RU"/>
          </a:p>
        </p:txBody>
      </p:sp>
      <p:graphicFrame>
        <p:nvGraphicFramePr>
          <p:cNvPr id="10" name="Таблица 9">
            <a:extLst>
              <a:ext uri="{FF2B5EF4-FFF2-40B4-BE49-F238E27FC236}">
                <a16:creationId xmlns:a16="http://schemas.microsoft.com/office/drawing/2014/main" id="{0450A18E-A9A3-4027-BF43-90F9A705E888}"/>
              </a:ext>
            </a:extLst>
          </p:cNvPr>
          <p:cNvGraphicFramePr>
            <a:graphicFrameLocks noGrp="1"/>
          </p:cNvGraphicFramePr>
          <p:nvPr>
            <p:extLst>
              <p:ext uri="{D42A27DB-BD31-4B8C-83A1-F6EECF244321}">
                <p14:modId xmlns:p14="http://schemas.microsoft.com/office/powerpoint/2010/main" val="4050174156"/>
              </p:ext>
            </p:extLst>
          </p:nvPr>
        </p:nvGraphicFramePr>
        <p:xfrm>
          <a:off x="1600262" y="1498918"/>
          <a:ext cx="8820088" cy="822960"/>
        </p:xfrm>
        <a:graphic>
          <a:graphicData uri="http://schemas.openxmlformats.org/drawingml/2006/table">
            <a:tbl>
              <a:tblPr firstRow="1" bandRow="1">
                <a:tableStyleId>{616DA210-FB5B-4158-B5E0-FEB733F419BA}</a:tableStyleId>
              </a:tblPr>
              <a:tblGrid>
                <a:gridCol w="1102511">
                  <a:extLst>
                    <a:ext uri="{9D8B030D-6E8A-4147-A177-3AD203B41FA5}">
                      <a16:colId xmlns:a16="http://schemas.microsoft.com/office/drawing/2014/main" val="2083962846"/>
                    </a:ext>
                  </a:extLst>
                </a:gridCol>
                <a:gridCol w="1102511">
                  <a:extLst>
                    <a:ext uri="{9D8B030D-6E8A-4147-A177-3AD203B41FA5}">
                      <a16:colId xmlns:a16="http://schemas.microsoft.com/office/drawing/2014/main" val="3362560792"/>
                    </a:ext>
                  </a:extLst>
                </a:gridCol>
                <a:gridCol w="1102511">
                  <a:extLst>
                    <a:ext uri="{9D8B030D-6E8A-4147-A177-3AD203B41FA5}">
                      <a16:colId xmlns:a16="http://schemas.microsoft.com/office/drawing/2014/main" val="2902360567"/>
                    </a:ext>
                  </a:extLst>
                </a:gridCol>
                <a:gridCol w="1102511">
                  <a:extLst>
                    <a:ext uri="{9D8B030D-6E8A-4147-A177-3AD203B41FA5}">
                      <a16:colId xmlns:a16="http://schemas.microsoft.com/office/drawing/2014/main" val="3683038319"/>
                    </a:ext>
                  </a:extLst>
                </a:gridCol>
                <a:gridCol w="1102511">
                  <a:extLst>
                    <a:ext uri="{9D8B030D-6E8A-4147-A177-3AD203B41FA5}">
                      <a16:colId xmlns:a16="http://schemas.microsoft.com/office/drawing/2014/main" val="1709151692"/>
                    </a:ext>
                  </a:extLst>
                </a:gridCol>
                <a:gridCol w="1102511">
                  <a:extLst>
                    <a:ext uri="{9D8B030D-6E8A-4147-A177-3AD203B41FA5}">
                      <a16:colId xmlns:a16="http://schemas.microsoft.com/office/drawing/2014/main" val="399888629"/>
                    </a:ext>
                  </a:extLst>
                </a:gridCol>
                <a:gridCol w="1102511">
                  <a:extLst>
                    <a:ext uri="{9D8B030D-6E8A-4147-A177-3AD203B41FA5}">
                      <a16:colId xmlns:a16="http://schemas.microsoft.com/office/drawing/2014/main" val="9954084"/>
                    </a:ext>
                  </a:extLst>
                </a:gridCol>
                <a:gridCol w="1102511">
                  <a:extLst>
                    <a:ext uri="{9D8B030D-6E8A-4147-A177-3AD203B41FA5}">
                      <a16:colId xmlns:a16="http://schemas.microsoft.com/office/drawing/2014/main" val="1026558749"/>
                    </a:ext>
                  </a:extLst>
                </a:gridCol>
              </a:tblGrid>
              <a:tr h="764582">
                <a:tc>
                  <a:txBody>
                    <a:bodyPr/>
                    <a:lstStyle/>
                    <a:p>
                      <a:pPr algn="ctr"/>
                      <a:r>
                        <a:rPr lang="en-US" sz="4800" b="0" dirty="0">
                          <a:solidFill>
                            <a:schemeClr val="tx1"/>
                          </a:solidFill>
                        </a:rPr>
                        <a:t>5</a:t>
                      </a:r>
                      <a:endParaRPr lang="ru-RU" sz="4800" b="0" dirty="0">
                        <a:solidFill>
                          <a:schemeClr val="tx1"/>
                        </a:solidFill>
                      </a:endParaRPr>
                    </a:p>
                  </a:txBody>
                  <a:tcPr/>
                </a:tc>
                <a:tc>
                  <a:txBody>
                    <a:bodyPr/>
                    <a:lstStyle/>
                    <a:p>
                      <a:pPr algn="ctr"/>
                      <a:r>
                        <a:rPr lang="en-US" sz="4800" b="0" dirty="0">
                          <a:solidFill>
                            <a:schemeClr val="tx1"/>
                          </a:solidFill>
                        </a:rPr>
                        <a:t>7</a:t>
                      </a:r>
                      <a:endParaRPr lang="ru-RU" sz="4800" b="0" dirty="0">
                        <a:solidFill>
                          <a:schemeClr val="tx1"/>
                        </a:solidFill>
                      </a:endParaRPr>
                    </a:p>
                  </a:txBody>
                  <a:tcPr/>
                </a:tc>
                <a:tc>
                  <a:txBody>
                    <a:bodyPr/>
                    <a:lstStyle/>
                    <a:p>
                      <a:pPr algn="ctr"/>
                      <a:r>
                        <a:rPr lang="en-US" sz="4800" b="0" dirty="0">
                          <a:solidFill>
                            <a:srgbClr val="FF0000"/>
                          </a:solidFill>
                        </a:rPr>
                        <a:t>10</a:t>
                      </a:r>
                      <a:endParaRPr lang="ru-RU" sz="4800" b="0" dirty="0">
                        <a:solidFill>
                          <a:srgbClr val="FF0000"/>
                        </a:solidFill>
                      </a:endParaRPr>
                    </a:p>
                  </a:txBody>
                  <a:tcPr/>
                </a:tc>
                <a:tc>
                  <a:txBody>
                    <a:bodyPr/>
                    <a:lstStyle/>
                    <a:p>
                      <a:pPr algn="ctr"/>
                      <a:r>
                        <a:rPr lang="en-US" sz="4800" b="0" dirty="0">
                          <a:solidFill>
                            <a:srgbClr val="FF0000"/>
                          </a:solidFill>
                        </a:rPr>
                        <a:t>20</a:t>
                      </a:r>
                      <a:endParaRPr lang="ru-RU" sz="4800" b="0" dirty="0">
                        <a:solidFill>
                          <a:srgbClr val="FF0000"/>
                        </a:solidFill>
                      </a:endParaRPr>
                    </a:p>
                  </a:txBody>
                  <a:tcPr/>
                </a:tc>
                <a:tc>
                  <a:txBody>
                    <a:bodyPr/>
                    <a:lstStyle/>
                    <a:p>
                      <a:pPr algn="ctr"/>
                      <a:r>
                        <a:rPr lang="en-US" sz="4800" b="0" dirty="0">
                          <a:solidFill>
                            <a:schemeClr val="tx1"/>
                          </a:solidFill>
                        </a:rPr>
                        <a:t>6</a:t>
                      </a:r>
                      <a:endParaRPr lang="ru-RU" sz="4800" b="0" dirty="0">
                        <a:solidFill>
                          <a:schemeClr val="tx1"/>
                        </a:solidFill>
                      </a:endParaRPr>
                    </a:p>
                  </a:txBody>
                  <a:tcPr/>
                </a:tc>
                <a:tc>
                  <a:txBody>
                    <a:bodyPr/>
                    <a:lstStyle/>
                    <a:p>
                      <a:pPr algn="ctr"/>
                      <a:r>
                        <a:rPr lang="ru-RU" sz="4800" b="0" dirty="0">
                          <a:solidFill>
                            <a:schemeClr val="tx1"/>
                          </a:solidFill>
                        </a:rPr>
                        <a:t>7</a:t>
                      </a:r>
                    </a:p>
                  </a:txBody>
                  <a:tcPr/>
                </a:tc>
                <a:tc>
                  <a:txBody>
                    <a:bodyPr/>
                    <a:lstStyle/>
                    <a:p>
                      <a:pPr algn="ctr"/>
                      <a:r>
                        <a:rPr lang="ru-RU" sz="4800" b="0" dirty="0">
                          <a:solidFill>
                            <a:schemeClr val="tx1"/>
                          </a:solidFill>
                        </a:rPr>
                        <a:t>4</a:t>
                      </a:r>
                    </a:p>
                  </a:txBody>
                  <a:tcPr/>
                </a:tc>
                <a:tc>
                  <a:txBody>
                    <a:bodyPr/>
                    <a:lstStyle/>
                    <a:p>
                      <a:pPr algn="ctr"/>
                      <a:r>
                        <a:rPr lang="en-US" sz="4800" b="0" dirty="0">
                          <a:solidFill>
                            <a:srgbClr val="FF0000"/>
                          </a:solidFill>
                        </a:rPr>
                        <a:t>39</a:t>
                      </a:r>
                      <a:endParaRPr lang="ru-RU" sz="4800" b="0" dirty="0">
                        <a:solidFill>
                          <a:srgbClr val="FF0000"/>
                        </a:solidFill>
                      </a:endParaRPr>
                    </a:p>
                  </a:txBody>
                  <a:tcPr/>
                </a:tc>
                <a:extLst>
                  <a:ext uri="{0D108BD9-81ED-4DB2-BD59-A6C34878D82A}">
                    <a16:rowId xmlns:a16="http://schemas.microsoft.com/office/drawing/2014/main" val="1997305274"/>
                  </a:ext>
                </a:extLst>
              </a:tr>
            </a:tbl>
          </a:graphicData>
        </a:graphic>
      </p:graphicFrame>
      <p:sp>
        <p:nvSpPr>
          <p:cNvPr id="13" name="Прямоугольник 12">
            <a:extLst>
              <a:ext uri="{FF2B5EF4-FFF2-40B4-BE49-F238E27FC236}">
                <a16:creationId xmlns:a16="http://schemas.microsoft.com/office/drawing/2014/main" id="{FAB81B5A-E085-4526-AC54-EC77F09A8615}"/>
              </a:ext>
            </a:extLst>
          </p:cNvPr>
          <p:cNvSpPr/>
          <p:nvPr/>
        </p:nvSpPr>
        <p:spPr>
          <a:xfrm>
            <a:off x="1600262" y="2639377"/>
            <a:ext cx="3877985" cy="707886"/>
          </a:xfrm>
          <a:prstGeom prst="rect">
            <a:avLst/>
          </a:prstGeom>
        </p:spPr>
        <p:txBody>
          <a:bodyPr wrap="none">
            <a:spAutoFit/>
          </a:bodyPr>
          <a:lstStyle/>
          <a:p>
            <a:r>
              <a:rPr lang="en-US" sz="4000" dirty="0"/>
              <a:t>update(3,10) 	</a:t>
            </a:r>
            <a:endParaRPr lang="ru-RU" sz="4000" dirty="0"/>
          </a:p>
        </p:txBody>
      </p:sp>
      <p:sp>
        <p:nvSpPr>
          <p:cNvPr id="3" name="Прямоугольник 2">
            <a:extLst>
              <a:ext uri="{FF2B5EF4-FFF2-40B4-BE49-F238E27FC236}">
                <a16:creationId xmlns:a16="http://schemas.microsoft.com/office/drawing/2014/main" id="{76D33DE2-9BA1-410E-B406-6F4EAC8A67E7}"/>
              </a:ext>
            </a:extLst>
          </p:cNvPr>
          <p:cNvSpPr/>
          <p:nvPr/>
        </p:nvSpPr>
        <p:spPr>
          <a:xfrm>
            <a:off x="6713755" y="2703314"/>
            <a:ext cx="2552302" cy="707886"/>
          </a:xfrm>
          <a:prstGeom prst="rect">
            <a:avLst/>
          </a:prstGeom>
        </p:spPr>
        <p:txBody>
          <a:bodyPr wrap="none">
            <a:spAutoFit/>
          </a:bodyPr>
          <a:lstStyle/>
          <a:p>
            <a:r>
              <a:rPr lang="el-GR" sz="4000" dirty="0"/>
              <a:t>Δ=10−7=3</a:t>
            </a:r>
            <a:endParaRPr lang="ru-RU" sz="4000" dirty="0"/>
          </a:p>
        </p:txBody>
      </p:sp>
      <p:sp>
        <p:nvSpPr>
          <p:cNvPr id="15" name="Прямоугольник 14">
            <a:extLst>
              <a:ext uri="{FF2B5EF4-FFF2-40B4-BE49-F238E27FC236}">
                <a16:creationId xmlns:a16="http://schemas.microsoft.com/office/drawing/2014/main" id="{BC8A6DB6-E00D-4595-8CFD-CE5C1DC16052}"/>
              </a:ext>
            </a:extLst>
          </p:cNvPr>
          <p:cNvSpPr/>
          <p:nvPr/>
        </p:nvSpPr>
        <p:spPr>
          <a:xfrm>
            <a:off x="1600262" y="3778768"/>
            <a:ext cx="3680816" cy="707886"/>
          </a:xfrm>
          <a:prstGeom prst="rect">
            <a:avLst/>
          </a:prstGeom>
        </p:spPr>
        <p:txBody>
          <a:bodyPr wrap="none">
            <a:spAutoFit/>
          </a:bodyPr>
          <a:lstStyle/>
          <a:p>
            <a:r>
              <a:rPr lang="en-US" sz="4000" dirty="0" err="1"/>
              <a:t>i</a:t>
            </a:r>
            <a:r>
              <a:rPr lang="en-US" sz="4000" dirty="0"/>
              <a:t> ← </a:t>
            </a:r>
            <a:r>
              <a:rPr lang="en-US" sz="4000" dirty="0" err="1"/>
              <a:t>i</a:t>
            </a:r>
            <a:r>
              <a:rPr lang="en-US" sz="4000" dirty="0"/>
              <a:t> + </a:t>
            </a:r>
            <a:r>
              <a:rPr lang="en-US" sz="4000" dirty="0" err="1"/>
              <a:t>lowbit</a:t>
            </a:r>
            <a:r>
              <a:rPr lang="en-US" sz="4000" dirty="0"/>
              <a:t>(</a:t>
            </a:r>
            <a:r>
              <a:rPr lang="en-US" sz="4000" dirty="0" err="1"/>
              <a:t>i</a:t>
            </a:r>
            <a:r>
              <a:rPr lang="en-US" sz="4000" dirty="0"/>
              <a:t>)</a:t>
            </a:r>
            <a:endParaRPr lang="ru-RU" sz="4000" dirty="0"/>
          </a:p>
        </p:txBody>
      </p:sp>
      <p:sp>
        <p:nvSpPr>
          <p:cNvPr id="8" name="Прямоугольник: скругленные углы 7">
            <a:extLst>
              <a:ext uri="{FF2B5EF4-FFF2-40B4-BE49-F238E27FC236}">
                <a16:creationId xmlns:a16="http://schemas.microsoft.com/office/drawing/2014/main" id="{E67F7943-3725-414D-90C5-22ED8CFD747E}"/>
              </a:ext>
            </a:extLst>
          </p:cNvPr>
          <p:cNvSpPr/>
          <p:nvPr/>
        </p:nvSpPr>
        <p:spPr>
          <a:xfrm>
            <a:off x="6516221" y="3595880"/>
            <a:ext cx="3904129" cy="9402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O(log(n))</a:t>
            </a:r>
            <a:endParaRPr lang="ru-RU" sz="4400" dirty="0"/>
          </a:p>
        </p:txBody>
      </p:sp>
      <p:sp>
        <p:nvSpPr>
          <p:cNvPr id="4" name="Прямоугольник: скругленные углы 3">
            <a:extLst>
              <a:ext uri="{FF2B5EF4-FFF2-40B4-BE49-F238E27FC236}">
                <a16:creationId xmlns:a16="http://schemas.microsoft.com/office/drawing/2014/main" id="{67941019-9139-411D-A3E6-C0F458B727E3}"/>
              </a:ext>
            </a:extLst>
          </p:cNvPr>
          <p:cNvSpPr/>
          <p:nvPr/>
        </p:nvSpPr>
        <p:spPr>
          <a:xfrm>
            <a:off x="376518" y="4918159"/>
            <a:ext cx="11229975" cy="15498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t>При замене значения сначала вычисляется разница Δ</a:t>
            </a:r>
            <a:r>
              <a:rPr lang="en-US" sz="2000" dirty="0"/>
              <a:t>, </a:t>
            </a:r>
            <a:r>
              <a:rPr lang="ru-RU" sz="2000" dirty="0"/>
              <a:t>а затем эта разница добавляется во все блоки, содержащие индекс i.</a:t>
            </a:r>
          </a:p>
        </p:txBody>
      </p:sp>
    </p:spTree>
    <p:extLst>
      <p:ext uri="{BB962C8B-B14F-4D97-AF65-F5344CB8AC3E}">
        <p14:creationId xmlns:p14="http://schemas.microsoft.com/office/powerpoint/2010/main" val="1814370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1FEA7C-3011-4F65-9825-5CDDC58D4611}"/>
              </a:ext>
            </a:extLst>
          </p:cNvPr>
          <p:cNvSpPr>
            <a:spLocks noGrp="1"/>
          </p:cNvSpPr>
          <p:nvPr>
            <p:ph type="title"/>
          </p:nvPr>
        </p:nvSpPr>
        <p:spPr/>
        <p:txBody>
          <a:bodyPr/>
          <a:lstStyle/>
          <a:p>
            <a:r>
              <a:rPr lang="ru-RU" dirty="0"/>
              <a:t>Дерево отрезков: основная идея</a:t>
            </a:r>
          </a:p>
        </p:txBody>
      </p:sp>
      <p:sp>
        <p:nvSpPr>
          <p:cNvPr id="7" name="Текст 6">
            <a:extLst>
              <a:ext uri="{FF2B5EF4-FFF2-40B4-BE49-F238E27FC236}">
                <a16:creationId xmlns:a16="http://schemas.microsoft.com/office/drawing/2014/main" id="{47DC1F1A-9025-4D71-A6D0-7807963839F2}"/>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5DD264E9-AF5E-4653-B87E-0A17D96417A3}"/>
              </a:ext>
            </a:extLst>
          </p:cNvPr>
          <p:cNvSpPr/>
          <p:nvPr/>
        </p:nvSpPr>
        <p:spPr>
          <a:xfrm>
            <a:off x="479423" y="1168084"/>
            <a:ext cx="11229975" cy="10085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t>Дерево отрезков (</a:t>
            </a:r>
            <a:r>
              <a:rPr lang="ru-RU" b="1" dirty="0" err="1"/>
              <a:t>Segment</a:t>
            </a:r>
            <a:r>
              <a:rPr lang="ru-RU" b="1" dirty="0"/>
              <a:t> </a:t>
            </a:r>
            <a:r>
              <a:rPr lang="ru-RU" b="1" dirty="0" err="1"/>
              <a:t>Tree</a:t>
            </a:r>
            <a:r>
              <a:rPr lang="ru-RU" b="1" dirty="0"/>
              <a:t>)</a:t>
            </a:r>
            <a:r>
              <a:rPr lang="ru-RU" dirty="0"/>
              <a:t> — структура данных, в которой каждая вершина хранит информацию о некотором диапазоне массива.</a:t>
            </a:r>
          </a:p>
        </p:txBody>
      </p:sp>
      <p:pic>
        <p:nvPicPr>
          <p:cNvPr id="11" name="Рисунок 10">
            <a:extLst>
              <a:ext uri="{FF2B5EF4-FFF2-40B4-BE49-F238E27FC236}">
                <a16:creationId xmlns:a16="http://schemas.microsoft.com/office/drawing/2014/main" id="{6EA79892-5EBB-462B-A2B7-C38E86F942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79377" y="2308543"/>
            <a:ext cx="5746376" cy="4309782"/>
          </a:xfrm>
          <a:prstGeom prst="rect">
            <a:avLst/>
          </a:prstGeom>
        </p:spPr>
      </p:pic>
    </p:spTree>
    <p:extLst>
      <p:ext uri="{BB962C8B-B14F-4D97-AF65-F5344CB8AC3E}">
        <p14:creationId xmlns:p14="http://schemas.microsoft.com/office/powerpoint/2010/main" val="2076532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64483E-7430-44BD-8AA4-4B126E7FD16E}"/>
              </a:ext>
            </a:extLst>
          </p:cNvPr>
          <p:cNvSpPr>
            <a:spLocks noGrp="1"/>
          </p:cNvSpPr>
          <p:nvPr>
            <p:ph type="title"/>
          </p:nvPr>
        </p:nvSpPr>
        <p:spPr/>
        <p:txBody>
          <a:bodyPr/>
          <a:lstStyle/>
          <a:p>
            <a:r>
              <a:rPr lang="ru-RU" dirty="0"/>
              <a:t>Основные формулы дерева отрезков</a:t>
            </a:r>
          </a:p>
        </p:txBody>
      </p:sp>
      <p:sp>
        <p:nvSpPr>
          <p:cNvPr id="7" name="Текст 6">
            <a:extLst>
              <a:ext uri="{FF2B5EF4-FFF2-40B4-BE49-F238E27FC236}">
                <a16:creationId xmlns:a16="http://schemas.microsoft.com/office/drawing/2014/main" id="{84039434-640E-4F0C-B0D3-3D7945FDC650}"/>
              </a:ext>
            </a:extLst>
          </p:cNvPr>
          <p:cNvSpPr>
            <a:spLocks noGrp="1"/>
          </p:cNvSpPr>
          <p:nvPr>
            <p:ph type="body" sz="quarter" idx="19"/>
          </p:nvPr>
        </p:nvSpPr>
        <p:spPr/>
        <p:txBody>
          <a:bodyPr/>
          <a:lstStyle/>
          <a:p>
            <a:endParaRPr lang="ru-RU"/>
          </a:p>
        </p:txBody>
      </p:sp>
      <p:pic>
        <p:nvPicPr>
          <p:cNvPr id="11" name="Рисунок 10">
            <a:extLst>
              <a:ext uri="{FF2B5EF4-FFF2-40B4-BE49-F238E27FC236}">
                <a16:creationId xmlns:a16="http://schemas.microsoft.com/office/drawing/2014/main" id="{58DD4F75-D39F-452A-BC9B-9393BFC0B473}"/>
              </a:ext>
            </a:extLst>
          </p:cNvPr>
          <p:cNvPicPr>
            <a:picLocks noChangeAspect="1"/>
          </p:cNvPicPr>
          <p:nvPr/>
        </p:nvPicPr>
        <p:blipFill>
          <a:blip r:embed="rId2"/>
          <a:stretch>
            <a:fillRect/>
          </a:stretch>
        </p:blipFill>
        <p:spPr>
          <a:xfrm>
            <a:off x="1962095" y="1217930"/>
            <a:ext cx="8267810" cy="5357681"/>
          </a:xfrm>
          <a:prstGeom prst="rect">
            <a:avLst/>
          </a:prstGeom>
        </p:spPr>
      </p:pic>
    </p:spTree>
    <p:extLst>
      <p:ext uri="{BB962C8B-B14F-4D97-AF65-F5344CB8AC3E}">
        <p14:creationId xmlns:p14="http://schemas.microsoft.com/office/powerpoint/2010/main" val="3337219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12C8B3D6-5972-44C9-BE6A-3FD82B072173}"/>
              </a:ext>
            </a:extLst>
          </p:cNvPr>
          <p:cNvSpPr>
            <a:spLocks noGrp="1"/>
          </p:cNvSpPr>
          <p:nvPr>
            <p:ph type="body" sz="quarter" idx="19"/>
          </p:nvPr>
        </p:nvSpPr>
        <p:spPr/>
        <p:txBody>
          <a:bodyPr/>
          <a:lstStyle/>
          <a:p>
            <a:endParaRPr lang="ru-RU"/>
          </a:p>
        </p:txBody>
      </p:sp>
      <p:pic>
        <p:nvPicPr>
          <p:cNvPr id="13" name="Рисунок 12">
            <a:extLst>
              <a:ext uri="{FF2B5EF4-FFF2-40B4-BE49-F238E27FC236}">
                <a16:creationId xmlns:a16="http://schemas.microsoft.com/office/drawing/2014/main" id="{05B7D4B5-B146-40B4-BB94-098EF4A15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667871"/>
            <a:ext cx="8843042" cy="6190129"/>
          </a:xfrm>
          <a:prstGeom prst="rect">
            <a:avLst/>
          </a:prstGeom>
        </p:spPr>
      </p:pic>
    </p:spTree>
    <p:extLst>
      <p:ext uri="{BB962C8B-B14F-4D97-AF65-F5344CB8AC3E}">
        <p14:creationId xmlns:p14="http://schemas.microsoft.com/office/powerpoint/2010/main" val="1852659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600725343"/>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t>36</a:t>
                      </a:r>
                    </a:p>
                  </a:txBody>
                  <a:tcPr/>
                </a:tc>
                <a:tc>
                  <a:txBody>
                    <a:bodyPr/>
                    <a:lstStyle/>
                    <a:p>
                      <a:pPr algn="ctr"/>
                      <a:r>
                        <a:rPr lang="ru-RU" sz="3200" b="0" dirty="0"/>
                        <a:t>17</a:t>
                      </a:r>
                    </a:p>
                  </a:txBody>
                  <a:tcPr/>
                </a:tc>
                <a:tc>
                  <a:txBody>
                    <a:bodyPr/>
                    <a:lstStyle/>
                    <a:p>
                      <a:pPr algn="ctr"/>
                      <a:r>
                        <a:rPr lang="ru-RU" sz="3200" b="0" dirty="0"/>
                        <a:t>19</a:t>
                      </a:r>
                    </a:p>
                  </a:txBody>
                  <a:tcPr/>
                </a:tc>
                <a:tc>
                  <a:txBody>
                    <a:bodyPr/>
                    <a:lstStyle/>
                    <a:p>
                      <a:pPr algn="ctr"/>
                      <a:r>
                        <a:rPr lang="ru-RU" sz="3200" b="0" dirty="0"/>
                        <a:t>7</a:t>
                      </a:r>
                    </a:p>
                  </a:txBody>
                  <a:tcPr/>
                </a:tc>
                <a:tc>
                  <a:txBody>
                    <a:bodyPr/>
                    <a:lstStyle/>
                    <a:p>
                      <a:pPr algn="ctr"/>
                      <a:r>
                        <a:rPr lang="ru-RU" sz="3200" b="0" dirty="0"/>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[0…7]</a:t>
            </a:r>
          </a:p>
          <a:p>
            <a:pPr algn="ctr"/>
            <a:r>
              <a:rPr lang="en-US" dirty="0"/>
              <a:t>36</a:t>
            </a:r>
            <a:endParaRPr lang="ru-RU" dirty="0"/>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[0…3]</a:t>
            </a:r>
          </a:p>
          <a:p>
            <a:pPr algn="ctr"/>
            <a:r>
              <a:rPr lang="en-US" dirty="0"/>
              <a:t>17</a:t>
            </a:r>
            <a:endParaRPr lang="ru-RU" dirty="0"/>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[4…7]</a:t>
            </a:r>
          </a:p>
          <a:p>
            <a:pPr algn="ctr"/>
            <a:r>
              <a:rPr lang="en-US" dirty="0"/>
              <a:t>19</a:t>
            </a:r>
            <a:endParaRPr lang="ru-RU" dirty="0"/>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[2…3]</a:t>
            </a:r>
          </a:p>
          <a:p>
            <a:pPr algn="ctr"/>
            <a:r>
              <a:rPr lang="en-US" dirty="0"/>
              <a:t>10</a:t>
            </a:r>
            <a:endParaRPr lang="ru-RU" dirty="0"/>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2801008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1131531170"/>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92D050"/>
                          </a:solidFill>
                        </a:rPr>
                        <a:t>36</a:t>
                      </a:r>
                    </a:p>
                  </a:txBody>
                  <a:tcPr/>
                </a:tc>
                <a:tc>
                  <a:txBody>
                    <a:bodyPr/>
                    <a:lstStyle/>
                    <a:p>
                      <a:pPr algn="ctr"/>
                      <a:r>
                        <a:rPr lang="ru-RU" sz="3200" b="0" dirty="0"/>
                        <a:t>17</a:t>
                      </a:r>
                    </a:p>
                  </a:txBody>
                  <a:tcPr/>
                </a:tc>
                <a:tc>
                  <a:txBody>
                    <a:bodyPr/>
                    <a:lstStyle/>
                    <a:p>
                      <a:pPr algn="ctr"/>
                      <a:r>
                        <a:rPr lang="ru-RU" sz="3200" b="0" dirty="0"/>
                        <a:t>19</a:t>
                      </a:r>
                    </a:p>
                  </a:txBody>
                  <a:tcPr/>
                </a:tc>
                <a:tc>
                  <a:txBody>
                    <a:bodyPr/>
                    <a:lstStyle/>
                    <a:p>
                      <a:pPr algn="ctr"/>
                      <a:r>
                        <a:rPr lang="ru-RU" sz="3200" b="0" dirty="0"/>
                        <a:t>7</a:t>
                      </a:r>
                    </a:p>
                  </a:txBody>
                  <a:tcPr/>
                </a:tc>
                <a:tc>
                  <a:txBody>
                    <a:bodyPr/>
                    <a:lstStyle/>
                    <a:p>
                      <a:pPr algn="ctr"/>
                      <a:r>
                        <a:rPr lang="ru-RU" sz="3200" b="0" dirty="0"/>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92D050"/>
                </a:solidFill>
              </a:rPr>
              <a:t>[0…7]</a:t>
            </a:r>
          </a:p>
          <a:p>
            <a:pPr algn="ctr"/>
            <a:r>
              <a:rPr lang="en-US" dirty="0">
                <a:solidFill>
                  <a:srgbClr val="92D050"/>
                </a:solidFill>
              </a:rPr>
              <a:t>36</a:t>
            </a:r>
            <a:endParaRPr lang="ru-RU" dirty="0">
              <a:solidFill>
                <a:srgbClr val="92D05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[0…3]</a:t>
            </a:r>
          </a:p>
          <a:p>
            <a:pPr algn="ctr"/>
            <a:r>
              <a:rPr lang="en-US" dirty="0"/>
              <a:t>17</a:t>
            </a:r>
            <a:endParaRPr lang="ru-RU" dirty="0"/>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[4…7]</a:t>
            </a:r>
          </a:p>
          <a:p>
            <a:pPr algn="ctr"/>
            <a:r>
              <a:rPr lang="en-US" dirty="0"/>
              <a:t>19</a:t>
            </a:r>
            <a:endParaRPr lang="ru-RU" dirty="0"/>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[2…3]</a:t>
            </a:r>
          </a:p>
          <a:p>
            <a:pPr algn="ctr"/>
            <a:r>
              <a:rPr lang="en-US" dirty="0"/>
              <a:t>10</a:t>
            </a:r>
            <a:endParaRPr lang="ru-RU" dirty="0"/>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2025770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3200508579"/>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92D050"/>
                          </a:solidFill>
                        </a:rPr>
                        <a:t>17</a:t>
                      </a:r>
                    </a:p>
                  </a:txBody>
                  <a:tcPr/>
                </a:tc>
                <a:tc>
                  <a:txBody>
                    <a:bodyPr/>
                    <a:lstStyle/>
                    <a:p>
                      <a:pPr algn="ctr"/>
                      <a:r>
                        <a:rPr lang="ru-RU" sz="3200" b="0" dirty="0">
                          <a:solidFill>
                            <a:srgbClr val="FFFF00"/>
                          </a:solidFill>
                        </a:rPr>
                        <a:t>19</a:t>
                      </a:r>
                    </a:p>
                  </a:txBody>
                  <a:tcPr/>
                </a:tc>
                <a:tc>
                  <a:txBody>
                    <a:bodyPr/>
                    <a:lstStyle/>
                    <a:p>
                      <a:pPr algn="ctr"/>
                      <a:r>
                        <a:rPr lang="ru-RU" sz="3200" b="0" dirty="0"/>
                        <a:t>7</a:t>
                      </a:r>
                    </a:p>
                  </a:txBody>
                  <a:tcPr/>
                </a:tc>
                <a:tc>
                  <a:txBody>
                    <a:bodyPr/>
                    <a:lstStyle/>
                    <a:p>
                      <a:pPr algn="ctr"/>
                      <a:r>
                        <a:rPr lang="ru-RU" sz="3200" b="0" dirty="0"/>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92D050"/>
                </a:solidFill>
              </a:rPr>
              <a:t>[0…3]</a:t>
            </a:r>
          </a:p>
          <a:p>
            <a:pPr algn="ctr"/>
            <a:r>
              <a:rPr lang="en-US" dirty="0">
                <a:solidFill>
                  <a:srgbClr val="92D050"/>
                </a:solidFill>
              </a:rPr>
              <a:t>17</a:t>
            </a:r>
            <a:endParaRPr lang="ru-RU" dirty="0">
              <a:solidFill>
                <a:srgbClr val="92D05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FF00"/>
                </a:solidFill>
              </a:rPr>
              <a:t>[4…7]</a:t>
            </a:r>
          </a:p>
          <a:p>
            <a:pPr algn="ctr"/>
            <a:r>
              <a:rPr lang="en-US" dirty="0">
                <a:solidFill>
                  <a:srgbClr val="FFFF00"/>
                </a:solidFill>
              </a:rPr>
              <a:t>19</a:t>
            </a:r>
            <a:endParaRPr lang="ru-RU" dirty="0">
              <a:solidFill>
                <a:srgbClr val="FFFF0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[2…3]</a:t>
            </a:r>
          </a:p>
          <a:p>
            <a:pPr algn="ctr"/>
            <a:r>
              <a:rPr lang="en-US" dirty="0"/>
              <a:t>10</a:t>
            </a:r>
            <a:endParaRPr lang="ru-RU" dirty="0"/>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4266400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1615925611"/>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FF0000"/>
                          </a:solidFill>
                        </a:rPr>
                        <a:t>17</a:t>
                      </a:r>
                    </a:p>
                  </a:txBody>
                  <a:tcPr/>
                </a:tc>
                <a:tc>
                  <a:txBody>
                    <a:bodyPr/>
                    <a:lstStyle/>
                    <a:p>
                      <a:pPr algn="ctr"/>
                      <a:r>
                        <a:rPr lang="ru-RU" sz="3200" b="0" dirty="0">
                          <a:solidFill>
                            <a:srgbClr val="FFFF00"/>
                          </a:solidFill>
                        </a:rPr>
                        <a:t>19</a:t>
                      </a:r>
                    </a:p>
                  </a:txBody>
                  <a:tcPr/>
                </a:tc>
                <a:tc>
                  <a:txBody>
                    <a:bodyPr/>
                    <a:lstStyle/>
                    <a:p>
                      <a:pPr algn="ctr"/>
                      <a:r>
                        <a:rPr lang="ru-RU" sz="3200" b="0" dirty="0"/>
                        <a:t>7</a:t>
                      </a:r>
                    </a:p>
                  </a:txBody>
                  <a:tcPr/>
                </a:tc>
                <a:tc>
                  <a:txBody>
                    <a:bodyPr/>
                    <a:lstStyle/>
                    <a:p>
                      <a:pPr algn="ctr"/>
                      <a:r>
                        <a:rPr lang="ru-RU" sz="3200" b="0" dirty="0">
                          <a:solidFill>
                            <a:srgbClr val="92D050"/>
                          </a:solidFill>
                        </a:rPr>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[0…3]</a:t>
            </a:r>
          </a:p>
          <a:p>
            <a:pPr algn="ctr"/>
            <a:r>
              <a:rPr lang="en-US" dirty="0">
                <a:solidFill>
                  <a:srgbClr val="FF0000"/>
                </a:solidFill>
              </a:rPr>
              <a:t>17</a:t>
            </a:r>
            <a:endParaRPr lang="ru-RU" dirty="0">
              <a:solidFill>
                <a:srgbClr val="FF000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FF00"/>
                </a:solidFill>
              </a:rPr>
              <a:t>[4…7]</a:t>
            </a:r>
          </a:p>
          <a:p>
            <a:pPr algn="ctr"/>
            <a:r>
              <a:rPr lang="en-US" dirty="0">
                <a:solidFill>
                  <a:srgbClr val="FFFF00"/>
                </a:solidFill>
              </a:rPr>
              <a:t>19</a:t>
            </a:r>
            <a:endParaRPr lang="ru-RU" dirty="0">
              <a:solidFill>
                <a:srgbClr val="FFFF0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92D050"/>
                </a:solidFill>
              </a:rPr>
              <a:t>[2…3]</a:t>
            </a:r>
          </a:p>
          <a:p>
            <a:pPr algn="ctr"/>
            <a:r>
              <a:rPr lang="en-US" dirty="0">
                <a:solidFill>
                  <a:srgbClr val="92D050"/>
                </a:solidFill>
              </a:rPr>
              <a:t>10</a:t>
            </a:r>
            <a:endParaRPr lang="ru-RU" dirty="0">
              <a:solidFill>
                <a:srgbClr val="92D050"/>
              </a:solidFill>
            </a:endParaRPr>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3739887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2666830921"/>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FF0000"/>
                          </a:solidFill>
                        </a:rPr>
                        <a:t>17</a:t>
                      </a:r>
                    </a:p>
                  </a:txBody>
                  <a:tcPr/>
                </a:tc>
                <a:tc>
                  <a:txBody>
                    <a:bodyPr/>
                    <a:lstStyle/>
                    <a:p>
                      <a:pPr algn="ctr"/>
                      <a:r>
                        <a:rPr lang="ru-RU" sz="3200" b="0" dirty="0">
                          <a:solidFill>
                            <a:srgbClr val="92D050"/>
                          </a:solidFill>
                        </a:rPr>
                        <a:t>19</a:t>
                      </a:r>
                    </a:p>
                  </a:txBody>
                  <a:tcPr/>
                </a:tc>
                <a:tc>
                  <a:txBody>
                    <a:bodyPr/>
                    <a:lstStyle/>
                    <a:p>
                      <a:pPr algn="ctr"/>
                      <a:r>
                        <a:rPr lang="ru-RU" sz="3200" b="0" dirty="0"/>
                        <a:t>7</a:t>
                      </a:r>
                    </a:p>
                  </a:txBody>
                  <a:tcPr/>
                </a:tc>
                <a:tc>
                  <a:txBody>
                    <a:bodyPr/>
                    <a:lstStyle/>
                    <a:p>
                      <a:pPr algn="ctr"/>
                      <a:r>
                        <a:rPr lang="ru-RU" sz="3200" b="0" dirty="0">
                          <a:solidFill>
                            <a:srgbClr val="0070C0"/>
                          </a:solidFill>
                        </a:rPr>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[0…3]</a:t>
            </a:r>
          </a:p>
          <a:p>
            <a:pPr algn="ctr"/>
            <a:r>
              <a:rPr lang="en-US" dirty="0">
                <a:solidFill>
                  <a:srgbClr val="FF0000"/>
                </a:solidFill>
              </a:rPr>
              <a:t>17</a:t>
            </a:r>
            <a:endParaRPr lang="ru-RU" dirty="0">
              <a:solidFill>
                <a:srgbClr val="FF000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92D050"/>
                </a:solidFill>
              </a:rPr>
              <a:t>[4…7]</a:t>
            </a:r>
          </a:p>
          <a:p>
            <a:pPr algn="ctr"/>
            <a:r>
              <a:rPr lang="en-US" dirty="0">
                <a:solidFill>
                  <a:srgbClr val="92D050"/>
                </a:solidFill>
              </a:rPr>
              <a:t>19</a:t>
            </a:r>
            <a:endParaRPr lang="ru-RU" dirty="0">
              <a:solidFill>
                <a:srgbClr val="92D05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[2…3]</a:t>
            </a:r>
          </a:p>
          <a:p>
            <a:pPr algn="ctr"/>
            <a:r>
              <a:rPr lang="en-US" dirty="0">
                <a:solidFill>
                  <a:srgbClr val="0070C0"/>
                </a:solidFill>
              </a:rPr>
              <a:t>10</a:t>
            </a:r>
            <a:endParaRPr lang="ru-RU" dirty="0">
              <a:solidFill>
                <a:srgbClr val="0070C0"/>
              </a:solidFill>
            </a:endParaRPr>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697504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2619700799"/>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FF0000"/>
                          </a:solidFill>
                        </a:rPr>
                        <a:t>17</a:t>
                      </a:r>
                    </a:p>
                  </a:txBody>
                  <a:tcPr/>
                </a:tc>
                <a:tc>
                  <a:txBody>
                    <a:bodyPr/>
                    <a:lstStyle/>
                    <a:p>
                      <a:pPr algn="ctr"/>
                      <a:r>
                        <a:rPr lang="ru-RU" sz="3200" b="0" dirty="0">
                          <a:solidFill>
                            <a:srgbClr val="FF0000"/>
                          </a:solidFill>
                        </a:rPr>
                        <a:t>19</a:t>
                      </a:r>
                    </a:p>
                  </a:txBody>
                  <a:tcPr/>
                </a:tc>
                <a:tc>
                  <a:txBody>
                    <a:bodyPr/>
                    <a:lstStyle/>
                    <a:p>
                      <a:pPr algn="ctr"/>
                      <a:r>
                        <a:rPr lang="ru-RU" sz="3200" b="0" dirty="0"/>
                        <a:t>7</a:t>
                      </a:r>
                    </a:p>
                  </a:txBody>
                  <a:tcPr/>
                </a:tc>
                <a:tc>
                  <a:txBody>
                    <a:bodyPr/>
                    <a:lstStyle/>
                    <a:p>
                      <a:pPr algn="ctr"/>
                      <a:r>
                        <a:rPr lang="ru-RU" sz="3200" b="0" dirty="0">
                          <a:solidFill>
                            <a:srgbClr val="0070C0"/>
                          </a:solidFill>
                        </a:rPr>
                        <a:t>10</a:t>
                      </a:r>
                    </a:p>
                  </a:txBody>
                  <a:tcPr/>
                </a:tc>
                <a:tc>
                  <a:txBody>
                    <a:bodyPr/>
                    <a:lstStyle/>
                    <a:p>
                      <a:pPr algn="ctr"/>
                      <a:r>
                        <a:rPr lang="ru-RU" sz="3200" b="0" dirty="0">
                          <a:solidFill>
                            <a:srgbClr val="92D050"/>
                          </a:solidFill>
                        </a:rPr>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[0…3]</a:t>
            </a:r>
          </a:p>
          <a:p>
            <a:pPr algn="ctr"/>
            <a:r>
              <a:rPr lang="en-US" dirty="0">
                <a:solidFill>
                  <a:srgbClr val="FF0000"/>
                </a:solidFill>
              </a:rPr>
              <a:t>17</a:t>
            </a:r>
            <a:endParaRPr lang="ru-RU" dirty="0">
              <a:solidFill>
                <a:srgbClr val="FF000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[4…7]</a:t>
            </a:r>
          </a:p>
          <a:p>
            <a:pPr algn="ctr"/>
            <a:r>
              <a:rPr lang="en-US" dirty="0">
                <a:solidFill>
                  <a:srgbClr val="FF0000"/>
                </a:solidFill>
              </a:rPr>
              <a:t>19</a:t>
            </a:r>
            <a:endParaRPr lang="ru-RU" dirty="0">
              <a:solidFill>
                <a:srgbClr val="FF000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[2…3]</a:t>
            </a:r>
          </a:p>
          <a:p>
            <a:pPr algn="ctr"/>
            <a:r>
              <a:rPr lang="en-US" dirty="0">
                <a:solidFill>
                  <a:srgbClr val="0070C0"/>
                </a:solidFill>
              </a:rPr>
              <a:t>10</a:t>
            </a:r>
            <a:endParaRPr lang="ru-RU" dirty="0">
              <a:solidFill>
                <a:srgbClr val="0070C0"/>
              </a:solidFill>
            </a:endParaRPr>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92D050"/>
                </a:solidFill>
              </a:rPr>
              <a:t>[4..5]</a:t>
            </a:r>
          </a:p>
          <a:p>
            <a:pPr algn="ctr"/>
            <a:r>
              <a:rPr lang="en-US" dirty="0">
                <a:solidFill>
                  <a:srgbClr val="92D050"/>
                </a:solidFill>
              </a:rPr>
              <a:t>7</a:t>
            </a:r>
            <a:endParaRPr lang="ru-RU" dirty="0">
              <a:solidFill>
                <a:srgbClr val="92D050"/>
              </a:solidFill>
            </a:endParaRPr>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1610880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903195802"/>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FF0000"/>
                          </a:solidFill>
                        </a:rPr>
                        <a:t>17</a:t>
                      </a:r>
                    </a:p>
                  </a:txBody>
                  <a:tcPr/>
                </a:tc>
                <a:tc>
                  <a:txBody>
                    <a:bodyPr/>
                    <a:lstStyle/>
                    <a:p>
                      <a:pPr algn="ctr"/>
                      <a:r>
                        <a:rPr lang="ru-RU" sz="3200" b="0" dirty="0">
                          <a:solidFill>
                            <a:srgbClr val="FF0000"/>
                          </a:solidFill>
                        </a:rPr>
                        <a:t>19</a:t>
                      </a:r>
                    </a:p>
                  </a:txBody>
                  <a:tcPr/>
                </a:tc>
                <a:tc>
                  <a:txBody>
                    <a:bodyPr/>
                    <a:lstStyle/>
                    <a:p>
                      <a:pPr algn="ctr"/>
                      <a:r>
                        <a:rPr lang="ru-RU" sz="3200" b="0" dirty="0"/>
                        <a:t>7</a:t>
                      </a:r>
                    </a:p>
                  </a:txBody>
                  <a:tcPr/>
                </a:tc>
                <a:tc>
                  <a:txBody>
                    <a:bodyPr/>
                    <a:lstStyle/>
                    <a:p>
                      <a:pPr algn="ctr"/>
                      <a:r>
                        <a:rPr lang="ru-RU" sz="3200" b="0" dirty="0">
                          <a:solidFill>
                            <a:srgbClr val="0070C0"/>
                          </a:solidFill>
                        </a:rPr>
                        <a:t>10</a:t>
                      </a:r>
                    </a:p>
                  </a:txBody>
                  <a:tcPr/>
                </a:tc>
                <a:tc>
                  <a:txBody>
                    <a:bodyPr/>
                    <a:lstStyle/>
                    <a:p>
                      <a:pPr algn="ctr"/>
                      <a:r>
                        <a:rPr lang="ru-RU" sz="3200" b="0" dirty="0">
                          <a:solidFill>
                            <a:srgbClr val="0070C0"/>
                          </a:solidFill>
                        </a:rPr>
                        <a:t>7</a:t>
                      </a:r>
                    </a:p>
                  </a:txBody>
                  <a:tcPr/>
                </a:tc>
                <a:tc>
                  <a:txBody>
                    <a:bodyPr/>
                    <a:lstStyle/>
                    <a:p>
                      <a:pPr algn="ctr"/>
                      <a:r>
                        <a:rPr lang="ru-RU" sz="3200" b="0" dirty="0">
                          <a:solidFill>
                            <a:srgbClr val="92D050"/>
                          </a:solidFill>
                        </a:rPr>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[0…3]</a:t>
            </a:r>
          </a:p>
          <a:p>
            <a:pPr algn="ctr"/>
            <a:r>
              <a:rPr lang="en-US" dirty="0">
                <a:solidFill>
                  <a:srgbClr val="FF0000"/>
                </a:solidFill>
              </a:rPr>
              <a:t>17</a:t>
            </a:r>
            <a:endParaRPr lang="ru-RU" dirty="0">
              <a:solidFill>
                <a:srgbClr val="FF000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[4…7]</a:t>
            </a:r>
          </a:p>
          <a:p>
            <a:pPr algn="ctr"/>
            <a:r>
              <a:rPr lang="en-US" dirty="0">
                <a:solidFill>
                  <a:srgbClr val="FF0000"/>
                </a:solidFill>
              </a:rPr>
              <a:t>19</a:t>
            </a:r>
            <a:endParaRPr lang="ru-RU" dirty="0">
              <a:solidFill>
                <a:srgbClr val="FF000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[2…3]</a:t>
            </a:r>
          </a:p>
          <a:p>
            <a:pPr algn="ctr"/>
            <a:r>
              <a:rPr lang="en-US" dirty="0">
                <a:solidFill>
                  <a:srgbClr val="0070C0"/>
                </a:solidFill>
              </a:rPr>
              <a:t>10</a:t>
            </a:r>
            <a:endParaRPr lang="ru-RU" dirty="0">
              <a:solidFill>
                <a:srgbClr val="0070C0"/>
              </a:solidFill>
            </a:endParaRPr>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[4..5]</a:t>
            </a:r>
          </a:p>
          <a:p>
            <a:pPr algn="ctr"/>
            <a:r>
              <a:rPr lang="en-US" dirty="0">
                <a:solidFill>
                  <a:srgbClr val="0070C0"/>
                </a:solidFill>
              </a:rPr>
              <a:t>7</a:t>
            </a:r>
            <a:endParaRPr lang="ru-RU" dirty="0">
              <a:solidFill>
                <a:srgbClr val="0070C0"/>
              </a:solidFill>
            </a:endParaRPr>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92D050"/>
                </a:solidFill>
              </a:rPr>
              <a:t>[6..7]</a:t>
            </a:r>
          </a:p>
          <a:p>
            <a:pPr algn="ctr"/>
            <a:r>
              <a:rPr lang="en-US" dirty="0">
                <a:solidFill>
                  <a:srgbClr val="92D050"/>
                </a:solidFill>
              </a:rPr>
              <a:t>12</a:t>
            </a:r>
            <a:endParaRPr lang="ru-RU" dirty="0">
              <a:solidFill>
                <a:srgbClr val="92D050"/>
              </a:solidFill>
            </a:endParaRPr>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35777674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2546985377"/>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FF0000"/>
                          </a:solidFill>
                        </a:rPr>
                        <a:t>17</a:t>
                      </a:r>
                    </a:p>
                  </a:txBody>
                  <a:tcPr/>
                </a:tc>
                <a:tc>
                  <a:txBody>
                    <a:bodyPr/>
                    <a:lstStyle/>
                    <a:p>
                      <a:pPr algn="ctr"/>
                      <a:r>
                        <a:rPr lang="ru-RU" sz="3200" b="0" dirty="0">
                          <a:solidFill>
                            <a:srgbClr val="FF0000"/>
                          </a:solidFill>
                        </a:rPr>
                        <a:t>19</a:t>
                      </a:r>
                    </a:p>
                  </a:txBody>
                  <a:tcPr/>
                </a:tc>
                <a:tc>
                  <a:txBody>
                    <a:bodyPr/>
                    <a:lstStyle/>
                    <a:p>
                      <a:pPr algn="ctr"/>
                      <a:r>
                        <a:rPr lang="ru-RU" sz="3200" b="0" dirty="0"/>
                        <a:t>7</a:t>
                      </a:r>
                    </a:p>
                  </a:txBody>
                  <a:tcPr/>
                </a:tc>
                <a:tc>
                  <a:txBody>
                    <a:bodyPr/>
                    <a:lstStyle/>
                    <a:p>
                      <a:pPr algn="ctr"/>
                      <a:r>
                        <a:rPr lang="ru-RU" sz="3200" b="0" dirty="0">
                          <a:solidFill>
                            <a:srgbClr val="0070C0"/>
                          </a:solidFill>
                        </a:rPr>
                        <a:t>10</a:t>
                      </a:r>
                    </a:p>
                  </a:txBody>
                  <a:tcPr/>
                </a:tc>
                <a:tc>
                  <a:txBody>
                    <a:bodyPr/>
                    <a:lstStyle/>
                    <a:p>
                      <a:pPr algn="ctr"/>
                      <a:r>
                        <a:rPr lang="ru-RU" sz="3200" b="0" dirty="0">
                          <a:solidFill>
                            <a:srgbClr val="0070C0"/>
                          </a:solidFill>
                        </a:rPr>
                        <a:t>7</a:t>
                      </a:r>
                    </a:p>
                  </a:txBody>
                  <a:tcPr/>
                </a:tc>
                <a:tc>
                  <a:txBody>
                    <a:bodyPr/>
                    <a:lstStyle/>
                    <a:p>
                      <a:pPr algn="ctr"/>
                      <a:r>
                        <a:rPr lang="ru-RU" sz="3200" b="0" dirty="0">
                          <a:solidFill>
                            <a:srgbClr val="FF0000"/>
                          </a:solidFill>
                        </a:rPr>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solidFill>
                            <a:srgbClr val="92D050"/>
                          </a:solidFill>
                        </a:rPr>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[0…3]</a:t>
            </a:r>
          </a:p>
          <a:p>
            <a:pPr algn="ctr"/>
            <a:r>
              <a:rPr lang="en-US" dirty="0">
                <a:solidFill>
                  <a:srgbClr val="FF0000"/>
                </a:solidFill>
              </a:rPr>
              <a:t>17</a:t>
            </a:r>
            <a:endParaRPr lang="ru-RU" dirty="0">
              <a:solidFill>
                <a:srgbClr val="FF000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[4…7]</a:t>
            </a:r>
          </a:p>
          <a:p>
            <a:pPr algn="ctr"/>
            <a:r>
              <a:rPr lang="en-US" dirty="0">
                <a:solidFill>
                  <a:srgbClr val="FF0000"/>
                </a:solidFill>
              </a:rPr>
              <a:t>19</a:t>
            </a:r>
            <a:endParaRPr lang="ru-RU" dirty="0">
              <a:solidFill>
                <a:srgbClr val="FF000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[2…3]</a:t>
            </a:r>
          </a:p>
          <a:p>
            <a:pPr algn="ctr"/>
            <a:r>
              <a:rPr lang="en-US" dirty="0">
                <a:solidFill>
                  <a:srgbClr val="0070C0"/>
                </a:solidFill>
              </a:rPr>
              <a:t>10</a:t>
            </a:r>
            <a:endParaRPr lang="ru-RU" dirty="0">
              <a:solidFill>
                <a:srgbClr val="0070C0"/>
              </a:solidFill>
            </a:endParaRPr>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[4..5]</a:t>
            </a:r>
          </a:p>
          <a:p>
            <a:pPr algn="ctr"/>
            <a:r>
              <a:rPr lang="en-US" dirty="0">
                <a:solidFill>
                  <a:srgbClr val="0070C0"/>
                </a:solidFill>
              </a:rPr>
              <a:t>7</a:t>
            </a:r>
            <a:endParaRPr lang="ru-RU" dirty="0">
              <a:solidFill>
                <a:srgbClr val="0070C0"/>
              </a:solidFill>
            </a:endParaRPr>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[6..7]</a:t>
            </a:r>
          </a:p>
          <a:p>
            <a:pPr algn="ctr"/>
            <a:r>
              <a:rPr lang="en-US" dirty="0">
                <a:solidFill>
                  <a:srgbClr val="FF0000"/>
                </a:solidFill>
              </a:rPr>
              <a:t>12</a:t>
            </a:r>
            <a:endParaRPr lang="ru-RU" dirty="0">
              <a:solidFill>
                <a:srgbClr val="FF0000"/>
              </a:solidFill>
            </a:endParaRPr>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92D050"/>
                </a:solidFill>
              </a:rPr>
              <a:t>4</a:t>
            </a:r>
            <a:endParaRPr lang="ru-RU" dirty="0">
              <a:solidFill>
                <a:srgbClr val="92D050"/>
              </a:solidFill>
            </a:endParaRPr>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2373762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1061761868"/>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FF0000"/>
                          </a:solidFill>
                        </a:rPr>
                        <a:t>17</a:t>
                      </a:r>
                    </a:p>
                  </a:txBody>
                  <a:tcPr/>
                </a:tc>
                <a:tc>
                  <a:txBody>
                    <a:bodyPr/>
                    <a:lstStyle/>
                    <a:p>
                      <a:pPr algn="ctr"/>
                      <a:r>
                        <a:rPr lang="ru-RU" sz="3200" b="0" dirty="0">
                          <a:solidFill>
                            <a:srgbClr val="FF0000"/>
                          </a:solidFill>
                        </a:rPr>
                        <a:t>19</a:t>
                      </a:r>
                    </a:p>
                  </a:txBody>
                  <a:tcPr/>
                </a:tc>
                <a:tc>
                  <a:txBody>
                    <a:bodyPr/>
                    <a:lstStyle/>
                    <a:p>
                      <a:pPr algn="ctr"/>
                      <a:r>
                        <a:rPr lang="ru-RU" sz="3200" b="0" dirty="0"/>
                        <a:t>7</a:t>
                      </a:r>
                    </a:p>
                  </a:txBody>
                  <a:tcPr/>
                </a:tc>
                <a:tc>
                  <a:txBody>
                    <a:bodyPr/>
                    <a:lstStyle/>
                    <a:p>
                      <a:pPr algn="ctr"/>
                      <a:r>
                        <a:rPr lang="ru-RU" sz="3200" b="0" dirty="0">
                          <a:solidFill>
                            <a:srgbClr val="0070C0"/>
                          </a:solidFill>
                        </a:rPr>
                        <a:t>10</a:t>
                      </a:r>
                    </a:p>
                  </a:txBody>
                  <a:tcPr/>
                </a:tc>
                <a:tc>
                  <a:txBody>
                    <a:bodyPr/>
                    <a:lstStyle/>
                    <a:p>
                      <a:pPr algn="ctr"/>
                      <a:r>
                        <a:rPr lang="ru-RU" sz="3200" b="0" dirty="0">
                          <a:solidFill>
                            <a:srgbClr val="0070C0"/>
                          </a:solidFill>
                        </a:rPr>
                        <a:t>7</a:t>
                      </a:r>
                    </a:p>
                  </a:txBody>
                  <a:tcPr/>
                </a:tc>
                <a:tc>
                  <a:txBody>
                    <a:bodyPr/>
                    <a:lstStyle/>
                    <a:p>
                      <a:pPr algn="ctr"/>
                      <a:r>
                        <a:rPr lang="ru-RU" sz="3200" b="0" dirty="0">
                          <a:solidFill>
                            <a:srgbClr val="FF0000"/>
                          </a:solidFill>
                        </a:rPr>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solidFill>
                            <a:srgbClr val="00B0F0"/>
                          </a:solidFill>
                        </a:rPr>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[0…3]</a:t>
            </a:r>
          </a:p>
          <a:p>
            <a:pPr algn="ctr"/>
            <a:r>
              <a:rPr lang="en-US" dirty="0">
                <a:solidFill>
                  <a:srgbClr val="FF0000"/>
                </a:solidFill>
              </a:rPr>
              <a:t>17</a:t>
            </a:r>
            <a:endParaRPr lang="ru-RU" dirty="0">
              <a:solidFill>
                <a:srgbClr val="FF000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[4…7]</a:t>
            </a:r>
          </a:p>
          <a:p>
            <a:pPr algn="ctr"/>
            <a:r>
              <a:rPr lang="en-US" dirty="0">
                <a:solidFill>
                  <a:srgbClr val="FF0000"/>
                </a:solidFill>
              </a:rPr>
              <a:t>19</a:t>
            </a:r>
            <a:endParaRPr lang="ru-RU" dirty="0">
              <a:solidFill>
                <a:srgbClr val="FF000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[2…3]</a:t>
            </a:r>
          </a:p>
          <a:p>
            <a:pPr algn="ctr"/>
            <a:r>
              <a:rPr lang="en-US" dirty="0">
                <a:solidFill>
                  <a:srgbClr val="0070C0"/>
                </a:solidFill>
              </a:rPr>
              <a:t>10</a:t>
            </a:r>
            <a:endParaRPr lang="ru-RU" dirty="0">
              <a:solidFill>
                <a:srgbClr val="0070C0"/>
              </a:solidFill>
            </a:endParaRPr>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[4..5]</a:t>
            </a:r>
          </a:p>
          <a:p>
            <a:pPr algn="ctr"/>
            <a:r>
              <a:rPr lang="en-US" dirty="0">
                <a:solidFill>
                  <a:srgbClr val="0070C0"/>
                </a:solidFill>
              </a:rPr>
              <a:t>7</a:t>
            </a:r>
            <a:endParaRPr lang="ru-RU" dirty="0">
              <a:solidFill>
                <a:srgbClr val="0070C0"/>
              </a:solidFill>
            </a:endParaRPr>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[6..7]</a:t>
            </a:r>
          </a:p>
          <a:p>
            <a:pPr algn="ctr"/>
            <a:r>
              <a:rPr lang="en-US" dirty="0">
                <a:solidFill>
                  <a:srgbClr val="FF0000"/>
                </a:solidFill>
              </a:rPr>
              <a:t>12</a:t>
            </a:r>
            <a:endParaRPr lang="ru-RU" dirty="0">
              <a:solidFill>
                <a:srgbClr val="FF0000"/>
              </a:solidFill>
            </a:endParaRPr>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B0F0"/>
                </a:solidFill>
              </a:rPr>
              <a:t>4</a:t>
            </a:r>
            <a:endParaRPr lang="ru-RU" dirty="0">
              <a:solidFill>
                <a:srgbClr val="00B0F0"/>
              </a:solidFill>
            </a:endParaRPr>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Tree>
    <p:extLst>
      <p:ext uri="{BB962C8B-B14F-4D97-AF65-F5344CB8AC3E}">
        <p14:creationId xmlns:p14="http://schemas.microsoft.com/office/powerpoint/2010/main" val="1738865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Запрос на диапазоне в дереве отрезков</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FF0000"/>
                          </a:solidFill>
                        </a:rPr>
                        <a:t>36</a:t>
                      </a:r>
                    </a:p>
                  </a:txBody>
                  <a:tcPr/>
                </a:tc>
                <a:tc>
                  <a:txBody>
                    <a:bodyPr/>
                    <a:lstStyle/>
                    <a:p>
                      <a:pPr algn="ctr"/>
                      <a:r>
                        <a:rPr lang="ru-RU" sz="3200" b="0" dirty="0">
                          <a:solidFill>
                            <a:srgbClr val="FF0000"/>
                          </a:solidFill>
                        </a:rPr>
                        <a:t>17</a:t>
                      </a:r>
                    </a:p>
                  </a:txBody>
                  <a:tcPr/>
                </a:tc>
                <a:tc>
                  <a:txBody>
                    <a:bodyPr/>
                    <a:lstStyle/>
                    <a:p>
                      <a:pPr algn="ctr"/>
                      <a:r>
                        <a:rPr lang="ru-RU" sz="3200" b="0" dirty="0">
                          <a:solidFill>
                            <a:srgbClr val="FF0000"/>
                          </a:solidFill>
                        </a:rPr>
                        <a:t>19</a:t>
                      </a:r>
                    </a:p>
                  </a:txBody>
                  <a:tcPr/>
                </a:tc>
                <a:tc>
                  <a:txBody>
                    <a:bodyPr/>
                    <a:lstStyle/>
                    <a:p>
                      <a:pPr algn="ctr"/>
                      <a:r>
                        <a:rPr lang="ru-RU" sz="3200" b="0" dirty="0"/>
                        <a:t>7</a:t>
                      </a:r>
                    </a:p>
                  </a:txBody>
                  <a:tcPr/>
                </a:tc>
                <a:tc>
                  <a:txBody>
                    <a:bodyPr/>
                    <a:lstStyle/>
                    <a:p>
                      <a:pPr algn="ctr"/>
                      <a:r>
                        <a:rPr lang="ru-RU" sz="3200" b="0" dirty="0">
                          <a:solidFill>
                            <a:srgbClr val="0070C0"/>
                          </a:solidFill>
                        </a:rPr>
                        <a:t>10</a:t>
                      </a:r>
                    </a:p>
                  </a:txBody>
                  <a:tcPr/>
                </a:tc>
                <a:tc>
                  <a:txBody>
                    <a:bodyPr/>
                    <a:lstStyle/>
                    <a:p>
                      <a:pPr algn="ctr"/>
                      <a:r>
                        <a:rPr lang="ru-RU" sz="3200" b="0" dirty="0">
                          <a:solidFill>
                            <a:srgbClr val="0070C0"/>
                          </a:solidFill>
                        </a:rPr>
                        <a:t>7</a:t>
                      </a:r>
                    </a:p>
                  </a:txBody>
                  <a:tcPr/>
                </a:tc>
                <a:tc>
                  <a:txBody>
                    <a:bodyPr/>
                    <a:lstStyle/>
                    <a:p>
                      <a:pPr algn="ctr"/>
                      <a:r>
                        <a:rPr lang="ru-RU" sz="3200" b="0" dirty="0">
                          <a:solidFill>
                            <a:srgbClr val="FF0000"/>
                          </a:solidFill>
                        </a:rPr>
                        <a:t>12</a:t>
                      </a:r>
                    </a:p>
                  </a:txBody>
                  <a:tcPr/>
                </a:tc>
                <a:tc>
                  <a:txBody>
                    <a:bodyPr/>
                    <a:lstStyle/>
                    <a:p>
                      <a:pPr algn="ctr"/>
                      <a:r>
                        <a:rPr lang="ru-RU" sz="3200" b="0" dirty="0"/>
                        <a:t>5</a:t>
                      </a:r>
                    </a:p>
                  </a:txBody>
                  <a:tcPr/>
                </a:tc>
                <a:tc>
                  <a:txBody>
                    <a:bodyPr/>
                    <a:lstStyle/>
                    <a:p>
                      <a:pPr algn="ctr"/>
                      <a:r>
                        <a:rPr lang="ru-RU" sz="3200" b="0" dirty="0"/>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solidFill>
                            <a:srgbClr val="00B0F0"/>
                          </a:solidFill>
                        </a:rPr>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[0…7]</a:t>
            </a:r>
          </a:p>
          <a:p>
            <a:pPr algn="ctr"/>
            <a:r>
              <a:rPr lang="en-US" dirty="0">
                <a:solidFill>
                  <a:srgbClr val="FF0000"/>
                </a:solidFill>
              </a:rPr>
              <a:t>36</a:t>
            </a:r>
            <a:endParaRPr lang="ru-RU" dirty="0">
              <a:solidFill>
                <a:srgbClr val="FF000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[0…3]</a:t>
            </a:r>
          </a:p>
          <a:p>
            <a:pPr algn="ctr"/>
            <a:r>
              <a:rPr lang="en-US" dirty="0">
                <a:solidFill>
                  <a:srgbClr val="FF0000"/>
                </a:solidFill>
              </a:rPr>
              <a:t>17</a:t>
            </a:r>
            <a:endParaRPr lang="ru-RU" dirty="0">
              <a:solidFill>
                <a:srgbClr val="FF000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[4…7]</a:t>
            </a:r>
          </a:p>
          <a:p>
            <a:pPr algn="ctr"/>
            <a:r>
              <a:rPr lang="en-US" dirty="0">
                <a:solidFill>
                  <a:srgbClr val="FF0000"/>
                </a:solidFill>
              </a:rPr>
              <a:t>19</a:t>
            </a:r>
            <a:endParaRPr lang="ru-RU" dirty="0">
              <a:solidFill>
                <a:srgbClr val="FF0000"/>
              </a:solidFill>
            </a:endParaRPr>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[2…3]</a:t>
            </a:r>
          </a:p>
          <a:p>
            <a:pPr algn="ctr"/>
            <a:r>
              <a:rPr lang="en-US" dirty="0">
                <a:solidFill>
                  <a:srgbClr val="0070C0"/>
                </a:solidFill>
              </a:rPr>
              <a:t>10</a:t>
            </a:r>
            <a:endParaRPr lang="ru-RU" dirty="0">
              <a:solidFill>
                <a:srgbClr val="0070C0"/>
              </a:solidFill>
            </a:endParaRPr>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70C0"/>
                </a:solidFill>
              </a:rPr>
              <a:t>[4..5]</a:t>
            </a:r>
          </a:p>
          <a:p>
            <a:pPr algn="ctr"/>
            <a:r>
              <a:rPr lang="en-US" dirty="0">
                <a:solidFill>
                  <a:srgbClr val="0070C0"/>
                </a:solidFill>
              </a:rPr>
              <a:t>7</a:t>
            </a:r>
            <a:endParaRPr lang="ru-RU" dirty="0">
              <a:solidFill>
                <a:srgbClr val="0070C0"/>
              </a:solidFill>
            </a:endParaRPr>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FF0000"/>
                </a:solidFill>
              </a:rPr>
              <a:t>[6..7]</a:t>
            </a:r>
          </a:p>
          <a:p>
            <a:pPr algn="ctr"/>
            <a:r>
              <a:rPr lang="en-US" dirty="0">
                <a:solidFill>
                  <a:srgbClr val="FF0000"/>
                </a:solidFill>
              </a:rPr>
              <a:t>12</a:t>
            </a:r>
            <a:endParaRPr lang="ru-RU" dirty="0">
              <a:solidFill>
                <a:srgbClr val="FF0000"/>
              </a:solidFill>
            </a:endParaRPr>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a:t>
            </a:r>
            <a:endParaRPr lang="ru-RU" dirty="0"/>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B0F0"/>
                </a:solidFill>
              </a:rPr>
              <a:t>4</a:t>
            </a:r>
            <a:endParaRPr lang="ru-RU" dirty="0">
              <a:solidFill>
                <a:srgbClr val="00B0F0"/>
              </a:solidFill>
            </a:endParaRPr>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1078725" y="2342914"/>
            <a:ext cx="2374368" cy="707886"/>
          </a:xfrm>
          <a:prstGeom prst="rect">
            <a:avLst/>
          </a:prstGeom>
        </p:spPr>
        <p:txBody>
          <a:bodyPr wrap="none">
            <a:spAutoFit/>
          </a:bodyPr>
          <a:lstStyle/>
          <a:p>
            <a:r>
              <a:rPr lang="en-US" sz="4000" dirty="0"/>
              <a:t>sum(2,6)</a:t>
            </a:r>
            <a:endParaRPr lang="ru-RU" sz="4000" dirty="0"/>
          </a:p>
        </p:txBody>
      </p:sp>
      <p:sp>
        <p:nvSpPr>
          <p:cNvPr id="21" name="Прямоугольник: скругленные углы 20">
            <a:extLst>
              <a:ext uri="{FF2B5EF4-FFF2-40B4-BE49-F238E27FC236}">
                <a16:creationId xmlns:a16="http://schemas.microsoft.com/office/drawing/2014/main" id="{9E6EA957-ACC5-4249-A838-CCE95D193F7C}"/>
              </a:ext>
            </a:extLst>
          </p:cNvPr>
          <p:cNvSpPr/>
          <p:nvPr/>
        </p:nvSpPr>
        <p:spPr>
          <a:xfrm>
            <a:off x="6554850" y="5590862"/>
            <a:ext cx="5432489" cy="109547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dirty="0"/>
              <a:t>A:</a:t>
            </a:r>
          </a:p>
          <a:p>
            <a:pPr algn="ctr"/>
            <a:r>
              <a:rPr lang="ru-RU" dirty="0"/>
              <a:t>индекс      0   1   2  3    4   5   6   7</a:t>
            </a:r>
          </a:p>
          <a:p>
            <a:pPr algn="ctr"/>
            <a:r>
              <a:rPr lang="ru-RU" dirty="0"/>
              <a:t>значение   [5] [2] [7] [3] [6] [1] [4] [8]</a:t>
            </a:r>
          </a:p>
        </p:txBody>
      </p:sp>
      <p:sp>
        <p:nvSpPr>
          <p:cNvPr id="29" name="Прямоугольник 28">
            <a:extLst>
              <a:ext uri="{FF2B5EF4-FFF2-40B4-BE49-F238E27FC236}">
                <a16:creationId xmlns:a16="http://schemas.microsoft.com/office/drawing/2014/main" id="{D7F6FF47-5013-40D7-8CFF-A173A7A598EF}"/>
              </a:ext>
            </a:extLst>
          </p:cNvPr>
          <p:cNvSpPr/>
          <p:nvPr/>
        </p:nvSpPr>
        <p:spPr>
          <a:xfrm>
            <a:off x="204661" y="6138597"/>
            <a:ext cx="3829895" cy="461665"/>
          </a:xfrm>
          <a:prstGeom prst="rect">
            <a:avLst/>
          </a:prstGeom>
        </p:spPr>
        <p:txBody>
          <a:bodyPr wrap="none">
            <a:spAutoFit/>
          </a:bodyPr>
          <a:lstStyle/>
          <a:p>
            <a:r>
              <a:rPr lang="en-US" sz="2400" dirty="0"/>
              <a:t>sum(2,6)</a:t>
            </a:r>
            <a:r>
              <a:rPr lang="ru-RU" sz="2400" dirty="0"/>
              <a:t> = 10 + 7 + 4 = 21</a:t>
            </a:r>
          </a:p>
        </p:txBody>
      </p:sp>
    </p:spTree>
    <p:extLst>
      <p:ext uri="{BB962C8B-B14F-4D97-AF65-F5344CB8AC3E}">
        <p14:creationId xmlns:p14="http://schemas.microsoft.com/office/powerpoint/2010/main" val="24568831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Точечное обновление</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116536898"/>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t>36</a:t>
                      </a:r>
                    </a:p>
                  </a:txBody>
                  <a:tcPr/>
                </a:tc>
                <a:tc>
                  <a:txBody>
                    <a:bodyPr/>
                    <a:lstStyle/>
                    <a:p>
                      <a:pPr algn="ctr"/>
                      <a:r>
                        <a:rPr lang="ru-RU" sz="3200" b="0" dirty="0"/>
                        <a:t>17</a:t>
                      </a:r>
                    </a:p>
                  </a:txBody>
                  <a:tcPr/>
                </a:tc>
                <a:tc>
                  <a:txBody>
                    <a:bodyPr/>
                    <a:lstStyle/>
                    <a:p>
                      <a:pPr algn="ctr"/>
                      <a:r>
                        <a:rPr lang="ru-RU" sz="3200" b="0" dirty="0"/>
                        <a:t>19</a:t>
                      </a:r>
                    </a:p>
                  </a:txBody>
                  <a:tcPr/>
                </a:tc>
                <a:tc>
                  <a:txBody>
                    <a:bodyPr/>
                    <a:lstStyle/>
                    <a:p>
                      <a:pPr algn="ctr"/>
                      <a:r>
                        <a:rPr lang="ru-RU" sz="3200" b="0" dirty="0"/>
                        <a:t>7</a:t>
                      </a:r>
                    </a:p>
                  </a:txBody>
                  <a:tcPr/>
                </a:tc>
                <a:tc>
                  <a:txBody>
                    <a:bodyPr/>
                    <a:lstStyle/>
                    <a:p>
                      <a:pPr algn="ctr"/>
                      <a:r>
                        <a:rPr lang="ru-RU" sz="3200" b="0" dirty="0"/>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solidFill>
                            <a:srgbClr val="00B050"/>
                          </a:solidFill>
                        </a:rPr>
                        <a:t>2</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[0…7]</a:t>
            </a:r>
          </a:p>
          <a:p>
            <a:pPr algn="ctr"/>
            <a:r>
              <a:rPr lang="en-US" dirty="0"/>
              <a:t>36</a:t>
            </a:r>
            <a:endParaRPr lang="ru-RU" dirty="0"/>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[0…3]</a:t>
            </a:r>
          </a:p>
          <a:p>
            <a:pPr algn="ctr"/>
            <a:r>
              <a:rPr lang="en-US" dirty="0"/>
              <a:t>17</a:t>
            </a:r>
            <a:endParaRPr lang="ru-RU" dirty="0"/>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[4…7]</a:t>
            </a:r>
          </a:p>
          <a:p>
            <a:pPr algn="ctr"/>
            <a:r>
              <a:rPr lang="en-US" dirty="0"/>
              <a:t>19</a:t>
            </a:r>
            <a:endParaRPr lang="ru-RU" dirty="0"/>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[2…3]</a:t>
            </a:r>
          </a:p>
          <a:p>
            <a:pPr algn="ctr"/>
            <a:r>
              <a:rPr lang="en-US" dirty="0"/>
              <a:t>10</a:t>
            </a:r>
            <a:endParaRPr lang="ru-RU" dirty="0"/>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B050"/>
                </a:solidFill>
              </a:rPr>
              <a:t>2</a:t>
            </a:r>
            <a:endParaRPr lang="ru-RU" dirty="0">
              <a:solidFill>
                <a:srgbClr val="00B050"/>
              </a:solidFill>
            </a:endParaRPr>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540589" y="2246936"/>
            <a:ext cx="3095719" cy="707886"/>
          </a:xfrm>
          <a:prstGeom prst="rect">
            <a:avLst/>
          </a:prstGeom>
        </p:spPr>
        <p:txBody>
          <a:bodyPr wrap="none">
            <a:spAutoFit/>
          </a:bodyPr>
          <a:lstStyle/>
          <a:p>
            <a:r>
              <a:rPr lang="en-US" sz="4000" dirty="0"/>
              <a:t>update(2,6)</a:t>
            </a:r>
            <a:endParaRPr lang="ru-RU" sz="4000" dirty="0"/>
          </a:p>
        </p:txBody>
      </p:sp>
      <p:sp>
        <p:nvSpPr>
          <p:cNvPr id="3" name="Прямоугольник: скругленные углы 2">
            <a:extLst>
              <a:ext uri="{FF2B5EF4-FFF2-40B4-BE49-F238E27FC236}">
                <a16:creationId xmlns:a16="http://schemas.microsoft.com/office/drawing/2014/main" id="{FF33C0A6-0CEF-41D1-BC5D-BA7F4D3223FF}"/>
              </a:ext>
            </a:extLst>
          </p:cNvPr>
          <p:cNvSpPr/>
          <p:nvPr/>
        </p:nvSpPr>
        <p:spPr>
          <a:xfrm>
            <a:off x="9009532" y="2246936"/>
            <a:ext cx="2641879" cy="1329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aphicFrame>
        <p:nvGraphicFramePr>
          <p:cNvPr id="4" name="Объект 3">
            <a:extLst>
              <a:ext uri="{FF2B5EF4-FFF2-40B4-BE49-F238E27FC236}">
                <a16:creationId xmlns:a16="http://schemas.microsoft.com/office/drawing/2014/main" id="{59D79553-2085-4458-98F5-0B4A90C84972}"/>
              </a:ext>
            </a:extLst>
          </p:cNvPr>
          <p:cNvGraphicFramePr>
            <a:graphicFrameLocks noChangeAspect="1"/>
          </p:cNvGraphicFramePr>
          <p:nvPr>
            <p:extLst>
              <p:ext uri="{D42A27DB-BD31-4B8C-83A1-F6EECF244321}">
                <p14:modId xmlns:p14="http://schemas.microsoft.com/office/powerpoint/2010/main" val="139914170"/>
              </p:ext>
            </p:extLst>
          </p:nvPr>
        </p:nvGraphicFramePr>
        <p:xfrm>
          <a:off x="9393238" y="2522538"/>
          <a:ext cx="2054225" cy="685800"/>
        </p:xfrm>
        <a:graphic>
          <a:graphicData uri="http://schemas.openxmlformats.org/presentationml/2006/ole">
            <mc:AlternateContent xmlns:mc="http://schemas.openxmlformats.org/markup-compatibility/2006">
              <mc:Choice xmlns:v="urn:schemas-microsoft-com:vml" Requires="v">
                <p:oleObj spid="_x0000_s34821" name="Equation" r:id="rId3" imgW="609480" imgH="203040" progId="Equation.DSMT4">
                  <p:embed/>
                </p:oleObj>
              </mc:Choice>
              <mc:Fallback>
                <p:oleObj name="Equation" r:id="rId3" imgW="609480" imgH="203040" progId="Equation.DSMT4">
                  <p:embed/>
                  <p:pic>
                    <p:nvPicPr>
                      <p:cNvPr id="4" name="Объект 3">
                        <a:extLst>
                          <a:ext uri="{FF2B5EF4-FFF2-40B4-BE49-F238E27FC236}">
                            <a16:creationId xmlns:a16="http://schemas.microsoft.com/office/drawing/2014/main" id="{59D79553-2085-4458-98F5-0B4A90C84972}"/>
                          </a:ext>
                        </a:extLst>
                      </p:cNvPr>
                      <p:cNvPicPr/>
                      <p:nvPr/>
                    </p:nvPicPr>
                    <p:blipFill>
                      <a:blip r:embed="rId4"/>
                      <a:stretch>
                        <a:fillRect/>
                      </a:stretch>
                    </p:blipFill>
                    <p:spPr>
                      <a:xfrm>
                        <a:off x="9393238" y="2522538"/>
                        <a:ext cx="2054225" cy="685800"/>
                      </a:xfrm>
                      <a:prstGeom prst="rect">
                        <a:avLst/>
                      </a:prstGeom>
                    </p:spPr>
                  </p:pic>
                </p:oleObj>
              </mc:Fallback>
            </mc:AlternateContent>
          </a:graphicData>
        </a:graphic>
      </p:graphicFrame>
      <p:sp>
        <p:nvSpPr>
          <p:cNvPr id="5" name="Прямоугольник 4">
            <a:extLst>
              <a:ext uri="{FF2B5EF4-FFF2-40B4-BE49-F238E27FC236}">
                <a16:creationId xmlns:a16="http://schemas.microsoft.com/office/drawing/2014/main" id="{DF8F8831-84F7-498B-A1BA-FF59E1BE025D}"/>
              </a:ext>
            </a:extLst>
          </p:cNvPr>
          <p:cNvSpPr/>
          <p:nvPr/>
        </p:nvSpPr>
        <p:spPr>
          <a:xfrm>
            <a:off x="775414" y="5704395"/>
            <a:ext cx="2144122" cy="707886"/>
          </a:xfrm>
          <a:prstGeom prst="rect">
            <a:avLst/>
          </a:prstGeom>
        </p:spPr>
        <p:txBody>
          <a:bodyPr wrap="square">
            <a:spAutoFit/>
          </a:bodyPr>
          <a:lstStyle/>
          <a:p>
            <a:r>
              <a:rPr lang="en-US" sz="4000" dirty="0" err="1"/>
              <a:t>i</a:t>
            </a:r>
            <a:r>
              <a:rPr lang="en-US" sz="4000" dirty="0"/>
              <a:t>=</a:t>
            </a:r>
            <a:r>
              <a:rPr lang="en-US" sz="4000" dirty="0" err="1"/>
              <a:t>S+pos</a:t>
            </a:r>
            <a:endParaRPr lang="ru-RU" sz="4000" dirty="0"/>
          </a:p>
        </p:txBody>
      </p:sp>
      <p:sp>
        <p:nvSpPr>
          <p:cNvPr id="29" name="Прямоугольник 28">
            <a:extLst>
              <a:ext uri="{FF2B5EF4-FFF2-40B4-BE49-F238E27FC236}">
                <a16:creationId xmlns:a16="http://schemas.microsoft.com/office/drawing/2014/main" id="{8CCD7FAA-27E0-4C79-8407-AA4DD6A93315}"/>
              </a:ext>
            </a:extLst>
          </p:cNvPr>
          <p:cNvSpPr/>
          <p:nvPr/>
        </p:nvSpPr>
        <p:spPr>
          <a:xfrm>
            <a:off x="8009967" y="5623634"/>
            <a:ext cx="2949947" cy="707886"/>
          </a:xfrm>
          <a:prstGeom prst="rect">
            <a:avLst/>
          </a:prstGeom>
        </p:spPr>
        <p:txBody>
          <a:bodyPr wrap="square">
            <a:spAutoFit/>
          </a:bodyPr>
          <a:lstStyle/>
          <a:p>
            <a:r>
              <a:rPr lang="en-US" sz="4000" dirty="0" err="1"/>
              <a:t>i</a:t>
            </a:r>
            <a:r>
              <a:rPr lang="en-US" sz="4000" dirty="0"/>
              <a:t>= 8+2 = 10</a:t>
            </a:r>
            <a:endParaRPr lang="ru-RU" sz="4000" dirty="0"/>
          </a:p>
        </p:txBody>
      </p:sp>
    </p:spTree>
    <p:extLst>
      <p:ext uri="{BB962C8B-B14F-4D97-AF65-F5344CB8AC3E}">
        <p14:creationId xmlns:p14="http://schemas.microsoft.com/office/powerpoint/2010/main" val="29856142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Точечное обновление</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3154720933"/>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t>36</a:t>
                      </a:r>
                    </a:p>
                  </a:txBody>
                  <a:tcPr/>
                </a:tc>
                <a:tc>
                  <a:txBody>
                    <a:bodyPr/>
                    <a:lstStyle/>
                    <a:p>
                      <a:pPr algn="ctr"/>
                      <a:r>
                        <a:rPr lang="ru-RU" sz="3200" b="0" dirty="0"/>
                        <a:t>17</a:t>
                      </a:r>
                    </a:p>
                  </a:txBody>
                  <a:tcPr/>
                </a:tc>
                <a:tc>
                  <a:txBody>
                    <a:bodyPr/>
                    <a:lstStyle/>
                    <a:p>
                      <a:pPr algn="ctr"/>
                      <a:r>
                        <a:rPr lang="ru-RU" sz="3200" b="0" dirty="0"/>
                        <a:t>19</a:t>
                      </a:r>
                    </a:p>
                  </a:txBody>
                  <a:tcPr/>
                </a:tc>
                <a:tc>
                  <a:txBody>
                    <a:bodyPr/>
                    <a:lstStyle/>
                    <a:p>
                      <a:pPr algn="ctr"/>
                      <a:r>
                        <a:rPr lang="ru-RU" sz="3200" b="0" dirty="0"/>
                        <a:t>7</a:t>
                      </a:r>
                    </a:p>
                  </a:txBody>
                  <a:tcPr/>
                </a:tc>
                <a:tc>
                  <a:txBody>
                    <a:bodyPr/>
                    <a:lstStyle/>
                    <a:p>
                      <a:pPr algn="ctr"/>
                      <a:r>
                        <a:rPr lang="ru-RU" sz="3200" b="0" dirty="0"/>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solidFill>
                            <a:srgbClr val="00B050"/>
                          </a:solidFill>
                        </a:rPr>
                        <a:t>6</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[0…7]</a:t>
            </a:r>
          </a:p>
          <a:p>
            <a:pPr algn="ctr"/>
            <a:r>
              <a:rPr lang="en-US" dirty="0"/>
              <a:t>36</a:t>
            </a:r>
            <a:endParaRPr lang="ru-RU" dirty="0"/>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[0…3]</a:t>
            </a:r>
          </a:p>
          <a:p>
            <a:pPr algn="ctr"/>
            <a:r>
              <a:rPr lang="en-US" dirty="0"/>
              <a:t>17</a:t>
            </a:r>
            <a:endParaRPr lang="ru-RU" dirty="0"/>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[4…7]</a:t>
            </a:r>
          </a:p>
          <a:p>
            <a:pPr algn="ctr"/>
            <a:r>
              <a:rPr lang="en-US" dirty="0"/>
              <a:t>19</a:t>
            </a:r>
            <a:endParaRPr lang="ru-RU" dirty="0"/>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t>7</a:t>
            </a:r>
            <a:endParaRPr lang="ru-RU" dirty="0"/>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[2…3]</a:t>
            </a:r>
          </a:p>
          <a:p>
            <a:pPr algn="ctr"/>
            <a:r>
              <a:rPr lang="en-US" dirty="0"/>
              <a:t>10</a:t>
            </a:r>
            <a:endParaRPr lang="ru-RU" dirty="0"/>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ru-RU" dirty="0">
                <a:solidFill>
                  <a:srgbClr val="00B050"/>
                </a:solidFill>
              </a:rPr>
              <a:t>6</a:t>
            </a:r>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540589" y="2246936"/>
            <a:ext cx="3095719" cy="707886"/>
          </a:xfrm>
          <a:prstGeom prst="rect">
            <a:avLst/>
          </a:prstGeom>
        </p:spPr>
        <p:txBody>
          <a:bodyPr wrap="none">
            <a:spAutoFit/>
          </a:bodyPr>
          <a:lstStyle/>
          <a:p>
            <a:r>
              <a:rPr lang="en-US" sz="4000" dirty="0"/>
              <a:t>update(2,6)</a:t>
            </a:r>
            <a:endParaRPr lang="ru-RU" sz="4000" dirty="0"/>
          </a:p>
        </p:txBody>
      </p:sp>
      <p:sp>
        <p:nvSpPr>
          <p:cNvPr id="3" name="Прямоугольник: скругленные углы 2">
            <a:extLst>
              <a:ext uri="{FF2B5EF4-FFF2-40B4-BE49-F238E27FC236}">
                <a16:creationId xmlns:a16="http://schemas.microsoft.com/office/drawing/2014/main" id="{FF33C0A6-0CEF-41D1-BC5D-BA7F4D3223FF}"/>
              </a:ext>
            </a:extLst>
          </p:cNvPr>
          <p:cNvSpPr/>
          <p:nvPr/>
        </p:nvSpPr>
        <p:spPr>
          <a:xfrm>
            <a:off x="9009532" y="2246936"/>
            <a:ext cx="2641879" cy="1329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aphicFrame>
        <p:nvGraphicFramePr>
          <p:cNvPr id="4" name="Объект 3">
            <a:extLst>
              <a:ext uri="{FF2B5EF4-FFF2-40B4-BE49-F238E27FC236}">
                <a16:creationId xmlns:a16="http://schemas.microsoft.com/office/drawing/2014/main" id="{59D79553-2085-4458-98F5-0B4A90C84972}"/>
              </a:ext>
            </a:extLst>
          </p:cNvPr>
          <p:cNvGraphicFramePr>
            <a:graphicFrameLocks noChangeAspect="1"/>
          </p:cNvGraphicFramePr>
          <p:nvPr/>
        </p:nvGraphicFramePr>
        <p:xfrm>
          <a:off x="9393238" y="2522538"/>
          <a:ext cx="2054225" cy="685800"/>
        </p:xfrm>
        <a:graphic>
          <a:graphicData uri="http://schemas.openxmlformats.org/presentationml/2006/ole">
            <mc:AlternateContent xmlns:mc="http://schemas.openxmlformats.org/markup-compatibility/2006">
              <mc:Choice xmlns:v="urn:schemas-microsoft-com:vml" Requires="v">
                <p:oleObj spid="_x0000_s35844" name="Equation" r:id="rId3" imgW="609480" imgH="203040" progId="Equation.DSMT4">
                  <p:embed/>
                </p:oleObj>
              </mc:Choice>
              <mc:Fallback>
                <p:oleObj name="Equation" r:id="rId3" imgW="609480" imgH="203040" progId="Equation.DSMT4">
                  <p:embed/>
                  <p:pic>
                    <p:nvPicPr>
                      <p:cNvPr id="4" name="Объект 3">
                        <a:extLst>
                          <a:ext uri="{FF2B5EF4-FFF2-40B4-BE49-F238E27FC236}">
                            <a16:creationId xmlns:a16="http://schemas.microsoft.com/office/drawing/2014/main" id="{59D79553-2085-4458-98F5-0B4A90C84972}"/>
                          </a:ext>
                        </a:extLst>
                      </p:cNvPr>
                      <p:cNvPicPr/>
                      <p:nvPr/>
                    </p:nvPicPr>
                    <p:blipFill>
                      <a:blip r:embed="rId4"/>
                      <a:stretch>
                        <a:fillRect/>
                      </a:stretch>
                    </p:blipFill>
                    <p:spPr>
                      <a:xfrm>
                        <a:off x="9393238" y="2522538"/>
                        <a:ext cx="2054225" cy="685800"/>
                      </a:xfrm>
                      <a:prstGeom prst="rect">
                        <a:avLst/>
                      </a:prstGeom>
                    </p:spPr>
                  </p:pic>
                </p:oleObj>
              </mc:Fallback>
            </mc:AlternateContent>
          </a:graphicData>
        </a:graphic>
      </p:graphicFrame>
      <p:sp>
        <p:nvSpPr>
          <p:cNvPr id="5" name="Прямоугольник 4">
            <a:extLst>
              <a:ext uri="{FF2B5EF4-FFF2-40B4-BE49-F238E27FC236}">
                <a16:creationId xmlns:a16="http://schemas.microsoft.com/office/drawing/2014/main" id="{DF8F8831-84F7-498B-A1BA-FF59E1BE025D}"/>
              </a:ext>
            </a:extLst>
          </p:cNvPr>
          <p:cNvSpPr/>
          <p:nvPr/>
        </p:nvSpPr>
        <p:spPr>
          <a:xfrm>
            <a:off x="775414" y="5704395"/>
            <a:ext cx="2144122" cy="707886"/>
          </a:xfrm>
          <a:prstGeom prst="rect">
            <a:avLst/>
          </a:prstGeom>
        </p:spPr>
        <p:txBody>
          <a:bodyPr wrap="square">
            <a:spAutoFit/>
          </a:bodyPr>
          <a:lstStyle/>
          <a:p>
            <a:r>
              <a:rPr lang="en-US" sz="4000" dirty="0" err="1"/>
              <a:t>i</a:t>
            </a:r>
            <a:r>
              <a:rPr lang="en-US" sz="4000" dirty="0"/>
              <a:t>=</a:t>
            </a:r>
            <a:r>
              <a:rPr lang="en-US" sz="4000" dirty="0" err="1"/>
              <a:t>S+pos</a:t>
            </a:r>
            <a:endParaRPr lang="ru-RU" sz="4000" dirty="0"/>
          </a:p>
        </p:txBody>
      </p:sp>
      <p:sp>
        <p:nvSpPr>
          <p:cNvPr id="29" name="Прямоугольник 28">
            <a:extLst>
              <a:ext uri="{FF2B5EF4-FFF2-40B4-BE49-F238E27FC236}">
                <a16:creationId xmlns:a16="http://schemas.microsoft.com/office/drawing/2014/main" id="{8CCD7FAA-27E0-4C79-8407-AA4DD6A93315}"/>
              </a:ext>
            </a:extLst>
          </p:cNvPr>
          <p:cNvSpPr/>
          <p:nvPr/>
        </p:nvSpPr>
        <p:spPr>
          <a:xfrm>
            <a:off x="8009967" y="5623634"/>
            <a:ext cx="2949947" cy="707886"/>
          </a:xfrm>
          <a:prstGeom prst="rect">
            <a:avLst/>
          </a:prstGeom>
        </p:spPr>
        <p:txBody>
          <a:bodyPr wrap="square">
            <a:spAutoFit/>
          </a:bodyPr>
          <a:lstStyle/>
          <a:p>
            <a:r>
              <a:rPr lang="en-US" sz="4000" dirty="0" err="1"/>
              <a:t>i</a:t>
            </a:r>
            <a:r>
              <a:rPr lang="en-US" sz="4000" dirty="0"/>
              <a:t>= 8+2 = 10</a:t>
            </a:r>
            <a:endParaRPr lang="ru-RU" sz="4000" dirty="0"/>
          </a:p>
        </p:txBody>
      </p:sp>
    </p:spTree>
    <p:extLst>
      <p:ext uri="{BB962C8B-B14F-4D97-AF65-F5344CB8AC3E}">
        <p14:creationId xmlns:p14="http://schemas.microsoft.com/office/powerpoint/2010/main" val="1467227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Точечное обновление</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extLst>
              <p:ext uri="{D42A27DB-BD31-4B8C-83A1-F6EECF244321}">
                <p14:modId xmlns:p14="http://schemas.microsoft.com/office/powerpoint/2010/main" val="2226114555"/>
              </p:ext>
            </p:extLst>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00B050"/>
                          </a:solidFill>
                        </a:rPr>
                        <a:t>36</a:t>
                      </a:r>
                    </a:p>
                  </a:txBody>
                  <a:tcPr/>
                </a:tc>
                <a:tc>
                  <a:txBody>
                    <a:bodyPr/>
                    <a:lstStyle/>
                    <a:p>
                      <a:pPr algn="ctr"/>
                      <a:r>
                        <a:rPr lang="ru-RU" sz="3200" b="0" dirty="0">
                          <a:solidFill>
                            <a:srgbClr val="00B050"/>
                          </a:solidFill>
                        </a:rPr>
                        <a:t>17</a:t>
                      </a:r>
                    </a:p>
                  </a:txBody>
                  <a:tcPr/>
                </a:tc>
                <a:tc>
                  <a:txBody>
                    <a:bodyPr/>
                    <a:lstStyle/>
                    <a:p>
                      <a:pPr algn="ctr"/>
                      <a:r>
                        <a:rPr lang="ru-RU" sz="3200" b="0" dirty="0"/>
                        <a:t>19</a:t>
                      </a:r>
                    </a:p>
                  </a:txBody>
                  <a:tcPr/>
                </a:tc>
                <a:tc>
                  <a:txBody>
                    <a:bodyPr/>
                    <a:lstStyle/>
                    <a:p>
                      <a:pPr algn="ctr"/>
                      <a:r>
                        <a:rPr lang="ru-RU" sz="3200" b="0" dirty="0">
                          <a:solidFill>
                            <a:srgbClr val="00B050"/>
                          </a:solidFill>
                        </a:rPr>
                        <a:t>7</a:t>
                      </a:r>
                    </a:p>
                  </a:txBody>
                  <a:tcPr/>
                </a:tc>
                <a:tc>
                  <a:txBody>
                    <a:bodyPr/>
                    <a:lstStyle/>
                    <a:p>
                      <a:pPr algn="ctr"/>
                      <a:r>
                        <a:rPr lang="ru-RU" sz="3200" b="0" dirty="0"/>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solidFill>
                            <a:srgbClr val="00B050"/>
                          </a:solidFill>
                        </a:rPr>
                        <a:t>6</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[0…7]</a:t>
            </a:r>
          </a:p>
          <a:p>
            <a:pPr algn="ctr"/>
            <a:r>
              <a:rPr lang="en-US" dirty="0">
                <a:solidFill>
                  <a:srgbClr val="00B050"/>
                </a:solidFill>
              </a:rPr>
              <a:t>36</a:t>
            </a:r>
            <a:endParaRPr lang="ru-RU" dirty="0">
              <a:solidFill>
                <a:srgbClr val="00B05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[0…3]</a:t>
            </a:r>
          </a:p>
          <a:p>
            <a:pPr algn="ctr"/>
            <a:r>
              <a:rPr lang="en-US" dirty="0">
                <a:solidFill>
                  <a:srgbClr val="00B050"/>
                </a:solidFill>
              </a:rPr>
              <a:t>17</a:t>
            </a:r>
            <a:endParaRPr lang="ru-RU" dirty="0">
              <a:solidFill>
                <a:srgbClr val="00B05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[4…7]</a:t>
            </a:r>
          </a:p>
          <a:p>
            <a:pPr algn="ctr"/>
            <a:r>
              <a:rPr lang="en-US" dirty="0"/>
              <a:t>19</a:t>
            </a:r>
            <a:endParaRPr lang="ru-RU" dirty="0"/>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solidFill>
                  <a:srgbClr val="00B050"/>
                </a:solidFill>
              </a:rPr>
              <a:t>7</a:t>
            </a:r>
            <a:endParaRPr lang="ru-RU" dirty="0">
              <a:solidFill>
                <a:srgbClr val="00B050"/>
              </a:solidFill>
            </a:endParaRPr>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[2…3]</a:t>
            </a:r>
          </a:p>
          <a:p>
            <a:pPr algn="ctr"/>
            <a:r>
              <a:rPr lang="en-US" dirty="0"/>
              <a:t>10</a:t>
            </a:r>
            <a:endParaRPr lang="ru-RU" dirty="0"/>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ru-RU" dirty="0">
                <a:solidFill>
                  <a:srgbClr val="00B050"/>
                </a:solidFill>
              </a:rPr>
              <a:t>6</a:t>
            </a:r>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540589" y="2246936"/>
            <a:ext cx="3095719" cy="707886"/>
          </a:xfrm>
          <a:prstGeom prst="rect">
            <a:avLst/>
          </a:prstGeom>
        </p:spPr>
        <p:txBody>
          <a:bodyPr wrap="none">
            <a:spAutoFit/>
          </a:bodyPr>
          <a:lstStyle/>
          <a:p>
            <a:r>
              <a:rPr lang="en-US" sz="4000" dirty="0"/>
              <a:t>update(2,6)</a:t>
            </a:r>
            <a:endParaRPr lang="ru-RU" sz="4000" dirty="0"/>
          </a:p>
        </p:txBody>
      </p:sp>
      <p:sp>
        <p:nvSpPr>
          <p:cNvPr id="3" name="Прямоугольник: скругленные углы 2">
            <a:extLst>
              <a:ext uri="{FF2B5EF4-FFF2-40B4-BE49-F238E27FC236}">
                <a16:creationId xmlns:a16="http://schemas.microsoft.com/office/drawing/2014/main" id="{FF33C0A6-0CEF-41D1-BC5D-BA7F4D3223FF}"/>
              </a:ext>
            </a:extLst>
          </p:cNvPr>
          <p:cNvSpPr/>
          <p:nvPr/>
        </p:nvSpPr>
        <p:spPr>
          <a:xfrm>
            <a:off x="9009532" y="2246936"/>
            <a:ext cx="2641879" cy="1329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aphicFrame>
        <p:nvGraphicFramePr>
          <p:cNvPr id="4" name="Объект 3">
            <a:extLst>
              <a:ext uri="{FF2B5EF4-FFF2-40B4-BE49-F238E27FC236}">
                <a16:creationId xmlns:a16="http://schemas.microsoft.com/office/drawing/2014/main" id="{59D79553-2085-4458-98F5-0B4A90C84972}"/>
              </a:ext>
            </a:extLst>
          </p:cNvPr>
          <p:cNvGraphicFramePr>
            <a:graphicFrameLocks noChangeAspect="1"/>
          </p:cNvGraphicFramePr>
          <p:nvPr/>
        </p:nvGraphicFramePr>
        <p:xfrm>
          <a:off x="9393238" y="2522538"/>
          <a:ext cx="2054225" cy="685800"/>
        </p:xfrm>
        <a:graphic>
          <a:graphicData uri="http://schemas.openxmlformats.org/presentationml/2006/ole">
            <mc:AlternateContent xmlns:mc="http://schemas.openxmlformats.org/markup-compatibility/2006">
              <mc:Choice xmlns:v="urn:schemas-microsoft-com:vml" Requires="v">
                <p:oleObj spid="_x0000_s36868" name="Equation" r:id="rId3" imgW="609480" imgH="203040" progId="Equation.DSMT4">
                  <p:embed/>
                </p:oleObj>
              </mc:Choice>
              <mc:Fallback>
                <p:oleObj name="Equation" r:id="rId3" imgW="609480" imgH="203040" progId="Equation.DSMT4">
                  <p:embed/>
                  <p:pic>
                    <p:nvPicPr>
                      <p:cNvPr id="4" name="Объект 3">
                        <a:extLst>
                          <a:ext uri="{FF2B5EF4-FFF2-40B4-BE49-F238E27FC236}">
                            <a16:creationId xmlns:a16="http://schemas.microsoft.com/office/drawing/2014/main" id="{59D79553-2085-4458-98F5-0B4A90C84972}"/>
                          </a:ext>
                        </a:extLst>
                      </p:cNvPr>
                      <p:cNvPicPr/>
                      <p:nvPr/>
                    </p:nvPicPr>
                    <p:blipFill>
                      <a:blip r:embed="rId4"/>
                      <a:stretch>
                        <a:fillRect/>
                      </a:stretch>
                    </p:blipFill>
                    <p:spPr>
                      <a:xfrm>
                        <a:off x="9393238" y="2522538"/>
                        <a:ext cx="2054225" cy="685800"/>
                      </a:xfrm>
                      <a:prstGeom prst="rect">
                        <a:avLst/>
                      </a:prstGeom>
                    </p:spPr>
                  </p:pic>
                </p:oleObj>
              </mc:Fallback>
            </mc:AlternateContent>
          </a:graphicData>
        </a:graphic>
      </p:graphicFrame>
      <p:sp>
        <p:nvSpPr>
          <p:cNvPr id="5" name="Прямоугольник 4">
            <a:extLst>
              <a:ext uri="{FF2B5EF4-FFF2-40B4-BE49-F238E27FC236}">
                <a16:creationId xmlns:a16="http://schemas.microsoft.com/office/drawing/2014/main" id="{DF8F8831-84F7-498B-A1BA-FF59E1BE025D}"/>
              </a:ext>
            </a:extLst>
          </p:cNvPr>
          <p:cNvSpPr/>
          <p:nvPr/>
        </p:nvSpPr>
        <p:spPr>
          <a:xfrm>
            <a:off x="775414" y="5704395"/>
            <a:ext cx="2144122" cy="707886"/>
          </a:xfrm>
          <a:prstGeom prst="rect">
            <a:avLst/>
          </a:prstGeom>
        </p:spPr>
        <p:txBody>
          <a:bodyPr wrap="square">
            <a:spAutoFit/>
          </a:bodyPr>
          <a:lstStyle/>
          <a:p>
            <a:r>
              <a:rPr lang="en-US" sz="4000" dirty="0" err="1"/>
              <a:t>i</a:t>
            </a:r>
            <a:r>
              <a:rPr lang="en-US" sz="4000" dirty="0"/>
              <a:t>=</a:t>
            </a:r>
            <a:r>
              <a:rPr lang="en-US" sz="4000" dirty="0" err="1"/>
              <a:t>S+pos</a:t>
            </a:r>
            <a:endParaRPr lang="ru-RU" sz="4000" dirty="0"/>
          </a:p>
        </p:txBody>
      </p:sp>
      <p:sp>
        <p:nvSpPr>
          <p:cNvPr id="29" name="Прямоугольник 28">
            <a:extLst>
              <a:ext uri="{FF2B5EF4-FFF2-40B4-BE49-F238E27FC236}">
                <a16:creationId xmlns:a16="http://schemas.microsoft.com/office/drawing/2014/main" id="{8CCD7FAA-27E0-4C79-8407-AA4DD6A93315}"/>
              </a:ext>
            </a:extLst>
          </p:cNvPr>
          <p:cNvSpPr/>
          <p:nvPr/>
        </p:nvSpPr>
        <p:spPr>
          <a:xfrm>
            <a:off x="8009967" y="5623634"/>
            <a:ext cx="2949947" cy="707886"/>
          </a:xfrm>
          <a:prstGeom prst="rect">
            <a:avLst/>
          </a:prstGeom>
        </p:spPr>
        <p:txBody>
          <a:bodyPr wrap="square">
            <a:spAutoFit/>
          </a:bodyPr>
          <a:lstStyle/>
          <a:p>
            <a:r>
              <a:rPr lang="en-US" sz="4000" dirty="0" err="1"/>
              <a:t>i</a:t>
            </a:r>
            <a:r>
              <a:rPr lang="en-US" sz="4000" dirty="0"/>
              <a:t>= 8+2 = 10</a:t>
            </a:r>
            <a:endParaRPr lang="ru-RU" sz="4000" dirty="0"/>
          </a:p>
        </p:txBody>
      </p:sp>
      <p:sp>
        <p:nvSpPr>
          <p:cNvPr id="30" name="Прямоугольник 29">
            <a:extLst>
              <a:ext uri="{FF2B5EF4-FFF2-40B4-BE49-F238E27FC236}">
                <a16:creationId xmlns:a16="http://schemas.microsoft.com/office/drawing/2014/main" id="{079A265C-B209-41AC-AD98-F6808B772EEF}"/>
              </a:ext>
            </a:extLst>
          </p:cNvPr>
          <p:cNvSpPr/>
          <p:nvPr/>
        </p:nvSpPr>
        <p:spPr>
          <a:xfrm>
            <a:off x="3753410" y="5704391"/>
            <a:ext cx="3894607" cy="707886"/>
          </a:xfrm>
          <a:prstGeom prst="rect">
            <a:avLst/>
          </a:prstGeom>
        </p:spPr>
        <p:txBody>
          <a:bodyPr wrap="square">
            <a:spAutoFit/>
          </a:bodyPr>
          <a:lstStyle/>
          <a:p>
            <a:r>
              <a:rPr lang="en-US" sz="4000" dirty="0"/>
              <a:t>parent=</a:t>
            </a:r>
            <a:r>
              <a:rPr lang="en-US" sz="4000" dirty="0" err="1"/>
              <a:t>i</a:t>
            </a:r>
            <a:r>
              <a:rPr lang="en-US" sz="4000" dirty="0"/>
              <a:t> // 2</a:t>
            </a:r>
            <a:endParaRPr lang="ru-RU" sz="4000" dirty="0"/>
          </a:p>
        </p:txBody>
      </p:sp>
    </p:spTree>
    <p:extLst>
      <p:ext uri="{BB962C8B-B14F-4D97-AF65-F5344CB8AC3E}">
        <p14:creationId xmlns:p14="http://schemas.microsoft.com/office/powerpoint/2010/main" val="21523276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6A15AE-8D40-4A19-8FFB-B9FA2381F846}"/>
              </a:ext>
            </a:extLst>
          </p:cNvPr>
          <p:cNvSpPr>
            <a:spLocks noGrp="1"/>
          </p:cNvSpPr>
          <p:nvPr>
            <p:ph type="title"/>
          </p:nvPr>
        </p:nvSpPr>
        <p:spPr/>
        <p:txBody>
          <a:bodyPr/>
          <a:lstStyle/>
          <a:p>
            <a:r>
              <a:rPr lang="ru-RU" dirty="0"/>
              <a:t>Точечное обновление</a:t>
            </a:r>
          </a:p>
        </p:txBody>
      </p:sp>
      <p:sp>
        <p:nvSpPr>
          <p:cNvPr id="7" name="Текст 6">
            <a:extLst>
              <a:ext uri="{FF2B5EF4-FFF2-40B4-BE49-F238E27FC236}">
                <a16:creationId xmlns:a16="http://schemas.microsoft.com/office/drawing/2014/main" id="{F38E317C-C56E-47C4-971D-5C327B62176B}"/>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917B2055-D3B1-4400-9999-1985FBDFB7D6}"/>
              </a:ext>
            </a:extLst>
          </p:cNvPr>
          <p:cNvGraphicFramePr>
            <a:graphicFrameLocks noGrp="1"/>
          </p:cNvGraphicFramePr>
          <p:nvPr/>
        </p:nvGraphicFramePr>
        <p:xfrm>
          <a:off x="528820" y="1422308"/>
          <a:ext cx="11131184" cy="632012"/>
        </p:xfrm>
        <a:graphic>
          <a:graphicData uri="http://schemas.openxmlformats.org/drawingml/2006/table">
            <a:tbl>
              <a:tblPr firstRow="1" bandRow="1">
                <a:tableStyleId>{BC89EF96-8CEA-46FF-86C4-4CE0E7609802}</a:tableStyleId>
              </a:tblPr>
              <a:tblGrid>
                <a:gridCol w="695699">
                  <a:extLst>
                    <a:ext uri="{9D8B030D-6E8A-4147-A177-3AD203B41FA5}">
                      <a16:colId xmlns:a16="http://schemas.microsoft.com/office/drawing/2014/main" val="3466717465"/>
                    </a:ext>
                  </a:extLst>
                </a:gridCol>
                <a:gridCol w="695699">
                  <a:extLst>
                    <a:ext uri="{9D8B030D-6E8A-4147-A177-3AD203B41FA5}">
                      <a16:colId xmlns:a16="http://schemas.microsoft.com/office/drawing/2014/main" val="1500625731"/>
                    </a:ext>
                  </a:extLst>
                </a:gridCol>
                <a:gridCol w="695699">
                  <a:extLst>
                    <a:ext uri="{9D8B030D-6E8A-4147-A177-3AD203B41FA5}">
                      <a16:colId xmlns:a16="http://schemas.microsoft.com/office/drawing/2014/main" val="2070442504"/>
                    </a:ext>
                  </a:extLst>
                </a:gridCol>
                <a:gridCol w="695699">
                  <a:extLst>
                    <a:ext uri="{9D8B030D-6E8A-4147-A177-3AD203B41FA5}">
                      <a16:colId xmlns:a16="http://schemas.microsoft.com/office/drawing/2014/main" val="1223453896"/>
                    </a:ext>
                  </a:extLst>
                </a:gridCol>
                <a:gridCol w="695699">
                  <a:extLst>
                    <a:ext uri="{9D8B030D-6E8A-4147-A177-3AD203B41FA5}">
                      <a16:colId xmlns:a16="http://schemas.microsoft.com/office/drawing/2014/main" val="1565654584"/>
                    </a:ext>
                  </a:extLst>
                </a:gridCol>
                <a:gridCol w="695699">
                  <a:extLst>
                    <a:ext uri="{9D8B030D-6E8A-4147-A177-3AD203B41FA5}">
                      <a16:colId xmlns:a16="http://schemas.microsoft.com/office/drawing/2014/main" val="3449605180"/>
                    </a:ext>
                  </a:extLst>
                </a:gridCol>
                <a:gridCol w="695699">
                  <a:extLst>
                    <a:ext uri="{9D8B030D-6E8A-4147-A177-3AD203B41FA5}">
                      <a16:colId xmlns:a16="http://schemas.microsoft.com/office/drawing/2014/main" val="1557714938"/>
                    </a:ext>
                  </a:extLst>
                </a:gridCol>
                <a:gridCol w="695699">
                  <a:extLst>
                    <a:ext uri="{9D8B030D-6E8A-4147-A177-3AD203B41FA5}">
                      <a16:colId xmlns:a16="http://schemas.microsoft.com/office/drawing/2014/main" val="3282307940"/>
                    </a:ext>
                  </a:extLst>
                </a:gridCol>
                <a:gridCol w="695699">
                  <a:extLst>
                    <a:ext uri="{9D8B030D-6E8A-4147-A177-3AD203B41FA5}">
                      <a16:colId xmlns:a16="http://schemas.microsoft.com/office/drawing/2014/main" val="3642686029"/>
                    </a:ext>
                  </a:extLst>
                </a:gridCol>
                <a:gridCol w="695699">
                  <a:extLst>
                    <a:ext uri="{9D8B030D-6E8A-4147-A177-3AD203B41FA5}">
                      <a16:colId xmlns:a16="http://schemas.microsoft.com/office/drawing/2014/main" val="3269735305"/>
                    </a:ext>
                  </a:extLst>
                </a:gridCol>
                <a:gridCol w="695699">
                  <a:extLst>
                    <a:ext uri="{9D8B030D-6E8A-4147-A177-3AD203B41FA5}">
                      <a16:colId xmlns:a16="http://schemas.microsoft.com/office/drawing/2014/main" val="3112716744"/>
                    </a:ext>
                  </a:extLst>
                </a:gridCol>
                <a:gridCol w="695699">
                  <a:extLst>
                    <a:ext uri="{9D8B030D-6E8A-4147-A177-3AD203B41FA5}">
                      <a16:colId xmlns:a16="http://schemas.microsoft.com/office/drawing/2014/main" val="1838474828"/>
                    </a:ext>
                  </a:extLst>
                </a:gridCol>
                <a:gridCol w="695699">
                  <a:extLst>
                    <a:ext uri="{9D8B030D-6E8A-4147-A177-3AD203B41FA5}">
                      <a16:colId xmlns:a16="http://schemas.microsoft.com/office/drawing/2014/main" val="3246051615"/>
                    </a:ext>
                  </a:extLst>
                </a:gridCol>
                <a:gridCol w="695699">
                  <a:extLst>
                    <a:ext uri="{9D8B030D-6E8A-4147-A177-3AD203B41FA5}">
                      <a16:colId xmlns:a16="http://schemas.microsoft.com/office/drawing/2014/main" val="2381487150"/>
                    </a:ext>
                  </a:extLst>
                </a:gridCol>
                <a:gridCol w="695699">
                  <a:extLst>
                    <a:ext uri="{9D8B030D-6E8A-4147-A177-3AD203B41FA5}">
                      <a16:colId xmlns:a16="http://schemas.microsoft.com/office/drawing/2014/main" val="1128967840"/>
                    </a:ext>
                  </a:extLst>
                </a:gridCol>
                <a:gridCol w="695699">
                  <a:extLst>
                    <a:ext uri="{9D8B030D-6E8A-4147-A177-3AD203B41FA5}">
                      <a16:colId xmlns:a16="http://schemas.microsoft.com/office/drawing/2014/main" val="4179123158"/>
                    </a:ext>
                  </a:extLst>
                </a:gridCol>
              </a:tblGrid>
              <a:tr h="632012">
                <a:tc>
                  <a:txBody>
                    <a:bodyPr/>
                    <a:lstStyle/>
                    <a:p>
                      <a:pPr algn="ctr"/>
                      <a:r>
                        <a:rPr lang="ru-RU" sz="3200" b="0" dirty="0"/>
                        <a:t>0</a:t>
                      </a:r>
                    </a:p>
                  </a:txBody>
                  <a:tcPr/>
                </a:tc>
                <a:tc>
                  <a:txBody>
                    <a:bodyPr/>
                    <a:lstStyle/>
                    <a:p>
                      <a:pPr algn="ctr"/>
                      <a:r>
                        <a:rPr lang="ru-RU" sz="3200" b="0" dirty="0">
                          <a:solidFill>
                            <a:srgbClr val="00B050"/>
                          </a:solidFill>
                        </a:rPr>
                        <a:t>36</a:t>
                      </a:r>
                    </a:p>
                  </a:txBody>
                  <a:tcPr/>
                </a:tc>
                <a:tc>
                  <a:txBody>
                    <a:bodyPr/>
                    <a:lstStyle/>
                    <a:p>
                      <a:pPr algn="ctr"/>
                      <a:r>
                        <a:rPr lang="ru-RU" sz="3200" b="0" dirty="0">
                          <a:solidFill>
                            <a:srgbClr val="00B050"/>
                          </a:solidFill>
                        </a:rPr>
                        <a:t>17</a:t>
                      </a:r>
                    </a:p>
                  </a:txBody>
                  <a:tcPr/>
                </a:tc>
                <a:tc>
                  <a:txBody>
                    <a:bodyPr/>
                    <a:lstStyle/>
                    <a:p>
                      <a:pPr algn="ctr"/>
                      <a:r>
                        <a:rPr lang="ru-RU" sz="3200" b="0" dirty="0"/>
                        <a:t>19</a:t>
                      </a:r>
                    </a:p>
                  </a:txBody>
                  <a:tcPr/>
                </a:tc>
                <a:tc>
                  <a:txBody>
                    <a:bodyPr/>
                    <a:lstStyle/>
                    <a:p>
                      <a:pPr algn="ctr"/>
                      <a:r>
                        <a:rPr lang="ru-RU" sz="3200" b="0" dirty="0">
                          <a:solidFill>
                            <a:srgbClr val="00B050"/>
                          </a:solidFill>
                        </a:rPr>
                        <a:t>7</a:t>
                      </a:r>
                    </a:p>
                  </a:txBody>
                  <a:tcPr/>
                </a:tc>
                <a:tc>
                  <a:txBody>
                    <a:bodyPr/>
                    <a:lstStyle/>
                    <a:p>
                      <a:pPr algn="ctr"/>
                      <a:r>
                        <a:rPr lang="ru-RU" sz="3200" b="0" dirty="0"/>
                        <a:t>10</a:t>
                      </a:r>
                    </a:p>
                  </a:txBody>
                  <a:tcPr/>
                </a:tc>
                <a:tc>
                  <a:txBody>
                    <a:bodyPr/>
                    <a:lstStyle/>
                    <a:p>
                      <a:pPr algn="ctr"/>
                      <a:r>
                        <a:rPr lang="ru-RU" sz="3200" b="0" dirty="0"/>
                        <a:t>7</a:t>
                      </a:r>
                    </a:p>
                  </a:txBody>
                  <a:tcPr/>
                </a:tc>
                <a:tc>
                  <a:txBody>
                    <a:bodyPr/>
                    <a:lstStyle/>
                    <a:p>
                      <a:pPr algn="ctr"/>
                      <a:r>
                        <a:rPr lang="ru-RU" sz="3200" b="0" dirty="0"/>
                        <a:t>12</a:t>
                      </a:r>
                    </a:p>
                  </a:txBody>
                  <a:tcPr/>
                </a:tc>
                <a:tc>
                  <a:txBody>
                    <a:bodyPr/>
                    <a:lstStyle/>
                    <a:p>
                      <a:pPr algn="ctr"/>
                      <a:r>
                        <a:rPr lang="ru-RU" sz="3200" b="0" dirty="0"/>
                        <a:t>5</a:t>
                      </a:r>
                    </a:p>
                  </a:txBody>
                  <a:tcPr/>
                </a:tc>
                <a:tc>
                  <a:txBody>
                    <a:bodyPr/>
                    <a:lstStyle/>
                    <a:p>
                      <a:pPr algn="ctr"/>
                      <a:r>
                        <a:rPr lang="ru-RU" sz="3200" b="0" dirty="0">
                          <a:solidFill>
                            <a:srgbClr val="00B050"/>
                          </a:solidFill>
                        </a:rPr>
                        <a:t>6</a:t>
                      </a:r>
                    </a:p>
                  </a:txBody>
                  <a:tcPr/>
                </a:tc>
                <a:tc>
                  <a:txBody>
                    <a:bodyPr/>
                    <a:lstStyle/>
                    <a:p>
                      <a:pPr algn="ctr"/>
                      <a:r>
                        <a:rPr lang="ru-RU" sz="3200" b="0" dirty="0"/>
                        <a:t>7</a:t>
                      </a:r>
                    </a:p>
                  </a:txBody>
                  <a:tcPr/>
                </a:tc>
                <a:tc>
                  <a:txBody>
                    <a:bodyPr/>
                    <a:lstStyle/>
                    <a:p>
                      <a:pPr algn="ctr"/>
                      <a:r>
                        <a:rPr lang="ru-RU" sz="3200" b="0" dirty="0"/>
                        <a:t>3</a:t>
                      </a:r>
                    </a:p>
                  </a:txBody>
                  <a:tcPr/>
                </a:tc>
                <a:tc>
                  <a:txBody>
                    <a:bodyPr/>
                    <a:lstStyle/>
                    <a:p>
                      <a:pPr algn="ctr"/>
                      <a:r>
                        <a:rPr lang="ru-RU" sz="3200" b="0" dirty="0"/>
                        <a:t>6</a:t>
                      </a:r>
                    </a:p>
                  </a:txBody>
                  <a:tcPr/>
                </a:tc>
                <a:tc>
                  <a:txBody>
                    <a:bodyPr/>
                    <a:lstStyle/>
                    <a:p>
                      <a:pPr algn="ctr"/>
                      <a:r>
                        <a:rPr lang="ru-RU" sz="3200" b="0" dirty="0"/>
                        <a:t>1</a:t>
                      </a:r>
                    </a:p>
                  </a:txBody>
                  <a:tcPr/>
                </a:tc>
                <a:tc>
                  <a:txBody>
                    <a:bodyPr/>
                    <a:lstStyle/>
                    <a:p>
                      <a:pPr algn="ctr"/>
                      <a:r>
                        <a:rPr lang="ru-RU" sz="3200" b="0" dirty="0"/>
                        <a:t>4</a:t>
                      </a:r>
                    </a:p>
                  </a:txBody>
                  <a:tcPr/>
                </a:tc>
                <a:tc>
                  <a:txBody>
                    <a:bodyPr/>
                    <a:lstStyle/>
                    <a:p>
                      <a:pPr algn="ctr"/>
                      <a:r>
                        <a:rPr lang="ru-RU" sz="3200" b="0" dirty="0"/>
                        <a:t>8</a:t>
                      </a:r>
                    </a:p>
                  </a:txBody>
                  <a:tcPr/>
                </a:tc>
                <a:extLst>
                  <a:ext uri="{0D108BD9-81ED-4DB2-BD59-A6C34878D82A}">
                    <a16:rowId xmlns:a16="http://schemas.microsoft.com/office/drawing/2014/main" val="2186690520"/>
                  </a:ext>
                </a:extLst>
              </a:tr>
            </a:tbl>
          </a:graphicData>
        </a:graphic>
      </p:graphicFrame>
      <p:sp>
        <p:nvSpPr>
          <p:cNvPr id="9" name="Прямоугольник 8">
            <a:extLst>
              <a:ext uri="{FF2B5EF4-FFF2-40B4-BE49-F238E27FC236}">
                <a16:creationId xmlns:a16="http://schemas.microsoft.com/office/drawing/2014/main" id="{18D02056-FE46-4267-A546-92EC9C043F95}"/>
              </a:ext>
            </a:extLst>
          </p:cNvPr>
          <p:cNvSpPr/>
          <p:nvPr/>
        </p:nvSpPr>
        <p:spPr>
          <a:xfrm>
            <a:off x="5188323" y="2233313"/>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[0…7]</a:t>
            </a:r>
          </a:p>
          <a:p>
            <a:pPr algn="ctr"/>
            <a:r>
              <a:rPr lang="en-US" dirty="0">
                <a:solidFill>
                  <a:srgbClr val="00B050"/>
                </a:solidFill>
              </a:rPr>
              <a:t>40</a:t>
            </a:r>
            <a:endParaRPr lang="ru-RU" dirty="0">
              <a:solidFill>
                <a:srgbClr val="00B050"/>
              </a:solidFill>
            </a:endParaRPr>
          </a:p>
        </p:txBody>
      </p:sp>
      <p:sp>
        <p:nvSpPr>
          <p:cNvPr id="10" name="Прямоугольник 9">
            <a:extLst>
              <a:ext uri="{FF2B5EF4-FFF2-40B4-BE49-F238E27FC236}">
                <a16:creationId xmlns:a16="http://schemas.microsoft.com/office/drawing/2014/main" id="{875CEBA0-88F7-4A30-A8F7-852F00E9BD89}"/>
              </a:ext>
            </a:extLst>
          </p:cNvPr>
          <p:cNvSpPr/>
          <p:nvPr/>
        </p:nvSpPr>
        <p:spPr>
          <a:xfrm>
            <a:off x="4090147" y="3044319"/>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[0…3]</a:t>
            </a:r>
          </a:p>
          <a:p>
            <a:pPr algn="ctr"/>
            <a:r>
              <a:rPr lang="en-US" dirty="0">
                <a:solidFill>
                  <a:srgbClr val="00B050"/>
                </a:solidFill>
              </a:rPr>
              <a:t>21</a:t>
            </a:r>
            <a:endParaRPr lang="ru-RU" dirty="0">
              <a:solidFill>
                <a:srgbClr val="00B050"/>
              </a:solidFill>
            </a:endParaRPr>
          </a:p>
        </p:txBody>
      </p:sp>
      <p:sp>
        <p:nvSpPr>
          <p:cNvPr id="11" name="Прямоугольник 10">
            <a:extLst>
              <a:ext uri="{FF2B5EF4-FFF2-40B4-BE49-F238E27FC236}">
                <a16:creationId xmlns:a16="http://schemas.microsoft.com/office/drawing/2014/main" id="{9166EDCF-AC0B-40DF-A636-AC846626BA20}"/>
              </a:ext>
            </a:extLst>
          </p:cNvPr>
          <p:cNvSpPr/>
          <p:nvPr/>
        </p:nvSpPr>
        <p:spPr>
          <a:xfrm>
            <a:off x="6286502" y="3044318"/>
            <a:ext cx="1815353"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[4…7]</a:t>
            </a:r>
          </a:p>
          <a:p>
            <a:pPr algn="ctr"/>
            <a:r>
              <a:rPr lang="en-US" dirty="0"/>
              <a:t>19</a:t>
            </a:r>
            <a:endParaRPr lang="ru-RU" dirty="0"/>
          </a:p>
        </p:txBody>
      </p:sp>
      <p:sp>
        <p:nvSpPr>
          <p:cNvPr id="12" name="Прямоугольник 11">
            <a:extLst>
              <a:ext uri="{FF2B5EF4-FFF2-40B4-BE49-F238E27FC236}">
                <a16:creationId xmlns:a16="http://schemas.microsoft.com/office/drawing/2014/main" id="{CB439CC8-3DA8-498F-BCE7-9F75B8445FCD}"/>
              </a:ext>
            </a:extLst>
          </p:cNvPr>
          <p:cNvSpPr/>
          <p:nvPr/>
        </p:nvSpPr>
        <p:spPr>
          <a:xfrm>
            <a:off x="3182470"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[0…1]</a:t>
            </a:r>
          </a:p>
          <a:p>
            <a:pPr algn="ctr"/>
            <a:r>
              <a:rPr lang="en-US" dirty="0">
                <a:solidFill>
                  <a:srgbClr val="00B050"/>
                </a:solidFill>
              </a:rPr>
              <a:t>11</a:t>
            </a:r>
            <a:endParaRPr lang="ru-RU" dirty="0">
              <a:solidFill>
                <a:srgbClr val="00B050"/>
              </a:solidFill>
            </a:endParaRPr>
          </a:p>
        </p:txBody>
      </p:sp>
      <p:sp>
        <p:nvSpPr>
          <p:cNvPr id="13" name="Прямоугольник 12">
            <a:extLst>
              <a:ext uri="{FF2B5EF4-FFF2-40B4-BE49-F238E27FC236}">
                <a16:creationId xmlns:a16="http://schemas.microsoft.com/office/drawing/2014/main" id="{00A8BFE5-7B72-47A5-AFE5-CD5E4D283E1A}"/>
              </a:ext>
            </a:extLst>
          </p:cNvPr>
          <p:cNvSpPr/>
          <p:nvPr/>
        </p:nvSpPr>
        <p:spPr>
          <a:xfrm>
            <a:off x="4543984"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[2…3]</a:t>
            </a:r>
          </a:p>
          <a:p>
            <a:pPr algn="ctr"/>
            <a:r>
              <a:rPr lang="en-US" dirty="0"/>
              <a:t>10</a:t>
            </a:r>
            <a:endParaRPr lang="ru-RU" dirty="0"/>
          </a:p>
        </p:txBody>
      </p:sp>
      <p:sp>
        <p:nvSpPr>
          <p:cNvPr id="14" name="Прямоугольник 13">
            <a:extLst>
              <a:ext uri="{FF2B5EF4-FFF2-40B4-BE49-F238E27FC236}">
                <a16:creationId xmlns:a16="http://schemas.microsoft.com/office/drawing/2014/main" id="{685B2E2E-849C-4C2E-BE23-CDFA17C9B9FF}"/>
              </a:ext>
            </a:extLst>
          </p:cNvPr>
          <p:cNvSpPr/>
          <p:nvPr/>
        </p:nvSpPr>
        <p:spPr>
          <a:xfrm>
            <a:off x="6740341" y="3855325"/>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[4..5]</a:t>
            </a:r>
          </a:p>
          <a:p>
            <a:pPr algn="ctr"/>
            <a:r>
              <a:rPr lang="en-US" dirty="0"/>
              <a:t>7</a:t>
            </a:r>
            <a:endParaRPr lang="ru-RU" dirty="0"/>
          </a:p>
        </p:txBody>
      </p:sp>
      <p:sp>
        <p:nvSpPr>
          <p:cNvPr id="15" name="Прямоугольник 14">
            <a:extLst>
              <a:ext uri="{FF2B5EF4-FFF2-40B4-BE49-F238E27FC236}">
                <a16:creationId xmlns:a16="http://schemas.microsoft.com/office/drawing/2014/main" id="{F48876CA-9CCE-49C8-8D97-5BDCE43E6622}"/>
              </a:ext>
            </a:extLst>
          </p:cNvPr>
          <p:cNvSpPr/>
          <p:nvPr/>
        </p:nvSpPr>
        <p:spPr>
          <a:xfrm>
            <a:off x="8101855" y="3855324"/>
            <a:ext cx="907677"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[6..7]</a:t>
            </a:r>
          </a:p>
          <a:p>
            <a:pPr algn="ctr"/>
            <a:r>
              <a:rPr lang="en-US" dirty="0"/>
              <a:t>12</a:t>
            </a:r>
            <a:endParaRPr lang="ru-RU" dirty="0"/>
          </a:p>
        </p:txBody>
      </p:sp>
      <p:sp>
        <p:nvSpPr>
          <p:cNvPr id="18" name="Прямоугольник 17">
            <a:extLst>
              <a:ext uri="{FF2B5EF4-FFF2-40B4-BE49-F238E27FC236}">
                <a16:creationId xmlns:a16="http://schemas.microsoft.com/office/drawing/2014/main" id="{9F7F385C-0C57-4A2E-BB11-18C3B4F8096B}"/>
              </a:ext>
            </a:extLst>
          </p:cNvPr>
          <p:cNvSpPr/>
          <p:nvPr/>
        </p:nvSpPr>
        <p:spPr>
          <a:xfrm>
            <a:off x="4280647"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7</a:t>
            </a:r>
            <a:endParaRPr lang="ru-RU" dirty="0"/>
          </a:p>
        </p:txBody>
      </p:sp>
      <p:sp>
        <p:nvSpPr>
          <p:cNvPr id="19" name="Прямоугольник 18">
            <a:extLst>
              <a:ext uri="{FF2B5EF4-FFF2-40B4-BE49-F238E27FC236}">
                <a16:creationId xmlns:a16="http://schemas.microsoft.com/office/drawing/2014/main" id="{A86C3159-A124-4CEF-B326-8B4F879218E5}"/>
              </a:ext>
            </a:extLst>
          </p:cNvPr>
          <p:cNvSpPr/>
          <p:nvPr/>
        </p:nvSpPr>
        <p:spPr>
          <a:xfrm>
            <a:off x="514956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3</a:t>
            </a:r>
            <a:endParaRPr lang="ru-RU" dirty="0"/>
          </a:p>
        </p:txBody>
      </p:sp>
      <p:sp>
        <p:nvSpPr>
          <p:cNvPr id="22" name="Прямоугольник 21">
            <a:extLst>
              <a:ext uri="{FF2B5EF4-FFF2-40B4-BE49-F238E27FC236}">
                <a16:creationId xmlns:a16="http://schemas.microsoft.com/office/drawing/2014/main" id="{EA360F9A-8EB2-44FC-B71B-58DB44D096A6}"/>
              </a:ext>
            </a:extLst>
          </p:cNvPr>
          <p:cNvSpPr/>
          <p:nvPr/>
        </p:nvSpPr>
        <p:spPr>
          <a:xfrm>
            <a:off x="2584171" y="4779860"/>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5</a:t>
            </a:r>
            <a:endParaRPr lang="ru-RU" dirty="0"/>
          </a:p>
        </p:txBody>
      </p:sp>
      <p:sp>
        <p:nvSpPr>
          <p:cNvPr id="23" name="Прямоугольник 22">
            <a:extLst>
              <a:ext uri="{FF2B5EF4-FFF2-40B4-BE49-F238E27FC236}">
                <a16:creationId xmlns:a16="http://schemas.microsoft.com/office/drawing/2014/main" id="{827807BF-17AD-42B0-A9B2-9DD868CAA515}"/>
              </a:ext>
            </a:extLst>
          </p:cNvPr>
          <p:cNvSpPr/>
          <p:nvPr/>
        </p:nvSpPr>
        <p:spPr>
          <a:xfrm>
            <a:off x="3453093"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ru-RU" dirty="0">
                <a:solidFill>
                  <a:srgbClr val="00B050"/>
                </a:solidFill>
              </a:rPr>
              <a:t>6</a:t>
            </a:r>
          </a:p>
        </p:txBody>
      </p:sp>
      <p:sp>
        <p:nvSpPr>
          <p:cNvPr id="24" name="Прямоугольник 23">
            <a:extLst>
              <a:ext uri="{FF2B5EF4-FFF2-40B4-BE49-F238E27FC236}">
                <a16:creationId xmlns:a16="http://schemas.microsoft.com/office/drawing/2014/main" id="{DCC4F478-6BAD-40C8-9590-23DF8764948D}"/>
              </a:ext>
            </a:extLst>
          </p:cNvPr>
          <p:cNvSpPr/>
          <p:nvPr/>
        </p:nvSpPr>
        <p:spPr>
          <a:xfrm>
            <a:off x="8101855"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4</a:t>
            </a:r>
            <a:endParaRPr lang="ru-RU" dirty="0"/>
          </a:p>
        </p:txBody>
      </p:sp>
      <p:sp>
        <p:nvSpPr>
          <p:cNvPr id="25" name="Прямоугольник 24">
            <a:extLst>
              <a:ext uri="{FF2B5EF4-FFF2-40B4-BE49-F238E27FC236}">
                <a16:creationId xmlns:a16="http://schemas.microsoft.com/office/drawing/2014/main" id="{6502400B-DB80-475F-9EE8-44D17AF48749}"/>
              </a:ext>
            </a:extLst>
          </p:cNvPr>
          <p:cNvSpPr/>
          <p:nvPr/>
        </p:nvSpPr>
        <p:spPr>
          <a:xfrm>
            <a:off x="8970777"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8</a:t>
            </a:r>
            <a:endParaRPr lang="ru-RU" dirty="0"/>
          </a:p>
        </p:txBody>
      </p:sp>
      <p:sp>
        <p:nvSpPr>
          <p:cNvPr id="26" name="Прямоугольник 25">
            <a:extLst>
              <a:ext uri="{FF2B5EF4-FFF2-40B4-BE49-F238E27FC236}">
                <a16:creationId xmlns:a16="http://schemas.microsoft.com/office/drawing/2014/main" id="{73C51F31-F955-4261-B7E7-B50862224196}"/>
              </a:ext>
            </a:extLst>
          </p:cNvPr>
          <p:cNvSpPr/>
          <p:nvPr/>
        </p:nvSpPr>
        <p:spPr>
          <a:xfrm>
            <a:off x="6405379" y="4779858"/>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6</a:t>
            </a:r>
            <a:endParaRPr lang="ru-RU" dirty="0"/>
          </a:p>
        </p:txBody>
      </p:sp>
      <p:sp>
        <p:nvSpPr>
          <p:cNvPr id="27" name="Прямоугольник 26">
            <a:extLst>
              <a:ext uri="{FF2B5EF4-FFF2-40B4-BE49-F238E27FC236}">
                <a16:creationId xmlns:a16="http://schemas.microsoft.com/office/drawing/2014/main" id="{E4202AD6-3019-4601-A9A7-9217FFDD4F17}"/>
              </a:ext>
            </a:extLst>
          </p:cNvPr>
          <p:cNvSpPr/>
          <p:nvPr/>
        </p:nvSpPr>
        <p:spPr>
          <a:xfrm>
            <a:off x="7274301" y="4779856"/>
            <a:ext cx="600636" cy="6320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1</a:t>
            </a:r>
            <a:endParaRPr lang="ru-RU" dirty="0"/>
          </a:p>
        </p:txBody>
      </p:sp>
      <p:sp>
        <p:nvSpPr>
          <p:cNvPr id="28" name="Прямоугольник 27">
            <a:extLst>
              <a:ext uri="{FF2B5EF4-FFF2-40B4-BE49-F238E27FC236}">
                <a16:creationId xmlns:a16="http://schemas.microsoft.com/office/drawing/2014/main" id="{86251F52-9B5F-45D0-A6EA-515852182118}"/>
              </a:ext>
            </a:extLst>
          </p:cNvPr>
          <p:cNvSpPr/>
          <p:nvPr/>
        </p:nvSpPr>
        <p:spPr>
          <a:xfrm>
            <a:off x="540589" y="2246936"/>
            <a:ext cx="3095719" cy="707886"/>
          </a:xfrm>
          <a:prstGeom prst="rect">
            <a:avLst/>
          </a:prstGeom>
        </p:spPr>
        <p:txBody>
          <a:bodyPr wrap="none">
            <a:spAutoFit/>
          </a:bodyPr>
          <a:lstStyle/>
          <a:p>
            <a:r>
              <a:rPr lang="en-US" sz="4000" dirty="0"/>
              <a:t>update(2,6)</a:t>
            </a:r>
            <a:endParaRPr lang="ru-RU" sz="4000" dirty="0"/>
          </a:p>
        </p:txBody>
      </p:sp>
      <p:sp>
        <p:nvSpPr>
          <p:cNvPr id="3" name="Прямоугольник: скругленные углы 2">
            <a:extLst>
              <a:ext uri="{FF2B5EF4-FFF2-40B4-BE49-F238E27FC236}">
                <a16:creationId xmlns:a16="http://schemas.microsoft.com/office/drawing/2014/main" id="{FF33C0A6-0CEF-41D1-BC5D-BA7F4D3223FF}"/>
              </a:ext>
            </a:extLst>
          </p:cNvPr>
          <p:cNvSpPr/>
          <p:nvPr/>
        </p:nvSpPr>
        <p:spPr>
          <a:xfrm>
            <a:off x="9009532" y="2246936"/>
            <a:ext cx="2641879" cy="1329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aphicFrame>
        <p:nvGraphicFramePr>
          <p:cNvPr id="4" name="Объект 3">
            <a:extLst>
              <a:ext uri="{FF2B5EF4-FFF2-40B4-BE49-F238E27FC236}">
                <a16:creationId xmlns:a16="http://schemas.microsoft.com/office/drawing/2014/main" id="{59D79553-2085-4458-98F5-0B4A90C84972}"/>
              </a:ext>
            </a:extLst>
          </p:cNvPr>
          <p:cNvGraphicFramePr>
            <a:graphicFrameLocks noChangeAspect="1"/>
          </p:cNvGraphicFramePr>
          <p:nvPr/>
        </p:nvGraphicFramePr>
        <p:xfrm>
          <a:off x="9393238" y="2522538"/>
          <a:ext cx="2054225" cy="685800"/>
        </p:xfrm>
        <a:graphic>
          <a:graphicData uri="http://schemas.openxmlformats.org/presentationml/2006/ole">
            <mc:AlternateContent xmlns:mc="http://schemas.openxmlformats.org/markup-compatibility/2006">
              <mc:Choice xmlns:v="urn:schemas-microsoft-com:vml" Requires="v">
                <p:oleObj spid="_x0000_s37892" name="Equation" r:id="rId3" imgW="609480" imgH="203040" progId="Equation.DSMT4">
                  <p:embed/>
                </p:oleObj>
              </mc:Choice>
              <mc:Fallback>
                <p:oleObj name="Equation" r:id="rId3" imgW="609480" imgH="203040" progId="Equation.DSMT4">
                  <p:embed/>
                  <p:pic>
                    <p:nvPicPr>
                      <p:cNvPr id="4" name="Объект 3">
                        <a:extLst>
                          <a:ext uri="{FF2B5EF4-FFF2-40B4-BE49-F238E27FC236}">
                            <a16:creationId xmlns:a16="http://schemas.microsoft.com/office/drawing/2014/main" id="{59D79553-2085-4458-98F5-0B4A90C84972}"/>
                          </a:ext>
                        </a:extLst>
                      </p:cNvPr>
                      <p:cNvPicPr/>
                      <p:nvPr/>
                    </p:nvPicPr>
                    <p:blipFill>
                      <a:blip r:embed="rId4"/>
                      <a:stretch>
                        <a:fillRect/>
                      </a:stretch>
                    </p:blipFill>
                    <p:spPr>
                      <a:xfrm>
                        <a:off x="9393238" y="2522538"/>
                        <a:ext cx="2054225" cy="685800"/>
                      </a:xfrm>
                      <a:prstGeom prst="rect">
                        <a:avLst/>
                      </a:prstGeom>
                    </p:spPr>
                  </p:pic>
                </p:oleObj>
              </mc:Fallback>
            </mc:AlternateContent>
          </a:graphicData>
        </a:graphic>
      </p:graphicFrame>
      <p:sp>
        <p:nvSpPr>
          <p:cNvPr id="5" name="Прямоугольник 4">
            <a:extLst>
              <a:ext uri="{FF2B5EF4-FFF2-40B4-BE49-F238E27FC236}">
                <a16:creationId xmlns:a16="http://schemas.microsoft.com/office/drawing/2014/main" id="{DF8F8831-84F7-498B-A1BA-FF59E1BE025D}"/>
              </a:ext>
            </a:extLst>
          </p:cNvPr>
          <p:cNvSpPr/>
          <p:nvPr/>
        </p:nvSpPr>
        <p:spPr>
          <a:xfrm>
            <a:off x="775414" y="5704395"/>
            <a:ext cx="2144122" cy="707886"/>
          </a:xfrm>
          <a:prstGeom prst="rect">
            <a:avLst/>
          </a:prstGeom>
        </p:spPr>
        <p:txBody>
          <a:bodyPr wrap="square">
            <a:spAutoFit/>
          </a:bodyPr>
          <a:lstStyle/>
          <a:p>
            <a:r>
              <a:rPr lang="en-US" sz="4000" dirty="0" err="1"/>
              <a:t>i</a:t>
            </a:r>
            <a:r>
              <a:rPr lang="en-US" sz="4000" dirty="0"/>
              <a:t>=</a:t>
            </a:r>
            <a:r>
              <a:rPr lang="en-US" sz="4000" dirty="0" err="1"/>
              <a:t>S+pos</a:t>
            </a:r>
            <a:endParaRPr lang="ru-RU" sz="4000" dirty="0"/>
          </a:p>
        </p:txBody>
      </p:sp>
      <p:sp>
        <p:nvSpPr>
          <p:cNvPr id="29" name="Прямоугольник 28">
            <a:extLst>
              <a:ext uri="{FF2B5EF4-FFF2-40B4-BE49-F238E27FC236}">
                <a16:creationId xmlns:a16="http://schemas.microsoft.com/office/drawing/2014/main" id="{8CCD7FAA-27E0-4C79-8407-AA4DD6A93315}"/>
              </a:ext>
            </a:extLst>
          </p:cNvPr>
          <p:cNvSpPr/>
          <p:nvPr/>
        </p:nvSpPr>
        <p:spPr>
          <a:xfrm>
            <a:off x="8009967" y="5623634"/>
            <a:ext cx="2949947" cy="707886"/>
          </a:xfrm>
          <a:prstGeom prst="rect">
            <a:avLst/>
          </a:prstGeom>
        </p:spPr>
        <p:txBody>
          <a:bodyPr wrap="square">
            <a:spAutoFit/>
          </a:bodyPr>
          <a:lstStyle/>
          <a:p>
            <a:r>
              <a:rPr lang="en-US" sz="4000" dirty="0" err="1"/>
              <a:t>i</a:t>
            </a:r>
            <a:r>
              <a:rPr lang="en-US" sz="4000" dirty="0"/>
              <a:t>= 8+2 = 10</a:t>
            </a:r>
            <a:endParaRPr lang="ru-RU" sz="4000" dirty="0"/>
          </a:p>
        </p:txBody>
      </p:sp>
      <p:sp>
        <p:nvSpPr>
          <p:cNvPr id="30" name="Прямоугольник 29">
            <a:extLst>
              <a:ext uri="{FF2B5EF4-FFF2-40B4-BE49-F238E27FC236}">
                <a16:creationId xmlns:a16="http://schemas.microsoft.com/office/drawing/2014/main" id="{079A265C-B209-41AC-AD98-F6808B772EEF}"/>
              </a:ext>
            </a:extLst>
          </p:cNvPr>
          <p:cNvSpPr/>
          <p:nvPr/>
        </p:nvSpPr>
        <p:spPr>
          <a:xfrm>
            <a:off x="3753410" y="5704391"/>
            <a:ext cx="3894607" cy="707886"/>
          </a:xfrm>
          <a:prstGeom prst="rect">
            <a:avLst/>
          </a:prstGeom>
        </p:spPr>
        <p:txBody>
          <a:bodyPr wrap="square">
            <a:spAutoFit/>
          </a:bodyPr>
          <a:lstStyle/>
          <a:p>
            <a:r>
              <a:rPr lang="en-US" sz="4000" dirty="0"/>
              <a:t>parent=</a:t>
            </a:r>
            <a:r>
              <a:rPr lang="en-US" sz="4000" dirty="0" err="1"/>
              <a:t>i</a:t>
            </a:r>
            <a:r>
              <a:rPr lang="en-US" sz="4000" dirty="0"/>
              <a:t> // 2</a:t>
            </a:r>
            <a:endParaRPr lang="ru-RU" sz="4000" dirty="0"/>
          </a:p>
        </p:txBody>
      </p:sp>
    </p:spTree>
    <p:extLst>
      <p:ext uri="{BB962C8B-B14F-4D97-AF65-F5344CB8AC3E}">
        <p14:creationId xmlns:p14="http://schemas.microsoft.com/office/powerpoint/2010/main" val="111910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7BFE0B56-7C22-4640-89C5-3AF76FDB652A}"/>
              </a:ext>
            </a:extLst>
          </p:cNvPr>
          <p:cNvSpPr>
            <a:spLocks noGrp="1"/>
          </p:cNvSpPr>
          <p:nvPr>
            <p:ph type="body" sz="quarter" idx="19"/>
          </p:nvPr>
        </p:nvSpPr>
        <p:spPr/>
        <p:txBody>
          <a:bodyPr/>
          <a:lstStyle/>
          <a:p>
            <a:endParaRPr lang="ru-RU"/>
          </a:p>
        </p:txBody>
      </p:sp>
      <p:pic>
        <p:nvPicPr>
          <p:cNvPr id="10" name="Рисунок 9">
            <a:extLst>
              <a:ext uri="{FF2B5EF4-FFF2-40B4-BE49-F238E27FC236}">
                <a16:creationId xmlns:a16="http://schemas.microsoft.com/office/drawing/2014/main" id="{18E359F1-35EE-406B-965C-B485632024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013" y="651814"/>
            <a:ext cx="10991973" cy="6186272"/>
          </a:xfrm>
          <a:prstGeom prst="rect">
            <a:avLst/>
          </a:prstGeom>
        </p:spPr>
      </p:pic>
    </p:spTree>
    <p:extLst>
      <p:ext uri="{BB962C8B-B14F-4D97-AF65-F5344CB8AC3E}">
        <p14:creationId xmlns:p14="http://schemas.microsoft.com/office/powerpoint/2010/main" val="39988414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D24E3921-5695-409A-96F4-24B549777CE1}"/>
              </a:ext>
            </a:extLst>
          </p:cNvPr>
          <p:cNvSpPr>
            <a:spLocks noGrp="1"/>
          </p:cNvSpPr>
          <p:nvPr>
            <p:ph type="body" sz="quarter" idx="19"/>
          </p:nvPr>
        </p:nvSpPr>
        <p:spPr/>
        <p:txBody>
          <a:bodyPr/>
          <a:lstStyle/>
          <a:p>
            <a:endParaRPr lang="ru-RU"/>
          </a:p>
        </p:txBody>
      </p:sp>
      <p:pic>
        <p:nvPicPr>
          <p:cNvPr id="8" name="Рисунок 7">
            <a:extLst>
              <a:ext uri="{FF2B5EF4-FFF2-40B4-BE49-F238E27FC236}">
                <a16:creationId xmlns:a16="http://schemas.microsoft.com/office/drawing/2014/main" id="{81D6D7AD-393D-4050-9F12-AED94C4D4EF6}"/>
              </a:ext>
            </a:extLst>
          </p:cNvPr>
          <p:cNvPicPr>
            <a:picLocks noChangeAspect="1"/>
          </p:cNvPicPr>
          <p:nvPr/>
        </p:nvPicPr>
        <p:blipFill>
          <a:blip r:embed="rId2"/>
          <a:stretch>
            <a:fillRect/>
          </a:stretch>
        </p:blipFill>
        <p:spPr>
          <a:xfrm>
            <a:off x="0" y="618565"/>
            <a:ext cx="12192000" cy="6239435"/>
          </a:xfrm>
          <a:prstGeom prst="rect">
            <a:avLst/>
          </a:prstGeom>
        </p:spPr>
      </p:pic>
    </p:spTree>
    <p:extLst>
      <p:ext uri="{BB962C8B-B14F-4D97-AF65-F5344CB8AC3E}">
        <p14:creationId xmlns:p14="http://schemas.microsoft.com/office/powerpoint/2010/main" val="2376631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E47B0B06-7145-4722-8229-37C7CCE3A55C}"/>
              </a:ext>
            </a:extLst>
          </p:cNvPr>
          <p:cNvSpPr>
            <a:spLocks noGrp="1"/>
          </p:cNvSpPr>
          <p:nvPr>
            <p:ph type="body" sz="quarter" idx="19"/>
          </p:nvPr>
        </p:nvSpPr>
        <p:spPr/>
        <p:txBody>
          <a:bodyPr/>
          <a:lstStyle/>
          <a:p>
            <a:endParaRPr lang="ru-RU"/>
          </a:p>
        </p:txBody>
      </p:sp>
      <p:pic>
        <p:nvPicPr>
          <p:cNvPr id="8" name="Рисунок 7">
            <a:extLst>
              <a:ext uri="{FF2B5EF4-FFF2-40B4-BE49-F238E27FC236}">
                <a16:creationId xmlns:a16="http://schemas.microsoft.com/office/drawing/2014/main" id="{276B6E73-D934-482A-A8EA-6E5BA66269B2}"/>
              </a:ext>
            </a:extLst>
          </p:cNvPr>
          <p:cNvPicPr>
            <a:picLocks noChangeAspect="1"/>
          </p:cNvPicPr>
          <p:nvPr/>
        </p:nvPicPr>
        <p:blipFill>
          <a:blip r:embed="rId2"/>
          <a:stretch>
            <a:fillRect/>
          </a:stretch>
        </p:blipFill>
        <p:spPr>
          <a:xfrm>
            <a:off x="0" y="833718"/>
            <a:ext cx="12192000" cy="5679741"/>
          </a:xfrm>
          <a:prstGeom prst="rect">
            <a:avLst/>
          </a:prstGeom>
        </p:spPr>
      </p:pic>
    </p:spTree>
    <p:extLst>
      <p:ext uri="{BB962C8B-B14F-4D97-AF65-F5344CB8AC3E}">
        <p14:creationId xmlns:p14="http://schemas.microsoft.com/office/powerpoint/2010/main" val="6350511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EE47E8-738E-44E8-BD45-B6F255E57D7A}"/>
              </a:ext>
            </a:extLst>
          </p:cNvPr>
          <p:cNvSpPr>
            <a:spLocks noGrp="1"/>
          </p:cNvSpPr>
          <p:nvPr>
            <p:ph type="title"/>
          </p:nvPr>
        </p:nvSpPr>
        <p:spPr/>
        <p:txBody>
          <a:bodyPr/>
          <a:lstStyle/>
          <a:p>
            <a:r>
              <a:rPr lang="ru-RU" dirty="0"/>
              <a:t>Итоги</a:t>
            </a:r>
          </a:p>
        </p:txBody>
      </p:sp>
      <p:sp>
        <p:nvSpPr>
          <p:cNvPr id="7" name="Текст 6">
            <a:extLst>
              <a:ext uri="{FF2B5EF4-FFF2-40B4-BE49-F238E27FC236}">
                <a16:creationId xmlns:a16="http://schemas.microsoft.com/office/drawing/2014/main" id="{C7F4EC58-7562-4C56-B578-9FFDA13703C3}"/>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9FCCB2D3-BDE1-4B43-94B4-81F78E86EBC3}"/>
              </a:ext>
            </a:extLst>
          </p:cNvPr>
          <p:cNvSpPr/>
          <p:nvPr/>
        </p:nvSpPr>
        <p:spPr>
          <a:xfrm>
            <a:off x="642386" y="1479994"/>
            <a:ext cx="10629178" cy="1027815"/>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a:t>Префиксные суммы ускоряют запросы по статическим данным.</a:t>
            </a:r>
          </a:p>
        </p:txBody>
      </p:sp>
      <p:sp>
        <p:nvSpPr>
          <p:cNvPr id="9" name="Прямоугольник: скругленные углы 8">
            <a:extLst>
              <a:ext uri="{FF2B5EF4-FFF2-40B4-BE49-F238E27FC236}">
                <a16:creationId xmlns:a16="http://schemas.microsoft.com/office/drawing/2014/main" id="{0559A2A5-C4CD-42BA-A71B-04C939E2A343}"/>
              </a:ext>
            </a:extLst>
          </p:cNvPr>
          <p:cNvSpPr/>
          <p:nvPr/>
        </p:nvSpPr>
        <p:spPr>
          <a:xfrm>
            <a:off x="642386" y="2688879"/>
            <a:ext cx="10629178" cy="95938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err="1"/>
              <a:t>Fenwick</a:t>
            </a:r>
            <a:r>
              <a:rPr lang="ru-RU" sz="2800" dirty="0"/>
              <a:t> </a:t>
            </a:r>
            <a:r>
              <a:rPr lang="ru-RU" sz="2800" dirty="0" err="1"/>
              <a:t>Tree</a:t>
            </a:r>
            <a:r>
              <a:rPr lang="ru-RU" sz="2800" dirty="0"/>
              <a:t> и </a:t>
            </a:r>
            <a:r>
              <a:rPr lang="ru-RU" sz="2800" dirty="0" err="1"/>
              <a:t>Segment</a:t>
            </a:r>
            <a:r>
              <a:rPr lang="ru-RU" sz="2800" dirty="0"/>
              <a:t> </a:t>
            </a:r>
            <a:r>
              <a:rPr lang="ru-RU" sz="2800" dirty="0" err="1"/>
              <a:t>Tree</a:t>
            </a:r>
            <a:r>
              <a:rPr lang="ru-RU" sz="2800" dirty="0"/>
              <a:t> поддерживают быстрые запросы и обновления.</a:t>
            </a:r>
          </a:p>
        </p:txBody>
      </p:sp>
      <p:sp>
        <p:nvSpPr>
          <p:cNvPr id="10" name="Прямоугольник: скругленные углы 9">
            <a:extLst>
              <a:ext uri="{FF2B5EF4-FFF2-40B4-BE49-F238E27FC236}">
                <a16:creationId xmlns:a16="http://schemas.microsoft.com/office/drawing/2014/main" id="{479BA594-0750-415B-82A4-8F22D8D4FD64}"/>
              </a:ext>
            </a:extLst>
          </p:cNvPr>
          <p:cNvSpPr/>
          <p:nvPr/>
        </p:nvSpPr>
        <p:spPr>
          <a:xfrm>
            <a:off x="642386" y="3829338"/>
            <a:ext cx="10629178" cy="95938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err="1"/>
              <a:t>Lazy</a:t>
            </a:r>
            <a:r>
              <a:rPr lang="ru-RU" sz="2800" dirty="0"/>
              <a:t> </a:t>
            </a:r>
            <a:r>
              <a:rPr lang="ru-RU" sz="2800" dirty="0" err="1"/>
              <a:t>Propagation</a:t>
            </a:r>
            <a:r>
              <a:rPr lang="ru-RU" sz="2800" dirty="0"/>
              <a:t> ускоряет обновление целых диапазонов.</a:t>
            </a:r>
          </a:p>
        </p:txBody>
      </p:sp>
    </p:spTree>
    <p:extLst>
      <p:ext uri="{BB962C8B-B14F-4D97-AF65-F5344CB8AC3E}">
        <p14:creationId xmlns:p14="http://schemas.microsoft.com/office/powerpoint/2010/main" val="1904201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3C8C16-CDAE-4110-998A-AA5F2453A752}"/>
              </a:ext>
            </a:extLst>
          </p:cNvPr>
          <p:cNvSpPr>
            <a:spLocks noGrp="1"/>
          </p:cNvSpPr>
          <p:nvPr>
            <p:ph type="title"/>
          </p:nvPr>
        </p:nvSpPr>
        <p:spPr>
          <a:xfrm>
            <a:off x="479424" y="728553"/>
            <a:ext cx="11229975" cy="814486"/>
          </a:xfrm>
        </p:spPr>
        <p:txBody>
          <a:bodyPr/>
          <a:lstStyle/>
          <a:p>
            <a:r>
              <a:rPr lang="ru-RU" dirty="0"/>
              <a:t>Пароль для теста</a:t>
            </a:r>
          </a:p>
        </p:txBody>
      </p:sp>
      <p:sp>
        <p:nvSpPr>
          <p:cNvPr id="7" name="Текст 6">
            <a:extLst>
              <a:ext uri="{FF2B5EF4-FFF2-40B4-BE49-F238E27FC236}">
                <a16:creationId xmlns:a16="http://schemas.microsoft.com/office/drawing/2014/main" id="{E0DD9A40-8298-4417-8524-24F518938BC0}"/>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1873DF5E-D02B-4CC4-B969-AF4C59439265}"/>
              </a:ext>
            </a:extLst>
          </p:cNvPr>
          <p:cNvSpPr txBox="1"/>
          <p:nvPr/>
        </p:nvSpPr>
        <p:spPr bwMode="auto">
          <a:xfrm>
            <a:off x="1718058" y="1697903"/>
            <a:ext cx="9537130" cy="3770263"/>
          </a:xfrm>
          <a:prstGeom prst="rect">
            <a:avLst/>
          </a:prstGeom>
        </p:spPr>
        <p:txBody>
          <a:bodyPr wrap="square" rtlCol="0">
            <a:spAutoFit/>
          </a:bodyPr>
          <a:lstStyle/>
          <a:p>
            <a:r>
              <a:rPr lang="ru-RU" sz="23900" dirty="0"/>
              <a:t>25</a:t>
            </a:r>
            <a:r>
              <a:rPr lang="en-US" sz="23900"/>
              <a:t>34</a:t>
            </a:r>
            <a:r>
              <a:rPr lang="ru-RU" sz="23900"/>
              <a:t>0</a:t>
            </a:r>
            <a:endParaRPr lang="ru-RU" sz="23900" dirty="0"/>
          </a:p>
        </p:txBody>
      </p:sp>
    </p:spTree>
    <p:extLst>
      <p:ext uri="{BB962C8B-B14F-4D97-AF65-F5344CB8AC3E}">
        <p14:creationId xmlns:p14="http://schemas.microsoft.com/office/powerpoint/2010/main" val="1484687000"/>
      </p:ext>
    </p:extLst>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7644</TotalTime>
  <Words>3343</Words>
  <Application>Microsoft Office PowerPoint</Application>
  <DocSecurity>0</DocSecurity>
  <PresentationFormat>Широкоэкранный</PresentationFormat>
  <Paragraphs>1017</Paragraphs>
  <Slides>52</Slides>
  <Notes>10</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1</vt:i4>
      </vt:variant>
      <vt:variant>
        <vt:lpstr>Заголовки слайдов</vt:lpstr>
      </vt:variant>
      <vt:variant>
        <vt:i4>52</vt:i4>
      </vt:variant>
    </vt:vector>
  </HeadingPairs>
  <TitlesOfParts>
    <vt:vector size="59" baseType="lpstr">
      <vt:lpstr>Times New Roman</vt:lpstr>
      <vt:lpstr>Calibri</vt:lpstr>
      <vt:lpstr>Montserrat SemiBold</vt:lpstr>
      <vt:lpstr>Montserrat</vt:lpstr>
      <vt:lpstr>Arial</vt:lpstr>
      <vt:lpstr>Тема Office</vt:lpstr>
      <vt:lpstr>MathType 7.0 Equation</vt:lpstr>
      <vt:lpstr>Лекция 2. Быстрые запросы к диапазонам данных</vt:lpstr>
      <vt:lpstr>Что такое запрос к диапазону?</vt:lpstr>
      <vt:lpstr>Самое простое решение</vt:lpstr>
      <vt:lpstr>А если запросов много?</vt:lpstr>
      <vt:lpstr>Предварительная обработка данных</vt:lpstr>
      <vt:lpstr>Префиксные суммы: основная идея</vt:lpstr>
      <vt:lpstr>Как получить сумму на диапазоне?</vt:lpstr>
      <vt:lpstr>А если массив изменился?</vt:lpstr>
      <vt:lpstr>Дерево Фенвика</vt:lpstr>
      <vt:lpstr>Как определяется диапазон tree[i]</vt:lpstr>
      <vt:lpstr>Как определяется диапазон tree[i]</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Построение дерева Фенвика</vt:lpstr>
      <vt:lpstr>Получение префиксной суммы</vt:lpstr>
      <vt:lpstr>Получение префиксной суммы</vt:lpstr>
      <vt:lpstr>Получение префиксной суммы</vt:lpstr>
      <vt:lpstr>Получение префиксной суммы</vt:lpstr>
      <vt:lpstr>Точечное обновление</vt:lpstr>
      <vt:lpstr>Точечное обновление</vt:lpstr>
      <vt:lpstr>Дерево отрезков: основная идея</vt:lpstr>
      <vt:lpstr>Основные формулы дерева отрезков</vt:lpstr>
      <vt:lpstr>Презентация PowerPoint</vt:lpstr>
      <vt:lpstr>Запрос на диапазоне в дереве отрезков</vt:lpstr>
      <vt:lpstr>Запрос на диапазоне в дереве отрезков</vt:lpstr>
      <vt:lpstr>Запрос на диапазоне в дереве отрезков</vt:lpstr>
      <vt:lpstr>Запрос на диапазоне в дереве отрезков</vt:lpstr>
      <vt:lpstr>Запрос на диапазоне в дереве отрезков</vt:lpstr>
      <vt:lpstr>Запрос на диапазоне в дереве отрезков</vt:lpstr>
      <vt:lpstr>Запрос на диапазоне в дереве отрезков</vt:lpstr>
      <vt:lpstr>Запрос на диапазоне в дереве отрезков</vt:lpstr>
      <vt:lpstr>Запрос на диапазоне в дереве отрезков</vt:lpstr>
      <vt:lpstr>Запрос на диапазоне в дереве отрезков</vt:lpstr>
      <vt:lpstr>Точечное обновление</vt:lpstr>
      <vt:lpstr>Точечное обновление</vt:lpstr>
      <vt:lpstr>Точечное обновление</vt:lpstr>
      <vt:lpstr>Точечное обновление</vt:lpstr>
      <vt:lpstr>Презентация PowerPoint</vt:lpstr>
      <vt:lpstr>Презентация PowerPoint</vt:lpstr>
      <vt:lpstr>Презентация PowerPoint</vt:lpstr>
      <vt:lpstr>Итоги</vt:lpstr>
      <vt:lpstr>Пароль для теста</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вадим борзов</cp:lastModifiedBy>
  <cp:revision>126</cp:revision>
  <dcterms:created xsi:type="dcterms:W3CDTF">2023-04-19T21:39:12Z</dcterms:created>
  <dcterms:modified xsi:type="dcterms:W3CDTF">2026-09-24T07:55:00Z</dcterms:modified>
  <cp:category/>
  <dc:identifier/>
  <cp:contentStatus/>
  <dc:language/>
  <cp:version/>
</cp:coreProperties>
</file>